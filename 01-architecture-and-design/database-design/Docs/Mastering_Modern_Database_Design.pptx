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Helvetica"/>
              </a:defRPr>
            </a:pPr>
            <a:r>
              <a:t>Mastering Modern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888888"/>
                </a:solidFill>
                <a:latin typeface="Helvetica"/>
              </a:defRPr>
            </a:pPr>
            <a:r>
              <a:t>From Theory to Production-Scale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943600"/>
            <a:ext cx="1828800" cy="2743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Course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Target Audience: Software Developers, Backend Engineers, DBAs, Architects, Data Engineers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Duration: 20+ hours across 4 modules over 7 days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Format: 20+ slide decks, hands-on labs, live code-along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Stack: PostgreSQL 15+, Redis 7+, MongoDB 7+, Neo4j 5+, FastAPI + Python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Project: ScaleCart — a production-grade e-commerce platform from 1K to 100M records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Prerequisites: SQL basics, Python fundamentals, CLI comfort, Docker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5603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Helvetica"/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The Problem with Bad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0.1 — Course Overview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Real-world consequences: data corruption, performance collapse, unplanned outages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Technical debt compounds — late-stage schema fixes cost 10–100× more than early design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ScaleCart target: start simple, grow to 100M+ records without rewrites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The Database Architect Mindset: think beyond CRUD, design for the future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Balance theory and practice — every concept maps to a real production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Technology Stack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Lab Environment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PostgreSQL 15+ — primary transactional datastore with advanced indexing &amp; partitioning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Redis 7+ — sessions, caching, real-time counters, rate limiting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MongoDB 7+ — flexible product catalog, nested attributes, rapid iteration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Neo4j 5+ — recommendation engine, fraud detection, relationship-first queries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FastAPI + Python — async API layer, SQLAlchemy, Pydantic validation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Docker Compose — one-command lab environment, reproducible across machines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5603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Helvetica"/>
              </a:defRPr>
            </a:pPr>
            <a:r>
              <a:t>Foundations of Relational Database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The Relational Model &amp; Design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1.1 — Introduction to Relational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Three-level architecture: Conceptual → Logical → Physical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Conceptual: high-level ERD for stakeholders, no implementation details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Logical: detailed attributes, data types, business rules, normalization targets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Physical: technology-specific tables, indexes, partitions, storage parameters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Domain-Driven Data Modeling: understand the business before creating tables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ScaleCart entities: Customers, Products, Orders, Inventory, Suppliers, Payments, Reviews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ER Modeling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1.2 — Entity-Relationship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Entities, Attributes, Relationships — the three core components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Cardinality: 1:1, 1:N, N:M — determines foreign key placement and junction tables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Weak entities (e.g., Order Item) depend on an identifying relationship with a strong entity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Specialization / Generalization: Employee → Engineer, Manager, Salesperson (IS-A)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Notation: Chen vs Crow's Foot vs UML — choose one, stay consistent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ScaleCart ERD walkthrough: complete diagram with design justification for every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Normalization &amp;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1.3 —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1NF: atomic values, no repeating groups — eliminate multi-valued attributes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2NF: no partial dependencies — every non-key attribute depends on the whole key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3NF: no transitive dependencies — non-key attributes depend only on the key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BCNF: every determinant is a candidate key — stricter than 3NF for complex overlaps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Denormalize deliberately: controlled redundancy for read performance, accept write cost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Apply normalization to ScaleCart step-by-step: before/after schema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Designing Efficient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Data Type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SMALLINT / INTEGER / BIGINT — choose smallest that fits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DECIMAL for money, REAL for scientific approximations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VARCHAR(n) vs TEXT — length constraints vs unlimited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TIMESTAMPTZ recommended for all date/time fields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JSONB for semi-structured data, UUID for distributed IDs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ENUM for fixed status values (order_status, payment_status)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Constraints &amp; Conventions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NOT NULL by default — explicitly justify every NULL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CHECK constraints for range and format validation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UNIQUE on business keys (email, SKU) — not just surrogate IDs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Default values: CURRENT_TIMESTAMP, sequences, custom logic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Naming: snake_case, consistent prefixes, explicit constraint names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Document with COMMENT ON — self-documenting schemas reduce onboarding friction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ScaleCart Schema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1.4 — Designing Efficient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Products: generated search vector column, GIN index for full-text search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Orders: status ENUM, address references, computed total with CHECK ≥ 0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Order Items: composite PK (order_id, product_id), historical pricing snapshot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Customers: unique email, password hash field, version column for optimistic locking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Inventory: product_id as PK, stock vs reserved columns, reorder threshold alerts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Complete DDL script: CREATE TABLE with constraints, indexes, comments, foreign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5603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Helvetica"/>
              </a:defRPr>
            </a:pPr>
            <a:r>
              <a:t>SQL Performance &amp; Advanced Optimization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Query Execution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2.1 — Understanding Query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Parser → Rewriter → Planner → Executor — understand each stage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Cost-based optimizer uses statistics (row counts, distributions, correlations)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EXPLAIN ANALYZE: actual time, row estimates vs reality, loop counts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Scan types: Sequential, Index, Index-Only, Bitmap — know when each appears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Join methods: Nested Loop (small sets), Hash Join (large unsorted), Merge Join (sorted)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Workflow: find slow query → EXPLAIN ANALYZE → identify bottleneck → fix → re-test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Advanced Indexing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Index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B-Tree (default): equality, range, sorting — balanced tree structure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GIN: inverted index for full-text search, arrays, JSONB containment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GiST: generalized search tree for geospatial, nearest-neighbor, ranges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BRIN: block range index for very large, naturally ordered tables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Hash: only equality, rarely needed — B-Tree usually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Design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Composite indexes: column order matters — lead with most selective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Covering indexes (INCLUDE): avoid heap access for hot queries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Partial indexes: index only active/pending rows — smaller, faster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Expression indexes: LOWER(email), date_trunc('month', created_at)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Measure effectiveness: pg_stat_user_indexes, scan ratio, size impact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Full-Text Search &amp; Text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2.2 — Advanced Indexing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pg_trgm extension + GIN index for fuzzy matching and similarity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tsvector generation: weighted lexemes from title, description, tags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tsquery parsing: plainto_tsquery, websearch_to_tsquery, ranking with ts_rank_cd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Dictionary choices: english, simple, or custom — affects stemming behavior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ScaleCart implementation: product search with relevance scoring, 10M+ row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Scaling Large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2.3 — Scaling Large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Table Partitioning: Range (date), List (region), Hash (even distribution)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Partition pruning: planner eliminates irrelevant partitions at query time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Partition management: attach, detach, archive — orders older than 2 years moved to cold storage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Read Replicas: offload analytics and reporting, async vs synchronous replication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Sharding vs Partitioning: sharding spreads across nodes, partitioning stays on one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Materialized Views: pre-computed daily sales summaries, scheduled refresh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Distributed Systems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CAP 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Consistency: every read sees the latest write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Availability: every request gets a response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Partition Tolerance: system survives network splits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Pick two — in practice, partition tolerance is mandatory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ScaleCart Choices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PostgreSQL (single node): CA — strong consistency, synchronous replication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MongoDB (majority writes): CP — consistent, partition-tolerant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Redis / Cassandra: AP — highly available, partition-tolerant, eventual consistency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Hot/Warm/Cold data tiers: balance cost and access speed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Eventual consistency accepted for analytics, inventory counters, search indexes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5603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Helvetica"/>
              </a:defRPr>
            </a:pPr>
            <a:r>
              <a:t>Transactions, Concurrency &amp; Data Integrity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ACID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3.1 — ACID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Atomicity: all operations complete or none — COMMIT vs ROLLBACK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Consistency: constraints and rules hold true before and after every transaction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Isolation: concurrent transactions don't interfere — isolation levels control visibility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Durability: committed data survives crashes — WAL (Write-Ahead Log) and recovery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Transaction control: BEGIN, COMMIT, ROLLBACK, SAVEPOINT for nested partial rollback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ScaleCart workflows: order placement, inventory update, payment processing, cancellation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Isolation Levels &amp; Locking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PostgreSQL Isolation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READ COMMITTED (default): sees committed data, prevents dirty reads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REPEATABLE READ: snapshot at start, prevents non-repeatable reads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SERIALIZABLE: strictest, prevents phantom reads via predicate locking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Choose based on correctness needs vs performance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Locking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Optimistic: version column, check on commit, retry on conflict — high concurrency, low conflict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Pessimistic: SELECT FOR UPDATE, exclusive row locks — low concurrency, high conflict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Advisory locks: application-level coordination, not tied to rows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Deadlock avoidance: consistent lock ordering, short transactions, retry logic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Monitor with pg_locks, pg_stat_activity — detect waiting and blocking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Zero-Downtime Schema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3.3 — Zero-Downtime Database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Principle: backward compatibility + multi-phase migrations + rollback capability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Add column: CREATE with DEFAULT is fast in PG 11+; without DEFAULT requires backfill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Rename column: add new → backfill → deploy code → drop old — never rename in place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Change type: add new column → convert → switch app → drop old — same pattern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CREATE INDEX CONCURRENTLY: builds without locking table, handles failures safely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Blue-Green + Canary + Feature Flags: deploy code separately from enabling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Migration Tools &amp;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3.3 — Migration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Alembic (Python/SQLAlchemy): versioned migrations, auto-generate from model changes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Flyway / Liquibase: JVM ecosystem, repeatable scripts, checksum validation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Online schema change: pg_repack for table reorganization without locks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Migration testing: staging with production-like data, load test, rollback test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Communication plan: announce windows, monitor errors, have rollback ready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ScaleCart examples: adding product weight, splitting name fields, partitioning 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5603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Helvetica"/>
              </a:defRPr>
            </a:pPr>
            <a:r>
              <a:t>Modern Data Architectures Beyond SQL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NoSQL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Database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Document Stores (MongoDB): JSON-like, flexible schema, rapid iteration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Key-Value (Redis, DynamoDB): O(1) access, caching, sessions, counters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Wide-Column (Cassandra, HBase): sparse data, massive linear scale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Graph (Neo4j, Neptune): relationship-first, traversal beats joins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Search (Elasticsearch): inverted indexes, relevance scoring, log analytics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Time-Series (TimescaleDB, InfluxDB): time-stamped, high ingestion, aggregation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Vector (pgvector, Pinecone): embedding search, similarity, AI/ML workloads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When to Choose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SQL when: complex joins, strong consistency, structured reporting, ACID required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NoSQL when: flexible schema, massive scale, specific access patterns, speed over consistency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Polyglot Persistence: use multiple databases, each for its strength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ScaleCart: PostgreSQL (transactions) + Redis (cache) + MongoDB (catalog) + Neo4j (recommendations)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Decision criteria: data structure, access patterns, scale requirements, team expertise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Graph Databases with Neo4j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4.2 — Graph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Core concepts: Nodes, Relationships, Properties, Labels — everything is a graph traversal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Cypher query language: MATCH (c:Customer)-[:BOUGHT]-&gt;(p:Product) RETURN p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Path patterns and variable depth: find friends-of-friends, product affinities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Recommendation queries: collaborative filtering (users like you bought X), content-based, hybrid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Graph indexes on node properties for fast lookup starting points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ScaleCart use cases: product recommendations, social graph, fraud detection (ring patterns)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Event-Driven &amp; Distributed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4.3 — Distributed Systems &amp; Event-Driven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Events as first-class citizens: decouple services, enable async processing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Outbox Pattern: write event to outbox table in same transaction as business data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Async publisher reads outbox, publishes to message bus, marks as sent — reliable delivery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Saga Pattern: distributed transactions via choreography or orchestration with compensation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Compensation actions: if inventory reserved but payment fails, release stock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ScaleCart event flow: OrderCreated → InventoryUpdated → PaymentProcessed → CustomerNotified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Eventual Consistency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Module 4.3 — Consistency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Definition: updates propagate asynchronously, system temporarily inconsistent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Acceptable for: search indexes, analytics, inventory counters, social feeds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Unacceptable for: financial ledgers, order totals, stock reservations — use strong consistency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Idempotency: duplicate events must not cause duplicate effects — idempotency keys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Monitoring: lag metrics, dead letter queues, reconciliation jobs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ScaleCart design: strong consistency for checkout, eventual for recommendations and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5603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Helvetica"/>
              </a:defRPr>
            </a:pPr>
            <a:r>
              <a:t>Appendices &amp; Teaching Notes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Reference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Appendix A — Project Structure &amp; Setup: directory layout, Docker Compose, Makefile commands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Appendix B — Data Dictionary: complete table definitions, column descriptions, constraints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Appendix C — API Reference: endpoint list, request/response formats, authentication flows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Appendix D — Deployment Guide: production setup, security hardening, monitoring stack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Appendix E — Troubleshooting: common issues, diagnostic queries, resolution steps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Appendix F — Performance Benchmarks: expected QPS, latency targets, optimization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Teaching Pace &amp;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Suggested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Introduction: 30 min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Part 1 (Foundations): 5–6 hours over 2 days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Part 2 (Performance): 6–8 hours over 2–3 days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Part 3 (Transactions): 4–6 hours over 1–2 days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Part 4 (Modern): 5–7 hours over 2 days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Labs interspersed throughout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2E81"/>
                </a:solidFill>
                <a:latin typeface="Helvetica"/>
              </a:defRPr>
            </a:pPr>
            <a:r>
              <a:t>Hands-On Exercises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ERD Creation: 1 hour — design ScaleCart entities from requirements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Schema Implementation: 2 hours — write DDL, load sample data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Index Optimization: 2 hours — EXPLAIN ANALYZE, add indexes, measure gains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Transaction Tests: 1 hour — simulate concurrent order placement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NoSQL Integration: 2 hours — connect Redis cache, MongoDB catalog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  <a:latin typeface="Helvetica"/>
              </a:defRPr>
            </a:pPr>
            <a:r>
              <a:t>• Final Project: 4+ hours — deploy complete system with monitoring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"/>
              </a:defRPr>
            </a:pPr>
            <a: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8888"/>
                </a:solidFill>
                <a:latin typeface="Helvetica"/>
              </a:defRPr>
            </a:pPr>
            <a:r>
              <a:t>Mastering Modern 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Whether you're designing a new application or modernizing an existing platform,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this course equips you with the practical knowledge, architectural thinking,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and performance engineering skills required to build production-grade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database systems that scale with confidence.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Helvetica"/>
              </a:defRPr>
            </a:pPr>
            <a:r>
              <a:t>Design before code. Understand the domain. Plan for growth.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583680"/>
            <a:ext cx="1371600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