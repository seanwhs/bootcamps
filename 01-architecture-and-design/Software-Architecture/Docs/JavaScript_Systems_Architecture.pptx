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Title Slide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Subtitle: From Zero to Production-Grade Distributed Systems</a:t>
            </a:r>
          </a:p>
          <a:p>
            <a:pPr algn="l">
              <a:lnSpc>
                <a:spcPct val="110000"/>
              </a:lnSpc>
              <a:spcBef>
                <a:spcPts val="100"/>
              </a:spcBef>
              <a:spcAft>
                <a:spcPts val="100"/>
              </a:spcAft>
            </a:pPr>
            <a:r>
              <a:rPr sz="1400">
                <a:solidFill>
                  <a:srgbClr val="000000"/>
                </a:solidFill>
                <a:latin typeface="Calibri"/>
              </a:rPr>
              <a:t>- Welcome message</a:t>
            </a:r>
          </a:p>
          <a:p>
            <a:pPr algn="l">
              <a:lnSpc>
                <a:spcPct val="110000"/>
              </a:lnSpc>
              <a:spcBef>
                <a:spcPts val="100"/>
              </a:spcBef>
              <a:spcAft>
                <a:spcPts val="100"/>
              </a:spcAft>
            </a:pPr>
            <a:r>
              <a:rPr sz="1400">
                <a:solidFill>
                  <a:srgbClr val="000000"/>
                </a:solidFill>
                <a:latin typeface="Calibri"/>
              </a:rPr>
              <a:t>- Brief overview of the journey</a:t>
            </a:r>
          </a:p>
          <a:p>
            <a:pPr algn="l">
              <a:lnSpc>
                <a:spcPct val="110000"/>
              </a:lnSpc>
              <a:spcBef>
                <a:spcPts val="100"/>
              </a:spcBef>
              <a:spcAft>
                <a:spcPts val="100"/>
              </a:spcAft>
            </a:pPr>
            <a:r>
              <a:rPr sz="1400">
                <a:solidFill>
                  <a:srgbClr val="000000"/>
                </a:solidFill>
                <a:latin typeface="Calibri"/>
              </a:rPr>
              <a:t>- What you'll build: The Orchestrator System</a:t>
            </a:r>
          </a:p>
          <a:p>
            <a:pPr algn="l">
              <a:lnSpc>
                <a:spcPct val="110000"/>
              </a:lnSpc>
              <a:spcBef>
                <a:spcPts val="100"/>
              </a:spcBef>
              <a:spcAft>
                <a:spcPts val="100"/>
              </a:spcAft>
            </a:pPr>
            <a:r>
              <a:rPr sz="1400">
                <a:solidFill>
                  <a:srgbClr val="000000"/>
                </a:solidFill>
                <a:latin typeface="Calibri"/>
              </a:rPr>
              <a:t>- Estimated time: 20-40 hours of hands-on 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What You'll Build</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ORCHESTRATOR SYSTEM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  │   API       │    │   Auth      │    │   Task           │   │</a:t>
            </a:r>
          </a:p>
          <a:p>
            <a:pPr algn="l">
              <a:lnSpc>
                <a:spcPct val="110000"/>
              </a:lnSpc>
              <a:spcBef>
                <a:spcPts val="100"/>
              </a:spcBef>
              <a:spcAft>
                <a:spcPts val="100"/>
              </a:spcAft>
            </a:pPr>
            <a:r>
              <a:rPr sz="1400">
                <a:solidFill>
                  <a:srgbClr val="000000"/>
                </a:solidFill>
                <a:latin typeface="Calibri"/>
              </a:rPr>
              <a:t>│  │   Gateway   │◄──►│   Service   │    │   Orchestrator   │   │</a:t>
            </a:r>
          </a:p>
          <a:p>
            <a:pPr algn="l">
              <a:lnSpc>
                <a:spcPct val="110000"/>
              </a:lnSpc>
              <a:spcBef>
                <a:spcPts val="100"/>
              </a:spcBef>
              <a:spcAft>
                <a:spcPts val="100"/>
              </a:spcAft>
            </a:pPr>
            <a:r>
              <a:rPr sz="1400">
                <a:solidFill>
                  <a:srgbClr val="000000"/>
                </a:solidFill>
                <a:latin typeface="Calibri"/>
              </a:rPr>
              <a:t>│  │   (Fastify) │    │   (JWT)     │    │   (Saga/State)   │   │</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         │                                       │              │</a:t>
            </a:r>
          </a:p>
          <a:p>
            <a:pPr algn="l">
              <a:lnSpc>
                <a:spcPct val="110000"/>
              </a:lnSpc>
              <a:spcBef>
                <a:spcPts val="100"/>
              </a:spcBef>
              <a:spcAft>
                <a:spcPts val="100"/>
              </a:spcAft>
            </a:pPr>
            <a:r>
              <a:rPr sz="1400">
                <a:solidFill>
                  <a:srgbClr val="000000"/>
                </a:solidFill>
                <a:latin typeface="Calibri"/>
              </a:rPr>
              <a:t>│         ▼                                       ▼              │</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  │   User      │    │   Event     │    │   AI Agent       │   │</a:t>
            </a:r>
          </a:p>
          <a:p>
            <a:pPr algn="l">
              <a:lnSpc>
                <a:spcPct val="110000"/>
              </a:lnSpc>
              <a:spcBef>
                <a:spcPts val="100"/>
              </a:spcBef>
              <a:spcAft>
                <a:spcPts val="100"/>
              </a:spcAft>
            </a:pPr>
            <a:r>
              <a:rPr sz="1400">
                <a:solidFill>
                  <a:srgbClr val="000000"/>
                </a:solidFill>
                <a:latin typeface="Calibri"/>
              </a:rPr>
              <a:t>│  │   Service   │    │   Store     │    │   (LLM + Tools)  │   │</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  │  PostgreSQL  │    │   Redis     │    │   S3/Cloud       │   │</a:t>
            </a:r>
          </a:p>
          <a:p>
            <a:pPr algn="l">
              <a:lnSpc>
                <a:spcPct val="110000"/>
              </a:lnSpc>
              <a:spcBef>
                <a:spcPts val="100"/>
              </a:spcBef>
              <a:spcAft>
                <a:spcPts val="100"/>
              </a:spcAft>
            </a:pPr>
            <a:r>
              <a:rPr sz="1400">
                <a:solidFill>
                  <a:srgbClr val="000000"/>
                </a:solidFill>
                <a:latin typeface="Calibri"/>
              </a:rPr>
              <a:t>│  │  (Primary)   │    │   (Cache)   │    │   (Storage)      │   │</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The Journey Ahead</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 Phase | Focus | Key Topics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1 | Runtime &amp; Execution | Event Loop, Libuv, 12-Factor |</a:t>
            </a:r>
          </a:p>
          <a:p>
            <a:pPr algn="l">
              <a:lnSpc>
                <a:spcPct val="110000"/>
              </a:lnSpc>
              <a:spcBef>
                <a:spcPts val="100"/>
              </a:spcBef>
              <a:spcAft>
                <a:spcPts val="100"/>
              </a:spcAft>
            </a:pPr>
            <a:r>
              <a:rPr sz="1400">
                <a:solidFill>
                  <a:srgbClr val="000000"/>
                </a:solidFill>
                <a:latin typeface="Calibri"/>
              </a:rPr>
              <a:t>| 2 | Structural Foundations | Hexagonal Architecture, DI |</a:t>
            </a:r>
          </a:p>
          <a:p>
            <a:pPr algn="l">
              <a:lnSpc>
                <a:spcPct val="110000"/>
              </a:lnSpc>
              <a:spcBef>
                <a:spcPts val="100"/>
              </a:spcBef>
              <a:spcAft>
                <a:spcPts val="100"/>
              </a:spcAft>
            </a:pPr>
            <a:r>
              <a:rPr sz="1400">
                <a:solidFill>
                  <a:srgbClr val="000000"/>
                </a:solidFill>
                <a:latin typeface="Calibri"/>
              </a:rPr>
              <a:t>| 3 | Distributed Systems | Sagas, Circuit Breakers, Cancellation |</a:t>
            </a:r>
          </a:p>
          <a:p>
            <a:pPr algn="l">
              <a:lnSpc>
                <a:spcPct val="110000"/>
              </a:lnSpc>
              <a:spcBef>
                <a:spcPts val="100"/>
              </a:spcBef>
              <a:spcAft>
                <a:spcPts val="100"/>
              </a:spcAft>
            </a:pPr>
            <a:r>
              <a:rPr sz="1400">
                <a:solidFill>
                  <a:srgbClr val="000000"/>
                </a:solidFill>
                <a:latin typeface="Calibri"/>
              </a:rPr>
              <a:t>| 4 | Cloud-Native | Serverless, Edge, Observability |</a:t>
            </a:r>
          </a:p>
          <a:p>
            <a:pPr algn="l">
              <a:lnSpc>
                <a:spcPct val="110000"/>
              </a:lnSpc>
              <a:spcBef>
                <a:spcPts val="100"/>
              </a:spcBef>
              <a:spcAft>
                <a:spcPts val="100"/>
              </a:spcAft>
            </a:pPr>
            <a:r>
              <a:rPr sz="1400">
                <a:solidFill>
                  <a:srgbClr val="000000"/>
                </a:solidFill>
                <a:latin typeface="Calibri"/>
              </a:rPr>
              <a:t>| 5 | Data Systems | Event Sourcing, CQRS, Streams |</a:t>
            </a:r>
          </a:p>
          <a:p>
            <a:pPr algn="l">
              <a:lnSpc>
                <a:spcPct val="110000"/>
              </a:lnSpc>
              <a:spcBef>
                <a:spcPts val="100"/>
              </a:spcBef>
              <a:spcAft>
                <a:spcPts val="100"/>
              </a:spcAft>
            </a:pPr>
            <a:r>
              <a:rPr sz="1400">
                <a:solidFill>
                  <a:srgbClr val="000000"/>
                </a:solidFill>
                <a:latin typeface="Calibri"/>
              </a:rPr>
              <a:t>| 6 | AI &amp; The Final Boss | Agentic Loops, Production Orchestration |</a:t>
            </a:r>
          </a:p>
          <a:p>
            <a:pPr algn="l">
              <a:lnSpc>
                <a:spcPct val="110000"/>
              </a:lnSpc>
              <a:spcBef>
                <a:spcPts val="100"/>
              </a:spcBef>
              <a:spcAft>
                <a:spcPts val="100"/>
              </a:spcAft>
            </a:pPr>
            <a:r>
              <a:rPr sz="1400">
                <a:solidFill>
                  <a:srgbClr val="000000"/>
                </a:solidFill>
                <a:latin typeface="Calibri"/>
              </a:rPr>
              <a:t>| 7 | Primers (20 Deep Dives) | Comprehensive Pattern Reference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Prerequisites &amp; Setup</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Technical Prerequisites:</a:t>
            </a:r>
          </a:p>
          <a:p>
            <a:pPr algn="l">
              <a:lnSpc>
                <a:spcPct val="110000"/>
              </a:lnSpc>
              <a:spcBef>
                <a:spcPts val="100"/>
              </a:spcBef>
              <a:spcAft>
                <a:spcPts val="100"/>
              </a:spcAft>
            </a:pPr>
            <a:r>
              <a:rPr sz="1400">
                <a:solidFill>
                  <a:srgbClr val="000000"/>
                </a:solidFill>
                <a:latin typeface="Calibri"/>
              </a:rPr>
              <a:t>├── Node.js (v20+)         ── Check: node --version</a:t>
            </a:r>
          </a:p>
          <a:p>
            <a:pPr algn="l">
              <a:lnSpc>
                <a:spcPct val="110000"/>
              </a:lnSpc>
              <a:spcBef>
                <a:spcPts val="100"/>
              </a:spcBef>
              <a:spcAft>
                <a:spcPts val="100"/>
              </a:spcAft>
            </a:pPr>
            <a:r>
              <a:rPr sz="1400">
                <a:solidFill>
                  <a:srgbClr val="000000"/>
                </a:solidFill>
                <a:latin typeface="Calibri"/>
              </a:rPr>
              <a:t>├── TypeScript (v5+)       ── Check: tsc --version</a:t>
            </a:r>
          </a:p>
          <a:p>
            <a:pPr algn="l">
              <a:lnSpc>
                <a:spcPct val="110000"/>
              </a:lnSpc>
              <a:spcBef>
                <a:spcPts val="100"/>
              </a:spcBef>
              <a:spcAft>
                <a:spcPts val="100"/>
              </a:spcAft>
            </a:pPr>
            <a:r>
              <a:rPr sz="1400">
                <a:solidFill>
                  <a:srgbClr val="000000"/>
                </a:solidFill>
                <a:latin typeface="Calibri"/>
              </a:rPr>
              <a:t>├── Docker &amp; Docker Compose ── Check: docker --version</a:t>
            </a:r>
          </a:p>
          <a:p>
            <a:pPr algn="l">
              <a:lnSpc>
                <a:spcPct val="110000"/>
              </a:lnSpc>
              <a:spcBef>
                <a:spcPts val="100"/>
              </a:spcBef>
              <a:spcAft>
                <a:spcPts val="100"/>
              </a:spcAft>
            </a:pPr>
            <a:r>
              <a:rPr sz="1400">
                <a:solidFill>
                  <a:srgbClr val="000000"/>
                </a:solidFill>
                <a:latin typeface="Calibri"/>
              </a:rPr>
              <a:t>├── PostgreSQL (via Docker) ── Check: docker-compose up postgres</a:t>
            </a:r>
          </a:p>
          <a:p>
            <a:pPr algn="l">
              <a:lnSpc>
                <a:spcPct val="110000"/>
              </a:lnSpc>
              <a:spcBef>
                <a:spcPts val="100"/>
              </a:spcBef>
              <a:spcAft>
                <a:spcPts val="100"/>
              </a:spcAft>
            </a:pPr>
            <a:r>
              <a:rPr sz="1400">
                <a:solidFill>
                  <a:srgbClr val="000000"/>
                </a:solidFill>
                <a:latin typeface="Calibri"/>
              </a:rPr>
              <a:t>├── Redis (via Docker)      ── Check: docker-compose up redis</a:t>
            </a:r>
          </a:p>
          <a:p>
            <a:pPr algn="l">
              <a:lnSpc>
                <a:spcPct val="110000"/>
              </a:lnSpc>
              <a:spcBef>
                <a:spcPts val="100"/>
              </a:spcBef>
              <a:spcAft>
                <a:spcPts val="100"/>
              </a:spcAft>
            </a:pPr>
            <a:r>
              <a:rPr sz="1400">
                <a:solidFill>
                  <a:srgbClr val="000000"/>
                </a:solidFill>
                <a:latin typeface="Calibri"/>
              </a:rPr>
              <a:t>├── Git                     ── Check: git --version</a:t>
            </a:r>
          </a:p>
          <a:p>
            <a:pPr algn="l">
              <a:lnSpc>
                <a:spcPct val="110000"/>
              </a:lnSpc>
              <a:spcBef>
                <a:spcPts val="100"/>
              </a:spcBef>
              <a:spcAft>
                <a:spcPts val="100"/>
              </a:spcAft>
            </a:pPr>
            <a:r>
              <a:rPr sz="1400">
                <a:solidFill>
                  <a:srgbClr val="000000"/>
                </a:solidFill>
                <a:latin typeface="Calibri"/>
              </a:rPr>
              <a:t>└── VS Code (recommended)   ── Extensions listed</a:t>
            </a:r>
          </a:p>
          <a:p>
            <a:pPr algn="l">
              <a:lnSpc>
                <a:spcPct val="110000"/>
              </a:lnSpc>
              <a:spcBef>
                <a:spcPts val="100"/>
              </a:spcBef>
              <a:spcAft>
                <a:spcPts val="100"/>
              </a:spcAft>
            </a:pPr>
            <a:r>
              <a:rPr sz="1400">
                <a:solidFill>
                  <a:srgbClr val="000000"/>
                </a:solidFill>
                <a:latin typeface="Calibri"/>
              </a:rPr>
              <a:t>Knowledge Prerequisites:</a:t>
            </a:r>
          </a:p>
          <a:p>
            <a:pPr algn="l">
              <a:lnSpc>
                <a:spcPct val="110000"/>
              </a:lnSpc>
              <a:spcBef>
                <a:spcPts val="100"/>
              </a:spcBef>
              <a:spcAft>
                <a:spcPts val="100"/>
              </a:spcAft>
            </a:pPr>
            <a:r>
              <a:rPr sz="1400">
                <a:solidFill>
                  <a:srgbClr val="000000"/>
                </a:solidFill>
                <a:latin typeface="Calibri"/>
              </a:rPr>
              <a:t>├── Basic JavaScript/TypeScript</a:t>
            </a:r>
          </a:p>
          <a:p>
            <a:pPr algn="l">
              <a:lnSpc>
                <a:spcPct val="110000"/>
              </a:lnSpc>
              <a:spcBef>
                <a:spcPts val="100"/>
              </a:spcBef>
              <a:spcAft>
                <a:spcPts val="100"/>
              </a:spcAft>
            </a:pPr>
            <a:r>
              <a:rPr sz="1400">
                <a:solidFill>
                  <a:srgbClr val="000000"/>
                </a:solidFill>
                <a:latin typeface="Calibri"/>
              </a:rPr>
              <a:t>├── Async/await &amp; Promises</a:t>
            </a:r>
          </a:p>
          <a:p>
            <a:pPr algn="l">
              <a:lnSpc>
                <a:spcPct val="110000"/>
              </a:lnSpc>
              <a:spcBef>
                <a:spcPts val="100"/>
              </a:spcBef>
              <a:spcAft>
                <a:spcPts val="100"/>
              </a:spcAft>
            </a:pPr>
            <a:r>
              <a:rPr sz="1400">
                <a:solidFill>
                  <a:srgbClr val="000000"/>
                </a:solidFill>
                <a:latin typeface="Calibri"/>
              </a:rPr>
              <a:t>├── HTTP &amp; REST APIs</a:t>
            </a:r>
          </a:p>
          <a:p>
            <a:pPr algn="l">
              <a:lnSpc>
                <a:spcPct val="110000"/>
              </a:lnSpc>
              <a:spcBef>
                <a:spcPts val="100"/>
              </a:spcBef>
              <a:spcAft>
                <a:spcPts val="100"/>
              </a:spcAft>
            </a:pPr>
            <a:r>
              <a:rPr sz="1400">
                <a:solidFill>
                  <a:srgbClr val="000000"/>
                </a:solidFill>
                <a:latin typeface="Calibri"/>
              </a:rPr>
              <a:t>├── Command line basics</a:t>
            </a:r>
          </a:p>
          <a:p>
            <a:pPr algn="l">
              <a:lnSpc>
                <a:spcPct val="110000"/>
              </a:lnSpc>
              <a:spcBef>
                <a:spcPts val="100"/>
              </a:spcBef>
              <a:spcAft>
                <a:spcPts val="100"/>
              </a:spcAft>
            </a:pPr>
            <a:r>
              <a:rPr sz="1400">
                <a:solidFill>
                  <a:srgbClr val="000000"/>
                </a:solidFill>
                <a:latin typeface="Calibri"/>
              </a:rPr>
              <a:t>└── Git fundamentals</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How Each Part Is Structured</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PART STRUCTURE</a:t>
            </a:r>
          </a:p>
          <a:p>
            <a:pPr algn="l">
              <a:lnSpc>
                <a:spcPct val="110000"/>
              </a:lnSpc>
              <a:spcBef>
                <a:spcPts val="100"/>
              </a:spcBef>
              <a:spcAft>
                <a:spcPts val="100"/>
              </a:spcAft>
            </a:pPr>
            <a:r>
              <a:rPr sz="1400">
                <a:solidFill>
                  <a:srgbClr val="000000"/>
                </a:solidFill>
                <a:latin typeface="Calibri"/>
              </a:rPr>
              <a:t>├── 1. The Target ── What we're building</a:t>
            </a:r>
          </a:p>
          <a:p>
            <a:pPr algn="l">
              <a:lnSpc>
                <a:spcPct val="110000"/>
              </a:lnSpc>
              <a:spcBef>
                <a:spcPts val="100"/>
              </a:spcBef>
              <a:spcAft>
                <a:spcPts val="100"/>
              </a:spcAft>
            </a:pPr>
            <a:r>
              <a:rPr sz="1400">
                <a:solidFill>
                  <a:srgbClr val="000000"/>
                </a:solidFill>
                <a:latin typeface="Calibri"/>
              </a:rPr>
              <a:t>├── 2. The Concept ── Explanation with analogies</a:t>
            </a:r>
          </a:p>
          <a:p>
            <a:pPr algn="l">
              <a:lnSpc>
                <a:spcPct val="110000"/>
              </a:lnSpc>
              <a:spcBef>
                <a:spcPts val="100"/>
              </a:spcBef>
              <a:spcAft>
                <a:spcPts val="100"/>
              </a:spcAft>
            </a:pPr>
            <a:r>
              <a:rPr sz="1400">
                <a:solidFill>
                  <a:srgbClr val="000000"/>
                </a:solidFill>
                <a:latin typeface="Calibri"/>
              </a:rPr>
              <a:t>├── 3. Implementation ── Step-by-step code</a:t>
            </a:r>
          </a:p>
          <a:p>
            <a:pPr algn="l">
              <a:lnSpc>
                <a:spcPct val="110000"/>
              </a:lnSpc>
              <a:spcBef>
                <a:spcPts val="100"/>
              </a:spcBef>
              <a:spcAft>
                <a:spcPts val="100"/>
              </a:spcAft>
            </a:pPr>
            <a:r>
              <a:rPr sz="1400">
                <a:solidFill>
                  <a:srgbClr val="000000"/>
                </a:solidFill>
                <a:latin typeface="Calibri"/>
              </a:rPr>
              <a:t>│   ├── Step 1: Setup</a:t>
            </a:r>
          </a:p>
          <a:p>
            <a:pPr algn="l">
              <a:lnSpc>
                <a:spcPct val="110000"/>
              </a:lnSpc>
              <a:spcBef>
                <a:spcPts val="100"/>
              </a:spcBef>
              <a:spcAft>
                <a:spcPts val="100"/>
              </a:spcAft>
            </a:pPr>
            <a:r>
              <a:rPr sz="1400">
                <a:solidFill>
                  <a:srgbClr val="000000"/>
                </a:solidFill>
                <a:latin typeface="Calibri"/>
              </a:rPr>
              <a:t>│   ├── Step 2: Core files</a:t>
            </a:r>
          </a:p>
          <a:p>
            <a:pPr algn="l">
              <a:lnSpc>
                <a:spcPct val="110000"/>
              </a:lnSpc>
              <a:spcBef>
                <a:spcPts val="100"/>
              </a:spcBef>
              <a:spcAft>
                <a:spcPts val="100"/>
              </a:spcAft>
            </a:pPr>
            <a:r>
              <a:rPr sz="1400">
                <a:solidFill>
                  <a:srgbClr val="000000"/>
                </a:solidFill>
                <a:latin typeface="Calibri"/>
              </a:rPr>
              <a:t>│   ├── Step 3: Supporting files</a:t>
            </a:r>
          </a:p>
          <a:p>
            <a:pPr algn="l">
              <a:lnSpc>
                <a:spcPct val="110000"/>
              </a:lnSpc>
              <a:spcBef>
                <a:spcPts val="100"/>
              </a:spcBef>
              <a:spcAft>
                <a:spcPts val="100"/>
              </a:spcAft>
            </a:pPr>
            <a:r>
              <a:rPr sz="1400">
                <a:solidFill>
                  <a:srgbClr val="000000"/>
                </a:solidFill>
                <a:latin typeface="Calibri"/>
              </a:rPr>
              <a:t>│   └── Step 4: Verification</a:t>
            </a:r>
          </a:p>
          <a:p>
            <a:pPr algn="l">
              <a:lnSpc>
                <a:spcPct val="110000"/>
              </a:lnSpc>
              <a:spcBef>
                <a:spcPts val="100"/>
              </a:spcBef>
              <a:spcAft>
                <a:spcPts val="100"/>
              </a:spcAft>
            </a:pPr>
            <a:r>
              <a:rPr sz="1400">
                <a:solidFill>
                  <a:srgbClr val="000000"/>
                </a:solidFill>
                <a:latin typeface="Calibri"/>
              </a:rPr>
              <a:t>├── 4. Verification ── How to test it works</a:t>
            </a:r>
          </a:p>
          <a:p>
            <a:pPr algn="l">
              <a:lnSpc>
                <a:spcPct val="110000"/>
              </a:lnSpc>
              <a:spcBef>
                <a:spcPts val="100"/>
              </a:spcBef>
              <a:spcAft>
                <a:spcPts val="100"/>
              </a:spcAft>
            </a:pPr>
            <a:r>
              <a:rPr sz="1400">
                <a:solidFill>
                  <a:srgbClr val="000000"/>
                </a:solidFill>
                <a:latin typeface="Calibri"/>
              </a:rPr>
              <a:t>├── 5. Deep Dive ── Advanced concepts (Optional)</a:t>
            </a:r>
          </a:p>
          <a:p>
            <a:pPr algn="l">
              <a:lnSpc>
                <a:spcPct val="110000"/>
              </a:lnSpc>
              <a:spcBef>
                <a:spcPts val="100"/>
              </a:spcBef>
              <a:spcAft>
                <a:spcPts val="100"/>
              </a:spcAft>
            </a:pPr>
            <a:r>
              <a:rPr sz="1400">
                <a:solidFill>
                  <a:srgbClr val="000000"/>
                </a:solidFill>
                <a:latin typeface="Calibri"/>
              </a:rPr>
              <a:t>└── 6. Summary ── What we built and where we're going</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PHASE 1: RUNTIME &amp; EXECUTION (30 Slides)</a:t>
            </a:r>
          </a:p>
          <a:p>
            <a:pPr algn="l">
              <a:lnSpc>
                <a:spcPct val="110000"/>
              </a:lnSpc>
              <a:spcBef>
                <a:spcPts val="100"/>
              </a:spcBef>
              <a:spcAft>
                <a:spcPts val="100"/>
              </a:spcAft>
            </a:pPr>
            <a:r>
              <a:rPr sz="1400">
                <a:solidFill>
                  <a:srgbClr val="000000"/>
                </a:solidFill>
                <a:latin typeface="Calibri"/>
              </a:rPr>
              <a:t>### PART 1.1: The JavaScript Runtime Boundary (15 Slides)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The JavaScript Runtime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JAVASCRIPT RUNTIME ENVIRONMENT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YOUR JAVASCRIPT CODE                    │ │</a:t>
            </a:r>
          </a:p>
          <a:p>
            <a:pPr algn="l">
              <a:lnSpc>
                <a:spcPct val="110000"/>
              </a:lnSpc>
              <a:spcBef>
                <a:spcPts val="100"/>
              </a:spcBef>
              <a:spcAft>
                <a:spcPts val="100"/>
              </a:spcAft>
            </a:pPr>
            <a:r>
              <a:rPr sz="1400">
                <a:solidFill>
                  <a:srgbClr val="000000"/>
                </a:solidFill>
                <a:latin typeface="Calibri"/>
              </a:rPr>
              <a:t>│  │  console.log('Hello'), async functions, callbacks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V8 ENGINE (Google)                      │ │</a:t>
            </a:r>
          </a:p>
          <a:p>
            <a:pPr algn="l">
              <a:lnSpc>
                <a:spcPct val="110000"/>
              </a:lnSpc>
              <a:spcBef>
                <a:spcPts val="100"/>
              </a:spcBef>
              <a:spcAft>
                <a:spcPts val="100"/>
              </a:spcAft>
            </a:pPr>
            <a:r>
              <a:rPr sz="1400">
                <a:solidFill>
                  <a:srgbClr val="000000"/>
                </a:solidFill>
                <a:latin typeface="Calibri"/>
              </a:rPr>
              <a:t>│  │  • Parses and compiles JS to machine code               │ │</a:t>
            </a:r>
          </a:p>
          <a:p>
            <a:pPr algn="l">
              <a:lnSpc>
                <a:spcPct val="110000"/>
              </a:lnSpc>
              <a:spcBef>
                <a:spcPts val="100"/>
              </a:spcBef>
              <a:spcAft>
                <a:spcPts val="100"/>
              </a:spcAft>
            </a:pPr>
            <a:r>
              <a:rPr sz="1400">
                <a:solidFill>
                  <a:srgbClr val="000000"/>
                </a:solidFill>
                <a:latin typeface="Calibri"/>
              </a:rPr>
              <a:t>│  │  • Manages memory (Garbage Collection)                  │ │</a:t>
            </a:r>
          </a:p>
          <a:p>
            <a:pPr algn="l">
              <a:lnSpc>
                <a:spcPct val="110000"/>
              </a:lnSpc>
              <a:spcBef>
                <a:spcPts val="100"/>
              </a:spcBef>
              <a:spcAft>
                <a:spcPts val="100"/>
              </a:spcAft>
            </a:pPr>
            <a:r>
              <a:rPr sz="1400">
                <a:solidFill>
                  <a:srgbClr val="000000"/>
                </a:solidFill>
                <a:latin typeface="Calibri"/>
              </a:rPr>
              <a:t>│  │  • Handles function calls, objects, prototypes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LIBUV (C Library)                       │ │</a:t>
            </a:r>
          </a:p>
          <a:p>
            <a:pPr algn="l">
              <a:lnSpc>
                <a:spcPct val="110000"/>
              </a:lnSpc>
              <a:spcBef>
                <a:spcPts val="100"/>
              </a:spcBef>
              <a:spcAft>
                <a:spcPts val="100"/>
              </a:spcAft>
            </a:pPr>
            <a:r>
              <a:rPr sz="1400">
                <a:solidFill>
                  <a:srgbClr val="000000"/>
                </a:solidFill>
                <a:latin typeface="Calibri"/>
              </a:rPr>
              <a:t>│  │  • Event Loop (the heart of async)                     │ │</a:t>
            </a:r>
          </a:p>
          <a:p>
            <a:pPr algn="l">
              <a:lnSpc>
                <a:spcPct val="110000"/>
              </a:lnSpc>
              <a:spcBef>
                <a:spcPts val="100"/>
              </a:spcBef>
              <a:spcAft>
                <a:spcPts val="100"/>
              </a:spcAft>
            </a:pPr>
            <a:r>
              <a:rPr sz="1400">
                <a:solidFill>
                  <a:srgbClr val="000000"/>
                </a:solidFill>
                <a:latin typeface="Calibri"/>
              </a:rPr>
              <a:t>│  │  • Thread pool for file system, DNS, etc.              │ │</a:t>
            </a:r>
          </a:p>
          <a:p>
            <a:pPr algn="l">
              <a:lnSpc>
                <a:spcPct val="110000"/>
              </a:lnSpc>
              <a:spcBef>
                <a:spcPts val="100"/>
              </a:spcBef>
              <a:spcAft>
                <a:spcPts val="100"/>
              </a:spcAft>
            </a:pPr>
            <a:r>
              <a:rPr sz="1400">
                <a:solidFill>
                  <a:srgbClr val="000000"/>
                </a:solidFill>
                <a:latin typeface="Calibri"/>
              </a:rPr>
              <a:t>│  │  • Handles timers, signals, child processes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The Event Loop Explained</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RESTAURANT WAITER ANALOGY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    ┌─────────┐    ┌─────────┐     │</a:t>
            </a:r>
          </a:p>
          <a:p>
            <a:pPr algn="l">
              <a:lnSpc>
                <a:spcPct val="110000"/>
              </a:lnSpc>
              <a:spcBef>
                <a:spcPts val="100"/>
              </a:spcBef>
              <a:spcAft>
                <a:spcPts val="100"/>
              </a:spcAft>
            </a:pPr>
            <a:r>
              <a:rPr sz="1400">
                <a:solidFill>
                  <a:srgbClr val="000000"/>
                </a:solidFill>
                <a:latin typeface="Calibri"/>
              </a:rPr>
              <a:t>│  │ WAITER  │    │ KITCHEN │    │ CUSTOMER│    │ ORDERS  │     │</a:t>
            </a:r>
          </a:p>
          <a:p>
            <a:pPr algn="l">
              <a:lnSpc>
                <a:spcPct val="110000"/>
              </a:lnSpc>
              <a:spcBef>
                <a:spcPts val="100"/>
              </a:spcBef>
              <a:spcAft>
                <a:spcPts val="100"/>
              </a:spcAft>
            </a:pPr>
            <a:r>
              <a:rPr sz="1400">
                <a:solidFill>
                  <a:srgbClr val="000000"/>
                </a:solidFill>
                <a:latin typeface="Calibri"/>
              </a:rPr>
              <a:t>│  │ takes   │    │ cooks   │    │ waits   │    │ queued  │     │</a:t>
            </a:r>
          </a:p>
          <a:p>
            <a:pPr algn="l">
              <a:lnSpc>
                <a:spcPct val="110000"/>
              </a:lnSpc>
              <a:spcBef>
                <a:spcPts val="100"/>
              </a:spcBef>
              <a:spcAft>
                <a:spcPts val="100"/>
              </a:spcAft>
            </a:pPr>
            <a:r>
              <a:rPr sz="1400">
                <a:solidFill>
                  <a:srgbClr val="000000"/>
                </a:solidFill>
                <a:latin typeface="Calibri"/>
              </a:rPr>
              <a:t>│  │ order   │    │ food    │    │ for     │    │ for     │     │</a:t>
            </a:r>
          </a:p>
          <a:p>
            <a:pPr algn="l">
              <a:lnSpc>
                <a:spcPct val="110000"/>
              </a:lnSpc>
              <a:spcBef>
                <a:spcPts val="100"/>
              </a:spcBef>
              <a:spcAft>
                <a:spcPts val="100"/>
              </a:spcAft>
            </a:pPr>
            <a:r>
              <a:rPr sz="1400">
                <a:solidFill>
                  <a:srgbClr val="000000"/>
                </a:solidFill>
                <a:latin typeface="Calibri"/>
              </a:rPr>
              <a:t>│  │         │    │         │    │ result  │    │ pick-up │     │</a:t>
            </a:r>
          </a:p>
          <a:p>
            <a:pPr algn="l">
              <a:lnSpc>
                <a:spcPct val="110000"/>
              </a:lnSpc>
              <a:spcBef>
                <a:spcPts val="100"/>
              </a:spcBef>
              <a:spcAft>
                <a:spcPts val="100"/>
              </a:spcAft>
            </a:pPr>
            <a:r>
              <a:rPr sz="1400">
                <a:solidFill>
                  <a:srgbClr val="000000"/>
                </a:solidFill>
                <a:latin typeface="Calibri"/>
              </a:rPr>
              <a:t>│  └─────────┘    └─────────┘    └─────────┘    └─────────┘     │</a:t>
            </a:r>
          </a:p>
          <a:p>
            <a:pPr algn="l">
              <a:lnSpc>
                <a:spcPct val="110000"/>
              </a:lnSpc>
              <a:spcBef>
                <a:spcPts val="100"/>
              </a:spcBef>
              <a:spcAft>
                <a:spcPts val="100"/>
              </a:spcAft>
            </a:pPr>
            <a:r>
              <a:rPr sz="1400">
                <a:solidFill>
                  <a:srgbClr val="000000"/>
                </a:solidFill>
                <a:latin typeface="Calibri"/>
              </a:rPr>
              <a:t>│       │              │             │              │            │</a:t>
            </a:r>
          </a:p>
          <a:p>
            <a:pPr algn="l">
              <a:lnSpc>
                <a:spcPct val="110000"/>
              </a:lnSpc>
              <a:spcBef>
                <a:spcPts val="100"/>
              </a:spcBef>
              <a:spcAft>
                <a:spcPts val="100"/>
              </a:spcAft>
            </a:pPr>
            <a:r>
              <a:rPr sz="1400">
                <a:solidFill>
                  <a:srgbClr val="000000"/>
                </a:solidFill>
                <a:latin typeface="Calibri"/>
              </a:rPr>
              <a:t>│       ▼              ▼             ▼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EVENT LOOP (The Waiter)                  │   │</a:t>
            </a:r>
          </a:p>
          <a:p>
            <a:pPr algn="l">
              <a:lnSpc>
                <a:spcPct val="110000"/>
              </a:lnSpc>
              <a:spcBef>
                <a:spcPts val="100"/>
              </a:spcBef>
              <a:spcAft>
                <a:spcPts val="100"/>
              </a:spcAft>
            </a:pPr>
            <a:r>
              <a:rPr sz="1400">
                <a:solidFill>
                  <a:srgbClr val="000000"/>
                </a:solidFill>
                <a:latin typeface="Calibri"/>
              </a:rPr>
              <a:t>│  │  1. Takes order (call stack)                         │   │</a:t>
            </a:r>
          </a:p>
          <a:p>
            <a:pPr algn="l">
              <a:lnSpc>
                <a:spcPct val="110000"/>
              </a:lnSpc>
              <a:spcBef>
                <a:spcPts val="100"/>
              </a:spcBef>
              <a:spcAft>
                <a:spcPts val="100"/>
              </a:spcAft>
            </a:pPr>
            <a:r>
              <a:rPr sz="1400">
                <a:solidFill>
                  <a:srgbClr val="000000"/>
                </a:solidFill>
                <a:latin typeface="Calibri"/>
              </a:rPr>
              <a:t>│  │  2. Gives to kitchen (async operation)              │   │</a:t>
            </a:r>
          </a:p>
          <a:p>
            <a:pPr algn="l">
              <a:lnSpc>
                <a:spcPct val="110000"/>
              </a:lnSpc>
              <a:spcBef>
                <a:spcPts val="100"/>
              </a:spcBef>
              <a:spcAft>
                <a:spcPts val="100"/>
              </a:spcAft>
            </a:pPr>
            <a:r>
              <a:rPr sz="1400">
                <a:solidFill>
                  <a:srgbClr val="000000"/>
                </a:solidFill>
                <a:latin typeface="Calibri"/>
              </a:rPr>
              <a:t>│  │  3. Takes more orders (continues working)          │   │</a:t>
            </a:r>
          </a:p>
          <a:p>
            <a:pPr algn="l">
              <a:lnSpc>
                <a:spcPct val="110000"/>
              </a:lnSpc>
              <a:spcBef>
                <a:spcPts val="100"/>
              </a:spcBef>
              <a:spcAft>
                <a:spcPts val="100"/>
              </a:spcAft>
            </a:pPr>
            <a:r>
              <a:rPr sz="1400">
                <a:solidFill>
                  <a:srgbClr val="000000"/>
                </a:solidFill>
                <a:latin typeface="Calibri"/>
              </a:rPr>
              <a:t>│  │  4. Delivers when ready (callback executes)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Event Loop Phases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EVENT LOOP PHASES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TIMERS  │────▶│ PENDING  │────▶│ IDLE/    │               │</a:t>
            </a:r>
          </a:p>
          <a:p>
            <a:pPr algn="l">
              <a:lnSpc>
                <a:spcPct val="110000"/>
              </a:lnSpc>
              <a:spcBef>
                <a:spcPts val="100"/>
              </a:spcBef>
              <a:spcAft>
                <a:spcPts val="100"/>
              </a:spcAft>
            </a:pPr>
            <a:r>
              <a:rPr sz="1200">
                <a:solidFill>
                  <a:srgbClr val="000000"/>
                </a:solidFill>
                <a:latin typeface="Calibri"/>
              </a:rPr>
              <a:t>│  │(setTimeout) │  CALLBACKS │     │ PREPARE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POLL    │◀────│ CHECK    │◀────│ CLOSE    │               │</a:t>
            </a:r>
          </a:p>
          <a:p>
            <a:pPr algn="l">
              <a:lnSpc>
                <a:spcPct val="110000"/>
              </a:lnSpc>
              <a:spcBef>
                <a:spcPts val="100"/>
              </a:spcBef>
              <a:spcAft>
                <a:spcPts val="100"/>
              </a:spcAft>
            </a:pPr>
            <a:r>
              <a:rPr sz="1200">
                <a:solidFill>
                  <a:srgbClr val="000000"/>
                </a:solidFill>
                <a:latin typeface="Calibri"/>
              </a:rPr>
              <a:t>│  │ (I/O)   │     │(setImmediate)│  CALLBACKS│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1. TIMERS: setTimeout/setInterval callbacks                   │</a:t>
            </a:r>
          </a:p>
          <a:p>
            <a:pPr algn="l">
              <a:lnSpc>
                <a:spcPct val="110000"/>
              </a:lnSpc>
              <a:spcBef>
                <a:spcPts val="100"/>
              </a:spcBef>
              <a:spcAft>
                <a:spcPts val="100"/>
              </a:spcAft>
            </a:pPr>
            <a:r>
              <a:rPr sz="1200">
                <a:solidFill>
                  <a:srgbClr val="000000"/>
                </a:solidFill>
                <a:latin typeface="Calibri"/>
              </a:rPr>
              <a:t>│  2. PENDING CALLBACKS: I/O callbacks deferred                  │</a:t>
            </a:r>
          </a:p>
          <a:p>
            <a:pPr algn="l">
              <a:lnSpc>
                <a:spcPct val="110000"/>
              </a:lnSpc>
              <a:spcBef>
                <a:spcPts val="100"/>
              </a:spcBef>
              <a:spcAft>
                <a:spcPts val="100"/>
              </a:spcAft>
            </a:pPr>
            <a:r>
              <a:rPr sz="1200">
                <a:solidFill>
                  <a:srgbClr val="000000"/>
                </a:solidFill>
                <a:latin typeface="Calibri"/>
              </a:rPr>
              <a:t>│  3. IDLE/PREPARE: Internal use only                           │</a:t>
            </a:r>
          </a:p>
          <a:p>
            <a:pPr algn="l">
              <a:lnSpc>
                <a:spcPct val="110000"/>
              </a:lnSpc>
              <a:spcBef>
                <a:spcPts val="100"/>
              </a:spcBef>
              <a:spcAft>
                <a:spcPts val="100"/>
              </a:spcAft>
            </a:pPr>
            <a:r>
              <a:rPr sz="1200">
                <a:solidFill>
                  <a:srgbClr val="000000"/>
                </a:solidFill>
                <a:latin typeface="Calibri"/>
              </a:rPr>
              <a:t>│  4. POLL: Retrieves new I/O events                           │</a:t>
            </a:r>
          </a:p>
          <a:p>
            <a:pPr algn="l">
              <a:lnSpc>
                <a:spcPct val="110000"/>
              </a:lnSpc>
              <a:spcBef>
                <a:spcPts val="100"/>
              </a:spcBef>
              <a:spcAft>
                <a:spcPts val="100"/>
              </a:spcAft>
            </a:pPr>
            <a:r>
              <a:rPr sz="1200">
                <a:solidFill>
                  <a:srgbClr val="000000"/>
                </a:solidFill>
                <a:latin typeface="Calibri"/>
              </a:rPr>
              <a:t>│  5. CHECK: setImmediate callbacks                            │</a:t>
            </a:r>
          </a:p>
          <a:p>
            <a:pPr algn="l">
              <a:lnSpc>
                <a:spcPct val="110000"/>
              </a:lnSpc>
              <a:spcBef>
                <a:spcPts val="100"/>
              </a:spcBef>
              <a:spcAft>
                <a:spcPts val="100"/>
              </a:spcAft>
            </a:pPr>
            <a:r>
              <a:rPr sz="1200">
                <a:solidFill>
                  <a:srgbClr val="000000"/>
                </a:solidFill>
                <a:latin typeface="Calibri"/>
              </a:rPr>
              <a:t>│  6. CLOSE CALLBACKS: socket.on('close',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Microtasks vs Macrotasks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MICROTASKS vs MACROTASKS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MACROTASKS                        │   │</a:t>
            </a:r>
          </a:p>
          <a:p>
            <a:pPr algn="l">
              <a:lnSpc>
                <a:spcPct val="110000"/>
              </a:lnSpc>
              <a:spcBef>
                <a:spcPts val="100"/>
              </a:spcBef>
              <a:spcAft>
                <a:spcPts val="100"/>
              </a:spcAft>
            </a:pPr>
            <a:r>
              <a:rPr sz="1200">
                <a:solidFill>
                  <a:srgbClr val="000000"/>
                </a:solidFill>
                <a:latin typeface="Calibri"/>
              </a:rPr>
              <a:t>│  │  • setTimeout, setInterval, setImmediate               │   │</a:t>
            </a:r>
          </a:p>
          <a:p>
            <a:pPr algn="l">
              <a:lnSpc>
                <a:spcPct val="110000"/>
              </a:lnSpc>
              <a:spcBef>
                <a:spcPts val="100"/>
              </a:spcBef>
              <a:spcAft>
                <a:spcPts val="100"/>
              </a:spcAft>
            </a:pPr>
            <a:r>
              <a:rPr sz="1200">
                <a:solidFill>
                  <a:srgbClr val="000000"/>
                </a:solidFill>
                <a:latin typeface="Calibri"/>
              </a:rPr>
              <a:t>│  │  • I/O operations                                     │   │</a:t>
            </a:r>
          </a:p>
          <a:p>
            <a:pPr algn="l">
              <a:lnSpc>
                <a:spcPct val="110000"/>
              </a:lnSpc>
              <a:spcBef>
                <a:spcPts val="100"/>
              </a:spcBef>
              <a:spcAft>
                <a:spcPts val="100"/>
              </a:spcAft>
            </a:pPr>
            <a:r>
              <a:rPr sz="1200">
                <a:solidFill>
                  <a:srgbClr val="000000"/>
                </a:solidFill>
                <a:latin typeface="Calibri"/>
              </a:rPr>
              <a:t>│  │  • UI rendering                                       │   │</a:t>
            </a:r>
          </a:p>
          <a:p>
            <a:pPr algn="l">
              <a:lnSpc>
                <a:spcPct val="110000"/>
              </a:lnSpc>
              <a:spcBef>
                <a:spcPts val="100"/>
              </a:spcBef>
              <a:spcAft>
                <a:spcPts val="100"/>
              </a:spcAft>
            </a:pPr>
            <a:r>
              <a:rPr sz="1200">
                <a:solidFill>
                  <a:srgbClr val="000000"/>
                </a:solidFill>
                <a:latin typeface="Calibri"/>
              </a:rPr>
              <a:t>│  │  • Executed in event loop phases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MICROTASKS                        │   │</a:t>
            </a:r>
          </a:p>
          <a:p>
            <a:pPr algn="l">
              <a:lnSpc>
                <a:spcPct val="110000"/>
              </a:lnSpc>
              <a:spcBef>
                <a:spcPts val="100"/>
              </a:spcBef>
              <a:spcAft>
                <a:spcPts val="100"/>
              </a:spcAft>
            </a:pPr>
            <a:r>
              <a:rPr sz="1200">
                <a:solidFill>
                  <a:srgbClr val="000000"/>
                </a:solidFill>
                <a:latin typeface="Calibri"/>
              </a:rPr>
              <a:t>│  │  • Promise.then, catch, finally                        │   │</a:t>
            </a:r>
          </a:p>
          <a:p>
            <a:pPr algn="l">
              <a:lnSpc>
                <a:spcPct val="110000"/>
              </a:lnSpc>
              <a:spcBef>
                <a:spcPts val="100"/>
              </a:spcBef>
              <a:spcAft>
                <a:spcPts val="100"/>
              </a:spcAft>
            </a:pPr>
            <a:r>
              <a:rPr sz="1200">
                <a:solidFill>
                  <a:srgbClr val="000000"/>
                </a:solidFill>
                <a:latin typeface="Calibri"/>
              </a:rPr>
              <a:t>│  │  • process.nextTick (Node.js)                         │   │</a:t>
            </a:r>
          </a:p>
          <a:p>
            <a:pPr algn="l">
              <a:lnSpc>
                <a:spcPct val="110000"/>
              </a:lnSpc>
              <a:spcBef>
                <a:spcPts val="100"/>
              </a:spcBef>
              <a:spcAft>
                <a:spcPts val="100"/>
              </a:spcAft>
            </a:pPr>
            <a:r>
              <a:rPr sz="1200">
                <a:solidFill>
                  <a:srgbClr val="000000"/>
                </a:solidFill>
                <a:latin typeface="Calibri"/>
              </a:rPr>
              <a:t>│  │  • queueMicrotask                                     │   │</a:t>
            </a:r>
          </a:p>
          <a:p>
            <a:pPr algn="l">
              <a:lnSpc>
                <a:spcPct val="110000"/>
              </a:lnSpc>
              <a:spcBef>
                <a:spcPts val="100"/>
              </a:spcBef>
              <a:spcAft>
                <a:spcPts val="100"/>
              </a:spcAft>
            </a:pPr>
            <a:r>
              <a:rPr sz="1200">
                <a:solidFill>
                  <a:srgbClr val="000000"/>
                </a:solidFill>
                <a:latin typeface="Calibri"/>
              </a:rPr>
              <a:t>│  │  • Executed immediately after each macrotask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EXECUTION ORDER:                                              │</a:t>
            </a:r>
          </a:p>
          <a:p>
            <a:pPr algn="l">
              <a:lnSpc>
                <a:spcPct val="110000"/>
              </a:lnSpc>
              <a:spcBef>
                <a:spcPts val="100"/>
              </a:spcBef>
              <a:spcAft>
                <a:spcPts val="100"/>
              </a:spcAft>
            </a:pPr>
            <a:r>
              <a:rPr sz="1200">
                <a:solidFill>
                  <a:srgbClr val="000000"/>
                </a:solidFill>
                <a:latin typeface="Calibri"/>
              </a:rPr>
              <a:t>│  1. Execute all microtasks in the queue                       │</a:t>
            </a:r>
          </a:p>
          <a:p>
            <a:pPr algn="l">
              <a:lnSpc>
                <a:spcPct val="110000"/>
              </a:lnSpc>
              <a:spcBef>
                <a:spcPts val="100"/>
              </a:spcBef>
              <a:spcAft>
                <a:spcPts val="100"/>
              </a:spcAft>
            </a:pPr>
            <a:r>
              <a:rPr sz="1200">
                <a:solidFill>
                  <a:srgbClr val="000000"/>
                </a:solidFill>
                <a:latin typeface="Calibri"/>
              </a:rPr>
              <a:t>│  2. Execute one macrotask                                     │</a:t>
            </a:r>
          </a:p>
          <a:p>
            <a:pPr algn="l">
              <a:lnSpc>
                <a:spcPct val="110000"/>
              </a:lnSpc>
              <a:spcBef>
                <a:spcPts val="100"/>
              </a:spcBef>
              <a:spcAft>
                <a:spcPts val="100"/>
              </a:spcAft>
            </a:pPr>
            <a:r>
              <a:rPr sz="1200">
                <a:solidFill>
                  <a:srgbClr val="000000"/>
                </a:solidFill>
                <a:latin typeface="Calibri"/>
              </a:rPr>
              <a:t>│  3. Repeat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Code Example - Async Order</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```javascript</a:t>
            </a:r>
          </a:p>
          <a:p>
            <a:pPr algn="l">
              <a:lnSpc>
                <a:spcPct val="110000"/>
              </a:lnSpc>
              <a:spcBef>
                <a:spcPts val="100"/>
              </a:spcBef>
              <a:spcAft>
                <a:spcPts val="100"/>
              </a:spcAft>
            </a:pPr>
            <a:r>
              <a:rPr sz="1400">
                <a:solidFill>
                  <a:srgbClr val="000000"/>
                </a:solidFill>
                <a:latin typeface="Calibri"/>
              </a:rPr>
              <a:t>console.log('1');</a:t>
            </a:r>
          </a:p>
          <a:p>
            <a:pPr algn="l">
              <a:lnSpc>
                <a:spcPct val="110000"/>
              </a:lnSpc>
              <a:spcBef>
                <a:spcPts val="100"/>
              </a:spcBef>
              <a:spcAft>
                <a:spcPts val="100"/>
              </a:spcAft>
            </a:pPr>
            <a:r>
              <a:rPr sz="1400">
                <a:solidFill>
                  <a:srgbClr val="000000"/>
                </a:solidFill>
                <a:latin typeface="Calibri"/>
              </a:rPr>
              <a:t>setTimeout(() =&gt; console.log('2'), 0);</a:t>
            </a:r>
          </a:p>
          <a:p>
            <a:pPr algn="l">
              <a:lnSpc>
                <a:spcPct val="110000"/>
              </a:lnSpc>
              <a:spcBef>
                <a:spcPts val="100"/>
              </a:spcBef>
              <a:spcAft>
                <a:spcPts val="100"/>
              </a:spcAft>
            </a:pPr>
            <a:r>
              <a:rPr sz="1400">
                <a:solidFill>
                  <a:srgbClr val="000000"/>
                </a:solidFill>
                <a:latin typeface="Calibri"/>
              </a:rPr>
              <a:t>Promise.resolve()</a:t>
            </a:r>
          </a:p>
          <a:p>
            <a:pPr algn="l">
              <a:lnSpc>
                <a:spcPct val="110000"/>
              </a:lnSpc>
              <a:spcBef>
                <a:spcPts val="100"/>
              </a:spcBef>
              <a:spcAft>
                <a:spcPts val="100"/>
              </a:spcAft>
            </a:pPr>
            <a:r>
              <a:rPr sz="1400">
                <a:solidFill>
                  <a:srgbClr val="000000"/>
                </a:solidFill>
                <a:latin typeface="Calibri"/>
              </a:rPr>
              <a:t>    .then(() =&gt; console.log('3'))</a:t>
            </a:r>
          </a:p>
          <a:p>
            <a:pPr algn="l">
              <a:lnSpc>
                <a:spcPct val="110000"/>
              </a:lnSpc>
              <a:spcBef>
                <a:spcPts val="100"/>
              </a:spcBef>
              <a:spcAft>
                <a:spcPts val="100"/>
              </a:spcAft>
            </a:pPr>
            <a:r>
              <a:rPr sz="1400">
                <a:solidFill>
                  <a:srgbClr val="000000"/>
                </a:solidFill>
                <a:latin typeface="Calibri"/>
              </a:rPr>
              <a:t>    .then(() =&gt; console.log('4'));</a:t>
            </a:r>
          </a:p>
          <a:p>
            <a:pPr algn="l">
              <a:lnSpc>
                <a:spcPct val="110000"/>
              </a:lnSpc>
              <a:spcBef>
                <a:spcPts val="100"/>
              </a:spcBef>
              <a:spcAft>
                <a:spcPts val="100"/>
              </a:spcAft>
            </a:pPr>
            <a:r>
              <a:rPr sz="1400">
                <a:solidFill>
                  <a:srgbClr val="000000"/>
                </a:solidFill>
                <a:latin typeface="Calibri"/>
              </a:rPr>
              <a:t>console.log('5');</a:t>
            </a:r>
          </a:p>
          <a:p>
            <a:pPr algn="l">
              <a:lnSpc>
                <a:spcPct val="110000"/>
              </a:lnSpc>
              <a:spcBef>
                <a:spcPts val="100"/>
              </a:spcBef>
              <a:spcAft>
                <a:spcPts val="100"/>
              </a:spcAft>
            </a:pPr>
            <a:r>
              <a:rPr sz="1400">
                <a:solidFill>
                  <a:srgbClr val="000000"/>
                </a:solidFill>
                <a:latin typeface="Calibri"/>
              </a:rPr>
              <a:t>// Output: 1, 5, 3, 4, 2</a:t>
            </a:r>
          </a:p>
          <a:p>
            <a:pPr algn="l">
              <a:lnSpc>
                <a:spcPct val="110000"/>
              </a:lnSpc>
              <a:spcBef>
                <a:spcPts val="100"/>
              </a:spcBef>
              <a:spcAft>
                <a:spcPts val="100"/>
              </a:spcAft>
            </a:pPr>
            <a:r>
              <a:rPr sz="1400">
                <a:solidFill>
                  <a:srgbClr val="000000"/>
                </a:solidFill>
                <a:latin typeface="Calibri"/>
              </a:rPr>
              <a:t>// Explanation:</a:t>
            </a:r>
          </a:p>
          <a:p>
            <a:pPr algn="l">
              <a:lnSpc>
                <a:spcPct val="110000"/>
              </a:lnSpc>
              <a:spcBef>
                <a:spcPts val="100"/>
              </a:spcBef>
              <a:spcAft>
                <a:spcPts val="100"/>
              </a:spcAft>
            </a:pPr>
            <a:r>
              <a:rPr sz="1400">
                <a:solidFill>
                  <a:srgbClr val="000000"/>
                </a:solidFill>
                <a:latin typeface="Calibri"/>
              </a:rPr>
              <a:t>// 1. Synchronous code: 1, 5</a:t>
            </a:r>
          </a:p>
          <a:p>
            <a:pPr algn="l">
              <a:lnSpc>
                <a:spcPct val="110000"/>
              </a:lnSpc>
              <a:spcBef>
                <a:spcPts val="100"/>
              </a:spcBef>
              <a:spcAft>
                <a:spcPts val="100"/>
              </a:spcAft>
            </a:pPr>
            <a:r>
              <a:rPr sz="1400">
                <a:solidFill>
                  <a:srgbClr val="000000"/>
                </a:solidFill>
                <a:latin typeface="Calibri"/>
              </a:rPr>
              <a:t>// 2. Microtasks: 3, 4</a:t>
            </a:r>
          </a:p>
          <a:p>
            <a:pPr algn="l">
              <a:lnSpc>
                <a:spcPct val="110000"/>
              </a:lnSpc>
              <a:spcBef>
                <a:spcPts val="100"/>
              </a:spcBef>
              <a:spcAft>
                <a:spcPts val="100"/>
              </a:spcAft>
            </a:pPr>
            <a:r>
              <a:rPr sz="1400">
                <a:solidFill>
                  <a:srgbClr val="000000"/>
                </a:solidFill>
                <a:latin typeface="Calibri"/>
              </a:rPr>
              <a:t>// 3. Macrotasks: 2</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Blocking the Event Loop</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BLOCKING THE EVENT LOOP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BAD: CPU-intensive synchronous operation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function heavyComputation() {                         │   │</a:t>
            </a:r>
          </a:p>
          <a:p>
            <a:pPr algn="l">
              <a:lnSpc>
                <a:spcPct val="110000"/>
              </a:lnSpc>
              <a:spcBef>
                <a:spcPts val="100"/>
              </a:spcBef>
              <a:spcAft>
                <a:spcPts val="100"/>
              </a:spcAft>
            </a:pPr>
            <a:r>
              <a:rPr sz="1200">
                <a:solidFill>
                  <a:srgbClr val="000000"/>
                </a:solidFill>
                <a:latin typeface="Calibri"/>
              </a:rPr>
              <a:t>│  │   let sum = 0;                                        │   │</a:t>
            </a:r>
          </a:p>
          <a:p>
            <a:pPr algn="l">
              <a:lnSpc>
                <a:spcPct val="110000"/>
              </a:lnSpc>
              <a:spcBef>
                <a:spcPts val="100"/>
              </a:spcBef>
              <a:spcAft>
                <a:spcPts val="100"/>
              </a:spcAft>
            </a:pPr>
            <a:r>
              <a:rPr sz="1200">
                <a:solidFill>
                  <a:srgbClr val="000000"/>
                </a:solidFill>
                <a:latin typeface="Calibri"/>
              </a:rPr>
              <a:t>│  │   for (let i = 0; i &lt; 1e9; i++) {                     │   │</a:t>
            </a:r>
          </a:p>
          <a:p>
            <a:pPr algn="l">
              <a:lnSpc>
                <a:spcPct val="110000"/>
              </a:lnSpc>
              <a:spcBef>
                <a:spcPts val="100"/>
              </a:spcBef>
              <a:spcAft>
                <a:spcPts val="100"/>
              </a:spcAft>
            </a:pPr>
            <a:r>
              <a:rPr sz="1200">
                <a:solidFill>
                  <a:srgbClr val="000000"/>
                </a:solidFill>
                <a:latin typeface="Calibri"/>
              </a:rPr>
              <a:t>│  │     sum += i;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return sum;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Effects:                                                       │</a:t>
            </a:r>
          </a:p>
          <a:p>
            <a:pPr algn="l">
              <a:lnSpc>
                <a:spcPct val="110000"/>
              </a:lnSpc>
              <a:spcBef>
                <a:spcPts val="100"/>
              </a:spcBef>
              <a:spcAft>
                <a:spcPts val="100"/>
              </a:spcAft>
            </a:pPr>
            <a:r>
              <a:rPr sz="1200">
                <a:solidFill>
                  <a:srgbClr val="000000"/>
                </a:solidFill>
                <a:latin typeface="Calibri"/>
              </a:rPr>
              <a:t>│  • ALL requests are blocked                                   │</a:t>
            </a:r>
          </a:p>
          <a:p>
            <a:pPr algn="l">
              <a:lnSpc>
                <a:spcPct val="110000"/>
              </a:lnSpc>
              <a:spcBef>
                <a:spcPts val="100"/>
              </a:spcBef>
              <a:spcAft>
                <a:spcPts val="100"/>
              </a:spcAft>
            </a:pPr>
            <a:r>
              <a:rPr sz="1200">
                <a:solidFill>
                  <a:srgbClr val="000000"/>
                </a:solidFill>
                <a:latin typeface="Calibri"/>
              </a:rPr>
              <a:t>│  • No other operations can execute                            │</a:t>
            </a:r>
          </a:p>
          <a:p>
            <a:pPr algn="l">
              <a:lnSpc>
                <a:spcPct val="110000"/>
              </a:lnSpc>
              <a:spcBef>
                <a:spcPts val="100"/>
              </a:spcBef>
              <a:spcAft>
                <a:spcPts val="100"/>
              </a:spcAft>
            </a:pPr>
            <a:r>
              <a:rPr sz="1200">
                <a:solidFill>
                  <a:srgbClr val="000000"/>
                </a:solidFill>
                <a:latin typeface="Calibri"/>
              </a:rPr>
              <a:t>│  • API becomes unresponsive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Solutions:                                                     │</a:t>
            </a:r>
          </a:p>
          <a:p>
            <a:pPr algn="l">
              <a:lnSpc>
                <a:spcPct val="110000"/>
              </a:lnSpc>
              <a:spcBef>
                <a:spcPts val="100"/>
              </a:spcBef>
              <a:spcAft>
                <a:spcPts val="100"/>
              </a:spcAft>
            </a:pPr>
            <a:r>
              <a:rPr sz="1200">
                <a:solidFill>
                  <a:srgbClr val="000000"/>
                </a:solidFill>
                <a:latin typeface="Calibri"/>
              </a:rPr>
              <a:t>│  • Use worker threads                                         │</a:t>
            </a:r>
          </a:p>
          <a:p>
            <a:pPr algn="l">
              <a:lnSpc>
                <a:spcPct val="110000"/>
              </a:lnSpc>
              <a:spcBef>
                <a:spcPts val="100"/>
              </a:spcBef>
              <a:spcAft>
                <a:spcPts val="100"/>
              </a:spcAft>
            </a:pPr>
            <a:r>
              <a:rPr sz="1200">
                <a:solidFill>
                  <a:srgbClr val="000000"/>
                </a:solidFill>
                <a:latin typeface="Calibri"/>
              </a:rPr>
              <a:t>│  • Use setImmediate to yield                                  │</a:t>
            </a:r>
          </a:p>
          <a:p>
            <a:pPr algn="l">
              <a:lnSpc>
                <a:spcPct val="110000"/>
              </a:lnSpc>
              <a:spcBef>
                <a:spcPts val="100"/>
              </a:spcBef>
              <a:spcAft>
                <a:spcPts val="100"/>
              </a:spcAft>
            </a:pPr>
            <a:r>
              <a:rPr sz="1200">
                <a:solidFill>
                  <a:srgbClr val="000000"/>
                </a:solidFill>
                <a:latin typeface="Calibri"/>
              </a:rPr>
              <a:t>│  • Offload to separate service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Worker Threads Solution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```javascript</a:t>
            </a:r>
          </a:p>
          <a:p>
            <a:pPr algn="l">
              <a:lnSpc>
                <a:spcPct val="110000"/>
              </a:lnSpc>
              <a:spcBef>
                <a:spcPts val="100"/>
              </a:spcBef>
              <a:spcAft>
                <a:spcPts val="100"/>
              </a:spcAft>
            </a:pPr>
            <a:r>
              <a:rPr sz="1400">
                <a:solidFill>
                  <a:srgbClr val="000000"/>
                </a:solidFill>
                <a:latin typeface="Calibri"/>
              </a:rPr>
              <a:t>const { Worker } = require('worker_threads');</a:t>
            </a:r>
          </a:p>
          <a:p>
            <a:pPr algn="l">
              <a:lnSpc>
                <a:spcPct val="110000"/>
              </a:lnSpc>
              <a:spcBef>
                <a:spcPts val="100"/>
              </a:spcBef>
              <a:spcAft>
                <a:spcPts val="100"/>
              </a:spcAft>
            </a:pPr>
            <a:r>
              <a:rPr sz="1400">
                <a:solidFill>
                  <a:srgbClr val="000000"/>
                </a:solidFill>
                <a:latin typeface="Calibri"/>
              </a:rPr>
              <a:t>function heavyComputationWorker(data) {</a:t>
            </a:r>
          </a:p>
          <a:p>
            <a:pPr algn="l">
              <a:lnSpc>
                <a:spcPct val="110000"/>
              </a:lnSpc>
              <a:spcBef>
                <a:spcPts val="100"/>
              </a:spcBef>
              <a:spcAft>
                <a:spcPts val="100"/>
              </a:spcAft>
            </a:pPr>
            <a:r>
              <a:rPr sz="1400">
                <a:solidFill>
                  <a:srgbClr val="000000"/>
                </a:solidFill>
                <a:latin typeface="Calibri"/>
              </a:rPr>
              <a:t>    return new Promise((resolve, reject) =&gt; {</a:t>
            </a:r>
          </a:p>
          <a:p>
            <a:pPr algn="l">
              <a:lnSpc>
                <a:spcPct val="110000"/>
              </a:lnSpc>
              <a:spcBef>
                <a:spcPts val="100"/>
              </a:spcBef>
              <a:spcAft>
                <a:spcPts val="100"/>
              </a:spcAft>
            </a:pPr>
            <a:r>
              <a:rPr sz="1400">
                <a:solidFill>
                  <a:srgbClr val="000000"/>
                </a:solidFill>
                <a:latin typeface="Calibri"/>
              </a:rPr>
              <a:t>        const worker = new Worker(`</a:t>
            </a:r>
          </a:p>
          <a:p>
            <a:pPr algn="l">
              <a:lnSpc>
                <a:spcPct val="110000"/>
              </a:lnSpc>
              <a:spcBef>
                <a:spcPts val="100"/>
              </a:spcBef>
              <a:spcAft>
                <a:spcPts val="100"/>
              </a:spcAft>
            </a:pPr>
            <a:r>
              <a:rPr sz="1400">
                <a:solidFill>
                  <a:srgbClr val="000000"/>
                </a:solidFill>
                <a:latin typeface="Calibri"/>
              </a:rPr>
              <a:t>            const { parentPort } = require('worker_threads');</a:t>
            </a:r>
          </a:p>
          <a:p>
            <a:pPr algn="l">
              <a:lnSpc>
                <a:spcPct val="110000"/>
              </a:lnSpc>
              <a:spcBef>
                <a:spcPts val="100"/>
              </a:spcBef>
              <a:spcAft>
                <a:spcPts val="100"/>
              </a:spcAft>
            </a:pPr>
            <a:r>
              <a:rPr sz="1400">
                <a:solidFill>
                  <a:srgbClr val="000000"/>
                </a:solidFill>
                <a:latin typeface="Calibri"/>
              </a:rPr>
              <a:t>            let sum = 0;</a:t>
            </a:r>
          </a:p>
          <a:p>
            <a:pPr algn="l">
              <a:lnSpc>
                <a:spcPct val="110000"/>
              </a:lnSpc>
              <a:spcBef>
                <a:spcPts val="100"/>
              </a:spcBef>
              <a:spcAft>
                <a:spcPts val="100"/>
              </a:spcAft>
            </a:pPr>
            <a:r>
              <a:rPr sz="1400">
                <a:solidFill>
                  <a:srgbClr val="000000"/>
                </a:solidFill>
                <a:latin typeface="Calibri"/>
              </a:rPr>
              <a:t>            for (let i = 0; i &lt; 1e9; i++) {</a:t>
            </a:r>
          </a:p>
          <a:p>
            <a:pPr algn="l">
              <a:lnSpc>
                <a:spcPct val="110000"/>
              </a:lnSpc>
              <a:spcBef>
                <a:spcPts val="100"/>
              </a:spcBef>
              <a:spcAft>
                <a:spcPts val="100"/>
              </a:spcAft>
            </a:pPr>
            <a:r>
              <a:rPr sz="1400">
                <a:solidFill>
                  <a:srgbClr val="000000"/>
                </a:solidFill>
                <a:latin typeface="Calibri"/>
              </a:rPr>
              <a:t>                sum += i;</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parentPort.postMessage(sum);</a:t>
            </a:r>
          </a:p>
          <a:p>
            <a:pPr algn="l">
              <a:lnSpc>
                <a:spcPct val="110000"/>
              </a:lnSpc>
              <a:spcBef>
                <a:spcPts val="100"/>
              </a:spcBef>
              <a:spcAft>
                <a:spcPts val="100"/>
              </a:spcAft>
            </a:pPr>
            <a:r>
              <a:rPr sz="1400">
                <a:solidFill>
                  <a:srgbClr val="000000"/>
                </a:solidFill>
                <a:latin typeface="Calibri"/>
              </a:rPr>
              <a:t>        `, { eval: true });</a:t>
            </a:r>
          </a:p>
          <a:p>
            <a:pPr algn="l">
              <a:lnSpc>
                <a:spcPct val="110000"/>
              </a:lnSpc>
              <a:spcBef>
                <a:spcPts val="100"/>
              </a:spcBef>
              <a:spcAft>
                <a:spcPts val="100"/>
              </a:spcAft>
            </a:pPr>
            <a:r>
              <a:rPr sz="1400">
                <a:solidFill>
                  <a:srgbClr val="000000"/>
                </a:solidFill>
                <a:latin typeface="Calibri"/>
              </a:rPr>
              <a:t>        worker.on('message', resolve);</a:t>
            </a:r>
          </a:p>
          <a:p>
            <a:pPr algn="l">
              <a:lnSpc>
                <a:spcPct val="110000"/>
              </a:lnSpc>
              <a:spcBef>
                <a:spcPts val="100"/>
              </a:spcBef>
              <a:spcAft>
                <a:spcPts val="100"/>
              </a:spcAft>
            </a:pPr>
            <a:r>
              <a:rPr sz="1400">
                <a:solidFill>
                  <a:srgbClr val="000000"/>
                </a:solidFill>
                <a:latin typeface="Calibri"/>
              </a:rPr>
              <a:t>        worker.on('error', reject);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Main thread continues to handle requests</a:t>
            </a:r>
          </a:p>
          <a:p>
            <a:pPr algn="l">
              <a:lnSpc>
                <a:spcPct val="110000"/>
              </a:lnSpc>
              <a:spcBef>
                <a:spcPts val="100"/>
              </a:spcBef>
              <a:spcAft>
                <a:spcPts val="100"/>
              </a:spcAft>
            </a:pPr>
            <a:r>
              <a:rPr sz="1400">
                <a:solidFill>
                  <a:srgbClr val="000000"/>
                </a:solidFill>
                <a:latin typeface="Calibri"/>
              </a:rPr>
              <a:t>app.get('/compute', async (req, res) =&gt; {</a:t>
            </a:r>
          </a:p>
          <a:p>
            <a:pPr algn="l">
              <a:lnSpc>
                <a:spcPct val="110000"/>
              </a:lnSpc>
              <a:spcBef>
                <a:spcPts val="100"/>
              </a:spcBef>
              <a:spcAft>
                <a:spcPts val="100"/>
              </a:spcAft>
            </a:pPr>
            <a:r>
              <a:rPr sz="1400">
                <a:solidFill>
                  <a:srgbClr val="000000"/>
                </a:solidFill>
                <a:latin typeface="Calibri"/>
              </a:rPr>
              <a:t>    const result = await heavyComputationWorker(req.data);</a:t>
            </a:r>
          </a:p>
          <a:p>
            <a:pPr algn="l">
              <a:lnSpc>
                <a:spcPct val="110000"/>
              </a:lnSpc>
              <a:spcBef>
                <a:spcPts val="100"/>
              </a:spcBef>
              <a:spcAft>
                <a:spcPts val="100"/>
              </a:spcAft>
            </a:pPr>
            <a:r>
              <a:rPr sz="1400">
                <a:solidFill>
                  <a:srgbClr val="000000"/>
                </a:solidFill>
                <a:latin typeface="Calibri"/>
              </a:rPr>
              <a:t>    res.json({ result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12-Factor Principles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12-FACTOR PRINCIPLES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Factor 3: Config in Environment ── No config files            │</a:t>
            </a:r>
          </a:p>
          <a:p>
            <a:pPr algn="l">
              <a:lnSpc>
                <a:spcPct val="110000"/>
              </a:lnSpc>
              <a:spcBef>
                <a:spcPts val="100"/>
              </a:spcBef>
              <a:spcAft>
                <a:spcPts val="100"/>
              </a:spcAft>
            </a:pPr>
            <a:r>
              <a:rPr sz="1400">
                <a:solidFill>
                  <a:srgbClr val="000000"/>
                </a:solidFill>
                <a:latin typeface="Calibri"/>
              </a:rPr>
              <a:t>│  Factor 4: Backing Services ── Treat as attached resources     │</a:t>
            </a:r>
          </a:p>
          <a:p>
            <a:pPr algn="l">
              <a:lnSpc>
                <a:spcPct val="110000"/>
              </a:lnSpc>
              <a:spcBef>
                <a:spcPts val="100"/>
              </a:spcBef>
              <a:spcAft>
                <a:spcPts val="100"/>
              </a:spcAft>
            </a:pPr>
            <a:r>
              <a:rPr sz="1400">
                <a:solidFill>
                  <a:srgbClr val="000000"/>
                </a:solidFill>
                <a:latin typeface="Calibri"/>
              </a:rPr>
              <a:t>│  Factor 5: Build, Release, Run ── Strict separation           │</a:t>
            </a:r>
          </a:p>
          <a:p>
            <a:pPr algn="l">
              <a:lnSpc>
                <a:spcPct val="110000"/>
              </a:lnSpc>
              <a:spcBef>
                <a:spcPts val="100"/>
              </a:spcBef>
              <a:spcAft>
                <a:spcPts val="100"/>
              </a:spcAft>
            </a:pPr>
            <a:r>
              <a:rPr sz="1400">
                <a:solidFill>
                  <a:srgbClr val="000000"/>
                </a:solidFill>
                <a:latin typeface="Calibri"/>
              </a:rPr>
              <a:t>│  Factor 6: Stateless Processes ── No local state              │</a:t>
            </a:r>
          </a:p>
          <a:p>
            <a:pPr algn="l">
              <a:lnSpc>
                <a:spcPct val="110000"/>
              </a:lnSpc>
              <a:spcBef>
                <a:spcPts val="100"/>
              </a:spcBef>
              <a:spcAft>
                <a:spcPts val="100"/>
              </a:spcAft>
            </a:pPr>
            <a:r>
              <a:rPr sz="1400">
                <a:solidFill>
                  <a:srgbClr val="000000"/>
                </a:solidFill>
                <a:latin typeface="Calibri"/>
              </a:rPr>
              <a:t>│  Factor 8: Port Binding ── Export via port                   │</a:t>
            </a:r>
          </a:p>
          <a:p>
            <a:pPr algn="l">
              <a:lnSpc>
                <a:spcPct val="110000"/>
              </a:lnSpc>
              <a:spcBef>
                <a:spcPts val="100"/>
              </a:spcBef>
              <a:spcAft>
                <a:spcPts val="100"/>
              </a:spcAft>
            </a:pPr>
            <a:r>
              <a:rPr sz="1400">
                <a:solidFill>
                  <a:srgbClr val="000000"/>
                </a:solidFill>
                <a:latin typeface="Calibri"/>
              </a:rPr>
              <a:t>│  Factor 9: Disposability ── Fast startup, graceful shutdown  │</a:t>
            </a:r>
          </a:p>
          <a:p>
            <a:pPr algn="l">
              <a:lnSpc>
                <a:spcPct val="110000"/>
              </a:lnSpc>
              <a:spcBef>
                <a:spcPts val="100"/>
              </a:spcBef>
              <a:spcAft>
                <a:spcPts val="100"/>
              </a:spcAft>
            </a:pPr>
            <a:r>
              <a:rPr sz="1400">
                <a:solidFill>
                  <a:srgbClr val="000000"/>
                </a:solidFill>
                <a:latin typeface="Calibri"/>
              </a:rPr>
              <a:t>│  Factor 11: Logs as Event Streams ── Log to stdout/stderr    │</a:t>
            </a:r>
          </a:p>
          <a:p>
            <a:pPr algn="l">
              <a:lnSpc>
                <a:spcPct val="110000"/>
              </a:lnSpc>
              <a:spcBef>
                <a:spcPts val="100"/>
              </a:spcBef>
              <a:spcAft>
                <a:spcPts val="100"/>
              </a:spcAft>
            </a:pPr>
            <a:r>
              <a:rPr sz="1400">
                <a:solidFill>
                  <a:srgbClr val="000000"/>
                </a:solidFill>
                <a:latin typeface="Calibri"/>
              </a:rPr>
              <a:t>│  Factor 12: Admin Processes ── One-off tasks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RESTAURANT ANALOGY:                                           │</a:t>
            </a:r>
          </a:p>
          <a:p>
            <a:pPr algn="l">
              <a:lnSpc>
                <a:spcPct val="110000"/>
              </a:lnSpc>
              <a:spcBef>
                <a:spcPts val="100"/>
              </a:spcBef>
              <a:spcAft>
                <a:spcPts val="100"/>
              </a:spcAft>
            </a:pPr>
            <a:r>
              <a:rPr sz="1400">
                <a:solidFill>
                  <a:srgbClr val="000000"/>
                </a:solidFill>
                <a:latin typeface="Calibri"/>
              </a:rPr>
              <a:t>│  • Recipe works everywhere (config)                            │</a:t>
            </a:r>
          </a:p>
          <a:p>
            <a:pPr algn="l">
              <a:lnSpc>
                <a:spcPct val="110000"/>
              </a:lnSpc>
              <a:spcBef>
                <a:spcPts val="100"/>
              </a:spcBef>
              <a:spcAft>
                <a:spcPts val="100"/>
              </a:spcAft>
            </a:pPr>
            <a:r>
              <a:rPr sz="1400">
                <a:solidFill>
                  <a:srgbClr val="000000"/>
                </a:solidFill>
                <a:latin typeface="Calibri"/>
              </a:rPr>
              <a:t>│  • Switch suppliers easily (backing services)                 │</a:t>
            </a:r>
          </a:p>
          <a:p>
            <a:pPr algn="l">
              <a:lnSpc>
                <a:spcPct val="110000"/>
              </a:lnSpc>
              <a:spcBef>
                <a:spcPts val="100"/>
              </a:spcBef>
              <a:spcAft>
                <a:spcPts val="100"/>
              </a:spcAft>
            </a:pPr>
            <a:r>
              <a:rPr sz="1400">
                <a:solidFill>
                  <a:srgbClr val="000000"/>
                </a:solidFill>
                <a:latin typeface="Calibri"/>
              </a:rPr>
              <a:t>│  • Each shift starts fresh (stateless)                        │</a:t>
            </a:r>
          </a:p>
          <a:p>
            <a:pPr algn="l">
              <a:lnSpc>
                <a:spcPct val="110000"/>
              </a:lnSpc>
              <a:spcBef>
                <a:spcPts val="100"/>
              </a:spcBef>
              <a:spcAft>
                <a:spcPts val="100"/>
              </a:spcAft>
            </a:pPr>
            <a:r>
              <a:rPr sz="1400">
                <a:solidFill>
                  <a:srgbClr val="000000"/>
                </a:solidFill>
                <a:latin typeface="Calibri"/>
              </a:rPr>
              <a:t>│  • Dish prepared quickly (disposability)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Graceful Shutdown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```typescript</a:t>
            </a:r>
          </a:p>
          <a:p>
            <a:pPr algn="l">
              <a:lnSpc>
                <a:spcPct val="110000"/>
              </a:lnSpc>
              <a:spcBef>
                <a:spcPts val="100"/>
              </a:spcBef>
              <a:spcAft>
                <a:spcPts val="100"/>
              </a:spcAft>
            </a:pPr>
            <a:r>
              <a:rPr sz="1400">
                <a:solidFill>
                  <a:srgbClr val="000000"/>
                </a:solidFill>
                <a:latin typeface="Calibri"/>
              </a:rPr>
              <a:t>// Signal handling for graceful shutdown</a:t>
            </a:r>
          </a:p>
          <a:p>
            <a:pPr algn="l">
              <a:lnSpc>
                <a:spcPct val="110000"/>
              </a:lnSpc>
              <a:spcBef>
                <a:spcPts val="100"/>
              </a:spcBef>
              <a:spcAft>
                <a:spcPts val="100"/>
              </a:spcAft>
            </a:pPr>
            <a:r>
              <a:rPr sz="1400">
                <a:solidFill>
                  <a:srgbClr val="000000"/>
                </a:solidFill>
                <a:latin typeface="Calibri"/>
              </a:rPr>
              <a:t>const signals: NodeJS.Signals[] = ['SIGINT', 'SIGTERM', 'SIGQUIT'];</a:t>
            </a:r>
          </a:p>
          <a:p>
            <a:pPr algn="l">
              <a:lnSpc>
                <a:spcPct val="110000"/>
              </a:lnSpc>
              <a:spcBef>
                <a:spcPts val="100"/>
              </a:spcBef>
              <a:spcAft>
                <a:spcPts val="100"/>
              </a:spcAft>
            </a:pPr>
            <a:r>
              <a:rPr sz="1400">
                <a:solidFill>
                  <a:srgbClr val="000000"/>
                </a:solidFill>
                <a:latin typeface="Calibri"/>
              </a:rPr>
              <a:t>for (const signal of signals) {</a:t>
            </a:r>
          </a:p>
          <a:p>
            <a:pPr algn="l">
              <a:lnSpc>
                <a:spcPct val="110000"/>
              </a:lnSpc>
              <a:spcBef>
                <a:spcPts val="100"/>
              </a:spcBef>
              <a:spcAft>
                <a:spcPts val="100"/>
              </a:spcAft>
            </a:pPr>
            <a:r>
              <a:rPr sz="1400">
                <a:solidFill>
                  <a:srgbClr val="000000"/>
                </a:solidFill>
                <a:latin typeface="Calibri"/>
              </a:rPr>
              <a:t>    process.on(signal, async () =&gt; {</a:t>
            </a:r>
          </a:p>
          <a:p>
            <a:pPr algn="l">
              <a:lnSpc>
                <a:spcPct val="110000"/>
              </a:lnSpc>
              <a:spcBef>
                <a:spcPts val="100"/>
              </a:spcBef>
              <a:spcAft>
                <a:spcPts val="100"/>
              </a:spcAft>
            </a:pPr>
            <a:r>
              <a:rPr sz="1400">
                <a:solidFill>
                  <a:srgbClr val="000000"/>
                </a:solidFill>
                <a:latin typeface="Calibri"/>
              </a:rPr>
              <a:t>        logger.info(`Received ${signal}, starting graceful shutdown...`);</a:t>
            </a:r>
          </a:p>
          <a:p>
            <a:pPr algn="l">
              <a:lnSpc>
                <a:spcPct val="110000"/>
              </a:lnSpc>
              <a:spcBef>
                <a:spcPts val="100"/>
              </a:spcBef>
              <a:spcAft>
                <a:spcPts val="100"/>
              </a:spcAft>
            </a:pPr>
            <a:r>
              <a:rPr sz="1400">
                <a:solidFill>
                  <a:srgbClr val="000000"/>
                </a:solidFill>
                <a:latin typeface="Calibri"/>
              </a:rPr>
              <a:t>        // 1. Stop accepting new connections</a:t>
            </a:r>
          </a:p>
          <a:p>
            <a:pPr algn="l">
              <a:lnSpc>
                <a:spcPct val="110000"/>
              </a:lnSpc>
              <a:spcBef>
                <a:spcPts val="100"/>
              </a:spcBef>
              <a:spcAft>
                <a:spcPts val="100"/>
              </a:spcAft>
            </a:pPr>
            <a:r>
              <a:rPr sz="1400">
                <a:solidFill>
                  <a:srgbClr val="000000"/>
                </a:solidFill>
                <a:latin typeface="Calibri"/>
              </a:rPr>
              <a:t>        await server.close();</a:t>
            </a:r>
          </a:p>
          <a:p>
            <a:pPr algn="l">
              <a:lnSpc>
                <a:spcPct val="110000"/>
              </a:lnSpc>
              <a:spcBef>
                <a:spcPts val="100"/>
              </a:spcBef>
              <a:spcAft>
                <a:spcPts val="100"/>
              </a:spcAft>
            </a:pPr>
            <a:r>
              <a:rPr sz="1400">
                <a:solidFill>
                  <a:srgbClr val="000000"/>
                </a:solidFill>
                <a:latin typeface="Calibri"/>
              </a:rPr>
              <a:t>        // 2. Wait for existing requests to complete</a:t>
            </a:r>
          </a:p>
          <a:p>
            <a:pPr algn="l">
              <a:lnSpc>
                <a:spcPct val="110000"/>
              </a:lnSpc>
              <a:spcBef>
                <a:spcPts val="100"/>
              </a:spcBef>
              <a:spcAft>
                <a:spcPts val="100"/>
              </a:spcAft>
            </a:pPr>
            <a:r>
              <a:rPr sz="1400">
                <a:solidFill>
                  <a:srgbClr val="000000"/>
                </a:solidFill>
                <a:latin typeface="Calibri"/>
              </a:rPr>
              <a:t>        await waitForConnections();</a:t>
            </a:r>
          </a:p>
          <a:p>
            <a:pPr algn="l">
              <a:lnSpc>
                <a:spcPct val="110000"/>
              </a:lnSpc>
              <a:spcBef>
                <a:spcPts val="100"/>
              </a:spcBef>
              <a:spcAft>
                <a:spcPts val="100"/>
              </a:spcAft>
            </a:pPr>
            <a:r>
              <a:rPr sz="1400">
                <a:solidFill>
                  <a:srgbClr val="000000"/>
                </a:solidFill>
                <a:latin typeface="Calibri"/>
              </a:rPr>
              <a:t>        // 3. Close database connections</a:t>
            </a:r>
          </a:p>
          <a:p>
            <a:pPr algn="l">
              <a:lnSpc>
                <a:spcPct val="110000"/>
              </a:lnSpc>
              <a:spcBef>
                <a:spcPts val="100"/>
              </a:spcBef>
              <a:spcAft>
                <a:spcPts val="100"/>
              </a:spcAft>
            </a:pPr>
            <a:r>
              <a:rPr sz="1400">
                <a:solidFill>
                  <a:srgbClr val="000000"/>
                </a:solidFill>
                <a:latin typeface="Calibri"/>
              </a:rPr>
              <a:t>        await database.disconnect();</a:t>
            </a:r>
          </a:p>
          <a:p>
            <a:pPr algn="l">
              <a:lnSpc>
                <a:spcPct val="110000"/>
              </a:lnSpc>
              <a:spcBef>
                <a:spcPts val="100"/>
              </a:spcBef>
              <a:spcAft>
                <a:spcPts val="100"/>
              </a:spcAft>
            </a:pPr>
            <a:r>
              <a:rPr sz="1400">
                <a:solidFill>
                  <a:srgbClr val="000000"/>
                </a:solidFill>
                <a:latin typeface="Calibri"/>
              </a:rPr>
              <a:t>        // 4. Close Redis connections</a:t>
            </a:r>
          </a:p>
          <a:p>
            <a:pPr algn="l">
              <a:lnSpc>
                <a:spcPct val="110000"/>
              </a:lnSpc>
              <a:spcBef>
                <a:spcPts val="100"/>
              </a:spcBef>
              <a:spcAft>
                <a:spcPts val="100"/>
              </a:spcAft>
            </a:pPr>
            <a:r>
              <a:rPr sz="1400">
                <a:solidFill>
                  <a:srgbClr val="000000"/>
                </a:solidFill>
                <a:latin typeface="Calibri"/>
              </a:rPr>
              <a:t>        await redis.disconnect();</a:t>
            </a:r>
          </a:p>
          <a:p>
            <a:pPr algn="l">
              <a:lnSpc>
                <a:spcPct val="110000"/>
              </a:lnSpc>
              <a:spcBef>
                <a:spcPts val="100"/>
              </a:spcBef>
              <a:spcAft>
                <a:spcPts val="100"/>
              </a:spcAft>
            </a:pPr>
            <a:r>
              <a:rPr sz="1400">
                <a:solidFill>
                  <a:srgbClr val="000000"/>
                </a:solidFill>
                <a:latin typeface="Calibri"/>
              </a:rPr>
              <a:t>        logger.info('Graceful shutdown complete');</a:t>
            </a:r>
          </a:p>
          <a:p>
            <a:pPr algn="l">
              <a:lnSpc>
                <a:spcPct val="110000"/>
              </a:lnSpc>
              <a:spcBef>
                <a:spcPts val="100"/>
              </a:spcBef>
              <a:spcAft>
                <a:spcPts val="100"/>
              </a:spcAft>
            </a:pPr>
            <a:r>
              <a:rPr sz="1400">
                <a:solidFill>
                  <a:srgbClr val="000000"/>
                </a:solidFill>
                <a:latin typeface="Calibri"/>
              </a:rPr>
              <a:t>        process.exit(0);</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Health Checks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HEALTH CHECKS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/health      │  Basic health check for load balancers        │</a:t>
            </a:r>
          </a:p>
          <a:p>
            <a:pPr algn="l">
              <a:lnSpc>
                <a:spcPct val="110000"/>
              </a:lnSpc>
              <a:spcBef>
                <a:spcPts val="100"/>
              </a:spcBef>
              <a:spcAft>
                <a:spcPts val="100"/>
              </a:spcAft>
            </a:pPr>
            <a:r>
              <a:rPr sz="1400">
                <a:solidFill>
                  <a:srgbClr val="000000"/>
                </a:solidFill>
                <a:latin typeface="Calibri"/>
              </a:rPr>
              <a:t>│  /health/ready│  Readiness probe for Kubernetes               │</a:t>
            </a:r>
          </a:p>
          <a:p>
            <a:pPr algn="l">
              <a:lnSpc>
                <a:spcPct val="110000"/>
              </a:lnSpc>
              <a:spcBef>
                <a:spcPts val="100"/>
              </a:spcBef>
              <a:spcAft>
                <a:spcPts val="100"/>
              </a:spcAft>
            </a:pPr>
            <a:r>
              <a:rPr sz="1400">
                <a:solidFill>
                  <a:srgbClr val="000000"/>
                </a:solidFill>
                <a:latin typeface="Calibri"/>
              </a:rPr>
              <a:t>│  /health/live │  Liveness probe for Kubernetes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 Server.ts                                          │   │</a:t>
            </a:r>
          </a:p>
          <a:p>
            <a:pPr algn="l">
              <a:lnSpc>
                <a:spcPct val="110000"/>
              </a:lnSpc>
              <a:spcBef>
                <a:spcPts val="100"/>
              </a:spcBef>
              <a:spcAft>
                <a:spcPts val="100"/>
              </a:spcAft>
            </a:pPr>
            <a:r>
              <a:rPr sz="1400">
                <a:solidFill>
                  <a:srgbClr val="000000"/>
                </a:solidFill>
                <a:latin typeface="Calibri"/>
              </a:rPr>
              <a:t>│  │  app.get('/health', async (req, reply) =&gt; {           │   │</a:t>
            </a:r>
          </a:p>
          <a:p>
            <a:pPr algn="l">
              <a:lnSpc>
                <a:spcPct val="110000"/>
              </a:lnSpc>
              <a:spcBef>
                <a:spcPts val="100"/>
              </a:spcBef>
              <a:spcAft>
                <a:spcPts val="100"/>
              </a:spcAft>
            </a:pPr>
            <a:r>
              <a:rPr sz="1400">
                <a:solidFill>
                  <a:srgbClr val="000000"/>
                </a:solidFill>
                <a:latin typeface="Calibri"/>
              </a:rPr>
              <a:t>│  │    reply.send({                                       │   │</a:t>
            </a:r>
          </a:p>
          <a:p>
            <a:pPr algn="l">
              <a:lnSpc>
                <a:spcPct val="110000"/>
              </a:lnSpc>
              <a:spcBef>
                <a:spcPts val="100"/>
              </a:spcBef>
              <a:spcAft>
                <a:spcPts val="100"/>
              </a:spcAft>
            </a:pPr>
            <a:r>
              <a:rPr sz="1400">
                <a:solidFill>
                  <a:srgbClr val="000000"/>
                </a:solidFill>
                <a:latin typeface="Calibri"/>
              </a:rPr>
              <a:t>│  │      status: 'ok',                                    │   │</a:t>
            </a:r>
          </a:p>
          <a:p>
            <a:pPr algn="l">
              <a:lnSpc>
                <a:spcPct val="110000"/>
              </a:lnSpc>
              <a:spcBef>
                <a:spcPts val="100"/>
              </a:spcBef>
              <a:spcAft>
                <a:spcPts val="100"/>
              </a:spcAft>
            </a:pPr>
            <a:r>
              <a:rPr sz="1400">
                <a:solidFill>
                  <a:srgbClr val="000000"/>
                </a:solidFill>
                <a:latin typeface="Calibri"/>
              </a:rPr>
              <a:t>│  │      service: SERVICE_NAME,                          │   │</a:t>
            </a:r>
          </a:p>
          <a:p>
            <a:pPr algn="l">
              <a:lnSpc>
                <a:spcPct val="110000"/>
              </a:lnSpc>
              <a:spcBef>
                <a:spcPts val="100"/>
              </a:spcBef>
              <a:spcAft>
                <a:spcPts val="100"/>
              </a:spcAft>
            </a:pPr>
            <a:r>
              <a:rPr sz="1400">
                <a:solidFill>
                  <a:srgbClr val="000000"/>
                </a:solidFill>
                <a:latin typeface="Calibri"/>
              </a:rPr>
              <a:t>│  │      version: SERVICE_VERSION,                      │   │</a:t>
            </a:r>
          </a:p>
          <a:p>
            <a:pPr algn="l">
              <a:lnSpc>
                <a:spcPct val="110000"/>
              </a:lnSpc>
              <a:spcBef>
                <a:spcPts val="100"/>
              </a:spcBef>
              <a:spcAft>
                <a:spcPts val="100"/>
              </a:spcAft>
            </a:pPr>
            <a:r>
              <a:rPr sz="1400">
                <a:solidFill>
                  <a:srgbClr val="000000"/>
                </a:solidFill>
                <a:latin typeface="Calibri"/>
              </a:rPr>
              <a:t>│  │      timestamp: new Date().toISOString(),          │   │</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Configuration Management</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```typescript</a:t>
            </a:r>
          </a:p>
          <a:p>
            <a:pPr algn="l">
              <a:lnSpc>
                <a:spcPct val="110000"/>
              </a:lnSpc>
              <a:spcBef>
                <a:spcPts val="100"/>
              </a:spcBef>
              <a:spcAft>
                <a:spcPts val="100"/>
              </a:spcAft>
            </a:pPr>
            <a:r>
              <a:rPr sz="1400">
                <a:solidFill>
                  <a:srgbClr val="000000"/>
                </a:solidFill>
                <a:latin typeface="Calibri"/>
              </a:rPr>
              <a:t>import { z } from 'zod';</a:t>
            </a:r>
          </a:p>
          <a:p>
            <a:pPr algn="l">
              <a:lnSpc>
                <a:spcPct val="110000"/>
              </a:lnSpc>
              <a:spcBef>
                <a:spcPts val="100"/>
              </a:spcBef>
              <a:spcAft>
                <a:spcPts val="100"/>
              </a:spcAft>
            </a:pPr>
            <a:r>
              <a:rPr sz="1400">
                <a:solidFill>
                  <a:srgbClr val="000000"/>
                </a:solidFill>
                <a:latin typeface="Calibri"/>
              </a:rPr>
              <a:t>import dotenv from 'dotenv';</a:t>
            </a:r>
          </a:p>
          <a:p>
            <a:pPr algn="l">
              <a:lnSpc>
                <a:spcPct val="110000"/>
              </a:lnSpc>
              <a:spcBef>
                <a:spcPts val="100"/>
              </a:spcBef>
              <a:spcAft>
                <a:spcPts val="100"/>
              </a:spcAft>
            </a:pPr>
            <a:r>
              <a:rPr sz="1400">
                <a:solidFill>
                  <a:srgbClr val="000000"/>
                </a:solidFill>
                <a:latin typeface="Calibri"/>
              </a:rPr>
              <a:t>dotenv.config();</a:t>
            </a:r>
          </a:p>
          <a:p>
            <a:pPr algn="l">
              <a:lnSpc>
                <a:spcPct val="110000"/>
              </a:lnSpc>
              <a:spcBef>
                <a:spcPts val="100"/>
              </a:spcBef>
              <a:spcAft>
                <a:spcPts val="100"/>
              </a:spcAft>
            </a:pPr>
            <a:r>
              <a:rPr sz="1400">
                <a:solidFill>
                  <a:srgbClr val="000000"/>
                </a:solidFill>
                <a:latin typeface="Calibri"/>
              </a:rPr>
              <a:t>const configSchema = z.object({</a:t>
            </a:r>
          </a:p>
          <a:p>
            <a:pPr algn="l">
              <a:lnSpc>
                <a:spcPct val="110000"/>
              </a:lnSpc>
              <a:spcBef>
                <a:spcPts val="100"/>
              </a:spcBef>
              <a:spcAft>
                <a:spcPts val="100"/>
              </a:spcAft>
            </a:pPr>
            <a:r>
              <a:rPr sz="1400">
                <a:solidFill>
                  <a:srgbClr val="000000"/>
                </a:solidFill>
                <a:latin typeface="Calibri"/>
              </a:rPr>
              <a:t>    NODE_ENV: z.enum(['development', 'test', 'production']),</a:t>
            </a:r>
          </a:p>
          <a:p>
            <a:pPr algn="l">
              <a:lnSpc>
                <a:spcPct val="110000"/>
              </a:lnSpc>
              <a:spcBef>
                <a:spcPts val="100"/>
              </a:spcBef>
              <a:spcAft>
                <a:spcPts val="100"/>
              </a:spcAft>
            </a:pPr>
            <a:r>
              <a:rPr sz="1400">
                <a:solidFill>
                  <a:srgbClr val="000000"/>
                </a:solidFill>
                <a:latin typeface="Calibri"/>
              </a:rPr>
              <a:t>    PORT: z.coerce.number().default(3000),</a:t>
            </a:r>
          </a:p>
          <a:p>
            <a:pPr algn="l">
              <a:lnSpc>
                <a:spcPct val="110000"/>
              </a:lnSpc>
              <a:spcBef>
                <a:spcPts val="100"/>
              </a:spcBef>
              <a:spcAft>
                <a:spcPts val="100"/>
              </a:spcAft>
            </a:pPr>
            <a:r>
              <a:rPr sz="1400">
                <a:solidFill>
                  <a:srgbClr val="000000"/>
                </a:solidFill>
                <a:latin typeface="Calibri"/>
              </a:rPr>
              <a:t>    DATABASE_URL: z.string().optional(),</a:t>
            </a:r>
          </a:p>
          <a:p>
            <a:pPr algn="l">
              <a:lnSpc>
                <a:spcPct val="110000"/>
              </a:lnSpc>
              <a:spcBef>
                <a:spcPts val="100"/>
              </a:spcBef>
              <a:spcAft>
                <a:spcPts val="100"/>
              </a:spcAft>
            </a:pPr>
            <a:r>
              <a:rPr sz="1400">
                <a:solidFill>
                  <a:srgbClr val="000000"/>
                </a:solidFill>
                <a:latin typeface="Calibri"/>
              </a:rPr>
              <a:t>    REDIS_URL: z.string().optional(),</a:t>
            </a:r>
          </a:p>
          <a:p>
            <a:pPr algn="l">
              <a:lnSpc>
                <a:spcPct val="110000"/>
              </a:lnSpc>
              <a:spcBef>
                <a:spcPts val="100"/>
              </a:spcBef>
              <a:spcAft>
                <a:spcPts val="100"/>
              </a:spcAft>
            </a:pPr>
            <a:r>
              <a:rPr sz="1400">
                <a:solidFill>
                  <a:srgbClr val="000000"/>
                </a:solidFill>
                <a:latin typeface="Calibri"/>
              </a:rPr>
              <a:t>    JWT_SECRET: z.string().min(32).optional(),</a:t>
            </a:r>
          </a:p>
          <a:p>
            <a:pPr algn="l">
              <a:lnSpc>
                <a:spcPct val="110000"/>
              </a:lnSpc>
              <a:spcBef>
                <a:spcPts val="100"/>
              </a:spcBef>
              <a:spcAft>
                <a:spcPts val="100"/>
              </a:spcAft>
            </a:pPr>
            <a:r>
              <a:rPr sz="1400">
                <a:solidFill>
                  <a:srgbClr val="000000"/>
                </a:solidFill>
                <a:latin typeface="Calibri"/>
              </a:rPr>
              <a:t>    LOG_LEVEL: z.enum(['debug', 'info', 'warn', 'error']).default('info'),</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Validate at startup</a:t>
            </a:r>
          </a:p>
          <a:p>
            <a:pPr algn="l">
              <a:lnSpc>
                <a:spcPct val="110000"/>
              </a:lnSpc>
              <a:spcBef>
                <a:spcPts val="100"/>
              </a:spcBef>
              <a:spcAft>
                <a:spcPts val="100"/>
              </a:spcAft>
            </a:pPr>
            <a:r>
              <a:rPr sz="1400">
                <a:solidFill>
                  <a:srgbClr val="000000"/>
                </a:solidFill>
                <a:latin typeface="Calibri"/>
              </a:rPr>
              <a:t>const config = configSchema.parse(process.env);</a:t>
            </a:r>
          </a:p>
          <a:p>
            <a:pPr algn="l">
              <a:lnSpc>
                <a:spcPct val="110000"/>
              </a:lnSpc>
              <a:spcBef>
                <a:spcPts val="100"/>
              </a:spcBef>
              <a:spcAft>
                <a:spcPts val="100"/>
              </a:spcAft>
            </a:pPr>
            <a:r>
              <a:rPr sz="1400">
                <a:solidFill>
                  <a:srgbClr val="000000"/>
                </a:solidFill>
                <a:latin typeface="Calibri"/>
              </a:rPr>
              <a:t>if (config.NODE_ENV === 'production' &amp;&amp; !config.JWT_SECRET) {</a:t>
            </a:r>
          </a:p>
          <a:p>
            <a:pPr algn="l">
              <a:lnSpc>
                <a:spcPct val="110000"/>
              </a:lnSpc>
              <a:spcBef>
                <a:spcPts val="100"/>
              </a:spcBef>
              <a:spcAft>
                <a:spcPts val="100"/>
              </a:spcAft>
            </a:pPr>
            <a:r>
              <a:rPr sz="1400">
                <a:solidFill>
                  <a:srgbClr val="000000"/>
                </a:solidFill>
                <a:latin typeface="Calibri"/>
              </a:rPr>
              <a:t>    console.error('JWT_SECRET is required in production');</a:t>
            </a:r>
          </a:p>
          <a:p>
            <a:pPr algn="l">
              <a:lnSpc>
                <a:spcPct val="110000"/>
              </a:lnSpc>
              <a:spcBef>
                <a:spcPts val="100"/>
              </a:spcBef>
              <a:spcAft>
                <a:spcPts val="100"/>
              </a:spcAft>
            </a:pPr>
            <a:r>
              <a:rPr sz="1400">
                <a:solidFill>
                  <a:srgbClr val="000000"/>
                </a:solidFill>
                <a:latin typeface="Calibri"/>
              </a:rPr>
              <a:t>    process.exit(1);</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Structured Logging</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```typescript</a:t>
            </a:r>
          </a:p>
          <a:p>
            <a:pPr algn="l">
              <a:lnSpc>
                <a:spcPct val="110000"/>
              </a:lnSpc>
              <a:spcBef>
                <a:spcPts val="100"/>
              </a:spcBef>
              <a:spcAft>
                <a:spcPts val="100"/>
              </a:spcAft>
            </a:pPr>
            <a:r>
              <a:rPr sz="1400">
                <a:solidFill>
                  <a:srgbClr val="000000"/>
                </a:solidFill>
                <a:latin typeface="Calibri"/>
              </a:rPr>
              <a:t>import pino from 'pino';</a:t>
            </a:r>
          </a:p>
          <a:p>
            <a:pPr algn="l">
              <a:lnSpc>
                <a:spcPct val="110000"/>
              </a:lnSpc>
              <a:spcBef>
                <a:spcPts val="100"/>
              </a:spcBef>
              <a:spcAft>
                <a:spcPts val="100"/>
              </a:spcAft>
            </a:pPr>
            <a:r>
              <a:rPr sz="1400">
                <a:solidFill>
                  <a:srgbClr val="000000"/>
                </a:solidFill>
                <a:latin typeface="Calibri"/>
              </a:rPr>
              <a:t>const logger = pino({</a:t>
            </a:r>
          </a:p>
          <a:p>
            <a:pPr algn="l">
              <a:lnSpc>
                <a:spcPct val="110000"/>
              </a:lnSpc>
              <a:spcBef>
                <a:spcPts val="100"/>
              </a:spcBef>
              <a:spcAft>
                <a:spcPts val="100"/>
              </a:spcAft>
            </a:pPr>
            <a:r>
              <a:rPr sz="1400">
                <a:solidFill>
                  <a:srgbClr val="000000"/>
                </a:solidFill>
                <a:latin typeface="Calibri"/>
              </a:rPr>
              <a:t>    level: LOG_LEVEL,</a:t>
            </a:r>
          </a:p>
          <a:p>
            <a:pPr algn="l">
              <a:lnSpc>
                <a:spcPct val="110000"/>
              </a:lnSpc>
              <a:spcBef>
                <a:spcPts val="100"/>
              </a:spcBef>
              <a:spcAft>
                <a:spcPts val="100"/>
              </a:spcAft>
            </a:pPr>
            <a:r>
              <a:rPr sz="1400">
                <a:solidFill>
                  <a:srgbClr val="000000"/>
                </a:solidFill>
                <a:latin typeface="Calibri"/>
              </a:rPr>
              <a:t>    base: {</a:t>
            </a:r>
          </a:p>
          <a:p>
            <a:pPr algn="l">
              <a:lnSpc>
                <a:spcPct val="110000"/>
              </a:lnSpc>
              <a:spcBef>
                <a:spcPts val="100"/>
              </a:spcBef>
              <a:spcAft>
                <a:spcPts val="100"/>
              </a:spcAft>
            </a:pPr>
            <a:r>
              <a:rPr sz="1400">
                <a:solidFill>
                  <a:srgbClr val="000000"/>
                </a:solidFill>
                <a:latin typeface="Calibri"/>
              </a:rPr>
              <a:t>        service: SERVICE_NAME,</a:t>
            </a:r>
          </a:p>
          <a:p>
            <a:pPr algn="l">
              <a:lnSpc>
                <a:spcPct val="110000"/>
              </a:lnSpc>
              <a:spcBef>
                <a:spcPts val="100"/>
              </a:spcBef>
              <a:spcAft>
                <a:spcPts val="100"/>
              </a:spcAft>
            </a:pPr>
            <a:r>
              <a:rPr sz="1400">
                <a:solidFill>
                  <a:srgbClr val="000000"/>
                </a:solidFill>
                <a:latin typeface="Calibri"/>
              </a:rPr>
              <a:t>        version: SERVICE_VERSION,</a:t>
            </a:r>
          </a:p>
          <a:p>
            <a:pPr algn="l">
              <a:lnSpc>
                <a:spcPct val="110000"/>
              </a:lnSpc>
              <a:spcBef>
                <a:spcPts val="100"/>
              </a:spcBef>
              <a:spcAft>
                <a:spcPts val="100"/>
              </a:spcAft>
            </a:pPr>
            <a:r>
              <a:rPr sz="1400">
                <a:solidFill>
                  <a:srgbClr val="000000"/>
                </a:solidFill>
                <a:latin typeface="Calibri"/>
              </a:rPr>
              <a:t>        env: NODE_ENV,</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timestamp: pino.stdTimeFunctions.isoTime,</a:t>
            </a:r>
          </a:p>
          <a:p>
            <a:pPr algn="l">
              <a:lnSpc>
                <a:spcPct val="110000"/>
              </a:lnSpc>
              <a:spcBef>
                <a:spcPts val="100"/>
              </a:spcBef>
              <a:spcAft>
                <a:spcPts val="100"/>
              </a:spcAft>
            </a:pPr>
            <a:r>
              <a:rPr sz="1400">
                <a:solidFill>
                  <a:srgbClr val="000000"/>
                </a:solidFill>
                <a:latin typeface="Calibri"/>
              </a:rPr>
              <a:t>    redact: {</a:t>
            </a:r>
          </a:p>
          <a:p>
            <a:pPr algn="l">
              <a:lnSpc>
                <a:spcPct val="110000"/>
              </a:lnSpc>
              <a:spcBef>
                <a:spcPts val="100"/>
              </a:spcBef>
              <a:spcAft>
                <a:spcPts val="100"/>
              </a:spcAft>
            </a:pPr>
            <a:r>
              <a:rPr sz="1400">
                <a:solidFill>
                  <a:srgbClr val="000000"/>
                </a:solidFill>
                <a:latin typeface="Calibri"/>
              </a:rPr>
              <a:t>        paths: ['req.headers.authorization', 'req.headers.cookie'],</a:t>
            </a:r>
          </a:p>
          <a:p>
            <a:pPr algn="l">
              <a:lnSpc>
                <a:spcPct val="110000"/>
              </a:lnSpc>
              <a:spcBef>
                <a:spcPts val="100"/>
              </a:spcBef>
              <a:spcAft>
                <a:spcPts val="100"/>
              </a:spcAft>
            </a:pPr>
            <a:r>
              <a:rPr sz="1400">
                <a:solidFill>
                  <a:srgbClr val="000000"/>
                </a:solidFill>
                <a:latin typeface="Calibri"/>
              </a:rPr>
              <a:t>        censor: '*REDACTED*',</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Development: Pretty printing</a:t>
            </a:r>
          </a:p>
          <a:p>
            <a:pPr algn="l">
              <a:lnSpc>
                <a:spcPct val="110000"/>
              </a:lnSpc>
              <a:spcBef>
                <a:spcPts val="100"/>
              </a:spcBef>
              <a:spcAft>
                <a:spcPts val="100"/>
              </a:spcAft>
            </a:pPr>
            <a:r>
              <a:rPr sz="1400">
                <a:solidFill>
                  <a:srgbClr val="000000"/>
                </a:solidFill>
                <a:latin typeface="Calibri"/>
              </a:rPr>
              <a:t>if (!IS_PRODUCTION) {</a:t>
            </a:r>
          </a:p>
          <a:p>
            <a:pPr algn="l">
              <a:lnSpc>
                <a:spcPct val="110000"/>
              </a:lnSpc>
              <a:spcBef>
                <a:spcPts val="100"/>
              </a:spcBef>
              <a:spcAft>
                <a:spcPts val="100"/>
              </a:spcAft>
            </a:pPr>
            <a:r>
              <a:rPr sz="1400">
                <a:solidFill>
                  <a:srgbClr val="000000"/>
                </a:solidFill>
                <a:latin typeface="Calibri"/>
              </a:rPr>
              <a:t>    logger.transport = {</a:t>
            </a:r>
          </a:p>
          <a:p>
            <a:pPr algn="l">
              <a:lnSpc>
                <a:spcPct val="110000"/>
              </a:lnSpc>
              <a:spcBef>
                <a:spcPts val="100"/>
              </a:spcBef>
              <a:spcAft>
                <a:spcPts val="100"/>
              </a:spcAft>
            </a:pPr>
            <a:r>
              <a:rPr sz="1400">
                <a:solidFill>
                  <a:srgbClr val="000000"/>
                </a:solidFill>
                <a:latin typeface="Calibri"/>
              </a:rPr>
              <a:t>        target: 'pino-pretty',</a:t>
            </a:r>
          </a:p>
          <a:p>
            <a:pPr algn="l">
              <a:lnSpc>
                <a:spcPct val="110000"/>
              </a:lnSpc>
              <a:spcBef>
                <a:spcPts val="100"/>
              </a:spcBef>
              <a:spcAft>
                <a:spcPts val="100"/>
              </a:spcAft>
            </a:pPr>
            <a:r>
              <a:rPr sz="1400">
                <a:solidFill>
                  <a:srgbClr val="000000"/>
                </a:solidFill>
                <a:latin typeface="Calibri"/>
              </a:rPr>
              <a:t>        options: { colorize: true, translateTime: true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Usage</a:t>
            </a:r>
          </a:p>
          <a:p>
            <a:pPr algn="l">
              <a:lnSpc>
                <a:spcPct val="110000"/>
              </a:lnSpc>
              <a:spcBef>
                <a:spcPts val="100"/>
              </a:spcBef>
              <a:spcAft>
                <a:spcPts val="100"/>
              </a:spcAft>
            </a:pPr>
            <a:r>
              <a:rPr sz="1400">
                <a:solidFill>
                  <a:srgbClr val="000000"/>
                </a:solidFill>
                <a:latin typeface="Calibri"/>
              </a:rPr>
              <a:t>logger.info({ userId: '123', action: 'login' }, 'User logged in');</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Error Handling</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 Custom Error Classes</a:t>
            </a:r>
          </a:p>
          <a:p>
            <a:pPr algn="l">
              <a:lnSpc>
                <a:spcPct val="110000"/>
              </a:lnSpc>
              <a:spcBef>
                <a:spcPts val="100"/>
              </a:spcBef>
              <a:spcAft>
                <a:spcPts val="100"/>
              </a:spcAft>
            </a:pPr>
            <a:r>
              <a:rPr sz="1200">
                <a:solidFill>
                  <a:srgbClr val="000000"/>
                </a:solidFill>
                <a:latin typeface="Calibri"/>
              </a:rPr>
              <a:t>export class AppError extends Error {</a:t>
            </a:r>
          </a:p>
          <a:p>
            <a:pPr algn="l">
              <a:lnSpc>
                <a:spcPct val="110000"/>
              </a:lnSpc>
              <a:spcBef>
                <a:spcPts val="100"/>
              </a:spcBef>
              <a:spcAft>
                <a:spcPts val="100"/>
              </a:spcAft>
            </a:pPr>
            <a:r>
              <a:rPr sz="1200">
                <a:solidFill>
                  <a:srgbClr val="000000"/>
                </a:solidFill>
                <a:latin typeface="Calibri"/>
              </a:rPr>
              <a:t>    public readonly statusCode: number;</a:t>
            </a:r>
          </a:p>
          <a:p>
            <a:pPr algn="l">
              <a:lnSpc>
                <a:spcPct val="110000"/>
              </a:lnSpc>
              <a:spcBef>
                <a:spcPts val="100"/>
              </a:spcBef>
              <a:spcAft>
                <a:spcPts val="100"/>
              </a:spcAft>
            </a:pPr>
            <a:r>
              <a:rPr sz="1200">
                <a:solidFill>
                  <a:srgbClr val="000000"/>
                </a:solidFill>
                <a:latin typeface="Calibri"/>
              </a:rPr>
              <a:t>    public readonly code: string;</a:t>
            </a:r>
          </a:p>
          <a:p>
            <a:pPr algn="l">
              <a:lnSpc>
                <a:spcPct val="110000"/>
              </a:lnSpc>
              <a:spcBef>
                <a:spcPts val="100"/>
              </a:spcBef>
              <a:spcAft>
                <a:spcPts val="100"/>
              </a:spcAft>
            </a:pPr>
            <a:r>
              <a:rPr sz="1200">
                <a:solidFill>
                  <a:srgbClr val="000000"/>
                </a:solidFill>
                <a:latin typeface="Calibri"/>
              </a:rPr>
              <a:t>    public readonly details?: unknown;</a:t>
            </a:r>
          </a:p>
          <a:p>
            <a:pPr algn="l">
              <a:lnSpc>
                <a:spcPct val="110000"/>
              </a:lnSpc>
              <a:spcBef>
                <a:spcPts val="100"/>
              </a:spcBef>
              <a:spcAft>
                <a:spcPts val="100"/>
              </a:spcAft>
            </a:pPr>
            <a:r>
              <a:rPr sz="1200">
                <a:solidFill>
                  <a:srgbClr val="000000"/>
                </a:solidFill>
                <a:latin typeface="Calibri"/>
              </a:rPr>
              <a:t>    constructor(message: string, statusCode: number = 500, code: string = 'INTERNAL_ERROR') {</a:t>
            </a:r>
          </a:p>
          <a:p>
            <a:pPr algn="l">
              <a:lnSpc>
                <a:spcPct val="110000"/>
              </a:lnSpc>
              <a:spcBef>
                <a:spcPts val="100"/>
              </a:spcBef>
              <a:spcAft>
                <a:spcPts val="100"/>
              </a:spcAft>
            </a:pPr>
            <a:r>
              <a:rPr sz="1200">
                <a:solidFill>
                  <a:srgbClr val="000000"/>
                </a:solidFill>
                <a:latin typeface="Calibri"/>
              </a:rPr>
              <a:t>        super(message);</a:t>
            </a:r>
          </a:p>
          <a:p>
            <a:pPr algn="l">
              <a:lnSpc>
                <a:spcPct val="110000"/>
              </a:lnSpc>
              <a:spcBef>
                <a:spcPts val="100"/>
              </a:spcBef>
              <a:spcAft>
                <a:spcPts val="100"/>
              </a:spcAft>
            </a:pPr>
            <a:r>
              <a:rPr sz="1200">
                <a:solidFill>
                  <a:srgbClr val="000000"/>
                </a:solidFill>
                <a:latin typeface="Calibri"/>
              </a:rPr>
              <a:t>        this.statusCode = statusCode;</a:t>
            </a:r>
          </a:p>
          <a:p>
            <a:pPr algn="l">
              <a:lnSpc>
                <a:spcPct val="110000"/>
              </a:lnSpc>
              <a:spcBef>
                <a:spcPts val="100"/>
              </a:spcBef>
              <a:spcAft>
                <a:spcPts val="100"/>
              </a:spcAft>
            </a:pPr>
            <a:r>
              <a:rPr sz="1200">
                <a:solidFill>
                  <a:srgbClr val="000000"/>
                </a:solidFill>
                <a:latin typeface="Calibri"/>
              </a:rPr>
              <a:t>        this.code = code;</a:t>
            </a:r>
          </a:p>
          <a:p>
            <a:pPr algn="l">
              <a:lnSpc>
                <a:spcPct val="110000"/>
              </a:lnSpc>
              <a:spcBef>
                <a:spcPts val="100"/>
              </a:spcBef>
              <a:spcAft>
                <a:spcPts val="100"/>
              </a:spcAft>
            </a:pPr>
            <a:r>
              <a:rPr sz="1200">
                <a:solidFill>
                  <a:srgbClr val="000000"/>
                </a:solidFill>
                <a:latin typeface="Calibri"/>
              </a:rPr>
              <a:t>        Error.captureStackTrace(this, this.constructor);</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Global Error Handler</a:t>
            </a:r>
          </a:p>
          <a:p>
            <a:pPr algn="l">
              <a:lnSpc>
                <a:spcPct val="110000"/>
              </a:lnSpc>
              <a:spcBef>
                <a:spcPts val="100"/>
              </a:spcBef>
              <a:spcAft>
                <a:spcPts val="100"/>
              </a:spcAft>
            </a:pPr>
            <a:r>
              <a:rPr sz="1200">
                <a:solidFill>
                  <a:srgbClr val="000000"/>
                </a:solidFill>
                <a:latin typeface="Calibri"/>
              </a:rPr>
              <a:t>app.setErrorHandler((error, request, reply) =&gt; {</a:t>
            </a:r>
          </a:p>
          <a:p>
            <a:pPr algn="l">
              <a:lnSpc>
                <a:spcPct val="110000"/>
              </a:lnSpc>
              <a:spcBef>
                <a:spcPts val="100"/>
              </a:spcBef>
              <a:spcAft>
                <a:spcPts val="100"/>
              </a:spcAft>
            </a:pPr>
            <a:r>
              <a:rPr sz="1200">
                <a:solidFill>
                  <a:srgbClr val="000000"/>
                </a:solidFill>
                <a:latin typeface="Calibri"/>
              </a:rPr>
              <a:t>    if (error instanceof AppError) {</a:t>
            </a:r>
          </a:p>
          <a:p>
            <a:pPr algn="l">
              <a:lnSpc>
                <a:spcPct val="110000"/>
              </a:lnSpc>
              <a:spcBef>
                <a:spcPts val="100"/>
              </a:spcBef>
              <a:spcAft>
                <a:spcPts val="100"/>
              </a:spcAft>
            </a:pPr>
            <a:r>
              <a:rPr sz="1200">
                <a:solidFill>
                  <a:srgbClr val="000000"/>
                </a:solidFill>
                <a:latin typeface="Calibri"/>
              </a:rPr>
              <a:t>        reply.status(error.statusCode).send({</a:t>
            </a:r>
          </a:p>
          <a:p>
            <a:pPr algn="l">
              <a:lnSpc>
                <a:spcPct val="110000"/>
              </a:lnSpc>
              <a:spcBef>
                <a:spcPts val="100"/>
              </a:spcBef>
              <a:spcAft>
                <a:spcPts val="100"/>
              </a:spcAft>
            </a:pPr>
            <a:r>
              <a:rPr sz="1200">
                <a:solidFill>
                  <a:srgbClr val="000000"/>
                </a:solidFill>
                <a:latin typeface="Calibri"/>
              </a:rPr>
              <a:t>            success: false,</a:t>
            </a:r>
          </a:p>
          <a:p>
            <a:pPr algn="l">
              <a:lnSpc>
                <a:spcPct val="110000"/>
              </a:lnSpc>
              <a:spcBef>
                <a:spcPts val="100"/>
              </a:spcBef>
              <a:spcAft>
                <a:spcPts val="100"/>
              </a:spcAft>
            </a:pPr>
            <a:r>
              <a:rPr sz="1200">
                <a:solidFill>
                  <a:srgbClr val="000000"/>
                </a:solidFill>
                <a:latin typeface="Calibri"/>
              </a:rPr>
              <a:t>            error: {</a:t>
            </a:r>
          </a:p>
          <a:p>
            <a:pPr algn="l">
              <a:lnSpc>
                <a:spcPct val="110000"/>
              </a:lnSpc>
              <a:spcBef>
                <a:spcPts val="100"/>
              </a:spcBef>
              <a:spcAft>
                <a:spcPts val="100"/>
              </a:spcAft>
            </a:pPr>
            <a:r>
              <a:rPr sz="1200">
                <a:solidFill>
                  <a:srgbClr val="000000"/>
                </a:solidFill>
                <a:latin typeface="Calibri"/>
              </a:rPr>
              <a:t>                code: error.code,</a:t>
            </a:r>
          </a:p>
          <a:p>
            <a:pPr algn="l">
              <a:lnSpc>
                <a:spcPct val="110000"/>
              </a:lnSpc>
              <a:spcBef>
                <a:spcPts val="100"/>
              </a:spcBef>
              <a:spcAft>
                <a:spcPts val="100"/>
              </a:spcAft>
            </a:pPr>
            <a:r>
              <a:rPr sz="1200">
                <a:solidFill>
                  <a:srgbClr val="000000"/>
                </a:solidFill>
                <a:latin typeface="Calibri"/>
              </a:rPr>
              <a:t>                message: error.message,</a:t>
            </a:r>
          </a:p>
          <a:p>
            <a:pPr algn="l">
              <a:lnSpc>
                <a:spcPct val="110000"/>
              </a:lnSpc>
              <a:spcBef>
                <a:spcPts val="100"/>
              </a:spcBef>
              <a:spcAft>
                <a:spcPts val="100"/>
              </a:spcAft>
            </a:pPr>
            <a:r>
              <a:rPr sz="1200">
                <a:solidFill>
                  <a:srgbClr val="000000"/>
                </a:solidFill>
                <a:latin typeface="Calibri"/>
              </a:rPr>
              <a:t>                details: IS_DEVELOPMENT ? error.details : undefined,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requestId: request.id,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else {</a:t>
            </a:r>
          </a:p>
          <a:p>
            <a:pPr algn="l">
              <a:lnSpc>
                <a:spcPct val="110000"/>
              </a:lnSpc>
              <a:spcBef>
                <a:spcPts val="100"/>
              </a:spcBef>
              <a:spcAft>
                <a:spcPts val="100"/>
              </a:spcAft>
            </a:pPr>
            <a:r>
              <a:rPr sz="1200">
                <a:solidFill>
                  <a:srgbClr val="000000"/>
                </a:solidFill>
                <a:latin typeface="Calibri"/>
              </a:rPr>
              <a:t>        // Unknown error</a:t>
            </a:r>
          </a:p>
          <a:p>
            <a:pPr algn="l">
              <a:lnSpc>
                <a:spcPct val="110000"/>
              </a:lnSpc>
              <a:spcBef>
                <a:spcPts val="100"/>
              </a:spcBef>
              <a:spcAft>
                <a:spcPts val="100"/>
              </a:spcAft>
            </a:pPr>
            <a:r>
              <a:rPr sz="1200">
                <a:solidFill>
                  <a:srgbClr val="000000"/>
                </a:solidFill>
                <a:latin typeface="Calibri"/>
              </a:rPr>
              <a:t>        logger.error({ error, requestId: request.id }, 'Unhandled error');</a:t>
            </a:r>
          </a:p>
          <a:p>
            <a:pPr algn="l">
              <a:lnSpc>
                <a:spcPct val="110000"/>
              </a:lnSpc>
              <a:spcBef>
                <a:spcPts val="100"/>
              </a:spcBef>
              <a:spcAft>
                <a:spcPts val="100"/>
              </a:spcAft>
            </a:pPr>
            <a:r>
              <a:rPr sz="1200">
                <a:solidFill>
                  <a:srgbClr val="000000"/>
                </a:solidFill>
                <a:latin typeface="Calibri"/>
              </a:rPr>
              <a:t>        reply.status(500).send({</a:t>
            </a:r>
          </a:p>
          <a:p>
            <a:pPr algn="l">
              <a:lnSpc>
                <a:spcPct val="110000"/>
              </a:lnSpc>
              <a:spcBef>
                <a:spcPts val="100"/>
              </a:spcBef>
              <a:spcAft>
                <a:spcPts val="100"/>
              </a:spcAft>
            </a:pPr>
            <a:r>
              <a:rPr sz="1200">
                <a:solidFill>
                  <a:srgbClr val="000000"/>
                </a:solidFill>
                <a:latin typeface="Calibri"/>
              </a:rPr>
              <a:t>            success: false,</a:t>
            </a:r>
          </a:p>
          <a:p>
            <a:pPr algn="l">
              <a:lnSpc>
                <a:spcPct val="110000"/>
              </a:lnSpc>
              <a:spcBef>
                <a:spcPts val="100"/>
              </a:spcBef>
              <a:spcAft>
                <a:spcPts val="100"/>
              </a:spcAft>
            </a:pPr>
            <a:r>
              <a:rPr sz="1200">
                <a:solidFill>
                  <a:srgbClr val="000000"/>
                </a:solidFill>
                <a:latin typeface="Calibri"/>
              </a:rPr>
              <a:t>            error: {</a:t>
            </a:r>
          </a:p>
          <a:p>
            <a:pPr algn="l">
              <a:lnSpc>
                <a:spcPct val="110000"/>
              </a:lnSpc>
              <a:spcBef>
                <a:spcPts val="100"/>
              </a:spcBef>
              <a:spcAft>
                <a:spcPts val="100"/>
              </a:spcAft>
            </a:pPr>
            <a:r>
              <a:rPr sz="1200">
                <a:solidFill>
                  <a:srgbClr val="000000"/>
                </a:solidFill>
                <a:latin typeface="Calibri"/>
              </a:rPr>
              <a:t>                code: 'INTERNAL_ERROR',</a:t>
            </a:r>
          </a:p>
          <a:p>
            <a:pPr algn="l">
              <a:lnSpc>
                <a:spcPct val="110000"/>
              </a:lnSpc>
              <a:spcBef>
                <a:spcPts val="100"/>
              </a:spcBef>
              <a:spcAft>
                <a:spcPts val="100"/>
              </a:spcAft>
            </a:pPr>
            <a:r>
              <a:rPr sz="1200">
                <a:solidFill>
                  <a:srgbClr val="000000"/>
                </a:solidFill>
                <a:latin typeface="Calibri"/>
              </a:rPr>
              <a:t>                message: IS_DEVELOPMENT ? error.message : 'Internal server error',</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Putting It All Together</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COMPLETE SERVICE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src/                                                 │   │</a:t>
            </a:r>
          </a:p>
          <a:p>
            <a:pPr algn="l">
              <a:lnSpc>
                <a:spcPct val="110000"/>
              </a:lnSpc>
              <a:spcBef>
                <a:spcPts val="100"/>
              </a:spcBef>
              <a:spcAft>
                <a:spcPts val="100"/>
              </a:spcAft>
            </a:pPr>
            <a:r>
              <a:rPr sz="1200">
                <a:solidFill>
                  <a:srgbClr val="000000"/>
                </a:solidFill>
                <a:latin typeface="Calibri"/>
              </a:rPr>
              <a:t>│  │  ├── index.ts          # Entry point                  │   │</a:t>
            </a:r>
          </a:p>
          <a:p>
            <a:pPr algn="l">
              <a:lnSpc>
                <a:spcPct val="110000"/>
              </a:lnSpc>
              <a:spcBef>
                <a:spcPts val="100"/>
              </a:spcBef>
              <a:spcAft>
                <a:spcPts val="100"/>
              </a:spcAft>
            </a:pPr>
            <a:r>
              <a:rPr sz="1200">
                <a:solidFill>
                  <a:srgbClr val="000000"/>
                </a:solidFill>
                <a:latin typeface="Calibri"/>
              </a:rPr>
              <a:t>│  │  ├── server.ts         # Main server                  │   │</a:t>
            </a:r>
          </a:p>
          <a:p>
            <a:pPr algn="l">
              <a:lnSpc>
                <a:spcPct val="110000"/>
              </a:lnSpc>
              <a:spcBef>
                <a:spcPts val="100"/>
              </a:spcBef>
              <a:spcAft>
                <a:spcPts val="100"/>
              </a:spcAft>
            </a:pPr>
            <a:r>
              <a:rPr sz="1200">
                <a:solidFill>
                  <a:srgbClr val="000000"/>
                </a:solidFill>
                <a:latin typeface="Calibri"/>
              </a:rPr>
              <a:t>│  │  ├── config.ts         # Environment config          │   │</a:t>
            </a:r>
          </a:p>
          <a:p>
            <a:pPr algn="l">
              <a:lnSpc>
                <a:spcPct val="110000"/>
              </a:lnSpc>
              <a:spcBef>
                <a:spcPts val="100"/>
              </a:spcBef>
              <a:spcAft>
                <a:spcPts val="100"/>
              </a:spcAft>
            </a:pPr>
            <a:r>
              <a:rPr sz="1200">
                <a:solidFill>
                  <a:srgbClr val="000000"/>
                </a:solidFill>
                <a:latin typeface="Calibri"/>
              </a:rPr>
              <a:t>│  │  ├── logger.ts         # Structured logging          │   │</a:t>
            </a:r>
          </a:p>
          <a:p>
            <a:pPr algn="l">
              <a:lnSpc>
                <a:spcPct val="110000"/>
              </a:lnSpc>
              <a:spcBef>
                <a:spcPts val="100"/>
              </a:spcBef>
              <a:spcAft>
                <a:spcPts val="100"/>
              </a:spcAft>
            </a:pPr>
            <a:r>
              <a:rPr sz="1200">
                <a:solidFill>
                  <a:srgbClr val="000000"/>
                </a:solidFill>
                <a:latin typeface="Calibri"/>
              </a:rPr>
              <a:t>│  │  ├── error-handler.ts  # Global error handling      │   │</a:t>
            </a:r>
          </a:p>
          <a:p>
            <a:pPr algn="l">
              <a:lnSpc>
                <a:spcPct val="110000"/>
              </a:lnSpc>
              <a:spcBef>
                <a:spcPts val="100"/>
              </a:spcBef>
              <a:spcAft>
                <a:spcPts val="100"/>
              </a:spcAft>
            </a:pPr>
            <a:r>
              <a:rPr sz="1200">
                <a:solidFill>
                  <a:srgbClr val="000000"/>
                </a:solidFill>
                <a:latin typeface="Calibri"/>
              </a:rPr>
              <a:t>│  │  └── health/           # Health check endpoints      │   │</a:t>
            </a:r>
          </a:p>
          <a:p>
            <a:pPr algn="l">
              <a:lnSpc>
                <a:spcPct val="110000"/>
              </a:lnSpc>
              <a:spcBef>
                <a:spcPts val="100"/>
              </a:spcBef>
              <a:spcAft>
                <a:spcPts val="100"/>
              </a:spcAft>
            </a:pPr>
            <a:r>
              <a:rPr sz="1200">
                <a:solidFill>
                  <a:srgbClr val="000000"/>
                </a:solidFill>
                <a:latin typeface="Calibri"/>
              </a:rPr>
              <a:t>│  │      ├── health.controller.ts                       │   │</a:t>
            </a:r>
          </a:p>
          <a:p>
            <a:pPr algn="l">
              <a:lnSpc>
                <a:spcPct val="110000"/>
              </a:lnSpc>
              <a:spcBef>
                <a:spcPts val="100"/>
              </a:spcBef>
              <a:spcAft>
                <a:spcPts val="100"/>
              </a:spcAft>
            </a:pPr>
            <a:r>
              <a:rPr sz="1200">
                <a:solidFill>
                  <a:srgbClr val="000000"/>
                </a:solidFill>
                <a:latin typeface="Calibri"/>
              </a:rPr>
              <a:t>│  │      └── health.routes.ts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Features:                                                      │</a:t>
            </a:r>
          </a:p>
          <a:p>
            <a:pPr algn="l">
              <a:lnSpc>
                <a:spcPct val="110000"/>
              </a:lnSpc>
              <a:spcBef>
                <a:spcPts val="100"/>
              </a:spcBef>
              <a:spcAft>
                <a:spcPts val="100"/>
              </a:spcAft>
            </a:pPr>
            <a:r>
              <a:rPr sz="1200">
                <a:solidFill>
                  <a:srgbClr val="000000"/>
                </a:solidFill>
                <a:latin typeface="Calibri"/>
              </a:rPr>
              <a:t>│  ✅ Graceful shutdown (SIGTERM/SIGINT)                         │</a:t>
            </a:r>
          </a:p>
          <a:p>
            <a:pPr algn="l">
              <a:lnSpc>
                <a:spcPct val="110000"/>
              </a:lnSpc>
              <a:spcBef>
                <a:spcPts val="100"/>
              </a:spcBef>
              <a:spcAft>
                <a:spcPts val="100"/>
              </a:spcAft>
            </a:pPr>
            <a:r>
              <a:rPr sz="1200">
                <a:solidFill>
                  <a:srgbClr val="000000"/>
                </a:solidFill>
                <a:latin typeface="Calibri"/>
              </a:rPr>
              <a:t>│  ✅ Health checks (ready/live)                                │</a:t>
            </a:r>
          </a:p>
          <a:p>
            <a:pPr algn="l">
              <a:lnSpc>
                <a:spcPct val="110000"/>
              </a:lnSpc>
              <a:spcBef>
                <a:spcPts val="100"/>
              </a:spcBef>
              <a:spcAft>
                <a:spcPts val="100"/>
              </a:spcAft>
            </a:pPr>
            <a:r>
              <a:rPr sz="1200">
                <a:solidFill>
                  <a:srgbClr val="000000"/>
                </a:solidFill>
                <a:latin typeface="Calibri"/>
              </a:rPr>
              <a:t>│  ✅ Structured logging                                        │</a:t>
            </a:r>
          </a:p>
          <a:p>
            <a:pPr algn="l">
              <a:lnSpc>
                <a:spcPct val="110000"/>
              </a:lnSpc>
              <a:spcBef>
                <a:spcPts val="100"/>
              </a:spcBef>
              <a:spcAft>
                <a:spcPts val="100"/>
              </a:spcAft>
            </a:pPr>
            <a:r>
              <a:rPr sz="1200">
                <a:solidFill>
                  <a:srgbClr val="000000"/>
                </a:solidFill>
                <a:latin typeface="Calibri"/>
              </a:rPr>
              <a:t>│  ✅ Configuration validation                                  │</a:t>
            </a:r>
          </a:p>
          <a:p>
            <a:pPr algn="l">
              <a:lnSpc>
                <a:spcPct val="110000"/>
              </a:lnSpc>
              <a:spcBef>
                <a:spcPts val="100"/>
              </a:spcBef>
              <a:spcAft>
                <a:spcPts val="100"/>
              </a:spcAft>
            </a:pPr>
            <a:r>
              <a:rPr sz="1200">
                <a:solidFill>
                  <a:srgbClr val="000000"/>
                </a:solidFill>
                <a:latin typeface="Calibri"/>
              </a:rPr>
              <a:t>│  ✅ Global error handling                                     │</a:t>
            </a:r>
          </a:p>
          <a:p>
            <a:pPr algn="l">
              <a:lnSpc>
                <a:spcPct val="110000"/>
              </a:lnSpc>
              <a:spcBef>
                <a:spcPts val="100"/>
              </a:spcBef>
              <a:spcAft>
                <a:spcPts val="100"/>
              </a:spcAft>
            </a:pPr>
            <a:r>
              <a:rPr sz="1200">
                <a:solidFill>
                  <a:srgbClr val="000000"/>
                </a:solidFill>
                <a:latin typeface="Calibri"/>
              </a:rPr>
              <a:t>│  ✅ Request ID propagation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Verification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```bash</a:t>
            </a:r>
          </a:p>
          <a:p>
            <a:pPr algn="l">
              <a:lnSpc>
                <a:spcPct val="110000"/>
              </a:lnSpc>
              <a:spcBef>
                <a:spcPts val="100"/>
              </a:spcBef>
              <a:spcAft>
                <a:spcPts val="100"/>
              </a:spcAft>
            </a:pPr>
            <a:r>
              <a:rPr sz="1400">
                <a:solidFill>
                  <a:srgbClr val="000000"/>
                </a:solidFill>
                <a:latin typeface="Calibri"/>
              </a:rPr>
              <a:t># Run the service</a:t>
            </a:r>
          </a:p>
          <a:p>
            <a:pPr algn="l">
              <a:lnSpc>
                <a:spcPct val="110000"/>
              </a:lnSpc>
              <a:spcBef>
                <a:spcPts val="100"/>
              </a:spcBef>
              <a:spcAft>
                <a:spcPts val="100"/>
              </a:spcAft>
            </a:pPr>
            <a:r>
              <a:rPr sz="1400">
                <a:solidFill>
                  <a:srgbClr val="000000"/>
                </a:solidFill>
                <a:latin typeface="Calibri"/>
              </a:rPr>
              <a:t>npm run dev</a:t>
            </a:r>
          </a:p>
          <a:p>
            <a:pPr algn="l">
              <a:lnSpc>
                <a:spcPct val="110000"/>
              </a:lnSpc>
              <a:spcBef>
                <a:spcPts val="100"/>
              </a:spcBef>
              <a:spcAft>
                <a:spcPts val="100"/>
              </a:spcAft>
            </a:pPr>
            <a:r>
              <a:rPr sz="1400">
                <a:solidFill>
                  <a:srgbClr val="000000"/>
                </a:solidFill>
                <a:latin typeface="Calibri"/>
              </a:rPr>
              <a:t># Check health</a:t>
            </a:r>
          </a:p>
          <a:p>
            <a:pPr algn="l">
              <a:lnSpc>
                <a:spcPct val="110000"/>
              </a:lnSpc>
              <a:spcBef>
                <a:spcPts val="100"/>
              </a:spcBef>
              <a:spcAft>
                <a:spcPts val="100"/>
              </a:spcAft>
            </a:pPr>
            <a:r>
              <a:rPr sz="1400">
                <a:solidFill>
                  <a:srgbClr val="000000"/>
                </a:solidFill>
                <a:latin typeface="Calibri"/>
              </a:rPr>
              <a:t>curl http://localhost:3000/health</a:t>
            </a:r>
          </a:p>
          <a:p>
            <a:pPr algn="l">
              <a:lnSpc>
                <a:spcPct val="110000"/>
              </a:lnSpc>
              <a:spcBef>
                <a:spcPts val="100"/>
              </a:spcBef>
              <a:spcAft>
                <a:spcPts val="100"/>
              </a:spcAft>
            </a:pPr>
            <a:r>
              <a:rPr sz="1400">
                <a:solidFill>
                  <a:srgbClr val="000000"/>
                </a:solidFill>
                <a:latin typeface="Calibri"/>
              </a:rPr>
              <a:t># Response: {"status":"ok","service":"gateway","version":"1.0.0"}</a:t>
            </a:r>
          </a:p>
          <a:p>
            <a:pPr algn="l">
              <a:lnSpc>
                <a:spcPct val="110000"/>
              </a:lnSpc>
              <a:spcBef>
                <a:spcPts val="100"/>
              </a:spcBef>
              <a:spcAft>
                <a:spcPts val="100"/>
              </a:spcAft>
            </a:pPr>
            <a:r>
              <a:rPr sz="1400">
                <a:solidFill>
                  <a:srgbClr val="000000"/>
                </a:solidFill>
                <a:latin typeface="Calibri"/>
              </a:rPr>
              <a:t># Check readiness</a:t>
            </a:r>
          </a:p>
          <a:p>
            <a:pPr algn="l">
              <a:lnSpc>
                <a:spcPct val="110000"/>
              </a:lnSpc>
              <a:spcBef>
                <a:spcPts val="100"/>
              </a:spcBef>
              <a:spcAft>
                <a:spcPts val="100"/>
              </a:spcAft>
            </a:pPr>
            <a:r>
              <a:rPr sz="1400">
                <a:solidFill>
                  <a:srgbClr val="000000"/>
                </a:solidFill>
                <a:latin typeface="Calibri"/>
              </a:rPr>
              <a:t>curl http://localhost:3000/health/ready</a:t>
            </a:r>
          </a:p>
          <a:p>
            <a:pPr algn="l">
              <a:lnSpc>
                <a:spcPct val="110000"/>
              </a:lnSpc>
              <a:spcBef>
                <a:spcPts val="100"/>
              </a:spcBef>
              <a:spcAft>
                <a:spcPts val="100"/>
              </a:spcAft>
            </a:pPr>
            <a:r>
              <a:rPr sz="1400">
                <a:solidFill>
                  <a:srgbClr val="000000"/>
                </a:solidFill>
                <a:latin typeface="Calibri"/>
              </a:rPr>
              <a:t># Response: {"status":"ready","uptime":"1m 32s"}</a:t>
            </a:r>
          </a:p>
          <a:p>
            <a:pPr algn="l">
              <a:lnSpc>
                <a:spcPct val="110000"/>
              </a:lnSpc>
              <a:spcBef>
                <a:spcPts val="100"/>
              </a:spcBef>
              <a:spcAft>
                <a:spcPts val="100"/>
              </a:spcAft>
            </a:pPr>
            <a:r>
              <a:rPr sz="1400">
                <a:solidFill>
                  <a:srgbClr val="000000"/>
                </a:solidFill>
                <a:latin typeface="Calibri"/>
              </a:rPr>
              <a:t># Check metrics</a:t>
            </a:r>
          </a:p>
          <a:p>
            <a:pPr algn="l">
              <a:lnSpc>
                <a:spcPct val="110000"/>
              </a:lnSpc>
              <a:spcBef>
                <a:spcPts val="100"/>
              </a:spcBef>
              <a:spcAft>
                <a:spcPts val="100"/>
              </a:spcAft>
            </a:pPr>
            <a:r>
              <a:rPr sz="1400">
                <a:solidFill>
                  <a:srgbClr val="000000"/>
                </a:solidFill>
                <a:latin typeface="Calibri"/>
              </a:rPr>
              <a:t>curl http://localhost:3000/metrics</a:t>
            </a:r>
          </a:p>
          <a:p>
            <a:pPr algn="l">
              <a:lnSpc>
                <a:spcPct val="110000"/>
              </a:lnSpc>
              <a:spcBef>
                <a:spcPts val="100"/>
              </a:spcBef>
              <a:spcAft>
                <a:spcPts val="100"/>
              </a:spcAft>
            </a:pPr>
            <a:r>
              <a:rPr sz="1400">
                <a:solidFill>
                  <a:srgbClr val="000000"/>
                </a:solidFill>
                <a:latin typeface="Calibri"/>
              </a:rPr>
              <a:t># Response: {"requestCount":0,"errorRate":0,"uptime":92}</a:t>
            </a:r>
          </a:p>
          <a:p>
            <a:pPr algn="l">
              <a:lnSpc>
                <a:spcPct val="110000"/>
              </a:lnSpc>
              <a:spcBef>
                <a:spcPts val="100"/>
              </a:spcBef>
              <a:spcAft>
                <a:spcPts val="100"/>
              </a:spcAft>
            </a:pPr>
            <a:r>
              <a:rPr sz="1400">
                <a:solidFill>
                  <a:srgbClr val="000000"/>
                </a:solidFill>
                <a:latin typeface="Calibri"/>
              </a:rPr>
              <a:t># Test graceful shutdown</a:t>
            </a:r>
          </a:p>
          <a:p>
            <a:pPr algn="l">
              <a:lnSpc>
                <a:spcPct val="110000"/>
              </a:lnSpc>
              <a:spcBef>
                <a:spcPts val="100"/>
              </a:spcBef>
              <a:spcAft>
                <a:spcPts val="100"/>
              </a:spcAft>
            </a:pPr>
            <a:r>
              <a:rPr sz="1400">
                <a:solidFill>
                  <a:srgbClr val="000000"/>
                </a:solidFill>
                <a:latin typeface="Calibri"/>
              </a:rPr>
              <a:t>kill -TERM &lt;PID&gt;</a:t>
            </a:r>
          </a:p>
          <a:p>
            <a:pPr algn="l">
              <a:lnSpc>
                <a:spcPct val="110000"/>
              </a:lnSpc>
              <a:spcBef>
                <a:spcPts val="100"/>
              </a:spcBef>
              <a:spcAft>
                <a:spcPts val="100"/>
              </a:spcAft>
            </a:pPr>
            <a:r>
              <a:rPr sz="1400">
                <a:solidFill>
                  <a:srgbClr val="000000"/>
                </a:solidFill>
                <a:latin typeface="Calibri"/>
              </a:rPr>
              <a:t># Logs should show graceful shutdown sequence</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PART 1.2: 12-Factor in Practice (15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12-Factor Overview</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12-FACTOR APP METHODOLOGY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1.  Codebase ── One codebase tracked in revision control     │</a:t>
            </a:r>
          </a:p>
          <a:p>
            <a:pPr algn="l">
              <a:lnSpc>
                <a:spcPct val="110000"/>
              </a:lnSpc>
              <a:spcBef>
                <a:spcPts val="100"/>
              </a:spcBef>
              <a:spcAft>
                <a:spcPts val="100"/>
              </a:spcAft>
            </a:pPr>
            <a:r>
              <a:rPr sz="1400">
                <a:solidFill>
                  <a:srgbClr val="000000"/>
                </a:solidFill>
                <a:latin typeface="Calibri"/>
              </a:rPr>
              <a:t>│  2.  Dependencies ── Explicitly declare and isolate          │</a:t>
            </a:r>
          </a:p>
          <a:p>
            <a:pPr algn="l">
              <a:lnSpc>
                <a:spcPct val="110000"/>
              </a:lnSpc>
              <a:spcBef>
                <a:spcPts val="100"/>
              </a:spcBef>
              <a:spcAft>
                <a:spcPts val="100"/>
              </a:spcAft>
            </a:pPr>
            <a:r>
              <a:rPr sz="1400">
                <a:solidFill>
                  <a:srgbClr val="000000"/>
                </a:solidFill>
                <a:latin typeface="Calibri"/>
              </a:rPr>
              <a:t>│  3.  Config ── Store config in environment                   │</a:t>
            </a:r>
          </a:p>
          <a:p>
            <a:pPr algn="l">
              <a:lnSpc>
                <a:spcPct val="110000"/>
              </a:lnSpc>
              <a:spcBef>
                <a:spcPts val="100"/>
              </a:spcBef>
              <a:spcAft>
                <a:spcPts val="100"/>
              </a:spcAft>
            </a:pPr>
            <a:r>
              <a:rPr sz="1400">
                <a:solidFill>
                  <a:srgbClr val="000000"/>
                </a:solidFill>
                <a:latin typeface="Calibri"/>
              </a:rPr>
              <a:t>│  4.  Backing Services ── Treat as attached resources         │</a:t>
            </a:r>
          </a:p>
          <a:p>
            <a:pPr algn="l">
              <a:lnSpc>
                <a:spcPct val="110000"/>
              </a:lnSpc>
              <a:spcBef>
                <a:spcPts val="100"/>
              </a:spcBef>
              <a:spcAft>
                <a:spcPts val="100"/>
              </a:spcAft>
            </a:pPr>
            <a:r>
              <a:rPr sz="1400">
                <a:solidFill>
                  <a:srgbClr val="000000"/>
                </a:solidFill>
                <a:latin typeface="Calibri"/>
              </a:rPr>
              <a:t>│  5.  Build, Release, Run ── Strict separation               │</a:t>
            </a:r>
          </a:p>
          <a:p>
            <a:pPr algn="l">
              <a:lnSpc>
                <a:spcPct val="110000"/>
              </a:lnSpc>
              <a:spcBef>
                <a:spcPts val="100"/>
              </a:spcBef>
              <a:spcAft>
                <a:spcPts val="100"/>
              </a:spcAft>
            </a:pPr>
            <a:r>
              <a:rPr sz="1400">
                <a:solidFill>
                  <a:srgbClr val="000000"/>
                </a:solidFill>
                <a:latin typeface="Calibri"/>
              </a:rPr>
              <a:t>│  6.  Processes ── Execute as stateless processes            │</a:t>
            </a:r>
          </a:p>
          <a:p>
            <a:pPr algn="l">
              <a:lnSpc>
                <a:spcPct val="110000"/>
              </a:lnSpc>
              <a:spcBef>
                <a:spcPts val="100"/>
              </a:spcBef>
              <a:spcAft>
                <a:spcPts val="100"/>
              </a:spcAft>
            </a:pPr>
            <a:r>
              <a:rPr sz="1400">
                <a:solidFill>
                  <a:srgbClr val="000000"/>
                </a:solidFill>
                <a:latin typeface="Calibri"/>
              </a:rPr>
              <a:t>│  7.  Port Binding ── Export services via port binding       │</a:t>
            </a:r>
          </a:p>
          <a:p>
            <a:pPr algn="l">
              <a:lnSpc>
                <a:spcPct val="110000"/>
              </a:lnSpc>
              <a:spcBef>
                <a:spcPts val="100"/>
              </a:spcBef>
              <a:spcAft>
                <a:spcPts val="100"/>
              </a:spcAft>
            </a:pPr>
            <a:r>
              <a:rPr sz="1400">
                <a:solidFill>
                  <a:srgbClr val="000000"/>
                </a:solidFill>
                <a:latin typeface="Calibri"/>
              </a:rPr>
              <a:t>│  8.  Concurrency ── Scale out via process model             │</a:t>
            </a:r>
          </a:p>
          <a:p>
            <a:pPr algn="l">
              <a:lnSpc>
                <a:spcPct val="110000"/>
              </a:lnSpc>
              <a:spcBef>
                <a:spcPts val="100"/>
              </a:spcBef>
              <a:spcAft>
                <a:spcPts val="100"/>
              </a:spcAft>
            </a:pPr>
            <a:r>
              <a:rPr sz="1400">
                <a:solidFill>
                  <a:srgbClr val="000000"/>
                </a:solidFill>
                <a:latin typeface="Calibri"/>
              </a:rPr>
              <a:t>│  9.  Disposability ── Fast startup and graceful shutdown   │</a:t>
            </a:r>
          </a:p>
          <a:p>
            <a:pPr algn="l">
              <a:lnSpc>
                <a:spcPct val="110000"/>
              </a:lnSpc>
              <a:spcBef>
                <a:spcPts val="100"/>
              </a:spcBef>
              <a:spcAft>
                <a:spcPts val="100"/>
              </a:spcAft>
            </a:pPr>
            <a:r>
              <a:rPr sz="1400">
                <a:solidFill>
                  <a:srgbClr val="000000"/>
                </a:solidFill>
                <a:latin typeface="Calibri"/>
              </a:rPr>
              <a:t>│  10. Dev/Prod Parity ── Keep environments similar           │</a:t>
            </a:r>
          </a:p>
          <a:p>
            <a:pPr algn="l">
              <a:lnSpc>
                <a:spcPct val="110000"/>
              </a:lnSpc>
              <a:spcBef>
                <a:spcPts val="100"/>
              </a:spcBef>
              <a:spcAft>
                <a:spcPts val="100"/>
              </a:spcAft>
            </a:pPr>
            <a:r>
              <a:rPr sz="1400">
                <a:solidFill>
                  <a:srgbClr val="000000"/>
                </a:solidFill>
                <a:latin typeface="Calibri"/>
              </a:rPr>
              <a:t>│  11. Logs ── Treat logs as event streams                    │</a:t>
            </a:r>
          </a:p>
          <a:p>
            <a:pPr algn="l">
              <a:lnSpc>
                <a:spcPct val="110000"/>
              </a:lnSpc>
              <a:spcBef>
                <a:spcPts val="100"/>
              </a:spcBef>
              <a:spcAft>
                <a:spcPts val="100"/>
              </a:spcAft>
            </a:pPr>
            <a:r>
              <a:rPr sz="1400">
                <a:solidFill>
                  <a:srgbClr val="000000"/>
                </a:solidFill>
                <a:latin typeface="Calibri"/>
              </a:rPr>
              <a:t>│  12. Admin Processes ── Run admin tasks as one-off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Factor 3 - Config</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STORE CONFIG IN ENVIRONMENT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BAD: Hardcoded config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const DB_HOST = 'localhost';                          │   │</a:t>
            </a:r>
          </a:p>
          <a:p>
            <a:pPr algn="l">
              <a:lnSpc>
                <a:spcPct val="110000"/>
              </a:lnSpc>
              <a:spcBef>
                <a:spcPts val="100"/>
              </a:spcBef>
              <a:spcAft>
                <a:spcPts val="100"/>
              </a:spcAft>
            </a:pPr>
            <a:r>
              <a:rPr sz="1200">
                <a:solidFill>
                  <a:srgbClr val="000000"/>
                </a:solidFill>
                <a:latin typeface="Calibri"/>
              </a:rPr>
              <a:t>│  │ const DB_PORT = 5432;                                 │   │</a:t>
            </a:r>
          </a:p>
          <a:p>
            <a:pPr algn="l">
              <a:lnSpc>
                <a:spcPct val="110000"/>
              </a:lnSpc>
              <a:spcBef>
                <a:spcPts val="100"/>
              </a:spcBef>
              <a:spcAft>
                <a:spcPts val="100"/>
              </a:spcAft>
            </a:pPr>
            <a:r>
              <a:rPr sz="1200">
                <a:solidFill>
                  <a:srgbClr val="000000"/>
                </a:solidFill>
                <a:latin typeface="Calibri"/>
              </a:rPr>
              <a:t>│  │ const DB_PASSWORD = 'password123';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GOOD: Environment variables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const DB_HOST = process.env.DB_HOST;                  │   │</a:t>
            </a:r>
          </a:p>
          <a:p>
            <a:pPr algn="l">
              <a:lnSpc>
                <a:spcPct val="110000"/>
              </a:lnSpc>
              <a:spcBef>
                <a:spcPts val="100"/>
              </a:spcBef>
              <a:spcAft>
                <a:spcPts val="100"/>
              </a:spcAft>
            </a:pPr>
            <a:r>
              <a:rPr sz="1200">
                <a:solidFill>
                  <a:srgbClr val="000000"/>
                </a:solidFill>
                <a:latin typeface="Calibri"/>
              </a:rPr>
              <a:t>│  │ const DB_PORT = process.env.DB_PORT;                  │   │</a:t>
            </a:r>
          </a:p>
          <a:p>
            <a:pPr algn="l">
              <a:lnSpc>
                <a:spcPct val="110000"/>
              </a:lnSpc>
              <a:spcBef>
                <a:spcPts val="100"/>
              </a:spcBef>
              <a:spcAft>
                <a:spcPts val="100"/>
              </a:spcAft>
            </a:pPr>
            <a:r>
              <a:rPr sz="1200">
                <a:solidFill>
                  <a:srgbClr val="000000"/>
                </a:solidFill>
                <a:latin typeface="Calibri"/>
              </a:rPr>
              <a:t>│  │ const DB_PASSWORD = process.env.DB_PASSWORD;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Benefits:                                                      │</a:t>
            </a:r>
          </a:p>
          <a:p>
            <a:pPr algn="l">
              <a:lnSpc>
                <a:spcPct val="110000"/>
              </a:lnSpc>
              <a:spcBef>
                <a:spcPts val="100"/>
              </a:spcBef>
              <a:spcAft>
                <a:spcPts val="100"/>
              </a:spcAft>
            </a:pPr>
            <a:r>
              <a:rPr sz="1200">
                <a:solidFill>
                  <a:srgbClr val="000000"/>
                </a:solidFill>
                <a:latin typeface="Calibri"/>
              </a:rPr>
              <a:t>│  • Same code works everywhere                                 │</a:t>
            </a:r>
          </a:p>
          <a:p>
            <a:pPr algn="l">
              <a:lnSpc>
                <a:spcPct val="110000"/>
              </a:lnSpc>
              <a:spcBef>
                <a:spcPts val="100"/>
              </a:spcBef>
              <a:spcAft>
                <a:spcPts val="100"/>
              </a:spcAft>
            </a:pPr>
            <a:r>
              <a:rPr sz="1200">
                <a:solidFill>
                  <a:srgbClr val="000000"/>
                </a:solidFill>
                <a:latin typeface="Calibri"/>
              </a:rPr>
              <a:t>│  • No config files in repo                                    │</a:t>
            </a:r>
          </a:p>
          <a:p>
            <a:pPr algn="l">
              <a:lnSpc>
                <a:spcPct val="110000"/>
              </a:lnSpc>
              <a:spcBef>
                <a:spcPts val="100"/>
              </a:spcBef>
              <a:spcAft>
                <a:spcPts val="100"/>
              </a:spcAft>
            </a:pPr>
            <a:r>
              <a:rPr sz="1200">
                <a:solidFill>
                  <a:srgbClr val="000000"/>
                </a:solidFill>
                <a:latin typeface="Calibri"/>
              </a:rPr>
              <a:t>│  • Easy to rotate secrets                                     │</a:t>
            </a:r>
          </a:p>
          <a:p>
            <a:pPr algn="l">
              <a:lnSpc>
                <a:spcPct val="110000"/>
              </a:lnSpc>
              <a:spcBef>
                <a:spcPts val="100"/>
              </a:spcBef>
              <a:spcAft>
                <a:spcPts val="100"/>
              </a:spcAft>
            </a:pPr>
            <a:r>
              <a:rPr sz="1200">
                <a:solidFill>
                  <a:srgbClr val="000000"/>
                </a:solidFill>
                <a:latin typeface="Calibri"/>
              </a:rPr>
              <a:t>│  • Environment-specific without code changes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Factor 4 - Backing Services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BACKING SERVICES AS RESOURCES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DATABASE_URL=postgresql://host:5432/db               │   │</a:t>
            </a:r>
          </a:p>
          <a:p>
            <a:pPr algn="l">
              <a:lnSpc>
                <a:spcPct val="110000"/>
              </a:lnSpc>
              <a:spcBef>
                <a:spcPts val="100"/>
              </a:spcBef>
              <a:spcAft>
                <a:spcPts val="100"/>
              </a:spcAft>
            </a:pPr>
            <a:r>
              <a:rPr sz="1400">
                <a:solidFill>
                  <a:srgbClr val="000000"/>
                </a:solidFill>
                <a:latin typeface="Calibri"/>
              </a:rPr>
              <a:t>│  │  REDIS_URL=redis://host:6379                          │   │</a:t>
            </a:r>
          </a:p>
          <a:p>
            <a:pPr algn="l">
              <a:lnSpc>
                <a:spcPct val="110000"/>
              </a:lnSpc>
              <a:spcBef>
                <a:spcPts val="100"/>
              </a:spcBef>
              <a:spcAft>
                <a:spcPts val="100"/>
              </a:spcAft>
            </a:pPr>
            <a:r>
              <a:rPr sz="1400">
                <a:solidFill>
                  <a:srgbClr val="000000"/>
                </a:solidFill>
                <a:latin typeface="Calibri"/>
              </a:rPr>
              <a:t>│  │  RABBITMQ_URL=amqp://host:5672                       │   │</a:t>
            </a:r>
          </a:p>
          <a:p>
            <a:pPr algn="l">
              <a:lnSpc>
                <a:spcPct val="110000"/>
              </a:lnSpc>
              <a:spcBef>
                <a:spcPts val="100"/>
              </a:spcBef>
              <a:spcAft>
                <a:spcPts val="100"/>
              </a:spcAft>
            </a:pPr>
            <a:r>
              <a:rPr sz="1400">
                <a:solidFill>
                  <a:srgbClr val="000000"/>
                </a:solidFill>
                <a:latin typeface="Calibri"/>
              </a:rPr>
              <a:t>│  │  S3_URL=s3://bucket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Benefits:                                                      │</a:t>
            </a:r>
          </a:p>
          <a:p>
            <a:pPr algn="l">
              <a:lnSpc>
                <a:spcPct val="110000"/>
              </a:lnSpc>
              <a:spcBef>
                <a:spcPts val="100"/>
              </a:spcBef>
              <a:spcAft>
                <a:spcPts val="100"/>
              </a:spcAft>
            </a:pPr>
            <a:r>
              <a:rPr sz="1400">
                <a:solidFill>
                  <a:srgbClr val="000000"/>
                </a:solidFill>
                <a:latin typeface="Calibri"/>
              </a:rPr>
              <a:t>│  • Swap services without code changes                         │</a:t>
            </a:r>
          </a:p>
          <a:p>
            <a:pPr algn="l">
              <a:lnSpc>
                <a:spcPct val="110000"/>
              </a:lnSpc>
              <a:spcBef>
                <a:spcPts val="100"/>
              </a:spcBef>
              <a:spcAft>
                <a:spcPts val="100"/>
              </a:spcAft>
            </a:pPr>
            <a:r>
              <a:rPr sz="1400">
                <a:solidFill>
                  <a:srgbClr val="000000"/>
                </a:solidFill>
                <a:latin typeface="Calibri"/>
              </a:rPr>
              <a:t>│  • Development vs Production can use different services      │</a:t>
            </a:r>
          </a:p>
          <a:p>
            <a:pPr algn="l">
              <a:lnSpc>
                <a:spcPct val="110000"/>
              </a:lnSpc>
              <a:spcBef>
                <a:spcPts val="100"/>
              </a:spcBef>
              <a:spcAft>
                <a:spcPts val="100"/>
              </a:spcAft>
            </a:pPr>
            <a:r>
              <a:rPr sz="1400">
                <a:solidFill>
                  <a:srgbClr val="000000"/>
                </a:solidFill>
                <a:latin typeface="Calibri"/>
              </a:rPr>
              <a:t>│  • Easy to switch cloud providers                            │</a:t>
            </a:r>
          </a:p>
          <a:p>
            <a:pPr algn="l">
              <a:lnSpc>
                <a:spcPct val="110000"/>
              </a:lnSpc>
              <a:spcBef>
                <a:spcPts val="100"/>
              </a:spcBef>
              <a:spcAft>
                <a:spcPts val="100"/>
              </a:spcAft>
            </a:pPr>
            <a:r>
              <a:rPr sz="1400">
                <a:solidFill>
                  <a:srgbClr val="000000"/>
                </a:solidFill>
                <a:latin typeface="Calibri"/>
              </a:rPr>
              <a:t>│  • Services can be scaled independently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Restaurant Analogy: Switch suppliers without changing recipe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Factor 5 - Build, Release, Run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BUILD, RELEASE, RUN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BUILD     │───▶│   RELEASE    │───▶│     RUN      │     │</a:t>
            </a:r>
          </a:p>
          <a:p>
            <a:pPr algn="l">
              <a:lnSpc>
                <a:spcPct val="110000"/>
              </a:lnSpc>
              <a:spcBef>
                <a:spcPts val="100"/>
              </a:spcBef>
              <a:spcAft>
                <a:spcPts val="100"/>
              </a:spcAft>
            </a:pPr>
            <a:r>
              <a:rPr sz="1200">
                <a:solidFill>
                  <a:srgbClr val="000000"/>
                </a:solidFill>
                <a:latin typeface="Calibri"/>
              </a:rPr>
              <a:t>│  │  (Compile,   │    │  (Package,   │    │  (Execute    │     │</a:t>
            </a:r>
          </a:p>
          <a:p>
            <a:pPr algn="l">
              <a:lnSpc>
                <a:spcPct val="110000"/>
              </a:lnSpc>
              <a:spcBef>
                <a:spcPts val="100"/>
              </a:spcBef>
              <a:spcAft>
                <a:spcPts val="100"/>
              </a:spcAft>
            </a:pPr>
            <a:r>
              <a:rPr sz="1200">
                <a:solidFill>
                  <a:srgbClr val="000000"/>
                </a:solidFill>
                <a:latin typeface="Calibri"/>
              </a:rPr>
              <a:t>│  │   Test)      │    │   Deploy)    │    │   Process)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Docker Multi-Stage Build: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Build Stage                                         │   │</a:t>
            </a:r>
          </a:p>
          <a:p>
            <a:pPr algn="l">
              <a:lnSpc>
                <a:spcPct val="110000"/>
              </a:lnSpc>
              <a:spcBef>
                <a:spcPts val="100"/>
              </a:spcBef>
              <a:spcAft>
                <a:spcPts val="100"/>
              </a:spcAft>
            </a:pPr>
            <a:r>
              <a:rPr sz="1200">
                <a:solidFill>
                  <a:srgbClr val="000000"/>
                </a:solidFill>
                <a:latin typeface="Calibri"/>
              </a:rPr>
              <a:t>│  │  FROM node:20-alpine AS builder                       │   │</a:t>
            </a:r>
          </a:p>
          <a:p>
            <a:pPr algn="l">
              <a:lnSpc>
                <a:spcPct val="110000"/>
              </a:lnSpc>
              <a:spcBef>
                <a:spcPts val="100"/>
              </a:spcBef>
              <a:spcAft>
                <a:spcPts val="100"/>
              </a:spcAft>
            </a:pPr>
            <a:r>
              <a:rPr sz="1200">
                <a:solidFill>
                  <a:srgbClr val="000000"/>
                </a:solidFill>
                <a:latin typeface="Calibri"/>
              </a:rPr>
              <a:t>│  │  COPY . .                                            │   │</a:t>
            </a:r>
          </a:p>
          <a:p>
            <a:pPr algn="l">
              <a:lnSpc>
                <a:spcPct val="110000"/>
              </a:lnSpc>
              <a:spcBef>
                <a:spcPts val="100"/>
              </a:spcBef>
              <a:spcAft>
                <a:spcPts val="100"/>
              </a:spcAft>
            </a:pPr>
            <a:r>
              <a:rPr sz="1200">
                <a:solidFill>
                  <a:srgbClr val="000000"/>
                </a:solidFill>
                <a:latin typeface="Calibri"/>
              </a:rPr>
              <a:t>│  │  RUN npm install &amp;&amp; npm run build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Release Stage                                     │   │</a:t>
            </a:r>
          </a:p>
          <a:p>
            <a:pPr algn="l">
              <a:lnSpc>
                <a:spcPct val="110000"/>
              </a:lnSpc>
              <a:spcBef>
                <a:spcPts val="100"/>
              </a:spcBef>
              <a:spcAft>
                <a:spcPts val="100"/>
              </a:spcAft>
            </a:pPr>
            <a:r>
              <a:rPr sz="1200">
                <a:solidFill>
                  <a:srgbClr val="000000"/>
                </a:solidFill>
                <a:latin typeface="Calibri"/>
              </a:rPr>
              <a:t>│  │  FROM node:20-alpine                                │   │</a:t>
            </a:r>
          </a:p>
          <a:p>
            <a:pPr algn="l">
              <a:lnSpc>
                <a:spcPct val="110000"/>
              </a:lnSpc>
              <a:spcBef>
                <a:spcPts val="100"/>
              </a:spcBef>
              <a:spcAft>
                <a:spcPts val="100"/>
              </a:spcAft>
            </a:pPr>
            <a:r>
              <a:rPr sz="1200">
                <a:solidFill>
                  <a:srgbClr val="000000"/>
                </a:solidFill>
                <a:latin typeface="Calibri"/>
              </a:rPr>
              <a:t>│  │  COPY --from=builder /app/dist ./dist              │   │</a:t>
            </a:r>
          </a:p>
          <a:p>
            <a:pPr algn="l">
              <a:lnSpc>
                <a:spcPct val="110000"/>
              </a:lnSpc>
              <a:spcBef>
                <a:spcPts val="100"/>
              </a:spcBef>
              <a:spcAft>
                <a:spcPts val="100"/>
              </a:spcAft>
            </a:pPr>
            <a:r>
              <a:rPr sz="1200">
                <a:solidFill>
                  <a:srgbClr val="000000"/>
                </a:solidFill>
                <a:latin typeface="Calibri"/>
              </a:rPr>
              <a:t>│  │  COPY --from=builder /app/node_modules ./node_modules│   │</a:t>
            </a:r>
          </a:p>
          <a:p>
            <a:pPr algn="l">
              <a:lnSpc>
                <a:spcPct val="110000"/>
              </a:lnSpc>
              <a:spcBef>
                <a:spcPts val="100"/>
              </a:spcBef>
              <a:spcAft>
                <a:spcPts val="100"/>
              </a:spcAft>
            </a:pPr>
            <a:r>
              <a:rPr sz="1200">
                <a:solidFill>
                  <a:srgbClr val="000000"/>
                </a:solidFill>
                <a:latin typeface="Calibri"/>
              </a:rPr>
              <a:t>│  │  CMD ["node", "dist/index.js"]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Factor 6 - Stateless Processes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STATELESS PROCESSES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BAD: Storing state in memory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const sessions = new Map();                           │   │</a:t>
            </a:r>
          </a:p>
          <a:p>
            <a:pPr algn="l">
              <a:lnSpc>
                <a:spcPct val="110000"/>
              </a:lnSpc>
              <a:spcBef>
                <a:spcPts val="100"/>
              </a:spcBef>
              <a:spcAft>
                <a:spcPts val="100"/>
              </a:spcAft>
            </a:pPr>
            <a:r>
              <a:rPr sz="1400">
                <a:solidFill>
                  <a:srgbClr val="000000"/>
                </a:solidFill>
                <a:latin typeface="Calibri"/>
              </a:rPr>
              <a:t>│  │  sessions.set(userId, sessionData);                    │   │</a:t>
            </a:r>
          </a:p>
          <a:p>
            <a:pPr algn="l">
              <a:lnSpc>
                <a:spcPct val="110000"/>
              </a:lnSpc>
              <a:spcBef>
                <a:spcPts val="100"/>
              </a:spcBef>
              <a:spcAft>
                <a:spcPts val="100"/>
              </a:spcAft>
            </a:pPr>
            <a:r>
              <a:rPr sz="1400">
                <a:solidFill>
                  <a:srgbClr val="000000"/>
                </a:solidFill>
                <a:latin typeface="Calibri"/>
              </a:rPr>
              <a:t>│  │  // Lost if process restarts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GOOD: State in backing service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await redis.set(`session:${userId}`, sessionData);   │   │</a:t>
            </a:r>
          </a:p>
          <a:p>
            <a:pPr algn="l">
              <a:lnSpc>
                <a:spcPct val="110000"/>
              </a:lnSpc>
              <a:spcBef>
                <a:spcPts val="100"/>
              </a:spcBef>
              <a:spcAft>
                <a:spcPts val="100"/>
              </a:spcAft>
            </a:pPr>
            <a:r>
              <a:rPr sz="1400">
                <a:solidFill>
                  <a:srgbClr val="000000"/>
                </a:solidFill>
                <a:latin typeface="Calibri"/>
              </a:rPr>
              <a:t>│  │  // Survives process restart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Benefits:                                                      │</a:t>
            </a:r>
          </a:p>
          <a:p>
            <a:pPr algn="l">
              <a:lnSpc>
                <a:spcPct val="110000"/>
              </a:lnSpc>
              <a:spcBef>
                <a:spcPts val="100"/>
              </a:spcBef>
              <a:spcAft>
                <a:spcPts val="100"/>
              </a:spcAft>
            </a:pPr>
            <a:r>
              <a:rPr sz="1400">
                <a:solidFill>
                  <a:srgbClr val="000000"/>
                </a:solidFill>
                <a:latin typeface="Calibri"/>
              </a:rPr>
              <a:t>│  • Horizontal scaling                                         │</a:t>
            </a:r>
          </a:p>
          <a:p>
            <a:pPr algn="l">
              <a:lnSpc>
                <a:spcPct val="110000"/>
              </a:lnSpc>
              <a:spcBef>
                <a:spcPts val="100"/>
              </a:spcBef>
              <a:spcAft>
                <a:spcPts val="100"/>
              </a:spcAft>
            </a:pPr>
            <a:r>
              <a:rPr sz="1400">
                <a:solidFill>
                  <a:srgbClr val="000000"/>
                </a:solidFill>
                <a:latin typeface="Calibri"/>
              </a:rPr>
              <a:t>│  • Rollback safe                                              │</a:t>
            </a:r>
          </a:p>
          <a:p>
            <a:pPr algn="l">
              <a:lnSpc>
                <a:spcPct val="110000"/>
              </a:lnSpc>
              <a:spcBef>
                <a:spcPts val="100"/>
              </a:spcBef>
              <a:spcAft>
                <a:spcPts val="100"/>
              </a:spcAft>
            </a:pPr>
            <a:r>
              <a:rPr sz="1400">
                <a:solidFill>
                  <a:srgbClr val="000000"/>
                </a:solidFill>
                <a:latin typeface="Calibri"/>
              </a:rPr>
              <a:t>│  • Fault tolerant                                             │</a:t>
            </a:r>
          </a:p>
          <a:p>
            <a:pPr algn="l">
              <a:lnSpc>
                <a:spcPct val="110000"/>
              </a:lnSpc>
              <a:spcBef>
                <a:spcPts val="100"/>
              </a:spcBef>
              <a:spcAft>
                <a:spcPts val="100"/>
              </a:spcAft>
            </a:pPr>
            <a:r>
              <a:rPr sz="1400">
                <a:solidFill>
                  <a:srgbClr val="000000"/>
                </a:solidFill>
                <a:latin typeface="Calibri"/>
              </a:rPr>
              <a:t>│  • No "sticky sessions" needed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Factor 8 - Port Binding</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PORT BINDING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BAD: Hardcoded port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app.listen(3000);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GOOD: Port from environment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const PORT = process.env.PORT || 3000;               │   │</a:t>
            </a:r>
          </a:p>
          <a:p>
            <a:pPr algn="l">
              <a:lnSpc>
                <a:spcPct val="110000"/>
              </a:lnSpc>
              <a:spcBef>
                <a:spcPts val="100"/>
              </a:spcBef>
              <a:spcAft>
                <a:spcPts val="100"/>
              </a:spcAft>
            </a:pPr>
            <a:r>
              <a:rPr sz="1400">
                <a:solidFill>
                  <a:srgbClr val="000000"/>
                </a:solidFill>
                <a:latin typeface="Calibri"/>
              </a:rPr>
              <a:t>│  │  app.listen(PORT, process.env.HOST || '0.0.0.0');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Cloud-Native Pattern:                                         │</a:t>
            </a:r>
          </a:p>
          <a:p>
            <a:pPr algn="l">
              <a:lnSpc>
                <a:spcPct val="110000"/>
              </a:lnSpc>
              <a:spcBef>
                <a:spcPts val="100"/>
              </a:spcBef>
              <a:spcAft>
                <a:spcPts val="100"/>
              </a:spcAft>
            </a:pPr>
            <a:r>
              <a:rPr sz="1400">
                <a:solidFill>
                  <a:srgbClr val="000000"/>
                </a:solidFill>
                <a:latin typeface="Calibri"/>
              </a:rPr>
              <a:t>│  • Externalize port                                            │</a:t>
            </a:r>
          </a:p>
          <a:p>
            <a:pPr algn="l">
              <a:lnSpc>
                <a:spcPct val="110000"/>
              </a:lnSpc>
              <a:spcBef>
                <a:spcPts val="100"/>
              </a:spcBef>
              <a:spcAft>
                <a:spcPts val="100"/>
              </a:spcAft>
            </a:pPr>
            <a:r>
              <a:rPr sz="1400">
                <a:solidFill>
                  <a:srgbClr val="000000"/>
                </a:solidFill>
                <a:latin typeface="Calibri"/>
              </a:rPr>
              <a:t>│  • Cloud platforms assign ports                                │</a:t>
            </a:r>
          </a:p>
          <a:p>
            <a:pPr algn="l">
              <a:lnSpc>
                <a:spcPct val="110000"/>
              </a:lnSpc>
              <a:spcBef>
                <a:spcPts val="100"/>
              </a:spcBef>
              <a:spcAft>
                <a:spcPts val="100"/>
              </a:spcAft>
            </a:pPr>
            <a:r>
              <a:rPr sz="1400">
                <a:solidFill>
                  <a:srgbClr val="000000"/>
                </a:solidFill>
                <a:latin typeface="Calibri"/>
              </a:rPr>
              <a:t>│  • Multiple instances can bind to different ports             │</a:t>
            </a:r>
          </a:p>
          <a:p>
            <a:pPr algn="l">
              <a:lnSpc>
                <a:spcPct val="110000"/>
              </a:lnSpc>
              <a:spcBef>
                <a:spcPts val="100"/>
              </a:spcBef>
              <a:spcAft>
                <a:spcPts val="100"/>
              </a:spcAft>
            </a:pPr>
            <a:r>
              <a:rPr sz="1400">
                <a:solidFill>
                  <a:srgbClr val="000000"/>
                </a:solidFill>
                <a:latin typeface="Calibri"/>
              </a:rPr>
              <a:t>│  • Load balancer routes to instances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Factor 9 - Disposability</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DISPOSABILITY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Fast Startup (Seconds, not minutes)                        │</a:t>
            </a:r>
          </a:p>
          <a:p>
            <a:pPr algn="l">
              <a:lnSpc>
                <a:spcPct val="110000"/>
              </a:lnSpc>
              <a:spcBef>
                <a:spcPts val="100"/>
              </a:spcBef>
              <a:spcAft>
                <a:spcPts val="100"/>
              </a:spcAft>
            </a:pPr>
            <a:r>
              <a:rPr sz="1400">
                <a:solidFill>
                  <a:srgbClr val="000000"/>
                </a:solidFill>
                <a:latin typeface="Calibri"/>
              </a:rPr>
              <a:t>│  • Minimal initialization                                      │</a:t>
            </a:r>
          </a:p>
          <a:p>
            <a:pPr algn="l">
              <a:lnSpc>
                <a:spcPct val="110000"/>
              </a:lnSpc>
              <a:spcBef>
                <a:spcPts val="100"/>
              </a:spcBef>
              <a:spcAft>
                <a:spcPts val="100"/>
              </a:spcAft>
            </a:pPr>
            <a:r>
              <a:rPr sz="1400">
                <a:solidFill>
                  <a:srgbClr val="000000"/>
                </a:solidFill>
                <a:latin typeface="Calibri"/>
              </a:rPr>
              <a:t>│  • Lazy connections                                            │</a:t>
            </a:r>
          </a:p>
          <a:p>
            <a:pPr algn="l">
              <a:lnSpc>
                <a:spcPct val="110000"/>
              </a:lnSpc>
              <a:spcBef>
                <a:spcPts val="100"/>
              </a:spcBef>
              <a:spcAft>
                <a:spcPts val="100"/>
              </a:spcAft>
            </a:pPr>
            <a:r>
              <a:rPr sz="1400">
                <a:solidFill>
                  <a:srgbClr val="000000"/>
                </a:solidFill>
                <a:latin typeface="Calibri"/>
              </a:rPr>
              <a:t>│  • No long-running init tasks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Graceful Shutdown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process.on('SIGTERM', async () =&gt; {                   │   │</a:t>
            </a:r>
          </a:p>
          <a:p>
            <a:pPr algn="l">
              <a:lnSpc>
                <a:spcPct val="110000"/>
              </a:lnSpc>
              <a:spcBef>
                <a:spcPts val="100"/>
              </a:spcBef>
              <a:spcAft>
                <a:spcPts val="100"/>
              </a:spcAft>
            </a:pPr>
            <a:r>
              <a:rPr sz="1400">
                <a:solidFill>
                  <a:srgbClr val="000000"/>
                </a:solidFill>
                <a:latin typeface="Calibri"/>
              </a:rPr>
              <a:t>│  │    // 1. Stop accepting new requests                   │   │</a:t>
            </a:r>
          </a:p>
          <a:p>
            <a:pPr algn="l">
              <a:lnSpc>
                <a:spcPct val="110000"/>
              </a:lnSpc>
              <a:spcBef>
                <a:spcPts val="100"/>
              </a:spcBef>
              <a:spcAft>
                <a:spcPts val="100"/>
              </a:spcAft>
            </a:pPr>
            <a:r>
              <a:rPr sz="1400">
                <a:solidFill>
                  <a:srgbClr val="000000"/>
                </a:solidFill>
                <a:latin typeface="Calibri"/>
              </a:rPr>
              <a:t>│  │    await server.close();                               │   │</a:t>
            </a:r>
          </a:p>
          <a:p>
            <a:pPr algn="l">
              <a:lnSpc>
                <a:spcPct val="110000"/>
              </a:lnSpc>
              <a:spcBef>
                <a:spcPts val="100"/>
              </a:spcBef>
              <a:spcAft>
                <a:spcPts val="100"/>
              </a:spcAft>
            </a:pPr>
            <a:r>
              <a:rPr sz="1400">
                <a:solidFill>
                  <a:srgbClr val="000000"/>
                </a:solidFill>
                <a:latin typeface="Calibri"/>
              </a:rPr>
              <a:t>│  │    // 2. Finish existing requests                      │   │</a:t>
            </a:r>
          </a:p>
          <a:p>
            <a:pPr algn="l">
              <a:lnSpc>
                <a:spcPct val="110000"/>
              </a:lnSpc>
              <a:spcBef>
                <a:spcPts val="100"/>
              </a:spcBef>
              <a:spcAft>
                <a:spcPts val="100"/>
              </a:spcAft>
            </a:pPr>
            <a:r>
              <a:rPr sz="1400">
                <a:solidFill>
                  <a:srgbClr val="000000"/>
                </a:solidFill>
                <a:latin typeface="Calibri"/>
              </a:rPr>
              <a:t>│  │    await waitForConnections();                         │   │</a:t>
            </a:r>
          </a:p>
          <a:p>
            <a:pPr algn="l">
              <a:lnSpc>
                <a:spcPct val="110000"/>
              </a:lnSpc>
              <a:spcBef>
                <a:spcPts val="100"/>
              </a:spcBef>
              <a:spcAft>
                <a:spcPts val="100"/>
              </a:spcAft>
            </a:pPr>
            <a:r>
              <a:rPr sz="1400">
                <a:solidFill>
                  <a:srgbClr val="000000"/>
                </a:solidFill>
                <a:latin typeface="Calibri"/>
              </a:rPr>
              <a:t>│  │    // 3. Clean up resources                            │   │</a:t>
            </a:r>
          </a:p>
          <a:p>
            <a:pPr algn="l">
              <a:lnSpc>
                <a:spcPct val="110000"/>
              </a:lnSpc>
              <a:spcBef>
                <a:spcPts val="100"/>
              </a:spcBef>
              <a:spcAft>
                <a:spcPts val="100"/>
              </a:spcAft>
            </a:pPr>
            <a:r>
              <a:rPr sz="1400">
                <a:solidFill>
                  <a:srgbClr val="000000"/>
                </a:solidFill>
                <a:latin typeface="Calibri"/>
              </a:rPr>
              <a:t>│  │    await database.disconnect();                       │   │</a:t>
            </a:r>
          </a:p>
          <a:p>
            <a:pPr algn="l">
              <a:lnSpc>
                <a:spcPct val="110000"/>
              </a:lnSpc>
              <a:spcBef>
                <a:spcPts val="100"/>
              </a:spcBef>
              <a:spcAft>
                <a:spcPts val="100"/>
              </a:spcAft>
            </a:pPr>
            <a:r>
              <a:rPr sz="1400">
                <a:solidFill>
                  <a:srgbClr val="000000"/>
                </a:solidFill>
                <a:latin typeface="Calibri"/>
              </a:rPr>
              <a:t>│  │    process.exit(0);                                   │   │</a:t>
            </a:r>
          </a:p>
          <a:p>
            <a:pPr algn="l">
              <a:lnSpc>
                <a:spcPct val="110000"/>
              </a:lnSpc>
              <a:spcBef>
                <a:spcPts val="100"/>
              </a:spcBef>
              <a:spcAft>
                <a:spcPts val="100"/>
              </a:spcAft>
            </a:pPr>
            <a:r>
              <a:rPr sz="1400">
                <a:solidFill>
                  <a:srgbClr val="000000"/>
                </a:solidFill>
                <a:latin typeface="Calibri"/>
              </a:rPr>
              <a:t>│  │  });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Factor 11 - Logs as Event Streams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LOGS AS EVENT STREAMS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BAD: Writing to files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fs.appendFileSync('/var/log/app.log', message);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GOOD: Log to stdout/stderr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console.log(JSON.stringify({                          │   │</a:t>
            </a:r>
          </a:p>
          <a:p>
            <a:pPr algn="l">
              <a:lnSpc>
                <a:spcPct val="110000"/>
              </a:lnSpc>
              <a:spcBef>
                <a:spcPts val="100"/>
              </a:spcBef>
              <a:spcAft>
                <a:spcPts val="100"/>
              </a:spcAft>
            </a:pPr>
            <a:r>
              <a:rPr sz="1200">
                <a:solidFill>
                  <a:srgbClr val="000000"/>
                </a:solidFill>
                <a:latin typeface="Calibri"/>
              </a:rPr>
              <a:t>│  │    level: 'info',                                     │   │</a:t>
            </a:r>
          </a:p>
          <a:p>
            <a:pPr algn="l">
              <a:lnSpc>
                <a:spcPct val="110000"/>
              </a:lnSpc>
              <a:spcBef>
                <a:spcPts val="100"/>
              </a:spcBef>
              <a:spcAft>
                <a:spcPts val="100"/>
              </a:spcAft>
            </a:pPr>
            <a:r>
              <a:rPr sz="1200">
                <a:solidFill>
                  <a:srgbClr val="000000"/>
                </a:solidFill>
                <a:latin typeface="Calibri"/>
              </a:rPr>
              <a:t>│  │    message: 'User logged in',                         │   │</a:t>
            </a:r>
          </a:p>
          <a:p>
            <a:pPr algn="l">
              <a:lnSpc>
                <a:spcPct val="110000"/>
              </a:lnSpc>
              <a:spcBef>
                <a:spcPts val="100"/>
              </a:spcBef>
              <a:spcAft>
                <a:spcPts val="100"/>
              </a:spcAft>
            </a:pPr>
            <a:r>
              <a:rPr sz="1200">
                <a:solidFill>
                  <a:srgbClr val="000000"/>
                </a:solidFill>
                <a:latin typeface="Calibri"/>
              </a:rPr>
              <a:t>│  │    userId: '123',                                    │   │</a:t>
            </a:r>
          </a:p>
          <a:p>
            <a:pPr algn="l">
              <a:lnSpc>
                <a:spcPct val="110000"/>
              </a:lnSpc>
              <a:spcBef>
                <a:spcPts val="100"/>
              </a:spcBef>
              <a:spcAft>
                <a:spcPts val="100"/>
              </a:spcAft>
            </a:pPr>
            <a:r>
              <a:rPr sz="1200">
                <a:solidFill>
                  <a:srgbClr val="000000"/>
                </a:solidFill>
                <a:latin typeface="Calibri"/>
              </a:rPr>
              <a:t>│  │    timestamp: new Date().toISOString(),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Benefits:                                                      │</a:t>
            </a:r>
          </a:p>
          <a:p>
            <a:pPr algn="l">
              <a:lnSpc>
                <a:spcPct val="110000"/>
              </a:lnSpc>
              <a:spcBef>
                <a:spcPts val="100"/>
              </a:spcBef>
              <a:spcAft>
                <a:spcPts val="100"/>
              </a:spcAft>
            </a:pPr>
            <a:r>
              <a:rPr sz="1200">
                <a:solidFill>
                  <a:srgbClr val="000000"/>
                </a:solidFill>
                <a:latin typeface="Calibri"/>
              </a:rPr>
              <a:t>│  • Platform captures logs                                     │</a:t>
            </a:r>
          </a:p>
          <a:p>
            <a:pPr algn="l">
              <a:lnSpc>
                <a:spcPct val="110000"/>
              </a:lnSpc>
              <a:spcBef>
                <a:spcPts val="100"/>
              </a:spcBef>
              <a:spcAft>
                <a:spcPts val="100"/>
              </a:spcAft>
            </a:pPr>
            <a:r>
              <a:rPr sz="1200">
                <a:solidFill>
                  <a:srgbClr val="000000"/>
                </a:solidFill>
                <a:latin typeface="Calibri"/>
              </a:rPr>
              <a:t>│  • Structured (JSON) for parsing                              │</a:t>
            </a:r>
          </a:p>
          <a:p>
            <a:pPr algn="l">
              <a:lnSpc>
                <a:spcPct val="110000"/>
              </a:lnSpc>
              <a:spcBef>
                <a:spcPts val="100"/>
              </a:spcBef>
              <a:spcAft>
                <a:spcPts val="100"/>
              </a:spcAft>
            </a:pPr>
            <a:r>
              <a:rPr sz="1200">
                <a:solidFill>
                  <a:srgbClr val="000000"/>
                </a:solidFill>
                <a:latin typeface="Calibri"/>
              </a:rPr>
              <a:t>│  • Centralized aggregation                                    │</a:t>
            </a:r>
          </a:p>
          <a:p>
            <a:pPr algn="l">
              <a:lnSpc>
                <a:spcPct val="110000"/>
              </a:lnSpc>
              <a:spcBef>
                <a:spcPts val="100"/>
              </a:spcBef>
              <a:spcAft>
                <a:spcPts val="100"/>
              </a:spcAft>
            </a:pPr>
            <a:r>
              <a:rPr sz="1200">
                <a:solidFill>
                  <a:srgbClr val="000000"/>
                </a:solidFill>
                <a:latin typeface="Calibri"/>
              </a:rPr>
              <a:t>│  • No file rotation issues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Factor 12 - Admin Processes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ADMIN PROCESSES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Example Admin Tasks: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Database migrations                                 │   │</a:t>
            </a:r>
          </a:p>
          <a:p>
            <a:pPr algn="l">
              <a:lnSpc>
                <a:spcPct val="110000"/>
              </a:lnSpc>
              <a:spcBef>
                <a:spcPts val="100"/>
              </a:spcBef>
              <a:spcAft>
                <a:spcPts val="100"/>
              </a:spcAft>
            </a:pPr>
            <a:r>
              <a:rPr sz="1200">
                <a:solidFill>
                  <a:srgbClr val="000000"/>
                </a:solidFill>
                <a:latin typeface="Calibri"/>
              </a:rPr>
              <a:t>│  │  • Data seeding                                        │   │</a:t>
            </a:r>
          </a:p>
          <a:p>
            <a:pPr algn="l">
              <a:lnSpc>
                <a:spcPct val="110000"/>
              </a:lnSpc>
              <a:spcBef>
                <a:spcPts val="100"/>
              </a:spcBef>
              <a:spcAft>
                <a:spcPts val="100"/>
              </a:spcAft>
            </a:pPr>
            <a:r>
              <a:rPr sz="1200">
                <a:solidFill>
                  <a:srgbClr val="000000"/>
                </a:solidFill>
                <a:latin typeface="Calibri"/>
              </a:rPr>
              <a:t>│  │  • Health checks                                       │   │</a:t>
            </a:r>
          </a:p>
          <a:p>
            <a:pPr algn="l">
              <a:lnSpc>
                <a:spcPct val="110000"/>
              </a:lnSpc>
              <a:spcBef>
                <a:spcPts val="100"/>
              </a:spcBef>
              <a:spcAft>
                <a:spcPts val="100"/>
              </a:spcAft>
            </a:pPr>
            <a:r>
              <a:rPr sz="1200">
                <a:solidFill>
                  <a:srgbClr val="000000"/>
                </a:solidFill>
                <a:latin typeface="Calibri"/>
              </a:rPr>
              <a:t>│  │  • Report generation                                   │   │</a:t>
            </a:r>
          </a:p>
          <a:p>
            <a:pPr algn="l">
              <a:lnSpc>
                <a:spcPct val="110000"/>
              </a:lnSpc>
              <a:spcBef>
                <a:spcPts val="100"/>
              </a:spcBef>
              <a:spcAft>
                <a:spcPts val="100"/>
              </a:spcAft>
            </a:pPr>
            <a:r>
              <a:rPr sz="1200">
                <a:solidFill>
                  <a:srgbClr val="000000"/>
                </a:solidFill>
                <a:latin typeface="Calibri"/>
              </a:rPr>
              <a:t>│  │  • Data cleanup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Implementation: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Run as: npm run admin:db-migrate                   │   │</a:t>
            </a:r>
          </a:p>
          <a:p>
            <a:pPr algn="l">
              <a:lnSpc>
                <a:spcPct val="110000"/>
              </a:lnSpc>
              <a:spcBef>
                <a:spcPts val="100"/>
              </a:spcBef>
              <a:spcAft>
                <a:spcPts val="100"/>
              </a:spcAft>
            </a:pPr>
            <a:r>
              <a:rPr sz="1200">
                <a:solidFill>
                  <a:srgbClr val="000000"/>
                </a:solidFill>
                <a:latin typeface="Calibri"/>
              </a:rPr>
              <a:t>│  │  // admin/db-migrate.ts                               │   │</a:t>
            </a:r>
          </a:p>
          <a:p>
            <a:pPr algn="l">
              <a:lnSpc>
                <a:spcPct val="110000"/>
              </a:lnSpc>
              <a:spcBef>
                <a:spcPts val="100"/>
              </a:spcBef>
              <a:spcAft>
                <a:spcPts val="100"/>
              </a:spcAft>
            </a:pPr>
            <a:r>
              <a:rPr sz="1200">
                <a:solidFill>
                  <a:srgbClr val="000000"/>
                </a:solidFill>
                <a:latin typeface="Calibri"/>
              </a:rPr>
              <a:t>│  │  async function main() {                              │   │</a:t>
            </a:r>
          </a:p>
          <a:p>
            <a:pPr algn="l">
              <a:lnSpc>
                <a:spcPct val="110000"/>
              </a:lnSpc>
              <a:spcBef>
                <a:spcPts val="100"/>
              </a:spcBef>
              <a:spcAft>
                <a:spcPts val="100"/>
              </a:spcAft>
            </a:pPr>
            <a:r>
              <a:rPr sz="1200">
                <a:solidFill>
                  <a:srgbClr val="000000"/>
                </a:solidFill>
                <a:latin typeface="Calibri"/>
              </a:rPr>
              <a:t>│  │    await connectDatabase();                           │   │</a:t>
            </a:r>
          </a:p>
          <a:p>
            <a:pPr algn="l">
              <a:lnSpc>
                <a:spcPct val="110000"/>
              </a:lnSpc>
              <a:spcBef>
                <a:spcPts val="100"/>
              </a:spcBef>
              <a:spcAft>
                <a:spcPts val="100"/>
              </a:spcAft>
            </a:pPr>
            <a:r>
              <a:rPr sz="1200">
                <a:solidFill>
                  <a:srgbClr val="000000"/>
                </a:solidFill>
                <a:latin typeface="Calibri"/>
              </a:rPr>
              <a:t>│  │    await runMigrations();                             │   │</a:t>
            </a:r>
          </a:p>
          <a:p>
            <a:pPr algn="l">
              <a:lnSpc>
                <a:spcPct val="110000"/>
              </a:lnSpc>
              <a:spcBef>
                <a:spcPts val="100"/>
              </a:spcBef>
              <a:spcAft>
                <a:spcPts val="100"/>
              </a:spcAft>
            </a:pPr>
            <a:r>
              <a:rPr sz="1200">
                <a:solidFill>
                  <a:srgbClr val="000000"/>
                </a:solidFill>
                <a:latin typeface="Calibri"/>
              </a:rPr>
              <a:t>│  │    process.exit(0);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Key Principle: Same codebase, different entry point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Putting 12-Factor Together</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12-FACTOR COMPLIANT SERVICE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Codebase: One git repo                                     │</a:t>
            </a:r>
          </a:p>
          <a:p>
            <a:pPr algn="l">
              <a:lnSpc>
                <a:spcPct val="110000"/>
              </a:lnSpc>
              <a:spcBef>
                <a:spcPts val="100"/>
              </a:spcBef>
              <a:spcAft>
                <a:spcPts val="100"/>
              </a:spcAft>
            </a:pPr>
            <a:r>
              <a:rPr sz="1400">
                <a:solidFill>
                  <a:srgbClr val="000000"/>
                </a:solidFill>
                <a:latin typeface="Calibri"/>
              </a:rPr>
              <a:t>│  ✅ Dependencies: package.json (explicit)                     │</a:t>
            </a:r>
          </a:p>
          <a:p>
            <a:pPr algn="l">
              <a:lnSpc>
                <a:spcPct val="110000"/>
              </a:lnSpc>
              <a:spcBef>
                <a:spcPts val="100"/>
              </a:spcBef>
              <a:spcAft>
                <a:spcPts val="100"/>
              </a:spcAft>
            </a:pPr>
            <a:r>
              <a:rPr sz="1400">
                <a:solidFill>
                  <a:srgbClr val="000000"/>
                </a:solidFill>
                <a:latin typeface="Calibri"/>
              </a:rPr>
              <a:t>│  ✅ Config: Environment variables                             │</a:t>
            </a:r>
          </a:p>
          <a:p>
            <a:pPr algn="l">
              <a:lnSpc>
                <a:spcPct val="110000"/>
              </a:lnSpc>
              <a:spcBef>
                <a:spcPts val="100"/>
              </a:spcBef>
              <a:spcAft>
                <a:spcPts val="100"/>
              </a:spcAft>
            </a:pPr>
            <a:r>
              <a:rPr sz="1400">
                <a:solidFill>
                  <a:srgbClr val="000000"/>
                </a:solidFill>
                <a:latin typeface="Calibri"/>
              </a:rPr>
              <a:t>│  ✅ Backing Services: DATABASE_URL, REDIS_URL                 │</a:t>
            </a:r>
          </a:p>
          <a:p>
            <a:pPr algn="l">
              <a:lnSpc>
                <a:spcPct val="110000"/>
              </a:lnSpc>
              <a:spcBef>
                <a:spcPts val="100"/>
              </a:spcBef>
              <a:spcAft>
                <a:spcPts val="100"/>
              </a:spcAft>
            </a:pPr>
            <a:r>
              <a:rPr sz="1400">
                <a:solidFill>
                  <a:srgbClr val="000000"/>
                </a:solidFill>
                <a:latin typeface="Calibri"/>
              </a:rPr>
              <a:t>│  ✅ Build/Release/Run: Docker multi-stage                    │</a:t>
            </a:r>
          </a:p>
          <a:p>
            <a:pPr algn="l">
              <a:lnSpc>
                <a:spcPct val="110000"/>
              </a:lnSpc>
              <a:spcBef>
                <a:spcPts val="100"/>
              </a:spcBef>
              <a:spcAft>
                <a:spcPts val="100"/>
              </a:spcAft>
            </a:pPr>
            <a:r>
              <a:rPr sz="1400">
                <a:solidFill>
                  <a:srgbClr val="000000"/>
                </a:solidFill>
                <a:latin typeface="Calibri"/>
              </a:rPr>
              <a:t>│  ✅ Stateless: All state in backing services                  │</a:t>
            </a:r>
          </a:p>
          <a:p>
            <a:pPr algn="l">
              <a:lnSpc>
                <a:spcPct val="110000"/>
              </a:lnSpc>
              <a:spcBef>
                <a:spcPts val="100"/>
              </a:spcBef>
              <a:spcAft>
                <a:spcPts val="100"/>
              </a:spcAft>
            </a:pPr>
            <a:r>
              <a:rPr sz="1400">
                <a:solidFill>
                  <a:srgbClr val="000000"/>
                </a:solidFill>
                <a:latin typeface="Calibri"/>
              </a:rPr>
              <a:t>│  ✅ Port Binding: process.env.PORT                           │</a:t>
            </a:r>
          </a:p>
          <a:p>
            <a:pPr algn="l">
              <a:lnSpc>
                <a:spcPct val="110000"/>
              </a:lnSpc>
              <a:spcBef>
                <a:spcPts val="100"/>
              </a:spcBef>
              <a:spcAft>
                <a:spcPts val="100"/>
              </a:spcAft>
            </a:pPr>
            <a:r>
              <a:rPr sz="1400">
                <a:solidFill>
                  <a:srgbClr val="000000"/>
                </a:solidFill>
                <a:latin typeface="Calibri"/>
              </a:rPr>
              <a:t>│  ✅ Concurrency: Horizontal scaling                          │</a:t>
            </a:r>
          </a:p>
          <a:p>
            <a:pPr algn="l">
              <a:lnSpc>
                <a:spcPct val="110000"/>
              </a:lnSpc>
              <a:spcBef>
                <a:spcPts val="100"/>
              </a:spcBef>
              <a:spcAft>
                <a:spcPts val="100"/>
              </a:spcAft>
            </a:pPr>
            <a:r>
              <a:rPr sz="1400">
                <a:solidFill>
                  <a:srgbClr val="000000"/>
                </a:solidFill>
                <a:latin typeface="Calibri"/>
              </a:rPr>
              <a:t>│  ✅ Disposability: Fast start, graceful shutdown             │</a:t>
            </a:r>
          </a:p>
          <a:p>
            <a:pPr algn="l">
              <a:lnSpc>
                <a:spcPct val="110000"/>
              </a:lnSpc>
              <a:spcBef>
                <a:spcPts val="100"/>
              </a:spcBef>
              <a:spcAft>
                <a:spcPts val="100"/>
              </a:spcAft>
            </a:pPr>
            <a:r>
              <a:rPr sz="1400">
                <a:solidFill>
                  <a:srgbClr val="000000"/>
                </a:solidFill>
                <a:latin typeface="Calibri"/>
              </a:rPr>
              <a:t>│  ✅ Dev/Prod Parity: Same container image                    │</a:t>
            </a:r>
          </a:p>
          <a:p>
            <a:pPr algn="l">
              <a:lnSpc>
                <a:spcPct val="110000"/>
              </a:lnSpc>
              <a:spcBef>
                <a:spcPts val="100"/>
              </a:spcBef>
              <a:spcAft>
                <a:spcPts val="100"/>
              </a:spcAft>
            </a:pPr>
            <a:r>
              <a:rPr sz="1400">
                <a:solidFill>
                  <a:srgbClr val="000000"/>
                </a:solidFill>
                <a:latin typeface="Calibri"/>
              </a:rPr>
              <a:t>│  ✅ Logs: JSON to stdout                                     │</a:t>
            </a:r>
          </a:p>
          <a:p>
            <a:pPr algn="l">
              <a:lnSpc>
                <a:spcPct val="110000"/>
              </a:lnSpc>
              <a:spcBef>
                <a:spcPts val="100"/>
              </a:spcBef>
              <a:spcAft>
                <a:spcPts val="100"/>
              </a:spcAft>
            </a:pPr>
            <a:r>
              <a:rPr sz="1400">
                <a:solidFill>
                  <a:srgbClr val="000000"/>
                </a:solidFill>
                <a:latin typeface="Calibri"/>
              </a:rPr>
              <a:t>│  ✅ Admin: One-off scripts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PHASE 2: STRUCTURAL FOUNDATIONS (40 Slides)</a:t>
            </a:r>
          </a:p>
          <a:p>
            <a:pPr algn="l">
              <a:lnSpc>
                <a:spcPct val="110000"/>
              </a:lnSpc>
              <a:spcBef>
                <a:spcPts val="100"/>
              </a:spcBef>
              <a:spcAft>
                <a:spcPts val="100"/>
              </a:spcAft>
            </a:pPr>
            <a:r>
              <a:rPr sz="1400">
                <a:solidFill>
                  <a:srgbClr val="000000"/>
                </a:solidFill>
                <a:latin typeface="Calibri"/>
              </a:rPr>
              <a:t>### PART 2.1: Hexagonal Architecture (20 Slides)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What is Hexagonal Architecture?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HEXAGONAL ARCHITECTURE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EXTERNAL WORLD             │         │</a:t>
            </a:r>
          </a:p>
          <a:p>
            <a:pPr algn="l">
              <a:lnSpc>
                <a:spcPct val="110000"/>
              </a:lnSpc>
              <a:spcBef>
                <a:spcPts val="100"/>
              </a:spcBef>
              <a:spcAft>
                <a:spcPts val="100"/>
              </a:spcAft>
            </a:pPr>
            <a:r>
              <a:rPr sz="1200">
                <a:solidFill>
                  <a:srgbClr val="000000"/>
                </a:solidFill>
                <a:latin typeface="Calibri"/>
              </a:rPr>
              <a:t>│                    │  (HTTP, Database, Queues, etc.)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ADAPTERS               │              │</a:t>
            </a:r>
          </a:p>
          <a:p>
            <a:pPr algn="l">
              <a:lnSpc>
                <a:spcPct val="110000"/>
              </a:lnSpc>
              <a:spcBef>
                <a:spcPts val="100"/>
              </a:spcBef>
              <a:spcAft>
                <a:spcPts val="100"/>
              </a:spcAft>
            </a:pPr>
            <a:r>
              <a:rPr sz="1200">
                <a:solidFill>
                  <a:srgbClr val="000000"/>
                </a:solidFill>
                <a:latin typeface="Calibri"/>
              </a:rPr>
              <a:t>│                   │  (Controllers, Repositories, │              │</a:t>
            </a:r>
          </a:p>
          <a:p>
            <a:pPr algn="l">
              <a:lnSpc>
                <a:spcPct val="110000"/>
              </a:lnSpc>
              <a:spcBef>
                <a:spcPts val="100"/>
              </a:spcBef>
              <a:spcAft>
                <a:spcPts val="100"/>
              </a:spcAft>
            </a:pPr>
            <a:r>
              <a:rPr sz="1200">
                <a:solidFill>
                  <a:srgbClr val="000000"/>
                </a:solidFill>
                <a:latin typeface="Calibri"/>
              </a:rPr>
              <a:t>│                   │   Clients, etc.)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PORTS               │              │</a:t>
            </a:r>
          </a:p>
          <a:p>
            <a:pPr algn="l">
              <a:lnSpc>
                <a:spcPct val="110000"/>
              </a:lnSpc>
              <a:spcBef>
                <a:spcPts val="100"/>
              </a:spcBef>
              <a:spcAft>
                <a:spcPts val="100"/>
              </a:spcAft>
            </a:pPr>
            <a:r>
              <a:rPr sz="1200">
                <a:solidFill>
                  <a:srgbClr val="000000"/>
                </a:solidFill>
                <a:latin typeface="Calibri"/>
              </a:rPr>
              <a:t>│                   │  (Interfaces/Contracts)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APPLICATION CORE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DOMAIN LAYER                    │  │   │</a:t>
            </a:r>
          </a:p>
          <a:p>
            <a:pPr algn="l">
              <a:lnSpc>
                <a:spcPct val="110000"/>
              </a:lnSpc>
              <a:spcBef>
                <a:spcPts val="100"/>
              </a:spcBef>
              <a:spcAft>
                <a:spcPts val="100"/>
              </a:spcAft>
            </a:pPr>
            <a:r>
              <a:rPr sz="1200">
                <a:solidFill>
                  <a:srgbClr val="000000"/>
                </a:solidFill>
                <a:latin typeface="Calibri"/>
              </a:rPr>
              <a:t>│          │  │  (Entities, Business Logic, Rules)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APPLICATION LAYER                  │  │   │</a:t>
            </a:r>
          </a:p>
          <a:p>
            <a:pPr algn="l">
              <a:lnSpc>
                <a:spcPct val="110000"/>
              </a:lnSpc>
              <a:spcBef>
                <a:spcPts val="100"/>
              </a:spcBef>
              <a:spcAft>
                <a:spcPts val="100"/>
              </a:spcAft>
            </a:pPr>
            <a:r>
              <a:rPr sz="1200">
                <a:solidFill>
                  <a:srgbClr val="000000"/>
                </a:solidFill>
                <a:latin typeface="Calibri"/>
              </a:rPr>
              <a:t>│          │  │  (Use Cases, Commands, Queries)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Dependency Inversion Principle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DEPENDENCY INVERSION PRINCIPLE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Traditional (BAD):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UI Layer  │───▶│ Business    │───▶│  Data       │       │</a:t>
            </a:r>
          </a:p>
          <a:p>
            <a:pPr algn="l">
              <a:lnSpc>
                <a:spcPct val="110000"/>
              </a:lnSpc>
              <a:spcBef>
                <a:spcPts val="100"/>
              </a:spcBef>
              <a:spcAft>
                <a:spcPts val="100"/>
              </a:spcAft>
            </a:pPr>
            <a:r>
              <a:rPr sz="1200">
                <a:solidFill>
                  <a:srgbClr val="000000"/>
                </a:solidFill>
                <a:latin typeface="Calibri"/>
              </a:rPr>
              <a:t>│  │             │    │  Layer      │    │  Layer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Hexagonal (GOOD):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UI        │◀────────│   Ports     │◀────────│  Domain  │ │</a:t>
            </a:r>
          </a:p>
          <a:p>
            <a:pPr algn="l">
              <a:lnSpc>
                <a:spcPct val="110000"/>
              </a:lnSpc>
              <a:spcBef>
                <a:spcPts val="100"/>
              </a:spcBef>
              <a:spcAft>
                <a:spcPts val="100"/>
              </a:spcAft>
            </a:pPr>
            <a:r>
              <a:rPr sz="1200">
                <a:solidFill>
                  <a:srgbClr val="000000"/>
                </a:solidFill>
                <a:latin typeface="Calibri"/>
              </a:rPr>
              <a:t>│  │  Adapter    │         │  (Abstract) │         │  Core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Database   │─────────│   Ports     │─────────│  Domain  │ │</a:t>
            </a:r>
          </a:p>
          <a:p>
            <a:pPr algn="l">
              <a:lnSpc>
                <a:spcPct val="110000"/>
              </a:lnSpc>
              <a:spcBef>
                <a:spcPts val="100"/>
              </a:spcBef>
              <a:spcAft>
                <a:spcPts val="100"/>
              </a:spcAft>
            </a:pPr>
            <a:r>
              <a:rPr sz="1200">
                <a:solidFill>
                  <a:srgbClr val="000000"/>
                </a:solidFill>
                <a:latin typeface="Calibri"/>
              </a:rPr>
              <a:t>│  │  Adapter    │         │  (Abstract) │         │  Core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KEY: Dependencies point INWARD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Domain Entities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 Pure business logic - no infrastructure</a:t>
            </a:r>
          </a:p>
          <a:p>
            <a:pPr algn="l">
              <a:lnSpc>
                <a:spcPct val="110000"/>
              </a:lnSpc>
              <a:spcBef>
                <a:spcPts val="100"/>
              </a:spcBef>
              <a:spcAft>
                <a:spcPts val="100"/>
              </a:spcAft>
            </a:pPr>
            <a:r>
              <a:rPr sz="1200">
                <a:solidFill>
                  <a:srgbClr val="000000"/>
                </a:solidFill>
                <a:latin typeface="Calibri"/>
              </a:rPr>
              <a:t>export class User {</a:t>
            </a:r>
          </a:p>
          <a:p>
            <a:pPr algn="l">
              <a:lnSpc>
                <a:spcPct val="110000"/>
              </a:lnSpc>
              <a:spcBef>
                <a:spcPts val="100"/>
              </a:spcBef>
              <a:spcAft>
                <a:spcPts val="100"/>
              </a:spcAft>
            </a:pPr>
            <a:r>
              <a:rPr sz="1200">
                <a:solidFill>
                  <a:srgbClr val="000000"/>
                </a:solidFill>
                <a:latin typeface="Calibri"/>
              </a:rPr>
              <a:t>    private _email: string;</a:t>
            </a:r>
          </a:p>
          <a:p>
            <a:pPr algn="l">
              <a:lnSpc>
                <a:spcPct val="110000"/>
              </a:lnSpc>
              <a:spcBef>
                <a:spcPts val="100"/>
              </a:spcBef>
              <a:spcAft>
                <a:spcPts val="100"/>
              </a:spcAft>
            </a:pPr>
            <a:r>
              <a:rPr sz="1200">
                <a:solidFill>
                  <a:srgbClr val="000000"/>
                </a:solidFill>
                <a:latin typeface="Calibri"/>
              </a:rPr>
              <a:t>    private _name: string;</a:t>
            </a:r>
          </a:p>
          <a:p>
            <a:pPr algn="l">
              <a:lnSpc>
                <a:spcPct val="110000"/>
              </a:lnSpc>
              <a:spcBef>
                <a:spcPts val="100"/>
              </a:spcBef>
              <a:spcAft>
                <a:spcPts val="100"/>
              </a:spcAft>
            </a:pPr>
            <a:r>
              <a:rPr sz="1200">
                <a:solidFill>
                  <a:srgbClr val="000000"/>
                </a:solidFill>
                <a:latin typeface="Calibri"/>
              </a:rPr>
              <a:t>    private _isActive: boolean;</a:t>
            </a:r>
          </a:p>
          <a:p>
            <a:pPr algn="l">
              <a:lnSpc>
                <a:spcPct val="110000"/>
              </a:lnSpc>
              <a:spcBef>
                <a:spcPts val="100"/>
              </a:spcBef>
              <a:spcAft>
                <a:spcPts val="100"/>
              </a:spcAft>
            </a:pPr>
            <a:r>
              <a:rPr sz="1200">
                <a:solidFill>
                  <a:srgbClr val="000000"/>
                </a:solidFill>
                <a:latin typeface="Calibri"/>
              </a:rPr>
              <a:t>    constructor(email: string, name: string) {</a:t>
            </a:r>
          </a:p>
          <a:p>
            <a:pPr algn="l">
              <a:lnSpc>
                <a:spcPct val="110000"/>
              </a:lnSpc>
              <a:spcBef>
                <a:spcPts val="100"/>
              </a:spcBef>
              <a:spcAft>
                <a:spcPts val="100"/>
              </a:spcAft>
            </a:pPr>
            <a:r>
              <a:rPr sz="1200">
                <a:solidFill>
                  <a:srgbClr val="000000"/>
                </a:solidFill>
                <a:latin typeface="Calibri"/>
              </a:rPr>
              <a:t>        this.setEmail(email);</a:t>
            </a:r>
          </a:p>
          <a:p>
            <a:pPr algn="l">
              <a:lnSpc>
                <a:spcPct val="110000"/>
              </a:lnSpc>
              <a:spcBef>
                <a:spcPts val="100"/>
              </a:spcBef>
              <a:spcAft>
                <a:spcPts val="100"/>
              </a:spcAft>
            </a:pPr>
            <a:r>
              <a:rPr sz="1200">
                <a:solidFill>
                  <a:srgbClr val="000000"/>
                </a:solidFill>
                <a:latin typeface="Calibri"/>
              </a:rPr>
              <a:t>        this._name = name;</a:t>
            </a:r>
          </a:p>
          <a:p>
            <a:pPr algn="l">
              <a:lnSpc>
                <a:spcPct val="110000"/>
              </a:lnSpc>
              <a:spcBef>
                <a:spcPts val="100"/>
              </a:spcBef>
              <a:spcAft>
                <a:spcPts val="100"/>
              </a:spcAft>
            </a:pPr>
            <a:r>
              <a:rPr sz="1200">
                <a:solidFill>
                  <a:srgbClr val="000000"/>
                </a:solidFill>
                <a:latin typeface="Calibri"/>
              </a:rPr>
              <a:t>        this._isActive = true;</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Business rule: Email must be valid</a:t>
            </a:r>
          </a:p>
          <a:p>
            <a:pPr algn="l">
              <a:lnSpc>
                <a:spcPct val="110000"/>
              </a:lnSpc>
              <a:spcBef>
                <a:spcPts val="100"/>
              </a:spcBef>
              <a:spcAft>
                <a:spcPts val="100"/>
              </a:spcAft>
            </a:pPr>
            <a:r>
              <a:rPr sz="1200">
                <a:solidFill>
                  <a:srgbClr val="000000"/>
                </a:solidFill>
                <a:latin typeface="Calibri"/>
              </a:rPr>
              <a:t>    private setEmail(email: string): void {</a:t>
            </a:r>
          </a:p>
          <a:p>
            <a:pPr algn="l">
              <a:lnSpc>
                <a:spcPct val="110000"/>
              </a:lnSpc>
              <a:spcBef>
                <a:spcPts val="100"/>
              </a:spcBef>
              <a:spcAft>
                <a:spcPts val="100"/>
              </a:spcAft>
            </a:pPr>
            <a:r>
              <a:rPr sz="1200">
                <a:solidFill>
                  <a:srgbClr val="000000"/>
                </a:solidFill>
                <a:latin typeface="Calibri"/>
              </a:rPr>
              <a:t>        if (!this.isValidEmail(email)) {</a:t>
            </a:r>
          </a:p>
          <a:p>
            <a:pPr algn="l">
              <a:lnSpc>
                <a:spcPct val="110000"/>
              </a:lnSpc>
              <a:spcBef>
                <a:spcPts val="100"/>
              </a:spcBef>
              <a:spcAft>
                <a:spcPts val="100"/>
              </a:spcAft>
            </a:pPr>
            <a:r>
              <a:rPr sz="1200">
                <a:solidFill>
                  <a:srgbClr val="000000"/>
                </a:solidFill>
                <a:latin typeface="Calibri"/>
              </a:rPr>
              <a:t>            throw new Error('Invalid email format');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this._email = email;</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Business rule: Only active users can update</a:t>
            </a:r>
          </a:p>
          <a:p>
            <a:pPr algn="l">
              <a:lnSpc>
                <a:spcPct val="110000"/>
              </a:lnSpc>
              <a:spcBef>
                <a:spcPts val="100"/>
              </a:spcBef>
              <a:spcAft>
                <a:spcPts val="100"/>
              </a:spcAft>
            </a:pPr>
            <a:r>
              <a:rPr sz="1200">
                <a:solidFill>
                  <a:srgbClr val="000000"/>
                </a:solidFill>
                <a:latin typeface="Calibri"/>
              </a:rPr>
              <a:t>    updateName(newName: string): void {</a:t>
            </a:r>
          </a:p>
          <a:p>
            <a:pPr algn="l">
              <a:lnSpc>
                <a:spcPct val="110000"/>
              </a:lnSpc>
              <a:spcBef>
                <a:spcPts val="100"/>
              </a:spcBef>
              <a:spcAft>
                <a:spcPts val="100"/>
              </a:spcAft>
            </a:pPr>
            <a:r>
              <a:rPr sz="1200">
                <a:solidFill>
                  <a:srgbClr val="000000"/>
                </a:solidFill>
                <a:latin typeface="Calibri"/>
              </a:rPr>
              <a:t>        if (!this._isActive) {</a:t>
            </a:r>
          </a:p>
          <a:p>
            <a:pPr algn="l">
              <a:lnSpc>
                <a:spcPct val="110000"/>
              </a:lnSpc>
              <a:spcBef>
                <a:spcPts val="100"/>
              </a:spcBef>
              <a:spcAft>
                <a:spcPts val="100"/>
              </a:spcAft>
            </a:pPr>
            <a:r>
              <a:rPr sz="1200">
                <a:solidFill>
                  <a:srgbClr val="000000"/>
                </a:solidFill>
                <a:latin typeface="Calibri"/>
              </a:rPr>
              <a:t>            throw new Error('Cannot update inactive user');</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this._name = newName;</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private isValidEmail(email: string): boolean {</a:t>
            </a:r>
          </a:p>
          <a:p>
            <a:pPr algn="l">
              <a:lnSpc>
                <a:spcPct val="110000"/>
              </a:lnSpc>
              <a:spcBef>
                <a:spcPts val="100"/>
              </a:spcBef>
              <a:spcAft>
                <a:spcPts val="100"/>
              </a:spcAft>
            </a:pPr>
            <a:r>
              <a:rPr sz="1200">
                <a:solidFill>
                  <a:srgbClr val="000000"/>
                </a:solidFill>
                <a:latin typeface="Calibri"/>
              </a:rPr>
              <a:t>        return /^[^\s@]+@[^\s@]+\.[^\s@]+$/.test(email);</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Repository Port (Interface)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 PORT: The contract the domain depends on</a:t>
            </a:r>
          </a:p>
          <a:p>
            <a:pPr algn="l">
              <a:lnSpc>
                <a:spcPct val="110000"/>
              </a:lnSpc>
              <a:spcBef>
                <a:spcPts val="100"/>
              </a:spcBef>
              <a:spcAft>
                <a:spcPts val="100"/>
              </a:spcAft>
            </a:pPr>
            <a:r>
              <a:rPr sz="1200">
                <a:solidFill>
                  <a:srgbClr val="000000"/>
                </a:solidFill>
                <a:latin typeface="Calibri"/>
              </a:rPr>
              <a:t>export interface IUserRepository {</a:t>
            </a:r>
          </a:p>
          <a:p>
            <a:pPr algn="l">
              <a:lnSpc>
                <a:spcPct val="110000"/>
              </a:lnSpc>
              <a:spcBef>
                <a:spcPts val="100"/>
              </a:spcBef>
              <a:spcAft>
                <a:spcPts val="100"/>
              </a:spcAft>
            </a:pPr>
            <a:r>
              <a:rPr sz="1200">
                <a:solidFill>
                  <a:srgbClr val="000000"/>
                </a:solidFill>
                <a:latin typeface="Calibri"/>
              </a:rPr>
              <a:t>    save(user: User): Promise&lt;User&gt;;</a:t>
            </a:r>
          </a:p>
          <a:p>
            <a:pPr algn="l">
              <a:lnSpc>
                <a:spcPct val="110000"/>
              </a:lnSpc>
              <a:spcBef>
                <a:spcPts val="100"/>
              </a:spcBef>
              <a:spcAft>
                <a:spcPts val="100"/>
              </a:spcAft>
            </a:pPr>
            <a:r>
              <a:rPr sz="1200">
                <a:solidFill>
                  <a:srgbClr val="000000"/>
                </a:solidFill>
                <a:latin typeface="Calibri"/>
              </a:rPr>
              <a:t>    findById(id: string): Promise&lt;User | null&gt;;</a:t>
            </a:r>
          </a:p>
          <a:p>
            <a:pPr algn="l">
              <a:lnSpc>
                <a:spcPct val="110000"/>
              </a:lnSpc>
              <a:spcBef>
                <a:spcPts val="100"/>
              </a:spcBef>
              <a:spcAft>
                <a:spcPts val="100"/>
              </a:spcAft>
            </a:pPr>
            <a:r>
              <a:rPr sz="1200">
                <a:solidFill>
                  <a:srgbClr val="000000"/>
                </a:solidFill>
                <a:latin typeface="Calibri"/>
              </a:rPr>
              <a:t>    findByEmail(email: string): Promise&lt;User | null&gt;;</a:t>
            </a:r>
          </a:p>
          <a:p>
            <a:pPr algn="l">
              <a:lnSpc>
                <a:spcPct val="110000"/>
              </a:lnSpc>
              <a:spcBef>
                <a:spcPts val="100"/>
              </a:spcBef>
              <a:spcAft>
                <a:spcPts val="100"/>
              </a:spcAft>
            </a:pPr>
            <a:r>
              <a:rPr sz="1200">
                <a:solidFill>
                  <a:srgbClr val="000000"/>
                </a:solidFill>
                <a:latin typeface="Calibri"/>
              </a:rPr>
              <a:t>    delete(id: string): Promise&lt;boolean&gt;;</a:t>
            </a:r>
          </a:p>
          <a:p>
            <a:pPr algn="l">
              <a:lnSpc>
                <a:spcPct val="110000"/>
              </a:lnSpc>
              <a:spcBef>
                <a:spcPts val="100"/>
              </a:spcBef>
              <a:spcAft>
                <a:spcPts val="100"/>
              </a:spcAft>
            </a:pPr>
            <a:r>
              <a:rPr sz="1200">
                <a:solidFill>
                  <a:srgbClr val="000000"/>
                </a:solidFill>
                <a:latin typeface="Calibri"/>
              </a:rPr>
              <a:t>    existsByEmail(email: string): Promise&lt;boolean&gt;;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Implementation: PostgreSQL Adapter</a:t>
            </a:r>
          </a:p>
          <a:p>
            <a:pPr algn="l">
              <a:lnSpc>
                <a:spcPct val="110000"/>
              </a:lnSpc>
              <a:spcBef>
                <a:spcPts val="100"/>
              </a:spcBef>
              <a:spcAft>
                <a:spcPts val="100"/>
              </a:spcAft>
            </a:pPr>
            <a:r>
              <a:rPr sz="1200">
                <a:solidFill>
                  <a:srgbClr val="000000"/>
                </a:solidFill>
                <a:latin typeface="Calibri"/>
              </a:rPr>
              <a:t>export class PostgresUserRepository implements IUserRepository {</a:t>
            </a:r>
          </a:p>
          <a:p>
            <a:pPr algn="l">
              <a:lnSpc>
                <a:spcPct val="110000"/>
              </a:lnSpc>
              <a:spcBef>
                <a:spcPts val="100"/>
              </a:spcBef>
              <a:spcAft>
                <a:spcPts val="100"/>
              </a:spcAft>
            </a:pPr>
            <a:r>
              <a:rPr sz="1200">
                <a:solidFill>
                  <a:srgbClr val="000000"/>
                </a:solidFill>
                <a:latin typeface="Calibri"/>
              </a:rPr>
              <a:t>    async save(user: User): Promise&lt;User&gt; {</a:t>
            </a:r>
          </a:p>
          <a:p>
            <a:pPr algn="l">
              <a:lnSpc>
                <a:spcPct val="110000"/>
              </a:lnSpc>
              <a:spcBef>
                <a:spcPts val="100"/>
              </a:spcBef>
              <a:spcAft>
                <a:spcPts val="100"/>
              </a:spcAft>
            </a:pPr>
            <a:r>
              <a:rPr sz="1200">
                <a:solidFill>
                  <a:srgbClr val="000000"/>
                </a:solidFill>
                <a:latin typeface="Calibri"/>
              </a:rPr>
              <a:t>        const query = `</a:t>
            </a:r>
          </a:p>
          <a:p>
            <a:pPr algn="l">
              <a:lnSpc>
                <a:spcPct val="110000"/>
              </a:lnSpc>
              <a:spcBef>
                <a:spcPts val="100"/>
              </a:spcBef>
              <a:spcAft>
                <a:spcPts val="100"/>
              </a:spcAft>
            </a:pPr>
            <a:r>
              <a:rPr sz="1200">
                <a:solidFill>
                  <a:srgbClr val="000000"/>
                </a:solidFill>
                <a:latin typeface="Calibri"/>
              </a:rPr>
              <a:t>            INSERT INTO users (id, email, name, is_active)</a:t>
            </a:r>
          </a:p>
          <a:p>
            <a:pPr algn="l">
              <a:lnSpc>
                <a:spcPct val="110000"/>
              </a:lnSpc>
              <a:spcBef>
                <a:spcPts val="100"/>
              </a:spcBef>
              <a:spcAft>
                <a:spcPts val="100"/>
              </a:spcAft>
            </a:pPr>
            <a:r>
              <a:rPr sz="1200">
                <a:solidFill>
                  <a:srgbClr val="000000"/>
                </a:solidFill>
                <a:latin typeface="Calibri"/>
              </a:rPr>
              <a:t>            VALUES ($1, $2, $3, $4)</a:t>
            </a:r>
          </a:p>
          <a:p>
            <a:pPr algn="l">
              <a:lnSpc>
                <a:spcPct val="110000"/>
              </a:lnSpc>
              <a:spcBef>
                <a:spcPts val="100"/>
              </a:spcBef>
              <a:spcAft>
                <a:spcPts val="100"/>
              </a:spcAft>
            </a:pPr>
            <a:r>
              <a:rPr sz="1200">
                <a:solidFill>
                  <a:srgbClr val="000000"/>
                </a:solidFill>
                <a:latin typeface="Calibri"/>
              </a:rPr>
              <a:t>            ON CONFLICT (id) DO UPDATE</a:t>
            </a:r>
          </a:p>
          <a:p>
            <a:pPr algn="l">
              <a:lnSpc>
                <a:spcPct val="110000"/>
              </a:lnSpc>
              <a:spcBef>
                <a:spcPts val="100"/>
              </a:spcBef>
              <a:spcAft>
                <a:spcPts val="100"/>
              </a:spcAft>
            </a:pPr>
            <a:r>
              <a:rPr sz="1200">
                <a:solidFill>
                  <a:srgbClr val="000000"/>
                </a:solidFill>
                <a:latin typeface="Calibri"/>
              </a:rPr>
              <a:t>            SET email = $2, name = $3, is_active = $4</a:t>
            </a:r>
          </a:p>
          <a:p>
            <a:pPr algn="l">
              <a:lnSpc>
                <a:spcPct val="110000"/>
              </a:lnSpc>
              <a:spcBef>
                <a:spcPts val="100"/>
              </a:spcBef>
              <a:spcAft>
                <a:spcPts val="100"/>
              </a:spcAft>
            </a:pPr>
            <a:r>
              <a:rPr sz="1200">
                <a:solidFill>
                  <a:srgbClr val="000000"/>
                </a:solidFill>
                <a:latin typeface="Calibri"/>
              </a:rPr>
              <a:t>            RETURNING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const result = await this.db.query(query, [</a:t>
            </a:r>
          </a:p>
          <a:p>
            <a:pPr algn="l">
              <a:lnSpc>
                <a:spcPct val="110000"/>
              </a:lnSpc>
              <a:spcBef>
                <a:spcPts val="100"/>
              </a:spcBef>
              <a:spcAft>
                <a:spcPts val="100"/>
              </a:spcAft>
            </a:pPr>
            <a:r>
              <a:rPr sz="1200">
                <a:solidFill>
                  <a:srgbClr val="000000"/>
                </a:solidFill>
                <a:latin typeface="Calibri"/>
              </a:rPr>
              <a:t>            user.id,</a:t>
            </a:r>
          </a:p>
          <a:p>
            <a:pPr algn="l">
              <a:lnSpc>
                <a:spcPct val="110000"/>
              </a:lnSpc>
              <a:spcBef>
                <a:spcPts val="100"/>
              </a:spcBef>
              <a:spcAft>
                <a:spcPts val="100"/>
              </a:spcAft>
            </a:pPr>
            <a:r>
              <a:rPr sz="1200">
                <a:solidFill>
                  <a:srgbClr val="000000"/>
                </a:solidFill>
                <a:latin typeface="Calibri"/>
              </a:rPr>
              <a:t>            user.email,</a:t>
            </a:r>
          </a:p>
          <a:p>
            <a:pPr algn="l">
              <a:lnSpc>
                <a:spcPct val="110000"/>
              </a:lnSpc>
              <a:spcBef>
                <a:spcPts val="100"/>
              </a:spcBef>
              <a:spcAft>
                <a:spcPts val="100"/>
              </a:spcAft>
            </a:pPr>
            <a:r>
              <a:rPr sz="1200">
                <a:solidFill>
                  <a:srgbClr val="000000"/>
                </a:solidFill>
                <a:latin typeface="Calibri"/>
              </a:rPr>
              <a:t>            user.name,</a:t>
            </a:r>
          </a:p>
          <a:p>
            <a:pPr algn="l">
              <a:lnSpc>
                <a:spcPct val="110000"/>
              </a:lnSpc>
              <a:spcBef>
                <a:spcPts val="100"/>
              </a:spcBef>
              <a:spcAft>
                <a:spcPts val="100"/>
              </a:spcAft>
            </a:pPr>
            <a:r>
              <a:rPr sz="1200">
                <a:solidFill>
                  <a:srgbClr val="000000"/>
                </a:solidFill>
                <a:latin typeface="Calibri"/>
              </a:rPr>
              <a:t>            user.isActive,</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return this.mapRowToUser(result.rows[0]);</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Domain Services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 Domain Service: Orchestrates entities and business rules</a:t>
            </a:r>
          </a:p>
          <a:p>
            <a:pPr algn="l">
              <a:lnSpc>
                <a:spcPct val="110000"/>
              </a:lnSpc>
              <a:spcBef>
                <a:spcPts val="100"/>
              </a:spcBef>
              <a:spcAft>
                <a:spcPts val="100"/>
              </a:spcAft>
            </a:pPr>
            <a:r>
              <a:rPr sz="1200">
                <a:solidFill>
                  <a:srgbClr val="000000"/>
                </a:solidFill>
                <a:latin typeface="Calibri"/>
              </a:rPr>
              <a:t>export class UserDomainService {</a:t>
            </a:r>
          </a:p>
          <a:p>
            <a:pPr algn="l">
              <a:lnSpc>
                <a:spcPct val="110000"/>
              </a:lnSpc>
              <a:spcBef>
                <a:spcPts val="100"/>
              </a:spcBef>
              <a:spcAft>
                <a:spcPts val="100"/>
              </a:spcAft>
            </a:pPr>
            <a:r>
              <a:rPr sz="1200">
                <a:solidFill>
                  <a:srgbClr val="000000"/>
                </a:solidFill>
                <a:latin typeface="Calibri"/>
              </a:rPr>
              <a:t>    constructor(private readonly userRepository: IUserRepository) {}</a:t>
            </a:r>
          </a:p>
          <a:p>
            <a:pPr algn="l">
              <a:lnSpc>
                <a:spcPct val="110000"/>
              </a:lnSpc>
              <a:spcBef>
                <a:spcPts val="100"/>
              </a:spcBef>
              <a:spcAft>
                <a:spcPts val="100"/>
              </a:spcAft>
            </a:pPr>
            <a:r>
              <a:rPr sz="1200">
                <a:solidFill>
                  <a:srgbClr val="000000"/>
                </a:solidFill>
                <a:latin typeface="Calibri"/>
              </a:rPr>
              <a:t>    async registerUser(props: UserProps): Promise&lt;User&gt; {</a:t>
            </a:r>
          </a:p>
          <a:p>
            <a:pPr algn="l">
              <a:lnSpc>
                <a:spcPct val="110000"/>
              </a:lnSpc>
              <a:spcBef>
                <a:spcPts val="100"/>
              </a:spcBef>
              <a:spcAft>
                <a:spcPts val="100"/>
              </a:spcAft>
            </a:pPr>
            <a:r>
              <a:rPr sz="1200">
                <a:solidFill>
                  <a:srgbClr val="000000"/>
                </a:solidFill>
                <a:latin typeface="Calibri"/>
              </a:rPr>
              <a:t>        // 1. Check uniqueness</a:t>
            </a:r>
          </a:p>
          <a:p>
            <a:pPr algn="l">
              <a:lnSpc>
                <a:spcPct val="110000"/>
              </a:lnSpc>
              <a:spcBef>
                <a:spcPts val="100"/>
              </a:spcBef>
              <a:spcAft>
                <a:spcPts val="100"/>
              </a:spcAft>
            </a:pPr>
            <a:r>
              <a:rPr sz="1200">
                <a:solidFill>
                  <a:srgbClr val="000000"/>
                </a:solidFill>
                <a:latin typeface="Calibri"/>
              </a:rPr>
              <a:t>        if (await this.userRepository.existsByEmail(props.email)) {</a:t>
            </a:r>
          </a:p>
          <a:p>
            <a:pPr algn="l">
              <a:lnSpc>
                <a:spcPct val="110000"/>
              </a:lnSpc>
              <a:spcBef>
                <a:spcPts val="100"/>
              </a:spcBef>
              <a:spcAft>
                <a:spcPts val="100"/>
              </a:spcAft>
            </a:pPr>
            <a:r>
              <a:rPr sz="1200">
                <a:solidFill>
                  <a:srgbClr val="000000"/>
                </a:solidFill>
                <a:latin typeface="Calibri"/>
              </a:rPr>
              <a:t>            throw new Error('Email already registered');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if (await this.userRepository.existsByUsername(props.username)) {</a:t>
            </a:r>
          </a:p>
          <a:p>
            <a:pPr algn="l">
              <a:lnSpc>
                <a:spcPct val="110000"/>
              </a:lnSpc>
              <a:spcBef>
                <a:spcPts val="100"/>
              </a:spcBef>
              <a:spcAft>
                <a:spcPts val="100"/>
              </a:spcAft>
            </a:pPr>
            <a:r>
              <a:rPr sz="1200">
                <a:solidFill>
                  <a:srgbClr val="000000"/>
                </a:solidFill>
                <a:latin typeface="Calibri"/>
              </a:rPr>
              <a:t>            throw new Error('Username already taken');</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2. Create entity (business rules enforced)</a:t>
            </a:r>
          </a:p>
          <a:p>
            <a:pPr algn="l">
              <a:lnSpc>
                <a:spcPct val="110000"/>
              </a:lnSpc>
              <a:spcBef>
                <a:spcPts val="100"/>
              </a:spcBef>
              <a:spcAft>
                <a:spcPts val="100"/>
              </a:spcAft>
            </a:pPr>
            <a:r>
              <a:rPr sz="1200">
                <a:solidFill>
                  <a:srgbClr val="000000"/>
                </a:solidFill>
                <a:latin typeface="Calibri"/>
              </a:rPr>
              <a:t>        const user = new User(props);</a:t>
            </a:r>
          </a:p>
          <a:p>
            <a:pPr algn="l">
              <a:lnSpc>
                <a:spcPct val="110000"/>
              </a:lnSpc>
              <a:spcBef>
                <a:spcPts val="100"/>
              </a:spcBef>
              <a:spcAft>
                <a:spcPts val="100"/>
              </a:spcAft>
            </a:pPr>
            <a:r>
              <a:rPr sz="1200">
                <a:solidFill>
                  <a:srgbClr val="000000"/>
                </a:solidFill>
                <a:latin typeface="Calibri"/>
              </a:rPr>
              <a:t>        // 3. Save</a:t>
            </a:r>
          </a:p>
          <a:p>
            <a:pPr algn="l">
              <a:lnSpc>
                <a:spcPct val="110000"/>
              </a:lnSpc>
              <a:spcBef>
                <a:spcPts val="100"/>
              </a:spcBef>
              <a:spcAft>
                <a:spcPts val="100"/>
              </a:spcAft>
            </a:pPr>
            <a:r>
              <a:rPr sz="1200">
                <a:solidFill>
                  <a:srgbClr val="000000"/>
                </a:solidFill>
                <a:latin typeface="Calibri"/>
              </a:rPr>
              <a:t>        return await this.userRepository.save(user);</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async deactivateUser(id: string): Promise&lt;void&gt; {</a:t>
            </a:r>
          </a:p>
          <a:p>
            <a:pPr algn="l">
              <a:lnSpc>
                <a:spcPct val="110000"/>
              </a:lnSpc>
              <a:spcBef>
                <a:spcPts val="100"/>
              </a:spcBef>
              <a:spcAft>
                <a:spcPts val="100"/>
              </a:spcAft>
            </a:pPr>
            <a:r>
              <a:rPr sz="1200">
                <a:solidFill>
                  <a:srgbClr val="000000"/>
                </a:solidFill>
                <a:latin typeface="Calibri"/>
              </a:rPr>
              <a:t>        const user = await this.userRepository.findById(id);</a:t>
            </a:r>
          </a:p>
          <a:p>
            <a:pPr algn="l">
              <a:lnSpc>
                <a:spcPct val="110000"/>
              </a:lnSpc>
              <a:spcBef>
                <a:spcPts val="100"/>
              </a:spcBef>
              <a:spcAft>
                <a:spcPts val="100"/>
              </a:spcAft>
            </a:pPr>
            <a:r>
              <a:rPr sz="1200">
                <a:solidFill>
                  <a:srgbClr val="000000"/>
                </a:solidFill>
                <a:latin typeface="Calibri"/>
              </a:rPr>
              <a:t>        if (!user) {</a:t>
            </a:r>
          </a:p>
          <a:p>
            <a:pPr algn="l">
              <a:lnSpc>
                <a:spcPct val="110000"/>
              </a:lnSpc>
              <a:spcBef>
                <a:spcPts val="100"/>
              </a:spcBef>
              <a:spcAft>
                <a:spcPts val="100"/>
              </a:spcAft>
            </a:pPr>
            <a:r>
              <a:rPr sz="1200">
                <a:solidFill>
                  <a:srgbClr val="000000"/>
                </a:solidFill>
                <a:latin typeface="Calibri"/>
              </a:rPr>
              <a:t>            throw new Error('User not found');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Business rule: Can't deactivate twice</a:t>
            </a:r>
          </a:p>
          <a:p>
            <a:pPr algn="l">
              <a:lnSpc>
                <a:spcPct val="110000"/>
              </a:lnSpc>
              <a:spcBef>
                <a:spcPts val="100"/>
              </a:spcBef>
              <a:spcAft>
                <a:spcPts val="100"/>
              </a:spcAft>
            </a:pPr>
            <a:r>
              <a:rPr sz="1200">
                <a:solidFill>
                  <a:srgbClr val="000000"/>
                </a:solidFill>
                <a:latin typeface="Calibri"/>
              </a:rPr>
              <a:t>        user.deactivate();</a:t>
            </a:r>
          </a:p>
          <a:p>
            <a:pPr algn="l">
              <a:lnSpc>
                <a:spcPct val="110000"/>
              </a:lnSpc>
              <a:spcBef>
                <a:spcPts val="100"/>
              </a:spcBef>
              <a:spcAft>
                <a:spcPts val="100"/>
              </a:spcAft>
            </a:pPr>
            <a:r>
              <a:rPr sz="1200">
                <a:solidFill>
                  <a:srgbClr val="000000"/>
                </a:solidFill>
                <a:latin typeface="Calibri"/>
              </a:rPr>
              <a:t>        await this.userRepository.save(user);</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CQRS - Commands and Queries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CQRS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    ┌──────────────────────────┐  │</a:t>
            </a:r>
          </a:p>
          <a:p>
            <a:pPr algn="l">
              <a:lnSpc>
                <a:spcPct val="110000"/>
              </a:lnSpc>
              <a:spcBef>
                <a:spcPts val="100"/>
              </a:spcBef>
              <a:spcAft>
                <a:spcPts val="100"/>
              </a:spcAft>
            </a:pPr>
            <a:r>
              <a:rPr sz="1400">
                <a:solidFill>
                  <a:srgbClr val="000000"/>
                </a:solidFill>
                <a:latin typeface="Calibri"/>
              </a:rPr>
              <a:t>│  │    COMMAND SIDE          │    │    QUERY SIDE            │  │</a:t>
            </a:r>
          </a:p>
          <a:p>
            <a:pPr algn="l">
              <a:lnSpc>
                <a:spcPct val="110000"/>
              </a:lnSpc>
              <a:spcBef>
                <a:spcPts val="100"/>
              </a:spcBef>
              <a:spcAft>
                <a:spcPts val="100"/>
              </a:spcAft>
            </a:pPr>
            <a:r>
              <a:rPr sz="1400">
                <a:solidFill>
                  <a:srgbClr val="000000"/>
                </a:solidFill>
                <a:latin typeface="Calibri"/>
              </a:rPr>
              <a:t>│  │    (Write)               │    │    (Read)                │  │</a:t>
            </a:r>
          </a:p>
          <a:p>
            <a:pPr algn="l">
              <a:lnSpc>
                <a:spcPct val="110000"/>
              </a:lnSpc>
              <a:spcBef>
                <a:spcPts val="100"/>
              </a:spcBef>
              <a:spcAft>
                <a:spcPts val="100"/>
              </a:spcAft>
            </a:pPr>
            <a:r>
              <a:rPr sz="1400">
                <a:solidFill>
                  <a:srgbClr val="000000"/>
                </a:solidFill>
                <a:latin typeface="Calibri"/>
              </a:rPr>
              <a:t>│  ├──────────────────────────┤    ├──────────────────────────┤  │</a:t>
            </a:r>
          </a:p>
          <a:p>
            <a:pPr algn="l">
              <a:lnSpc>
                <a:spcPct val="110000"/>
              </a:lnSpc>
              <a:spcBef>
                <a:spcPts val="100"/>
              </a:spcBef>
              <a:spcAft>
                <a:spcPts val="100"/>
              </a:spcAft>
            </a:pPr>
            <a:r>
              <a:rPr sz="1400">
                <a:solidFill>
                  <a:srgbClr val="000000"/>
                </a:solidFill>
                <a:latin typeface="Calibri"/>
              </a:rPr>
              <a:t>│  │  • Commands             │    │  • Queries              │  │</a:t>
            </a:r>
          </a:p>
          <a:p>
            <a:pPr algn="l">
              <a:lnSpc>
                <a:spcPct val="110000"/>
              </a:lnSpc>
              <a:spcBef>
                <a:spcPts val="100"/>
              </a:spcBef>
              <a:spcAft>
                <a:spcPts val="100"/>
              </a:spcAft>
            </a:pPr>
            <a:r>
              <a:rPr sz="1400">
                <a:solidFill>
                  <a:srgbClr val="000000"/>
                </a:solidFill>
                <a:latin typeface="Calibri"/>
              </a:rPr>
              <a:t>│  │  • Validates input      │    │  • Optimized for reads  │  │</a:t>
            </a:r>
          </a:p>
          <a:p>
            <a:pPr algn="l">
              <a:lnSpc>
                <a:spcPct val="110000"/>
              </a:lnSpc>
              <a:spcBef>
                <a:spcPts val="100"/>
              </a:spcBef>
              <a:spcAft>
                <a:spcPts val="100"/>
              </a:spcAft>
            </a:pPr>
            <a:r>
              <a:rPr sz="1400">
                <a:solidFill>
                  <a:srgbClr val="000000"/>
                </a:solidFill>
                <a:latin typeface="Calibri"/>
              </a:rPr>
              <a:t>│  │  • Business logic       │    │  • Denormalized data    │  │</a:t>
            </a:r>
          </a:p>
          <a:p>
            <a:pPr algn="l">
              <a:lnSpc>
                <a:spcPct val="110000"/>
              </a:lnSpc>
              <a:spcBef>
                <a:spcPts val="100"/>
              </a:spcBef>
              <a:spcAft>
                <a:spcPts val="100"/>
              </a:spcAft>
            </a:pPr>
            <a:r>
              <a:rPr sz="1400">
                <a:solidFill>
                  <a:srgbClr val="000000"/>
                </a:solidFill>
                <a:latin typeface="Calibri"/>
              </a:rPr>
              <a:t>│  │  • Produces events      │    │  • Fast responses       │  │</a:t>
            </a:r>
          </a:p>
          <a:p>
            <a:pPr algn="l">
              <a:lnSpc>
                <a:spcPct val="110000"/>
              </a:lnSpc>
              <a:spcBef>
                <a:spcPts val="100"/>
              </a:spcBef>
              <a:spcAft>
                <a:spcPts val="100"/>
              </a:spcAft>
            </a:pPr>
            <a:r>
              <a:rPr sz="1400">
                <a:solidFill>
                  <a:srgbClr val="000000"/>
                </a:solidFill>
                <a:latin typeface="Calibri"/>
              </a:rPr>
              <a:t>│  └──────────────────────────┘    └──────────────────────────┘  │</a:t>
            </a:r>
          </a:p>
          <a:p>
            <a:pPr algn="l">
              <a:lnSpc>
                <a:spcPct val="110000"/>
              </a:lnSpc>
              <a:spcBef>
                <a:spcPts val="100"/>
              </a:spcBef>
              <a:spcAft>
                <a:spcPts val="100"/>
              </a:spcAft>
            </a:pPr>
            <a:r>
              <a:rPr sz="1400">
                <a:solidFill>
                  <a:srgbClr val="000000"/>
                </a:solidFill>
                <a:latin typeface="Calibri"/>
              </a:rPr>
              <a:t>│         │                              ▲                       │</a:t>
            </a:r>
          </a:p>
          <a:p>
            <a:pPr algn="l">
              <a:lnSpc>
                <a:spcPct val="110000"/>
              </a:lnSpc>
              <a:spcBef>
                <a:spcPts val="100"/>
              </a:spcBef>
              <a:spcAft>
                <a:spcPts val="100"/>
              </a:spcAft>
            </a:pPr>
            <a:r>
              <a:rPr sz="1400">
                <a:solidFill>
                  <a:srgbClr val="000000"/>
                </a:solidFill>
                <a:latin typeface="Calibri"/>
              </a:rPr>
              <a:t>│         ▼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  │              EVENT STORE                               │   │</a:t>
            </a:r>
          </a:p>
          <a:p>
            <a:pPr algn="l">
              <a:lnSpc>
                <a:spcPct val="110000"/>
              </a:lnSpc>
              <a:spcBef>
                <a:spcPts val="100"/>
              </a:spcBef>
              <a:spcAft>
                <a:spcPts val="100"/>
              </a:spcAft>
            </a:pPr>
            <a:r>
              <a:rPr sz="1400">
                <a:solidFill>
                  <a:srgbClr val="000000"/>
                </a:solidFill>
                <a:latin typeface="Calibri"/>
              </a:rPr>
              <a:t>│  │  (Source of truth - immutable event log)              │   │</a:t>
            </a:r>
          </a:p>
          <a:p>
            <a:pPr algn="l">
              <a:lnSpc>
                <a:spcPct val="110000"/>
              </a:lnSpc>
              <a:spcBef>
                <a:spcPts val="100"/>
              </a:spcBef>
              <a:spcAft>
                <a:spcPts val="100"/>
              </a:spcAft>
            </a:pPr>
            <a:r>
              <a:rPr sz="1400">
                <a:solidFill>
                  <a:srgbClr val="000000"/>
                </a:solidFill>
                <a:latin typeface="Calibri"/>
              </a:rPr>
              <a:t>│  └─────────────────────────────────────────────────────────┘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Commands Example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 Command: Represents user intention</a:t>
            </a:r>
          </a:p>
          <a:p>
            <a:pPr algn="l">
              <a:lnSpc>
                <a:spcPct val="110000"/>
              </a:lnSpc>
              <a:spcBef>
                <a:spcPts val="100"/>
              </a:spcBef>
              <a:spcAft>
                <a:spcPts val="100"/>
              </a:spcAft>
            </a:pPr>
            <a:r>
              <a:rPr sz="1200">
                <a:solidFill>
                  <a:srgbClr val="000000"/>
                </a:solidFill>
                <a:latin typeface="Calibri"/>
              </a:rPr>
              <a:t>export class CreateUserCommand {</a:t>
            </a:r>
          </a:p>
          <a:p>
            <a:pPr algn="l">
              <a:lnSpc>
                <a:spcPct val="110000"/>
              </a:lnSpc>
              <a:spcBef>
                <a:spcPts val="100"/>
              </a:spcBef>
              <a:spcAft>
                <a:spcPts val="100"/>
              </a:spcAft>
            </a:pPr>
            <a:r>
              <a:rPr sz="1200">
                <a:solidFill>
                  <a:srgbClr val="000000"/>
                </a:solidFill>
                <a:latin typeface="Calibri"/>
              </a:rPr>
              <a:t>    public readonly email: string;</a:t>
            </a:r>
          </a:p>
          <a:p>
            <a:pPr algn="l">
              <a:lnSpc>
                <a:spcPct val="110000"/>
              </a:lnSpc>
              <a:spcBef>
                <a:spcPts val="100"/>
              </a:spcBef>
              <a:spcAft>
                <a:spcPts val="100"/>
              </a:spcAft>
            </a:pPr>
            <a:r>
              <a:rPr sz="1200">
                <a:solidFill>
                  <a:srgbClr val="000000"/>
                </a:solidFill>
                <a:latin typeface="Calibri"/>
              </a:rPr>
              <a:t>    public readonly username: string;</a:t>
            </a:r>
          </a:p>
          <a:p>
            <a:pPr algn="l">
              <a:lnSpc>
                <a:spcPct val="110000"/>
              </a:lnSpc>
              <a:spcBef>
                <a:spcPts val="100"/>
              </a:spcBef>
              <a:spcAft>
                <a:spcPts val="100"/>
              </a:spcAft>
            </a:pPr>
            <a:r>
              <a:rPr sz="1200">
                <a:solidFill>
                  <a:srgbClr val="000000"/>
                </a:solidFill>
                <a:latin typeface="Calibri"/>
              </a:rPr>
              <a:t>    public readonly name: string;</a:t>
            </a:r>
          </a:p>
          <a:p>
            <a:pPr algn="l">
              <a:lnSpc>
                <a:spcPct val="110000"/>
              </a:lnSpc>
              <a:spcBef>
                <a:spcPts val="100"/>
              </a:spcBef>
              <a:spcAft>
                <a:spcPts val="100"/>
              </a:spcAft>
            </a:pPr>
            <a:r>
              <a:rPr sz="1200">
                <a:solidFill>
                  <a:srgbClr val="000000"/>
                </a:solidFill>
                <a:latin typeface="Calibri"/>
              </a:rPr>
              <a:t>    private constructor(props: { email: string; username: string; name: string }) {</a:t>
            </a:r>
          </a:p>
          <a:p>
            <a:pPr algn="l">
              <a:lnSpc>
                <a:spcPct val="110000"/>
              </a:lnSpc>
              <a:spcBef>
                <a:spcPts val="100"/>
              </a:spcBef>
              <a:spcAft>
                <a:spcPts val="100"/>
              </a:spcAft>
            </a:pPr>
            <a:r>
              <a:rPr sz="1200">
                <a:solidFill>
                  <a:srgbClr val="000000"/>
                </a:solidFill>
                <a:latin typeface="Calibri"/>
              </a:rPr>
              <a:t>        this.email = props.email;</a:t>
            </a:r>
          </a:p>
          <a:p>
            <a:pPr algn="l">
              <a:lnSpc>
                <a:spcPct val="110000"/>
              </a:lnSpc>
              <a:spcBef>
                <a:spcPts val="100"/>
              </a:spcBef>
              <a:spcAft>
                <a:spcPts val="100"/>
              </a:spcAft>
            </a:pPr>
            <a:r>
              <a:rPr sz="1200">
                <a:solidFill>
                  <a:srgbClr val="000000"/>
                </a:solidFill>
                <a:latin typeface="Calibri"/>
              </a:rPr>
              <a:t>        this.username = props.username;</a:t>
            </a:r>
          </a:p>
          <a:p>
            <a:pPr algn="l">
              <a:lnSpc>
                <a:spcPct val="110000"/>
              </a:lnSpc>
              <a:spcBef>
                <a:spcPts val="100"/>
              </a:spcBef>
              <a:spcAft>
                <a:spcPts val="100"/>
              </a:spcAft>
            </a:pPr>
            <a:r>
              <a:rPr sz="1200">
                <a:solidFill>
                  <a:srgbClr val="000000"/>
                </a:solidFill>
                <a:latin typeface="Calibri"/>
              </a:rPr>
              <a:t>        this.name = props.name;</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Factory with validation</a:t>
            </a:r>
          </a:p>
          <a:p>
            <a:pPr algn="l">
              <a:lnSpc>
                <a:spcPct val="110000"/>
              </a:lnSpc>
              <a:spcBef>
                <a:spcPts val="100"/>
              </a:spcBef>
              <a:spcAft>
                <a:spcPts val="100"/>
              </a:spcAft>
            </a:pPr>
            <a:r>
              <a:rPr sz="1200">
                <a:solidFill>
                  <a:srgbClr val="000000"/>
                </a:solidFill>
                <a:latin typeface="Calibri"/>
              </a:rPr>
              <a:t>    static create(data: unknown): CreateUserCommand {</a:t>
            </a:r>
          </a:p>
          <a:p>
            <a:pPr algn="l">
              <a:lnSpc>
                <a:spcPct val="110000"/>
              </a:lnSpc>
              <a:spcBef>
                <a:spcPts val="100"/>
              </a:spcBef>
              <a:spcAft>
                <a:spcPts val="100"/>
              </a:spcAft>
            </a:pPr>
            <a:r>
              <a:rPr sz="1200">
                <a:solidFill>
                  <a:srgbClr val="000000"/>
                </a:solidFill>
                <a:latin typeface="Calibri"/>
              </a:rPr>
              <a:t>        const schema = z.object({</a:t>
            </a:r>
          </a:p>
          <a:p>
            <a:pPr algn="l">
              <a:lnSpc>
                <a:spcPct val="110000"/>
              </a:lnSpc>
              <a:spcBef>
                <a:spcPts val="100"/>
              </a:spcBef>
              <a:spcAft>
                <a:spcPts val="100"/>
              </a:spcAft>
            </a:pPr>
            <a:r>
              <a:rPr sz="1200">
                <a:solidFill>
                  <a:srgbClr val="000000"/>
                </a:solidFill>
                <a:latin typeface="Calibri"/>
              </a:rPr>
              <a:t>            email: z.string().email(),</a:t>
            </a:r>
          </a:p>
          <a:p>
            <a:pPr algn="l">
              <a:lnSpc>
                <a:spcPct val="110000"/>
              </a:lnSpc>
              <a:spcBef>
                <a:spcPts val="100"/>
              </a:spcBef>
              <a:spcAft>
                <a:spcPts val="100"/>
              </a:spcAft>
            </a:pPr>
            <a:r>
              <a:rPr sz="1200">
                <a:solidFill>
                  <a:srgbClr val="000000"/>
                </a:solidFill>
                <a:latin typeface="Calibri"/>
              </a:rPr>
              <a:t>            username: z.string().min(3).max(30),</a:t>
            </a:r>
          </a:p>
          <a:p>
            <a:pPr algn="l">
              <a:lnSpc>
                <a:spcPct val="110000"/>
              </a:lnSpc>
              <a:spcBef>
                <a:spcPts val="100"/>
              </a:spcBef>
              <a:spcAft>
                <a:spcPts val="100"/>
              </a:spcAft>
            </a:pPr>
            <a:r>
              <a:rPr sz="1200">
                <a:solidFill>
                  <a:srgbClr val="000000"/>
                </a:solidFill>
                <a:latin typeface="Calibri"/>
              </a:rPr>
              <a:t>            name: z.string().min(1).max(100),</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const validated = schema.parse(data);</a:t>
            </a:r>
          </a:p>
          <a:p>
            <a:pPr algn="l">
              <a:lnSpc>
                <a:spcPct val="110000"/>
              </a:lnSpc>
              <a:spcBef>
                <a:spcPts val="100"/>
              </a:spcBef>
              <a:spcAft>
                <a:spcPts val="100"/>
              </a:spcAft>
            </a:pPr>
            <a:r>
              <a:rPr sz="1200">
                <a:solidFill>
                  <a:srgbClr val="000000"/>
                </a:solidFill>
                <a:latin typeface="Calibri"/>
              </a:rPr>
              <a:t>        return new CreateUserCommand(validated);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Command Handler</a:t>
            </a:r>
          </a:p>
          <a:p>
            <a:pPr algn="l">
              <a:lnSpc>
                <a:spcPct val="110000"/>
              </a:lnSpc>
              <a:spcBef>
                <a:spcPts val="100"/>
              </a:spcBef>
              <a:spcAft>
                <a:spcPts val="100"/>
              </a:spcAft>
            </a:pPr>
            <a:r>
              <a:rPr sz="1200">
                <a:solidFill>
                  <a:srgbClr val="000000"/>
                </a:solidFill>
                <a:latin typeface="Calibri"/>
              </a:rPr>
              <a:t>export class UserCommandHandler {</a:t>
            </a:r>
          </a:p>
          <a:p>
            <a:pPr algn="l">
              <a:lnSpc>
                <a:spcPct val="110000"/>
              </a:lnSpc>
              <a:spcBef>
                <a:spcPts val="100"/>
              </a:spcBef>
              <a:spcAft>
                <a:spcPts val="100"/>
              </a:spcAft>
            </a:pPr>
            <a:r>
              <a:rPr sz="1200">
                <a:solidFill>
                  <a:srgbClr val="000000"/>
                </a:solidFill>
                <a:latin typeface="Calibri"/>
              </a:rPr>
              <a:t>    constructor(private readonly userService: UserDomainService) {}</a:t>
            </a:r>
          </a:p>
          <a:p>
            <a:pPr algn="l">
              <a:lnSpc>
                <a:spcPct val="110000"/>
              </a:lnSpc>
              <a:spcBef>
                <a:spcPts val="100"/>
              </a:spcBef>
              <a:spcAft>
                <a:spcPts val="100"/>
              </a:spcAft>
            </a:pPr>
            <a:r>
              <a:rPr sz="1200">
                <a:solidFill>
                  <a:srgbClr val="000000"/>
                </a:solidFill>
                <a:latin typeface="Calibri"/>
              </a:rPr>
              <a:t>    async handleCreateUser(command: CreateUserCommand): Promise&lt;User&gt; {</a:t>
            </a:r>
          </a:p>
          <a:p>
            <a:pPr algn="l">
              <a:lnSpc>
                <a:spcPct val="110000"/>
              </a:lnSpc>
              <a:spcBef>
                <a:spcPts val="100"/>
              </a:spcBef>
              <a:spcAft>
                <a:spcPts val="100"/>
              </a:spcAft>
            </a:pPr>
            <a:r>
              <a:rPr sz="1200">
                <a:solidFill>
                  <a:srgbClr val="000000"/>
                </a:solidFill>
                <a:latin typeface="Calibri"/>
              </a:rPr>
              <a:t>        return await this.userService.registerUser({</a:t>
            </a:r>
          </a:p>
          <a:p>
            <a:pPr algn="l">
              <a:lnSpc>
                <a:spcPct val="110000"/>
              </a:lnSpc>
              <a:spcBef>
                <a:spcPts val="100"/>
              </a:spcBef>
              <a:spcAft>
                <a:spcPts val="100"/>
              </a:spcAft>
            </a:pPr>
            <a:r>
              <a:rPr sz="1200">
                <a:solidFill>
                  <a:srgbClr val="000000"/>
                </a:solidFill>
                <a:latin typeface="Calibri"/>
              </a:rPr>
              <a:t>            email: command.email,</a:t>
            </a:r>
          </a:p>
          <a:p>
            <a:pPr algn="l">
              <a:lnSpc>
                <a:spcPct val="110000"/>
              </a:lnSpc>
              <a:spcBef>
                <a:spcPts val="100"/>
              </a:spcBef>
              <a:spcAft>
                <a:spcPts val="100"/>
              </a:spcAft>
            </a:pPr>
            <a:r>
              <a:rPr sz="1200">
                <a:solidFill>
                  <a:srgbClr val="000000"/>
                </a:solidFill>
                <a:latin typeface="Calibri"/>
              </a:rPr>
              <a:t>            username: command.username,</a:t>
            </a:r>
          </a:p>
          <a:p>
            <a:pPr algn="l">
              <a:lnSpc>
                <a:spcPct val="110000"/>
              </a:lnSpc>
              <a:spcBef>
                <a:spcPts val="100"/>
              </a:spcBef>
              <a:spcAft>
                <a:spcPts val="100"/>
              </a:spcAft>
            </a:pPr>
            <a:r>
              <a:rPr sz="1200">
                <a:solidFill>
                  <a:srgbClr val="000000"/>
                </a:solidFill>
                <a:latin typeface="Calibri"/>
              </a:rPr>
              <a:t>            name: command.name,</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Queries Example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 Query: Represents a read operation</a:t>
            </a:r>
          </a:p>
          <a:p>
            <a:pPr algn="l">
              <a:lnSpc>
                <a:spcPct val="110000"/>
              </a:lnSpc>
              <a:spcBef>
                <a:spcPts val="100"/>
              </a:spcBef>
              <a:spcAft>
                <a:spcPts val="100"/>
              </a:spcAft>
            </a:pPr>
            <a:r>
              <a:rPr sz="1200">
                <a:solidFill>
                  <a:srgbClr val="000000"/>
                </a:solidFill>
                <a:latin typeface="Calibri"/>
              </a:rPr>
              <a:t>export class GetUserQuery {</a:t>
            </a:r>
          </a:p>
          <a:p>
            <a:pPr algn="l">
              <a:lnSpc>
                <a:spcPct val="110000"/>
              </a:lnSpc>
              <a:spcBef>
                <a:spcPts val="100"/>
              </a:spcBef>
              <a:spcAft>
                <a:spcPts val="100"/>
              </a:spcAft>
            </a:pPr>
            <a:r>
              <a:rPr sz="1200">
                <a:solidFill>
                  <a:srgbClr val="000000"/>
                </a:solidFill>
                <a:latin typeface="Calibri"/>
              </a:rPr>
              <a:t>    public readonly userId: string;</a:t>
            </a:r>
          </a:p>
          <a:p>
            <a:pPr algn="l">
              <a:lnSpc>
                <a:spcPct val="110000"/>
              </a:lnSpc>
              <a:spcBef>
                <a:spcPts val="100"/>
              </a:spcBef>
              <a:spcAft>
                <a:spcPts val="100"/>
              </a:spcAft>
            </a:pPr>
            <a:r>
              <a:rPr sz="1200">
                <a:solidFill>
                  <a:srgbClr val="000000"/>
                </a:solidFill>
                <a:latin typeface="Calibri"/>
              </a:rPr>
              <a:t>    private constructor(userId: string) {</a:t>
            </a:r>
          </a:p>
          <a:p>
            <a:pPr algn="l">
              <a:lnSpc>
                <a:spcPct val="110000"/>
              </a:lnSpc>
              <a:spcBef>
                <a:spcPts val="100"/>
              </a:spcBef>
              <a:spcAft>
                <a:spcPts val="100"/>
              </a:spcAft>
            </a:pPr>
            <a:r>
              <a:rPr sz="1200">
                <a:solidFill>
                  <a:srgbClr val="000000"/>
                </a:solidFill>
                <a:latin typeface="Calibri"/>
              </a:rPr>
              <a:t>        this.userId = userId;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static create(data: unknown): GetUserQuery {</a:t>
            </a:r>
          </a:p>
          <a:p>
            <a:pPr algn="l">
              <a:lnSpc>
                <a:spcPct val="110000"/>
              </a:lnSpc>
              <a:spcBef>
                <a:spcPts val="100"/>
              </a:spcBef>
              <a:spcAft>
                <a:spcPts val="100"/>
              </a:spcAft>
            </a:pPr>
            <a:r>
              <a:rPr sz="1200">
                <a:solidFill>
                  <a:srgbClr val="000000"/>
                </a:solidFill>
                <a:latin typeface="Calibri"/>
              </a:rPr>
              <a:t>        const schema = z.object({</a:t>
            </a:r>
          </a:p>
          <a:p>
            <a:pPr algn="l">
              <a:lnSpc>
                <a:spcPct val="110000"/>
              </a:lnSpc>
              <a:spcBef>
                <a:spcPts val="100"/>
              </a:spcBef>
              <a:spcAft>
                <a:spcPts val="100"/>
              </a:spcAft>
            </a:pPr>
            <a:r>
              <a:rPr sz="1200">
                <a:solidFill>
                  <a:srgbClr val="000000"/>
                </a:solidFill>
                <a:latin typeface="Calibri"/>
              </a:rPr>
              <a:t>            userId: z.string().uuid(),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const validated = schema.parse(data);</a:t>
            </a:r>
          </a:p>
          <a:p>
            <a:pPr algn="l">
              <a:lnSpc>
                <a:spcPct val="110000"/>
              </a:lnSpc>
              <a:spcBef>
                <a:spcPts val="100"/>
              </a:spcBef>
              <a:spcAft>
                <a:spcPts val="100"/>
              </a:spcAft>
            </a:pPr>
            <a:r>
              <a:rPr sz="1200">
                <a:solidFill>
                  <a:srgbClr val="000000"/>
                </a:solidFill>
                <a:latin typeface="Calibri"/>
              </a:rPr>
              <a:t>        return new GetUserQuery(validated.userId);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Query Handler (uses read model)</a:t>
            </a:r>
          </a:p>
          <a:p>
            <a:pPr algn="l">
              <a:lnSpc>
                <a:spcPct val="110000"/>
              </a:lnSpc>
              <a:spcBef>
                <a:spcPts val="100"/>
              </a:spcBef>
              <a:spcAft>
                <a:spcPts val="100"/>
              </a:spcAft>
            </a:pPr>
            <a:r>
              <a:rPr sz="1200">
                <a:solidFill>
                  <a:srgbClr val="000000"/>
                </a:solidFill>
                <a:latin typeface="Calibri"/>
              </a:rPr>
              <a:t>export class UserQueryHandler {</a:t>
            </a:r>
          </a:p>
          <a:p>
            <a:pPr algn="l">
              <a:lnSpc>
                <a:spcPct val="110000"/>
              </a:lnSpc>
              <a:spcBef>
                <a:spcPts val="100"/>
              </a:spcBef>
              <a:spcAft>
                <a:spcPts val="100"/>
              </a:spcAft>
            </a:pPr>
            <a:r>
              <a:rPr sz="1200">
                <a:solidFill>
                  <a:srgbClr val="000000"/>
                </a:solidFill>
                <a:latin typeface="Calibri"/>
              </a:rPr>
              <a:t>    constructor(private readonly userReadModel: UserReadModel) {}</a:t>
            </a:r>
          </a:p>
          <a:p>
            <a:pPr algn="l">
              <a:lnSpc>
                <a:spcPct val="110000"/>
              </a:lnSpc>
              <a:spcBef>
                <a:spcPts val="100"/>
              </a:spcBef>
              <a:spcAft>
                <a:spcPts val="100"/>
              </a:spcAft>
            </a:pPr>
            <a:r>
              <a:rPr sz="1200">
                <a:solidFill>
                  <a:srgbClr val="000000"/>
                </a:solidFill>
                <a:latin typeface="Calibri"/>
              </a:rPr>
              <a:t>    async handleGetUser(query: GetUserQuery): Promise&lt;UserDTO | null&gt; {</a:t>
            </a:r>
          </a:p>
          <a:p>
            <a:pPr algn="l">
              <a:lnSpc>
                <a:spcPct val="110000"/>
              </a:lnSpc>
              <a:spcBef>
                <a:spcPts val="100"/>
              </a:spcBef>
              <a:spcAft>
                <a:spcPts val="100"/>
              </a:spcAft>
            </a:pPr>
            <a:r>
              <a:rPr sz="1200">
                <a:solidFill>
                  <a:srgbClr val="000000"/>
                </a:solidFill>
                <a:latin typeface="Calibri"/>
              </a:rPr>
              <a:t>        // Read from optimized read model</a:t>
            </a:r>
          </a:p>
          <a:p>
            <a:pPr algn="l">
              <a:lnSpc>
                <a:spcPct val="110000"/>
              </a:lnSpc>
              <a:spcBef>
                <a:spcPts val="100"/>
              </a:spcBef>
              <a:spcAft>
                <a:spcPts val="100"/>
              </a:spcAft>
            </a:pPr>
            <a:r>
              <a:rPr sz="1200">
                <a:solidFill>
                  <a:srgbClr val="000000"/>
                </a:solidFill>
                <a:latin typeface="Calibri"/>
              </a:rPr>
              <a:t>        return await this.userReadModel.findById(query.userId);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Read Model: Denormalized for fast reads</a:t>
            </a:r>
          </a:p>
          <a:p>
            <a:pPr algn="l">
              <a:lnSpc>
                <a:spcPct val="110000"/>
              </a:lnSpc>
              <a:spcBef>
                <a:spcPts val="100"/>
              </a:spcBef>
              <a:spcAft>
                <a:spcPts val="100"/>
              </a:spcAft>
            </a:pPr>
            <a:r>
              <a:rPr sz="1200">
                <a:solidFill>
                  <a:srgbClr val="000000"/>
                </a:solidFill>
                <a:latin typeface="Calibri"/>
              </a:rPr>
              <a:t>export class UserReadModel {</a:t>
            </a:r>
          </a:p>
          <a:p>
            <a:pPr algn="l">
              <a:lnSpc>
                <a:spcPct val="110000"/>
              </a:lnSpc>
              <a:spcBef>
                <a:spcPts val="100"/>
              </a:spcBef>
              <a:spcAft>
                <a:spcPts val="100"/>
              </a:spcAft>
            </a:pPr>
            <a:r>
              <a:rPr sz="1200">
                <a:solidFill>
                  <a:srgbClr val="000000"/>
                </a:solidFill>
                <a:latin typeface="Calibri"/>
              </a:rPr>
              <a:t>    async findById(id: string): Promise&lt;UserDTO | null&gt; {</a:t>
            </a:r>
          </a:p>
          <a:p>
            <a:pPr algn="l">
              <a:lnSpc>
                <a:spcPct val="110000"/>
              </a:lnSpc>
              <a:spcBef>
                <a:spcPts val="100"/>
              </a:spcBef>
              <a:spcAft>
                <a:spcPts val="100"/>
              </a:spcAft>
            </a:pPr>
            <a:r>
              <a:rPr sz="1200">
                <a:solidFill>
                  <a:srgbClr val="000000"/>
                </a:solidFill>
                <a:latin typeface="Calibri"/>
              </a:rPr>
              <a:t>        const result = await this.db.query(</a:t>
            </a:r>
          </a:p>
          <a:p>
            <a:pPr algn="l">
              <a:lnSpc>
                <a:spcPct val="110000"/>
              </a:lnSpc>
              <a:spcBef>
                <a:spcPts val="100"/>
              </a:spcBef>
              <a:spcAft>
                <a:spcPts val="100"/>
              </a:spcAft>
            </a:pPr>
            <a:r>
              <a:rPr sz="1200">
                <a:solidFill>
                  <a:srgbClr val="000000"/>
                </a:solidFill>
                <a:latin typeface="Calibri"/>
              </a:rPr>
              <a:t>            'SELECT * FROM user_read_model WHERE id = $1',</a:t>
            </a:r>
          </a:p>
          <a:p>
            <a:pPr algn="l">
              <a:lnSpc>
                <a:spcPct val="110000"/>
              </a:lnSpc>
              <a:spcBef>
                <a:spcPts val="100"/>
              </a:spcBef>
              <a:spcAft>
                <a:spcPts val="100"/>
              </a:spcAft>
            </a:pPr>
            <a:r>
              <a:rPr sz="1200">
                <a:solidFill>
                  <a:srgbClr val="000000"/>
                </a:solidFill>
                <a:latin typeface="Calibri"/>
              </a:rPr>
              <a:t>            [id]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return result.rows[0] ? this.mapToDTO(result.rows[0]) : null;</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Dependency Injection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 DI Container</a:t>
            </a:r>
          </a:p>
          <a:p>
            <a:pPr algn="l">
              <a:lnSpc>
                <a:spcPct val="110000"/>
              </a:lnSpc>
              <a:spcBef>
                <a:spcPts val="100"/>
              </a:spcBef>
              <a:spcAft>
                <a:spcPts val="100"/>
              </a:spcAft>
            </a:pPr>
            <a:r>
              <a:rPr sz="1200">
                <a:solidFill>
                  <a:srgbClr val="000000"/>
                </a:solidFill>
                <a:latin typeface="Calibri"/>
              </a:rPr>
              <a:t>export class Container {</a:t>
            </a:r>
          </a:p>
          <a:p>
            <a:pPr algn="l">
              <a:lnSpc>
                <a:spcPct val="110000"/>
              </a:lnSpc>
              <a:spcBef>
                <a:spcPts val="100"/>
              </a:spcBef>
              <a:spcAft>
                <a:spcPts val="100"/>
              </a:spcAft>
            </a:pPr>
            <a:r>
              <a:rPr sz="1200">
                <a:solidFill>
                  <a:srgbClr val="000000"/>
                </a:solidFill>
                <a:latin typeface="Calibri"/>
              </a:rPr>
              <a:t>    private static instance: Container;</a:t>
            </a:r>
          </a:p>
          <a:p>
            <a:pPr algn="l">
              <a:lnSpc>
                <a:spcPct val="110000"/>
              </a:lnSpc>
              <a:spcBef>
                <a:spcPts val="100"/>
              </a:spcBef>
              <a:spcAft>
                <a:spcPts val="100"/>
              </a:spcAft>
            </a:pPr>
            <a:r>
              <a:rPr sz="1200">
                <a:solidFill>
                  <a:srgbClr val="000000"/>
                </a:solidFill>
                <a:latin typeface="Calibri"/>
              </a:rPr>
              <a:t>    private services: Map&lt;string, any&gt; = new Map();</a:t>
            </a:r>
          </a:p>
          <a:p>
            <a:pPr algn="l">
              <a:lnSpc>
                <a:spcPct val="110000"/>
              </a:lnSpc>
              <a:spcBef>
                <a:spcPts val="100"/>
              </a:spcBef>
              <a:spcAft>
                <a:spcPts val="100"/>
              </a:spcAft>
            </a:pPr>
            <a:r>
              <a:rPr sz="1200">
                <a:solidFill>
                  <a:srgbClr val="000000"/>
                </a:solidFill>
                <a:latin typeface="Calibri"/>
              </a:rPr>
              <a:t>    static getInstance(): Container {</a:t>
            </a:r>
          </a:p>
          <a:p>
            <a:pPr algn="l">
              <a:lnSpc>
                <a:spcPct val="110000"/>
              </a:lnSpc>
              <a:spcBef>
                <a:spcPts val="100"/>
              </a:spcBef>
              <a:spcAft>
                <a:spcPts val="100"/>
              </a:spcAft>
            </a:pPr>
            <a:r>
              <a:rPr sz="1200">
                <a:solidFill>
                  <a:srgbClr val="000000"/>
                </a:solidFill>
                <a:latin typeface="Calibri"/>
              </a:rPr>
              <a:t>        if (!Container.instance) {</a:t>
            </a:r>
          </a:p>
          <a:p>
            <a:pPr algn="l">
              <a:lnSpc>
                <a:spcPct val="110000"/>
              </a:lnSpc>
              <a:spcBef>
                <a:spcPts val="100"/>
              </a:spcBef>
              <a:spcAft>
                <a:spcPts val="100"/>
              </a:spcAft>
            </a:pPr>
            <a:r>
              <a:rPr sz="1200">
                <a:solidFill>
                  <a:srgbClr val="000000"/>
                </a:solidFill>
                <a:latin typeface="Calibri"/>
              </a:rPr>
              <a:t>            Container.instance = new Container();</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return Container.instance;</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configure(): void {</a:t>
            </a:r>
          </a:p>
          <a:p>
            <a:pPr algn="l">
              <a:lnSpc>
                <a:spcPct val="110000"/>
              </a:lnSpc>
              <a:spcBef>
                <a:spcPts val="100"/>
              </a:spcBef>
              <a:spcAft>
                <a:spcPts val="100"/>
              </a:spcAft>
            </a:pPr>
            <a:r>
              <a:rPr sz="1200">
                <a:solidFill>
                  <a:srgbClr val="000000"/>
                </a:solidFill>
                <a:latin typeface="Calibri"/>
              </a:rPr>
              <a:t>        // Repositories (Adapters)</a:t>
            </a:r>
          </a:p>
          <a:p>
            <a:pPr algn="l">
              <a:lnSpc>
                <a:spcPct val="110000"/>
              </a:lnSpc>
              <a:spcBef>
                <a:spcPts val="100"/>
              </a:spcBef>
              <a:spcAft>
                <a:spcPts val="100"/>
              </a:spcAft>
            </a:pPr>
            <a:r>
              <a:rPr sz="1200">
                <a:solidFill>
                  <a:srgbClr val="000000"/>
                </a:solidFill>
                <a:latin typeface="Calibri"/>
              </a:rPr>
              <a:t>        this.services.set('IUserRepository', new PostgresUserRepository());</a:t>
            </a:r>
          </a:p>
          <a:p>
            <a:pPr algn="l">
              <a:lnSpc>
                <a:spcPct val="110000"/>
              </a:lnSpc>
              <a:spcBef>
                <a:spcPts val="100"/>
              </a:spcBef>
              <a:spcAft>
                <a:spcPts val="100"/>
              </a:spcAft>
            </a:pPr>
            <a:r>
              <a:rPr sz="1200">
                <a:solidFill>
                  <a:srgbClr val="000000"/>
                </a:solidFill>
                <a:latin typeface="Calibri"/>
              </a:rPr>
              <a:t>        this.services.set('IEventPublisher', new EventPublisher());</a:t>
            </a:r>
          </a:p>
          <a:p>
            <a:pPr algn="l">
              <a:lnSpc>
                <a:spcPct val="110000"/>
              </a:lnSpc>
              <a:spcBef>
                <a:spcPts val="100"/>
              </a:spcBef>
              <a:spcAft>
                <a:spcPts val="100"/>
              </a:spcAft>
            </a:pPr>
            <a:r>
              <a:rPr sz="1200">
                <a:solidFill>
                  <a:srgbClr val="000000"/>
                </a:solidFill>
                <a:latin typeface="Calibri"/>
              </a:rPr>
              <a:t>        // Domain Services</a:t>
            </a:r>
          </a:p>
          <a:p>
            <a:pPr algn="l">
              <a:lnSpc>
                <a:spcPct val="110000"/>
              </a:lnSpc>
              <a:spcBef>
                <a:spcPts val="100"/>
              </a:spcBef>
              <a:spcAft>
                <a:spcPts val="100"/>
              </a:spcAft>
            </a:pPr>
            <a:r>
              <a:rPr sz="1200">
                <a:solidFill>
                  <a:srgbClr val="000000"/>
                </a:solidFill>
                <a:latin typeface="Calibri"/>
              </a:rPr>
              <a:t>        this.services.set('UserDomainService', new UserDomainService(</a:t>
            </a:r>
          </a:p>
          <a:p>
            <a:pPr algn="l">
              <a:lnSpc>
                <a:spcPct val="110000"/>
              </a:lnSpc>
              <a:spcBef>
                <a:spcPts val="100"/>
              </a:spcBef>
              <a:spcAft>
                <a:spcPts val="100"/>
              </a:spcAft>
            </a:pPr>
            <a:r>
              <a:rPr sz="1200">
                <a:solidFill>
                  <a:srgbClr val="000000"/>
                </a:solidFill>
                <a:latin typeface="Calibri"/>
              </a:rPr>
              <a:t>            this.services.get('IUserRepository')</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Command Handlers</a:t>
            </a:r>
          </a:p>
          <a:p>
            <a:pPr algn="l">
              <a:lnSpc>
                <a:spcPct val="110000"/>
              </a:lnSpc>
              <a:spcBef>
                <a:spcPts val="100"/>
              </a:spcBef>
              <a:spcAft>
                <a:spcPts val="100"/>
              </a:spcAft>
            </a:pPr>
            <a:r>
              <a:rPr sz="1200">
                <a:solidFill>
                  <a:srgbClr val="000000"/>
                </a:solidFill>
                <a:latin typeface="Calibri"/>
              </a:rPr>
              <a:t>        this.services.set('UserCommandHandler', new UserCommandHandler(</a:t>
            </a:r>
          </a:p>
          <a:p>
            <a:pPr algn="l">
              <a:lnSpc>
                <a:spcPct val="110000"/>
              </a:lnSpc>
              <a:spcBef>
                <a:spcPts val="100"/>
              </a:spcBef>
              <a:spcAft>
                <a:spcPts val="100"/>
              </a:spcAft>
            </a:pPr>
            <a:r>
              <a:rPr sz="1200">
                <a:solidFill>
                  <a:srgbClr val="000000"/>
                </a:solidFill>
                <a:latin typeface="Calibri"/>
              </a:rPr>
              <a:t>            this.services.get('UserDomainService')</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Query Handlers</a:t>
            </a:r>
          </a:p>
          <a:p>
            <a:pPr algn="l">
              <a:lnSpc>
                <a:spcPct val="110000"/>
              </a:lnSpc>
              <a:spcBef>
                <a:spcPts val="100"/>
              </a:spcBef>
              <a:spcAft>
                <a:spcPts val="100"/>
              </a:spcAft>
            </a:pPr>
            <a:r>
              <a:rPr sz="1200">
                <a:solidFill>
                  <a:srgbClr val="000000"/>
                </a:solidFill>
                <a:latin typeface="Calibri"/>
              </a:rPr>
              <a:t>        this.services.set('UserQueryHandler', new UserQueryHandler(</a:t>
            </a:r>
          </a:p>
          <a:p>
            <a:pPr algn="l">
              <a:lnSpc>
                <a:spcPct val="110000"/>
              </a:lnSpc>
              <a:spcBef>
                <a:spcPts val="100"/>
              </a:spcBef>
              <a:spcAft>
                <a:spcPts val="100"/>
              </a:spcAft>
            </a:pPr>
            <a:r>
              <a:rPr sz="1200">
                <a:solidFill>
                  <a:srgbClr val="000000"/>
                </a:solidFill>
                <a:latin typeface="Calibri"/>
              </a:rPr>
              <a:t>            this.services.get('UserReadModel')</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Controllers</a:t>
            </a:r>
          </a:p>
          <a:p>
            <a:pPr algn="l">
              <a:lnSpc>
                <a:spcPct val="110000"/>
              </a:lnSpc>
              <a:spcBef>
                <a:spcPts val="100"/>
              </a:spcBef>
              <a:spcAft>
                <a:spcPts val="100"/>
              </a:spcAft>
            </a:pPr>
            <a:r>
              <a:rPr sz="1200">
                <a:solidFill>
                  <a:srgbClr val="000000"/>
                </a:solidFill>
                <a:latin typeface="Calibri"/>
              </a:rPr>
              <a:t>        this.services.set('UserController', new UserController(</a:t>
            </a:r>
          </a:p>
          <a:p>
            <a:pPr algn="l">
              <a:lnSpc>
                <a:spcPct val="110000"/>
              </a:lnSpc>
              <a:spcBef>
                <a:spcPts val="100"/>
              </a:spcBef>
              <a:spcAft>
                <a:spcPts val="100"/>
              </a:spcAft>
            </a:pPr>
            <a:r>
              <a:rPr sz="1200">
                <a:solidFill>
                  <a:srgbClr val="000000"/>
                </a:solidFill>
                <a:latin typeface="Calibri"/>
              </a:rPr>
              <a:t>            this.services.get('UserCommandHandler'),</a:t>
            </a:r>
          </a:p>
          <a:p>
            <a:pPr algn="l">
              <a:lnSpc>
                <a:spcPct val="110000"/>
              </a:lnSpc>
              <a:spcBef>
                <a:spcPts val="100"/>
              </a:spcBef>
              <a:spcAft>
                <a:spcPts val="100"/>
              </a:spcAft>
            </a:pPr>
            <a:r>
              <a:rPr sz="1200">
                <a:solidFill>
                  <a:srgbClr val="000000"/>
                </a:solidFill>
                <a:latin typeface="Calibri"/>
              </a:rPr>
              <a:t>            this.services.get('UserQueryHandler')</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resolve&lt;T&gt;(key: string): T {</a:t>
            </a:r>
          </a:p>
          <a:p>
            <a:pPr algn="l">
              <a:lnSpc>
                <a:spcPct val="110000"/>
              </a:lnSpc>
              <a:spcBef>
                <a:spcPts val="100"/>
              </a:spcBef>
              <a:spcAft>
                <a:spcPts val="100"/>
              </a:spcAft>
            </a:pPr>
            <a:r>
              <a:rPr sz="1200">
                <a:solidFill>
                  <a:srgbClr val="000000"/>
                </a:solidFill>
                <a:latin typeface="Calibri"/>
              </a:rPr>
              <a:t>        return this.services.get(key) as 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Testing in Hexagonal Architecture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TESTING IN HEXAGONAL ARCHITECTURE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UNIT TESTS: Domain Layer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Test business logic without infrastructure          │   │</a:t>
            </a:r>
          </a:p>
          <a:p>
            <a:pPr algn="l">
              <a:lnSpc>
                <a:spcPct val="110000"/>
              </a:lnSpc>
              <a:spcBef>
                <a:spcPts val="100"/>
              </a:spcBef>
              <a:spcAft>
                <a:spcPts val="100"/>
              </a:spcAft>
            </a:pPr>
            <a:r>
              <a:rPr sz="1200">
                <a:solidFill>
                  <a:srgbClr val="000000"/>
                </a:solidFill>
                <a:latin typeface="Calibri"/>
              </a:rPr>
              <a:t>│  │  • Mock all ports                                      │   │</a:t>
            </a:r>
          </a:p>
          <a:p>
            <a:pPr algn="l">
              <a:lnSpc>
                <a:spcPct val="110000"/>
              </a:lnSpc>
              <a:spcBef>
                <a:spcPts val="100"/>
              </a:spcBef>
              <a:spcAft>
                <a:spcPts val="100"/>
              </a:spcAft>
            </a:pPr>
            <a:r>
              <a:rPr sz="1200">
                <a:solidFill>
                  <a:srgbClr val="000000"/>
                </a:solidFill>
                <a:latin typeface="Calibri"/>
              </a:rPr>
              <a:t>│  │  • Fast and isolated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INTEGRATION TESTS: Application Layer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Test use cases                                       │   │</a:t>
            </a:r>
          </a:p>
          <a:p>
            <a:pPr algn="l">
              <a:lnSpc>
                <a:spcPct val="110000"/>
              </a:lnSpc>
              <a:spcBef>
                <a:spcPts val="100"/>
              </a:spcBef>
              <a:spcAft>
                <a:spcPts val="100"/>
              </a:spcAft>
            </a:pPr>
            <a:r>
              <a:rPr sz="1200">
                <a:solidFill>
                  <a:srgbClr val="000000"/>
                </a:solidFill>
                <a:latin typeface="Calibri"/>
              </a:rPr>
              <a:t>│  │  • Use test implementations of ports                   │   │</a:t>
            </a:r>
          </a:p>
          <a:p>
            <a:pPr algn="l">
              <a:lnSpc>
                <a:spcPct val="110000"/>
              </a:lnSpc>
              <a:spcBef>
                <a:spcPts val="100"/>
              </a:spcBef>
              <a:spcAft>
                <a:spcPts val="100"/>
              </a:spcAft>
            </a:pPr>
            <a:r>
              <a:rPr sz="1200">
                <a:solidFill>
                  <a:srgbClr val="000000"/>
                </a:solidFill>
                <a:latin typeface="Calibri"/>
              </a:rPr>
              <a:t>│  │  • In-memory repositories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E2E TESTS: Adapters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Test full system                                     │   │</a:t>
            </a:r>
          </a:p>
          <a:p>
            <a:pPr algn="l">
              <a:lnSpc>
                <a:spcPct val="110000"/>
              </a:lnSpc>
              <a:spcBef>
                <a:spcPts val="100"/>
              </a:spcBef>
              <a:spcAft>
                <a:spcPts val="100"/>
              </a:spcAft>
            </a:pPr>
            <a:r>
              <a:rPr sz="1200">
                <a:solidFill>
                  <a:srgbClr val="000000"/>
                </a:solidFill>
                <a:latin typeface="Calibri"/>
              </a:rPr>
              <a:t>│  │  • Real databases and services                         │   │</a:t>
            </a:r>
          </a:p>
          <a:p>
            <a:pPr algn="l">
              <a:lnSpc>
                <a:spcPct val="110000"/>
              </a:lnSpc>
              <a:spcBef>
                <a:spcPts val="100"/>
              </a:spcBef>
              <a:spcAft>
                <a:spcPts val="100"/>
              </a:spcAft>
            </a:pPr>
            <a:r>
              <a:rPr sz="1200">
                <a:solidFill>
                  <a:srgbClr val="000000"/>
                </a:solidFill>
                <a:latin typeface="Calibri"/>
              </a:rPr>
              <a:t>│  │  • Fewer, focused tests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PART 2.2: PostgreSQL Integration (10 Slides)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Database Schema</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```sql</a:t>
            </a:r>
          </a:p>
          <a:p>
            <a:pPr algn="l">
              <a:lnSpc>
                <a:spcPct val="110000"/>
              </a:lnSpc>
              <a:spcBef>
                <a:spcPts val="100"/>
              </a:spcBef>
              <a:spcAft>
                <a:spcPts val="100"/>
              </a:spcAft>
            </a:pPr>
            <a:r>
              <a:rPr sz="1200">
                <a:solidFill>
                  <a:srgbClr val="000000"/>
                </a:solidFill>
                <a:latin typeface="Calibri"/>
              </a:rPr>
              <a:t>-- Users Table</a:t>
            </a:r>
          </a:p>
          <a:p>
            <a:pPr algn="l">
              <a:lnSpc>
                <a:spcPct val="110000"/>
              </a:lnSpc>
              <a:spcBef>
                <a:spcPts val="100"/>
              </a:spcBef>
              <a:spcAft>
                <a:spcPts val="100"/>
              </a:spcAft>
            </a:pPr>
            <a:r>
              <a:rPr sz="1200">
                <a:solidFill>
                  <a:srgbClr val="000000"/>
                </a:solidFill>
                <a:latin typeface="Calibri"/>
              </a:rPr>
              <a:t>CREATE TABLE users (</a:t>
            </a:r>
          </a:p>
          <a:p>
            <a:pPr algn="l">
              <a:lnSpc>
                <a:spcPct val="110000"/>
              </a:lnSpc>
              <a:spcBef>
                <a:spcPts val="100"/>
              </a:spcBef>
              <a:spcAft>
                <a:spcPts val="100"/>
              </a:spcAft>
            </a:pPr>
            <a:r>
              <a:rPr sz="1200">
                <a:solidFill>
                  <a:srgbClr val="000000"/>
                </a:solidFill>
                <a:latin typeface="Calibri"/>
              </a:rPr>
              <a:t>    id UUID PRIMARY KEY,</a:t>
            </a:r>
          </a:p>
          <a:p>
            <a:pPr algn="l">
              <a:lnSpc>
                <a:spcPct val="110000"/>
              </a:lnSpc>
              <a:spcBef>
                <a:spcPts val="100"/>
              </a:spcBef>
              <a:spcAft>
                <a:spcPts val="100"/>
              </a:spcAft>
            </a:pPr>
            <a:r>
              <a:rPr sz="1200">
                <a:solidFill>
                  <a:srgbClr val="000000"/>
                </a:solidFill>
                <a:latin typeface="Calibri"/>
              </a:rPr>
              <a:t>    email VARCHAR(255) NOT NULL UNIQUE,</a:t>
            </a:r>
          </a:p>
          <a:p>
            <a:pPr algn="l">
              <a:lnSpc>
                <a:spcPct val="110000"/>
              </a:lnSpc>
              <a:spcBef>
                <a:spcPts val="100"/>
              </a:spcBef>
              <a:spcAft>
                <a:spcPts val="100"/>
              </a:spcAft>
            </a:pPr>
            <a:r>
              <a:rPr sz="1200">
                <a:solidFill>
                  <a:srgbClr val="000000"/>
                </a:solidFill>
                <a:latin typeface="Calibri"/>
              </a:rPr>
              <a:t>    username VARCHAR(50) NOT NULL UNIQUE,</a:t>
            </a:r>
          </a:p>
          <a:p>
            <a:pPr algn="l">
              <a:lnSpc>
                <a:spcPct val="110000"/>
              </a:lnSpc>
              <a:spcBef>
                <a:spcPts val="100"/>
              </a:spcBef>
              <a:spcAft>
                <a:spcPts val="100"/>
              </a:spcAft>
            </a:pPr>
            <a:r>
              <a:rPr sz="1200">
                <a:solidFill>
                  <a:srgbClr val="000000"/>
                </a:solidFill>
                <a:latin typeface="Calibri"/>
              </a:rPr>
              <a:t>    first_name VARCHAR(50) NOT NULL,</a:t>
            </a:r>
          </a:p>
          <a:p>
            <a:pPr algn="l">
              <a:lnSpc>
                <a:spcPct val="110000"/>
              </a:lnSpc>
              <a:spcBef>
                <a:spcPts val="100"/>
              </a:spcBef>
              <a:spcAft>
                <a:spcPts val="100"/>
              </a:spcAft>
            </a:pPr>
            <a:r>
              <a:rPr sz="1200">
                <a:solidFill>
                  <a:srgbClr val="000000"/>
                </a:solidFill>
                <a:latin typeface="Calibri"/>
              </a:rPr>
              <a:t>    last_name VARCHAR(50) NOT NULL,</a:t>
            </a:r>
          </a:p>
          <a:p>
            <a:pPr algn="l">
              <a:lnSpc>
                <a:spcPct val="110000"/>
              </a:lnSpc>
              <a:spcBef>
                <a:spcPts val="100"/>
              </a:spcBef>
              <a:spcAft>
                <a:spcPts val="100"/>
              </a:spcAft>
            </a:pPr>
            <a:r>
              <a:rPr sz="1200">
                <a:solidFill>
                  <a:srgbClr val="000000"/>
                </a:solidFill>
                <a:latin typeface="Calibri"/>
              </a:rPr>
              <a:t>    password_hash VARCHAR(255) NOT NULL,</a:t>
            </a:r>
          </a:p>
          <a:p>
            <a:pPr algn="l">
              <a:lnSpc>
                <a:spcPct val="110000"/>
              </a:lnSpc>
              <a:spcBef>
                <a:spcPts val="100"/>
              </a:spcBef>
              <a:spcAft>
                <a:spcPts val="100"/>
              </a:spcAft>
            </a:pPr>
            <a:r>
              <a:rPr sz="1200">
                <a:solidFill>
                  <a:srgbClr val="000000"/>
                </a:solidFill>
                <a:latin typeface="Calibri"/>
              </a:rPr>
              <a:t>    created_at TIMESTAMP WITH TIME ZONE NOT NULL,</a:t>
            </a:r>
          </a:p>
          <a:p>
            <a:pPr algn="l">
              <a:lnSpc>
                <a:spcPct val="110000"/>
              </a:lnSpc>
              <a:spcBef>
                <a:spcPts val="100"/>
              </a:spcBef>
              <a:spcAft>
                <a:spcPts val="100"/>
              </a:spcAft>
            </a:pPr>
            <a:r>
              <a:rPr sz="1200">
                <a:solidFill>
                  <a:srgbClr val="000000"/>
                </a:solidFill>
                <a:latin typeface="Calibri"/>
              </a:rPr>
              <a:t>    updated_at TIMESTAMP WITH TIME ZONE NOT NULL,</a:t>
            </a:r>
          </a:p>
          <a:p>
            <a:pPr algn="l">
              <a:lnSpc>
                <a:spcPct val="110000"/>
              </a:lnSpc>
              <a:spcBef>
                <a:spcPts val="100"/>
              </a:spcBef>
              <a:spcAft>
                <a:spcPts val="100"/>
              </a:spcAft>
            </a:pPr>
            <a:r>
              <a:rPr sz="1200">
                <a:solidFill>
                  <a:srgbClr val="000000"/>
                </a:solidFill>
                <a:latin typeface="Calibri"/>
              </a:rPr>
              <a:t>    is_active BOOLEAN NOT NULL DEFAULT TRUE</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Tasks Table</a:t>
            </a:r>
          </a:p>
          <a:p>
            <a:pPr algn="l">
              <a:lnSpc>
                <a:spcPct val="110000"/>
              </a:lnSpc>
              <a:spcBef>
                <a:spcPts val="100"/>
              </a:spcBef>
              <a:spcAft>
                <a:spcPts val="100"/>
              </a:spcAft>
            </a:pPr>
            <a:r>
              <a:rPr sz="1200">
                <a:solidFill>
                  <a:srgbClr val="000000"/>
                </a:solidFill>
                <a:latin typeface="Calibri"/>
              </a:rPr>
              <a:t>CREATE TABLE tasks (</a:t>
            </a:r>
          </a:p>
          <a:p>
            <a:pPr algn="l">
              <a:lnSpc>
                <a:spcPct val="110000"/>
              </a:lnSpc>
              <a:spcBef>
                <a:spcPts val="100"/>
              </a:spcBef>
              <a:spcAft>
                <a:spcPts val="100"/>
              </a:spcAft>
            </a:pPr>
            <a:r>
              <a:rPr sz="1200">
                <a:solidFill>
                  <a:srgbClr val="000000"/>
                </a:solidFill>
                <a:latin typeface="Calibri"/>
              </a:rPr>
              <a:t>    id UUID PRIMARY KEY,</a:t>
            </a:r>
          </a:p>
          <a:p>
            <a:pPr algn="l">
              <a:lnSpc>
                <a:spcPct val="110000"/>
              </a:lnSpc>
              <a:spcBef>
                <a:spcPts val="100"/>
              </a:spcBef>
              <a:spcAft>
                <a:spcPts val="100"/>
              </a:spcAft>
            </a:pPr>
            <a:r>
              <a:rPr sz="1200">
                <a:solidFill>
                  <a:srgbClr val="000000"/>
                </a:solidFill>
                <a:latin typeface="Calibri"/>
              </a:rPr>
              <a:t>    title VARCHAR(255) NOT NULL,</a:t>
            </a:r>
          </a:p>
          <a:p>
            <a:pPr algn="l">
              <a:lnSpc>
                <a:spcPct val="110000"/>
              </a:lnSpc>
              <a:spcBef>
                <a:spcPts val="100"/>
              </a:spcBef>
              <a:spcAft>
                <a:spcPts val="100"/>
              </a:spcAft>
            </a:pPr>
            <a:r>
              <a:rPr sz="1200">
                <a:solidFill>
                  <a:srgbClr val="000000"/>
                </a:solidFill>
                <a:latin typeface="Calibri"/>
              </a:rPr>
              <a:t>    description TEXT NOT NULL,</a:t>
            </a:r>
          </a:p>
          <a:p>
            <a:pPr algn="l">
              <a:lnSpc>
                <a:spcPct val="110000"/>
              </a:lnSpc>
              <a:spcBef>
                <a:spcPts val="100"/>
              </a:spcBef>
              <a:spcAft>
                <a:spcPts val="100"/>
              </a:spcAft>
            </a:pPr>
            <a:r>
              <a:rPr sz="1200">
                <a:solidFill>
                  <a:srgbClr val="000000"/>
                </a:solidFill>
                <a:latin typeface="Calibri"/>
              </a:rPr>
              <a:t>    user_id UUID NOT NULL REFERENCES users(id),</a:t>
            </a:r>
          </a:p>
          <a:p>
            <a:pPr algn="l">
              <a:lnSpc>
                <a:spcPct val="110000"/>
              </a:lnSpc>
              <a:spcBef>
                <a:spcPts val="100"/>
              </a:spcBef>
              <a:spcAft>
                <a:spcPts val="100"/>
              </a:spcAft>
            </a:pPr>
            <a:r>
              <a:rPr sz="1200">
                <a:solidFill>
                  <a:srgbClr val="000000"/>
                </a:solidFill>
                <a:latin typeface="Calibri"/>
              </a:rPr>
              <a:t>    status VARCHAR(20) NOT NULL DEFAULT 'pending',</a:t>
            </a:r>
          </a:p>
          <a:p>
            <a:pPr algn="l">
              <a:lnSpc>
                <a:spcPct val="110000"/>
              </a:lnSpc>
              <a:spcBef>
                <a:spcPts val="100"/>
              </a:spcBef>
              <a:spcAft>
                <a:spcPts val="100"/>
              </a:spcAft>
            </a:pPr>
            <a:r>
              <a:rPr sz="1200">
                <a:solidFill>
                  <a:srgbClr val="000000"/>
                </a:solidFill>
                <a:latin typeface="Calibri"/>
              </a:rPr>
              <a:t>    priority VARCHAR(20) NOT NULL DEFAULT 'medium',</a:t>
            </a:r>
          </a:p>
          <a:p>
            <a:pPr algn="l">
              <a:lnSpc>
                <a:spcPct val="110000"/>
              </a:lnSpc>
              <a:spcBef>
                <a:spcPts val="100"/>
              </a:spcBef>
              <a:spcAft>
                <a:spcPts val="100"/>
              </a:spcAft>
            </a:pPr>
            <a:r>
              <a:rPr sz="1200">
                <a:solidFill>
                  <a:srgbClr val="000000"/>
                </a:solidFill>
                <a:latin typeface="Calibri"/>
              </a:rPr>
              <a:t>    due_date TIMESTAMP WITH TIME ZONE,</a:t>
            </a:r>
          </a:p>
          <a:p>
            <a:pPr algn="l">
              <a:lnSpc>
                <a:spcPct val="110000"/>
              </a:lnSpc>
              <a:spcBef>
                <a:spcPts val="100"/>
              </a:spcBef>
              <a:spcAft>
                <a:spcPts val="100"/>
              </a:spcAft>
            </a:pPr>
            <a:r>
              <a:rPr sz="1200">
                <a:solidFill>
                  <a:srgbClr val="000000"/>
                </a:solidFill>
                <a:latin typeface="Calibri"/>
              </a:rPr>
              <a:t>    created_at TIMESTAMP WITH TIME ZONE NOT NULL,</a:t>
            </a:r>
          </a:p>
          <a:p>
            <a:pPr algn="l">
              <a:lnSpc>
                <a:spcPct val="110000"/>
              </a:lnSpc>
              <a:spcBef>
                <a:spcPts val="100"/>
              </a:spcBef>
              <a:spcAft>
                <a:spcPts val="100"/>
              </a:spcAft>
            </a:pPr>
            <a:r>
              <a:rPr sz="1200">
                <a:solidFill>
                  <a:srgbClr val="000000"/>
                </a:solidFill>
                <a:latin typeface="Calibri"/>
              </a:rPr>
              <a:t>    updated_at TIMESTAMP WITH TIME ZONE NOT NULL,</a:t>
            </a:r>
          </a:p>
          <a:p>
            <a:pPr algn="l">
              <a:lnSpc>
                <a:spcPct val="110000"/>
              </a:lnSpc>
              <a:spcBef>
                <a:spcPts val="100"/>
              </a:spcBef>
              <a:spcAft>
                <a:spcPts val="100"/>
              </a:spcAft>
            </a:pPr>
            <a:r>
              <a:rPr sz="1200">
                <a:solidFill>
                  <a:srgbClr val="000000"/>
                </a:solidFill>
                <a:latin typeface="Calibri"/>
              </a:rPr>
              <a:t>    completed_at TIMESTAMP WITH TIME ZONE,</a:t>
            </a:r>
          </a:p>
          <a:p>
            <a:pPr algn="l">
              <a:lnSpc>
                <a:spcPct val="110000"/>
              </a:lnSpc>
              <a:spcBef>
                <a:spcPts val="100"/>
              </a:spcBef>
              <a:spcAft>
                <a:spcPts val="100"/>
              </a:spcAft>
            </a:pPr>
            <a:r>
              <a:rPr sz="1200">
                <a:solidFill>
                  <a:srgbClr val="000000"/>
                </a:solidFill>
                <a:latin typeface="Calibri"/>
              </a:rPr>
              <a:t>    metadata JSONB DEFAULT '{}'::jsonb</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Indexes</a:t>
            </a:r>
          </a:p>
          <a:p>
            <a:pPr algn="l">
              <a:lnSpc>
                <a:spcPct val="110000"/>
              </a:lnSpc>
              <a:spcBef>
                <a:spcPts val="100"/>
              </a:spcBef>
              <a:spcAft>
                <a:spcPts val="100"/>
              </a:spcAft>
            </a:pPr>
            <a:r>
              <a:rPr sz="1200">
                <a:solidFill>
                  <a:srgbClr val="000000"/>
                </a:solidFill>
                <a:latin typeface="Calibri"/>
              </a:rPr>
              <a:t>CREATE INDEX idx_users_email ON users(email);</a:t>
            </a:r>
          </a:p>
          <a:p>
            <a:pPr algn="l">
              <a:lnSpc>
                <a:spcPct val="110000"/>
              </a:lnSpc>
              <a:spcBef>
                <a:spcPts val="100"/>
              </a:spcBef>
              <a:spcAft>
                <a:spcPts val="100"/>
              </a:spcAft>
            </a:pPr>
            <a:r>
              <a:rPr sz="1200">
                <a:solidFill>
                  <a:srgbClr val="000000"/>
                </a:solidFill>
                <a:latin typeface="Calibri"/>
              </a:rPr>
              <a:t>CREATE INDEX idx_users_username ON users(username);</a:t>
            </a:r>
          </a:p>
          <a:p>
            <a:pPr algn="l">
              <a:lnSpc>
                <a:spcPct val="110000"/>
              </a:lnSpc>
              <a:spcBef>
                <a:spcPts val="100"/>
              </a:spcBef>
              <a:spcAft>
                <a:spcPts val="100"/>
              </a:spcAft>
            </a:pPr>
            <a:r>
              <a:rPr sz="1200">
                <a:solidFill>
                  <a:srgbClr val="000000"/>
                </a:solidFill>
                <a:latin typeface="Calibri"/>
              </a:rPr>
              <a:t>CREATE INDEX idx_tasks_user_id ON tasks(user_id);</a:t>
            </a:r>
          </a:p>
          <a:p>
            <a:pPr algn="l">
              <a:lnSpc>
                <a:spcPct val="110000"/>
              </a:lnSpc>
              <a:spcBef>
                <a:spcPts val="100"/>
              </a:spcBef>
              <a:spcAft>
                <a:spcPts val="100"/>
              </a:spcAft>
            </a:pPr>
            <a:r>
              <a:rPr sz="1200">
                <a:solidFill>
                  <a:srgbClr val="000000"/>
                </a:solidFill>
                <a:latin typeface="Calibri"/>
              </a:rPr>
              <a:t>CREATE INDEX idx_tasks_user_status ON tasks(user_id, status);</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Connection Pooling</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import { Pool } from 'pg';</a:t>
            </a:r>
          </a:p>
          <a:p>
            <a:pPr algn="l">
              <a:lnSpc>
                <a:spcPct val="110000"/>
              </a:lnSpc>
              <a:spcBef>
                <a:spcPts val="100"/>
              </a:spcBef>
              <a:spcAft>
                <a:spcPts val="100"/>
              </a:spcAft>
            </a:pPr>
            <a:r>
              <a:rPr sz="1200">
                <a:solidFill>
                  <a:srgbClr val="000000"/>
                </a:solidFill>
                <a:latin typeface="Calibri"/>
              </a:rPr>
              <a:t>const pool = new Pool({</a:t>
            </a:r>
          </a:p>
          <a:p>
            <a:pPr algn="l">
              <a:lnSpc>
                <a:spcPct val="110000"/>
              </a:lnSpc>
              <a:spcBef>
                <a:spcPts val="100"/>
              </a:spcBef>
              <a:spcAft>
                <a:spcPts val="100"/>
              </a:spcAft>
            </a:pPr>
            <a:r>
              <a:rPr sz="1200">
                <a:solidFill>
                  <a:srgbClr val="000000"/>
                </a:solidFill>
                <a:latin typeface="Calibri"/>
              </a:rPr>
              <a:t>    host: process.env.DB_HOST,</a:t>
            </a:r>
          </a:p>
          <a:p>
            <a:pPr algn="l">
              <a:lnSpc>
                <a:spcPct val="110000"/>
              </a:lnSpc>
              <a:spcBef>
                <a:spcPts val="100"/>
              </a:spcBef>
              <a:spcAft>
                <a:spcPts val="100"/>
              </a:spcAft>
            </a:pPr>
            <a:r>
              <a:rPr sz="1200">
                <a:solidFill>
                  <a:srgbClr val="000000"/>
                </a:solidFill>
                <a:latin typeface="Calibri"/>
              </a:rPr>
              <a:t>    port: parseInt(process.env.DB_PORT || '5432'),</a:t>
            </a:r>
          </a:p>
          <a:p>
            <a:pPr algn="l">
              <a:lnSpc>
                <a:spcPct val="110000"/>
              </a:lnSpc>
              <a:spcBef>
                <a:spcPts val="100"/>
              </a:spcBef>
              <a:spcAft>
                <a:spcPts val="100"/>
              </a:spcAft>
            </a:pPr>
            <a:r>
              <a:rPr sz="1200">
                <a:solidFill>
                  <a:srgbClr val="000000"/>
                </a:solidFill>
                <a:latin typeface="Calibri"/>
              </a:rPr>
              <a:t>    database: process.env.DB_NAME,</a:t>
            </a:r>
          </a:p>
          <a:p>
            <a:pPr algn="l">
              <a:lnSpc>
                <a:spcPct val="110000"/>
              </a:lnSpc>
              <a:spcBef>
                <a:spcPts val="100"/>
              </a:spcBef>
              <a:spcAft>
                <a:spcPts val="100"/>
              </a:spcAft>
            </a:pPr>
            <a:r>
              <a:rPr sz="1200">
                <a:solidFill>
                  <a:srgbClr val="000000"/>
                </a:solidFill>
                <a:latin typeface="Calibri"/>
              </a:rPr>
              <a:t>    user: process.env.DB_USER,</a:t>
            </a:r>
          </a:p>
          <a:p>
            <a:pPr algn="l">
              <a:lnSpc>
                <a:spcPct val="110000"/>
              </a:lnSpc>
              <a:spcBef>
                <a:spcPts val="100"/>
              </a:spcBef>
              <a:spcAft>
                <a:spcPts val="100"/>
              </a:spcAft>
            </a:pPr>
            <a:r>
              <a:rPr sz="1200">
                <a:solidFill>
                  <a:srgbClr val="000000"/>
                </a:solidFill>
                <a:latin typeface="Calibri"/>
              </a:rPr>
              <a:t>    password: process.env.DB_PASSWORD,</a:t>
            </a:r>
          </a:p>
          <a:p>
            <a:pPr algn="l">
              <a:lnSpc>
                <a:spcPct val="110000"/>
              </a:lnSpc>
              <a:spcBef>
                <a:spcPts val="100"/>
              </a:spcBef>
              <a:spcAft>
                <a:spcPts val="100"/>
              </a:spcAft>
            </a:pPr>
            <a:r>
              <a:rPr sz="1200">
                <a:solidFill>
                  <a:srgbClr val="000000"/>
                </a:solidFill>
                <a:latin typeface="Calibri"/>
              </a:rPr>
              <a:t>    max: 20,              // Maximum connections</a:t>
            </a:r>
          </a:p>
          <a:p>
            <a:pPr algn="l">
              <a:lnSpc>
                <a:spcPct val="110000"/>
              </a:lnSpc>
              <a:spcBef>
                <a:spcPts val="100"/>
              </a:spcBef>
              <a:spcAft>
                <a:spcPts val="100"/>
              </a:spcAft>
            </a:pPr>
            <a:r>
              <a:rPr sz="1200">
                <a:solidFill>
                  <a:srgbClr val="000000"/>
                </a:solidFill>
                <a:latin typeface="Calibri"/>
              </a:rPr>
              <a:t>    idleTimeoutMillis: 30000,</a:t>
            </a:r>
          </a:p>
          <a:p>
            <a:pPr algn="l">
              <a:lnSpc>
                <a:spcPct val="110000"/>
              </a:lnSpc>
              <a:spcBef>
                <a:spcPts val="100"/>
              </a:spcBef>
              <a:spcAft>
                <a:spcPts val="100"/>
              </a:spcAft>
            </a:pPr>
            <a:r>
              <a:rPr sz="1200">
                <a:solidFill>
                  <a:srgbClr val="000000"/>
                </a:solidFill>
                <a:latin typeface="Calibri"/>
              </a:rPr>
              <a:t>    connectionTimeoutMillis: 2000,</a:t>
            </a:r>
          </a:p>
          <a:p>
            <a:pPr algn="l">
              <a:lnSpc>
                <a:spcPct val="110000"/>
              </a:lnSpc>
              <a:spcBef>
                <a:spcPts val="100"/>
              </a:spcBef>
              <a:spcAft>
                <a:spcPts val="100"/>
              </a:spcAft>
            </a:pPr>
            <a:r>
              <a:rPr sz="1200">
                <a:solidFill>
                  <a:srgbClr val="000000"/>
                </a:solidFill>
                <a:latin typeface="Calibri"/>
              </a:rPr>
              <a:t>    maxUses: 7500,        // Recycle connections</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Monitor pool</a:t>
            </a:r>
          </a:p>
          <a:p>
            <a:pPr algn="l">
              <a:lnSpc>
                <a:spcPct val="110000"/>
              </a:lnSpc>
              <a:spcBef>
                <a:spcPts val="100"/>
              </a:spcBef>
              <a:spcAft>
                <a:spcPts val="100"/>
              </a:spcAft>
            </a:pPr>
            <a:r>
              <a:rPr sz="1200">
                <a:solidFill>
                  <a:srgbClr val="000000"/>
                </a:solidFill>
                <a:latin typeface="Calibri"/>
              </a:rPr>
              <a:t>pool.on('acquire', () =&gt; {</a:t>
            </a:r>
          </a:p>
          <a:p>
            <a:pPr algn="l">
              <a:lnSpc>
                <a:spcPct val="110000"/>
              </a:lnSpc>
              <a:spcBef>
                <a:spcPts val="100"/>
              </a:spcBef>
              <a:spcAft>
                <a:spcPts val="100"/>
              </a:spcAft>
            </a:pPr>
            <a:r>
              <a:rPr sz="1200">
                <a:solidFill>
                  <a:srgbClr val="000000"/>
                </a:solidFill>
                <a:latin typeface="Calibri"/>
              </a:rPr>
              <a:t>    console.log('Pool acquire', pool.totalCount, pool.idleCount);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Use pool</a:t>
            </a:r>
          </a:p>
          <a:p>
            <a:pPr algn="l">
              <a:lnSpc>
                <a:spcPct val="110000"/>
              </a:lnSpc>
              <a:spcBef>
                <a:spcPts val="100"/>
              </a:spcBef>
              <a:spcAft>
                <a:spcPts val="100"/>
              </a:spcAft>
            </a:pPr>
            <a:r>
              <a:rPr sz="1200">
                <a:solidFill>
                  <a:srgbClr val="000000"/>
                </a:solidFill>
                <a:latin typeface="Calibri"/>
              </a:rPr>
              <a:t>async function query(sql: string, params?: any[]) {</a:t>
            </a:r>
          </a:p>
          <a:p>
            <a:pPr algn="l">
              <a:lnSpc>
                <a:spcPct val="110000"/>
              </a:lnSpc>
              <a:spcBef>
                <a:spcPts val="100"/>
              </a:spcBef>
              <a:spcAft>
                <a:spcPts val="100"/>
              </a:spcAft>
            </a:pPr>
            <a:r>
              <a:rPr sz="1200">
                <a:solidFill>
                  <a:srgbClr val="000000"/>
                </a:solidFill>
                <a:latin typeface="Calibri"/>
              </a:rPr>
              <a:t>    const client = await pool.connect();</a:t>
            </a:r>
          </a:p>
          <a:p>
            <a:pPr algn="l">
              <a:lnSpc>
                <a:spcPct val="110000"/>
              </a:lnSpc>
              <a:spcBef>
                <a:spcPts val="100"/>
              </a:spcBef>
              <a:spcAft>
                <a:spcPts val="100"/>
              </a:spcAft>
            </a:pPr>
            <a:r>
              <a:rPr sz="1200">
                <a:solidFill>
                  <a:srgbClr val="000000"/>
                </a:solidFill>
                <a:latin typeface="Calibri"/>
              </a:rPr>
              <a:t>    try {</a:t>
            </a:r>
          </a:p>
          <a:p>
            <a:pPr algn="l">
              <a:lnSpc>
                <a:spcPct val="110000"/>
              </a:lnSpc>
              <a:spcBef>
                <a:spcPts val="100"/>
              </a:spcBef>
              <a:spcAft>
                <a:spcPts val="100"/>
              </a:spcAft>
            </a:pPr>
            <a:r>
              <a:rPr sz="1200">
                <a:solidFill>
                  <a:srgbClr val="000000"/>
                </a:solidFill>
                <a:latin typeface="Calibri"/>
              </a:rPr>
              <a:t>        return await client.query(sql, params);</a:t>
            </a:r>
          </a:p>
          <a:p>
            <a:pPr algn="l">
              <a:lnSpc>
                <a:spcPct val="110000"/>
              </a:lnSpc>
              <a:spcBef>
                <a:spcPts val="100"/>
              </a:spcBef>
              <a:spcAft>
                <a:spcPts val="100"/>
              </a:spcAft>
            </a:pPr>
            <a:r>
              <a:rPr sz="1200">
                <a:solidFill>
                  <a:srgbClr val="000000"/>
                </a:solidFill>
                <a:latin typeface="Calibri"/>
              </a:rPr>
              <a:t>    } finally {</a:t>
            </a:r>
          </a:p>
          <a:p>
            <a:pPr algn="l">
              <a:lnSpc>
                <a:spcPct val="110000"/>
              </a:lnSpc>
              <a:spcBef>
                <a:spcPts val="100"/>
              </a:spcBef>
              <a:spcAft>
                <a:spcPts val="100"/>
              </a:spcAft>
            </a:pPr>
            <a:r>
              <a:rPr sz="1200">
                <a:solidFill>
                  <a:srgbClr val="000000"/>
                </a:solidFill>
                <a:latin typeface="Calibri"/>
              </a:rPr>
              <a:t>        client.release(); // Always release!</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PostgreSQL Repository</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export class PostgresUserRepository implements IUserRepository {</a:t>
            </a:r>
          </a:p>
          <a:p>
            <a:pPr algn="l">
              <a:lnSpc>
                <a:spcPct val="110000"/>
              </a:lnSpc>
              <a:spcBef>
                <a:spcPts val="100"/>
              </a:spcBef>
              <a:spcAft>
                <a:spcPts val="100"/>
              </a:spcAft>
            </a:pPr>
            <a:r>
              <a:rPr sz="1200">
                <a:solidFill>
                  <a:srgbClr val="000000"/>
                </a:solidFill>
                <a:latin typeface="Calibri"/>
              </a:rPr>
              <a:t>    async save(user: User): Promise&lt;User&gt; {</a:t>
            </a:r>
          </a:p>
          <a:p>
            <a:pPr algn="l">
              <a:lnSpc>
                <a:spcPct val="110000"/>
              </a:lnSpc>
              <a:spcBef>
                <a:spcPts val="100"/>
              </a:spcBef>
              <a:spcAft>
                <a:spcPts val="100"/>
              </a:spcAft>
            </a:pPr>
            <a:r>
              <a:rPr sz="1200">
                <a:solidFill>
                  <a:srgbClr val="000000"/>
                </a:solidFill>
                <a:latin typeface="Calibri"/>
              </a:rPr>
              <a:t>        const query = `</a:t>
            </a:r>
          </a:p>
          <a:p>
            <a:pPr algn="l">
              <a:lnSpc>
                <a:spcPct val="110000"/>
              </a:lnSpc>
              <a:spcBef>
                <a:spcPts val="100"/>
              </a:spcBef>
              <a:spcAft>
                <a:spcPts val="100"/>
              </a:spcAft>
            </a:pPr>
            <a:r>
              <a:rPr sz="1200">
                <a:solidFill>
                  <a:srgbClr val="000000"/>
                </a:solidFill>
                <a:latin typeface="Calibri"/>
              </a:rPr>
              <a:t>            INSERT INTO users (id, email, username, first_name, last_name, password_hash, created_at, updated_at, is_active)</a:t>
            </a:r>
          </a:p>
          <a:p>
            <a:pPr algn="l">
              <a:lnSpc>
                <a:spcPct val="110000"/>
              </a:lnSpc>
              <a:spcBef>
                <a:spcPts val="100"/>
              </a:spcBef>
              <a:spcAft>
                <a:spcPts val="100"/>
              </a:spcAft>
            </a:pPr>
            <a:r>
              <a:rPr sz="1200">
                <a:solidFill>
                  <a:srgbClr val="000000"/>
                </a:solidFill>
                <a:latin typeface="Calibri"/>
              </a:rPr>
              <a:t>            VALUES ($1, $2, $3, $4, $5, $6, $7, $8, $9)</a:t>
            </a:r>
          </a:p>
          <a:p>
            <a:pPr algn="l">
              <a:lnSpc>
                <a:spcPct val="110000"/>
              </a:lnSpc>
              <a:spcBef>
                <a:spcPts val="100"/>
              </a:spcBef>
              <a:spcAft>
                <a:spcPts val="100"/>
              </a:spcAft>
            </a:pPr>
            <a:r>
              <a:rPr sz="1200">
                <a:solidFill>
                  <a:srgbClr val="000000"/>
                </a:solidFill>
                <a:latin typeface="Calibri"/>
              </a:rPr>
              <a:t>            ON CONFLICT (id) DO UPDATE</a:t>
            </a:r>
          </a:p>
          <a:p>
            <a:pPr algn="l">
              <a:lnSpc>
                <a:spcPct val="110000"/>
              </a:lnSpc>
              <a:spcBef>
                <a:spcPts val="100"/>
              </a:spcBef>
              <a:spcAft>
                <a:spcPts val="100"/>
              </a:spcAft>
            </a:pPr>
            <a:r>
              <a:rPr sz="1200">
                <a:solidFill>
                  <a:srgbClr val="000000"/>
                </a:solidFill>
                <a:latin typeface="Calibri"/>
              </a:rPr>
              <a:t>            SET email = $2, username = $3, first_name = $4, last_name = $5, updated_at = $8, is_active = $9</a:t>
            </a:r>
          </a:p>
          <a:p>
            <a:pPr algn="l">
              <a:lnSpc>
                <a:spcPct val="110000"/>
              </a:lnSpc>
              <a:spcBef>
                <a:spcPts val="100"/>
              </a:spcBef>
              <a:spcAft>
                <a:spcPts val="100"/>
              </a:spcAft>
            </a:pPr>
            <a:r>
              <a:rPr sz="1200">
                <a:solidFill>
                  <a:srgbClr val="000000"/>
                </a:solidFill>
                <a:latin typeface="Calibri"/>
              </a:rPr>
              <a:t>            RETURNING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const result = await this.db.query(query, [</a:t>
            </a:r>
          </a:p>
          <a:p>
            <a:pPr algn="l">
              <a:lnSpc>
                <a:spcPct val="110000"/>
              </a:lnSpc>
              <a:spcBef>
                <a:spcPts val="100"/>
              </a:spcBef>
              <a:spcAft>
                <a:spcPts val="100"/>
              </a:spcAft>
            </a:pPr>
            <a:r>
              <a:rPr sz="1200">
                <a:solidFill>
                  <a:srgbClr val="000000"/>
                </a:solidFill>
                <a:latin typeface="Calibri"/>
              </a:rPr>
              <a:t>            user.id,</a:t>
            </a:r>
          </a:p>
          <a:p>
            <a:pPr algn="l">
              <a:lnSpc>
                <a:spcPct val="110000"/>
              </a:lnSpc>
              <a:spcBef>
                <a:spcPts val="100"/>
              </a:spcBef>
              <a:spcAft>
                <a:spcPts val="100"/>
              </a:spcAft>
            </a:pPr>
            <a:r>
              <a:rPr sz="1200">
                <a:solidFill>
                  <a:srgbClr val="000000"/>
                </a:solidFill>
                <a:latin typeface="Calibri"/>
              </a:rPr>
              <a:t>            user.email,</a:t>
            </a:r>
          </a:p>
          <a:p>
            <a:pPr algn="l">
              <a:lnSpc>
                <a:spcPct val="110000"/>
              </a:lnSpc>
              <a:spcBef>
                <a:spcPts val="100"/>
              </a:spcBef>
              <a:spcAft>
                <a:spcPts val="100"/>
              </a:spcAft>
            </a:pPr>
            <a:r>
              <a:rPr sz="1200">
                <a:solidFill>
                  <a:srgbClr val="000000"/>
                </a:solidFill>
                <a:latin typeface="Calibri"/>
              </a:rPr>
              <a:t>            user.username,</a:t>
            </a:r>
          </a:p>
          <a:p>
            <a:pPr algn="l">
              <a:lnSpc>
                <a:spcPct val="110000"/>
              </a:lnSpc>
              <a:spcBef>
                <a:spcPts val="100"/>
              </a:spcBef>
              <a:spcAft>
                <a:spcPts val="100"/>
              </a:spcAft>
            </a:pPr>
            <a:r>
              <a:rPr sz="1200">
                <a:solidFill>
                  <a:srgbClr val="000000"/>
                </a:solidFill>
                <a:latin typeface="Calibri"/>
              </a:rPr>
              <a:t>            user.firstName,</a:t>
            </a:r>
          </a:p>
          <a:p>
            <a:pPr algn="l">
              <a:lnSpc>
                <a:spcPct val="110000"/>
              </a:lnSpc>
              <a:spcBef>
                <a:spcPts val="100"/>
              </a:spcBef>
              <a:spcAft>
                <a:spcPts val="100"/>
              </a:spcAft>
            </a:pPr>
            <a:r>
              <a:rPr sz="1200">
                <a:solidFill>
                  <a:srgbClr val="000000"/>
                </a:solidFill>
                <a:latin typeface="Calibri"/>
              </a:rPr>
              <a:t>            user.lastName,</a:t>
            </a:r>
          </a:p>
          <a:p>
            <a:pPr algn="l">
              <a:lnSpc>
                <a:spcPct val="110000"/>
              </a:lnSpc>
              <a:spcBef>
                <a:spcPts val="100"/>
              </a:spcBef>
              <a:spcAft>
                <a:spcPts val="100"/>
              </a:spcAft>
            </a:pPr>
            <a:r>
              <a:rPr sz="1200">
                <a:solidFill>
                  <a:srgbClr val="000000"/>
                </a:solidFill>
                <a:latin typeface="Calibri"/>
              </a:rPr>
              <a:t>            user.passwordHash,</a:t>
            </a:r>
          </a:p>
          <a:p>
            <a:pPr algn="l">
              <a:lnSpc>
                <a:spcPct val="110000"/>
              </a:lnSpc>
              <a:spcBef>
                <a:spcPts val="100"/>
              </a:spcBef>
              <a:spcAft>
                <a:spcPts val="100"/>
              </a:spcAft>
            </a:pPr>
            <a:r>
              <a:rPr sz="1200">
                <a:solidFill>
                  <a:srgbClr val="000000"/>
                </a:solidFill>
                <a:latin typeface="Calibri"/>
              </a:rPr>
              <a:t>            user.createdAt,</a:t>
            </a:r>
          </a:p>
          <a:p>
            <a:pPr algn="l">
              <a:lnSpc>
                <a:spcPct val="110000"/>
              </a:lnSpc>
              <a:spcBef>
                <a:spcPts val="100"/>
              </a:spcBef>
              <a:spcAft>
                <a:spcPts val="100"/>
              </a:spcAft>
            </a:pPr>
            <a:r>
              <a:rPr sz="1200">
                <a:solidFill>
                  <a:srgbClr val="000000"/>
                </a:solidFill>
                <a:latin typeface="Calibri"/>
              </a:rPr>
              <a:t>            user.updatedAt,</a:t>
            </a:r>
          </a:p>
          <a:p>
            <a:pPr algn="l">
              <a:lnSpc>
                <a:spcPct val="110000"/>
              </a:lnSpc>
              <a:spcBef>
                <a:spcPts val="100"/>
              </a:spcBef>
              <a:spcAft>
                <a:spcPts val="100"/>
              </a:spcAft>
            </a:pPr>
            <a:r>
              <a:rPr sz="1200">
                <a:solidFill>
                  <a:srgbClr val="000000"/>
                </a:solidFill>
                <a:latin typeface="Calibri"/>
              </a:rPr>
              <a:t>            user.isActive,</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return this.mapRowToUser(result.rows[0]);</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private mapRowToUser(row: any): User {</a:t>
            </a:r>
          </a:p>
          <a:p>
            <a:pPr algn="l">
              <a:lnSpc>
                <a:spcPct val="110000"/>
              </a:lnSpc>
              <a:spcBef>
                <a:spcPts val="100"/>
              </a:spcBef>
              <a:spcAft>
                <a:spcPts val="100"/>
              </a:spcAft>
            </a:pPr>
            <a:r>
              <a:rPr sz="1200">
                <a:solidFill>
                  <a:srgbClr val="000000"/>
                </a:solidFill>
                <a:latin typeface="Calibri"/>
              </a:rPr>
              <a:t>        return new User({</a:t>
            </a:r>
          </a:p>
          <a:p>
            <a:pPr algn="l">
              <a:lnSpc>
                <a:spcPct val="110000"/>
              </a:lnSpc>
              <a:spcBef>
                <a:spcPts val="100"/>
              </a:spcBef>
              <a:spcAft>
                <a:spcPts val="100"/>
              </a:spcAft>
            </a:pPr>
            <a:r>
              <a:rPr sz="1200">
                <a:solidFill>
                  <a:srgbClr val="000000"/>
                </a:solidFill>
                <a:latin typeface="Calibri"/>
              </a:rPr>
              <a:t>            id: row.id,</a:t>
            </a:r>
          </a:p>
          <a:p>
            <a:pPr algn="l">
              <a:lnSpc>
                <a:spcPct val="110000"/>
              </a:lnSpc>
              <a:spcBef>
                <a:spcPts val="100"/>
              </a:spcBef>
              <a:spcAft>
                <a:spcPts val="100"/>
              </a:spcAft>
            </a:pPr>
            <a:r>
              <a:rPr sz="1200">
                <a:solidFill>
                  <a:srgbClr val="000000"/>
                </a:solidFill>
                <a:latin typeface="Calibri"/>
              </a:rPr>
              <a:t>            email: row.email,</a:t>
            </a:r>
          </a:p>
          <a:p>
            <a:pPr algn="l">
              <a:lnSpc>
                <a:spcPct val="110000"/>
              </a:lnSpc>
              <a:spcBef>
                <a:spcPts val="100"/>
              </a:spcBef>
              <a:spcAft>
                <a:spcPts val="100"/>
              </a:spcAft>
            </a:pPr>
            <a:r>
              <a:rPr sz="1200">
                <a:solidFill>
                  <a:srgbClr val="000000"/>
                </a:solidFill>
                <a:latin typeface="Calibri"/>
              </a:rPr>
              <a:t>            username: row.username,</a:t>
            </a:r>
          </a:p>
          <a:p>
            <a:pPr algn="l">
              <a:lnSpc>
                <a:spcPct val="110000"/>
              </a:lnSpc>
              <a:spcBef>
                <a:spcPts val="100"/>
              </a:spcBef>
              <a:spcAft>
                <a:spcPts val="100"/>
              </a:spcAft>
            </a:pPr>
            <a:r>
              <a:rPr sz="1200">
                <a:solidFill>
                  <a:srgbClr val="000000"/>
                </a:solidFill>
                <a:latin typeface="Calibri"/>
              </a:rPr>
              <a:t>            firstName: row.first_name,</a:t>
            </a:r>
          </a:p>
          <a:p>
            <a:pPr algn="l">
              <a:lnSpc>
                <a:spcPct val="110000"/>
              </a:lnSpc>
              <a:spcBef>
                <a:spcPts val="100"/>
              </a:spcBef>
              <a:spcAft>
                <a:spcPts val="100"/>
              </a:spcAft>
            </a:pPr>
            <a:r>
              <a:rPr sz="1200">
                <a:solidFill>
                  <a:srgbClr val="000000"/>
                </a:solidFill>
                <a:latin typeface="Calibri"/>
              </a:rPr>
              <a:t>            lastName: row.last_name,</a:t>
            </a:r>
          </a:p>
          <a:p>
            <a:pPr algn="l">
              <a:lnSpc>
                <a:spcPct val="110000"/>
              </a:lnSpc>
              <a:spcBef>
                <a:spcPts val="100"/>
              </a:spcBef>
              <a:spcAft>
                <a:spcPts val="100"/>
              </a:spcAft>
            </a:pPr>
            <a:r>
              <a:rPr sz="1200">
                <a:solidFill>
                  <a:srgbClr val="000000"/>
                </a:solidFill>
                <a:latin typeface="Calibri"/>
              </a:rPr>
              <a:t>            passwordHash: row.password_hash,</a:t>
            </a:r>
          </a:p>
          <a:p>
            <a:pPr algn="l">
              <a:lnSpc>
                <a:spcPct val="110000"/>
              </a:lnSpc>
              <a:spcBef>
                <a:spcPts val="100"/>
              </a:spcBef>
              <a:spcAft>
                <a:spcPts val="100"/>
              </a:spcAft>
            </a:pPr>
            <a:r>
              <a:rPr sz="1200">
                <a:solidFill>
                  <a:srgbClr val="000000"/>
                </a:solidFill>
                <a:latin typeface="Calibri"/>
              </a:rPr>
              <a:t>            createdAt: row.created_at,</a:t>
            </a:r>
          </a:p>
          <a:p>
            <a:pPr algn="l">
              <a:lnSpc>
                <a:spcPct val="110000"/>
              </a:lnSpc>
              <a:spcBef>
                <a:spcPts val="100"/>
              </a:spcBef>
              <a:spcAft>
                <a:spcPts val="100"/>
              </a:spcAft>
            </a:pPr>
            <a:r>
              <a:rPr sz="1200">
                <a:solidFill>
                  <a:srgbClr val="000000"/>
                </a:solidFill>
                <a:latin typeface="Calibri"/>
              </a:rPr>
              <a:t>            updatedAt: row.updated_at,</a:t>
            </a:r>
          </a:p>
          <a:p>
            <a:pPr algn="l">
              <a:lnSpc>
                <a:spcPct val="110000"/>
              </a:lnSpc>
              <a:spcBef>
                <a:spcPts val="100"/>
              </a:spcBef>
              <a:spcAft>
                <a:spcPts val="100"/>
              </a:spcAft>
            </a:pPr>
            <a:r>
              <a:rPr sz="1200">
                <a:solidFill>
                  <a:srgbClr val="000000"/>
                </a:solidFill>
                <a:latin typeface="Calibri"/>
              </a:rPr>
              <a:t>            isActive: row.is_active,</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Database Migrations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DATABASE MIGRATIONS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migrations/                                                    │</a:t>
            </a:r>
          </a:p>
          <a:p>
            <a:pPr algn="l">
              <a:lnSpc>
                <a:spcPct val="110000"/>
              </a:lnSpc>
              <a:spcBef>
                <a:spcPts val="100"/>
              </a:spcBef>
              <a:spcAft>
                <a:spcPts val="100"/>
              </a:spcAft>
            </a:pPr>
            <a:r>
              <a:rPr sz="1200">
                <a:solidFill>
                  <a:srgbClr val="000000"/>
                </a:solidFill>
                <a:latin typeface="Calibri"/>
              </a:rPr>
              <a:t>│  ├── 001_initial_schema.sql                                    │</a:t>
            </a:r>
          </a:p>
          <a:p>
            <a:pPr algn="l">
              <a:lnSpc>
                <a:spcPct val="110000"/>
              </a:lnSpc>
              <a:spcBef>
                <a:spcPts val="100"/>
              </a:spcBef>
              <a:spcAft>
                <a:spcPts val="100"/>
              </a:spcAft>
            </a:pPr>
            <a:r>
              <a:rPr sz="1200">
                <a:solidFill>
                  <a:srgbClr val="000000"/>
                </a:solidFill>
                <a:latin typeface="Calibri"/>
              </a:rPr>
              <a:t>│  ├── 002_add_indexes.sql                                       │</a:t>
            </a:r>
          </a:p>
          <a:p>
            <a:pPr algn="l">
              <a:lnSpc>
                <a:spcPct val="110000"/>
              </a:lnSpc>
              <a:spcBef>
                <a:spcPts val="100"/>
              </a:spcBef>
              <a:spcAft>
                <a:spcPts val="100"/>
              </a:spcAft>
            </a:pPr>
            <a:r>
              <a:rPr sz="1200">
                <a:solidFill>
                  <a:srgbClr val="000000"/>
                </a:solidFill>
                <a:latin typeface="Calibri"/>
              </a:rPr>
              <a:t>│  └── 003_event_store.sql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migrations table: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id │ name                 │ executed_at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1  │ 001_initial_schema   │ 2024-01-01 10:00:00 │           │</a:t>
            </a:r>
          </a:p>
          <a:p>
            <a:pPr algn="l">
              <a:lnSpc>
                <a:spcPct val="110000"/>
              </a:lnSpc>
              <a:spcBef>
                <a:spcPts val="100"/>
              </a:spcBef>
              <a:spcAft>
                <a:spcPts val="100"/>
              </a:spcAft>
            </a:pPr>
            <a:r>
              <a:rPr sz="1200">
                <a:solidFill>
                  <a:srgbClr val="000000"/>
                </a:solidFill>
                <a:latin typeface="Calibri"/>
              </a:rPr>
              <a:t>│  │ 2  │ 002_add_indexes      │ 2024-01-01 10:00:01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Migration Runner: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async function runMigrations() {                     │   │</a:t>
            </a:r>
          </a:p>
          <a:p>
            <a:pPr algn="l">
              <a:lnSpc>
                <a:spcPct val="110000"/>
              </a:lnSpc>
              <a:spcBef>
                <a:spcPts val="100"/>
              </a:spcBef>
              <a:spcAft>
                <a:spcPts val="100"/>
              </a:spcAft>
            </a:pPr>
            <a:r>
              <a:rPr sz="1200">
                <a:solidFill>
                  <a:srgbClr val="000000"/>
                </a:solidFill>
                <a:latin typeface="Calibri"/>
              </a:rPr>
              <a:t>│  │    const pending = getPendingMigrations();           │   │</a:t>
            </a:r>
          </a:p>
          <a:p>
            <a:pPr algn="l">
              <a:lnSpc>
                <a:spcPct val="110000"/>
              </a:lnSpc>
              <a:spcBef>
                <a:spcPts val="100"/>
              </a:spcBef>
              <a:spcAft>
                <a:spcPts val="100"/>
              </a:spcAft>
            </a:pPr>
            <a:r>
              <a:rPr sz="1200">
                <a:solidFill>
                  <a:srgbClr val="000000"/>
                </a:solidFill>
                <a:latin typeface="Calibri"/>
              </a:rPr>
              <a:t>│  │    for (const migration of pending) {                │   │</a:t>
            </a:r>
          </a:p>
          <a:p>
            <a:pPr algn="l">
              <a:lnSpc>
                <a:spcPct val="110000"/>
              </a:lnSpc>
              <a:spcBef>
                <a:spcPts val="100"/>
              </a:spcBef>
              <a:spcAft>
                <a:spcPts val="100"/>
              </a:spcAft>
            </a:pPr>
            <a:r>
              <a:rPr sz="1200">
                <a:solidFill>
                  <a:srgbClr val="000000"/>
                </a:solidFill>
                <a:latin typeface="Calibri"/>
              </a:rPr>
              <a:t>│  │      await executeMigration(migration);              │   │</a:t>
            </a:r>
          </a:p>
          <a:p>
            <a:pPr algn="l">
              <a:lnSpc>
                <a:spcPct val="110000"/>
              </a:lnSpc>
              <a:spcBef>
                <a:spcPts val="100"/>
              </a:spcBef>
              <a:spcAft>
                <a:spcPts val="100"/>
              </a:spcAft>
            </a:pPr>
            <a:r>
              <a:rPr sz="1200">
                <a:solidFill>
                  <a:srgbClr val="000000"/>
                </a:solidFill>
                <a:latin typeface="Calibri"/>
              </a:rPr>
              <a:t>│  │      await recordMigration(migration);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PART 2.3: Caching with Redis (10 Slides)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Redis Overview</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REDIS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Features:                                                      │</a:t>
            </a:r>
          </a:p>
          <a:p>
            <a:pPr algn="l">
              <a:lnSpc>
                <a:spcPct val="110000"/>
              </a:lnSpc>
              <a:spcBef>
                <a:spcPts val="100"/>
              </a:spcBef>
              <a:spcAft>
                <a:spcPts val="100"/>
              </a:spcAft>
            </a:pPr>
            <a:r>
              <a:rPr sz="1400">
                <a:solidFill>
                  <a:srgbClr val="000000"/>
                </a:solidFill>
                <a:latin typeface="Calibri"/>
              </a:rPr>
              <a:t>│  • In-memory (fast)                                           │</a:t>
            </a:r>
          </a:p>
          <a:p>
            <a:pPr algn="l">
              <a:lnSpc>
                <a:spcPct val="110000"/>
              </a:lnSpc>
              <a:spcBef>
                <a:spcPts val="100"/>
              </a:spcBef>
              <a:spcAft>
                <a:spcPts val="100"/>
              </a:spcAft>
            </a:pPr>
            <a:r>
              <a:rPr sz="1400">
                <a:solidFill>
                  <a:srgbClr val="000000"/>
                </a:solidFill>
                <a:latin typeface="Calibri"/>
              </a:rPr>
              <a:t>│  • Data structures: String, Hash, List, Set, Sorted Set      │</a:t>
            </a:r>
          </a:p>
          <a:p>
            <a:pPr algn="l">
              <a:lnSpc>
                <a:spcPct val="110000"/>
              </a:lnSpc>
              <a:spcBef>
                <a:spcPts val="100"/>
              </a:spcBef>
              <a:spcAft>
                <a:spcPts val="100"/>
              </a:spcAft>
            </a:pPr>
            <a:r>
              <a:rPr sz="1400">
                <a:solidFill>
                  <a:srgbClr val="000000"/>
                </a:solidFill>
                <a:latin typeface="Calibri"/>
              </a:rPr>
              <a:t>│  • Persistence (optional)                                    │</a:t>
            </a:r>
          </a:p>
          <a:p>
            <a:pPr algn="l">
              <a:lnSpc>
                <a:spcPct val="110000"/>
              </a:lnSpc>
              <a:spcBef>
                <a:spcPts val="100"/>
              </a:spcBef>
              <a:spcAft>
                <a:spcPts val="100"/>
              </a:spcAft>
            </a:pPr>
            <a:r>
              <a:rPr sz="1400">
                <a:solidFill>
                  <a:srgbClr val="000000"/>
                </a:solidFill>
                <a:latin typeface="Calibri"/>
              </a:rPr>
              <a:t>│  • Pub/Sub                                                    │</a:t>
            </a:r>
          </a:p>
          <a:p>
            <a:pPr algn="l">
              <a:lnSpc>
                <a:spcPct val="110000"/>
              </a:lnSpc>
              <a:spcBef>
                <a:spcPts val="100"/>
              </a:spcBef>
              <a:spcAft>
                <a:spcPts val="100"/>
              </a:spcAft>
            </a:pPr>
            <a:r>
              <a:rPr sz="1400">
                <a:solidFill>
                  <a:srgbClr val="000000"/>
                </a:solidFill>
                <a:latin typeface="Calibri"/>
              </a:rPr>
              <a:t>│  • TTL (Time To Live)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Use Cases:                                                    │</a:t>
            </a:r>
          </a:p>
          <a:p>
            <a:pPr algn="l">
              <a:lnSpc>
                <a:spcPct val="110000"/>
              </a:lnSpc>
              <a:spcBef>
                <a:spcPts val="100"/>
              </a:spcBef>
              <a:spcAft>
                <a:spcPts val="100"/>
              </a:spcAft>
            </a:pPr>
            <a:r>
              <a:rPr sz="1400">
                <a:solidFill>
                  <a:srgbClr val="000000"/>
                </a:solidFill>
                <a:latin typeface="Calibri"/>
              </a:rPr>
              <a:t>│  • Caching                                                    │</a:t>
            </a:r>
          </a:p>
          <a:p>
            <a:pPr algn="l">
              <a:lnSpc>
                <a:spcPct val="110000"/>
              </a:lnSpc>
              <a:spcBef>
                <a:spcPts val="100"/>
              </a:spcBef>
              <a:spcAft>
                <a:spcPts val="100"/>
              </a:spcAft>
            </a:pPr>
            <a:r>
              <a:rPr sz="1400">
                <a:solidFill>
                  <a:srgbClr val="000000"/>
                </a:solidFill>
                <a:latin typeface="Calibri"/>
              </a:rPr>
              <a:t>│  • Session storage                                            │</a:t>
            </a:r>
          </a:p>
          <a:p>
            <a:pPr algn="l">
              <a:lnSpc>
                <a:spcPct val="110000"/>
              </a:lnSpc>
              <a:spcBef>
                <a:spcPts val="100"/>
              </a:spcBef>
              <a:spcAft>
                <a:spcPts val="100"/>
              </a:spcAft>
            </a:pPr>
            <a:r>
              <a:rPr sz="1400">
                <a:solidFill>
                  <a:srgbClr val="000000"/>
                </a:solidFill>
                <a:latin typeface="Calibri"/>
              </a:rPr>
              <a:t>│  • Rate limiting                                              │</a:t>
            </a:r>
          </a:p>
          <a:p>
            <a:pPr algn="l">
              <a:lnSpc>
                <a:spcPct val="110000"/>
              </a:lnSpc>
              <a:spcBef>
                <a:spcPts val="100"/>
              </a:spcBef>
              <a:spcAft>
                <a:spcPts val="100"/>
              </a:spcAft>
            </a:pPr>
            <a:r>
              <a:rPr sz="1400">
                <a:solidFill>
                  <a:srgbClr val="000000"/>
                </a:solidFill>
                <a:latin typeface="Calibri"/>
              </a:rPr>
              <a:t>│  • Distributed locking                                        │</a:t>
            </a:r>
          </a:p>
          <a:p>
            <a:pPr algn="l">
              <a:lnSpc>
                <a:spcPct val="110000"/>
              </a:lnSpc>
              <a:spcBef>
                <a:spcPts val="100"/>
              </a:spcBef>
              <a:spcAft>
                <a:spcPts val="100"/>
              </a:spcAft>
            </a:pPr>
            <a:r>
              <a:rPr sz="1400">
                <a:solidFill>
                  <a:srgbClr val="000000"/>
                </a:solidFill>
                <a:latin typeface="Calibri"/>
              </a:rPr>
              <a:t>│  • Message queues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Redis Connection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```typescript</a:t>
            </a:r>
          </a:p>
          <a:p>
            <a:pPr algn="l">
              <a:lnSpc>
                <a:spcPct val="110000"/>
              </a:lnSpc>
              <a:spcBef>
                <a:spcPts val="100"/>
              </a:spcBef>
              <a:spcAft>
                <a:spcPts val="100"/>
              </a:spcAft>
            </a:pPr>
            <a:r>
              <a:rPr sz="1400">
                <a:solidFill>
                  <a:srgbClr val="000000"/>
                </a:solidFill>
                <a:latin typeface="Calibri"/>
              </a:rPr>
              <a:t>import Redis from 'ioredis';</a:t>
            </a:r>
          </a:p>
          <a:p>
            <a:pPr algn="l">
              <a:lnSpc>
                <a:spcPct val="110000"/>
              </a:lnSpc>
              <a:spcBef>
                <a:spcPts val="100"/>
              </a:spcBef>
              <a:spcAft>
                <a:spcPts val="100"/>
              </a:spcAft>
            </a:pPr>
            <a:r>
              <a:rPr sz="1400">
                <a:solidFill>
                  <a:srgbClr val="000000"/>
                </a:solidFill>
                <a:latin typeface="Calibri"/>
              </a:rPr>
              <a:t>const redis = new Redis({</a:t>
            </a:r>
          </a:p>
          <a:p>
            <a:pPr algn="l">
              <a:lnSpc>
                <a:spcPct val="110000"/>
              </a:lnSpc>
              <a:spcBef>
                <a:spcPts val="100"/>
              </a:spcBef>
              <a:spcAft>
                <a:spcPts val="100"/>
              </a:spcAft>
            </a:pPr>
            <a:r>
              <a:rPr sz="1400">
                <a:solidFill>
                  <a:srgbClr val="000000"/>
                </a:solidFill>
                <a:latin typeface="Calibri"/>
              </a:rPr>
              <a:t>    host: process.env.REDIS_HOST || 'localhost',</a:t>
            </a:r>
          </a:p>
          <a:p>
            <a:pPr algn="l">
              <a:lnSpc>
                <a:spcPct val="110000"/>
              </a:lnSpc>
              <a:spcBef>
                <a:spcPts val="100"/>
              </a:spcBef>
              <a:spcAft>
                <a:spcPts val="100"/>
              </a:spcAft>
            </a:pPr>
            <a:r>
              <a:rPr sz="1400">
                <a:solidFill>
                  <a:srgbClr val="000000"/>
                </a:solidFill>
                <a:latin typeface="Calibri"/>
              </a:rPr>
              <a:t>    port: parseInt(process.env.REDIS_PORT || '6379'),</a:t>
            </a:r>
          </a:p>
          <a:p>
            <a:pPr algn="l">
              <a:lnSpc>
                <a:spcPct val="110000"/>
              </a:lnSpc>
              <a:spcBef>
                <a:spcPts val="100"/>
              </a:spcBef>
              <a:spcAft>
                <a:spcPts val="100"/>
              </a:spcAft>
            </a:pPr>
            <a:r>
              <a:rPr sz="1400">
                <a:solidFill>
                  <a:srgbClr val="000000"/>
                </a:solidFill>
                <a:latin typeface="Calibri"/>
              </a:rPr>
              <a:t>    password: process.env.REDIS_PASSWORD,</a:t>
            </a:r>
          </a:p>
          <a:p>
            <a:pPr algn="l">
              <a:lnSpc>
                <a:spcPct val="110000"/>
              </a:lnSpc>
              <a:spcBef>
                <a:spcPts val="100"/>
              </a:spcBef>
              <a:spcAft>
                <a:spcPts val="100"/>
              </a:spcAft>
            </a:pPr>
            <a:r>
              <a:rPr sz="1400">
                <a:solidFill>
                  <a:srgbClr val="000000"/>
                </a:solidFill>
                <a:latin typeface="Calibri"/>
              </a:rPr>
              <a:t>    retryStrategy: (times) =&gt; {</a:t>
            </a:r>
          </a:p>
          <a:p>
            <a:pPr algn="l">
              <a:lnSpc>
                <a:spcPct val="110000"/>
              </a:lnSpc>
              <a:spcBef>
                <a:spcPts val="100"/>
              </a:spcBef>
              <a:spcAft>
                <a:spcPts val="100"/>
              </a:spcAft>
            </a:pPr>
            <a:r>
              <a:rPr sz="1400">
                <a:solidFill>
                  <a:srgbClr val="000000"/>
                </a:solidFill>
                <a:latin typeface="Calibri"/>
              </a:rPr>
              <a:t>        if (times &gt; 3) {</a:t>
            </a:r>
          </a:p>
          <a:p>
            <a:pPr algn="l">
              <a:lnSpc>
                <a:spcPct val="110000"/>
              </a:lnSpc>
              <a:spcBef>
                <a:spcPts val="100"/>
              </a:spcBef>
              <a:spcAft>
                <a:spcPts val="100"/>
              </a:spcAft>
            </a:pPr>
            <a:r>
              <a:rPr sz="1400">
                <a:solidFill>
                  <a:srgbClr val="000000"/>
                </a:solidFill>
                <a:latin typeface="Calibri"/>
              </a:rPr>
              <a:t>            return null; // Stop retrying</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return Math.min(times * 100, 3000);</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maxRetriesPerRequest: 3,</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Event monitoring</a:t>
            </a:r>
          </a:p>
          <a:p>
            <a:pPr algn="l">
              <a:lnSpc>
                <a:spcPct val="110000"/>
              </a:lnSpc>
              <a:spcBef>
                <a:spcPts val="100"/>
              </a:spcBef>
              <a:spcAft>
                <a:spcPts val="100"/>
              </a:spcAft>
            </a:pPr>
            <a:r>
              <a:rPr sz="1400">
                <a:solidFill>
                  <a:srgbClr val="000000"/>
                </a:solidFill>
                <a:latin typeface="Calibri"/>
              </a:rPr>
              <a:t>redis.on('connect', () =&gt; console.log('Redis connected'));</a:t>
            </a:r>
          </a:p>
          <a:p>
            <a:pPr algn="l">
              <a:lnSpc>
                <a:spcPct val="110000"/>
              </a:lnSpc>
              <a:spcBef>
                <a:spcPts val="100"/>
              </a:spcBef>
              <a:spcAft>
                <a:spcPts val="100"/>
              </a:spcAft>
            </a:pPr>
            <a:r>
              <a:rPr sz="1400">
                <a:solidFill>
                  <a:srgbClr val="000000"/>
                </a:solidFill>
                <a:latin typeface="Calibri"/>
              </a:rPr>
              <a:t>redis.on('error', (error) =&gt; console.error('Redis error:', error));</a:t>
            </a:r>
          </a:p>
          <a:p>
            <a:pPr algn="l">
              <a:lnSpc>
                <a:spcPct val="110000"/>
              </a:lnSpc>
              <a:spcBef>
                <a:spcPts val="100"/>
              </a:spcBef>
              <a:spcAft>
                <a:spcPts val="100"/>
              </a:spcAft>
            </a:pPr>
            <a:r>
              <a:rPr sz="1400">
                <a:solidFill>
                  <a:srgbClr val="000000"/>
                </a:solidFill>
                <a:latin typeface="Calibri"/>
              </a:rPr>
              <a:t>redis.on('close', () =&gt; console.log('Redis connection closed'));</a:t>
            </a:r>
          </a:p>
          <a:p>
            <a:pPr algn="l">
              <a:lnSpc>
                <a:spcPct val="110000"/>
              </a:lnSpc>
              <a:spcBef>
                <a:spcPts val="100"/>
              </a:spcBef>
              <a:spcAft>
                <a:spcPts val="100"/>
              </a:spcAft>
            </a:pPr>
            <a:r>
              <a:rPr sz="1400">
                <a:solidFill>
                  <a:srgbClr val="000000"/>
                </a:solidFill>
                <a:latin typeface="Calibri"/>
              </a:rPr>
              <a:t>// Usage</a:t>
            </a:r>
          </a:p>
          <a:p>
            <a:pPr algn="l">
              <a:lnSpc>
                <a:spcPct val="110000"/>
              </a:lnSpc>
              <a:spcBef>
                <a:spcPts val="100"/>
              </a:spcBef>
              <a:spcAft>
                <a:spcPts val="100"/>
              </a:spcAft>
            </a:pPr>
            <a:r>
              <a:rPr sz="1400">
                <a:solidFill>
                  <a:srgbClr val="000000"/>
                </a:solidFill>
                <a:latin typeface="Calibri"/>
              </a:rPr>
              <a:t>await redis.set('key', 'value', 'EX', 60); // TTL 60 seconds</a:t>
            </a:r>
          </a:p>
          <a:p>
            <a:pPr algn="l">
              <a:lnSpc>
                <a:spcPct val="110000"/>
              </a:lnSpc>
              <a:spcBef>
                <a:spcPts val="100"/>
              </a:spcBef>
              <a:spcAft>
                <a:spcPts val="100"/>
              </a:spcAft>
            </a:pPr>
            <a:r>
              <a:rPr sz="1400">
                <a:solidFill>
                  <a:srgbClr val="000000"/>
                </a:solidFill>
                <a:latin typeface="Calibri"/>
              </a:rPr>
              <a:t>const value = await redis.get('key');</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Cache-Aside Pattern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CACHE-ASIDE PATTERN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1. Client requests data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2. Check Cache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Hit       Miss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3. Query Database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4. Store in Cache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5. Return data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Code: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async function getUser(id: string): Promise&lt;User&gt; {  │   │</a:t>
            </a:r>
          </a:p>
          <a:p>
            <a:pPr algn="l">
              <a:lnSpc>
                <a:spcPct val="110000"/>
              </a:lnSpc>
              <a:spcBef>
                <a:spcPts val="100"/>
              </a:spcBef>
              <a:spcAft>
                <a:spcPts val="100"/>
              </a:spcAft>
            </a:pPr>
            <a:r>
              <a:rPr sz="1200">
                <a:solidFill>
                  <a:srgbClr val="000000"/>
                </a:solidFill>
                <a:latin typeface="Calibri"/>
              </a:rPr>
              <a:t>│  │    const cached = await redis.get(`user:${id}`);     │   │</a:t>
            </a:r>
          </a:p>
          <a:p>
            <a:pPr algn="l">
              <a:lnSpc>
                <a:spcPct val="110000"/>
              </a:lnSpc>
              <a:spcBef>
                <a:spcPts val="100"/>
              </a:spcBef>
              <a:spcAft>
                <a:spcPts val="100"/>
              </a:spcAft>
            </a:pPr>
            <a:r>
              <a:rPr sz="1200">
                <a:solidFill>
                  <a:srgbClr val="000000"/>
                </a:solidFill>
                <a:latin typeface="Calibri"/>
              </a:rPr>
              <a:t>│  │    if (cached) return JSON.parse(cached);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const user = await db.query('SELECT * FROM users WHERE id = $1', [id]); │</a:t>
            </a:r>
          </a:p>
          <a:p>
            <a:pPr algn="l">
              <a:lnSpc>
                <a:spcPct val="110000"/>
              </a:lnSpc>
              <a:spcBef>
                <a:spcPts val="100"/>
              </a:spcBef>
              <a:spcAft>
                <a:spcPts val="100"/>
              </a:spcAft>
            </a:pPr>
            <a:r>
              <a:rPr sz="1200">
                <a:solidFill>
                  <a:srgbClr val="000000"/>
                </a:solidFill>
                <a:latin typeface="Calibri"/>
              </a:rPr>
              <a:t>│  │    await redis.set(`user:${id}`, JSON.stringify(user), 'EX', 300); │</a:t>
            </a:r>
          </a:p>
          <a:p>
            <a:pPr algn="l">
              <a:lnSpc>
                <a:spcPct val="110000"/>
              </a:lnSpc>
              <a:spcBef>
                <a:spcPts val="100"/>
              </a:spcBef>
              <a:spcAft>
                <a:spcPts val="100"/>
              </a:spcAft>
            </a:pPr>
            <a:r>
              <a:rPr sz="1200">
                <a:solidFill>
                  <a:srgbClr val="000000"/>
                </a:solidFill>
                <a:latin typeface="Calibri"/>
              </a:rPr>
              <a:t>│  │    return user;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Cache Invalidation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class CacheInvalidation {</a:t>
            </a:r>
          </a:p>
          <a:p>
            <a:pPr algn="l">
              <a:lnSpc>
                <a:spcPct val="110000"/>
              </a:lnSpc>
              <a:spcBef>
                <a:spcPts val="100"/>
              </a:spcBef>
              <a:spcAft>
                <a:spcPts val="100"/>
              </a:spcAft>
            </a:pPr>
            <a:r>
              <a:rPr sz="1200">
                <a:solidFill>
                  <a:srgbClr val="000000"/>
                </a:solidFill>
                <a:latin typeface="Calibri"/>
              </a:rPr>
              <a:t>    // 1. TTL-Based Invalidation</a:t>
            </a:r>
          </a:p>
          <a:p>
            <a:pPr algn="l">
              <a:lnSpc>
                <a:spcPct val="110000"/>
              </a:lnSpc>
              <a:spcBef>
                <a:spcPts val="100"/>
              </a:spcBef>
              <a:spcAft>
                <a:spcPts val="100"/>
              </a:spcAft>
            </a:pPr>
            <a:r>
              <a:rPr sz="1200">
                <a:solidFill>
                  <a:srgbClr val="000000"/>
                </a:solidFill>
                <a:latin typeface="Calibri"/>
              </a:rPr>
              <a:t>    async setWithTTL(key: string, value: any, ttl: number = 300): Promise&lt;void&gt; {</a:t>
            </a:r>
          </a:p>
          <a:p>
            <a:pPr algn="l">
              <a:lnSpc>
                <a:spcPct val="110000"/>
              </a:lnSpc>
              <a:spcBef>
                <a:spcPts val="100"/>
              </a:spcBef>
              <a:spcAft>
                <a:spcPts val="100"/>
              </a:spcAft>
            </a:pPr>
            <a:r>
              <a:rPr sz="1200">
                <a:solidFill>
                  <a:srgbClr val="000000"/>
                </a:solidFill>
                <a:latin typeface="Calibri"/>
              </a:rPr>
              <a:t>        await redis.set(key, JSON.stringify(value), 'EX', ttl);</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2. Event-Based Invalidation</a:t>
            </a:r>
          </a:p>
          <a:p>
            <a:pPr algn="l">
              <a:lnSpc>
                <a:spcPct val="110000"/>
              </a:lnSpc>
              <a:spcBef>
                <a:spcPts val="100"/>
              </a:spcBef>
              <a:spcAft>
                <a:spcPts val="100"/>
              </a:spcAft>
            </a:pPr>
            <a:r>
              <a:rPr sz="1200">
                <a:solidFill>
                  <a:srgbClr val="000000"/>
                </a:solidFill>
                <a:latin typeface="Calibri"/>
              </a:rPr>
              <a:t>    async invalidateOnUpdate(entityType: string, entityId: string): Promise&lt;void&gt; {</a:t>
            </a:r>
          </a:p>
          <a:p>
            <a:pPr algn="l">
              <a:lnSpc>
                <a:spcPct val="110000"/>
              </a:lnSpc>
              <a:spcBef>
                <a:spcPts val="100"/>
              </a:spcBef>
              <a:spcAft>
                <a:spcPts val="100"/>
              </a:spcAft>
            </a:pPr>
            <a:r>
              <a:rPr sz="1200">
                <a:solidFill>
                  <a:srgbClr val="000000"/>
                </a:solidFill>
                <a:latin typeface="Calibri"/>
              </a:rPr>
              <a:t>        const keys = [</a:t>
            </a:r>
          </a:p>
          <a:p>
            <a:pPr algn="l">
              <a:lnSpc>
                <a:spcPct val="110000"/>
              </a:lnSpc>
              <a:spcBef>
                <a:spcPts val="100"/>
              </a:spcBef>
              <a:spcAft>
                <a:spcPts val="100"/>
              </a:spcAft>
            </a:pPr>
            <a:r>
              <a:rPr sz="1200">
                <a:solidFill>
                  <a:srgbClr val="000000"/>
                </a:solidFill>
                <a:latin typeface="Calibri"/>
              </a:rPr>
              <a:t>            `${entityType}:${entityId}`,</a:t>
            </a:r>
          </a:p>
          <a:p>
            <a:pPr algn="l">
              <a:lnSpc>
                <a:spcPct val="110000"/>
              </a:lnSpc>
              <a:spcBef>
                <a:spcPts val="100"/>
              </a:spcBef>
              <a:spcAft>
                <a:spcPts val="100"/>
              </a:spcAft>
            </a:pPr>
            <a:r>
              <a:rPr sz="1200">
                <a:solidFill>
                  <a:srgbClr val="000000"/>
                </a:solidFill>
                <a:latin typeface="Calibri"/>
              </a:rPr>
              <a:t>            `${entityType}s:${entityId}`,</a:t>
            </a:r>
          </a:p>
          <a:p>
            <a:pPr algn="l">
              <a:lnSpc>
                <a:spcPct val="110000"/>
              </a:lnSpc>
              <a:spcBef>
                <a:spcPts val="100"/>
              </a:spcBef>
              <a:spcAft>
                <a:spcPts val="100"/>
              </a:spcAft>
            </a:pPr>
            <a:r>
              <a:rPr sz="1200">
                <a:solidFill>
                  <a:srgbClr val="000000"/>
                </a:solidFill>
                <a:latin typeface="Calibri"/>
              </a:rPr>
              <a:t>            `${entityType}:list:*`,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await Promise.all(keys.map(key =&gt; redis.del(key)));</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3. Version-Based Invalidation</a:t>
            </a:r>
          </a:p>
          <a:p>
            <a:pPr algn="l">
              <a:lnSpc>
                <a:spcPct val="110000"/>
              </a:lnSpc>
              <a:spcBef>
                <a:spcPts val="100"/>
              </a:spcBef>
              <a:spcAft>
                <a:spcPts val="100"/>
              </a:spcAft>
            </a:pPr>
            <a:r>
              <a:rPr sz="1200">
                <a:solidFill>
                  <a:srgbClr val="000000"/>
                </a:solidFill>
                <a:latin typeface="Calibri"/>
              </a:rPr>
              <a:t>    async setWithVersion(key: string, value: any, version: number): Promise&lt;void&gt; {</a:t>
            </a:r>
          </a:p>
          <a:p>
            <a:pPr algn="l">
              <a:lnSpc>
                <a:spcPct val="110000"/>
              </a:lnSpc>
              <a:spcBef>
                <a:spcPts val="100"/>
              </a:spcBef>
              <a:spcAft>
                <a:spcPts val="100"/>
              </a:spcAft>
            </a:pPr>
            <a:r>
              <a:rPr sz="1200">
                <a:solidFill>
                  <a:srgbClr val="000000"/>
                </a:solidFill>
                <a:latin typeface="Calibri"/>
              </a:rPr>
              <a:t>        const versionKey = `${key}:version`;</a:t>
            </a:r>
          </a:p>
          <a:p>
            <a:pPr algn="l">
              <a:lnSpc>
                <a:spcPct val="110000"/>
              </a:lnSpc>
              <a:spcBef>
                <a:spcPts val="100"/>
              </a:spcBef>
              <a:spcAft>
                <a:spcPts val="100"/>
              </a:spcAft>
            </a:pPr>
            <a:r>
              <a:rPr sz="1200">
                <a:solidFill>
                  <a:srgbClr val="000000"/>
                </a:solidFill>
                <a:latin typeface="Calibri"/>
              </a:rPr>
              <a:t>        const currentVersion = await redis.get(versionKey);</a:t>
            </a:r>
          </a:p>
          <a:p>
            <a:pPr algn="l">
              <a:lnSpc>
                <a:spcPct val="110000"/>
              </a:lnSpc>
              <a:spcBef>
                <a:spcPts val="100"/>
              </a:spcBef>
              <a:spcAft>
                <a:spcPts val="100"/>
              </a:spcAft>
            </a:pPr>
            <a:r>
              <a:rPr sz="1200">
                <a:solidFill>
                  <a:srgbClr val="000000"/>
                </a:solidFill>
                <a:latin typeface="Calibri"/>
              </a:rPr>
              <a:t>        if (currentVersion &amp;&amp; parseInt(currentVersion) &gt; version) {</a:t>
            </a:r>
          </a:p>
          <a:p>
            <a:pPr algn="l">
              <a:lnSpc>
                <a:spcPct val="110000"/>
              </a:lnSpc>
              <a:spcBef>
                <a:spcPts val="100"/>
              </a:spcBef>
              <a:spcAft>
                <a:spcPts val="100"/>
              </a:spcAft>
            </a:pPr>
            <a:r>
              <a:rPr sz="1200">
                <a:solidFill>
                  <a:srgbClr val="000000"/>
                </a:solidFill>
                <a:latin typeface="Calibri"/>
              </a:rPr>
              <a:t>            // Ignore stale updates</a:t>
            </a:r>
          </a:p>
          <a:p>
            <a:pPr algn="l">
              <a:lnSpc>
                <a:spcPct val="110000"/>
              </a:lnSpc>
              <a:spcBef>
                <a:spcPts val="100"/>
              </a:spcBef>
              <a:spcAft>
                <a:spcPts val="100"/>
              </a:spcAft>
            </a:pPr>
            <a:r>
              <a:rPr sz="1200">
                <a:solidFill>
                  <a:srgbClr val="000000"/>
                </a:solidFill>
                <a:latin typeface="Calibri"/>
              </a:rPr>
              <a:t>            return;</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await redis.set(key, JSON.stringify(value));</a:t>
            </a:r>
          </a:p>
          <a:p>
            <a:pPr algn="l">
              <a:lnSpc>
                <a:spcPct val="110000"/>
              </a:lnSpc>
              <a:spcBef>
                <a:spcPts val="100"/>
              </a:spcBef>
              <a:spcAft>
                <a:spcPts val="100"/>
              </a:spcAft>
            </a:pPr>
            <a:r>
              <a:rPr sz="1200">
                <a:solidFill>
                  <a:srgbClr val="000000"/>
                </a:solidFill>
                <a:latin typeface="Calibri"/>
              </a:rPr>
              <a:t>        await redis.set(versionKey, version);</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Multi-Level Cache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```typescript</a:t>
            </a:r>
          </a:p>
          <a:p>
            <a:pPr algn="l">
              <a:lnSpc>
                <a:spcPct val="110000"/>
              </a:lnSpc>
              <a:spcBef>
                <a:spcPts val="100"/>
              </a:spcBef>
              <a:spcAft>
                <a:spcPts val="100"/>
              </a:spcAft>
            </a:pPr>
            <a:r>
              <a:rPr sz="1100">
                <a:solidFill>
                  <a:srgbClr val="000000"/>
                </a:solidFill>
                <a:latin typeface="Calibri"/>
              </a:rPr>
              <a:t>class MultiLevelCache {</a:t>
            </a:r>
          </a:p>
          <a:p>
            <a:pPr algn="l">
              <a:lnSpc>
                <a:spcPct val="110000"/>
              </a:lnSpc>
              <a:spcBef>
                <a:spcPts val="100"/>
              </a:spcBef>
              <a:spcAft>
                <a:spcPts val="100"/>
              </a:spcAft>
            </a:pPr>
            <a:r>
              <a:rPr sz="1100">
                <a:solidFill>
                  <a:srgbClr val="000000"/>
                </a:solidFill>
                <a:latin typeface="Calibri"/>
              </a:rPr>
              <a:t>    private l1Cache = new Map&lt;string, { value: any; expires: number }&gt;();</a:t>
            </a:r>
          </a:p>
          <a:p>
            <a:pPr algn="l">
              <a:lnSpc>
                <a:spcPct val="110000"/>
              </a:lnSpc>
              <a:spcBef>
                <a:spcPts val="100"/>
              </a:spcBef>
              <a:spcAft>
                <a:spcPts val="100"/>
              </a:spcAft>
            </a:pPr>
            <a:r>
              <a:rPr sz="1100">
                <a:solidFill>
                  <a:srgbClr val="000000"/>
                </a:solidFill>
                <a:latin typeface="Calibri"/>
              </a:rPr>
              <a:t>    private l1TTL = 10000; // 10 seconds</a:t>
            </a:r>
          </a:p>
          <a:p>
            <a:pPr algn="l">
              <a:lnSpc>
                <a:spcPct val="110000"/>
              </a:lnSpc>
              <a:spcBef>
                <a:spcPts val="100"/>
              </a:spcBef>
              <a:spcAft>
                <a:spcPts val="100"/>
              </a:spcAft>
            </a:pPr>
            <a:r>
              <a:rPr sz="1100">
                <a:solidFill>
                  <a:srgbClr val="000000"/>
                </a:solidFill>
                <a:latin typeface="Calibri"/>
              </a:rPr>
              <a:t>    private l2Cache = new Redis({ /* config */ });</a:t>
            </a:r>
          </a:p>
          <a:p>
            <a:pPr algn="l">
              <a:lnSpc>
                <a:spcPct val="110000"/>
              </a:lnSpc>
              <a:spcBef>
                <a:spcPts val="100"/>
              </a:spcBef>
              <a:spcAft>
                <a:spcPts val="100"/>
              </a:spcAft>
            </a:pPr>
            <a:r>
              <a:rPr sz="1100">
                <a:solidFill>
                  <a:srgbClr val="000000"/>
                </a:solidFill>
                <a:latin typeface="Calibri"/>
              </a:rPr>
              <a:t>    private stats = { l1Hit: 0, l1Miss: 0, l2Hit: 0, l2Miss: 0 };</a:t>
            </a:r>
          </a:p>
          <a:p>
            <a:pPr algn="l">
              <a:lnSpc>
                <a:spcPct val="110000"/>
              </a:lnSpc>
              <a:spcBef>
                <a:spcPts val="100"/>
              </a:spcBef>
              <a:spcAft>
                <a:spcPts val="100"/>
              </a:spcAft>
            </a:pPr>
            <a:r>
              <a:rPr sz="1100">
                <a:solidFill>
                  <a:srgbClr val="000000"/>
                </a:solidFill>
                <a:latin typeface="Calibri"/>
              </a:rPr>
              <a:t>    async get(key: string): Promise&lt;any | null&gt; {</a:t>
            </a:r>
          </a:p>
          <a:p>
            <a:pPr algn="l">
              <a:lnSpc>
                <a:spcPct val="110000"/>
              </a:lnSpc>
              <a:spcBef>
                <a:spcPts val="100"/>
              </a:spcBef>
              <a:spcAft>
                <a:spcPts val="100"/>
              </a:spcAft>
            </a:pPr>
            <a:r>
              <a:rPr sz="1100">
                <a:solidFill>
                  <a:srgbClr val="000000"/>
                </a:solidFill>
                <a:latin typeface="Calibri"/>
              </a:rPr>
              <a:t>        // Check L1 (in-memory)</a:t>
            </a:r>
          </a:p>
          <a:p>
            <a:pPr algn="l">
              <a:lnSpc>
                <a:spcPct val="110000"/>
              </a:lnSpc>
              <a:spcBef>
                <a:spcPts val="100"/>
              </a:spcBef>
              <a:spcAft>
                <a:spcPts val="100"/>
              </a:spcAft>
            </a:pPr>
            <a:r>
              <a:rPr sz="1100">
                <a:solidFill>
                  <a:srgbClr val="000000"/>
                </a:solidFill>
                <a:latin typeface="Calibri"/>
              </a:rPr>
              <a:t>        const l1 = this.l1Cache.get(key);</a:t>
            </a:r>
          </a:p>
          <a:p>
            <a:pPr algn="l">
              <a:lnSpc>
                <a:spcPct val="110000"/>
              </a:lnSpc>
              <a:spcBef>
                <a:spcPts val="100"/>
              </a:spcBef>
              <a:spcAft>
                <a:spcPts val="100"/>
              </a:spcAft>
            </a:pPr>
            <a:r>
              <a:rPr sz="1100">
                <a:solidFill>
                  <a:srgbClr val="000000"/>
                </a:solidFill>
                <a:latin typeface="Calibri"/>
              </a:rPr>
              <a:t>        if (l1 &amp;&amp; l1.expires &gt; Date.now()) {</a:t>
            </a:r>
          </a:p>
          <a:p>
            <a:pPr algn="l">
              <a:lnSpc>
                <a:spcPct val="110000"/>
              </a:lnSpc>
              <a:spcBef>
                <a:spcPts val="100"/>
              </a:spcBef>
              <a:spcAft>
                <a:spcPts val="100"/>
              </a:spcAft>
            </a:pPr>
            <a:r>
              <a:rPr sz="1100">
                <a:solidFill>
                  <a:srgbClr val="000000"/>
                </a:solidFill>
                <a:latin typeface="Calibri"/>
              </a:rPr>
              <a:t>            this.stats.l1Hit++;</a:t>
            </a:r>
          </a:p>
          <a:p>
            <a:pPr algn="l">
              <a:lnSpc>
                <a:spcPct val="110000"/>
              </a:lnSpc>
              <a:spcBef>
                <a:spcPts val="100"/>
              </a:spcBef>
              <a:spcAft>
                <a:spcPts val="100"/>
              </a:spcAft>
            </a:pPr>
            <a:r>
              <a:rPr sz="1100">
                <a:solidFill>
                  <a:srgbClr val="000000"/>
                </a:solidFill>
                <a:latin typeface="Calibri"/>
              </a:rPr>
              <a:t>            return l1.value;</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this.stats.l1Miss++;</a:t>
            </a:r>
          </a:p>
          <a:p>
            <a:pPr algn="l">
              <a:lnSpc>
                <a:spcPct val="110000"/>
              </a:lnSpc>
              <a:spcBef>
                <a:spcPts val="100"/>
              </a:spcBef>
              <a:spcAft>
                <a:spcPts val="100"/>
              </a:spcAft>
            </a:pPr>
            <a:r>
              <a:rPr sz="1100">
                <a:solidFill>
                  <a:srgbClr val="000000"/>
                </a:solidFill>
                <a:latin typeface="Calibri"/>
              </a:rPr>
              <a:t>        // Check L2 (Redis)</a:t>
            </a:r>
          </a:p>
          <a:p>
            <a:pPr algn="l">
              <a:lnSpc>
                <a:spcPct val="110000"/>
              </a:lnSpc>
              <a:spcBef>
                <a:spcPts val="100"/>
              </a:spcBef>
              <a:spcAft>
                <a:spcPts val="100"/>
              </a:spcAft>
            </a:pPr>
            <a:r>
              <a:rPr sz="1100">
                <a:solidFill>
                  <a:srgbClr val="000000"/>
                </a:solidFill>
                <a:latin typeface="Calibri"/>
              </a:rPr>
              <a:t>        const l2 = await this.l2Cache.get(key);</a:t>
            </a:r>
          </a:p>
          <a:p>
            <a:pPr algn="l">
              <a:lnSpc>
                <a:spcPct val="110000"/>
              </a:lnSpc>
              <a:spcBef>
                <a:spcPts val="100"/>
              </a:spcBef>
              <a:spcAft>
                <a:spcPts val="100"/>
              </a:spcAft>
            </a:pPr>
            <a:r>
              <a:rPr sz="1100">
                <a:solidFill>
                  <a:srgbClr val="000000"/>
                </a:solidFill>
                <a:latin typeface="Calibri"/>
              </a:rPr>
              <a:t>        if (l2) {</a:t>
            </a:r>
          </a:p>
          <a:p>
            <a:pPr algn="l">
              <a:lnSpc>
                <a:spcPct val="110000"/>
              </a:lnSpc>
              <a:spcBef>
                <a:spcPts val="100"/>
              </a:spcBef>
              <a:spcAft>
                <a:spcPts val="100"/>
              </a:spcAft>
            </a:pPr>
            <a:r>
              <a:rPr sz="1100">
                <a:solidFill>
                  <a:srgbClr val="000000"/>
                </a:solidFill>
                <a:latin typeface="Calibri"/>
              </a:rPr>
              <a:t>            this.stats.l2Hit++;</a:t>
            </a:r>
          </a:p>
          <a:p>
            <a:pPr algn="l">
              <a:lnSpc>
                <a:spcPct val="110000"/>
              </a:lnSpc>
              <a:spcBef>
                <a:spcPts val="100"/>
              </a:spcBef>
              <a:spcAft>
                <a:spcPts val="100"/>
              </a:spcAft>
            </a:pPr>
            <a:r>
              <a:rPr sz="1100">
                <a:solidFill>
                  <a:srgbClr val="000000"/>
                </a:solidFill>
                <a:latin typeface="Calibri"/>
              </a:rPr>
              <a:t>            // Promote to L1</a:t>
            </a:r>
          </a:p>
          <a:p>
            <a:pPr algn="l">
              <a:lnSpc>
                <a:spcPct val="110000"/>
              </a:lnSpc>
              <a:spcBef>
                <a:spcPts val="100"/>
              </a:spcBef>
              <a:spcAft>
                <a:spcPts val="100"/>
              </a:spcAft>
            </a:pPr>
            <a:r>
              <a:rPr sz="1100">
                <a:solidFill>
                  <a:srgbClr val="000000"/>
                </a:solidFill>
                <a:latin typeface="Calibri"/>
              </a:rPr>
              <a:t>            this.l1Cache.set(key, {</a:t>
            </a:r>
          </a:p>
          <a:p>
            <a:pPr algn="l">
              <a:lnSpc>
                <a:spcPct val="110000"/>
              </a:lnSpc>
              <a:spcBef>
                <a:spcPts val="100"/>
              </a:spcBef>
              <a:spcAft>
                <a:spcPts val="100"/>
              </a:spcAft>
            </a:pPr>
            <a:r>
              <a:rPr sz="1100">
                <a:solidFill>
                  <a:srgbClr val="000000"/>
                </a:solidFill>
                <a:latin typeface="Calibri"/>
              </a:rPr>
              <a:t>                value: JSON.parse(l2),</a:t>
            </a:r>
          </a:p>
          <a:p>
            <a:pPr algn="l">
              <a:lnSpc>
                <a:spcPct val="110000"/>
              </a:lnSpc>
              <a:spcBef>
                <a:spcPts val="100"/>
              </a:spcBef>
              <a:spcAft>
                <a:spcPts val="100"/>
              </a:spcAft>
            </a:pPr>
            <a:r>
              <a:rPr sz="1100">
                <a:solidFill>
                  <a:srgbClr val="000000"/>
                </a:solidFill>
                <a:latin typeface="Calibri"/>
              </a:rPr>
              <a:t>                expires: Date.now() + this.l1TTL,</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return JSON.parse(l2);</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this.stats.l2Miss++;</a:t>
            </a:r>
          </a:p>
          <a:p>
            <a:pPr algn="l">
              <a:lnSpc>
                <a:spcPct val="110000"/>
              </a:lnSpc>
              <a:spcBef>
                <a:spcPts val="100"/>
              </a:spcBef>
              <a:spcAft>
                <a:spcPts val="100"/>
              </a:spcAft>
            </a:pPr>
            <a:r>
              <a:rPr sz="1100">
                <a:solidFill>
                  <a:srgbClr val="000000"/>
                </a:solidFill>
                <a:latin typeface="Calibri"/>
              </a:rPr>
              <a:t>        return null;</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async set(key: string, value: any): Promise&lt;void&gt; {</a:t>
            </a:r>
          </a:p>
          <a:p>
            <a:pPr algn="l">
              <a:lnSpc>
                <a:spcPct val="110000"/>
              </a:lnSpc>
              <a:spcBef>
                <a:spcPts val="100"/>
              </a:spcBef>
              <a:spcAft>
                <a:spcPts val="100"/>
              </a:spcAft>
            </a:pPr>
            <a:r>
              <a:rPr sz="1100">
                <a:solidFill>
                  <a:srgbClr val="000000"/>
                </a:solidFill>
                <a:latin typeface="Calibri"/>
              </a:rPr>
              <a:t>        this.l1Cache.set(key, {</a:t>
            </a:r>
          </a:p>
          <a:p>
            <a:pPr algn="l">
              <a:lnSpc>
                <a:spcPct val="110000"/>
              </a:lnSpc>
              <a:spcBef>
                <a:spcPts val="100"/>
              </a:spcBef>
              <a:spcAft>
                <a:spcPts val="100"/>
              </a:spcAft>
            </a:pPr>
            <a:r>
              <a:rPr sz="1100">
                <a:solidFill>
                  <a:srgbClr val="000000"/>
                </a:solidFill>
                <a:latin typeface="Calibri"/>
              </a:rPr>
              <a:t>            value,</a:t>
            </a:r>
          </a:p>
          <a:p>
            <a:pPr algn="l">
              <a:lnSpc>
                <a:spcPct val="110000"/>
              </a:lnSpc>
              <a:spcBef>
                <a:spcPts val="100"/>
              </a:spcBef>
              <a:spcAft>
                <a:spcPts val="100"/>
              </a:spcAft>
            </a:pPr>
            <a:r>
              <a:rPr sz="1100">
                <a:solidFill>
                  <a:srgbClr val="000000"/>
                </a:solidFill>
                <a:latin typeface="Calibri"/>
              </a:rPr>
              <a:t>            expires: Date.now() + this.l1TTL,</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await this.l2Cache.set(key, JSON.stringify(value), 'EX', 300);</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getStats() {</a:t>
            </a:r>
          </a:p>
          <a:p>
            <a:pPr algn="l">
              <a:lnSpc>
                <a:spcPct val="110000"/>
              </a:lnSpc>
              <a:spcBef>
                <a:spcPts val="100"/>
              </a:spcBef>
              <a:spcAft>
                <a:spcPts val="100"/>
              </a:spcAft>
            </a:pPr>
            <a:r>
              <a:rPr sz="1100">
                <a:solidFill>
                  <a:srgbClr val="000000"/>
                </a:solidFill>
                <a:latin typeface="Calibri"/>
              </a:rPr>
              <a:t>        const total = this.stats.l1Hit + this.stats.l1Miss + this.stats.l2Hit + this.stats.l2Miss;</a:t>
            </a:r>
          </a:p>
          <a:p>
            <a:pPr algn="l">
              <a:lnSpc>
                <a:spcPct val="110000"/>
              </a:lnSpc>
              <a:spcBef>
                <a:spcPts val="100"/>
              </a:spcBef>
              <a:spcAft>
                <a:spcPts val="100"/>
              </a:spcAft>
            </a:pPr>
            <a:r>
              <a:rPr sz="1100">
                <a:solidFill>
                  <a:srgbClr val="000000"/>
                </a:solidFill>
                <a:latin typeface="Calibri"/>
              </a:rPr>
              <a:t>        return {</a:t>
            </a:r>
          </a:p>
          <a:p>
            <a:pPr algn="l">
              <a:lnSpc>
                <a:spcPct val="110000"/>
              </a:lnSpc>
              <a:spcBef>
                <a:spcPts val="100"/>
              </a:spcBef>
              <a:spcAft>
                <a:spcPts val="100"/>
              </a:spcAft>
            </a:pPr>
            <a:r>
              <a:rPr sz="1100">
                <a:solidFill>
                  <a:srgbClr val="000000"/>
                </a:solidFill>
                <a:latin typeface="Calibri"/>
              </a:rPr>
              <a:t>            hitRate: (this.stats.l1Hit + this.stats.l2Hit) / total || 0,</a:t>
            </a:r>
          </a:p>
          <a:p>
            <a:pPr algn="l">
              <a:lnSpc>
                <a:spcPct val="110000"/>
              </a:lnSpc>
              <a:spcBef>
                <a:spcPts val="100"/>
              </a:spcBef>
              <a:spcAft>
                <a:spcPts val="100"/>
              </a:spcAft>
            </a:pPr>
            <a:r>
              <a:rPr sz="1100">
                <a:solidFill>
                  <a:srgbClr val="000000"/>
                </a:solidFill>
                <a:latin typeface="Calibri"/>
              </a:rPr>
              <a:t>            l1HitRate: this.stats.l1Hit / (this.stats.l1Hit + this.stats.l1Miss) || 0,</a:t>
            </a:r>
          </a:p>
          <a:p>
            <a:pPr algn="l">
              <a:lnSpc>
                <a:spcPct val="110000"/>
              </a:lnSpc>
              <a:spcBef>
                <a:spcPts val="100"/>
              </a:spcBef>
              <a:spcAft>
                <a:spcPts val="100"/>
              </a:spcAft>
            </a:pPr>
            <a:r>
              <a:rPr sz="1100">
                <a:solidFill>
                  <a:srgbClr val="000000"/>
                </a:solidFill>
                <a:latin typeface="Calibri"/>
              </a:rPr>
              <a:t>            l2HitRate: this.stats.l2Hit / (this.stats.l2Hit + this.stats.l2Miss) || 0,</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PHASE 3: DISTRIBUTED SYSTEMS (30 Slides)</a:t>
            </a:r>
          </a:p>
          <a:p>
            <a:pPr algn="l">
              <a:lnSpc>
                <a:spcPct val="110000"/>
              </a:lnSpc>
              <a:spcBef>
                <a:spcPts val="100"/>
              </a:spcBef>
              <a:spcAft>
                <a:spcPts val="100"/>
              </a:spcAft>
            </a:pPr>
            <a:r>
              <a:rPr sz="1100">
                <a:solidFill>
                  <a:srgbClr val="000000"/>
                </a:solidFill>
                <a:latin typeface="Calibri"/>
              </a:rPr>
              <a:t>### PART 3.1: Distributed Patterns (15 Slides)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Distributed Systems Overview</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WHY DISTRIBUTED SYSTEMS?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Benefits:                                                      │</a:t>
            </a:r>
          </a:p>
          <a:p>
            <a:pPr algn="l">
              <a:lnSpc>
                <a:spcPct val="110000"/>
              </a:lnSpc>
              <a:spcBef>
                <a:spcPts val="100"/>
              </a:spcBef>
              <a:spcAft>
                <a:spcPts val="100"/>
              </a:spcAft>
            </a:pPr>
            <a:r>
              <a:rPr sz="1400">
                <a:solidFill>
                  <a:srgbClr val="000000"/>
                </a:solidFill>
                <a:latin typeface="Calibri"/>
              </a:rPr>
              <a:t>│  • Scalability ── Add more nodes to handle load              │</a:t>
            </a:r>
          </a:p>
          <a:p>
            <a:pPr algn="l">
              <a:lnSpc>
                <a:spcPct val="110000"/>
              </a:lnSpc>
              <a:spcBef>
                <a:spcPts val="100"/>
              </a:spcBef>
              <a:spcAft>
                <a:spcPts val="100"/>
              </a:spcAft>
            </a:pPr>
            <a:r>
              <a:rPr sz="1400">
                <a:solidFill>
                  <a:srgbClr val="000000"/>
                </a:solidFill>
                <a:latin typeface="Calibri"/>
              </a:rPr>
              <a:t>│  • Fault Tolerance ── System survives node failures           │</a:t>
            </a:r>
          </a:p>
          <a:p>
            <a:pPr algn="l">
              <a:lnSpc>
                <a:spcPct val="110000"/>
              </a:lnSpc>
              <a:spcBef>
                <a:spcPts val="100"/>
              </a:spcBef>
              <a:spcAft>
                <a:spcPts val="100"/>
              </a:spcAft>
            </a:pPr>
            <a:r>
              <a:rPr sz="1400">
                <a:solidFill>
                  <a:srgbClr val="000000"/>
                </a:solidFill>
                <a:latin typeface="Calibri"/>
              </a:rPr>
              <a:t>│  • Geography ── Serve users from nearby locations            │</a:t>
            </a:r>
          </a:p>
          <a:p>
            <a:pPr algn="l">
              <a:lnSpc>
                <a:spcPct val="110000"/>
              </a:lnSpc>
              <a:spcBef>
                <a:spcPts val="100"/>
              </a:spcBef>
              <a:spcAft>
                <a:spcPts val="100"/>
              </a:spcAft>
            </a:pPr>
            <a:r>
              <a:rPr sz="1400">
                <a:solidFill>
                  <a:srgbClr val="000000"/>
                </a:solidFill>
                <a:latin typeface="Calibri"/>
              </a:rPr>
              <a:t>│  • Team Autonomy ── Independent service teams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Challenges:                                                   │</a:t>
            </a:r>
          </a:p>
          <a:p>
            <a:pPr algn="l">
              <a:lnSpc>
                <a:spcPct val="110000"/>
              </a:lnSpc>
              <a:spcBef>
                <a:spcPts val="100"/>
              </a:spcBef>
              <a:spcAft>
                <a:spcPts val="100"/>
              </a:spcAft>
            </a:pPr>
            <a:r>
              <a:rPr sz="1400">
                <a:solidFill>
                  <a:srgbClr val="000000"/>
                </a:solidFill>
                <a:latin typeface="Calibri"/>
              </a:rPr>
              <a:t>│  • Network Latency ── Communication is slow                   │</a:t>
            </a:r>
          </a:p>
          <a:p>
            <a:pPr algn="l">
              <a:lnSpc>
                <a:spcPct val="110000"/>
              </a:lnSpc>
              <a:spcBef>
                <a:spcPts val="100"/>
              </a:spcBef>
              <a:spcAft>
                <a:spcPts val="100"/>
              </a:spcAft>
            </a:pPr>
            <a:r>
              <a:rPr sz="1400">
                <a:solidFill>
                  <a:srgbClr val="000000"/>
                </a:solidFill>
                <a:latin typeface="Calibri"/>
              </a:rPr>
              <a:t>│  • Partial Failures ── Some services work, some don't        │</a:t>
            </a:r>
          </a:p>
          <a:p>
            <a:pPr algn="l">
              <a:lnSpc>
                <a:spcPct val="110000"/>
              </a:lnSpc>
              <a:spcBef>
                <a:spcPts val="100"/>
              </a:spcBef>
              <a:spcAft>
                <a:spcPts val="100"/>
              </a:spcAft>
            </a:pPr>
            <a:r>
              <a:rPr sz="1400">
                <a:solidFill>
                  <a:srgbClr val="000000"/>
                </a:solidFill>
                <a:latin typeface="Calibri"/>
              </a:rPr>
              <a:t>│  • Consistency ── Keeping data in sync across services       │</a:t>
            </a:r>
          </a:p>
          <a:p>
            <a:pPr algn="l">
              <a:lnSpc>
                <a:spcPct val="110000"/>
              </a:lnSpc>
              <a:spcBef>
                <a:spcPts val="100"/>
              </a:spcBef>
              <a:spcAft>
                <a:spcPts val="100"/>
              </a:spcAft>
            </a:pPr>
            <a:r>
              <a:rPr sz="1400">
                <a:solidFill>
                  <a:srgbClr val="000000"/>
                </a:solidFill>
                <a:latin typeface="Calibri"/>
              </a:rPr>
              <a:t>│  • Complexity ── Debugging is harder                         │</a:t>
            </a:r>
          </a:p>
          <a:p>
            <a:pPr algn="l">
              <a:lnSpc>
                <a:spcPct val="110000"/>
              </a:lnSpc>
              <a:spcBef>
                <a:spcPts val="100"/>
              </a:spcBef>
              <a:spcAft>
                <a:spcPts val="100"/>
              </a:spcAft>
            </a:pPr>
            <a:r>
              <a:rPr sz="1400">
                <a:solidFill>
                  <a:srgbClr val="000000"/>
                </a:solidFill>
                <a:latin typeface="Calibri"/>
              </a:rPr>
              <a:t>│                                                                 │</a:t>
            </a:r>
          </a:p>
          <a:p>
            <a:pPr algn="l">
              <a:lnSpc>
                <a:spcPct val="110000"/>
              </a:lnSpc>
              <a:spcBef>
                <a:spcPts val="100"/>
              </a:spcBef>
              <a:spcAft>
                <a:spcPts val="100"/>
              </a:spcAft>
            </a:pPr>
            <a:r>
              <a:rPr sz="1400">
                <a:solidFill>
                  <a:srgbClr val="000000"/>
                </a:solidFill>
                <a:latin typeface="Calibri"/>
              </a:rPr>
              <a:t>│  The Fallacies of Distributed Computing:                      │</a:t>
            </a:r>
          </a:p>
          <a:p>
            <a:pPr algn="l">
              <a:lnSpc>
                <a:spcPct val="110000"/>
              </a:lnSpc>
              <a:spcBef>
                <a:spcPts val="100"/>
              </a:spcBef>
              <a:spcAft>
                <a:spcPts val="100"/>
              </a:spcAft>
            </a:pPr>
            <a:r>
              <a:rPr sz="1400">
                <a:solidFill>
                  <a:srgbClr val="000000"/>
                </a:solidFill>
                <a:latin typeface="Calibri"/>
              </a:rPr>
              <a:t>│  1. The network is reliable                                   │</a:t>
            </a:r>
          </a:p>
          <a:p>
            <a:pPr algn="l">
              <a:lnSpc>
                <a:spcPct val="110000"/>
              </a:lnSpc>
              <a:spcBef>
                <a:spcPts val="100"/>
              </a:spcBef>
              <a:spcAft>
                <a:spcPts val="100"/>
              </a:spcAft>
            </a:pPr>
            <a:r>
              <a:rPr sz="1400">
                <a:solidFill>
                  <a:srgbClr val="000000"/>
                </a:solidFill>
                <a:latin typeface="Calibri"/>
              </a:rPr>
              <a:t>│  2. Latency is zero                                           │</a:t>
            </a:r>
          </a:p>
          <a:p>
            <a:pPr algn="l">
              <a:lnSpc>
                <a:spcPct val="110000"/>
              </a:lnSpc>
              <a:spcBef>
                <a:spcPts val="100"/>
              </a:spcBef>
              <a:spcAft>
                <a:spcPts val="100"/>
              </a:spcAft>
            </a:pPr>
            <a:r>
              <a:rPr sz="1400">
                <a:solidFill>
                  <a:srgbClr val="000000"/>
                </a:solidFill>
                <a:latin typeface="Calibri"/>
              </a:rPr>
              <a:t>│  3. Bandwidth is infinite                                     │</a:t>
            </a:r>
          </a:p>
          <a:p>
            <a:pPr algn="l">
              <a:lnSpc>
                <a:spcPct val="110000"/>
              </a:lnSpc>
              <a:spcBef>
                <a:spcPts val="100"/>
              </a:spcBef>
              <a:spcAft>
                <a:spcPts val="100"/>
              </a:spcAft>
            </a:pPr>
            <a:r>
              <a:rPr sz="1400">
                <a:solidFill>
                  <a:srgbClr val="000000"/>
                </a:solidFill>
                <a:latin typeface="Calibri"/>
              </a:rPr>
              <a:t>│  4. The network is secure                                     │</a:t>
            </a:r>
          </a:p>
          <a:p>
            <a:pPr algn="l">
              <a:lnSpc>
                <a:spcPct val="110000"/>
              </a:lnSpc>
              <a:spcBef>
                <a:spcPts val="100"/>
              </a:spcBef>
              <a:spcAft>
                <a:spcPts val="100"/>
              </a:spcAft>
            </a:pPr>
            <a:r>
              <a:rPr sz="1400">
                <a:solidFill>
                  <a:srgbClr val="000000"/>
                </a:solidFill>
                <a:latin typeface="Calibri"/>
              </a:rPr>
              <a:t>│  5. Topology doesn't change                                   │</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API Composition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API COMPOSITION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Sequential (BAD):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const user = await userService.getUser(userId);      │   │</a:t>
            </a:r>
          </a:p>
          <a:p>
            <a:pPr algn="l">
              <a:lnSpc>
                <a:spcPct val="110000"/>
              </a:lnSpc>
              <a:spcBef>
                <a:spcPts val="100"/>
              </a:spcBef>
              <a:spcAft>
                <a:spcPts val="100"/>
              </a:spcAft>
            </a:pPr>
            <a:r>
              <a:rPr sz="1200">
                <a:solidFill>
                  <a:srgbClr val="000000"/>
                </a:solidFill>
                <a:latin typeface="Calibri"/>
              </a:rPr>
              <a:t>│  │  const tasks = await taskService.getTasks(userId);    │   │</a:t>
            </a:r>
          </a:p>
          <a:p>
            <a:pPr algn="l">
              <a:lnSpc>
                <a:spcPct val="110000"/>
              </a:lnSpc>
              <a:spcBef>
                <a:spcPts val="100"/>
              </a:spcBef>
              <a:spcAft>
                <a:spcPts val="100"/>
              </a:spcAft>
            </a:pPr>
            <a:r>
              <a:rPr sz="1200">
                <a:solidFill>
                  <a:srgbClr val="000000"/>
                </a:solidFill>
                <a:latin typeface="Calibri"/>
              </a:rPr>
              <a:t>│  │  const stats = await statsService.getStats(userId);   │   │</a:t>
            </a:r>
          </a:p>
          <a:p>
            <a:pPr algn="l">
              <a:lnSpc>
                <a:spcPct val="110000"/>
              </a:lnSpc>
              <a:spcBef>
                <a:spcPts val="100"/>
              </a:spcBef>
              <a:spcAft>
                <a:spcPts val="100"/>
              </a:spcAft>
            </a:pPr>
            <a:r>
              <a:rPr sz="1200">
                <a:solidFill>
                  <a:srgbClr val="000000"/>
                </a:solidFill>
                <a:latin typeface="Calibri"/>
              </a:rPr>
              <a:t>│  │  // Total: 300ms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Parallel (GOOD):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const [user, tasks, stats] = await Promise.all([     │   │</a:t>
            </a:r>
          </a:p>
          <a:p>
            <a:pPr algn="l">
              <a:lnSpc>
                <a:spcPct val="110000"/>
              </a:lnSpc>
              <a:spcBef>
                <a:spcPts val="100"/>
              </a:spcBef>
              <a:spcAft>
                <a:spcPts val="100"/>
              </a:spcAft>
            </a:pPr>
            <a:r>
              <a:rPr sz="1200">
                <a:solidFill>
                  <a:srgbClr val="000000"/>
                </a:solidFill>
                <a:latin typeface="Calibri"/>
              </a:rPr>
              <a:t>│  │    userService.getUser(userId),                       │   │</a:t>
            </a:r>
          </a:p>
          <a:p>
            <a:pPr algn="l">
              <a:lnSpc>
                <a:spcPct val="110000"/>
              </a:lnSpc>
              <a:spcBef>
                <a:spcPts val="100"/>
              </a:spcBef>
              <a:spcAft>
                <a:spcPts val="100"/>
              </a:spcAft>
            </a:pPr>
            <a:r>
              <a:rPr sz="1200">
                <a:solidFill>
                  <a:srgbClr val="000000"/>
                </a:solidFill>
                <a:latin typeface="Calibri"/>
              </a:rPr>
              <a:t>│  │    taskService.getTasks(userId),                      │   │</a:t>
            </a:r>
          </a:p>
          <a:p>
            <a:pPr algn="l">
              <a:lnSpc>
                <a:spcPct val="110000"/>
              </a:lnSpc>
              <a:spcBef>
                <a:spcPts val="100"/>
              </a:spcBef>
              <a:spcAft>
                <a:spcPts val="100"/>
              </a:spcAft>
            </a:pPr>
            <a:r>
              <a:rPr sz="1200">
                <a:solidFill>
                  <a:srgbClr val="000000"/>
                </a:solidFill>
                <a:latin typeface="Calibri"/>
              </a:rPr>
              <a:t>│  │    statsService.getStats(userId),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Total: MAX(100ms, 100ms, 100ms) = 100ms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Code: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async function getUserDashboard(userId: string) {    │   │</a:t>
            </a:r>
          </a:p>
          <a:p>
            <a:pPr algn="l">
              <a:lnSpc>
                <a:spcPct val="110000"/>
              </a:lnSpc>
              <a:spcBef>
                <a:spcPts val="100"/>
              </a:spcBef>
              <a:spcAft>
                <a:spcPts val="100"/>
              </a:spcAft>
            </a:pPr>
            <a:r>
              <a:rPr sz="1200">
                <a:solidFill>
                  <a:srgbClr val="000000"/>
                </a:solidFill>
                <a:latin typeface="Calibri"/>
              </a:rPr>
              <a:t>│  │    const composition = new ApiComposition();         │   │</a:t>
            </a:r>
          </a:p>
          <a:p>
            <a:pPr algn="l">
              <a:lnSpc>
                <a:spcPct val="110000"/>
              </a:lnSpc>
              <a:spcBef>
                <a:spcPts val="100"/>
              </a:spcBef>
              <a:spcAft>
                <a:spcPts val="100"/>
              </a:spcAft>
            </a:pPr>
            <a:r>
              <a:rPr sz="1200">
                <a:solidFill>
                  <a:srgbClr val="000000"/>
                </a:solidFill>
                <a:latin typeface="Calibri"/>
              </a:rPr>
              <a:t>│  │    return await composition.compose({                │   │</a:t>
            </a:r>
          </a:p>
          <a:p>
            <a:pPr algn="l">
              <a:lnSpc>
                <a:spcPct val="110000"/>
              </a:lnSpc>
              <a:spcBef>
                <a:spcPts val="100"/>
              </a:spcBef>
              <a:spcAft>
                <a:spcPts val="100"/>
              </a:spcAft>
            </a:pPr>
            <a:r>
              <a:rPr sz="1200">
                <a:solidFill>
                  <a:srgbClr val="000000"/>
                </a:solidFill>
                <a:latin typeface="Calibri"/>
              </a:rPr>
              <a:t>│  │      user: () =&gt; userService.getUser(userId),       │   │</a:t>
            </a:r>
          </a:p>
          <a:p>
            <a:pPr algn="l">
              <a:lnSpc>
                <a:spcPct val="110000"/>
              </a:lnSpc>
              <a:spcBef>
                <a:spcPts val="100"/>
              </a:spcBef>
              <a:spcAft>
                <a:spcPts val="100"/>
              </a:spcAft>
            </a:pPr>
            <a:r>
              <a:rPr sz="1200">
                <a:solidFill>
                  <a:srgbClr val="000000"/>
                </a:solidFill>
                <a:latin typeface="Calibri"/>
              </a:rPr>
              <a:t>│  │      tasks: () =&gt; taskService.getTasks(userId),     │   │</a:t>
            </a:r>
          </a:p>
          <a:p>
            <a:pPr algn="l">
              <a:lnSpc>
                <a:spcPct val="110000"/>
              </a:lnSpc>
              <a:spcBef>
                <a:spcPts val="100"/>
              </a:spcBef>
              <a:spcAft>
                <a:spcPts val="100"/>
              </a:spcAft>
            </a:pPr>
            <a:r>
              <a:rPr sz="1200">
                <a:solidFill>
                  <a:srgbClr val="000000"/>
                </a:solidFill>
                <a:latin typeface="Calibri"/>
              </a:rPr>
              <a:t>│  │      stats: () =&gt; statsService.getStats(userId),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Circuit Breaker</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CIRCUIT BREAKER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States: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CLOSED ──▶ Request flows through                     │   │</a:t>
            </a:r>
          </a:p>
          <a:p>
            <a:pPr algn="l">
              <a:lnSpc>
                <a:spcPct val="110000"/>
              </a:lnSpc>
              <a:spcBef>
                <a:spcPts val="100"/>
              </a:spcBef>
              <a:spcAft>
                <a:spcPts val="100"/>
              </a:spcAft>
            </a:pPr>
            <a:r>
              <a:rPr sz="1200">
                <a:solidFill>
                  <a:srgbClr val="000000"/>
                </a:solidFill>
                <a:latin typeface="Calibri"/>
              </a:rPr>
              <a:t>│  │  OPEN ──▶ Requests fail immediately (fast fail)       │   │</a:t>
            </a:r>
          </a:p>
          <a:p>
            <a:pPr algn="l">
              <a:lnSpc>
                <a:spcPct val="110000"/>
              </a:lnSpc>
              <a:spcBef>
                <a:spcPts val="100"/>
              </a:spcBef>
              <a:spcAft>
                <a:spcPts val="100"/>
              </a:spcAft>
            </a:pPr>
            <a:r>
              <a:rPr sz="1200">
                <a:solidFill>
                  <a:srgbClr val="000000"/>
                </a:solidFill>
                <a:latin typeface="Calibri"/>
              </a:rPr>
              <a:t>│  │  HALF_OPEN ──▶ Test if service recovered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Transition:                                                   │</a:t>
            </a:r>
          </a:p>
          <a:p>
            <a:pPr algn="l">
              <a:lnSpc>
                <a:spcPct val="110000"/>
              </a:lnSpc>
              <a:spcBef>
                <a:spcPts val="100"/>
              </a:spcBef>
              <a:spcAft>
                <a:spcPts val="100"/>
              </a:spcAft>
            </a:pPr>
            <a:r>
              <a:rPr sz="1200">
                <a:solidFill>
                  <a:srgbClr val="000000"/>
                </a:solidFill>
                <a:latin typeface="Calibri"/>
              </a:rPr>
              <a:t>│  ┌─────────────┐    Success    ┌─────────────┐                │</a:t>
            </a:r>
          </a:p>
          <a:p>
            <a:pPr algn="l">
              <a:lnSpc>
                <a:spcPct val="110000"/>
              </a:lnSpc>
              <a:spcBef>
                <a:spcPts val="100"/>
              </a:spcBef>
              <a:spcAft>
                <a:spcPts val="100"/>
              </a:spcAft>
            </a:pPr>
            <a:r>
              <a:rPr sz="1200">
                <a:solidFill>
                  <a:srgbClr val="000000"/>
                </a:solidFill>
                <a:latin typeface="Calibri"/>
              </a:rPr>
              <a:t>│  │   CLOSED    │──────────────▶│   CLOSED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Failure (5x)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Timeout     ┌─────────────┐                │</a:t>
            </a:r>
          </a:p>
          <a:p>
            <a:pPr algn="l">
              <a:lnSpc>
                <a:spcPct val="110000"/>
              </a:lnSpc>
              <a:spcBef>
                <a:spcPts val="100"/>
              </a:spcBef>
              <a:spcAft>
                <a:spcPts val="100"/>
              </a:spcAft>
            </a:pPr>
            <a:r>
              <a:rPr sz="1200">
                <a:solidFill>
                  <a:srgbClr val="000000"/>
                </a:solidFill>
                <a:latin typeface="Calibri"/>
              </a:rPr>
              <a:t>│  │    OPEN     │───────────────▶│  HALF_OPEN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Code: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const breaker = new CircuitBreaker({                  │   │</a:t>
            </a:r>
          </a:p>
          <a:p>
            <a:pPr algn="l">
              <a:lnSpc>
                <a:spcPct val="110000"/>
              </a:lnSpc>
              <a:spcBef>
                <a:spcPts val="100"/>
              </a:spcBef>
              <a:spcAft>
                <a:spcPts val="100"/>
              </a:spcAft>
            </a:pPr>
            <a:r>
              <a:rPr sz="1200">
                <a:solidFill>
                  <a:srgbClr val="000000"/>
                </a:solidFill>
                <a:latin typeface="Calibri"/>
              </a:rPr>
              <a:t>│  │    failureThreshold: 5,                               │   │</a:t>
            </a:r>
          </a:p>
          <a:p>
            <a:pPr algn="l">
              <a:lnSpc>
                <a:spcPct val="110000"/>
              </a:lnSpc>
              <a:spcBef>
                <a:spcPts val="100"/>
              </a:spcBef>
              <a:spcAft>
                <a:spcPts val="100"/>
              </a:spcAft>
            </a:pPr>
            <a:r>
              <a:rPr sz="1200">
                <a:solidFill>
                  <a:srgbClr val="000000"/>
                </a:solidFill>
                <a:latin typeface="Calibri"/>
              </a:rPr>
              <a:t>│  │    resetTimeout: 60000,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try {                                                │   │</a:t>
            </a:r>
          </a:p>
          <a:p>
            <a:pPr algn="l">
              <a:lnSpc>
                <a:spcPct val="110000"/>
              </a:lnSpc>
              <a:spcBef>
                <a:spcPts val="100"/>
              </a:spcBef>
              <a:spcAft>
                <a:spcPts val="100"/>
              </a:spcAft>
            </a:pPr>
            <a:r>
              <a:rPr sz="1200">
                <a:solidFill>
                  <a:srgbClr val="000000"/>
                </a:solidFill>
                <a:latin typeface="Calibri"/>
              </a:rPr>
              <a:t>│  │    const result = await breaker.execute(() =&gt;        │   │</a:t>
            </a:r>
          </a:p>
          <a:p>
            <a:pPr algn="l">
              <a:lnSpc>
                <a:spcPct val="110000"/>
              </a:lnSpc>
              <a:spcBef>
                <a:spcPts val="100"/>
              </a:spcBef>
              <a:spcAft>
                <a:spcPts val="100"/>
              </a:spcAft>
            </a:pPr>
            <a:r>
              <a:rPr sz="1200">
                <a:solidFill>
                  <a:srgbClr val="000000"/>
                </a:solidFill>
                <a:latin typeface="Calibri"/>
              </a:rPr>
              <a:t>│  │      service.call()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catch (error) {                                    │   │</a:t>
            </a:r>
          </a:p>
          <a:p>
            <a:pPr algn="l">
              <a:lnSpc>
                <a:spcPct val="110000"/>
              </a:lnSpc>
              <a:spcBef>
                <a:spcPts val="100"/>
              </a:spcBef>
              <a:spcAft>
                <a:spcPts val="100"/>
              </a:spcAft>
            </a:pPr>
            <a:r>
              <a:rPr sz="1200">
                <a:solidFill>
                  <a:srgbClr val="000000"/>
                </a:solidFill>
                <a:latin typeface="Calibri"/>
              </a:rPr>
              <a:t>│  │    // Fallback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Saga Pattern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SAGA PATTERN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Choreographed Saga: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Order Service ──▶ Payment Service ──▶ Inventory      │   │</a:t>
            </a:r>
          </a:p>
          <a:p>
            <a:pPr algn="l">
              <a:lnSpc>
                <a:spcPct val="110000"/>
              </a:lnSpc>
              <a:spcBef>
                <a:spcPts val="100"/>
              </a:spcBef>
              <a:spcAft>
                <a:spcPts val="100"/>
              </a:spcAft>
            </a:pPr>
            <a:r>
              <a:rPr sz="1200">
                <a:solidFill>
                  <a:srgbClr val="000000"/>
                </a:solidFill>
                <a:latin typeface="Calibri"/>
              </a:rPr>
              <a:t>│  │      │                    │                    │        │   │</a:t>
            </a:r>
          </a:p>
          <a:p>
            <a:pPr algn="l">
              <a:lnSpc>
                <a:spcPct val="110000"/>
              </a:lnSpc>
              <a:spcBef>
                <a:spcPts val="100"/>
              </a:spcBef>
              <a:spcAft>
                <a:spcPts val="100"/>
              </a:spcAft>
            </a:pPr>
            <a:r>
              <a:rPr sz="1200">
                <a:solidFill>
                  <a:srgbClr val="000000"/>
                </a:solidFill>
                <a:latin typeface="Calibri"/>
              </a:rPr>
              <a:t>│  │      ▼                    ▼                    ▼        │   │</a:t>
            </a:r>
          </a:p>
          <a:p>
            <a:pPr algn="l">
              <a:lnSpc>
                <a:spcPct val="110000"/>
              </a:lnSpc>
              <a:spcBef>
                <a:spcPts val="100"/>
              </a:spcBef>
              <a:spcAft>
                <a:spcPts val="100"/>
              </a:spcAft>
            </a:pPr>
            <a:r>
              <a:rPr sz="1200">
                <a:solidFill>
                  <a:srgbClr val="000000"/>
                </a:solidFill>
                <a:latin typeface="Calibri"/>
              </a:rPr>
              <a:t>│  │  (Rollback)          (Rollback)          (Rollback)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Orchestrated Saga: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Orchestrator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                    │   │</a:t>
            </a:r>
          </a:p>
          <a:p>
            <a:pPr algn="l">
              <a:lnSpc>
                <a:spcPct val="110000"/>
              </a:lnSpc>
              <a:spcBef>
                <a:spcPts val="100"/>
              </a:spcBef>
              <a:spcAft>
                <a:spcPts val="100"/>
              </a:spcAft>
            </a:pPr>
            <a:r>
              <a:rPr sz="1200">
                <a:solidFill>
                  <a:srgbClr val="000000"/>
                </a:solidFill>
                <a:latin typeface="Calibri"/>
              </a:rPr>
              <a:t>│  │  Order          Payment        Inventory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Code: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const saga = new Saga();                             │   │</a:t>
            </a:r>
          </a:p>
          <a:p>
            <a:pPr algn="l">
              <a:lnSpc>
                <a:spcPct val="110000"/>
              </a:lnSpc>
              <a:spcBef>
                <a:spcPts val="100"/>
              </a:spcBef>
              <a:spcAft>
                <a:spcPts val="100"/>
              </a:spcAft>
            </a:pPr>
            <a:r>
              <a:rPr sz="1200">
                <a:solidFill>
                  <a:srgbClr val="000000"/>
                </a:solidFill>
                <a:latin typeface="Calibri"/>
              </a:rPr>
              <a:t>│  │  saga.addStep({                                       │   │</a:t>
            </a:r>
          </a:p>
          <a:p>
            <a:pPr algn="l">
              <a:lnSpc>
                <a:spcPct val="110000"/>
              </a:lnSpc>
              <a:spcBef>
                <a:spcPts val="100"/>
              </a:spcBef>
              <a:spcAft>
                <a:spcPts val="100"/>
              </a:spcAft>
            </a:pPr>
            <a:r>
              <a:rPr sz="1200">
                <a:solidFill>
                  <a:srgbClr val="000000"/>
                </a:solidFill>
                <a:latin typeface="Calibri"/>
              </a:rPr>
              <a:t>│  │    name: 'reserve_inventory',                         │   │</a:t>
            </a:r>
          </a:p>
          <a:p>
            <a:pPr algn="l">
              <a:lnSpc>
                <a:spcPct val="110000"/>
              </a:lnSpc>
              <a:spcBef>
                <a:spcPts val="100"/>
              </a:spcBef>
              <a:spcAft>
                <a:spcPts val="100"/>
              </a:spcAft>
            </a:pPr>
            <a:r>
              <a:rPr sz="1200">
                <a:solidFill>
                  <a:srgbClr val="000000"/>
                </a:solidFill>
                <a:latin typeface="Calibri"/>
              </a:rPr>
              <a:t>│  │    execute: () =&gt; inventoryService.reserve(),        │   │</a:t>
            </a:r>
          </a:p>
          <a:p>
            <a:pPr algn="l">
              <a:lnSpc>
                <a:spcPct val="110000"/>
              </a:lnSpc>
              <a:spcBef>
                <a:spcPts val="100"/>
              </a:spcBef>
              <a:spcAft>
                <a:spcPts val="100"/>
              </a:spcAft>
            </a:pPr>
            <a:r>
              <a:rPr sz="1200">
                <a:solidFill>
                  <a:srgbClr val="000000"/>
                </a:solidFill>
                <a:latin typeface="Calibri"/>
              </a:rPr>
              <a:t>│  │    compensate: () =&gt; inventoryService.release(),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saga.addStep({                                       │   │</a:t>
            </a:r>
          </a:p>
          <a:p>
            <a:pPr algn="l">
              <a:lnSpc>
                <a:spcPct val="110000"/>
              </a:lnSpc>
              <a:spcBef>
                <a:spcPts val="100"/>
              </a:spcBef>
              <a:spcAft>
                <a:spcPts val="100"/>
              </a:spcAft>
            </a:pPr>
            <a:r>
              <a:rPr sz="1200">
                <a:solidFill>
                  <a:srgbClr val="000000"/>
                </a:solidFill>
                <a:latin typeface="Calibri"/>
              </a:rPr>
              <a:t>│  │    name: 'process_payment',                          │   │</a:t>
            </a:r>
          </a:p>
          <a:p>
            <a:pPr algn="l">
              <a:lnSpc>
                <a:spcPct val="110000"/>
              </a:lnSpc>
              <a:spcBef>
                <a:spcPts val="100"/>
              </a:spcBef>
              <a:spcAft>
                <a:spcPts val="100"/>
              </a:spcAft>
            </a:pPr>
            <a:r>
              <a:rPr sz="1200">
                <a:solidFill>
                  <a:srgbClr val="000000"/>
                </a:solidFill>
                <a:latin typeface="Calibri"/>
              </a:rPr>
              <a:t>│  │    execute: () =&gt; paymentService.charge(),          │   │</a:t>
            </a:r>
          </a:p>
          <a:p>
            <a:pPr algn="l">
              <a:lnSpc>
                <a:spcPct val="110000"/>
              </a:lnSpc>
              <a:spcBef>
                <a:spcPts val="100"/>
              </a:spcBef>
              <a:spcAft>
                <a:spcPts val="100"/>
              </a:spcAft>
            </a:pPr>
            <a:r>
              <a:rPr sz="1200">
                <a:solidFill>
                  <a:srgbClr val="000000"/>
                </a:solidFill>
                <a:latin typeface="Calibri"/>
              </a:rPr>
              <a:t>│  │    compensate: () =&gt; paymentService.refund(),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await saga.execute();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Retry with Exponential Backoff</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RETRY WITH EXPONENTIAL BACKOFF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Backoff Pattern: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Attempt 1: 1s                                        │   │</a:t>
            </a:r>
          </a:p>
          <a:p>
            <a:pPr algn="l">
              <a:lnSpc>
                <a:spcPct val="110000"/>
              </a:lnSpc>
              <a:spcBef>
                <a:spcPts val="100"/>
              </a:spcBef>
              <a:spcAft>
                <a:spcPts val="100"/>
              </a:spcAft>
            </a:pPr>
            <a:r>
              <a:rPr sz="1200">
                <a:solidFill>
                  <a:srgbClr val="000000"/>
                </a:solidFill>
                <a:latin typeface="Calibri"/>
              </a:rPr>
              <a:t>│  │  Attempt 2: 2s                                        │   │</a:t>
            </a:r>
          </a:p>
          <a:p>
            <a:pPr algn="l">
              <a:lnSpc>
                <a:spcPct val="110000"/>
              </a:lnSpc>
              <a:spcBef>
                <a:spcPts val="100"/>
              </a:spcBef>
              <a:spcAft>
                <a:spcPts val="100"/>
              </a:spcAft>
            </a:pPr>
            <a:r>
              <a:rPr sz="1200">
                <a:solidFill>
                  <a:srgbClr val="000000"/>
                </a:solidFill>
                <a:latin typeface="Calibri"/>
              </a:rPr>
              <a:t>│  │  Attempt 3: 4s                                        │   │</a:t>
            </a:r>
          </a:p>
          <a:p>
            <a:pPr algn="l">
              <a:lnSpc>
                <a:spcPct val="110000"/>
              </a:lnSpc>
              <a:spcBef>
                <a:spcPts val="100"/>
              </a:spcBef>
              <a:spcAft>
                <a:spcPts val="100"/>
              </a:spcAft>
            </a:pPr>
            <a:r>
              <a:rPr sz="1200">
                <a:solidFill>
                  <a:srgbClr val="000000"/>
                </a:solidFill>
                <a:latin typeface="Calibri"/>
              </a:rPr>
              <a:t>│  │  Attempt 4: 8s                                        │   │</a:t>
            </a:r>
          </a:p>
          <a:p>
            <a:pPr algn="l">
              <a:lnSpc>
                <a:spcPct val="110000"/>
              </a:lnSpc>
              <a:spcBef>
                <a:spcPts val="100"/>
              </a:spcBef>
              <a:spcAft>
                <a:spcPts val="100"/>
              </a:spcAft>
            </a:pPr>
            <a:r>
              <a:rPr sz="1200">
                <a:solidFill>
                  <a:srgbClr val="000000"/>
                </a:solidFill>
                <a:latin typeface="Calibri"/>
              </a:rPr>
              <a:t>│  │  Attempt 5: 16s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Code: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class RetryManager {                                 │   │</a:t>
            </a:r>
          </a:p>
          <a:p>
            <a:pPr algn="l">
              <a:lnSpc>
                <a:spcPct val="110000"/>
              </a:lnSpc>
              <a:spcBef>
                <a:spcPts val="100"/>
              </a:spcBef>
              <a:spcAft>
                <a:spcPts val="100"/>
              </a:spcAft>
            </a:pPr>
            <a:r>
              <a:rPr sz="1200">
                <a:solidFill>
                  <a:srgbClr val="000000"/>
                </a:solidFill>
                <a:latin typeface="Calibri"/>
              </a:rPr>
              <a:t>│  │    async execute&lt;T&gt;(operation: () =&gt; Promise&lt;T&gt;) {   │   │</a:t>
            </a:r>
          </a:p>
          <a:p>
            <a:pPr algn="l">
              <a:lnSpc>
                <a:spcPct val="110000"/>
              </a:lnSpc>
              <a:spcBef>
                <a:spcPts val="100"/>
              </a:spcBef>
              <a:spcAft>
                <a:spcPts val="100"/>
              </a:spcAft>
            </a:pPr>
            <a:r>
              <a:rPr sz="1200">
                <a:solidFill>
                  <a:srgbClr val="000000"/>
                </a:solidFill>
                <a:latin typeface="Calibri"/>
              </a:rPr>
              <a:t>│  │      let attempt = 0;                                │   │</a:t>
            </a:r>
          </a:p>
          <a:p>
            <a:pPr algn="l">
              <a:lnSpc>
                <a:spcPct val="110000"/>
              </a:lnSpc>
              <a:spcBef>
                <a:spcPts val="100"/>
              </a:spcBef>
              <a:spcAft>
                <a:spcPts val="100"/>
              </a:spcAft>
            </a:pPr>
            <a:r>
              <a:rPr sz="1200">
                <a:solidFill>
                  <a:srgbClr val="000000"/>
                </a:solidFill>
                <a:latin typeface="Calibri"/>
              </a:rPr>
              <a:t>│  │      let delay = 1000;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while (attempt &lt; this.maxRetries) {            │   │</a:t>
            </a:r>
          </a:p>
          <a:p>
            <a:pPr algn="l">
              <a:lnSpc>
                <a:spcPct val="110000"/>
              </a:lnSpc>
              <a:spcBef>
                <a:spcPts val="100"/>
              </a:spcBef>
              <a:spcAft>
                <a:spcPts val="100"/>
              </a:spcAft>
            </a:pPr>
            <a:r>
              <a:rPr sz="1200">
                <a:solidFill>
                  <a:srgbClr val="000000"/>
                </a:solidFill>
                <a:latin typeface="Calibri"/>
              </a:rPr>
              <a:t>│  │        try {                                         │   │</a:t>
            </a:r>
          </a:p>
          <a:p>
            <a:pPr algn="l">
              <a:lnSpc>
                <a:spcPct val="110000"/>
              </a:lnSpc>
              <a:spcBef>
                <a:spcPts val="100"/>
              </a:spcBef>
              <a:spcAft>
                <a:spcPts val="100"/>
              </a:spcAft>
            </a:pPr>
            <a:r>
              <a:rPr sz="1200">
                <a:solidFill>
                  <a:srgbClr val="000000"/>
                </a:solidFill>
                <a:latin typeface="Calibri"/>
              </a:rPr>
              <a:t>│  │          return await operation();                  │   │</a:t>
            </a:r>
          </a:p>
          <a:p>
            <a:pPr algn="l">
              <a:lnSpc>
                <a:spcPct val="110000"/>
              </a:lnSpc>
              <a:spcBef>
                <a:spcPts val="100"/>
              </a:spcBef>
              <a:spcAft>
                <a:spcPts val="100"/>
              </a:spcAft>
            </a:pPr>
            <a:r>
              <a:rPr sz="1200">
                <a:solidFill>
                  <a:srgbClr val="000000"/>
                </a:solidFill>
                <a:latin typeface="Calibri"/>
              </a:rPr>
              <a:t>│  │        } catch (error) {                            │   │</a:t>
            </a:r>
          </a:p>
          <a:p>
            <a:pPr algn="l">
              <a:lnSpc>
                <a:spcPct val="110000"/>
              </a:lnSpc>
              <a:spcBef>
                <a:spcPts val="100"/>
              </a:spcBef>
              <a:spcAft>
                <a:spcPts val="100"/>
              </a:spcAft>
            </a:pPr>
            <a:r>
              <a:rPr sz="1200">
                <a:solidFill>
                  <a:srgbClr val="000000"/>
                </a:solidFill>
                <a:latin typeface="Calibri"/>
              </a:rPr>
              <a:t>│  │          if (!this.shouldRetry(error)) throw error;│   │</a:t>
            </a:r>
          </a:p>
          <a:p>
            <a:pPr algn="l">
              <a:lnSpc>
                <a:spcPct val="110000"/>
              </a:lnSpc>
              <a:spcBef>
                <a:spcPts val="100"/>
              </a:spcBef>
              <a:spcAft>
                <a:spcPts val="100"/>
              </a:spcAft>
            </a:pPr>
            <a:r>
              <a:rPr sz="1200">
                <a:solidFill>
                  <a:srgbClr val="000000"/>
                </a:solidFill>
                <a:latin typeface="Calibri"/>
              </a:rPr>
              <a:t>│  │          await this.sleep(delay + jitter);          │   │</a:t>
            </a:r>
          </a:p>
          <a:p>
            <a:pPr algn="l">
              <a:lnSpc>
                <a:spcPct val="110000"/>
              </a:lnSpc>
              <a:spcBef>
                <a:spcPts val="100"/>
              </a:spcBef>
              <a:spcAft>
                <a:spcPts val="100"/>
              </a:spcAft>
            </a:pPr>
            <a:r>
              <a:rPr sz="1200">
                <a:solidFill>
                  <a:srgbClr val="000000"/>
                </a:solidFill>
                <a:latin typeface="Calibri"/>
              </a:rPr>
              <a:t>│  │          delay *= this.backoffMultiplier;          │   │</a:t>
            </a:r>
          </a:p>
          <a:p>
            <a:pPr algn="l">
              <a:lnSpc>
                <a:spcPct val="110000"/>
              </a:lnSpc>
              <a:spcBef>
                <a:spcPts val="100"/>
              </a:spcBef>
              <a:spcAft>
                <a:spcPts val="100"/>
              </a:spcAft>
            </a:pPr>
            <a:r>
              <a:rPr sz="1200">
                <a:solidFill>
                  <a:srgbClr val="000000"/>
                </a:solidFill>
                <a:latin typeface="Calibri"/>
              </a:rPr>
              <a:t>│  │          attempt++;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PART 3.2: Request Context &amp; Cancellation (15 Slides)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Request Context</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```typescript</a:t>
            </a:r>
          </a:p>
          <a:p>
            <a:pPr algn="l">
              <a:lnSpc>
                <a:spcPct val="110000"/>
              </a:lnSpc>
              <a:spcBef>
                <a:spcPts val="100"/>
              </a:spcBef>
              <a:spcAft>
                <a:spcPts val="100"/>
              </a:spcAft>
            </a:pPr>
            <a:r>
              <a:rPr sz="1100">
                <a:solidFill>
                  <a:srgbClr val="000000"/>
                </a:solidFill>
                <a:latin typeface="Calibri"/>
              </a:rPr>
              <a:t>import { AsyncLocalStorage } from 'async_hooks';</a:t>
            </a:r>
          </a:p>
          <a:p>
            <a:pPr algn="l">
              <a:lnSpc>
                <a:spcPct val="110000"/>
              </a:lnSpc>
              <a:spcBef>
                <a:spcPts val="100"/>
              </a:spcBef>
              <a:spcAft>
                <a:spcPts val="100"/>
              </a:spcAft>
            </a:pPr>
            <a:r>
              <a:rPr sz="1100">
                <a:solidFill>
                  <a:srgbClr val="000000"/>
                </a:solidFill>
                <a:latin typeface="Calibri"/>
              </a:rPr>
              <a:t>interface RequestContext {</a:t>
            </a:r>
          </a:p>
          <a:p>
            <a:pPr algn="l">
              <a:lnSpc>
                <a:spcPct val="110000"/>
              </a:lnSpc>
              <a:spcBef>
                <a:spcPts val="100"/>
              </a:spcBef>
              <a:spcAft>
                <a:spcPts val="100"/>
              </a:spcAft>
            </a:pPr>
            <a:r>
              <a:rPr sz="1100">
                <a:solidFill>
                  <a:srgbClr val="000000"/>
                </a:solidFill>
                <a:latin typeface="Calibri"/>
              </a:rPr>
              <a:t>    requestId: string;</a:t>
            </a:r>
          </a:p>
          <a:p>
            <a:pPr algn="l">
              <a:lnSpc>
                <a:spcPct val="110000"/>
              </a:lnSpc>
              <a:spcBef>
                <a:spcPts val="100"/>
              </a:spcBef>
              <a:spcAft>
                <a:spcPts val="100"/>
              </a:spcAft>
            </a:pPr>
            <a:r>
              <a:rPr sz="1100">
                <a:solidFill>
                  <a:srgbClr val="000000"/>
                </a:solidFill>
                <a:latin typeface="Calibri"/>
              </a:rPr>
              <a:t>    userId?: string;</a:t>
            </a:r>
          </a:p>
          <a:p>
            <a:pPr algn="l">
              <a:lnSpc>
                <a:spcPct val="110000"/>
              </a:lnSpc>
              <a:spcBef>
                <a:spcPts val="100"/>
              </a:spcBef>
              <a:spcAft>
                <a:spcPts val="100"/>
              </a:spcAft>
            </a:pPr>
            <a:r>
              <a:rPr sz="1100">
                <a:solidFill>
                  <a:srgbClr val="000000"/>
                </a:solidFill>
                <a:latin typeface="Calibri"/>
              </a:rPr>
              <a:t>    correlationId: string;</a:t>
            </a:r>
          </a:p>
          <a:p>
            <a:pPr algn="l">
              <a:lnSpc>
                <a:spcPct val="110000"/>
              </a:lnSpc>
              <a:spcBef>
                <a:spcPts val="100"/>
              </a:spcBef>
              <a:spcAft>
                <a:spcPts val="100"/>
              </a:spcAft>
            </a:pPr>
            <a:r>
              <a:rPr sz="1100">
                <a:solidFill>
                  <a:srgbClr val="000000"/>
                </a:solidFill>
                <a:latin typeface="Calibri"/>
              </a:rPr>
              <a:t>    startTime: number;</a:t>
            </a:r>
          </a:p>
          <a:p>
            <a:pPr algn="l">
              <a:lnSpc>
                <a:spcPct val="110000"/>
              </a:lnSpc>
              <a:spcBef>
                <a:spcPts val="100"/>
              </a:spcBef>
              <a:spcAft>
                <a:spcPts val="100"/>
              </a:spcAft>
            </a:pPr>
            <a:r>
              <a:rPr sz="1100">
                <a:solidFill>
                  <a:srgbClr val="000000"/>
                </a:solidFill>
                <a:latin typeface="Calibri"/>
              </a:rPr>
              <a:t>    timeout: number;</a:t>
            </a:r>
          </a:p>
          <a:p>
            <a:pPr algn="l">
              <a:lnSpc>
                <a:spcPct val="110000"/>
              </a:lnSpc>
              <a:spcBef>
                <a:spcPts val="100"/>
              </a:spcBef>
              <a:spcAft>
                <a:spcPts val="100"/>
              </a:spcAft>
            </a:pPr>
            <a:r>
              <a:rPr sz="1100">
                <a:solidFill>
                  <a:srgbClr val="000000"/>
                </a:solidFill>
                <a:latin typeface="Calibri"/>
              </a:rPr>
              <a:t>    headers: Record&lt;string, string&gt;;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class RequestContextManager {</a:t>
            </a:r>
          </a:p>
          <a:p>
            <a:pPr algn="l">
              <a:lnSpc>
                <a:spcPct val="110000"/>
              </a:lnSpc>
              <a:spcBef>
                <a:spcPts val="100"/>
              </a:spcBef>
              <a:spcAft>
                <a:spcPts val="100"/>
              </a:spcAft>
            </a:pPr>
            <a:r>
              <a:rPr sz="1100">
                <a:solidFill>
                  <a:srgbClr val="000000"/>
                </a:solidFill>
                <a:latin typeface="Calibri"/>
              </a:rPr>
              <a:t>    private static storage = new AsyncLocalStorage&lt;RequestContext&gt;();</a:t>
            </a:r>
          </a:p>
          <a:p>
            <a:pPr algn="l">
              <a:lnSpc>
                <a:spcPct val="110000"/>
              </a:lnSpc>
              <a:spcBef>
                <a:spcPts val="100"/>
              </a:spcBef>
              <a:spcAft>
                <a:spcPts val="100"/>
              </a:spcAft>
            </a:pPr>
            <a:r>
              <a:rPr sz="1100">
                <a:solidFill>
                  <a:srgbClr val="000000"/>
                </a:solidFill>
                <a:latin typeface="Calibri"/>
              </a:rPr>
              <a:t>    static run&lt;T&gt;(context: RequestContext, fn: () =&gt; T): T {</a:t>
            </a:r>
          </a:p>
          <a:p>
            <a:pPr algn="l">
              <a:lnSpc>
                <a:spcPct val="110000"/>
              </a:lnSpc>
              <a:spcBef>
                <a:spcPts val="100"/>
              </a:spcBef>
              <a:spcAft>
                <a:spcPts val="100"/>
              </a:spcAft>
            </a:pPr>
            <a:r>
              <a:rPr sz="1100">
                <a:solidFill>
                  <a:srgbClr val="000000"/>
                </a:solidFill>
                <a:latin typeface="Calibri"/>
              </a:rPr>
              <a:t>        return this.storage.run(context, fn);</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static getContext(): RequestContext | null {</a:t>
            </a:r>
          </a:p>
          <a:p>
            <a:pPr algn="l">
              <a:lnSpc>
                <a:spcPct val="110000"/>
              </a:lnSpc>
              <a:spcBef>
                <a:spcPts val="100"/>
              </a:spcBef>
              <a:spcAft>
                <a:spcPts val="100"/>
              </a:spcAft>
            </a:pPr>
            <a:r>
              <a:rPr sz="1100">
                <a:solidFill>
                  <a:srgbClr val="000000"/>
                </a:solidFill>
                <a:latin typeface="Calibri"/>
              </a:rPr>
              <a:t>        return this.storage.getStore() || null;</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static getRequestId(): string {</a:t>
            </a:r>
          </a:p>
          <a:p>
            <a:pPr algn="l">
              <a:lnSpc>
                <a:spcPct val="110000"/>
              </a:lnSpc>
              <a:spcBef>
                <a:spcPts val="100"/>
              </a:spcBef>
              <a:spcAft>
                <a:spcPts val="100"/>
              </a:spcAft>
            </a:pPr>
            <a:r>
              <a:rPr sz="1100">
                <a:solidFill>
                  <a:srgbClr val="000000"/>
                </a:solidFill>
                <a:latin typeface="Calibri"/>
              </a:rPr>
              <a:t>        return this.getContext()?.requestId || 'unknown';</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static getPropagationHeaders(): Record&lt;string, string&gt; {</a:t>
            </a:r>
          </a:p>
          <a:p>
            <a:pPr algn="l">
              <a:lnSpc>
                <a:spcPct val="110000"/>
              </a:lnSpc>
              <a:spcBef>
                <a:spcPts val="100"/>
              </a:spcBef>
              <a:spcAft>
                <a:spcPts val="100"/>
              </a:spcAft>
            </a:pPr>
            <a:r>
              <a:rPr sz="1100">
                <a:solidFill>
                  <a:srgbClr val="000000"/>
                </a:solidFill>
                <a:latin typeface="Calibri"/>
              </a:rPr>
              <a:t>        const context = this.getContext();</a:t>
            </a:r>
          </a:p>
          <a:p>
            <a:pPr algn="l">
              <a:lnSpc>
                <a:spcPct val="110000"/>
              </a:lnSpc>
              <a:spcBef>
                <a:spcPts val="100"/>
              </a:spcBef>
              <a:spcAft>
                <a:spcPts val="100"/>
              </a:spcAft>
            </a:pPr>
            <a:r>
              <a:rPr sz="1100">
                <a:solidFill>
                  <a:srgbClr val="000000"/>
                </a:solidFill>
                <a:latin typeface="Calibri"/>
              </a:rPr>
              <a:t>        if (!context) return {};</a:t>
            </a:r>
          </a:p>
          <a:p>
            <a:pPr algn="l">
              <a:lnSpc>
                <a:spcPct val="110000"/>
              </a:lnSpc>
              <a:spcBef>
                <a:spcPts val="100"/>
              </a:spcBef>
              <a:spcAft>
                <a:spcPts val="100"/>
              </a:spcAft>
            </a:pPr>
            <a:r>
              <a:rPr sz="1100">
                <a:solidFill>
                  <a:srgbClr val="000000"/>
                </a:solidFill>
                <a:latin typeface="Calibri"/>
              </a:rPr>
              <a:t>        return {</a:t>
            </a:r>
          </a:p>
          <a:p>
            <a:pPr algn="l">
              <a:lnSpc>
                <a:spcPct val="110000"/>
              </a:lnSpc>
              <a:spcBef>
                <a:spcPts val="100"/>
              </a:spcBef>
              <a:spcAft>
                <a:spcPts val="100"/>
              </a:spcAft>
            </a:pPr>
            <a:r>
              <a:rPr sz="1100">
                <a:solidFill>
                  <a:srgbClr val="000000"/>
                </a:solidFill>
                <a:latin typeface="Calibri"/>
              </a:rPr>
              <a:t>            'x-request-id': context.requestId,</a:t>
            </a:r>
          </a:p>
          <a:p>
            <a:pPr algn="l">
              <a:lnSpc>
                <a:spcPct val="110000"/>
              </a:lnSpc>
              <a:spcBef>
                <a:spcPts val="100"/>
              </a:spcBef>
              <a:spcAft>
                <a:spcPts val="100"/>
              </a:spcAft>
            </a:pPr>
            <a:r>
              <a:rPr sz="1100">
                <a:solidFill>
                  <a:srgbClr val="000000"/>
                </a:solidFill>
                <a:latin typeface="Calibri"/>
              </a:rPr>
              <a:t>            'x-correlation-id': context.correlationId,</a:t>
            </a:r>
          </a:p>
          <a:p>
            <a:pPr algn="l">
              <a:lnSpc>
                <a:spcPct val="110000"/>
              </a:lnSpc>
              <a:spcBef>
                <a:spcPts val="100"/>
              </a:spcBef>
              <a:spcAft>
                <a:spcPts val="100"/>
              </a:spcAft>
            </a:pPr>
            <a:r>
              <a:rPr sz="1100">
                <a:solidFill>
                  <a:srgbClr val="000000"/>
                </a:solidFill>
                <a:latin typeface="Calibri"/>
              </a:rPr>
              <a:t>            'x-user-id': context.userId ||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Middleware</a:t>
            </a:r>
          </a:p>
          <a:p>
            <a:pPr algn="l">
              <a:lnSpc>
                <a:spcPct val="110000"/>
              </a:lnSpc>
              <a:spcBef>
                <a:spcPts val="100"/>
              </a:spcBef>
              <a:spcAft>
                <a:spcPts val="100"/>
              </a:spcAft>
            </a:pPr>
            <a:r>
              <a:rPr sz="1100">
                <a:solidFill>
                  <a:srgbClr val="000000"/>
                </a:solidFill>
                <a:latin typeface="Calibri"/>
              </a:rPr>
              <a:t>async function contextMiddleware(request, reply) {</a:t>
            </a:r>
          </a:p>
          <a:p>
            <a:pPr algn="l">
              <a:lnSpc>
                <a:spcPct val="110000"/>
              </a:lnSpc>
              <a:spcBef>
                <a:spcPts val="100"/>
              </a:spcBef>
              <a:spcAft>
                <a:spcPts val="100"/>
              </a:spcAft>
            </a:pPr>
            <a:r>
              <a:rPr sz="1100">
                <a:solidFill>
                  <a:srgbClr val="000000"/>
                </a:solidFill>
                <a:latin typeface="Calibri"/>
              </a:rPr>
              <a:t>    const context = RequestContextManager.createContext({</a:t>
            </a:r>
          </a:p>
          <a:p>
            <a:pPr algn="l">
              <a:lnSpc>
                <a:spcPct val="110000"/>
              </a:lnSpc>
              <a:spcBef>
                <a:spcPts val="100"/>
              </a:spcBef>
              <a:spcAft>
                <a:spcPts val="100"/>
              </a:spcAft>
            </a:pPr>
            <a:r>
              <a:rPr sz="1100">
                <a:solidFill>
                  <a:srgbClr val="000000"/>
                </a:solidFill>
                <a:latin typeface="Calibri"/>
              </a:rPr>
              <a:t>        requestId: request.headers['x-request-id'] || randomUUID(),</a:t>
            </a:r>
          </a:p>
          <a:p>
            <a:pPr algn="l">
              <a:lnSpc>
                <a:spcPct val="110000"/>
              </a:lnSpc>
              <a:spcBef>
                <a:spcPts val="100"/>
              </a:spcBef>
              <a:spcAft>
                <a:spcPts val="100"/>
              </a:spcAft>
            </a:pPr>
            <a:r>
              <a:rPr sz="1100">
                <a:solidFill>
                  <a:srgbClr val="000000"/>
                </a:solidFill>
                <a:latin typeface="Calibri"/>
              </a:rPr>
              <a:t>        correlationId: request.headers['x-correlation-id'] || randomUUID(),</a:t>
            </a:r>
          </a:p>
          <a:p>
            <a:pPr algn="l">
              <a:lnSpc>
                <a:spcPct val="110000"/>
              </a:lnSpc>
              <a:spcBef>
                <a:spcPts val="100"/>
              </a:spcBef>
              <a:spcAft>
                <a:spcPts val="100"/>
              </a:spcAft>
            </a:pPr>
            <a:r>
              <a:rPr sz="1100">
                <a:solidFill>
                  <a:srgbClr val="000000"/>
                </a:solidFill>
                <a:latin typeface="Calibri"/>
              </a:rPr>
              <a:t>        headers: request.headers,</a:t>
            </a:r>
          </a:p>
          <a:p>
            <a:pPr algn="l">
              <a:lnSpc>
                <a:spcPct val="110000"/>
              </a:lnSpc>
              <a:spcBef>
                <a:spcPts val="100"/>
              </a:spcBef>
              <a:spcAft>
                <a:spcPts val="100"/>
              </a:spcAft>
            </a:pPr>
            <a:r>
              <a:rPr sz="1100">
                <a:solidFill>
                  <a:srgbClr val="000000"/>
                </a:solidFill>
                <a:latin typeface="Calibri"/>
              </a:rPr>
              <a:t>        userId: request.headers['x-user-id'],</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RequestContextManager.run(context, () =&gt; {</a:t>
            </a:r>
          </a:p>
          <a:p>
            <a:pPr algn="l">
              <a:lnSpc>
                <a:spcPct val="110000"/>
              </a:lnSpc>
              <a:spcBef>
                <a:spcPts val="100"/>
              </a:spcBef>
              <a:spcAft>
                <a:spcPts val="100"/>
              </a:spcAft>
            </a:pPr>
            <a:r>
              <a:rPr sz="1100">
                <a:solidFill>
                  <a:srgbClr val="000000"/>
                </a:solidFill>
                <a:latin typeface="Calibri"/>
              </a:rPr>
              <a:t>        reply.header('x-request-id', context.requestId);</a:t>
            </a:r>
          </a:p>
          <a:p>
            <a:pPr algn="l">
              <a:lnSpc>
                <a:spcPct val="110000"/>
              </a:lnSpc>
              <a:spcBef>
                <a:spcPts val="100"/>
              </a:spcBef>
              <a:spcAft>
                <a:spcPts val="100"/>
              </a:spcAft>
            </a:pPr>
            <a:r>
              <a:rPr sz="1100">
                <a:solidFill>
                  <a:srgbClr val="000000"/>
                </a:solidFill>
                <a:latin typeface="Calibri"/>
              </a:rPr>
              <a:t>        // Continue request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AbortController</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```typescript</a:t>
            </a:r>
          </a:p>
          <a:p>
            <a:pPr algn="l">
              <a:lnSpc>
                <a:spcPct val="110000"/>
              </a:lnSpc>
              <a:spcBef>
                <a:spcPts val="100"/>
              </a:spcBef>
              <a:spcAft>
                <a:spcPts val="100"/>
              </a:spcAft>
            </a:pPr>
            <a:r>
              <a:rPr sz="1100">
                <a:solidFill>
                  <a:srgbClr val="000000"/>
                </a:solidFill>
                <a:latin typeface="Calibri"/>
              </a:rPr>
              <a:t>// Create cancellation</a:t>
            </a:r>
          </a:p>
          <a:p>
            <a:pPr algn="l">
              <a:lnSpc>
                <a:spcPct val="110000"/>
              </a:lnSpc>
              <a:spcBef>
                <a:spcPts val="100"/>
              </a:spcBef>
              <a:spcAft>
                <a:spcPts val="100"/>
              </a:spcAft>
            </a:pPr>
            <a:r>
              <a:rPr sz="1100">
                <a:solidFill>
                  <a:srgbClr val="000000"/>
                </a:solidFill>
                <a:latin typeface="Calibri"/>
              </a:rPr>
              <a:t>const controller = new AbortController();</a:t>
            </a:r>
          </a:p>
          <a:p>
            <a:pPr algn="l">
              <a:lnSpc>
                <a:spcPct val="110000"/>
              </a:lnSpc>
              <a:spcBef>
                <a:spcPts val="100"/>
              </a:spcBef>
              <a:spcAft>
                <a:spcPts val="100"/>
              </a:spcAft>
            </a:pPr>
            <a:r>
              <a:rPr sz="1100">
                <a:solidFill>
                  <a:srgbClr val="000000"/>
                </a:solidFill>
                <a:latin typeface="Calibri"/>
              </a:rPr>
              <a:t>const signal = controller.signal;</a:t>
            </a:r>
          </a:p>
          <a:p>
            <a:pPr algn="l">
              <a:lnSpc>
                <a:spcPct val="110000"/>
              </a:lnSpc>
              <a:spcBef>
                <a:spcPts val="100"/>
              </a:spcBef>
              <a:spcAft>
                <a:spcPts val="100"/>
              </a:spcAft>
            </a:pPr>
            <a:r>
              <a:rPr sz="1100">
                <a:solidFill>
                  <a:srgbClr val="000000"/>
                </a:solidFill>
                <a:latin typeface="Calibri"/>
              </a:rPr>
              <a:t>// Execute with cancellation</a:t>
            </a:r>
          </a:p>
          <a:p>
            <a:pPr algn="l">
              <a:lnSpc>
                <a:spcPct val="110000"/>
              </a:lnSpc>
              <a:spcBef>
                <a:spcPts val="100"/>
              </a:spcBef>
              <a:spcAft>
                <a:spcPts val="100"/>
              </a:spcAft>
            </a:pPr>
            <a:r>
              <a:rPr sz="1100">
                <a:solidFill>
                  <a:srgbClr val="000000"/>
                </a:solidFill>
                <a:latin typeface="Calibri"/>
              </a:rPr>
              <a:t>async function fetchWithTimeout(url: string, timeout: number) {</a:t>
            </a:r>
          </a:p>
          <a:p>
            <a:pPr algn="l">
              <a:lnSpc>
                <a:spcPct val="110000"/>
              </a:lnSpc>
              <a:spcBef>
                <a:spcPts val="100"/>
              </a:spcBef>
              <a:spcAft>
                <a:spcPts val="100"/>
              </a:spcAft>
            </a:pPr>
            <a:r>
              <a:rPr sz="1100">
                <a:solidFill>
                  <a:srgbClr val="000000"/>
                </a:solidFill>
                <a:latin typeface="Calibri"/>
              </a:rPr>
              <a:t>    const controller = new AbortController();</a:t>
            </a:r>
          </a:p>
          <a:p>
            <a:pPr algn="l">
              <a:lnSpc>
                <a:spcPct val="110000"/>
              </a:lnSpc>
              <a:spcBef>
                <a:spcPts val="100"/>
              </a:spcBef>
              <a:spcAft>
                <a:spcPts val="100"/>
              </a:spcAft>
            </a:pPr>
            <a:r>
              <a:rPr sz="1100">
                <a:solidFill>
                  <a:srgbClr val="000000"/>
                </a:solidFill>
                <a:latin typeface="Calibri"/>
              </a:rPr>
              <a:t>    const timeoutId = setTimeout(() =&gt; controller.abort(), timeout);</a:t>
            </a:r>
          </a:p>
          <a:p>
            <a:pPr algn="l">
              <a:lnSpc>
                <a:spcPct val="110000"/>
              </a:lnSpc>
              <a:spcBef>
                <a:spcPts val="100"/>
              </a:spcBef>
              <a:spcAft>
                <a:spcPts val="100"/>
              </a:spcAft>
            </a:pPr>
            <a:r>
              <a:rPr sz="1100">
                <a:solidFill>
                  <a:srgbClr val="000000"/>
                </a:solidFill>
                <a:latin typeface="Calibri"/>
              </a:rPr>
              <a:t>    try {</a:t>
            </a:r>
          </a:p>
          <a:p>
            <a:pPr algn="l">
              <a:lnSpc>
                <a:spcPct val="110000"/>
              </a:lnSpc>
              <a:spcBef>
                <a:spcPts val="100"/>
              </a:spcBef>
              <a:spcAft>
                <a:spcPts val="100"/>
              </a:spcAft>
            </a:pPr>
            <a:r>
              <a:rPr sz="1100">
                <a:solidFill>
                  <a:srgbClr val="000000"/>
                </a:solidFill>
                <a:latin typeface="Calibri"/>
              </a:rPr>
              <a:t>        const response = await fetch(url, { signal: controller.signal });</a:t>
            </a:r>
          </a:p>
          <a:p>
            <a:pPr algn="l">
              <a:lnSpc>
                <a:spcPct val="110000"/>
              </a:lnSpc>
              <a:spcBef>
                <a:spcPts val="100"/>
              </a:spcBef>
              <a:spcAft>
                <a:spcPts val="100"/>
              </a:spcAft>
            </a:pPr>
            <a:r>
              <a:rPr sz="1100">
                <a:solidFill>
                  <a:srgbClr val="000000"/>
                </a:solidFill>
                <a:latin typeface="Calibri"/>
              </a:rPr>
              <a:t>        return response.json();</a:t>
            </a:r>
          </a:p>
          <a:p>
            <a:pPr algn="l">
              <a:lnSpc>
                <a:spcPct val="110000"/>
              </a:lnSpc>
              <a:spcBef>
                <a:spcPts val="100"/>
              </a:spcBef>
              <a:spcAft>
                <a:spcPts val="100"/>
              </a:spcAft>
            </a:pPr>
            <a:r>
              <a:rPr sz="1100">
                <a:solidFill>
                  <a:srgbClr val="000000"/>
                </a:solidFill>
                <a:latin typeface="Calibri"/>
              </a:rPr>
              <a:t>    } finally {</a:t>
            </a:r>
          </a:p>
          <a:p>
            <a:pPr algn="l">
              <a:lnSpc>
                <a:spcPct val="110000"/>
              </a:lnSpc>
              <a:spcBef>
                <a:spcPts val="100"/>
              </a:spcBef>
              <a:spcAft>
                <a:spcPts val="100"/>
              </a:spcAft>
            </a:pPr>
            <a:r>
              <a:rPr sz="1100">
                <a:solidFill>
                  <a:srgbClr val="000000"/>
                </a:solidFill>
                <a:latin typeface="Calibri"/>
              </a:rPr>
              <a:t>        clearTimeout(timeoutId);</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Propagate cancellation</a:t>
            </a:r>
          </a:p>
          <a:p>
            <a:pPr algn="l">
              <a:lnSpc>
                <a:spcPct val="110000"/>
              </a:lnSpc>
              <a:spcBef>
                <a:spcPts val="100"/>
              </a:spcBef>
              <a:spcAft>
                <a:spcPts val="100"/>
              </a:spcAft>
            </a:pPr>
            <a:r>
              <a:rPr sz="1100">
                <a:solidFill>
                  <a:srgbClr val="000000"/>
                </a:solidFill>
                <a:latin typeface="Calibri"/>
              </a:rPr>
              <a:t>class CancellableRequest {</a:t>
            </a:r>
          </a:p>
          <a:p>
            <a:pPr algn="l">
              <a:lnSpc>
                <a:spcPct val="110000"/>
              </a:lnSpc>
              <a:spcBef>
                <a:spcPts val="100"/>
              </a:spcBef>
              <a:spcAft>
                <a:spcPts val="100"/>
              </a:spcAft>
            </a:pPr>
            <a:r>
              <a:rPr sz="1100">
                <a:solidFill>
                  <a:srgbClr val="000000"/>
                </a:solidFill>
                <a:latin typeface="Calibri"/>
              </a:rPr>
              <a:t>    private controller = new AbortController();</a:t>
            </a:r>
          </a:p>
          <a:p>
            <a:pPr algn="l">
              <a:lnSpc>
                <a:spcPct val="110000"/>
              </a:lnSpc>
              <a:spcBef>
                <a:spcPts val="100"/>
              </a:spcBef>
              <a:spcAft>
                <a:spcPts val="100"/>
              </a:spcAft>
            </a:pPr>
            <a:r>
              <a:rPr sz="1100">
                <a:solidFill>
                  <a:srgbClr val="000000"/>
                </a:solidFill>
                <a:latin typeface="Calibri"/>
              </a:rPr>
              <a:t>    async execute(operation: (signal: AbortSignal) =&gt; Promise&lt;any&gt;): Promise&lt;any&gt; {</a:t>
            </a:r>
          </a:p>
          <a:p>
            <a:pPr algn="l">
              <a:lnSpc>
                <a:spcPct val="110000"/>
              </a:lnSpc>
              <a:spcBef>
                <a:spcPts val="100"/>
              </a:spcBef>
              <a:spcAft>
                <a:spcPts val="100"/>
              </a:spcAft>
            </a:pPr>
            <a:r>
              <a:rPr sz="1100">
                <a:solidFill>
                  <a:srgbClr val="000000"/>
                </a:solidFill>
                <a:latin typeface="Calibri"/>
              </a:rPr>
              <a:t>        try {</a:t>
            </a:r>
          </a:p>
          <a:p>
            <a:pPr algn="l">
              <a:lnSpc>
                <a:spcPct val="110000"/>
              </a:lnSpc>
              <a:spcBef>
                <a:spcPts val="100"/>
              </a:spcBef>
              <a:spcAft>
                <a:spcPts val="100"/>
              </a:spcAft>
            </a:pPr>
            <a:r>
              <a:rPr sz="1100">
                <a:solidFill>
                  <a:srgbClr val="000000"/>
                </a:solidFill>
                <a:latin typeface="Calibri"/>
              </a:rPr>
              <a:t>            return await operation(this.controller.signal);</a:t>
            </a:r>
          </a:p>
          <a:p>
            <a:pPr algn="l">
              <a:lnSpc>
                <a:spcPct val="110000"/>
              </a:lnSpc>
              <a:spcBef>
                <a:spcPts val="100"/>
              </a:spcBef>
              <a:spcAft>
                <a:spcPts val="100"/>
              </a:spcAft>
            </a:pPr>
            <a:r>
              <a:rPr sz="1100">
                <a:solidFill>
                  <a:srgbClr val="000000"/>
                </a:solidFill>
                <a:latin typeface="Calibri"/>
              </a:rPr>
              <a:t>        } catch (error) {</a:t>
            </a:r>
          </a:p>
          <a:p>
            <a:pPr algn="l">
              <a:lnSpc>
                <a:spcPct val="110000"/>
              </a:lnSpc>
              <a:spcBef>
                <a:spcPts val="100"/>
              </a:spcBef>
              <a:spcAft>
                <a:spcPts val="100"/>
              </a:spcAft>
            </a:pPr>
            <a:r>
              <a:rPr sz="1100">
                <a:solidFill>
                  <a:srgbClr val="000000"/>
                </a:solidFill>
                <a:latin typeface="Calibri"/>
              </a:rPr>
              <a:t>            if (error.name === 'AbortError') {</a:t>
            </a:r>
          </a:p>
          <a:p>
            <a:pPr algn="l">
              <a:lnSpc>
                <a:spcPct val="110000"/>
              </a:lnSpc>
              <a:spcBef>
                <a:spcPts val="100"/>
              </a:spcBef>
              <a:spcAft>
                <a:spcPts val="100"/>
              </a:spcAft>
            </a:pPr>
            <a:r>
              <a:rPr sz="1100">
                <a:solidFill>
                  <a:srgbClr val="000000"/>
                </a:solidFill>
                <a:latin typeface="Calibri"/>
              </a:rPr>
              <a:t>                throw new Error('Request cancelled');</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throw error;</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cancel(): void {</a:t>
            </a:r>
          </a:p>
          <a:p>
            <a:pPr algn="l">
              <a:lnSpc>
                <a:spcPct val="110000"/>
              </a:lnSpc>
              <a:spcBef>
                <a:spcPts val="100"/>
              </a:spcBef>
              <a:spcAft>
                <a:spcPts val="100"/>
              </a:spcAft>
            </a:pPr>
            <a:r>
              <a:rPr sz="1100">
                <a:solidFill>
                  <a:srgbClr val="000000"/>
                </a:solidFill>
                <a:latin typeface="Calibri"/>
              </a:rPr>
              <a:t>        this.controller.abort();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Usage</a:t>
            </a:r>
          </a:p>
          <a:p>
            <a:pPr algn="l">
              <a:lnSpc>
                <a:spcPct val="110000"/>
              </a:lnSpc>
              <a:spcBef>
                <a:spcPts val="100"/>
              </a:spcBef>
              <a:spcAft>
                <a:spcPts val="100"/>
              </a:spcAft>
            </a:pPr>
            <a:r>
              <a:rPr sz="1100">
                <a:solidFill>
                  <a:srgbClr val="000000"/>
                </a:solidFill>
                <a:latin typeface="Calibri"/>
              </a:rPr>
              <a:t>const request = new CancellableRequest();</a:t>
            </a:r>
          </a:p>
          <a:p>
            <a:pPr algn="l">
              <a:lnSpc>
                <a:spcPct val="110000"/>
              </a:lnSpc>
              <a:spcBef>
                <a:spcPts val="100"/>
              </a:spcBef>
              <a:spcAft>
                <a:spcPts val="100"/>
              </a:spcAft>
            </a:pPr>
            <a:r>
              <a:rPr sz="1100">
                <a:solidFill>
                  <a:srgbClr val="000000"/>
                </a:solidFill>
                <a:latin typeface="Calibri"/>
              </a:rPr>
              <a:t>const result = request.execute(async (signal) =&gt; {</a:t>
            </a:r>
          </a:p>
          <a:p>
            <a:pPr algn="l">
              <a:lnSpc>
                <a:spcPct val="110000"/>
              </a:lnSpc>
              <a:spcBef>
                <a:spcPts val="100"/>
              </a:spcBef>
              <a:spcAft>
                <a:spcPts val="100"/>
              </a:spcAft>
            </a:pPr>
            <a:r>
              <a:rPr sz="1100">
                <a:solidFill>
                  <a:srgbClr val="000000"/>
                </a:solidFill>
                <a:latin typeface="Calibri"/>
              </a:rPr>
              <a:t>    const response = await fetch(url, { signal });</a:t>
            </a:r>
          </a:p>
          <a:p>
            <a:pPr algn="l">
              <a:lnSpc>
                <a:spcPct val="110000"/>
              </a:lnSpc>
              <a:spcBef>
                <a:spcPts val="100"/>
              </a:spcBef>
              <a:spcAft>
                <a:spcPts val="100"/>
              </a:spcAft>
            </a:pPr>
            <a:r>
              <a:rPr sz="1100">
                <a:solidFill>
                  <a:srgbClr val="000000"/>
                </a:solidFill>
                <a:latin typeface="Calibri"/>
              </a:rPr>
              <a:t>    return response.json();</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Cancel if needed</a:t>
            </a:r>
          </a:p>
          <a:p>
            <a:pPr algn="l">
              <a:lnSpc>
                <a:spcPct val="110000"/>
              </a:lnSpc>
              <a:spcBef>
                <a:spcPts val="100"/>
              </a:spcBef>
              <a:spcAft>
                <a:spcPts val="100"/>
              </a:spcAft>
            </a:pPr>
            <a:r>
              <a:rPr sz="1100">
                <a:solidFill>
                  <a:srgbClr val="000000"/>
                </a:solidFill>
                <a:latin typeface="Calibri"/>
              </a:rPr>
              <a:t>setTimeout(() =&gt; request.cancel(), 5000);</a:t>
            </a:r>
          </a:p>
          <a:p>
            <a:pPr algn="l">
              <a:lnSpc>
                <a:spcPct val="110000"/>
              </a:lnSpc>
              <a:spcBef>
                <a:spcPts val="100"/>
              </a:spcBef>
              <a:spcAft>
                <a:spcPts val="100"/>
              </a:spcAft>
            </a:pPr>
            <a:r>
              <a:rPr sz="1100">
                <a:solidFill>
                  <a:srgbClr val="000000"/>
                </a:solidFill>
                <a:latin typeface="Calibri"/>
              </a:rP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Distributed Tracing</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DISTRIBUTED TRACING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Trace: user-request-123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Span: API Gateway (50ms)                             │   │</a:t>
            </a:r>
          </a:p>
          <a:p>
            <a:pPr algn="l">
              <a:lnSpc>
                <a:spcPct val="110000"/>
              </a:lnSpc>
              <a:spcBef>
                <a:spcPts val="100"/>
              </a:spcBef>
              <a:spcAft>
                <a:spcPts val="100"/>
              </a:spcAft>
            </a:pPr>
            <a:r>
              <a:rPr sz="1200">
                <a:solidFill>
                  <a:srgbClr val="000000"/>
                </a:solidFill>
                <a:latin typeface="Calibri"/>
              </a:rPr>
              <a:t>│  │    ├── Span: User Service (30ms)                     │   │</a:t>
            </a:r>
          </a:p>
          <a:p>
            <a:pPr algn="l">
              <a:lnSpc>
                <a:spcPct val="110000"/>
              </a:lnSpc>
              <a:spcBef>
                <a:spcPts val="100"/>
              </a:spcBef>
              <a:spcAft>
                <a:spcPts val="100"/>
              </a:spcAft>
            </a:pPr>
            <a:r>
              <a:rPr sz="1200">
                <a:solidFill>
                  <a:srgbClr val="000000"/>
                </a:solidFill>
                <a:latin typeface="Calibri"/>
              </a:rPr>
              <a:t>│  │    │   └── Span: Database Query (20ms)              │   │</a:t>
            </a:r>
          </a:p>
          <a:p>
            <a:pPr algn="l">
              <a:lnSpc>
                <a:spcPct val="110000"/>
              </a:lnSpc>
              <a:spcBef>
                <a:spcPts val="100"/>
              </a:spcBef>
              <a:spcAft>
                <a:spcPts val="100"/>
              </a:spcAft>
            </a:pPr>
            <a:r>
              <a:rPr sz="1200">
                <a:solidFill>
                  <a:srgbClr val="000000"/>
                </a:solidFill>
                <a:latin typeface="Calibri"/>
              </a:rPr>
              <a:t>│  │    ├── Span: Task Service (25ms)                    │   │</a:t>
            </a:r>
          </a:p>
          <a:p>
            <a:pPr algn="l">
              <a:lnSpc>
                <a:spcPct val="110000"/>
              </a:lnSpc>
              <a:spcBef>
                <a:spcPts val="100"/>
              </a:spcBef>
              <a:spcAft>
                <a:spcPts val="100"/>
              </a:spcAft>
            </a:pPr>
            <a:r>
              <a:rPr sz="1200">
                <a:solidFill>
                  <a:srgbClr val="000000"/>
                </a:solidFill>
                <a:latin typeface="Calibri"/>
              </a:rPr>
              <a:t>│  │    │   └── Span: Cache Hit (1ms)                   │   │</a:t>
            </a:r>
          </a:p>
          <a:p>
            <a:pPr algn="l">
              <a:lnSpc>
                <a:spcPct val="110000"/>
              </a:lnSpc>
              <a:spcBef>
                <a:spcPts val="100"/>
              </a:spcBef>
              <a:spcAft>
                <a:spcPts val="100"/>
              </a:spcAft>
            </a:pPr>
            <a:r>
              <a:rPr sz="1200">
                <a:solidFill>
                  <a:srgbClr val="000000"/>
                </a:solidFill>
                <a:latin typeface="Calibri"/>
              </a:rPr>
              <a:t>│  │    └── Span: Response (5ms)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Code: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class Tracer {                                       │   │</a:t>
            </a:r>
          </a:p>
          <a:p>
            <a:pPr algn="l">
              <a:lnSpc>
                <a:spcPct val="110000"/>
              </a:lnSpc>
              <a:spcBef>
                <a:spcPts val="100"/>
              </a:spcBef>
              <a:spcAft>
                <a:spcPts val="100"/>
              </a:spcAft>
            </a:pPr>
            <a:r>
              <a:rPr sz="1200">
                <a:solidFill>
                  <a:srgbClr val="000000"/>
                </a:solidFill>
                <a:latin typeface="Calibri"/>
              </a:rPr>
              <a:t>│  │    startSpan(name: string): Span {                   │   │</a:t>
            </a:r>
          </a:p>
          <a:p>
            <a:pPr algn="l">
              <a:lnSpc>
                <a:spcPct val="110000"/>
              </a:lnSpc>
              <a:spcBef>
                <a:spcPts val="100"/>
              </a:spcBef>
              <a:spcAft>
                <a:spcPts val="100"/>
              </a:spcAft>
            </a:pPr>
            <a:r>
              <a:rPr sz="1200">
                <a:solidFill>
                  <a:srgbClr val="000000"/>
                </a:solidFill>
                <a:latin typeface="Calibri"/>
              </a:rPr>
              <a:t>│  │      const span = new Span(name);                   │   │</a:t>
            </a:r>
          </a:p>
          <a:p>
            <a:pPr algn="l">
              <a:lnSpc>
                <a:spcPct val="110000"/>
              </a:lnSpc>
              <a:spcBef>
                <a:spcPts val="100"/>
              </a:spcBef>
              <a:spcAft>
                <a:spcPts val="100"/>
              </a:spcAft>
            </a:pPr>
            <a:r>
              <a:rPr sz="1200">
                <a:solidFill>
                  <a:srgbClr val="000000"/>
                </a:solidFill>
                <a:latin typeface="Calibri"/>
              </a:rPr>
              <a:t>│  │      // Store in context                            │   │</a:t>
            </a:r>
          </a:p>
          <a:p>
            <a:pPr algn="l">
              <a:lnSpc>
                <a:spcPct val="110000"/>
              </a:lnSpc>
              <a:spcBef>
                <a:spcPts val="100"/>
              </a:spcBef>
              <a:spcAft>
                <a:spcPts val="100"/>
              </a:spcAft>
            </a:pPr>
            <a:r>
              <a:rPr sz="1200">
                <a:solidFill>
                  <a:srgbClr val="000000"/>
                </a:solidFill>
                <a:latin typeface="Calibri"/>
              </a:rPr>
              <a:t>│  │      return span;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injectHeaders(span: Span): Record&lt;string, string&gt; { │   │</a:t>
            </a:r>
          </a:p>
          <a:p>
            <a:pPr algn="l">
              <a:lnSpc>
                <a:spcPct val="110000"/>
              </a:lnSpc>
              <a:spcBef>
                <a:spcPts val="100"/>
              </a:spcBef>
              <a:spcAft>
                <a:spcPts val="100"/>
              </a:spcAft>
            </a:pPr>
            <a:r>
              <a:rPr sz="1200">
                <a:solidFill>
                  <a:srgbClr val="000000"/>
                </a:solidFill>
                <a:latin typeface="Calibri"/>
              </a:rPr>
              <a:t>│  │      return {                                        │   │</a:t>
            </a:r>
          </a:p>
          <a:p>
            <a:pPr algn="l">
              <a:lnSpc>
                <a:spcPct val="110000"/>
              </a:lnSpc>
              <a:spcBef>
                <a:spcPts val="100"/>
              </a:spcBef>
              <a:spcAft>
                <a:spcPts val="100"/>
              </a:spcAft>
            </a:pPr>
            <a:r>
              <a:rPr sz="1200">
                <a:solidFill>
                  <a:srgbClr val="000000"/>
                </a:solidFill>
                <a:latin typeface="Calibri"/>
              </a:rPr>
              <a:t>│  │        'x-trace-id': span.traceId,                  │   │</a:t>
            </a:r>
          </a:p>
          <a:p>
            <a:pPr algn="l">
              <a:lnSpc>
                <a:spcPct val="110000"/>
              </a:lnSpc>
              <a:spcBef>
                <a:spcPts val="100"/>
              </a:spcBef>
              <a:spcAft>
                <a:spcPts val="100"/>
              </a:spcAft>
            </a:pPr>
            <a:r>
              <a:rPr sz="1200">
                <a:solidFill>
                  <a:srgbClr val="000000"/>
                </a:solidFill>
                <a:latin typeface="Calibri"/>
              </a:rPr>
              <a:t>│  │        'x-span-id': span.spanId,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PHASE 4: CLOUD-NATIVE (25 Slides)</a:t>
            </a:r>
          </a:p>
          <a:p>
            <a:pPr algn="l">
              <a:lnSpc>
                <a:spcPct val="110000"/>
              </a:lnSpc>
              <a:spcBef>
                <a:spcPts val="100"/>
              </a:spcBef>
              <a:spcAft>
                <a:spcPts val="100"/>
              </a:spcAft>
            </a:pPr>
            <a:r>
              <a:rPr sz="1200">
                <a:solidFill>
                  <a:srgbClr val="000000"/>
                </a:solidFill>
                <a:latin typeface="Calibri"/>
              </a:rPr>
              <a:t>### PART 4.1: Serverless Deployment (15 Slides)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Serverless Overview</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SERVERLESS ARCHITECTURE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Traditional: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Server (always running)                              │   │</a:t>
            </a:r>
          </a:p>
          <a:p>
            <a:pPr algn="l">
              <a:lnSpc>
                <a:spcPct val="110000"/>
              </a:lnSpc>
              <a:spcBef>
                <a:spcPts val="100"/>
              </a:spcBef>
              <a:spcAft>
                <a:spcPts val="100"/>
              </a:spcAft>
            </a:pPr>
            <a:r>
              <a:rPr sz="1200">
                <a:solidFill>
                  <a:srgbClr val="000000"/>
                </a:solidFill>
                <a:latin typeface="Calibri"/>
              </a:rPr>
              <a:t>│  │  Pay for uptime (24/7)                                │   │</a:t>
            </a:r>
          </a:p>
          <a:p>
            <a:pPr algn="l">
              <a:lnSpc>
                <a:spcPct val="110000"/>
              </a:lnSpc>
              <a:spcBef>
                <a:spcPts val="100"/>
              </a:spcBef>
              <a:spcAft>
                <a:spcPts val="100"/>
              </a:spcAft>
            </a:pPr>
            <a:r>
              <a:rPr sz="1200">
                <a:solidFill>
                  <a:srgbClr val="000000"/>
                </a:solidFill>
                <a:latin typeface="Calibri"/>
              </a:rPr>
              <a:t>│  │  Manual scaling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Serverless: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Function (invoked on demand)                         │   │</a:t>
            </a:r>
          </a:p>
          <a:p>
            <a:pPr algn="l">
              <a:lnSpc>
                <a:spcPct val="110000"/>
              </a:lnSpc>
              <a:spcBef>
                <a:spcPts val="100"/>
              </a:spcBef>
              <a:spcAft>
                <a:spcPts val="100"/>
              </a:spcAft>
            </a:pPr>
            <a:r>
              <a:rPr sz="1200">
                <a:solidFill>
                  <a:srgbClr val="000000"/>
                </a:solidFill>
                <a:latin typeface="Calibri"/>
              </a:rPr>
              <a:t>│  │  Pay for execution time                               │   │</a:t>
            </a:r>
          </a:p>
          <a:p>
            <a:pPr algn="l">
              <a:lnSpc>
                <a:spcPct val="110000"/>
              </a:lnSpc>
              <a:spcBef>
                <a:spcPts val="100"/>
              </a:spcBef>
              <a:spcAft>
                <a:spcPts val="100"/>
              </a:spcAft>
            </a:pPr>
            <a:r>
              <a:rPr sz="1200">
                <a:solidFill>
                  <a:srgbClr val="000000"/>
                </a:solidFill>
                <a:latin typeface="Calibri"/>
              </a:rPr>
              <a:t>│  │  Auto-scaling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Benefits:                                                      │</a:t>
            </a:r>
          </a:p>
          <a:p>
            <a:pPr algn="l">
              <a:lnSpc>
                <a:spcPct val="110000"/>
              </a:lnSpc>
              <a:spcBef>
                <a:spcPts val="100"/>
              </a:spcBef>
              <a:spcAft>
                <a:spcPts val="100"/>
              </a:spcAft>
            </a:pPr>
            <a:r>
              <a:rPr sz="1200">
                <a:solidFill>
                  <a:srgbClr val="000000"/>
                </a:solidFill>
                <a:latin typeface="Calibri"/>
              </a:rPr>
              <a:t>│  • No server management                                       │</a:t>
            </a:r>
          </a:p>
          <a:p>
            <a:pPr algn="l">
              <a:lnSpc>
                <a:spcPct val="110000"/>
              </a:lnSpc>
              <a:spcBef>
                <a:spcPts val="100"/>
              </a:spcBef>
              <a:spcAft>
                <a:spcPts val="100"/>
              </a:spcAft>
            </a:pPr>
            <a:r>
              <a:rPr sz="1200">
                <a:solidFill>
                  <a:srgbClr val="000000"/>
                </a:solidFill>
                <a:latin typeface="Calibri"/>
              </a:rPr>
              <a:t>│  • Automatic scaling                                          │</a:t>
            </a:r>
          </a:p>
          <a:p>
            <a:pPr algn="l">
              <a:lnSpc>
                <a:spcPct val="110000"/>
              </a:lnSpc>
              <a:spcBef>
                <a:spcPts val="100"/>
              </a:spcBef>
              <a:spcAft>
                <a:spcPts val="100"/>
              </a:spcAft>
            </a:pPr>
            <a:r>
              <a:rPr sz="1200">
                <a:solidFill>
                  <a:srgbClr val="000000"/>
                </a:solidFill>
                <a:latin typeface="Calibri"/>
              </a:rPr>
              <a:t>│  • Pay per use                                               │</a:t>
            </a:r>
          </a:p>
          <a:p>
            <a:pPr algn="l">
              <a:lnSpc>
                <a:spcPct val="110000"/>
              </a:lnSpc>
              <a:spcBef>
                <a:spcPts val="100"/>
              </a:spcBef>
              <a:spcAft>
                <a:spcPts val="100"/>
              </a:spcAft>
            </a:pPr>
            <a:r>
              <a:rPr sz="1200">
                <a:solidFill>
                  <a:srgbClr val="000000"/>
                </a:solidFill>
                <a:latin typeface="Calibri"/>
              </a:rPr>
              <a:t>│  • Focus on code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Challenges:                                                   │</a:t>
            </a:r>
          </a:p>
          <a:p>
            <a:pPr algn="l">
              <a:lnSpc>
                <a:spcPct val="110000"/>
              </a:lnSpc>
              <a:spcBef>
                <a:spcPts val="100"/>
              </a:spcBef>
              <a:spcAft>
                <a:spcPts val="100"/>
              </a:spcAft>
            </a:pPr>
            <a:r>
              <a:rPr sz="1200">
                <a:solidFill>
                  <a:srgbClr val="000000"/>
                </a:solidFill>
                <a:latin typeface="Calibri"/>
              </a:rPr>
              <a:t>│  • Cold starts                                                │</a:t>
            </a:r>
          </a:p>
          <a:p>
            <a:pPr algn="l">
              <a:lnSpc>
                <a:spcPct val="110000"/>
              </a:lnSpc>
              <a:spcBef>
                <a:spcPts val="100"/>
              </a:spcBef>
              <a:spcAft>
                <a:spcPts val="100"/>
              </a:spcAft>
            </a:pPr>
            <a:r>
              <a:rPr sz="1200">
                <a:solidFill>
                  <a:srgbClr val="000000"/>
                </a:solidFill>
                <a:latin typeface="Calibri"/>
              </a:rPr>
              <a:t>│  • Execution limits                                           │</a:t>
            </a:r>
          </a:p>
          <a:p>
            <a:pPr algn="l">
              <a:lnSpc>
                <a:spcPct val="110000"/>
              </a:lnSpc>
              <a:spcBef>
                <a:spcPts val="100"/>
              </a:spcBef>
              <a:spcAft>
                <a:spcPts val="100"/>
              </a:spcAft>
            </a:pPr>
            <a:r>
              <a:rPr sz="1200">
                <a:solidFill>
                  <a:srgbClr val="000000"/>
                </a:solidFill>
                <a:latin typeface="Calibri"/>
              </a:rPr>
              <a:t>│  • Vendor lock-in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AWS Lambda</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 lambda.ts - Entry point for AWS Lambda</a:t>
            </a:r>
          </a:p>
          <a:p>
            <a:pPr algn="l">
              <a:lnSpc>
                <a:spcPct val="110000"/>
              </a:lnSpc>
              <a:spcBef>
                <a:spcPts val="100"/>
              </a:spcBef>
              <a:spcAft>
                <a:spcPts val="100"/>
              </a:spcAft>
            </a:pPr>
            <a:r>
              <a:rPr sz="1200">
                <a:solidFill>
                  <a:srgbClr val="000000"/>
                </a:solidFill>
                <a:latin typeface="Calibri"/>
              </a:rPr>
              <a:t>import { APIGatewayProxyEvent, APIGatewayProxyResult } from 'aws-lambda';</a:t>
            </a:r>
          </a:p>
          <a:p>
            <a:pPr algn="l">
              <a:lnSpc>
                <a:spcPct val="110000"/>
              </a:lnSpc>
              <a:spcBef>
                <a:spcPts val="100"/>
              </a:spcBef>
              <a:spcAft>
                <a:spcPts val="100"/>
              </a:spcAft>
            </a:pPr>
            <a:r>
              <a:rPr sz="1200">
                <a:solidFill>
                  <a:srgbClr val="000000"/>
                </a:solidFill>
                <a:latin typeface="Calibri"/>
              </a:rPr>
              <a:t>let server: Server | null = null;</a:t>
            </a:r>
          </a:p>
          <a:p>
            <a:pPr algn="l">
              <a:lnSpc>
                <a:spcPct val="110000"/>
              </a:lnSpc>
              <a:spcBef>
                <a:spcPts val="100"/>
              </a:spcBef>
              <a:spcAft>
                <a:spcPts val="100"/>
              </a:spcAft>
            </a:pPr>
            <a:r>
              <a:rPr sz="1200">
                <a:solidFill>
                  <a:srgbClr val="000000"/>
                </a:solidFill>
                <a:latin typeface="Calibri"/>
              </a:rPr>
              <a:t>// Lazy initialization (reuse across invocations)</a:t>
            </a:r>
          </a:p>
          <a:p>
            <a:pPr algn="l">
              <a:lnSpc>
                <a:spcPct val="110000"/>
              </a:lnSpc>
              <a:spcBef>
                <a:spcPts val="100"/>
              </a:spcBef>
              <a:spcAft>
                <a:spcPts val="100"/>
              </a:spcAft>
            </a:pPr>
            <a:r>
              <a:rPr sz="1200">
                <a:solidFill>
                  <a:srgbClr val="000000"/>
                </a:solidFill>
                <a:latin typeface="Calibri"/>
              </a:rPr>
              <a:t>async function initialize(): Promise&lt;void&gt; {</a:t>
            </a:r>
          </a:p>
          <a:p>
            <a:pPr algn="l">
              <a:lnSpc>
                <a:spcPct val="110000"/>
              </a:lnSpc>
              <a:spcBef>
                <a:spcPts val="100"/>
              </a:spcBef>
              <a:spcAft>
                <a:spcPts val="100"/>
              </a:spcAft>
            </a:pPr>
            <a:r>
              <a:rPr sz="1200">
                <a:solidFill>
                  <a:srgbClr val="000000"/>
                </a:solidFill>
                <a:latin typeface="Calibri"/>
              </a:rPr>
              <a:t>    if (!server) {</a:t>
            </a:r>
          </a:p>
          <a:p>
            <a:pPr algn="l">
              <a:lnSpc>
                <a:spcPct val="110000"/>
              </a:lnSpc>
              <a:spcBef>
                <a:spcPts val="100"/>
              </a:spcBef>
              <a:spcAft>
                <a:spcPts val="100"/>
              </a:spcAft>
            </a:pPr>
            <a:r>
              <a:rPr sz="1200">
                <a:solidFill>
                  <a:srgbClr val="000000"/>
                </a:solidFill>
                <a:latin typeface="Calibri"/>
              </a:rPr>
              <a:t>        server = new Server();</a:t>
            </a:r>
          </a:p>
          <a:p>
            <a:pPr algn="l">
              <a:lnSpc>
                <a:spcPct val="110000"/>
              </a:lnSpc>
              <a:spcBef>
                <a:spcPts val="100"/>
              </a:spcBef>
              <a:spcAft>
                <a:spcPts val="100"/>
              </a:spcAft>
            </a:pPr>
            <a:r>
              <a:rPr sz="1200">
                <a:solidFill>
                  <a:srgbClr val="000000"/>
                </a:solidFill>
                <a:latin typeface="Calibri"/>
              </a:rPr>
              <a:t>        await server.start();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export async function handler(</a:t>
            </a:r>
          </a:p>
          <a:p>
            <a:pPr algn="l">
              <a:lnSpc>
                <a:spcPct val="110000"/>
              </a:lnSpc>
              <a:spcBef>
                <a:spcPts val="100"/>
              </a:spcBef>
              <a:spcAft>
                <a:spcPts val="100"/>
              </a:spcAft>
            </a:pPr>
            <a:r>
              <a:rPr sz="1200">
                <a:solidFill>
                  <a:srgbClr val="000000"/>
                </a:solidFill>
                <a:latin typeface="Calibri"/>
              </a:rPr>
              <a:t>    event: APIGatewayProxyEvent,</a:t>
            </a:r>
          </a:p>
          <a:p>
            <a:pPr algn="l">
              <a:lnSpc>
                <a:spcPct val="110000"/>
              </a:lnSpc>
              <a:spcBef>
                <a:spcPts val="100"/>
              </a:spcBef>
              <a:spcAft>
                <a:spcPts val="100"/>
              </a:spcAft>
            </a:pPr>
            <a:r>
              <a:rPr sz="1200">
                <a:solidFill>
                  <a:srgbClr val="000000"/>
                </a:solidFill>
                <a:latin typeface="Calibri"/>
              </a:rPr>
              <a:t>    context: Context</a:t>
            </a:r>
          </a:p>
          <a:p>
            <a:pPr algn="l">
              <a:lnSpc>
                <a:spcPct val="110000"/>
              </a:lnSpc>
              <a:spcBef>
                <a:spcPts val="100"/>
              </a:spcBef>
              <a:spcAft>
                <a:spcPts val="100"/>
              </a:spcAft>
            </a:pPr>
            <a:r>
              <a:rPr sz="1200">
                <a:solidFill>
                  <a:srgbClr val="000000"/>
                </a:solidFill>
                <a:latin typeface="Calibri"/>
              </a:rPr>
              <a:t>): Promise&lt;APIGatewayProxyResult&gt; {</a:t>
            </a:r>
          </a:p>
          <a:p>
            <a:pPr algn="l">
              <a:lnSpc>
                <a:spcPct val="110000"/>
              </a:lnSpc>
              <a:spcBef>
                <a:spcPts val="100"/>
              </a:spcBef>
              <a:spcAft>
                <a:spcPts val="100"/>
              </a:spcAft>
            </a:pPr>
            <a:r>
              <a:rPr sz="1200">
                <a:solidFill>
                  <a:srgbClr val="000000"/>
                </a:solidFill>
                <a:latin typeface="Calibri"/>
              </a:rPr>
              <a:t>    const startTime = Date.now();</a:t>
            </a:r>
          </a:p>
          <a:p>
            <a:pPr algn="l">
              <a:lnSpc>
                <a:spcPct val="110000"/>
              </a:lnSpc>
              <a:spcBef>
                <a:spcPts val="100"/>
              </a:spcBef>
              <a:spcAft>
                <a:spcPts val="100"/>
              </a:spcAft>
            </a:pPr>
            <a:r>
              <a:rPr sz="1200">
                <a:solidFill>
                  <a:srgbClr val="000000"/>
                </a:solidFill>
                <a:latin typeface="Calibri"/>
              </a:rPr>
              <a:t>    const requestId = event.headers['x-request-id'] || context.awsRequestId;</a:t>
            </a:r>
          </a:p>
          <a:p>
            <a:pPr algn="l">
              <a:lnSpc>
                <a:spcPct val="110000"/>
              </a:lnSpc>
              <a:spcBef>
                <a:spcPts val="100"/>
              </a:spcBef>
              <a:spcAft>
                <a:spcPts val="100"/>
              </a:spcAft>
            </a:pPr>
            <a:r>
              <a:rPr sz="1200">
                <a:solidFill>
                  <a:srgbClr val="000000"/>
                </a:solidFill>
                <a:latin typeface="Calibri"/>
              </a:rPr>
              <a:t>    try {</a:t>
            </a:r>
          </a:p>
          <a:p>
            <a:pPr algn="l">
              <a:lnSpc>
                <a:spcPct val="110000"/>
              </a:lnSpc>
              <a:spcBef>
                <a:spcPts val="100"/>
              </a:spcBef>
              <a:spcAft>
                <a:spcPts val="100"/>
              </a:spcAft>
            </a:pPr>
            <a:r>
              <a:rPr sz="1200">
                <a:solidFill>
                  <a:srgbClr val="000000"/>
                </a:solidFill>
                <a:latin typeface="Calibri"/>
              </a:rPr>
              <a:t>        // Lazy init</a:t>
            </a:r>
          </a:p>
          <a:p>
            <a:pPr algn="l">
              <a:lnSpc>
                <a:spcPct val="110000"/>
              </a:lnSpc>
              <a:spcBef>
                <a:spcPts val="100"/>
              </a:spcBef>
              <a:spcAft>
                <a:spcPts val="100"/>
              </a:spcAft>
            </a:pPr>
            <a:r>
              <a:rPr sz="1200">
                <a:solidFill>
                  <a:srgbClr val="000000"/>
                </a:solidFill>
                <a:latin typeface="Calibri"/>
              </a:rPr>
              <a:t>        await initialize();</a:t>
            </a:r>
          </a:p>
          <a:p>
            <a:pPr algn="l">
              <a:lnSpc>
                <a:spcPct val="110000"/>
              </a:lnSpc>
              <a:spcBef>
                <a:spcPts val="100"/>
              </a:spcBef>
              <a:spcAft>
                <a:spcPts val="100"/>
              </a:spcAft>
            </a:pPr>
            <a:r>
              <a:rPr sz="1200">
                <a:solidFill>
                  <a:srgbClr val="000000"/>
                </a:solidFill>
                <a:latin typeface="Calibri"/>
              </a:rPr>
              <a:t>        // Process request</a:t>
            </a:r>
          </a:p>
          <a:p>
            <a:pPr algn="l">
              <a:lnSpc>
                <a:spcPct val="110000"/>
              </a:lnSpc>
              <a:spcBef>
                <a:spcPts val="100"/>
              </a:spcBef>
              <a:spcAft>
                <a:spcPts val="100"/>
              </a:spcAft>
            </a:pPr>
            <a:r>
              <a:rPr sz="1200">
                <a:solidFill>
                  <a:srgbClr val="000000"/>
                </a:solidFill>
                <a:latin typeface="Calibri"/>
              </a:rPr>
              <a:t>        const result = await server!.handle(event);</a:t>
            </a:r>
          </a:p>
          <a:p>
            <a:pPr algn="l">
              <a:lnSpc>
                <a:spcPct val="110000"/>
              </a:lnSpc>
              <a:spcBef>
                <a:spcPts val="100"/>
              </a:spcBef>
              <a:spcAft>
                <a:spcPts val="100"/>
              </a:spcAft>
            </a:pPr>
            <a:r>
              <a:rPr sz="1200">
                <a:solidFill>
                  <a:srgbClr val="000000"/>
                </a:solidFill>
                <a:latin typeface="Calibri"/>
              </a:rPr>
              <a:t>        return {</a:t>
            </a:r>
          </a:p>
          <a:p>
            <a:pPr algn="l">
              <a:lnSpc>
                <a:spcPct val="110000"/>
              </a:lnSpc>
              <a:spcBef>
                <a:spcPts val="100"/>
              </a:spcBef>
              <a:spcAft>
                <a:spcPts val="100"/>
              </a:spcAft>
            </a:pPr>
            <a:r>
              <a:rPr sz="1200">
                <a:solidFill>
                  <a:srgbClr val="000000"/>
                </a:solidFill>
                <a:latin typeface="Calibri"/>
              </a:rPr>
              <a:t>            statusCode: 200,</a:t>
            </a:r>
          </a:p>
          <a:p>
            <a:pPr algn="l">
              <a:lnSpc>
                <a:spcPct val="110000"/>
              </a:lnSpc>
              <a:spcBef>
                <a:spcPts val="100"/>
              </a:spcBef>
              <a:spcAft>
                <a:spcPts val="100"/>
              </a:spcAft>
            </a:pPr>
            <a:r>
              <a:rPr sz="1200">
                <a:solidFill>
                  <a:srgbClr val="000000"/>
                </a:solidFill>
                <a:latin typeface="Calibri"/>
              </a:rPr>
              <a:t>            headers: {</a:t>
            </a:r>
          </a:p>
          <a:p>
            <a:pPr algn="l">
              <a:lnSpc>
                <a:spcPct val="110000"/>
              </a:lnSpc>
              <a:spcBef>
                <a:spcPts val="100"/>
              </a:spcBef>
              <a:spcAft>
                <a:spcPts val="100"/>
              </a:spcAft>
            </a:pPr>
            <a:r>
              <a:rPr sz="1200">
                <a:solidFill>
                  <a:srgbClr val="000000"/>
                </a:solidFill>
                <a:latin typeface="Calibri"/>
              </a:rPr>
              <a:t>                'content-type': 'application/json',</a:t>
            </a:r>
          </a:p>
          <a:p>
            <a:pPr algn="l">
              <a:lnSpc>
                <a:spcPct val="110000"/>
              </a:lnSpc>
              <a:spcBef>
                <a:spcPts val="100"/>
              </a:spcBef>
              <a:spcAft>
                <a:spcPts val="100"/>
              </a:spcAft>
            </a:pPr>
            <a:r>
              <a:rPr sz="1200">
                <a:solidFill>
                  <a:srgbClr val="000000"/>
                </a:solidFill>
                <a:latin typeface="Calibri"/>
              </a:rPr>
              <a:t>                'x-request-id': requestId,</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body: JSON.stringify(result),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catch (error) {</a:t>
            </a:r>
          </a:p>
          <a:p>
            <a:pPr algn="l">
              <a:lnSpc>
                <a:spcPct val="110000"/>
              </a:lnSpc>
              <a:spcBef>
                <a:spcPts val="100"/>
              </a:spcBef>
              <a:spcAft>
                <a:spcPts val="100"/>
              </a:spcAft>
            </a:pPr>
            <a:r>
              <a:rPr sz="1200">
                <a:solidFill>
                  <a:srgbClr val="000000"/>
                </a:solidFill>
                <a:latin typeface="Calibri"/>
              </a:rPr>
              <a:t>        return {</a:t>
            </a:r>
          </a:p>
          <a:p>
            <a:pPr algn="l">
              <a:lnSpc>
                <a:spcPct val="110000"/>
              </a:lnSpc>
              <a:spcBef>
                <a:spcPts val="100"/>
              </a:spcBef>
              <a:spcAft>
                <a:spcPts val="100"/>
              </a:spcAft>
            </a:pPr>
            <a:r>
              <a:rPr sz="1200">
                <a:solidFill>
                  <a:srgbClr val="000000"/>
                </a:solidFill>
                <a:latin typeface="Calibri"/>
              </a:rPr>
              <a:t>            statusCode: 500,</a:t>
            </a:r>
          </a:p>
          <a:p>
            <a:pPr algn="l">
              <a:lnSpc>
                <a:spcPct val="110000"/>
              </a:lnSpc>
              <a:spcBef>
                <a:spcPts val="100"/>
              </a:spcBef>
              <a:spcAft>
                <a:spcPts val="100"/>
              </a:spcAft>
            </a:pPr>
            <a:r>
              <a:rPr sz="1200">
                <a:solidFill>
                  <a:srgbClr val="000000"/>
                </a:solidFill>
                <a:latin typeface="Calibri"/>
              </a:rPr>
              <a:t>            body: JSON.stringify({ error: error.message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Cold Start Optimization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COLD START OPTIMIZATION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Strategies:                                                   │</a:t>
            </a:r>
          </a:p>
          <a:p>
            <a:pPr algn="l">
              <a:lnSpc>
                <a:spcPct val="110000"/>
              </a:lnSpc>
              <a:spcBef>
                <a:spcPts val="100"/>
              </a:spcBef>
              <a:spcAft>
                <a:spcPts val="100"/>
              </a:spcAft>
            </a:pPr>
            <a:r>
              <a:rPr sz="1100">
                <a:solidFill>
                  <a:srgbClr val="000000"/>
                </a:solidFill>
                <a:latin typeface="Calibri"/>
              </a:rPr>
              <a:t>│  ┌─────────────────────────────────────────────────────────┐   │</a:t>
            </a:r>
          </a:p>
          <a:p>
            <a:pPr algn="l">
              <a:lnSpc>
                <a:spcPct val="110000"/>
              </a:lnSpc>
              <a:spcBef>
                <a:spcPts val="100"/>
              </a:spcBef>
              <a:spcAft>
                <a:spcPts val="100"/>
              </a:spcAft>
            </a:pPr>
            <a:r>
              <a:rPr sz="1100">
                <a:solidFill>
                  <a:srgbClr val="000000"/>
                </a:solidFill>
                <a:latin typeface="Calibri"/>
              </a:rPr>
              <a:t>│  │  1. Keep Bundle Small                                  │   │</a:t>
            </a:r>
          </a:p>
          <a:p>
            <a:pPr algn="l">
              <a:lnSpc>
                <a:spcPct val="110000"/>
              </a:lnSpc>
              <a:spcBef>
                <a:spcPts val="100"/>
              </a:spcBef>
              <a:spcAft>
                <a:spcPts val="100"/>
              </a:spcAft>
            </a:pPr>
            <a:r>
              <a:rPr sz="1100">
                <a:solidFill>
                  <a:srgbClr val="000000"/>
                </a:solidFill>
                <a:latin typeface="Calibri"/>
              </a:rPr>
              <a:t>│  │     • Tree shaking                                     │   │</a:t>
            </a:r>
          </a:p>
          <a:p>
            <a:pPr algn="l">
              <a:lnSpc>
                <a:spcPct val="110000"/>
              </a:lnSpc>
              <a:spcBef>
                <a:spcPts val="100"/>
              </a:spcBef>
              <a:spcAft>
                <a:spcPts val="100"/>
              </a:spcAft>
            </a:pPr>
            <a:r>
              <a:rPr sz="1100">
                <a:solidFill>
                  <a:srgbClr val="000000"/>
                </a:solidFill>
                <a:latin typeface="Calibri"/>
              </a:rPr>
              <a:t>│  │     • Minification                                     │   │</a:t>
            </a:r>
          </a:p>
          <a:p>
            <a:pPr algn="l">
              <a:lnSpc>
                <a:spcPct val="110000"/>
              </a:lnSpc>
              <a:spcBef>
                <a:spcPts val="100"/>
              </a:spcBef>
              <a:spcAft>
                <a:spcPts val="100"/>
              </a:spcAft>
            </a:pPr>
            <a:r>
              <a:rPr sz="1100">
                <a:solidFill>
                  <a:srgbClr val="000000"/>
                </a:solidFill>
                <a:latin typeface="Calibri"/>
              </a:rPr>
              <a:t>│  │     • Fewer dependencies                               │   │</a:t>
            </a:r>
          </a:p>
          <a:p>
            <a:pPr algn="l">
              <a:lnSpc>
                <a:spcPct val="110000"/>
              </a:lnSpc>
              <a:spcBef>
                <a:spcPts val="100"/>
              </a:spcBef>
              <a:spcAft>
                <a:spcPts val="100"/>
              </a:spcAft>
            </a:pPr>
            <a:r>
              <a:rPr sz="1100">
                <a:solidFill>
                  <a:srgbClr val="000000"/>
                </a:solidFill>
                <a:latin typeface="Calibri"/>
              </a:rPr>
              <a:t>│  │                                                       │   │</a:t>
            </a:r>
          </a:p>
          <a:p>
            <a:pPr algn="l">
              <a:lnSpc>
                <a:spcPct val="110000"/>
              </a:lnSpc>
              <a:spcBef>
                <a:spcPts val="100"/>
              </a:spcBef>
              <a:spcAft>
                <a:spcPts val="100"/>
              </a:spcAft>
            </a:pPr>
            <a:r>
              <a:rPr sz="1100">
                <a:solidFill>
                  <a:srgbClr val="000000"/>
                </a:solidFill>
                <a:latin typeface="Calibri"/>
              </a:rPr>
              <a:t>│  │  2. Lazy Initialization                              │   │</a:t>
            </a:r>
          </a:p>
          <a:p>
            <a:pPr algn="l">
              <a:lnSpc>
                <a:spcPct val="110000"/>
              </a:lnSpc>
              <a:spcBef>
                <a:spcPts val="100"/>
              </a:spcBef>
              <a:spcAft>
                <a:spcPts val="100"/>
              </a:spcAft>
            </a:pPr>
            <a:r>
              <a:rPr sz="1100">
                <a:solidFill>
                  <a:srgbClr val="000000"/>
                </a:solidFill>
                <a:latin typeface="Calibri"/>
              </a:rPr>
              <a:t>│  │     • Initialize outside handler                     │   │</a:t>
            </a:r>
          </a:p>
          <a:p>
            <a:pPr algn="l">
              <a:lnSpc>
                <a:spcPct val="110000"/>
              </a:lnSpc>
              <a:spcBef>
                <a:spcPts val="100"/>
              </a:spcBef>
              <a:spcAft>
                <a:spcPts val="100"/>
              </a:spcAft>
            </a:pPr>
            <a:r>
              <a:rPr sz="1100">
                <a:solidFill>
                  <a:srgbClr val="000000"/>
                </a:solidFill>
                <a:latin typeface="Calibri"/>
              </a:rPr>
              <a:t>│  │     • Connect to DB on first request                 │   │</a:t>
            </a:r>
          </a:p>
          <a:p>
            <a:pPr algn="l">
              <a:lnSpc>
                <a:spcPct val="110000"/>
              </a:lnSpc>
              <a:spcBef>
                <a:spcPts val="100"/>
              </a:spcBef>
              <a:spcAft>
                <a:spcPts val="100"/>
              </a:spcAft>
            </a:pPr>
            <a:r>
              <a:rPr sz="1100">
                <a:solidFill>
                  <a:srgbClr val="000000"/>
                </a:solidFill>
                <a:latin typeface="Calibri"/>
              </a:rPr>
              <a:t>│  │     • Use connection pooling                         │   │</a:t>
            </a:r>
          </a:p>
          <a:p>
            <a:pPr algn="l">
              <a:lnSpc>
                <a:spcPct val="110000"/>
              </a:lnSpc>
              <a:spcBef>
                <a:spcPts val="100"/>
              </a:spcBef>
              <a:spcAft>
                <a:spcPts val="100"/>
              </a:spcAft>
            </a:pPr>
            <a:r>
              <a:rPr sz="1100">
                <a:solidFill>
                  <a:srgbClr val="000000"/>
                </a:solidFill>
                <a:latin typeface="Calibri"/>
              </a:rPr>
              <a:t>│  │                                                       │   │</a:t>
            </a:r>
          </a:p>
          <a:p>
            <a:pPr algn="l">
              <a:lnSpc>
                <a:spcPct val="110000"/>
              </a:lnSpc>
              <a:spcBef>
                <a:spcPts val="100"/>
              </a:spcBef>
              <a:spcAft>
                <a:spcPts val="100"/>
              </a:spcAft>
            </a:pPr>
            <a:r>
              <a:rPr sz="1100">
                <a:solidFill>
                  <a:srgbClr val="000000"/>
                </a:solidFill>
                <a:latin typeface="Calibri"/>
              </a:rPr>
              <a:t>│  │  3. Provisioned Concurrency                          │   │</a:t>
            </a:r>
          </a:p>
          <a:p>
            <a:pPr algn="l">
              <a:lnSpc>
                <a:spcPct val="110000"/>
              </a:lnSpc>
              <a:spcBef>
                <a:spcPts val="100"/>
              </a:spcBef>
              <a:spcAft>
                <a:spcPts val="100"/>
              </a:spcAft>
            </a:pPr>
            <a:r>
              <a:rPr sz="1100">
                <a:solidFill>
                  <a:srgbClr val="000000"/>
                </a:solidFill>
                <a:latin typeface="Calibri"/>
              </a:rPr>
              <a:t>│  │     • Keep instances warm                            │   │</a:t>
            </a:r>
          </a:p>
          <a:p>
            <a:pPr algn="l">
              <a:lnSpc>
                <a:spcPct val="110000"/>
              </a:lnSpc>
              <a:spcBef>
                <a:spcPts val="100"/>
              </a:spcBef>
              <a:spcAft>
                <a:spcPts val="100"/>
              </a:spcAft>
            </a:pPr>
            <a:r>
              <a:rPr sz="1100">
                <a:solidFill>
                  <a:srgbClr val="000000"/>
                </a:solidFill>
                <a:latin typeface="Calibri"/>
              </a:rPr>
              <a:t>│  │     • Higher cost                                    │   │</a:t>
            </a:r>
          </a:p>
          <a:p>
            <a:pPr algn="l">
              <a:lnSpc>
                <a:spcPct val="110000"/>
              </a:lnSpc>
              <a:spcBef>
                <a:spcPts val="100"/>
              </a:spcBef>
              <a:spcAft>
                <a:spcPts val="100"/>
              </a:spcAft>
            </a:pPr>
            <a:r>
              <a:rPr sz="1100">
                <a:solidFill>
                  <a:srgbClr val="000000"/>
                </a:solidFill>
                <a:latin typeface="Calibri"/>
              </a:rPr>
              <a:t>│  │     • Predictable latency                            │   │</a:t>
            </a:r>
          </a:p>
          <a:p>
            <a:pPr algn="l">
              <a:lnSpc>
                <a:spcPct val="110000"/>
              </a:lnSpc>
              <a:spcBef>
                <a:spcPts val="100"/>
              </a:spcBef>
              <a:spcAft>
                <a:spcPts val="100"/>
              </a:spcAft>
            </a:pPr>
            <a:r>
              <a:rPr sz="1100">
                <a:solidFill>
                  <a:srgbClr val="000000"/>
                </a:solidFill>
                <a:latin typeface="Calibri"/>
              </a:rPr>
              <a:t>│  │                                                       │   │</a:t>
            </a:r>
          </a:p>
          <a:p>
            <a:pPr algn="l">
              <a:lnSpc>
                <a:spcPct val="110000"/>
              </a:lnSpc>
              <a:spcBef>
                <a:spcPts val="100"/>
              </a:spcBef>
              <a:spcAft>
                <a:spcPts val="100"/>
              </a:spcAft>
            </a:pPr>
            <a:r>
              <a:rPr sz="1100">
                <a:solidFill>
                  <a:srgbClr val="000000"/>
                </a:solidFill>
                <a:latin typeface="Calibri"/>
              </a:rPr>
              <a:t>│  │  4. Smaller Runtime                                 │   │</a:t>
            </a:r>
          </a:p>
          <a:p>
            <a:pPr algn="l">
              <a:lnSpc>
                <a:spcPct val="110000"/>
              </a:lnSpc>
              <a:spcBef>
                <a:spcPts val="100"/>
              </a:spcBef>
              <a:spcAft>
                <a:spcPts val="100"/>
              </a:spcAft>
            </a:pPr>
            <a:r>
              <a:rPr sz="1100">
                <a:solidFill>
                  <a:srgbClr val="000000"/>
                </a:solidFill>
                <a:latin typeface="Calibri"/>
              </a:rPr>
              <a:t>│  │     • Use Node.js 18+                               │   │</a:t>
            </a:r>
          </a:p>
          <a:p>
            <a:pPr algn="l">
              <a:lnSpc>
                <a:spcPct val="110000"/>
              </a:lnSpc>
              <a:spcBef>
                <a:spcPts val="100"/>
              </a:spcBef>
              <a:spcAft>
                <a:spcPts val="100"/>
              </a:spcAft>
            </a:pPr>
            <a:r>
              <a:rPr sz="1100">
                <a:solidFill>
                  <a:srgbClr val="000000"/>
                </a:solidFill>
                <a:latin typeface="Calibri"/>
              </a:rPr>
              <a:t>│  │     • Avoid large frameworks                        │   │</a:t>
            </a:r>
          </a:p>
          <a:p>
            <a:pPr algn="l">
              <a:lnSpc>
                <a:spcPct val="110000"/>
              </a:lnSpc>
              <a:spcBef>
                <a:spcPts val="100"/>
              </a:spcBef>
              <a:spcAft>
                <a:spcPts val="100"/>
              </a:spcAft>
            </a:pPr>
            <a:r>
              <a:rPr sz="1100">
                <a:solidFill>
                  <a:srgbClr val="000000"/>
                </a:solidFill>
                <a:latin typeface="Calibri"/>
              </a:rPr>
              <a:t>│  │     • Optimize startup time                         │   │</a:t>
            </a:r>
          </a:p>
          <a:p>
            <a:pPr algn="l">
              <a:lnSpc>
                <a:spcPct val="110000"/>
              </a:lnSpc>
              <a:spcBef>
                <a:spcPts val="100"/>
              </a:spcBef>
              <a:spcAft>
                <a:spcPts val="100"/>
              </a:spcAft>
            </a:pPr>
            <a:r>
              <a:rPr sz="1100">
                <a:solidFill>
                  <a:srgbClr val="000000"/>
                </a:solidFill>
                <a:latin typeface="Calibri"/>
              </a:rPr>
              <a:t>│  └─────────────────────────────────────────────────────────┘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Code:                                                         │</a:t>
            </a:r>
          </a:p>
          <a:p>
            <a:pPr algn="l">
              <a:lnSpc>
                <a:spcPct val="110000"/>
              </a:lnSpc>
              <a:spcBef>
                <a:spcPts val="100"/>
              </a:spcBef>
              <a:spcAft>
                <a:spcPts val="100"/>
              </a:spcAft>
            </a:pPr>
            <a:r>
              <a:rPr sz="1100">
                <a:solidFill>
                  <a:srgbClr val="000000"/>
                </a:solidFill>
                <a:latin typeface="Calibri"/>
              </a:rPr>
              <a:t>│  ┌─────────────────────────────────────────────────────────┐   │</a:t>
            </a:r>
          </a:p>
          <a:p>
            <a:pPr algn="l">
              <a:lnSpc>
                <a:spcPct val="110000"/>
              </a:lnSpc>
              <a:spcBef>
                <a:spcPts val="100"/>
              </a:spcBef>
              <a:spcAft>
                <a:spcPts val="100"/>
              </a:spcAft>
            </a:pPr>
            <a:r>
              <a:rPr sz="1100">
                <a:solidFill>
                  <a:srgbClr val="000000"/>
                </a:solidFill>
                <a:latin typeface="Calibri"/>
              </a:rPr>
              <a:t>│  │  // Initialize outside handler                        │   │</a:t>
            </a:r>
          </a:p>
          <a:p>
            <a:pPr algn="l">
              <a:lnSpc>
                <a:spcPct val="110000"/>
              </a:lnSpc>
              <a:spcBef>
                <a:spcPts val="100"/>
              </a:spcBef>
              <a:spcAft>
                <a:spcPts val="100"/>
              </a:spcAft>
            </a:pPr>
            <a:r>
              <a:rPr sz="1100">
                <a:solidFill>
                  <a:srgbClr val="000000"/>
                </a:solidFill>
                <a:latin typeface="Calibri"/>
              </a:rPr>
              <a:t>│  │  const db = new Database();  // Reused across calls   │   │</a:t>
            </a:r>
          </a:p>
          <a:p>
            <a:pPr algn="l">
              <a:lnSpc>
                <a:spcPct val="110000"/>
              </a:lnSpc>
              <a:spcBef>
                <a:spcPts val="100"/>
              </a:spcBef>
              <a:spcAft>
                <a:spcPts val="100"/>
              </a:spcAft>
            </a:pPr>
            <a:r>
              <a:rPr sz="1100">
                <a:solidFill>
                  <a:srgbClr val="000000"/>
                </a:solidFill>
                <a:latin typeface="Calibri"/>
              </a:rPr>
              <a:t>│  │  const cache = new Cache();   // Reused               │   │</a:t>
            </a:r>
          </a:p>
          <a:p>
            <a:pPr algn="l">
              <a:lnSpc>
                <a:spcPct val="110000"/>
              </a:lnSpc>
              <a:spcBef>
                <a:spcPts val="100"/>
              </a:spcBef>
              <a:spcAft>
                <a:spcPts val="100"/>
              </a:spcAft>
            </a:pPr>
            <a:r>
              <a:rPr sz="1100">
                <a:solidFill>
                  <a:srgbClr val="000000"/>
                </a:solidFill>
                <a:latin typeface="Calibri"/>
              </a:rPr>
              <a:t>│  │                                                       │   │</a:t>
            </a:r>
          </a:p>
          <a:p>
            <a:pPr algn="l">
              <a:lnSpc>
                <a:spcPct val="110000"/>
              </a:lnSpc>
              <a:spcBef>
                <a:spcPts val="100"/>
              </a:spcBef>
              <a:spcAft>
                <a:spcPts val="100"/>
              </a:spcAft>
            </a:pPr>
            <a:r>
              <a:rPr sz="1100">
                <a:solidFill>
                  <a:srgbClr val="000000"/>
                </a:solidFill>
                <a:latin typeface="Calibri"/>
              </a:rPr>
              <a:t>│  │  export async function handler(event) {              │   │</a:t>
            </a:r>
          </a:p>
          <a:p>
            <a:pPr algn="l">
              <a:lnSpc>
                <a:spcPct val="110000"/>
              </a:lnSpc>
              <a:spcBef>
                <a:spcPts val="100"/>
              </a:spcBef>
              <a:spcAft>
                <a:spcPts val="100"/>
              </a:spcAft>
            </a:pPr>
            <a:r>
              <a:rPr sz="1100">
                <a:solidFill>
                  <a:srgbClr val="000000"/>
                </a:solidFill>
                <a:latin typeface="Calibri"/>
              </a:rPr>
              <a:t>│  │    // db and cache are already initialized           │   │</a:t>
            </a:r>
          </a:p>
          <a:p>
            <a:pPr algn="l">
              <a:lnSpc>
                <a:spcPct val="110000"/>
              </a:lnSpc>
              <a:spcBef>
                <a:spcPts val="100"/>
              </a:spcBef>
              <a:spcAft>
                <a:spcPts val="100"/>
              </a:spcAft>
            </a:pPr>
            <a:r>
              <a:rPr sz="1100">
                <a:solidFill>
                  <a:srgbClr val="000000"/>
                </a:solidFill>
                <a:latin typeface="Calibri"/>
              </a:rPr>
              <a:t>│  │    return await processRequest(event);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Cloudflare Workers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 worker.ts - Cloudflare Worker</a:t>
            </a:r>
          </a:p>
          <a:p>
            <a:pPr algn="l">
              <a:lnSpc>
                <a:spcPct val="110000"/>
              </a:lnSpc>
              <a:spcBef>
                <a:spcPts val="100"/>
              </a:spcBef>
              <a:spcAft>
                <a:spcPts val="100"/>
              </a:spcAft>
            </a:pPr>
            <a:r>
              <a:rPr sz="1200">
                <a:solidFill>
                  <a:srgbClr val="000000"/>
                </a:solidFill>
                <a:latin typeface="Calibri"/>
              </a:rPr>
              <a:t>import { Server } from './server.js';</a:t>
            </a:r>
          </a:p>
          <a:p>
            <a:pPr algn="l">
              <a:lnSpc>
                <a:spcPct val="110000"/>
              </a:lnSpc>
              <a:spcBef>
                <a:spcPts val="100"/>
              </a:spcBef>
              <a:spcAft>
                <a:spcPts val="100"/>
              </a:spcAft>
            </a:pPr>
            <a:r>
              <a:rPr sz="1200">
                <a:solidFill>
                  <a:srgbClr val="000000"/>
                </a:solidFill>
                <a:latin typeface="Calibri"/>
              </a:rPr>
              <a:t>let server: Server | null = null;</a:t>
            </a:r>
          </a:p>
          <a:p>
            <a:pPr algn="l">
              <a:lnSpc>
                <a:spcPct val="110000"/>
              </a:lnSpc>
              <a:spcBef>
                <a:spcPts val="100"/>
              </a:spcBef>
              <a:spcAft>
                <a:spcPts val="100"/>
              </a:spcAft>
            </a:pPr>
            <a:r>
              <a:rPr sz="1200">
                <a:solidFill>
                  <a:srgbClr val="000000"/>
                </a:solidFill>
                <a:latin typeface="Calibri"/>
              </a:rPr>
              <a:t>export default {</a:t>
            </a:r>
          </a:p>
          <a:p>
            <a:pPr algn="l">
              <a:lnSpc>
                <a:spcPct val="110000"/>
              </a:lnSpc>
              <a:spcBef>
                <a:spcPts val="100"/>
              </a:spcBef>
              <a:spcAft>
                <a:spcPts val="100"/>
              </a:spcAft>
            </a:pPr>
            <a:r>
              <a:rPr sz="1200">
                <a:solidFill>
                  <a:srgbClr val="000000"/>
                </a:solidFill>
                <a:latin typeface="Calibri"/>
              </a:rPr>
              <a:t>    async fetch(request: Request, env: any, ctx: any): Promise&lt;Response&gt; {</a:t>
            </a:r>
          </a:p>
          <a:p>
            <a:pPr algn="l">
              <a:lnSpc>
                <a:spcPct val="110000"/>
              </a:lnSpc>
              <a:spcBef>
                <a:spcPts val="100"/>
              </a:spcBef>
              <a:spcAft>
                <a:spcPts val="100"/>
              </a:spcAft>
            </a:pPr>
            <a:r>
              <a:rPr sz="1200">
                <a:solidFill>
                  <a:srgbClr val="000000"/>
                </a:solidFill>
                <a:latin typeface="Calibri"/>
              </a:rPr>
              <a:t>        const url = new URL(request.url);</a:t>
            </a:r>
          </a:p>
          <a:p>
            <a:pPr algn="l">
              <a:lnSpc>
                <a:spcPct val="110000"/>
              </a:lnSpc>
              <a:spcBef>
                <a:spcPts val="100"/>
              </a:spcBef>
              <a:spcAft>
                <a:spcPts val="100"/>
              </a:spcAft>
            </a:pPr>
            <a:r>
              <a:rPr sz="1200">
                <a:solidFill>
                  <a:srgbClr val="000000"/>
                </a:solidFill>
                <a:latin typeface="Calibri"/>
              </a:rPr>
              <a:t>        const requestId = request.headers.get('x-request-id') || crypto.randomUUID();</a:t>
            </a:r>
          </a:p>
          <a:p>
            <a:pPr algn="l">
              <a:lnSpc>
                <a:spcPct val="110000"/>
              </a:lnSpc>
              <a:spcBef>
                <a:spcPts val="100"/>
              </a:spcBef>
              <a:spcAft>
                <a:spcPts val="100"/>
              </a:spcAft>
            </a:pPr>
            <a:r>
              <a:rPr sz="1200">
                <a:solidFill>
                  <a:srgbClr val="000000"/>
                </a:solidFill>
                <a:latin typeface="Calibri"/>
              </a:rPr>
              <a:t>        try {</a:t>
            </a:r>
          </a:p>
          <a:p>
            <a:pPr algn="l">
              <a:lnSpc>
                <a:spcPct val="110000"/>
              </a:lnSpc>
              <a:spcBef>
                <a:spcPts val="100"/>
              </a:spcBef>
              <a:spcAft>
                <a:spcPts val="100"/>
              </a:spcAft>
            </a:pPr>
            <a:r>
              <a:rPr sz="1200">
                <a:solidFill>
                  <a:srgbClr val="000000"/>
                </a:solidFill>
                <a:latin typeface="Calibri"/>
              </a:rPr>
              <a:t>            // Lazy initialization</a:t>
            </a:r>
          </a:p>
          <a:p>
            <a:pPr algn="l">
              <a:lnSpc>
                <a:spcPct val="110000"/>
              </a:lnSpc>
              <a:spcBef>
                <a:spcPts val="100"/>
              </a:spcBef>
              <a:spcAft>
                <a:spcPts val="100"/>
              </a:spcAft>
            </a:pPr>
            <a:r>
              <a:rPr sz="1200">
                <a:solidFill>
                  <a:srgbClr val="000000"/>
                </a:solidFill>
                <a:latin typeface="Calibri"/>
              </a:rPr>
              <a:t>            if (!server) {</a:t>
            </a:r>
          </a:p>
          <a:p>
            <a:pPr algn="l">
              <a:lnSpc>
                <a:spcPct val="110000"/>
              </a:lnSpc>
              <a:spcBef>
                <a:spcPts val="100"/>
              </a:spcBef>
              <a:spcAft>
                <a:spcPts val="100"/>
              </a:spcAft>
            </a:pPr>
            <a:r>
              <a:rPr sz="1200">
                <a:solidFill>
                  <a:srgbClr val="000000"/>
                </a:solidFill>
                <a:latin typeface="Calibri"/>
              </a:rPr>
              <a:t>                server = new Server();</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Process request at the edge</a:t>
            </a:r>
          </a:p>
          <a:p>
            <a:pPr algn="l">
              <a:lnSpc>
                <a:spcPct val="110000"/>
              </a:lnSpc>
              <a:spcBef>
                <a:spcPts val="100"/>
              </a:spcBef>
              <a:spcAft>
                <a:spcPts val="100"/>
              </a:spcAft>
            </a:pPr>
            <a:r>
              <a:rPr sz="1200">
                <a:solidFill>
                  <a:srgbClr val="000000"/>
                </a:solidFill>
                <a:latin typeface="Calibri"/>
              </a:rPr>
              <a:t>            const result = await server.handle(request);</a:t>
            </a:r>
          </a:p>
          <a:p>
            <a:pPr algn="l">
              <a:lnSpc>
                <a:spcPct val="110000"/>
              </a:lnSpc>
              <a:spcBef>
                <a:spcPts val="100"/>
              </a:spcBef>
              <a:spcAft>
                <a:spcPts val="100"/>
              </a:spcAft>
            </a:pPr>
            <a:r>
              <a:rPr sz="1200">
                <a:solidFill>
                  <a:srgbClr val="000000"/>
                </a:solidFill>
                <a:latin typeface="Calibri"/>
              </a:rPr>
              <a:t>            return new Response(JSON.stringify(result), {</a:t>
            </a:r>
          </a:p>
          <a:p>
            <a:pPr algn="l">
              <a:lnSpc>
                <a:spcPct val="110000"/>
              </a:lnSpc>
              <a:spcBef>
                <a:spcPts val="100"/>
              </a:spcBef>
              <a:spcAft>
                <a:spcPts val="100"/>
              </a:spcAft>
            </a:pPr>
            <a:r>
              <a:rPr sz="1200">
                <a:solidFill>
                  <a:srgbClr val="000000"/>
                </a:solidFill>
                <a:latin typeface="Calibri"/>
              </a:rPr>
              <a:t>                headers: {</a:t>
            </a:r>
          </a:p>
          <a:p>
            <a:pPr algn="l">
              <a:lnSpc>
                <a:spcPct val="110000"/>
              </a:lnSpc>
              <a:spcBef>
                <a:spcPts val="100"/>
              </a:spcBef>
              <a:spcAft>
                <a:spcPts val="100"/>
              </a:spcAft>
            </a:pPr>
            <a:r>
              <a:rPr sz="1200">
                <a:solidFill>
                  <a:srgbClr val="000000"/>
                </a:solidFill>
                <a:latin typeface="Calibri"/>
              </a:rPr>
              <a:t>                    'content-type': 'application/json',</a:t>
            </a:r>
          </a:p>
          <a:p>
            <a:pPr algn="l">
              <a:lnSpc>
                <a:spcPct val="110000"/>
              </a:lnSpc>
              <a:spcBef>
                <a:spcPts val="100"/>
              </a:spcBef>
              <a:spcAft>
                <a:spcPts val="100"/>
              </a:spcAft>
            </a:pPr>
            <a:r>
              <a:rPr sz="1200">
                <a:solidFill>
                  <a:srgbClr val="000000"/>
                </a:solidFill>
                <a:latin typeface="Calibri"/>
              </a:rPr>
              <a:t>                    'x-request-id': requestId,</a:t>
            </a:r>
          </a:p>
          <a:p>
            <a:pPr algn="l">
              <a:lnSpc>
                <a:spcPct val="110000"/>
              </a:lnSpc>
              <a:spcBef>
                <a:spcPts val="100"/>
              </a:spcBef>
              <a:spcAft>
                <a:spcPts val="100"/>
              </a:spcAft>
            </a:pPr>
            <a:r>
              <a:rPr sz="1200">
                <a:solidFill>
                  <a:srgbClr val="000000"/>
                </a:solidFill>
                <a:latin typeface="Calibri"/>
              </a:rPr>
              <a:t>                    'Cache-Control': 'public, max-age=300',</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catch (error) {</a:t>
            </a:r>
          </a:p>
          <a:p>
            <a:pPr algn="l">
              <a:lnSpc>
                <a:spcPct val="110000"/>
              </a:lnSpc>
              <a:spcBef>
                <a:spcPts val="100"/>
              </a:spcBef>
              <a:spcAft>
                <a:spcPts val="100"/>
              </a:spcAft>
            </a:pPr>
            <a:r>
              <a:rPr sz="1200">
                <a:solidFill>
                  <a:srgbClr val="000000"/>
                </a:solidFill>
                <a:latin typeface="Calibri"/>
              </a:rPr>
              <a:t>            return new Response(</a:t>
            </a:r>
          </a:p>
          <a:p>
            <a:pPr algn="l">
              <a:lnSpc>
                <a:spcPct val="110000"/>
              </a:lnSpc>
              <a:spcBef>
                <a:spcPts val="100"/>
              </a:spcBef>
              <a:spcAft>
                <a:spcPts val="100"/>
              </a:spcAft>
            </a:pPr>
            <a:r>
              <a:rPr sz="1200">
                <a:solidFill>
                  <a:srgbClr val="000000"/>
                </a:solidFill>
                <a:latin typeface="Calibri"/>
              </a:rPr>
              <a:t>                JSON.stringify({ error: error.message }),</a:t>
            </a:r>
          </a:p>
          <a:p>
            <a:pPr algn="l">
              <a:lnSpc>
                <a:spcPct val="110000"/>
              </a:lnSpc>
              <a:spcBef>
                <a:spcPts val="100"/>
              </a:spcBef>
              <a:spcAft>
                <a:spcPts val="100"/>
              </a:spcAft>
            </a:pPr>
            <a:r>
              <a:rPr sz="1200">
                <a:solidFill>
                  <a:srgbClr val="000000"/>
                </a:solidFill>
                <a:latin typeface="Calibri"/>
              </a:rPr>
              <a:t>                { status: 500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PART 4.2: CDN &amp; Edge Caching (10 Slides)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CDN Architecture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CDN ARCHITECTURE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ORIGIN SERVER                       │   │</a:t>
            </a:r>
          </a:p>
          <a:p>
            <a:pPr algn="l">
              <a:lnSpc>
                <a:spcPct val="110000"/>
              </a:lnSpc>
              <a:spcBef>
                <a:spcPts val="100"/>
              </a:spcBef>
              <a:spcAft>
                <a:spcPts val="100"/>
              </a:spcAft>
            </a:pPr>
            <a:r>
              <a:rPr sz="1200">
                <a:solidFill>
                  <a:srgbClr val="000000"/>
                </a:solidFill>
                <a:latin typeface="Calibri"/>
              </a:rPr>
              <a:t>│  │                    (US East)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Edge      │  │ Edge      │  │ Edge      │                 │</a:t>
            </a:r>
          </a:p>
          <a:p>
            <a:pPr algn="l">
              <a:lnSpc>
                <a:spcPct val="110000"/>
              </a:lnSpc>
              <a:spcBef>
                <a:spcPts val="100"/>
              </a:spcBef>
              <a:spcAft>
                <a:spcPts val="100"/>
              </a:spcAft>
            </a:pPr>
            <a:r>
              <a:rPr sz="1200">
                <a:solidFill>
                  <a:srgbClr val="000000"/>
                </a:solidFill>
                <a:latin typeface="Calibri"/>
              </a:rPr>
              <a:t>│  │ Location  │  │ Location  │  │ Location  │                 │</a:t>
            </a:r>
          </a:p>
          <a:p>
            <a:pPr algn="l">
              <a:lnSpc>
                <a:spcPct val="110000"/>
              </a:lnSpc>
              <a:spcBef>
                <a:spcPts val="100"/>
              </a:spcBef>
              <a:spcAft>
                <a:spcPts val="100"/>
              </a:spcAft>
            </a:pPr>
            <a:r>
              <a:rPr sz="1200">
                <a:solidFill>
                  <a:srgbClr val="000000"/>
                </a:solidFill>
                <a:latin typeface="Calibri"/>
              </a:rPr>
              <a:t>│  │ (Tokyo)   │  │ (London)  │  │ (NY)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User in   │  │ User in   │  │ User in   │                 │</a:t>
            </a:r>
          </a:p>
          <a:p>
            <a:pPr algn="l">
              <a:lnSpc>
                <a:spcPct val="110000"/>
              </a:lnSpc>
              <a:spcBef>
                <a:spcPts val="100"/>
              </a:spcBef>
              <a:spcAft>
                <a:spcPts val="100"/>
              </a:spcAft>
            </a:pPr>
            <a:r>
              <a:rPr sz="1200">
                <a:solidFill>
                  <a:srgbClr val="000000"/>
                </a:solidFill>
                <a:latin typeface="Calibri"/>
              </a:rPr>
              <a:t>│  │ Tokyo     │  │ London    │  │ NY        │                 │</a:t>
            </a:r>
          </a:p>
          <a:p>
            <a:pPr algn="l">
              <a:lnSpc>
                <a:spcPct val="110000"/>
              </a:lnSpc>
              <a:spcBef>
                <a:spcPts val="100"/>
              </a:spcBef>
              <a:spcAft>
                <a:spcPts val="100"/>
              </a:spcAft>
            </a:pPr>
            <a:r>
              <a:rPr sz="1200">
                <a:solidFill>
                  <a:srgbClr val="000000"/>
                </a:solidFill>
                <a:latin typeface="Calibri"/>
              </a:rPr>
              <a:t>│  │ &lt;5ms      │  │ &lt;5ms      │  │ &lt;5ms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Edge Cache Rules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```typescript</a:t>
            </a:r>
          </a:p>
          <a:p>
            <a:pPr algn="l">
              <a:lnSpc>
                <a:spcPct val="110000"/>
              </a:lnSpc>
              <a:spcBef>
                <a:spcPts val="100"/>
              </a:spcBef>
              <a:spcAft>
                <a:spcPts val="100"/>
              </a:spcAft>
            </a:pPr>
            <a:r>
              <a:rPr sz="1100">
                <a:solidFill>
                  <a:srgbClr val="000000"/>
                </a:solidFill>
                <a:latin typeface="Calibri"/>
              </a:rPr>
              <a:t>class EdgeCacheStrategy {</a:t>
            </a:r>
          </a:p>
          <a:p>
            <a:pPr algn="l">
              <a:lnSpc>
                <a:spcPct val="110000"/>
              </a:lnSpc>
              <a:spcBef>
                <a:spcPts val="100"/>
              </a:spcBef>
              <a:spcAft>
                <a:spcPts val="100"/>
              </a:spcAft>
            </a:pPr>
            <a:r>
              <a:rPr sz="1100">
                <a:solidFill>
                  <a:srgbClr val="000000"/>
                </a:solidFill>
                <a:latin typeface="Calibri"/>
              </a:rPr>
              <a:t>    determineCacheHeaders(path: string, method: string, statusCode: number): CacheHeaders {</a:t>
            </a:r>
          </a:p>
          <a:p>
            <a:pPr algn="l">
              <a:lnSpc>
                <a:spcPct val="110000"/>
              </a:lnSpc>
              <a:spcBef>
                <a:spcPts val="100"/>
              </a:spcBef>
              <a:spcAft>
                <a:spcPts val="100"/>
              </a:spcAft>
            </a:pPr>
            <a:r>
              <a:rPr sz="1100">
                <a:solidFill>
                  <a:srgbClr val="000000"/>
                </a:solidFill>
                <a:latin typeface="Calibri"/>
              </a:rPr>
              <a:t>        const rules = {</a:t>
            </a:r>
          </a:p>
          <a:p>
            <a:pPr algn="l">
              <a:lnSpc>
                <a:spcPct val="110000"/>
              </a:lnSpc>
              <a:spcBef>
                <a:spcPts val="100"/>
              </a:spcBef>
              <a:spcAft>
                <a:spcPts val="100"/>
              </a:spcAft>
            </a:pPr>
            <a:r>
              <a:rPr sz="1100">
                <a:solidFill>
                  <a:srgbClr val="000000"/>
                </a:solidFill>
                <a:latin typeface="Calibri"/>
              </a:rPr>
              <a:t>            '/api': { ttl: 0, cacheableStatuses: [200] },</a:t>
            </a:r>
          </a:p>
          <a:p>
            <a:pPr algn="l">
              <a:lnSpc>
                <a:spcPct val="110000"/>
              </a:lnSpc>
              <a:spcBef>
                <a:spcPts val="100"/>
              </a:spcBef>
              <a:spcAft>
                <a:spcPts val="100"/>
              </a:spcAft>
            </a:pPr>
            <a:r>
              <a:rPr sz="1100">
                <a:solidFill>
                  <a:srgbClr val="000000"/>
                </a:solidFill>
                <a:latin typeface="Calibri"/>
              </a:rPr>
              <a:t>            '/api/users': { ttl: 60, staleWhileRevalidate: 300 },</a:t>
            </a:r>
          </a:p>
          <a:p>
            <a:pPr algn="l">
              <a:lnSpc>
                <a:spcPct val="110000"/>
              </a:lnSpc>
              <a:spcBef>
                <a:spcPts val="100"/>
              </a:spcBef>
              <a:spcAft>
                <a:spcPts val="100"/>
              </a:spcAft>
            </a:pPr>
            <a:r>
              <a:rPr sz="1100">
                <a:solidFill>
                  <a:srgbClr val="000000"/>
                </a:solidFill>
                <a:latin typeface="Calibri"/>
              </a:rPr>
              <a:t>            '/api/tasks': { ttl: 60, staleWhileRevalidate: 300 },</a:t>
            </a:r>
          </a:p>
          <a:p>
            <a:pPr algn="l">
              <a:lnSpc>
                <a:spcPct val="110000"/>
              </a:lnSpc>
              <a:spcBef>
                <a:spcPts val="100"/>
              </a:spcBef>
              <a:spcAft>
                <a:spcPts val="100"/>
              </a:spcAft>
            </a:pPr>
            <a:r>
              <a:rPr sz="1100">
                <a:solidFill>
                  <a:srgbClr val="000000"/>
                </a:solidFill>
                <a:latin typeface="Calibri"/>
              </a:rPr>
              <a:t>            '/static': { ttl: 86400, staleWhileRevalidate: 604800 },</a:t>
            </a:r>
          </a:p>
          <a:p>
            <a:pPr algn="l">
              <a:lnSpc>
                <a:spcPct val="110000"/>
              </a:lnSpc>
              <a:spcBef>
                <a:spcPts val="100"/>
              </a:spcBef>
              <a:spcAft>
                <a:spcPts val="100"/>
              </a:spcAft>
            </a:pPr>
            <a:r>
              <a:rPr sz="1100">
                <a:solidFill>
                  <a:srgbClr val="000000"/>
                </a:solidFill>
                <a:latin typeface="Calibri"/>
              </a:rPr>
              <a:t>            '/health': { ttl: 1, staleWhileRevalidate: 5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let rule = rules['/api'];</a:t>
            </a:r>
          </a:p>
          <a:p>
            <a:pPr algn="l">
              <a:lnSpc>
                <a:spcPct val="110000"/>
              </a:lnSpc>
              <a:spcBef>
                <a:spcPts val="100"/>
              </a:spcBef>
              <a:spcAft>
                <a:spcPts val="100"/>
              </a:spcAft>
            </a:pPr>
            <a:r>
              <a:rPr sz="1100">
                <a:solidFill>
                  <a:srgbClr val="000000"/>
                </a:solidFill>
                <a:latin typeface="Calibri"/>
              </a:rPr>
              <a:t>        for (const [pattern, r] of Object.entries(rules)) {</a:t>
            </a:r>
          </a:p>
          <a:p>
            <a:pPr algn="l">
              <a:lnSpc>
                <a:spcPct val="110000"/>
              </a:lnSpc>
              <a:spcBef>
                <a:spcPts val="100"/>
              </a:spcBef>
              <a:spcAft>
                <a:spcPts val="100"/>
              </a:spcAft>
            </a:pPr>
            <a:r>
              <a:rPr sz="1100">
                <a:solidFill>
                  <a:srgbClr val="000000"/>
                </a:solidFill>
                <a:latin typeface="Calibri"/>
              </a:rPr>
              <a:t>            if (path.startsWith(pattern)) {</a:t>
            </a:r>
          </a:p>
          <a:p>
            <a:pPr algn="l">
              <a:lnSpc>
                <a:spcPct val="110000"/>
              </a:lnSpc>
              <a:spcBef>
                <a:spcPts val="100"/>
              </a:spcBef>
              <a:spcAft>
                <a:spcPts val="100"/>
              </a:spcAft>
            </a:pPr>
            <a:r>
              <a:rPr sz="1100">
                <a:solidFill>
                  <a:srgbClr val="000000"/>
                </a:solidFill>
                <a:latin typeface="Calibri"/>
              </a:rPr>
              <a:t>                rule = r;</a:t>
            </a:r>
          </a:p>
          <a:p>
            <a:pPr algn="l">
              <a:lnSpc>
                <a:spcPct val="110000"/>
              </a:lnSpc>
              <a:spcBef>
                <a:spcPts val="100"/>
              </a:spcBef>
              <a:spcAft>
                <a:spcPts val="100"/>
              </a:spcAft>
            </a:pPr>
            <a:r>
              <a:rPr sz="1100">
                <a:solidFill>
                  <a:srgbClr val="000000"/>
                </a:solidFill>
                <a:latin typeface="Calibri"/>
              </a:rPr>
              <a:t>                break;</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const isCacheable = method === 'GET' &amp;&amp; rule.cacheableStatuses.includes(statusCode);</a:t>
            </a:r>
          </a:p>
          <a:p>
            <a:pPr algn="l">
              <a:lnSpc>
                <a:spcPct val="110000"/>
              </a:lnSpc>
              <a:spcBef>
                <a:spcPts val="100"/>
              </a:spcBef>
              <a:spcAft>
                <a:spcPts val="100"/>
              </a:spcAft>
            </a:pPr>
            <a:r>
              <a:rPr sz="1100">
                <a:solidFill>
                  <a:srgbClr val="000000"/>
                </a:solidFill>
                <a:latin typeface="Calibri"/>
              </a:rPr>
              <a:t>        if (!isCacheable) {</a:t>
            </a:r>
          </a:p>
          <a:p>
            <a:pPr algn="l">
              <a:lnSpc>
                <a:spcPct val="110000"/>
              </a:lnSpc>
              <a:spcBef>
                <a:spcPts val="100"/>
              </a:spcBef>
              <a:spcAft>
                <a:spcPts val="100"/>
              </a:spcAft>
            </a:pPr>
            <a:r>
              <a:rPr sz="1100">
                <a:solidFill>
                  <a:srgbClr val="000000"/>
                </a:solidFill>
                <a:latin typeface="Calibri"/>
              </a:rPr>
              <a:t>            return {</a:t>
            </a:r>
          </a:p>
          <a:p>
            <a:pPr algn="l">
              <a:lnSpc>
                <a:spcPct val="110000"/>
              </a:lnSpc>
              <a:spcBef>
                <a:spcPts val="100"/>
              </a:spcBef>
              <a:spcAft>
                <a:spcPts val="100"/>
              </a:spcAft>
            </a:pPr>
            <a:r>
              <a:rPr sz="1100">
                <a:solidFill>
                  <a:srgbClr val="000000"/>
                </a:solidFill>
                <a:latin typeface="Calibri"/>
              </a:rPr>
              <a:t>                'Cache-Control': 'no-cache, no-store, must-revalidate',</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return {</a:t>
            </a:r>
          </a:p>
          <a:p>
            <a:pPr algn="l">
              <a:lnSpc>
                <a:spcPct val="110000"/>
              </a:lnSpc>
              <a:spcBef>
                <a:spcPts val="100"/>
              </a:spcBef>
              <a:spcAft>
                <a:spcPts val="100"/>
              </a:spcAft>
            </a:pPr>
            <a:r>
              <a:rPr sz="1100">
                <a:solidFill>
                  <a:srgbClr val="000000"/>
                </a:solidFill>
                <a:latin typeface="Calibri"/>
              </a:rPr>
              <a:t>            'Cache-Control': [</a:t>
            </a:r>
          </a:p>
          <a:p>
            <a:pPr algn="l">
              <a:lnSpc>
                <a:spcPct val="110000"/>
              </a:lnSpc>
              <a:spcBef>
                <a:spcPts val="100"/>
              </a:spcBef>
              <a:spcAft>
                <a:spcPts val="100"/>
              </a:spcAft>
            </a:pPr>
            <a:r>
              <a:rPr sz="1100">
                <a:solidFill>
                  <a:srgbClr val="000000"/>
                </a:solidFill>
                <a:latin typeface="Calibri"/>
              </a:rPr>
              <a:t>                `max-age=${rule.ttl}`,</a:t>
            </a:r>
          </a:p>
          <a:p>
            <a:pPr algn="l">
              <a:lnSpc>
                <a:spcPct val="110000"/>
              </a:lnSpc>
              <a:spcBef>
                <a:spcPts val="100"/>
              </a:spcBef>
              <a:spcAft>
                <a:spcPts val="100"/>
              </a:spcAft>
            </a:pPr>
            <a:r>
              <a:rPr sz="1100">
                <a:solidFill>
                  <a:srgbClr val="000000"/>
                </a:solidFill>
                <a:latin typeface="Calibri"/>
              </a:rPr>
              <a:t>                `stale-while-revalidate=${rule.staleWhileRevalidate}`,</a:t>
            </a:r>
          </a:p>
          <a:p>
            <a:pPr algn="l">
              <a:lnSpc>
                <a:spcPct val="110000"/>
              </a:lnSpc>
              <a:spcBef>
                <a:spcPts val="100"/>
              </a:spcBef>
              <a:spcAft>
                <a:spcPts val="100"/>
              </a:spcAft>
            </a:pPr>
            <a:r>
              <a:rPr sz="1100">
                <a:solidFill>
                  <a:srgbClr val="000000"/>
                </a:solidFill>
                <a:latin typeface="Calibri"/>
              </a:rPr>
              <a:t>                'public',</a:t>
            </a:r>
          </a:p>
          <a:p>
            <a:pPr algn="l">
              <a:lnSpc>
                <a:spcPct val="110000"/>
              </a:lnSpc>
              <a:spcBef>
                <a:spcPts val="100"/>
              </a:spcBef>
              <a:spcAft>
                <a:spcPts val="100"/>
              </a:spcAft>
            </a:pPr>
            <a:r>
              <a:rPr sz="1100">
                <a:solidFill>
                  <a:srgbClr val="000000"/>
                </a:solidFill>
                <a:latin typeface="Calibri"/>
              </a:rPr>
              <a:t>            ].join(', '),</a:t>
            </a:r>
          </a:p>
          <a:p>
            <a:pPr algn="l">
              <a:lnSpc>
                <a:spcPct val="110000"/>
              </a:lnSpc>
              <a:spcBef>
                <a:spcPts val="100"/>
              </a:spcBef>
              <a:spcAft>
                <a:spcPts val="100"/>
              </a:spcAft>
            </a:pPr>
            <a:r>
              <a:rPr sz="1100">
                <a:solidFill>
                  <a:srgbClr val="000000"/>
                </a:solidFill>
                <a:latin typeface="Calibri"/>
              </a:rPr>
              <a:t>            'Vary': 'Accept-Encoding, Accept-Language',</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async invalidateOnUpdate(entityType: string, entityId: string): Promise&lt;void&gt; {</a:t>
            </a:r>
          </a:p>
          <a:p>
            <a:pPr algn="l">
              <a:lnSpc>
                <a:spcPct val="110000"/>
              </a:lnSpc>
              <a:spcBef>
                <a:spcPts val="100"/>
              </a:spcBef>
              <a:spcAft>
                <a:spcPts val="100"/>
              </a:spcAft>
            </a:pPr>
            <a:r>
              <a:rPr sz="1100">
                <a:solidFill>
                  <a:srgbClr val="000000"/>
                </a:solidFill>
                <a:latin typeface="Calibri"/>
              </a:rPr>
              <a:t>        const patterns = [</a:t>
            </a:r>
          </a:p>
          <a:p>
            <a:pPr algn="l">
              <a:lnSpc>
                <a:spcPct val="110000"/>
              </a:lnSpc>
              <a:spcBef>
                <a:spcPts val="100"/>
              </a:spcBef>
              <a:spcAft>
                <a:spcPts val="100"/>
              </a:spcAft>
            </a:pPr>
            <a:r>
              <a:rPr sz="1100">
                <a:solidFill>
                  <a:srgbClr val="000000"/>
                </a:solidFill>
                <a:latin typeface="Calibri"/>
              </a:rPr>
              <a:t>            `/${entityType}/*`,</a:t>
            </a:r>
          </a:p>
          <a:p>
            <a:pPr algn="l">
              <a:lnSpc>
                <a:spcPct val="110000"/>
              </a:lnSpc>
              <a:spcBef>
                <a:spcPts val="100"/>
              </a:spcBef>
              <a:spcAft>
                <a:spcPts val="100"/>
              </a:spcAft>
            </a:pPr>
            <a:r>
              <a:rPr sz="1100">
                <a:solidFill>
                  <a:srgbClr val="000000"/>
                </a:solidFill>
                <a:latin typeface="Calibri"/>
              </a:rPr>
              <a:t>            `/${entityType}s/*`,</a:t>
            </a:r>
          </a:p>
          <a:p>
            <a:pPr algn="l">
              <a:lnSpc>
                <a:spcPct val="110000"/>
              </a:lnSpc>
              <a:spcBef>
                <a:spcPts val="100"/>
              </a:spcBef>
              <a:spcAft>
                <a:spcPts val="100"/>
              </a:spcAft>
            </a:pPr>
            <a:r>
              <a:rPr sz="1100">
                <a:solidFill>
                  <a:srgbClr val="000000"/>
                </a:solidFill>
                <a:latin typeface="Calibri"/>
              </a:rPr>
              <a:t>            `/${entityType}/${entityId}`,</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await this.cdnManager.invalidateCache(patterns);</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PHASE 5: DATA SYSTEMS (35 Slides)</a:t>
            </a:r>
          </a:p>
          <a:p>
            <a:pPr algn="l">
              <a:lnSpc>
                <a:spcPct val="110000"/>
              </a:lnSpc>
              <a:spcBef>
                <a:spcPts val="100"/>
              </a:spcBef>
              <a:spcAft>
                <a:spcPts val="100"/>
              </a:spcAft>
            </a:pPr>
            <a:r>
              <a:rPr sz="1100">
                <a:solidFill>
                  <a:srgbClr val="000000"/>
                </a:solidFill>
                <a:latin typeface="Calibri"/>
              </a:rPr>
              <a:t>### PART 5.1: Event Sourcing (20 Slides)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Event Sourcing Overview</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EVENT SOURCING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Traditional CRUD: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User { id: 1, name: "John", email: "john@example.com" } │   │</a:t>
            </a:r>
          </a:p>
          <a:p>
            <a:pPr algn="l">
              <a:lnSpc>
                <a:spcPct val="110000"/>
              </a:lnSpc>
              <a:spcBef>
                <a:spcPts val="100"/>
              </a:spcBef>
              <a:spcAft>
                <a:spcPts val="100"/>
              </a:spcAft>
            </a:pPr>
            <a:r>
              <a:rPr sz="1200">
                <a:solidFill>
                  <a:srgbClr val="000000"/>
                </a:solidFill>
                <a:latin typeface="Calibri"/>
              </a:rPr>
              <a:t>│  │  Update → { id: 1, name: "John Doe", email: "..." }     │   │</a:t>
            </a:r>
          </a:p>
          <a:p>
            <a:pPr algn="l">
              <a:lnSpc>
                <a:spcPct val="110000"/>
              </a:lnSpc>
              <a:spcBef>
                <a:spcPts val="100"/>
              </a:spcBef>
              <a:spcAft>
                <a:spcPts val="100"/>
              </a:spcAft>
            </a:pPr>
            <a:r>
              <a:rPr sz="1200">
                <a:solidFill>
                  <a:srgbClr val="000000"/>
                </a:solidFill>
                <a:latin typeface="Calibri"/>
              </a:rPr>
              <a:t>│  │  → Only current state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Event Sourcing: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Event 1: UserCreated { id: 1, name: "John", email }   │   │</a:t>
            </a:r>
          </a:p>
          <a:p>
            <a:pPr algn="l">
              <a:lnSpc>
                <a:spcPct val="110000"/>
              </a:lnSpc>
              <a:spcBef>
                <a:spcPts val="100"/>
              </a:spcBef>
              <a:spcAft>
                <a:spcPts val="100"/>
              </a:spcAft>
            </a:pPr>
            <a:r>
              <a:rPr sz="1200">
                <a:solidFill>
                  <a:srgbClr val="000000"/>
                </a:solidFill>
                <a:latin typeface="Calibri"/>
              </a:rPr>
              <a:t>│  │  Event 2: UserNameChanged { id: 1, newName: "John D" }│   │</a:t>
            </a:r>
          </a:p>
          <a:p>
            <a:pPr algn="l">
              <a:lnSpc>
                <a:spcPct val="110000"/>
              </a:lnSpc>
              <a:spcBef>
                <a:spcPts val="100"/>
              </a:spcBef>
              <a:spcAft>
                <a:spcPts val="100"/>
              </a:spcAft>
            </a:pPr>
            <a:r>
              <a:rPr sz="1200">
                <a:solidFill>
                  <a:srgbClr val="000000"/>
                </a:solidFill>
                <a:latin typeface="Calibri"/>
              </a:rPr>
              <a:t>│  │  Event 3: UserEmailChanged { id: 1, newEmail: "..." } │   │</a:t>
            </a:r>
          </a:p>
          <a:p>
            <a:pPr algn="l">
              <a:lnSpc>
                <a:spcPct val="110000"/>
              </a:lnSpc>
              <a:spcBef>
                <a:spcPts val="100"/>
              </a:spcBef>
              <a:spcAft>
                <a:spcPts val="100"/>
              </a:spcAft>
            </a:pPr>
            <a:r>
              <a:rPr sz="1200">
                <a:solidFill>
                  <a:srgbClr val="000000"/>
                </a:solidFill>
                <a:latin typeface="Calibri"/>
              </a:rPr>
              <a:t>│  │  → Complete history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Benefits:                                                      │</a:t>
            </a:r>
          </a:p>
          <a:p>
            <a:pPr algn="l">
              <a:lnSpc>
                <a:spcPct val="110000"/>
              </a:lnSpc>
              <a:spcBef>
                <a:spcPts val="100"/>
              </a:spcBef>
              <a:spcAft>
                <a:spcPts val="100"/>
              </a:spcAft>
            </a:pPr>
            <a:r>
              <a:rPr sz="1200">
                <a:solidFill>
                  <a:srgbClr val="000000"/>
                </a:solidFill>
                <a:latin typeface="Calibri"/>
              </a:rPr>
              <a:t>│  • Complete audit trail                                        │</a:t>
            </a:r>
          </a:p>
          <a:p>
            <a:pPr algn="l">
              <a:lnSpc>
                <a:spcPct val="110000"/>
              </a:lnSpc>
              <a:spcBef>
                <a:spcPts val="100"/>
              </a:spcBef>
              <a:spcAft>
                <a:spcPts val="100"/>
              </a:spcAft>
            </a:pPr>
            <a:r>
              <a:rPr sz="1200">
                <a:solidFill>
                  <a:srgbClr val="000000"/>
                </a:solidFill>
                <a:latin typeface="Calibri"/>
              </a:rPr>
              <a:t>│  • Rebuild state at any point                                 │</a:t>
            </a:r>
          </a:p>
          <a:p>
            <a:pPr algn="l">
              <a:lnSpc>
                <a:spcPct val="110000"/>
              </a:lnSpc>
              <a:spcBef>
                <a:spcPts val="100"/>
              </a:spcBef>
              <a:spcAft>
                <a:spcPts val="100"/>
              </a:spcAft>
            </a:pPr>
            <a:r>
              <a:rPr sz="1200">
                <a:solidFill>
                  <a:srgbClr val="000000"/>
                </a:solidFill>
                <a:latin typeface="Calibri"/>
              </a:rPr>
              <a:t>│  • Event replay for new read models                          │</a:t>
            </a:r>
          </a:p>
          <a:p>
            <a:pPr algn="l">
              <a:lnSpc>
                <a:spcPct val="110000"/>
              </a:lnSpc>
              <a:spcBef>
                <a:spcPts val="100"/>
              </a:spcBef>
              <a:spcAft>
                <a:spcPts val="100"/>
              </a:spcAft>
            </a:pPr>
            <a:r>
              <a:rPr sz="1200">
                <a:solidFill>
                  <a:srgbClr val="000000"/>
                </a:solidFill>
                <a:latin typeface="Calibri"/>
              </a:rPr>
              <a:t>│  • Temporal queries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Domain Events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```typescript</a:t>
            </a:r>
          </a:p>
          <a:p>
            <a:pPr algn="l">
              <a:lnSpc>
                <a:spcPct val="110000"/>
              </a:lnSpc>
              <a:spcBef>
                <a:spcPts val="100"/>
              </a:spcBef>
              <a:spcAft>
                <a:spcPts val="100"/>
              </a:spcAft>
            </a:pPr>
            <a:r>
              <a:rPr sz="1100">
                <a:solidFill>
                  <a:srgbClr val="000000"/>
                </a:solidFill>
                <a:latin typeface="Calibri"/>
              </a:rPr>
              <a:t>// Domain Events</a:t>
            </a:r>
          </a:p>
          <a:p>
            <a:pPr algn="l">
              <a:lnSpc>
                <a:spcPct val="110000"/>
              </a:lnSpc>
              <a:spcBef>
                <a:spcPts val="100"/>
              </a:spcBef>
              <a:spcAft>
                <a:spcPts val="100"/>
              </a:spcAft>
            </a:pPr>
            <a:r>
              <a:rPr sz="1100">
                <a:solidFill>
                  <a:srgbClr val="000000"/>
                </a:solidFill>
                <a:latin typeface="Calibri"/>
              </a:rPr>
              <a:t>export class UserCreatedEvent {</a:t>
            </a:r>
          </a:p>
          <a:p>
            <a:pPr algn="l">
              <a:lnSpc>
                <a:spcPct val="110000"/>
              </a:lnSpc>
              <a:spcBef>
                <a:spcPts val="100"/>
              </a:spcBef>
              <a:spcAft>
                <a:spcPts val="100"/>
              </a:spcAft>
            </a:pPr>
            <a:r>
              <a:rPr sz="1100">
                <a:solidFill>
                  <a:srgbClr val="000000"/>
                </a:solidFill>
                <a:latin typeface="Calibri"/>
              </a:rPr>
              <a:t>    constructor(</a:t>
            </a:r>
          </a:p>
          <a:p>
            <a:pPr algn="l">
              <a:lnSpc>
                <a:spcPct val="110000"/>
              </a:lnSpc>
              <a:spcBef>
                <a:spcPts val="100"/>
              </a:spcBef>
              <a:spcAft>
                <a:spcPts val="100"/>
              </a:spcAft>
            </a:pPr>
            <a:r>
              <a:rPr sz="1100">
                <a:solidFill>
                  <a:srgbClr val="000000"/>
                </a:solidFill>
                <a:latin typeface="Calibri"/>
              </a:rPr>
              <a:t>        public readonly aggregateId: string,</a:t>
            </a:r>
          </a:p>
          <a:p>
            <a:pPr algn="l">
              <a:lnSpc>
                <a:spcPct val="110000"/>
              </a:lnSpc>
              <a:spcBef>
                <a:spcPts val="100"/>
              </a:spcBef>
              <a:spcAft>
                <a:spcPts val="100"/>
              </a:spcAft>
            </a:pPr>
            <a:r>
              <a:rPr sz="1100">
                <a:solidFill>
                  <a:srgbClr val="000000"/>
                </a:solidFill>
                <a:latin typeface="Calibri"/>
              </a:rPr>
              <a:t>        public readonly email: string,</a:t>
            </a:r>
          </a:p>
          <a:p>
            <a:pPr algn="l">
              <a:lnSpc>
                <a:spcPct val="110000"/>
              </a:lnSpc>
              <a:spcBef>
                <a:spcPts val="100"/>
              </a:spcBef>
              <a:spcAft>
                <a:spcPts val="100"/>
              </a:spcAft>
            </a:pPr>
            <a:r>
              <a:rPr sz="1100">
                <a:solidFill>
                  <a:srgbClr val="000000"/>
                </a:solidFill>
                <a:latin typeface="Calibri"/>
              </a:rPr>
              <a:t>        public readonly username: string,</a:t>
            </a:r>
          </a:p>
          <a:p>
            <a:pPr algn="l">
              <a:lnSpc>
                <a:spcPct val="110000"/>
              </a:lnSpc>
              <a:spcBef>
                <a:spcPts val="100"/>
              </a:spcBef>
              <a:spcAft>
                <a:spcPts val="100"/>
              </a:spcAft>
            </a:pPr>
            <a:r>
              <a:rPr sz="1100">
                <a:solidFill>
                  <a:srgbClr val="000000"/>
                </a:solidFill>
                <a:latin typeface="Calibri"/>
              </a:rPr>
              <a:t>        public readonly firstName: string,</a:t>
            </a:r>
          </a:p>
          <a:p>
            <a:pPr algn="l">
              <a:lnSpc>
                <a:spcPct val="110000"/>
              </a:lnSpc>
              <a:spcBef>
                <a:spcPts val="100"/>
              </a:spcBef>
              <a:spcAft>
                <a:spcPts val="100"/>
              </a:spcAft>
            </a:pPr>
            <a:r>
              <a:rPr sz="1100">
                <a:solidFill>
                  <a:srgbClr val="000000"/>
                </a:solidFill>
                <a:latin typeface="Calibri"/>
              </a:rPr>
              <a:t>        public readonly lastName: string,</a:t>
            </a:r>
          </a:p>
          <a:p>
            <a:pPr algn="l">
              <a:lnSpc>
                <a:spcPct val="110000"/>
              </a:lnSpc>
              <a:spcBef>
                <a:spcPts val="100"/>
              </a:spcBef>
              <a:spcAft>
                <a:spcPts val="100"/>
              </a:spcAft>
            </a:pPr>
            <a:r>
              <a:rPr sz="1100">
                <a:solidFill>
                  <a:srgbClr val="000000"/>
                </a:solidFill>
                <a:latin typeface="Calibri"/>
              </a:rPr>
              <a:t>        public readonly version: number = 1</a:t>
            </a:r>
          </a:p>
          <a:p>
            <a:pPr algn="l">
              <a:lnSpc>
                <a:spcPct val="110000"/>
              </a:lnSpc>
              <a:spcBef>
                <a:spcPts val="100"/>
              </a:spcBef>
              <a:spcAft>
                <a:spcPts val="100"/>
              </a:spcAft>
            </a:pPr>
            <a:r>
              <a:rPr sz="1100">
                <a:solidFill>
                  <a:srgbClr val="000000"/>
                </a:solidFill>
                <a:latin typeface="Calibri"/>
              </a:rPr>
              <a:t>    ) {}</a:t>
            </a:r>
          </a:p>
          <a:p>
            <a:pPr algn="l">
              <a:lnSpc>
                <a:spcPct val="110000"/>
              </a:lnSpc>
              <a:spcBef>
                <a:spcPts val="100"/>
              </a:spcBef>
              <a:spcAft>
                <a:spcPts val="100"/>
              </a:spcAft>
            </a:pPr>
            <a:r>
              <a:rPr sz="1100">
                <a:solidFill>
                  <a:srgbClr val="000000"/>
                </a:solidFill>
                <a:latin typeface="Calibri"/>
              </a:rPr>
              <a:t>    toJSON(): Record&lt;string, any&gt; {</a:t>
            </a:r>
          </a:p>
          <a:p>
            <a:pPr algn="l">
              <a:lnSpc>
                <a:spcPct val="110000"/>
              </a:lnSpc>
              <a:spcBef>
                <a:spcPts val="100"/>
              </a:spcBef>
              <a:spcAft>
                <a:spcPts val="100"/>
              </a:spcAft>
            </a:pPr>
            <a:r>
              <a:rPr sz="1100">
                <a:solidFill>
                  <a:srgbClr val="000000"/>
                </a:solidFill>
                <a:latin typeface="Calibri"/>
              </a:rPr>
              <a:t>        return {</a:t>
            </a:r>
          </a:p>
          <a:p>
            <a:pPr algn="l">
              <a:lnSpc>
                <a:spcPct val="110000"/>
              </a:lnSpc>
              <a:spcBef>
                <a:spcPts val="100"/>
              </a:spcBef>
              <a:spcAft>
                <a:spcPts val="100"/>
              </a:spcAft>
            </a:pPr>
            <a:r>
              <a:rPr sz="1100">
                <a:solidFill>
                  <a:srgbClr val="000000"/>
                </a:solidFill>
                <a:latin typeface="Calibri"/>
              </a:rPr>
              <a:t>            eventId: this.eventId,</a:t>
            </a:r>
          </a:p>
          <a:p>
            <a:pPr algn="l">
              <a:lnSpc>
                <a:spcPct val="110000"/>
              </a:lnSpc>
              <a:spcBef>
                <a:spcPts val="100"/>
              </a:spcBef>
              <a:spcAft>
                <a:spcPts val="100"/>
              </a:spcAft>
            </a:pPr>
            <a:r>
              <a:rPr sz="1100">
                <a:solidFill>
                  <a:srgbClr val="000000"/>
                </a:solidFill>
                <a:latin typeface="Calibri"/>
              </a:rPr>
              <a:t>            eventType: 'UserCreated',</a:t>
            </a:r>
          </a:p>
          <a:p>
            <a:pPr algn="l">
              <a:lnSpc>
                <a:spcPct val="110000"/>
              </a:lnSpc>
              <a:spcBef>
                <a:spcPts val="100"/>
              </a:spcBef>
              <a:spcAft>
                <a:spcPts val="100"/>
              </a:spcAft>
            </a:pPr>
            <a:r>
              <a:rPr sz="1100">
                <a:solidFill>
                  <a:srgbClr val="000000"/>
                </a:solidFill>
                <a:latin typeface="Calibri"/>
              </a:rPr>
              <a:t>            aggregateId: this.aggregateId,</a:t>
            </a:r>
          </a:p>
          <a:p>
            <a:pPr algn="l">
              <a:lnSpc>
                <a:spcPct val="110000"/>
              </a:lnSpc>
              <a:spcBef>
                <a:spcPts val="100"/>
              </a:spcBef>
              <a:spcAft>
                <a:spcPts val="100"/>
              </a:spcAft>
            </a:pPr>
            <a:r>
              <a:rPr sz="1100">
                <a:solidFill>
                  <a:srgbClr val="000000"/>
                </a:solidFill>
                <a:latin typeface="Calibri"/>
              </a:rPr>
              <a:t>            version: this.version,</a:t>
            </a:r>
          </a:p>
          <a:p>
            <a:pPr algn="l">
              <a:lnSpc>
                <a:spcPct val="110000"/>
              </a:lnSpc>
              <a:spcBef>
                <a:spcPts val="100"/>
              </a:spcBef>
              <a:spcAft>
                <a:spcPts val="100"/>
              </a:spcAft>
            </a:pPr>
            <a:r>
              <a:rPr sz="1100">
                <a:solidFill>
                  <a:srgbClr val="000000"/>
                </a:solidFill>
                <a:latin typeface="Calibri"/>
              </a:rPr>
              <a:t>            timestamp: new Date().toISOString(),</a:t>
            </a:r>
          </a:p>
          <a:p>
            <a:pPr algn="l">
              <a:lnSpc>
                <a:spcPct val="110000"/>
              </a:lnSpc>
              <a:spcBef>
                <a:spcPts val="100"/>
              </a:spcBef>
              <a:spcAft>
                <a:spcPts val="100"/>
              </a:spcAft>
            </a:pPr>
            <a:r>
              <a:rPr sz="1100">
                <a:solidFill>
                  <a:srgbClr val="000000"/>
                </a:solidFill>
                <a:latin typeface="Calibri"/>
              </a:rPr>
              <a:t>            data: {</a:t>
            </a:r>
          </a:p>
          <a:p>
            <a:pPr algn="l">
              <a:lnSpc>
                <a:spcPct val="110000"/>
              </a:lnSpc>
              <a:spcBef>
                <a:spcPts val="100"/>
              </a:spcBef>
              <a:spcAft>
                <a:spcPts val="100"/>
              </a:spcAft>
            </a:pPr>
            <a:r>
              <a:rPr sz="1100">
                <a:solidFill>
                  <a:srgbClr val="000000"/>
                </a:solidFill>
                <a:latin typeface="Calibri"/>
              </a:rPr>
              <a:t>                email: this.email,</a:t>
            </a:r>
          </a:p>
          <a:p>
            <a:pPr algn="l">
              <a:lnSpc>
                <a:spcPct val="110000"/>
              </a:lnSpc>
              <a:spcBef>
                <a:spcPts val="100"/>
              </a:spcBef>
              <a:spcAft>
                <a:spcPts val="100"/>
              </a:spcAft>
            </a:pPr>
            <a:r>
              <a:rPr sz="1100">
                <a:solidFill>
                  <a:srgbClr val="000000"/>
                </a:solidFill>
                <a:latin typeface="Calibri"/>
              </a:rPr>
              <a:t>                username: this.username,</a:t>
            </a:r>
          </a:p>
          <a:p>
            <a:pPr algn="l">
              <a:lnSpc>
                <a:spcPct val="110000"/>
              </a:lnSpc>
              <a:spcBef>
                <a:spcPts val="100"/>
              </a:spcBef>
              <a:spcAft>
                <a:spcPts val="100"/>
              </a:spcAft>
            </a:pPr>
            <a:r>
              <a:rPr sz="1100">
                <a:solidFill>
                  <a:srgbClr val="000000"/>
                </a:solidFill>
                <a:latin typeface="Calibri"/>
              </a:rPr>
              <a:t>                firstName: this.firstName,</a:t>
            </a:r>
          </a:p>
          <a:p>
            <a:pPr algn="l">
              <a:lnSpc>
                <a:spcPct val="110000"/>
              </a:lnSpc>
              <a:spcBef>
                <a:spcPts val="100"/>
              </a:spcBef>
              <a:spcAft>
                <a:spcPts val="100"/>
              </a:spcAft>
            </a:pPr>
            <a:r>
              <a:rPr sz="1100">
                <a:solidFill>
                  <a:srgbClr val="000000"/>
                </a:solidFill>
                <a:latin typeface="Calibri"/>
              </a:rPr>
              <a:t>                lastName: this.lastName,</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export class UserEmailChangedEvent {</a:t>
            </a:r>
          </a:p>
          <a:p>
            <a:pPr algn="l">
              <a:lnSpc>
                <a:spcPct val="110000"/>
              </a:lnSpc>
              <a:spcBef>
                <a:spcPts val="100"/>
              </a:spcBef>
              <a:spcAft>
                <a:spcPts val="100"/>
              </a:spcAft>
            </a:pPr>
            <a:r>
              <a:rPr sz="1100">
                <a:solidFill>
                  <a:srgbClr val="000000"/>
                </a:solidFill>
                <a:latin typeface="Calibri"/>
              </a:rPr>
              <a:t>    constructor(</a:t>
            </a:r>
          </a:p>
          <a:p>
            <a:pPr algn="l">
              <a:lnSpc>
                <a:spcPct val="110000"/>
              </a:lnSpc>
              <a:spcBef>
                <a:spcPts val="100"/>
              </a:spcBef>
              <a:spcAft>
                <a:spcPts val="100"/>
              </a:spcAft>
            </a:pPr>
            <a:r>
              <a:rPr sz="1100">
                <a:solidFill>
                  <a:srgbClr val="000000"/>
                </a:solidFill>
                <a:latin typeface="Calibri"/>
              </a:rPr>
              <a:t>        public readonly aggregateId: string,</a:t>
            </a:r>
          </a:p>
          <a:p>
            <a:pPr algn="l">
              <a:lnSpc>
                <a:spcPct val="110000"/>
              </a:lnSpc>
              <a:spcBef>
                <a:spcPts val="100"/>
              </a:spcBef>
              <a:spcAft>
                <a:spcPts val="100"/>
              </a:spcAft>
            </a:pPr>
            <a:r>
              <a:rPr sz="1100">
                <a:solidFill>
                  <a:srgbClr val="000000"/>
                </a:solidFill>
                <a:latin typeface="Calibri"/>
              </a:rPr>
              <a:t>        public readonly oldEmail: string,</a:t>
            </a:r>
          </a:p>
          <a:p>
            <a:pPr algn="l">
              <a:lnSpc>
                <a:spcPct val="110000"/>
              </a:lnSpc>
              <a:spcBef>
                <a:spcPts val="100"/>
              </a:spcBef>
              <a:spcAft>
                <a:spcPts val="100"/>
              </a:spcAft>
            </a:pPr>
            <a:r>
              <a:rPr sz="1100">
                <a:solidFill>
                  <a:srgbClr val="000000"/>
                </a:solidFill>
                <a:latin typeface="Calibri"/>
              </a:rPr>
              <a:t>        public readonly newEmail: string,</a:t>
            </a:r>
          </a:p>
          <a:p>
            <a:pPr algn="l">
              <a:lnSpc>
                <a:spcPct val="110000"/>
              </a:lnSpc>
              <a:spcBef>
                <a:spcPts val="100"/>
              </a:spcBef>
              <a:spcAft>
                <a:spcPts val="100"/>
              </a:spcAft>
            </a:pPr>
            <a:r>
              <a:rPr sz="1100">
                <a:solidFill>
                  <a:srgbClr val="000000"/>
                </a:solidFill>
                <a:latin typeface="Calibri"/>
              </a:rPr>
              <a:t>        public readonly version: number</a:t>
            </a:r>
          </a:p>
          <a:p>
            <a:pPr algn="l">
              <a:lnSpc>
                <a:spcPct val="110000"/>
              </a:lnSpc>
              <a:spcBef>
                <a:spcPts val="100"/>
              </a:spcBef>
              <a:spcAft>
                <a:spcPts val="100"/>
              </a:spcAft>
            </a:pPr>
            <a:r>
              <a:rPr sz="1100">
                <a:solidFill>
                  <a:srgbClr val="000000"/>
                </a:solidFill>
                <a:latin typeface="Calibri"/>
              </a:rPr>
              <a:t>    ) {}</a:t>
            </a:r>
          </a:p>
          <a:p>
            <a:pPr algn="l">
              <a:lnSpc>
                <a:spcPct val="110000"/>
              </a:lnSpc>
              <a:spcBef>
                <a:spcPts val="100"/>
              </a:spcBef>
              <a:spcAft>
                <a:spcPts val="100"/>
              </a:spcAft>
            </a:pPr>
            <a:r>
              <a:rPr sz="1100">
                <a:solidFill>
                  <a:srgbClr val="000000"/>
                </a:solidFill>
                <a:latin typeface="Calibri"/>
              </a:rPr>
              <a:t>    toJSON(): Record&lt;string, any&gt; {</a:t>
            </a:r>
          </a:p>
          <a:p>
            <a:pPr algn="l">
              <a:lnSpc>
                <a:spcPct val="110000"/>
              </a:lnSpc>
              <a:spcBef>
                <a:spcPts val="100"/>
              </a:spcBef>
              <a:spcAft>
                <a:spcPts val="100"/>
              </a:spcAft>
            </a:pPr>
            <a:r>
              <a:rPr sz="1100">
                <a:solidFill>
                  <a:srgbClr val="000000"/>
                </a:solidFill>
                <a:latin typeface="Calibri"/>
              </a:rPr>
              <a:t>        return {</a:t>
            </a:r>
          </a:p>
          <a:p>
            <a:pPr algn="l">
              <a:lnSpc>
                <a:spcPct val="110000"/>
              </a:lnSpc>
              <a:spcBef>
                <a:spcPts val="100"/>
              </a:spcBef>
              <a:spcAft>
                <a:spcPts val="100"/>
              </a:spcAft>
            </a:pPr>
            <a:r>
              <a:rPr sz="1100">
                <a:solidFill>
                  <a:srgbClr val="000000"/>
                </a:solidFill>
                <a:latin typeface="Calibri"/>
              </a:rPr>
              <a:t>            eventId: this.eventId,</a:t>
            </a:r>
          </a:p>
          <a:p>
            <a:pPr algn="l">
              <a:lnSpc>
                <a:spcPct val="110000"/>
              </a:lnSpc>
              <a:spcBef>
                <a:spcPts val="100"/>
              </a:spcBef>
              <a:spcAft>
                <a:spcPts val="100"/>
              </a:spcAft>
            </a:pPr>
            <a:r>
              <a:rPr sz="1100">
                <a:solidFill>
                  <a:srgbClr val="000000"/>
                </a:solidFill>
                <a:latin typeface="Calibri"/>
              </a:rPr>
              <a:t>            eventType: 'UserEmailChanged',</a:t>
            </a:r>
          </a:p>
          <a:p>
            <a:pPr algn="l">
              <a:lnSpc>
                <a:spcPct val="110000"/>
              </a:lnSpc>
              <a:spcBef>
                <a:spcPts val="100"/>
              </a:spcBef>
              <a:spcAft>
                <a:spcPts val="100"/>
              </a:spcAft>
            </a:pPr>
            <a:r>
              <a:rPr sz="1100">
                <a:solidFill>
                  <a:srgbClr val="000000"/>
                </a:solidFill>
                <a:latin typeface="Calibri"/>
              </a:rPr>
              <a:t>            aggregateId: this.aggregateId,</a:t>
            </a:r>
          </a:p>
          <a:p>
            <a:pPr algn="l">
              <a:lnSpc>
                <a:spcPct val="110000"/>
              </a:lnSpc>
              <a:spcBef>
                <a:spcPts val="100"/>
              </a:spcBef>
              <a:spcAft>
                <a:spcPts val="100"/>
              </a:spcAft>
            </a:pPr>
            <a:r>
              <a:rPr sz="1100">
                <a:solidFill>
                  <a:srgbClr val="000000"/>
                </a:solidFill>
                <a:latin typeface="Calibri"/>
              </a:rPr>
              <a:t>            version: this.version,</a:t>
            </a:r>
          </a:p>
          <a:p>
            <a:pPr algn="l">
              <a:lnSpc>
                <a:spcPct val="110000"/>
              </a:lnSpc>
              <a:spcBef>
                <a:spcPts val="100"/>
              </a:spcBef>
              <a:spcAft>
                <a:spcPts val="100"/>
              </a:spcAft>
            </a:pPr>
            <a:r>
              <a:rPr sz="1100">
                <a:solidFill>
                  <a:srgbClr val="000000"/>
                </a:solidFill>
                <a:latin typeface="Calibri"/>
              </a:rPr>
              <a:t>            timestamp: new Date().toISOString(),</a:t>
            </a:r>
          </a:p>
          <a:p>
            <a:pPr algn="l">
              <a:lnSpc>
                <a:spcPct val="110000"/>
              </a:lnSpc>
              <a:spcBef>
                <a:spcPts val="100"/>
              </a:spcBef>
              <a:spcAft>
                <a:spcPts val="100"/>
              </a:spcAft>
            </a:pPr>
            <a:r>
              <a:rPr sz="1100">
                <a:solidFill>
                  <a:srgbClr val="000000"/>
                </a:solidFill>
                <a:latin typeface="Calibri"/>
              </a:rPr>
              <a:t>            data: {</a:t>
            </a:r>
          </a:p>
          <a:p>
            <a:pPr algn="l">
              <a:lnSpc>
                <a:spcPct val="110000"/>
              </a:lnSpc>
              <a:spcBef>
                <a:spcPts val="100"/>
              </a:spcBef>
              <a:spcAft>
                <a:spcPts val="100"/>
              </a:spcAft>
            </a:pPr>
            <a:r>
              <a:rPr sz="1100">
                <a:solidFill>
                  <a:srgbClr val="000000"/>
                </a:solidFill>
                <a:latin typeface="Calibri"/>
              </a:rPr>
              <a:t>                oldEmail: this.oldEmail,</a:t>
            </a:r>
          </a:p>
          <a:p>
            <a:pPr algn="l">
              <a:lnSpc>
                <a:spcPct val="110000"/>
              </a:lnSpc>
              <a:spcBef>
                <a:spcPts val="100"/>
              </a:spcBef>
              <a:spcAft>
                <a:spcPts val="100"/>
              </a:spcAft>
            </a:pPr>
            <a:r>
              <a:rPr sz="1100">
                <a:solidFill>
                  <a:srgbClr val="000000"/>
                </a:solidFill>
                <a:latin typeface="Calibri"/>
              </a:rPr>
              <a:t>                newEmail: this.newEmail,</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Event Store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400">
                <a:solidFill>
                  <a:srgbClr val="000000"/>
                </a:solidFill>
                <a:latin typeface="Calibri"/>
              </a:rPr>
              <a:t>```sql</a:t>
            </a:r>
          </a:p>
          <a:p>
            <a:pPr algn="l">
              <a:lnSpc>
                <a:spcPct val="110000"/>
              </a:lnSpc>
              <a:spcBef>
                <a:spcPts val="100"/>
              </a:spcBef>
              <a:spcAft>
                <a:spcPts val="100"/>
              </a:spcAft>
            </a:pPr>
            <a:r>
              <a:rPr sz="1400">
                <a:solidFill>
                  <a:srgbClr val="000000"/>
                </a:solidFill>
                <a:latin typeface="Calibri"/>
              </a:rPr>
              <a:t>-- Event Store Schema</a:t>
            </a:r>
          </a:p>
          <a:p>
            <a:pPr algn="l">
              <a:lnSpc>
                <a:spcPct val="110000"/>
              </a:lnSpc>
              <a:spcBef>
                <a:spcPts val="100"/>
              </a:spcBef>
              <a:spcAft>
                <a:spcPts val="100"/>
              </a:spcAft>
            </a:pPr>
            <a:r>
              <a:rPr sz="1400">
                <a:solidFill>
                  <a:srgbClr val="000000"/>
                </a:solidFill>
                <a:latin typeface="Calibri"/>
              </a:rPr>
              <a:t>CREATE TABLE events (</a:t>
            </a:r>
          </a:p>
          <a:p>
            <a:pPr algn="l">
              <a:lnSpc>
                <a:spcPct val="110000"/>
              </a:lnSpc>
              <a:spcBef>
                <a:spcPts val="100"/>
              </a:spcBef>
              <a:spcAft>
                <a:spcPts val="100"/>
              </a:spcAft>
            </a:pPr>
            <a:r>
              <a:rPr sz="1400">
                <a:solidFill>
                  <a:srgbClr val="000000"/>
                </a:solidFill>
                <a:latin typeface="Calibri"/>
              </a:rPr>
              <a:t>    id BIGSERIAL PRIMARY KEY,</a:t>
            </a:r>
          </a:p>
          <a:p>
            <a:pPr algn="l">
              <a:lnSpc>
                <a:spcPct val="110000"/>
              </a:lnSpc>
              <a:spcBef>
                <a:spcPts val="100"/>
              </a:spcBef>
              <a:spcAft>
                <a:spcPts val="100"/>
              </a:spcAft>
            </a:pPr>
            <a:r>
              <a:rPr sz="1400">
                <a:solidFill>
                  <a:srgbClr val="000000"/>
                </a:solidFill>
                <a:latin typeface="Calibri"/>
              </a:rPr>
              <a:t>    event_id UUID NOT NULL UNIQUE,</a:t>
            </a:r>
          </a:p>
          <a:p>
            <a:pPr algn="l">
              <a:lnSpc>
                <a:spcPct val="110000"/>
              </a:lnSpc>
              <a:spcBef>
                <a:spcPts val="100"/>
              </a:spcBef>
              <a:spcAft>
                <a:spcPts val="100"/>
              </a:spcAft>
            </a:pPr>
            <a:r>
              <a:rPr sz="1400">
                <a:solidFill>
                  <a:srgbClr val="000000"/>
                </a:solidFill>
                <a:latin typeface="Calibri"/>
              </a:rPr>
              <a:t>    aggregate_id UUID NOT NULL,</a:t>
            </a:r>
          </a:p>
          <a:p>
            <a:pPr algn="l">
              <a:lnSpc>
                <a:spcPct val="110000"/>
              </a:lnSpc>
              <a:spcBef>
                <a:spcPts val="100"/>
              </a:spcBef>
              <a:spcAft>
                <a:spcPts val="100"/>
              </a:spcAft>
            </a:pPr>
            <a:r>
              <a:rPr sz="1400">
                <a:solidFill>
                  <a:srgbClr val="000000"/>
                </a:solidFill>
                <a:latin typeface="Calibri"/>
              </a:rPr>
              <a:t>    aggregate_type VARCHAR(50) NOT NULL,</a:t>
            </a:r>
          </a:p>
          <a:p>
            <a:pPr algn="l">
              <a:lnSpc>
                <a:spcPct val="110000"/>
              </a:lnSpc>
              <a:spcBef>
                <a:spcPts val="100"/>
              </a:spcBef>
              <a:spcAft>
                <a:spcPts val="100"/>
              </a:spcAft>
            </a:pPr>
            <a:r>
              <a:rPr sz="1400">
                <a:solidFill>
                  <a:srgbClr val="000000"/>
                </a:solidFill>
                <a:latin typeface="Calibri"/>
              </a:rPr>
              <a:t>    event_type VARCHAR(50) NOT NULL,</a:t>
            </a:r>
          </a:p>
          <a:p>
            <a:pPr algn="l">
              <a:lnSpc>
                <a:spcPct val="110000"/>
              </a:lnSpc>
              <a:spcBef>
                <a:spcPts val="100"/>
              </a:spcBef>
              <a:spcAft>
                <a:spcPts val="100"/>
              </a:spcAft>
            </a:pPr>
            <a:r>
              <a:rPr sz="1400">
                <a:solidFill>
                  <a:srgbClr val="000000"/>
                </a:solidFill>
                <a:latin typeface="Calibri"/>
              </a:rPr>
              <a:t>    version INTEGER NOT NULL,</a:t>
            </a:r>
          </a:p>
          <a:p>
            <a:pPr algn="l">
              <a:lnSpc>
                <a:spcPct val="110000"/>
              </a:lnSpc>
              <a:spcBef>
                <a:spcPts val="100"/>
              </a:spcBef>
              <a:spcAft>
                <a:spcPts val="100"/>
              </a:spcAft>
            </a:pPr>
            <a:r>
              <a:rPr sz="1400">
                <a:solidFill>
                  <a:srgbClr val="000000"/>
                </a:solidFill>
                <a:latin typeface="Calibri"/>
              </a:rPr>
              <a:t>    occurred_at TIMESTAMP WITH TIME ZONE NOT NULL,</a:t>
            </a:r>
          </a:p>
          <a:p>
            <a:pPr algn="l">
              <a:lnSpc>
                <a:spcPct val="110000"/>
              </a:lnSpc>
              <a:spcBef>
                <a:spcPts val="100"/>
              </a:spcBef>
              <a:spcAft>
                <a:spcPts val="100"/>
              </a:spcAft>
            </a:pPr>
            <a:r>
              <a:rPr sz="1400">
                <a:solidFill>
                  <a:srgbClr val="000000"/>
                </a:solidFill>
                <a:latin typeface="Calibri"/>
              </a:rPr>
              <a:t>    data JSONB NOT NULL,</a:t>
            </a:r>
          </a:p>
          <a:p>
            <a:pPr algn="l">
              <a:lnSpc>
                <a:spcPct val="110000"/>
              </a:lnSpc>
              <a:spcBef>
                <a:spcPts val="100"/>
              </a:spcBef>
              <a:spcAft>
                <a:spcPts val="100"/>
              </a:spcAft>
            </a:pPr>
            <a:r>
              <a:rPr sz="1400">
                <a:solidFill>
                  <a:srgbClr val="000000"/>
                </a:solidFill>
                <a:latin typeface="Calibri"/>
              </a:rPr>
              <a:t>    created_at TIMESTAMP WITH TIME ZONE NOT NULL DEFAULT NOW()</a:t>
            </a:r>
          </a:p>
          <a:p>
            <a:pPr algn="l">
              <a:lnSpc>
                <a:spcPct val="110000"/>
              </a:lnSpc>
              <a:spcBef>
                <a:spcPts val="100"/>
              </a:spcBef>
              <a:spcAft>
                <a:spcPts val="100"/>
              </a:spcAft>
            </a:pPr>
            <a:r>
              <a:rPr sz="1400">
                <a:solidFill>
                  <a:srgbClr val="000000"/>
                </a:solidFill>
                <a:latin typeface="Calibri"/>
              </a:rPr>
              <a:t>);</a:t>
            </a:r>
          </a:p>
          <a:p>
            <a:pPr algn="l">
              <a:lnSpc>
                <a:spcPct val="110000"/>
              </a:lnSpc>
              <a:spcBef>
                <a:spcPts val="100"/>
              </a:spcBef>
              <a:spcAft>
                <a:spcPts val="100"/>
              </a:spcAft>
            </a:pPr>
            <a:r>
              <a:rPr sz="1400">
                <a:solidFill>
                  <a:srgbClr val="000000"/>
                </a:solidFill>
                <a:latin typeface="Calibri"/>
              </a:rPr>
              <a:t>-- Indexes</a:t>
            </a:r>
          </a:p>
          <a:p>
            <a:pPr algn="l">
              <a:lnSpc>
                <a:spcPct val="110000"/>
              </a:lnSpc>
              <a:spcBef>
                <a:spcPts val="100"/>
              </a:spcBef>
              <a:spcAft>
                <a:spcPts val="100"/>
              </a:spcAft>
            </a:pPr>
            <a:r>
              <a:rPr sz="1400">
                <a:solidFill>
                  <a:srgbClr val="000000"/>
                </a:solidFill>
                <a:latin typeface="Calibri"/>
              </a:rPr>
              <a:t>CREATE INDEX idx_events_aggregate_id_version ON events(aggregate_id, version);</a:t>
            </a:r>
          </a:p>
          <a:p>
            <a:pPr algn="l">
              <a:lnSpc>
                <a:spcPct val="110000"/>
              </a:lnSpc>
              <a:spcBef>
                <a:spcPts val="100"/>
              </a:spcBef>
              <a:spcAft>
                <a:spcPts val="100"/>
              </a:spcAft>
            </a:pPr>
            <a:r>
              <a:rPr sz="1400">
                <a:solidFill>
                  <a:srgbClr val="000000"/>
                </a:solidFill>
                <a:latin typeface="Calibri"/>
              </a:rPr>
              <a:t>CREATE INDEX idx_events_event_type ON events(event_type);</a:t>
            </a:r>
          </a:p>
          <a:p>
            <a:pPr algn="l">
              <a:lnSpc>
                <a:spcPct val="110000"/>
              </a:lnSpc>
              <a:spcBef>
                <a:spcPts val="100"/>
              </a:spcBef>
              <a:spcAft>
                <a:spcPts val="100"/>
              </a:spcAft>
            </a:pPr>
            <a:r>
              <a:rPr sz="1400">
                <a:solidFill>
                  <a:srgbClr val="000000"/>
                </a:solidFill>
                <a:latin typeface="Calibri"/>
              </a:rPr>
              <a:t>CREATE INDEX idx_events_occurred_at ON events(occurred_at DESC);</a:t>
            </a:r>
          </a:p>
          <a:p>
            <a:pPr algn="l">
              <a:lnSpc>
                <a:spcPct val="110000"/>
              </a:lnSpc>
              <a:spcBef>
                <a:spcPts val="100"/>
              </a:spcBef>
              <a:spcAft>
                <a:spcPts val="100"/>
              </a:spcAft>
            </a:pPr>
            <a:r>
              <a:rPr sz="1400">
                <a:solidFill>
                  <a:srgbClr val="000000"/>
                </a:solidFill>
                <a:latin typeface="Calibri"/>
              </a:rPr>
              <a:t>-- Appending Events</a:t>
            </a:r>
          </a:p>
          <a:p>
            <a:pPr algn="l">
              <a:lnSpc>
                <a:spcPct val="110000"/>
              </a:lnSpc>
              <a:spcBef>
                <a:spcPts val="100"/>
              </a:spcBef>
              <a:spcAft>
                <a:spcPts val="100"/>
              </a:spcAft>
            </a:pPr>
            <a:r>
              <a:rPr sz="1400">
                <a:solidFill>
                  <a:srgbClr val="000000"/>
                </a:solidFill>
                <a:latin typeface="Calibri"/>
              </a:rPr>
              <a:t>INSERT INTO events (event_id, aggregate_id, aggregate_type, event_type, version, occurred_at, data)</a:t>
            </a:r>
          </a:p>
          <a:p>
            <a:pPr algn="l">
              <a:lnSpc>
                <a:spcPct val="110000"/>
              </a:lnSpc>
              <a:spcBef>
                <a:spcPts val="100"/>
              </a:spcBef>
              <a:spcAft>
                <a:spcPts val="100"/>
              </a:spcAft>
            </a:pPr>
            <a:r>
              <a:rPr sz="1400">
                <a:solidFill>
                  <a:srgbClr val="000000"/>
                </a:solidFill>
                <a:latin typeface="Calibri"/>
              </a:rPr>
              <a:t>VALUES ($1, $2, $3, $4, $5, $6, $7);</a:t>
            </a:r>
          </a:p>
          <a:p>
            <a:pPr algn="l">
              <a:lnSpc>
                <a:spcPct val="110000"/>
              </a:lnSpc>
              <a:spcBef>
                <a:spcPts val="100"/>
              </a:spcBef>
              <a:spcAft>
                <a:spcPts val="100"/>
              </a:spcAft>
            </a:pPr>
            <a:r>
              <a:rPr sz="1400">
                <a:solidFill>
                  <a:srgbClr val="000000"/>
                </a:solidFill>
                <a:latin typeface="Calibri"/>
              </a:rPr>
              <a:t>-- Retrieving Events</a:t>
            </a:r>
          </a:p>
          <a:p>
            <a:pPr algn="l">
              <a:lnSpc>
                <a:spcPct val="110000"/>
              </a:lnSpc>
              <a:spcBef>
                <a:spcPts val="100"/>
              </a:spcBef>
              <a:spcAft>
                <a:spcPts val="100"/>
              </a:spcAft>
            </a:pPr>
            <a:r>
              <a:rPr sz="1400">
                <a:solidFill>
                  <a:srgbClr val="000000"/>
                </a:solidFill>
                <a:latin typeface="Calibri"/>
              </a:rPr>
              <a:t>SELECT * FROM events</a:t>
            </a:r>
          </a:p>
          <a:p>
            <a:pPr algn="l">
              <a:lnSpc>
                <a:spcPct val="110000"/>
              </a:lnSpc>
              <a:spcBef>
                <a:spcPts val="100"/>
              </a:spcBef>
              <a:spcAft>
                <a:spcPts val="100"/>
              </a:spcAft>
            </a:pPr>
            <a:r>
              <a:rPr sz="1400">
                <a:solidFill>
                  <a:srgbClr val="000000"/>
                </a:solidFill>
                <a:latin typeface="Calibri"/>
              </a:rPr>
              <a:t>WHERE aggregate_id = $1</a:t>
            </a:r>
          </a:p>
          <a:p>
            <a:pPr algn="l">
              <a:lnSpc>
                <a:spcPct val="110000"/>
              </a:lnSpc>
              <a:spcBef>
                <a:spcPts val="100"/>
              </a:spcBef>
              <a:spcAft>
                <a:spcPts val="100"/>
              </a:spcAft>
            </a:pPr>
            <a:r>
              <a:rPr sz="1400">
                <a:solidFill>
                  <a:srgbClr val="000000"/>
                </a:solidFill>
                <a:latin typeface="Calibri"/>
              </a:rPr>
              <a:t>ORDER BY version ASC;</a:t>
            </a:r>
          </a:p>
          <a:p>
            <a:pPr algn="l">
              <a:lnSpc>
                <a:spcPct val="110000"/>
              </a:lnSpc>
              <a:spcBef>
                <a:spcPts val="100"/>
              </a:spcBef>
              <a:spcAft>
                <a:spcPts val="100"/>
              </a:spcAft>
            </a:pPr>
            <a:r>
              <a:rPr sz="1400">
                <a:solidFill>
                  <a:srgbClr val="000000"/>
                </a:solidFill>
                <a:latin typeface="Calibri"/>
              </a:rPr>
              <a: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Building Read Models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```typescript</a:t>
            </a:r>
          </a:p>
          <a:p>
            <a:pPr algn="l">
              <a:lnSpc>
                <a:spcPct val="110000"/>
              </a:lnSpc>
              <a:spcBef>
                <a:spcPts val="100"/>
              </a:spcBef>
              <a:spcAft>
                <a:spcPts val="100"/>
              </a:spcAft>
            </a:pPr>
            <a:r>
              <a:rPr sz="1100">
                <a:solidFill>
                  <a:srgbClr val="000000"/>
                </a:solidFill>
                <a:latin typeface="Calibri"/>
              </a:rPr>
              <a:t>class UserProjection {</a:t>
            </a:r>
          </a:p>
          <a:p>
            <a:pPr algn="l">
              <a:lnSpc>
                <a:spcPct val="110000"/>
              </a:lnSpc>
              <a:spcBef>
                <a:spcPts val="100"/>
              </a:spcBef>
              <a:spcAft>
                <a:spcPts val="100"/>
              </a:spcAft>
            </a:pPr>
            <a:r>
              <a:rPr sz="1100">
                <a:solidFill>
                  <a:srgbClr val="000000"/>
                </a:solidFill>
                <a:latin typeface="Calibri"/>
              </a:rPr>
              <a:t>    async processEvent(event: DomainEvent): Promise&lt;void&gt; {</a:t>
            </a:r>
          </a:p>
          <a:p>
            <a:pPr algn="l">
              <a:lnSpc>
                <a:spcPct val="110000"/>
              </a:lnSpc>
              <a:spcBef>
                <a:spcPts val="100"/>
              </a:spcBef>
              <a:spcAft>
                <a:spcPts val="100"/>
              </a:spcAft>
            </a:pPr>
            <a:r>
              <a:rPr sz="1100">
                <a:solidFill>
                  <a:srgbClr val="000000"/>
                </a:solidFill>
                <a:latin typeface="Calibri"/>
              </a:rPr>
              <a:t>        switch (event.eventType) {</a:t>
            </a:r>
          </a:p>
          <a:p>
            <a:pPr algn="l">
              <a:lnSpc>
                <a:spcPct val="110000"/>
              </a:lnSpc>
              <a:spcBef>
                <a:spcPts val="100"/>
              </a:spcBef>
              <a:spcAft>
                <a:spcPts val="100"/>
              </a:spcAft>
            </a:pPr>
            <a:r>
              <a:rPr sz="1100">
                <a:solidFill>
                  <a:srgbClr val="000000"/>
                </a:solidFill>
                <a:latin typeface="Calibri"/>
              </a:rPr>
              <a:t>            case 'UserCreated':</a:t>
            </a:r>
          </a:p>
          <a:p>
            <a:pPr algn="l">
              <a:lnSpc>
                <a:spcPct val="110000"/>
              </a:lnSpc>
              <a:spcBef>
                <a:spcPts val="100"/>
              </a:spcBef>
              <a:spcAft>
                <a:spcPts val="100"/>
              </a:spcAft>
            </a:pPr>
            <a:r>
              <a:rPr sz="1100">
                <a:solidFill>
                  <a:srgbClr val="000000"/>
                </a:solidFill>
                <a:latin typeface="Calibri"/>
              </a:rPr>
              <a:t>                await this.handleUserCreated(event);</a:t>
            </a:r>
          </a:p>
          <a:p>
            <a:pPr algn="l">
              <a:lnSpc>
                <a:spcPct val="110000"/>
              </a:lnSpc>
              <a:spcBef>
                <a:spcPts val="100"/>
              </a:spcBef>
              <a:spcAft>
                <a:spcPts val="100"/>
              </a:spcAft>
            </a:pPr>
            <a:r>
              <a:rPr sz="1100">
                <a:solidFill>
                  <a:srgbClr val="000000"/>
                </a:solidFill>
                <a:latin typeface="Calibri"/>
              </a:rPr>
              <a:t>                break;</a:t>
            </a:r>
          </a:p>
          <a:p>
            <a:pPr algn="l">
              <a:lnSpc>
                <a:spcPct val="110000"/>
              </a:lnSpc>
              <a:spcBef>
                <a:spcPts val="100"/>
              </a:spcBef>
              <a:spcAft>
                <a:spcPts val="100"/>
              </a:spcAft>
            </a:pPr>
            <a:r>
              <a:rPr sz="1100">
                <a:solidFill>
                  <a:srgbClr val="000000"/>
                </a:solidFill>
                <a:latin typeface="Calibri"/>
              </a:rPr>
              <a:t>            case 'UserEmailChanged':</a:t>
            </a:r>
          </a:p>
          <a:p>
            <a:pPr algn="l">
              <a:lnSpc>
                <a:spcPct val="110000"/>
              </a:lnSpc>
              <a:spcBef>
                <a:spcPts val="100"/>
              </a:spcBef>
              <a:spcAft>
                <a:spcPts val="100"/>
              </a:spcAft>
            </a:pPr>
            <a:r>
              <a:rPr sz="1100">
                <a:solidFill>
                  <a:srgbClr val="000000"/>
                </a:solidFill>
                <a:latin typeface="Calibri"/>
              </a:rPr>
              <a:t>                await this.handleUserEmailChanged(event);</a:t>
            </a:r>
          </a:p>
          <a:p>
            <a:pPr algn="l">
              <a:lnSpc>
                <a:spcPct val="110000"/>
              </a:lnSpc>
              <a:spcBef>
                <a:spcPts val="100"/>
              </a:spcBef>
              <a:spcAft>
                <a:spcPts val="100"/>
              </a:spcAft>
            </a:pPr>
            <a:r>
              <a:rPr sz="1100">
                <a:solidFill>
                  <a:srgbClr val="000000"/>
                </a:solidFill>
                <a:latin typeface="Calibri"/>
              </a:rPr>
              <a:t>                break;</a:t>
            </a:r>
          </a:p>
          <a:p>
            <a:pPr algn="l">
              <a:lnSpc>
                <a:spcPct val="110000"/>
              </a:lnSpc>
              <a:spcBef>
                <a:spcPts val="100"/>
              </a:spcBef>
              <a:spcAft>
                <a:spcPts val="100"/>
              </a:spcAft>
            </a:pPr>
            <a:r>
              <a:rPr sz="1100">
                <a:solidFill>
                  <a:srgbClr val="000000"/>
                </a:solidFill>
                <a:latin typeface="Calibri"/>
              </a:rPr>
              <a:t>            case 'UserProfileUpdated':</a:t>
            </a:r>
          </a:p>
          <a:p>
            <a:pPr algn="l">
              <a:lnSpc>
                <a:spcPct val="110000"/>
              </a:lnSpc>
              <a:spcBef>
                <a:spcPts val="100"/>
              </a:spcBef>
              <a:spcAft>
                <a:spcPts val="100"/>
              </a:spcAft>
            </a:pPr>
            <a:r>
              <a:rPr sz="1100">
                <a:solidFill>
                  <a:srgbClr val="000000"/>
                </a:solidFill>
                <a:latin typeface="Calibri"/>
              </a:rPr>
              <a:t>                await this.handleUserProfileUpdated(event);</a:t>
            </a:r>
          </a:p>
          <a:p>
            <a:pPr algn="l">
              <a:lnSpc>
                <a:spcPct val="110000"/>
              </a:lnSpc>
              <a:spcBef>
                <a:spcPts val="100"/>
              </a:spcBef>
              <a:spcAft>
                <a:spcPts val="100"/>
              </a:spcAft>
            </a:pPr>
            <a:r>
              <a:rPr sz="1100">
                <a:solidFill>
                  <a:srgbClr val="000000"/>
                </a:solidFill>
                <a:latin typeface="Calibri"/>
              </a:rPr>
              <a:t>                break;</a:t>
            </a:r>
          </a:p>
          <a:p>
            <a:pPr algn="l">
              <a:lnSpc>
                <a:spcPct val="110000"/>
              </a:lnSpc>
              <a:spcBef>
                <a:spcPts val="100"/>
              </a:spcBef>
              <a:spcAft>
                <a:spcPts val="100"/>
              </a:spcAft>
            </a:pPr>
            <a:r>
              <a:rPr sz="1100">
                <a:solidFill>
                  <a:srgbClr val="000000"/>
                </a:solidFill>
                <a:latin typeface="Calibri"/>
              </a:rPr>
              <a:t>            case 'UserDeactivated':</a:t>
            </a:r>
          </a:p>
          <a:p>
            <a:pPr algn="l">
              <a:lnSpc>
                <a:spcPct val="110000"/>
              </a:lnSpc>
              <a:spcBef>
                <a:spcPts val="100"/>
              </a:spcBef>
              <a:spcAft>
                <a:spcPts val="100"/>
              </a:spcAft>
            </a:pPr>
            <a:r>
              <a:rPr sz="1100">
                <a:solidFill>
                  <a:srgbClr val="000000"/>
                </a:solidFill>
                <a:latin typeface="Calibri"/>
              </a:rPr>
              <a:t>                await this.handleUserDeactivated(event);</a:t>
            </a:r>
          </a:p>
          <a:p>
            <a:pPr algn="l">
              <a:lnSpc>
                <a:spcPct val="110000"/>
              </a:lnSpc>
              <a:spcBef>
                <a:spcPts val="100"/>
              </a:spcBef>
              <a:spcAft>
                <a:spcPts val="100"/>
              </a:spcAft>
            </a:pPr>
            <a:r>
              <a:rPr sz="1100">
                <a:solidFill>
                  <a:srgbClr val="000000"/>
                </a:solidFill>
                <a:latin typeface="Calibri"/>
              </a:rPr>
              <a:t>                break;</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private async handleUserCreated(event: UserCreatedEvent): Promise&lt;void&gt; {</a:t>
            </a:r>
          </a:p>
          <a:p>
            <a:pPr algn="l">
              <a:lnSpc>
                <a:spcPct val="110000"/>
              </a:lnSpc>
              <a:spcBef>
                <a:spcPts val="100"/>
              </a:spcBef>
              <a:spcAft>
                <a:spcPts val="100"/>
              </a:spcAft>
            </a:pPr>
            <a:r>
              <a:rPr sz="1100">
                <a:solidFill>
                  <a:srgbClr val="000000"/>
                </a:solidFill>
                <a:latin typeface="Calibri"/>
              </a:rPr>
              <a:t>        await this.db.query(</a:t>
            </a:r>
          </a:p>
          <a:p>
            <a:pPr algn="l">
              <a:lnSpc>
                <a:spcPct val="110000"/>
              </a:lnSpc>
              <a:spcBef>
                <a:spcPts val="100"/>
              </a:spcBef>
              <a:spcAft>
                <a:spcPts val="100"/>
              </a:spcAft>
            </a:pPr>
            <a:r>
              <a:rPr sz="1100">
                <a:solidFill>
                  <a:srgbClr val="000000"/>
                </a:solidFill>
                <a:latin typeface="Calibri"/>
              </a:rPr>
              <a:t>            `INSERT INTO user_read_model (id, email, username, first_name, last_name, is_active, created_at, updated_at)</a:t>
            </a:r>
          </a:p>
          <a:p>
            <a:pPr algn="l">
              <a:lnSpc>
                <a:spcPct val="110000"/>
              </a:lnSpc>
              <a:spcBef>
                <a:spcPts val="100"/>
              </a:spcBef>
              <a:spcAft>
                <a:spcPts val="100"/>
              </a:spcAft>
            </a:pPr>
            <a:r>
              <a:rPr sz="1100">
                <a:solidFill>
                  <a:srgbClr val="000000"/>
                </a:solidFill>
                <a:latin typeface="Calibri"/>
              </a:rPr>
              <a:t>             VALUES ($1, $2, $3, $4, $5, $6, $7, $8)`,</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event.aggregateId,</a:t>
            </a:r>
          </a:p>
          <a:p>
            <a:pPr algn="l">
              <a:lnSpc>
                <a:spcPct val="110000"/>
              </a:lnSpc>
              <a:spcBef>
                <a:spcPts val="100"/>
              </a:spcBef>
              <a:spcAft>
                <a:spcPts val="100"/>
              </a:spcAft>
            </a:pPr>
            <a:r>
              <a:rPr sz="1100">
                <a:solidFill>
                  <a:srgbClr val="000000"/>
                </a:solidFill>
                <a:latin typeface="Calibri"/>
              </a:rPr>
              <a:t>                event.email,</a:t>
            </a:r>
          </a:p>
          <a:p>
            <a:pPr algn="l">
              <a:lnSpc>
                <a:spcPct val="110000"/>
              </a:lnSpc>
              <a:spcBef>
                <a:spcPts val="100"/>
              </a:spcBef>
              <a:spcAft>
                <a:spcPts val="100"/>
              </a:spcAft>
            </a:pPr>
            <a:r>
              <a:rPr sz="1100">
                <a:solidFill>
                  <a:srgbClr val="000000"/>
                </a:solidFill>
                <a:latin typeface="Calibri"/>
              </a:rPr>
              <a:t>                event.username,</a:t>
            </a:r>
          </a:p>
          <a:p>
            <a:pPr algn="l">
              <a:lnSpc>
                <a:spcPct val="110000"/>
              </a:lnSpc>
              <a:spcBef>
                <a:spcPts val="100"/>
              </a:spcBef>
              <a:spcAft>
                <a:spcPts val="100"/>
              </a:spcAft>
            </a:pPr>
            <a:r>
              <a:rPr sz="1100">
                <a:solidFill>
                  <a:srgbClr val="000000"/>
                </a:solidFill>
                <a:latin typeface="Calibri"/>
              </a:rPr>
              <a:t>                event.firstName,</a:t>
            </a:r>
          </a:p>
          <a:p>
            <a:pPr algn="l">
              <a:lnSpc>
                <a:spcPct val="110000"/>
              </a:lnSpc>
              <a:spcBef>
                <a:spcPts val="100"/>
              </a:spcBef>
              <a:spcAft>
                <a:spcPts val="100"/>
              </a:spcAft>
            </a:pPr>
            <a:r>
              <a:rPr sz="1100">
                <a:solidFill>
                  <a:srgbClr val="000000"/>
                </a:solidFill>
                <a:latin typeface="Calibri"/>
              </a:rPr>
              <a:t>                event.lastName,</a:t>
            </a:r>
          </a:p>
          <a:p>
            <a:pPr algn="l">
              <a:lnSpc>
                <a:spcPct val="110000"/>
              </a:lnSpc>
              <a:spcBef>
                <a:spcPts val="100"/>
              </a:spcBef>
              <a:spcAft>
                <a:spcPts val="100"/>
              </a:spcAft>
            </a:pPr>
            <a:r>
              <a:rPr sz="1100">
                <a:solidFill>
                  <a:srgbClr val="000000"/>
                </a:solidFill>
                <a:latin typeface="Calibri"/>
              </a:rPr>
              <a:t>                true,</a:t>
            </a:r>
          </a:p>
          <a:p>
            <a:pPr algn="l">
              <a:lnSpc>
                <a:spcPct val="110000"/>
              </a:lnSpc>
              <a:spcBef>
                <a:spcPts val="100"/>
              </a:spcBef>
              <a:spcAft>
                <a:spcPts val="100"/>
              </a:spcAft>
            </a:pPr>
            <a:r>
              <a:rPr sz="1100">
                <a:solidFill>
                  <a:srgbClr val="000000"/>
                </a:solidFill>
                <a:latin typeface="Calibri"/>
              </a:rPr>
              <a:t>                event.occurredAt,</a:t>
            </a:r>
          </a:p>
          <a:p>
            <a:pPr algn="l">
              <a:lnSpc>
                <a:spcPct val="110000"/>
              </a:lnSpc>
              <a:spcBef>
                <a:spcPts val="100"/>
              </a:spcBef>
              <a:spcAft>
                <a:spcPts val="100"/>
              </a:spcAft>
            </a:pPr>
            <a:r>
              <a:rPr sz="1100">
                <a:solidFill>
                  <a:srgbClr val="000000"/>
                </a:solidFill>
                <a:latin typeface="Calibri"/>
              </a:rPr>
              <a:t>                event.occurredAt,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private async handleUserEmailChanged(event: UserEmailChangedEvent): Promise&lt;void&gt; {</a:t>
            </a:r>
          </a:p>
          <a:p>
            <a:pPr algn="l">
              <a:lnSpc>
                <a:spcPct val="110000"/>
              </a:lnSpc>
              <a:spcBef>
                <a:spcPts val="100"/>
              </a:spcBef>
              <a:spcAft>
                <a:spcPts val="100"/>
              </a:spcAft>
            </a:pPr>
            <a:r>
              <a:rPr sz="1100">
                <a:solidFill>
                  <a:srgbClr val="000000"/>
                </a:solidFill>
                <a:latin typeface="Calibri"/>
              </a:rPr>
              <a:t>        await this.db.query(</a:t>
            </a:r>
          </a:p>
          <a:p>
            <a:pPr algn="l">
              <a:lnSpc>
                <a:spcPct val="110000"/>
              </a:lnSpc>
              <a:spcBef>
                <a:spcPts val="100"/>
              </a:spcBef>
              <a:spcAft>
                <a:spcPts val="100"/>
              </a:spcAft>
            </a:pPr>
            <a:r>
              <a:rPr sz="1100">
                <a:solidFill>
                  <a:srgbClr val="000000"/>
                </a:solidFill>
                <a:latin typeface="Calibri"/>
              </a:rPr>
              <a:t>            `UPDATE user_read_model SET email = $1, updated_at = $2 WHERE id = $3`,</a:t>
            </a:r>
          </a:p>
          <a:p>
            <a:pPr algn="l">
              <a:lnSpc>
                <a:spcPct val="110000"/>
              </a:lnSpc>
              <a:spcBef>
                <a:spcPts val="100"/>
              </a:spcBef>
              <a:spcAft>
                <a:spcPts val="100"/>
              </a:spcAft>
            </a:pPr>
            <a:r>
              <a:rPr sz="1100">
                <a:solidFill>
                  <a:srgbClr val="000000"/>
                </a:solidFill>
                <a:latin typeface="Calibri"/>
              </a:rPr>
              <a:t>            [event.newEmail, event.occurredAt, event.aggregateId]</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 Rebuild from scratch</a:t>
            </a:r>
          </a:p>
          <a:p>
            <a:pPr algn="l">
              <a:lnSpc>
                <a:spcPct val="110000"/>
              </a:lnSpc>
              <a:spcBef>
                <a:spcPts val="100"/>
              </a:spcBef>
              <a:spcAft>
                <a:spcPts val="100"/>
              </a:spcAft>
            </a:pPr>
            <a:r>
              <a:rPr sz="1100">
                <a:solidFill>
                  <a:srgbClr val="000000"/>
                </a:solidFill>
                <a:latin typeface="Calibri"/>
              </a:rPr>
              <a:t>    async rebuild(): Promise&lt;void&gt; {</a:t>
            </a:r>
          </a:p>
          <a:p>
            <a:pPr algn="l">
              <a:lnSpc>
                <a:spcPct val="110000"/>
              </a:lnSpc>
              <a:spcBef>
                <a:spcPts val="100"/>
              </a:spcBef>
              <a:spcAft>
                <a:spcPts val="100"/>
              </a:spcAft>
            </a:pPr>
            <a:r>
              <a:rPr sz="1100">
                <a:solidFill>
                  <a:srgbClr val="000000"/>
                </a:solidFill>
                <a:latin typeface="Calibri"/>
              </a:rPr>
              <a:t>        await this.db.query('TRUNCATE user_read_model');</a:t>
            </a:r>
          </a:p>
          <a:p>
            <a:pPr algn="l">
              <a:lnSpc>
                <a:spcPct val="110000"/>
              </a:lnSpc>
              <a:spcBef>
                <a:spcPts val="100"/>
              </a:spcBef>
              <a:spcAft>
                <a:spcPts val="100"/>
              </a:spcAft>
            </a:pPr>
            <a:r>
              <a:rPr sz="1100">
                <a:solidFill>
                  <a:srgbClr val="000000"/>
                </a:solidFill>
                <a:latin typeface="Calibri"/>
              </a:rPr>
              <a:t>        const events = await this.eventStore.getEventsByType('User');</a:t>
            </a:r>
          </a:p>
          <a:p>
            <a:pPr algn="l">
              <a:lnSpc>
                <a:spcPct val="110000"/>
              </a:lnSpc>
              <a:spcBef>
                <a:spcPts val="100"/>
              </a:spcBef>
              <a:spcAft>
                <a:spcPts val="100"/>
              </a:spcAft>
            </a:pPr>
            <a:r>
              <a:rPr sz="1100">
                <a:solidFill>
                  <a:srgbClr val="000000"/>
                </a:solidFill>
                <a:latin typeface="Calibri"/>
              </a:rPr>
              <a:t>        for (const event of events) {</a:t>
            </a:r>
          </a:p>
          <a:p>
            <a:pPr algn="l">
              <a:lnSpc>
                <a:spcPct val="110000"/>
              </a:lnSpc>
              <a:spcBef>
                <a:spcPts val="100"/>
              </a:spcBef>
              <a:spcAft>
                <a:spcPts val="100"/>
              </a:spcAft>
            </a:pPr>
            <a:r>
              <a:rPr sz="1100">
                <a:solidFill>
                  <a:srgbClr val="000000"/>
                </a:solidFill>
                <a:latin typeface="Calibri"/>
              </a:rPr>
              <a:t>            await this.processEvent(event);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Event Versioning</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EVENT VERSIONING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Version 1: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UserCreated { id, name, email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Version 2: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UserCreated { id, firstName, lastName, email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Upcaster: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class UserCreatedUpcaster {                          │   │</a:t>
            </a:r>
          </a:p>
          <a:p>
            <a:pPr algn="l">
              <a:lnSpc>
                <a:spcPct val="110000"/>
              </a:lnSpc>
              <a:spcBef>
                <a:spcPts val="100"/>
              </a:spcBef>
              <a:spcAft>
                <a:spcPts val="100"/>
              </a:spcAft>
            </a:pPr>
            <a:r>
              <a:rPr sz="1200">
                <a:solidFill>
                  <a:srgbClr val="000000"/>
                </a:solidFill>
                <a:latin typeface="Calibri"/>
              </a:rPr>
              <a:t>│  │    upcast(event: any): any {                         │   │</a:t>
            </a:r>
          </a:p>
          <a:p>
            <a:pPr algn="l">
              <a:lnSpc>
                <a:spcPct val="110000"/>
              </a:lnSpc>
              <a:spcBef>
                <a:spcPts val="100"/>
              </a:spcBef>
              <a:spcAft>
                <a:spcPts val="100"/>
              </a:spcAft>
            </a:pPr>
            <a:r>
              <a:rPr sz="1200">
                <a:solidFill>
                  <a:srgbClr val="000000"/>
                </a:solidFill>
                <a:latin typeface="Calibri"/>
              </a:rPr>
              <a:t>│  │      // Version 1 → Version 2                       │   │</a:t>
            </a:r>
          </a:p>
          <a:p>
            <a:pPr algn="l">
              <a:lnSpc>
                <a:spcPct val="110000"/>
              </a:lnSpc>
              <a:spcBef>
                <a:spcPts val="100"/>
              </a:spcBef>
              <a:spcAft>
                <a:spcPts val="100"/>
              </a:spcAft>
            </a:pPr>
            <a:r>
              <a:rPr sz="1200">
                <a:solidFill>
                  <a:srgbClr val="000000"/>
                </a:solidFill>
                <a:latin typeface="Calibri"/>
              </a:rPr>
              <a:t>│  │      if (!event.data.firstName &amp;&amp; event.data.name) { │   │</a:t>
            </a:r>
          </a:p>
          <a:p>
            <a:pPr algn="l">
              <a:lnSpc>
                <a:spcPct val="110000"/>
              </a:lnSpc>
              <a:spcBef>
                <a:spcPts val="100"/>
              </a:spcBef>
              <a:spcAft>
                <a:spcPts val="100"/>
              </a:spcAft>
            </a:pPr>
            <a:r>
              <a:rPr sz="1200">
                <a:solidFill>
                  <a:srgbClr val="000000"/>
                </a:solidFill>
                <a:latin typeface="Calibri"/>
              </a:rPr>
              <a:t>│  │        const [first, ...rest] = event.data.name.split(' '); │</a:t>
            </a:r>
          </a:p>
          <a:p>
            <a:pPr algn="l">
              <a:lnSpc>
                <a:spcPct val="110000"/>
              </a:lnSpc>
              <a:spcBef>
                <a:spcPts val="100"/>
              </a:spcBef>
              <a:spcAft>
                <a:spcPts val="100"/>
              </a:spcAft>
            </a:pPr>
            <a:r>
              <a:rPr sz="1200">
                <a:solidFill>
                  <a:srgbClr val="000000"/>
                </a:solidFill>
                <a:latin typeface="Calibri"/>
              </a:rPr>
              <a:t>│  │        return {                                      │   │</a:t>
            </a:r>
          </a:p>
          <a:p>
            <a:pPr algn="l">
              <a:lnSpc>
                <a:spcPct val="110000"/>
              </a:lnSpc>
              <a:spcBef>
                <a:spcPts val="100"/>
              </a:spcBef>
              <a:spcAft>
                <a:spcPts val="100"/>
              </a:spcAft>
            </a:pPr>
            <a:r>
              <a:rPr sz="1200">
                <a:solidFill>
                  <a:srgbClr val="000000"/>
                </a:solidFill>
                <a:latin typeface="Calibri"/>
              </a:rPr>
              <a:t>│  │          ...event,                                  │   │</a:t>
            </a:r>
          </a:p>
          <a:p>
            <a:pPr algn="l">
              <a:lnSpc>
                <a:spcPct val="110000"/>
              </a:lnSpc>
              <a:spcBef>
                <a:spcPts val="100"/>
              </a:spcBef>
              <a:spcAft>
                <a:spcPts val="100"/>
              </a:spcAft>
            </a:pPr>
            <a:r>
              <a:rPr sz="1200">
                <a:solidFill>
                  <a:srgbClr val="000000"/>
                </a:solidFill>
                <a:latin typeface="Calibri"/>
              </a:rPr>
              <a:t>│  │          version: 2,                                │   │</a:t>
            </a:r>
          </a:p>
          <a:p>
            <a:pPr algn="l">
              <a:lnSpc>
                <a:spcPct val="110000"/>
              </a:lnSpc>
              <a:spcBef>
                <a:spcPts val="100"/>
              </a:spcBef>
              <a:spcAft>
                <a:spcPts val="100"/>
              </a:spcAft>
            </a:pPr>
            <a:r>
              <a:rPr sz="1200">
                <a:solidFill>
                  <a:srgbClr val="000000"/>
                </a:solidFill>
                <a:latin typeface="Calibri"/>
              </a:rPr>
              <a:t>│  │          data: {                                   │   │</a:t>
            </a:r>
          </a:p>
          <a:p>
            <a:pPr algn="l">
              <a:lnSpc>
                <a:spcPct val="110000"/>
              </a:lnSpc>
              <a:spcBef>
                <a:spcPts val="100"/>
              </a:spcBef>
              <a:spcAft>
                <a:spcPts val="100"/>
              </a:spcAft>
            </a:pPr>
            <a:r>
              <a:rPr sz="1200">
                <a:solidFill>
                  <a:srgbClr val="000000"/>
                </a:solidFill>
                <a:latin typeface="Calibri"/>
              </a:rPr>
              <a:t>│  │            firstName: first,                       │   │</a:t>
            </a:r>
          </a:p>
          <a:p>
            <a:pPr algn="l">
              <a:lnSpc>
                <a:spcPct val="110000"/>
              </a:lnSpc>
              <a:spcBef>
                <a:spcPts val="100"/>
              </a:spcBef>
              <a:spcAft>
                <a:spcPts val="100"/>
              </a:spcAft>
            </a:pPr>
            <a:r>
              <a:rPr sz="1200">
                <a:solidFill>
                  <a:srgbClr val="000000"/>
                </a:solidFill>
                <a:latin typeface="Calibri"/>
              </a:rPr>
              <a:t>│  │            lastName: rest.join(' '),              │   │</a:t>
            </a:r>
          </a:p>
          <a:p>
            <a:pPr algn="l">
              <a:lnSpc>
                <a:spcPct val="110000"/>
              </a:lnSpc>
              <a:spcBef>
                <a:spcPts val="100"/>
              </a:spcBef>
              <a:spcAft>
                <a:spcPts val="100"/>
              </a:spcAft>
            </a:pPr>
            <a:r>
              <a:rPr sz="1200">
                <a:solidFill>
                  <a:srgbClr val="000000"/>
                </a:solidFill>
                <a:latin typeface="Calibri"/>
              </a:rPr>
              <a:t>│  │            email: event.data.email,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return event;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PART 5.2: Stream Processing (15 Slides)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Node.js Streams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NODE.JS STREAMS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Types: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Readable ──▶ Source of data                          │   │</a:t>
            </a:r>
          </a:p>
          <a:p>
            <a:pPr algn="l">
              <a:lnSpc>
                <a:spcPct val="110000"/>
              </a:lnSpc>
              <a:spcBef>
                <a:spcPts val="100"/>
              </a:spcBef>
              <a:spcAft>
                <a:spcPts val="100"/>
              </a:spcAft>
            </a:pPr>
            <a:r>
              <a:rPr sz="1200">
                <a:solidFill>
                  <a:srgbClr val="000000"/>
                </a:solidFill>
                <a:latin typeface="Calibri"/>
              </a:rPr>
              <a:t>│  │  Writable ──▶ Destination for data                    │   │</a:t>
            </a:r>
          </a:p>
          <a:p>
            <a:pPr algn="l">
              <a:lnSpc>
                <a:spcPct val="110000"/>
              </a:lnSpc>
              <a:spcBef>
                <a:spcPts val="100"/>
              </a:spcBef>
              <a:spcAft>
                <a:spcPts val="100"/>
              </a:spcAft>
            </a:pPr>
            <a:r>
              <a:rPr sz="1200">
                <a:solidFill>
                  <a:srgbClr val="000000"/>
                </a:solidFill>
                <a:latin typeface="Calibri"/>
              </a:rPr>
              <a:t>│  │  Transform ──▶ Process data in transit                │   │</a:t>
            </a:r>
          </a:p>
          <a:p>
            <a:pPr algn="l">
              <a:lnSpc>
                <a:spcPct val="110000"/>
              </a:lnSpc>
              <a:spcBef>
                <a:spcPts val="100"/>
              </a:spcBef>
              <a:spcAft>
                <a:spcPts val="100"/>
              </a:spcAft>
            </a:pPr>
            <a:r>
              <a:rPr sz="1200">
                <a:solidFill>
                  <a:srgbClr val="000000"/>
                </a:solidFill>
                <a:latin typeface="Calibri"/>
              </a:rPr>
              <a:t>│  │  Duplex ──▶ Both readable and writable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Pipeline: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Source ──▶ Transform ──▶ Transform ──▶ Sink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Code: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const { Readable, Transform, Writable } = require('stream');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const source = new Readable({ ... });              │   │</a:t>
            </a:r>
          </a:p>
          <a:p>
            <a:pPr algn="l">
              <a:lnSpc>
                <a:spcPct val="110000"/>
              </a:lnSpc>
              <a:spcBef>
                <a:spcPts val="100"/>
              </a:spcBef>
              <a:spcAft>
                <a:spcPts val="100"/>
              </a:spcAft>
            </a:pPr>
            <a:r>
              <a:rPr sz="1200">
                <a:solidFill>
                  <a:srgbClr val="000000"/>
                </a:solidFill>
                <a:latin typeface="Calibri"/>
              </a:rPr>
              <a:t>│  │  const transform = new Transform({ ... });          │   │</a:t>
            </a:r>
          </a:p>
          <a:p>
            <a:pPr algn="l">
              <a:lnSpc>
                <a:spcPct val="110000"/>
              </a:lnSpc>
              <a:spcBef>
                <a:spcPts val="100"/>
              </a:spcBef>
              <a:spcAft>
                <a:spcPts val="100"/>
              </a:spcAft>
            </a:pPr>
            <a:r>
              <a:rPr sz="1200">
                <a:solidFill>
                  <a:srgbClr val="000000"/>
                </a:solidFill>
                <a:latin typeface="Calibri"/>
              </a:rPr>
              <a:t>│  │  const sink = new Writable({ ...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source.pipe(transform).pipe(sink);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Backpressure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BACKPRESSURE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Problem: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Fast Producer →→→→ Slow Consumer                      │   │</a:t>
            </a:r>
          </a:p>
          <a:p>
            <a:pPr algn="l">
              <a:lnSpc>
                <a:spcPct val="110000"/>
              </a:lnSpc>
              <a:spcBef>
                <a:spcPts val="100"/>
              </a:spcBef>
              <a:spcAft>
                <a:spcPts val="100"/>
              </a:spcAft>
            </a:pPr>
            <a:r>
              <a:rPr sz="1200">
                <a:solidFill>
                  <a:srgbClr val="000000"/>
                </a:solidFill>
                <a:latin typeface="Calibri"/>
              </a:rPr>
              <a:t>│  │  Memory grows until crash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Solution: Backpressure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Fast Producer ──▶ Buffer ──▶ Slow Consumer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(Stop when full)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Code: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class BackpressureHandler {                          │   │</a:t>
            </a:r>
          </a:p>
          <a:p>
            <a:pPr algn="l">
              <a:lnSpc>
                <a:spcPct val="110000"/>
              </a:lnSpc>
              <a:spcBef>
                <a:spcPts val="100"/>
              </a:spcBef>
              <a:spcAft>
                <a:spcPts val="100"/>
              </a:spcAft>
            </a:pPr>
            <a:r>
              <a:rPr sz="1200">
                <a:solidFill>
                  <a:srgbClr val="000000"/>
                </a:solidFill>
                <a:latin typeface="Calibri"/>
              </a:rPr>
              <a:t>│  │    private buffer: any[] = [];                       │   │</a:t>
            </a:r>
          </a:p>
          <a:p>
            <a:pPr algn="l">
              <a:lnSpc>
                <a:spcPct val="110000"/>
              </a:lnSpc>
              <a:spcBef>
                <a:spcPts val="100"/>
              </a:spcBef>
              <a:spcAft>
                <a:spcPts val="100"/>
              </a:spcAft>
            </a:pPr>
            <a:r>
              <a:rPr sz="1200">
                <a:solidFill>
                  <a:srgbClr val="000000"/>
                </a:solidFill>
                <a:latin typeface="Calibri"/>
              </a:rPr>
              <a:t>│  │    private maxBufferSize = 1000;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write(data: any): boolean {                      │   │</a:t>
            </a:r>
          </a:p>
          <a:p>
            <a:pPr algn="l">
              <a:lnSpc>
                <a:spcPct val="110000"/>
              </a:lnSpc>
              <a:spcBef>
                <a:spcPts val="100"/>
              </a:spcBef>
              <a:spcAft>
                <a:spcPts val="100"/>
              </a:spcAft>
            </a:pPr>
            <a:r>
              <a:rPr sz="1200">
                <a:solidFill>
                  <a:srgbClr val="000000"/>
                </a:solidFill>
                <a:latin typeface="Calibri"/>
              </a:rPr>
              <a:t>│  │      if (this.buffer.length &gt;= this.maxBufferSize) { │   │</a:t>
            </a:r>
          </a:p>
          <a:p>
            <a:pPr algn="l">
              <a:lnSpc>
                <a:spcPct val="110000"/>
              </a:lnSpc>
              <a:spcBef>
                <a:spcPts val="100"/>
              </a:spcBef>
              <a:spcAft>
                <a:spcPts val="100"/>
              </a:spcAft>
            </a:pPr>
            <a:r>
              <a:rPr sz="1200">
                <a:solidFill>
                  <a:srgbClr val="000000"/>
                </a:solidFill>
                <a:latin typeface="Calibri"/>
              </a:rPr>
              <a:t>│  │        return false; // Backpressure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this.buffer.push(data);                         │   │</a:t>
            </a:r>
          </a:p>
          <a:p>
            <a:pPr algn="l">
              <a:lnSpc>
                <a:spcPct val="110000"/>
              </a:lnSpc>
              <a:spcBef>
                <a:spcPts val="100"/>
              </a:spcBef>
              <a:spcAft>
                <a:spcPts val="100"/>
              </a:spcAft>
            </a:pPr>
            <a:r>
              <a:rPr sz="1200">
                <a:solidFill>
                  <a:srgbClr val="000000"/>
                </a:solidFill>
                <a:latin typeface="Calibri"/>
              </a:rPr>
              <a:t>│  │      return true;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read(): any | undefined {                         │   │</a:t>
            </a:r>
          </a:p>
          <a:p>
            <a:pPr algn="l">
              <a:lnSpc>
                <a:spcPct val="110000"/>
              </a:lnSpc>
              <a:spcBef>
                <a:spcPts val="100"/>
              </a:spcBef>
              <a:spcAft>
                <a:spcPts val="100"/>
              </a:spcAft>
            </a:pPr>
            <a:r>
              <a:rPr sz="1200">
                <a:solidFill>
                  <a:srgbClr val="000000"/>
                </a:solidFill>
                <a:latin typeface="Calibri"/>
              </a:rPr>
              <a:t>│  │      return this.buffer.shift();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Event Processor</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```typescript</a:t>
            </a:r>
          </a:p>
          <a:p>
            <a:pPr algn="l">
              <a:lnSpc>
                <a:spcPct val="110000"/>
              </a:lnSpc>
              <a:spcBef>
                <a:spcPts val="100"/>
              </a:spcBef>
              <a:spcAft>
                <a:spcPts val="100"/>
              </a:spcAft>
            </a:pPr>
            <a:r>
              <a:rPr sz="1100">
                <a:solidFill>
                  <a:srgbClr val="000000"/>
                </a:solidFill>
                <a:latin typeface="Calibri"/>
              </a:rPr>
              <a:t>class EventProcessor {</a:t>
            </a:r>
          </a:p>
          <a:p>
            <a:pPr algn="l">
              <a:lnSpc>
                <a:spcPct val="110000"/>
              </a:lnSpc>
              <a:spcBef>
                <a:spcPts val="100"/>
              </a:spcBef>
              <a:spcAft>
                <a:spcPts val="100"/>
              </a:spcAft>
            </a:pPr>
            <a:r>
              <a:rPr sz="1100">
                <a:solidFill>
                  <a:srgbClr val="000000"/>
                </a:solidFill>
                <a:latin typeface="Calibri"/>
              </a:rPr>
              <a:t>    private batchSize = 100;</a:t>
            </a:r>
          </a:p>
          <a:p>
            <a:pPr algn="l">
              <a:lnSpc>
                <a:spcPct val="110000"/>
              </a:lnSpc>
              <a:spcBef>
                <a:spcPts val="100"/>
              </a:spcBef>
              <a:spcAft>
                <a:spcPts val="100"/>
              </a:spcAft>
            </a:pPr>
            <a:r>
              <a:rPr sz="1100">
                <a:solidFill>
                  <a:srgbClr val="000000"/>
                </a:solidFill>
                <a:latin typeface="Calibri"/>
              </a:rPr>
              <a:t>    private batchTimeout = 100; // ms</a:t>
            </a:r>
          </a:p>
          <a:p>
            <a:pPr algn="l">
              <a:lnSpc>
                <a:spcPct val="110000"/>
              </a:lnSpc>
              <a:spcBef>
                <a:spcPts val="100"/>
              </a:spcBef>
              <a:spcAft>
                <a:spcPts val="100"/>
              </a:spcAft>
            </a:pPr>
            <a:r>
              <a:rPr sz="1100">
                <a:solidFill>
                  <a:srgbClr val="000000"/>
                </a:solidFill>
                <a:latin typeface="Calibri"/>
              </a:rPr>
              <a:t>    async processEvents(</a:t>
            </a:r>
          </a:p>
          <a:p>
            <a:pPr algn="l">
              <a:lnSpc>
                <a:spcPct val="110000"/>
              </a:lnSpc>
              <a:spcBef>
                <a:spcPts val="100"/>
              </a:spcBef>
              <a:spcAft>
                <a:spcPts val="100"/>
              </a:spcAft>
            </a:pPr>
            <a:r>
              <a:rPr sz="1100">
                <a:solidFill>
                  <a:srgbClr val="000000"/>
                </a:solidFill>
                <a:latin typeface="Calibri"/>
              </a:rPr>
              <a:t>        eventStream: Readable,</a:t>
            </a:r>
          </a:p>
          <a:p>
            <a:pPr algn="l">
              <a:lnSpc>
                <a:spcPct val="110000"/>
              </a:lnSpc>
              <a:spcBef>
                <a:spcPts val="100"/>
              </a:spcBef>
              <a:spcAft>
                <a:spcPts val="100"/>
              </a:spcAft>
            </a:pPr>
            <a:r>
              <a:rPr sz="1100">
                <a:solidFill>
                  <a:srgbClr val="000000"/>
                </a:solidFill>
                <a:latin typeface="Calibri"/>
              </a:rPr>
              <a:t>        handler: (events: DomainEvent[]) =&gt; Promise&lt;void&gt;</a:t>
            </a:r>
          </a:p>
          <a:p>
            <a:pPr algn="l">
              <a:lnSpc>
                <a:spcPct val="110000"/>
              </a:lnSpc>
              <a:spcBef>
                <a:spcPts val="100"/>
              </a:spcBef>
              <a:spcAft>
                <a:spcPts val="100"/>
              </a:spcAft>
            </a:pPr>
            <a:r>
              <a:rPr sz="1100">
                <a:solidFill>
                  <a:srgbClr val="000000"/>
                </a:solidFill>
                <a:latin typeface="Calibri"/>
              </a:rPr>
              <a:t>    ): Promise&lt;void&gt; {</a:t>
            </a:r>
          </a:p>
          <a:p>
            <a:pPr algn="l">
              <a:lnSpc>
                <a:spcPct val="110000"/>
              </a:lnSpc>
              <a:spcBef>
                <a:spcPts val="100"/>
              </a:spcBef>
              <a:spcAft>
                <a:spcPts val="100"/>
              </a:spcAft>
            </a:pPr>
            <a:r>
              <a:rPr sz="1100">
                <a:solidFill>
                  <a:srgbClr val="000000"/>
                </a:solidFill>
                <a:latin typeface="Calibri"/>
              </a:rPr>
              <a:t>        const batch: DomainEvent[] = [];</a:t>
            </a:r>
          </a:p>
          <a:p>
            <a:pPr algn="l">
              <a:lnSpc>
                <a:spcPct val="110000"/>
              </a:lnSpc>
              <a:spcBef>
                <a:spcPts val="100"/>
              </a:spcBef>
              <a:spcAft>
                <a:spcPts val="100"/>
              </a:spcAft>
            </a:pPr>
            <a:r>
              <a:rPr sz="1100">
                <a:solidFill>
                  <a:srgbClr val="000000"/>
                </a:solidFill>
                <a:latin typeface="Calibri"/>
              </a:rPr>
              <a:t>        let timer: NodeJS.Timeout | null = null;</a:t>
            </a:r>
          </a:p>
          <a:p>
            <a:pPr algn="l">
              <a:lnSpc>
                <a:spcPct val="110000"/>
              </a:lnSpc>
              <a:spcBef>
                <a:spcPts val="100"/>
              </a:spcBef>
              <a:spcAft>
                <a:spcPts val="100"/>
              </a:spcAft>
            </a:pPr>
            <a:r>
              <a:rPr sz="1100">
                <a:solidFill>
                  <a:srgbClr val="000000"/>
                </a:solidFill>
                <a:latin typeface="Calibri"/>
              </a:rPr>
              <a:t>        const flush = async () =&gt; {</a:t>
            </a:r>
          </a:p>
          <a:p>
            <a:pPr algn="l">
              <a:lnSpc>
                <a:spcPct val="110000"/>
              </a:lnSpc>
              <a:spcBef>
                <a:spcPts val="100"/>
              </a:spcBef>
              <a:spcAft>
                <a:spcPts val="100"/>
              </a:spcAft>
            </a:pPr>
            <a:r>
              <a:rPr sz="1100">
                <a:solidFill>
                  <a:srgbClr val="000000"/>
                </a:solidFill>
                <a:latin typeface="Calibri"/>
              </a:rPr>
              <a:t>            if (batch.length === 0) return;</a:t>
            </a:r>
          </a:p>
          <a:p>
            <a:pPr algn="l">
              <a:lnSpc>
                <a:spcPct val="110000"/>
              </a:lnSpc>
              <a:spcBef>
                <a:spcPts val="100"/>
              </a:spcBef>
              <a:spcAft>
                <a:spcPts val="100"/>
              </a:spcAft>
            </a:pPr>
            <a:r>
              <a:rPr sz="1100">
                <a:solidFill>
                  <a:srgbClr val="000000"/>
                </a:solidFill>
                <a:latin typeface="Calibri"/>
              </a:rPr>
              <a:t>            const events = [...batch];</a:t>
            </a:r>
          </a:p>
          <a:p>
            <a:pPr algn="l">
              <a:lnSpc>
                <a:spcPct val="110000"/>
              </a:lnSpc>
              <a:spcBef>
                <a:spcPts val="100"/>
              </a:spcBef>
              <a:spcAft>
                <a:spcPts val="100"/>
              </a:spcAft>
            </a:pPr>
            <a:r>
              <a:rPr sz="1100">
                <a:solidFill>
                  <a:srgbClr val="000000"/>
                </a:solidFill>
                <a:latin typeface="Calibri"/>
              </a:rPr>
              <a:t>            batch.length = 0;</a:t>
            </a:r>
          </a:p>
          <a:p>
            <a:pPr algn="l">
              <a:lnSpc>
                <a:spcPct val="110000"/>
              </a:lnSpc>
              <a:spcBef>
                <a:spcPts val="100"/>
              </a:spcBef>
              <a:spcAft>
                <a:spcPts val="100"/>
              </a:spcAft>
            </a:pPr>
            <a:r>
              <a:rPr sz="1100">
                <a:solidFill>
                  <a:srgbClr val="000000"/>
                </a:solidFill>
                <a:latin typeface="Calibri"/>
              </a:rPr>
              <a:t>            try {</a:t>
            </a:r>
          </a:p>
          <a:p>
            <a:pPr algn="l">
              <a:lnSpc>
                <a:spcPct val="110000"/>
              </a:lnSpc>
              <a:spcBef>
                <a:spcPts val="100"/>
              </a:spcBef>
              <a:spcAft>
                <a:spcPts val="100"/>
              </a:spcAft>
            </a:pPr>
            <a:r>
              <a:rPr sz="1100">
                <a:solidFill>
                  <a:srgbClr val="000000"/>
                </a:solidFill>
                <a:latin typeface="Calibri"/>
              </a:rPr>
              <a:t>                await handler(events);</a:t>
            </a:r>
          </a:p>
          <a:p>
            <a:pPr algn="l">
              <a:lnSpc>
                <a:spcPct val="110000"/>
              </a:lnSpc>
              <a:spcBef>
                <a:spcPts val="100"/>
              </a:spcBef>
              <a:spcAft>
                <a:spcPts val="100"/>
              </a:spcAft>
            </a:pPr>
            <a:r>
              <a:rPr sz="1100">
                <a:solidFill>
                  <a:srgbClr val="000000"/>
                </a:solidFill>
                <a:latin typeface="Calibri"/>
              </a:rPr>
              <a:t>            } catch (error) {</a:t>
            </a:r>
          </a:p>
          <a:p>
            <a:pPr algn="l">
              <a:lnSpc>
                <a:spcPct val="110000"/>
              </a:lnSpc>
              <a:spcBef>
                <a:spcPts val="100"/>
              </a:spcBef>
              <a:spcAft>
                <a:spcPts val="100"/>
              </a:spcAft>
            </a:pPr>
            <a:r>
              <a:rPr sz="1100">
                <a:solidFill>
                  <a:srgbClr val="000000"/>
                </a:solidFill>
                <a:latin typeface="Calibri"/>
              </a:rPr>
              <a:t>                // Handle batch failure</a:t>
            </a:r>
          </a:p>
          <a:p>
            <a:pPr algn="l">
              <a:lnSpc>
                <a:spcPct val="110000"/>
              </a:lnSpc>
              <a:spcBef>
                <a:spcPts val="100"/>
              </a:spcBef>
              <a:spcAft>
                <a:spcPts val="100"/>
              </a:spcAft>
            </a:pPr>
            <a:r>
              <a:rPr sz="1100">
                <a:solidFill>
                  <a:srgbClr val="000000"/>
                </a:solidFill>
                <a:latin typeface="Calibri"/>
              </a:rPr>
              <a:t>                // Could retry or send to DLQ</a:t>
            </a:r>
          </a:p>
          <a:p>
            <a:pPr algn="l">
              <a:lnSpc>
                <a:spcPct val="110000"/>
              </a:lnSpc>
              <a:spcBef>
                <a:spcPts val="100"/>
              </a:spcBef>
              <a:spcAft>
                <a:spcPts val="100"/>
              </a:spcAft>
            </a:pPr>
            <a:r>
              <a:rPr sz="1100">
                <a:solidFill>
                  <a:srgbClr val="000000"/>
                </a:solidFill>
                <a:latin typeface="Calibri"/>
              </a:rPr>
              <a:t>                console.error('Batch processing failed:', error);</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const scheduleFlush = () =&gt; {</a:t>
            </a:r>
          </a:p>
          <a:p>
            <a:pPr algn="l">
              <a:lnSpc>
                <a:spcPct val="110000"/>
              </a:lnSpc>
              <a:spcBef>
                <a:spcPts val="100"/>
              </a:spcBef>
              <a:spcAft>
                <a:spcPts val="100"/>
              </a:spcAft>
            </a:pPr>
            <a:r>
              <a:rPr sz="1100">
                <a:solidFill>
                  <a:srgbClr val="000000"/>
                </a:solidFill>
                <a:latin typeface="Calibri"/>
              </a:rPr>
              <a:t>            if (timer) return;</a:t>
            </a:r>
          </a:p>
          <a:p>
            <a:pPr algn="l">
              <a:lnSpc>
                <a:spcPct val="110000"/>
              </a:lnSpc>
              <a:spcBef>
                <a:spcPts val="100"/>
              </a:spcBef>
              <a:spcAft>
                <a:spcPts val="100"/>
              </a:spcAft>
            </a:pPr>
            <a:r>
              <a:rPr sz="1100">
                <a:solidFill>
                  <a:srgbClr val="000000"/>
                </a:solidFill>
                <a:latin typeface="Calibri"/>
              </a:rPr>
              <a:t>            timer = setTimeout(async () =&gt; {</a:t>
            </a:r>
          </a:p>
          <a:p>
            <a:pPr algn="l">
              <a:lnSpc>
                <a:spcPct val="110000"/>
              </a:lnSpc>
              <a:spcBef>
                <a:spcPts val="100"/>
              </a:spcBef>
              <a:spcAft>
                <a:spcPts val="100"/>
              </a:spcAft>
            </a:pPr>
            <a:r>
              <a:rPr sz="1100">
                <a:solidFill>
                  <a:srgbClr val="000000"/>
                </a:solidFill>
                <a:latin typeface="Calibri"/>
              </a:rPr>
              <a:t>                timer = null;</a:t>
            </a:r>
          </a:p>
          <a:p>
            <a:pPr algn="l">
              <a:lnSpc>
                <a:spcPct val="110000"/>
              </a:lnSpc>
              <a:spcBef>
                <a:spcPts val="100"/>
              </a:spcBef>
              <a:spcAft>
                <a:spcPts val="100"/>
              </a:spcAft>
            </a:pPr>
            <a:r>
              <a:rPr sz="1100">
                <a:solidFill>
                  <a:srgbClr val="000000"/>
                </a:solidFill>
                <a:latin typeface="Calibri"/>
              </a:rPr>
              <a:t>                await flush();</a:t>
            </a:r>
          </a:p>
          <a:p>
            <a:pPr algn="l">
              <a:lnSpc>
                <a:spcPct val="110000"/>
              </a:lnSpc>
              <a:spcBef>
                <a:spcPts val="100"/>
              </a:spcBef>
              <a:spcAft>
                <a:spcPts val="100"/>
              </a:spcAft>
            </a:pPr>
            <a:r>
              <a:rPr sz="1100">
                <a:solidFill>
                  <a:srgbClr val="000000"/>
                </a:solidFill>
                <a:latin typeface="Calibri"/>
              </a:rPr>
              <a:t>            }, this.batchTimeout);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for await (const event of eventStream) {</a:t>
            </a:r>
          </a:p>
          <a:p>
            <a:pPr algn="l">
              <a:lnSpc>
                <a:spcPct val="110000"/>
              </a:lnSpc>
              <a:spcBef>
                <a:spcPts val="100"/>
              </a:spcBef>
              <a:spcAft>
                <a:spcPts val="100"/>
              </a:spcAft>
            </a:pPr>
            <a:r>
              <a:rPr sz="1100">
                <a:solidFill>
                  <a:srgbClr val="000000"/>
                </a:solidFill>
                <a:latin typeface="Calibri"/>
              </a:rPr>
              <a:t>            batch.push(event);</a:t>
            </a:r>
          </a:p>
          <a:p>
            <a:pPr algn="l">
              <a:lnSpc>
                <a:spcPct val="110000"/>
              </a:lnSpc>
              <a:spcBef>
                <a:spcPts val="100"/>
              </a:spcBef>
              <a:spcAft>
                <a:spcPts val="100"/>
              </a:spcAft>
            </a:pPr>
            <a:r>
              <a:rPr sz="1100">
                <a:solidFill>
                  <a:srgbClr val="000000"/>
                </a:solidFill>
                <a:latin typeface="Calibri"/>
              </a:rPr>
              <a:t>            if (batch.length &gt;= this.batchSize) {</a:t>
            </a:r>
          </a:p>
          <a:p>
            <a:pPr algn="l">
              <a:lnSpc>
                <a:spcPct val="110000"/>
              </a:lnSpc>
              <a:spcBef>
                <a:spcPts val="100"/>
              </a:spcBef>
              <a:spcAft>
                <a:spcPts val="100"/>
              </a:spcAft>
            </a:pPr>
            <a:r>
              <a:rPr sz="1100">
                <a:solidFill>
                  <a:srgbClr val="000000"/>
                </a:solidFill>
                <a:latin typeface="Calibri"/>
              </a:rPr>
              <a:t>                await flush();</a:t>
            </a:r>
          </a:p>
          <a:p>
            <a:pPr algn="l">
              <a:lnSpc>
                <a:spcPct val="110000"/>
              </a:lnSpc>
              <a:spcBef>
                <a:spcPts val="100"/>
              </a:spcBef>
              <a:spcAft>
                <a:spcPts val="100"/>
              </a:spcAft>
            </a:pPr>
            <a:r>
              <a:rPr sz="1100">
                <a:solidFill>
                  <a:srgbClr val="000000"/>
                </a:solidFill>
                <a:latin typeface="Calibri"/>
              </a:rPr>
              <a:t>            } else {</a:t>
            </a:r>
          </a:p>
          <a:p>
            <a:pPr algn="l">
              <a:lnSpc>
                <a:spcPct val="110000"/>
              </a:lnSpc>
              <a:spcBef>
                <a:spcPts val="100"/>
              </a:spcBef>
              <a:spcAft>
                <a:spcPts val="100"/>
              </a:spcAft>
            </a:pPr>
            <a:r>
              <a:rPr sz="1100">
                <a:solidFill>
                  <a:srgbClr val="000000"/>
                </a:solidFill>
                <a:latin typeface="Calibri"/>
              </a:rPr>
              <a:t>                scheduleFlush();</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 Flush remaining events</a:t>
            </a:r>
          </a:p>
          <a:p>
            <a:pPr algn="l">
              <a:lnSpc>
                <a:spcPct val="110000"/>
              </a:lnSpc>
              <a:spcBef>
                <a:spcPts val="100"/>
              </a:spcBef>
              <a:spcAft>
                <a:spcPts val="100"/>
              </a:spcAft>
            </a:pPr>
            <a:r>
              <a:rPr sz="1100">
                <a:solidFill>
                  <a:srgbClr val="000000"/>
                </a:solidFill>
                <a:latin typeface="Calibri"/>
              </a:rPr>
              <a:t>        await flush();</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PHASE 6: AI &amp; FINAL BOSS (40 Slides)</a:t>
            </a:r>
          </a:p>
          <a:p>
            <a:pPr algn="l">
              <a:lnSpc>
                <a:spcPct val="110000"/>
              </a:lnSpc>
              <a:spcBef>
                <a:spcPts val="100"/>
              </a:spcBef>
              <a:spcAft>
                <a:spcPts val="100"/>
              </a:spcAft>
            </a:pPr>
            <a:r>
              <a:rPr sz="1100">
                <a:solidFill>
                  <a:srgbClr val="000000"/>
                </a:solidFill>
                <a:latin typeface="Calibri"/>
              </a:rPr>
              <a:t>### PART 6.1: AI Agents (20 Slides)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AI Agent Overview</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AI AGENT ARCHITECTURE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                    AGENT CORE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LLM (Brain)                        │ │   │</a:t>
            </a:r>
          </a:p>
          <a:p>
            <a:pPr algn="l">
              <a:lnSpc>
                <a:spcPct val="110000"/>
              </a:lnSpc>
              <a:spcBef>
                <a:spcPts val="100"/>
              </a:spcBef>
              <a:spcAft>
                <a:spcPts val="100"/>
              </a:spcAft>
            </a:pPr>
            <a:r>
              <a:rPr sz="1200">
                <a:solidFill>
                  <a:srgbClr val="000000"/>
                </a:solidFill>
                <a:latin typeface="Calibri"/>
              </a:rPr>
              <a:t>│  │  │  • Understands natural language                │ │   │</a:t>
            </a:r>
          </a:p>
          <a:p>
            <a:pPr algn="l">
              <a:lnSpc>
                <a:spcPct val="110000"/>
              </a:lnSpc>
              <a:spcBef>
                <a:spcPts val="100"/>
              </a:spcBef>
              <a:spcAft>
                <a:spcPts val="100"/>
              </a:spcAft>
            </a:pPr>
            <a:r>
              <a:rPr sz="1200">
                <a:solidFill>
                  <a:srgbClr val="000000"/>
                </a:solidFill>
                <a:latin typeface="Calibri"/>
              </a:rPr>
              <a:t>│  │  │  • Reasons about problems                     │ │   │</a:t>
            </a:r>
          </a:p>
          <a:p>
            <a:pPr algn="l">
              <a:lnSpc>
                <a:spcPct val="110000"/>
              </a:lnSpc>
              <a:spcBef>
                <a:spcPts val="100"/>
              </a:spcBef>
              <a:spcAft>
                <a:spcPts val="100"/>
              </a:spcAft>
            </a:pPr>
            <a:r>
              <a:rPr sz="1200">
                <a:solidFill>
                  <a:srgbClr val="000000"/>
                </a:solidFill>
                <a:latin typeface="Calibri"/>
              </a:rPr>
              <a:t>│  │  │  • Makes plans and decisions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MEMORY                            │ │   │</a:t>
            </a:r>
          </a:p>
          <a:p>
            <a:pPr algn="l">
              <a:lnSpc>
                <a:spcPct val="110000"/>
              </a:lnSpc>
              <a:spcBef>
                <a:spcPts val="100"/>
              </a:spcBef>
              <a:spcAft>
                <a:spcPts val="100"/>
              </a:spcAft>
            </a:pPr>
            <a:r>
              <a:rPr sz="1200">
                <a:solidFill>
                  <a:srgbClr val="000000"/>
                </a:solidFill>
                <a:latin typeface="Calibri"/>
              </a:rPr>
              <a:t>│  │  │  • Short-term: Current context                │ │   │</a:t>
            </a:r>
          </a:p>
          <a:p>
            <a:pPr algn="l">
              <a:lnSpc>
                <a:spcPct val="110000"/>
              </a:lnSpc>
              <a:spcBef>
                <a:spcPts val="100"/>
              </a:spcBef>
              <a:spcAft>
                <a:spcPts val="100"/>
              </a:spcAft>
            </a:pPr>
            <a:r>
              <a:rPr sz="1200">
                <a:solidFill>
                  <a:srgbClr val="000000"/>
                </a:solidFill>
                <a:latin typeface="Calibri"/>
              </a:rPr>
              <a:t>│  │  │  • Long-term: Past experiences               │ │   │</a:t>
            </a:r>
          </a:p>
          <a:p>
            <a:pPr algn="l">
              <a:lnSpc>
                <a:spcPct val="110000"/>
              </a:lnSpc>
              <a:spcBef>
                <a:spcPts val="100"/>
              </a:spcBef>
              <a:spcAft>
                <a:spcPts val="100"/>
              </a:spcAft>
            </a:pPr>
            <a:r>
              <a:rPr sz="1200">
                <a:solidFill>
                  <a:srgbClr val="000000"/>
                </a:solidFill>
                <a:latin typeface="Calibri"/>
              </a:rPr>
              <a:t>│  │  │  • Vector embeddings for search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              TOOLS                             │ │   │</a:t>
            </a:r>
          </a:p>
          <a:p>
            <a:pPr algn="l">
              <a:lnSpc>
                <a:spcPct val="110000"/>
              </a:lnSpc>
              <a:spcBef>
                <a:spcPts val="100"/>
              </a:spcBef>
              <a:spcAft>
                <a:spcPts val="100"/>
              </a:spcAft>
            </a:pPr>
            <a:r>
              <a:rPr sz="1200">
                <a:solidFill>
                  <a:srgbClr val="000000"/>
                </a:solidFill>
                <a:latin typeface="Calibri"/>
              </a:rPr>
              <a:t>│  │  │  • APIs and integrations                       │ │   │</a:t>
            </a:r>
          </a:p>
          <a:p>
            <a:pPr algn="l">
              <a:lnSpc>
                <a:spcPct val="110000"/>
              </a:lnSpc>
              <a:spcBef>
                <a:spcPts val="100"/>
              </a:spcBef>
              <a:spcAft>
                <a:spcPts val="100"/>
              </a:spcAft>
            </a:pPr>
            <a:r>
              <a:rPr sz="1200">
                <a:solidFill>
                  <a:srgbClr val="000000"/>
                </a:solidFill>
                <a:latin typeface="Calibri"/>
              </a:rPr>
              <a:t>│  │  │  • Functions and operations                   │ │   │</a:t>
            </a:r>
          </a:p>
          <a:p>
            <a:pPr algn="l">
              <a:lnSpc>
                <a:spcPct val="110000"/>
              </a:lnSpc>
              <a:spcBef>
                <a:spcPts val="100"/>
              </a:spcBef>
              <a:spcAft>
                <a:spcPts val="100"/>
              </a:spcAft>
            </a:pPr>
            <a:r>
              <a:rPr sz="1200">
                <a:solidFill>
                  <a:srgbClr val="000000"/>
                </a:solidFill>
                <a:latin typeface="Calibri"/>
              </a:rPr>
              <a:t>│  │  │  • External services                           │ │   │</a:t>
            </a:r>
          </a:p>
          <a:p>
            <a:pPr algn="l">
              <a:lnSpc>
                <a:spcPct val="110000"/>
              </a:lnSpc>
              <a:spcBef>
                <a:spcPts val="100"/>
              </a:spcBef>
              <a:spcAft>
                <a:spcPts val="100"/>
              </a:spcAft>
            </a:pPr>
            <a:r>
              <a:rPr sz="1200">
                <a:solidFill>
                  <a:srgbClr val="000000"/>
                </a:solidFill>
                <a:latin typeface="Calibri"/>
              </a:rPr>
              <a:t>│  │  └──────────────────────────────────────────────────┘ │   │</a:t>
            </a:r>
          </a:p>
          <a:p>
            <a:pPr algn="l">
              <a:lnSpc>
                <a:spcPct val="110000"/>
              </a:lnSpc>
              <a:spcBef>
                <a:spcPts val="100"/>
              </a:spcBef>
              <a:spcAft>
                <a:spcPts val="100"/>
              </a:spcAft>
            </a:pPr>
            <a:r>
              <a:rPr sz="1200">
                <a:solidFill>
                  <a:srgbClr val="000000"/>
                </a:solidFill>
                <a:latin typeface="Calibri"/>
              </a:rPr>
              <a:t>│  └─────────────────────────────────────────────────────────┘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Agentic Loop:                                                 │</a:t>
            </a:r>
          </a:p>
          <a:p>
            <a:pPr algn="l">
              <a:lnSpc>
                <a:spcPct val="110000"/>
              </a:lnSpc>
              <a:spcBef>
                <a:spcPts val="100"/>
              </a:spcBef>
              <a:spcAft>
                <a:spcPts val="100"/>
              </a:spcAft>
            </a:pPr>
            <a:r>
              <a:rPr sz="1200">
                <a:solidFill>
                  <a:srgbClr val="000000"/>
                </a:solidFill>
                <a:latin typeface="Calibri"/>
              </a:rPr>
              <a:t>│  Perceive → Plan → Execute → Reflect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LLM Integration</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 LLM Adapter</a:t>
            </a:r>
          </a:p>
          <a:p>
            <a:pPr algn="l">
              <a:lnSpc>
                <a:spcPct val="110000"/>
              </a:lnSpc>
              <a:spcBef>
                <a:spcPts val="100"/>
              </a:spcBef>
              <a:spcAft>
                <a:spcPts val="100"/>
              </a:spcAft>
            </a:pPr>
            <a:r>
              <a:rPr sz="1200">
                <a:solidFill>
                  <a:srgbClr val="000000"/>
                </a:solidFill>
                <a:latin typeface="Calibri"/>
              </a:rPr>
              <a:t>interface ILLMAdapter {</a:t>
            </a:r>
          </a:p>
          <a:p>
            <a:pPr algn="l">
              <a:lnSpc>
                <a:spcPct val="110000"/>
              </a:lnSpc>
              <a:spcBef>
                <a:spcPts val="100"/>
              </a:spcBef>
              <a:spcAft>
                <a:spcPts val="100"/>
              </a:spcAft>
            </a:pPr>
            <a:r>
              <a:rPr sz="1200">
                <a:solidFill>
                  <a:srgbClr val="000000"/>
                </a:solidFill>
                <a:latin typeface="Calibri"/>
              </a:rPr>
              <a:t>    complete(messages: Message[], options?: LLMOptions): Promise&lt;LLMResponse&gt;;</a:t>
            </a:r>
          </a:p>
          <a:p>
            <a:pPr algn="l">
              <a:lnSpc>
                <a:spcPct val="110000"/>
              </a:lnSpc>
              <a:spcBef>
                <a:spcPts val="100"/>
              </a:spcBef>
              <a:spcAft>
                <a:spcPts val="100"/>
              </a:spcAft>
            </a:pPr>
            <a:r>
              <a:rPr sz="1200">
                <a:solidFill>
                  <a:srgbClr val="000000"/>
                </a:solidFill>
                <a:latin typeface="Calibri"/>
              </a:rPr>
              <a:t>    stream(messages: Message[], options?: LLMOptions): AsyncIterable&lt;LLMResponse&gt;;</a:t>
            </a:r>
          </a:p>
          <a:p>
            <a:pPr algn="l">
              <a:lnSpc>
                <a:spcPct val="110000"/>
              </a:lnSpc>
              <a:spcBef>
                <a:spcPts val="100"/>
              </a:spcBef>
              <a:spcAft>
                <a:spcPts val="100"/>
              </a:spcAft>
            </a:pPr>
            <a:r>
              <a:rPr sz="1200">
                <a:solidFill>
                  <a:srgbClr val="000000"/>
                </a:solidFill>
                <a:latin typeface="Calibri"/>
              </a:rPr>
              <a:t>    embed(text: string): Promise&lt;number[]&gt;;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OpenAI Implementation</a:t>
            </a:r>
          </a:p>
          <a:p>
            <a:pPr algn="l">
              <a:lnSpc>
                <a:spcPct val="110000"/>
              </a:lnSpc>
              <a:spcBef>
                <a:spcPts val="100"/>
              </a:spcBef>
              <a:spcAft>
                <a:spcPts val="100"/>
              </a:spcAft>
            </a:pPr>
            <a:r>
              <a:rPr sz="1200">
                <a:solidFill>
                  <a:srgbClr val="000000"/>
                </a:solidFill>
                <a:latin typeface="Calibri"/>
              </a:rPr>
              <a:t>class OpenAIAdapter implements ILLMAdapter {</a:t>
            </a:r>
          </a:p>
          <a:p>
            <a:pPr algn="l">
              <a:lnSpc>
                <a:spcPct val="110000"/>
              </a:lnSpc>
              <a:spcBef>
                <a:spcPts val="100"/>
              </a:spcBef>
              <a:spcAft>
                <a:spcPts val="100"/>
              </a:spcAft>
            </a:pPr>
            <a:r>
              <a:rPr sz="1200">
                <a:solidFill>
                  <a:srgbClr val="000000"/>
                </a:solidFill>
                <a:latin typeface="Calibri"/>
              </a:rPr>
              <a:t>    private client: OpenAI;</a:t>
            </a:r>
          </a:p>
          <a:p>
            <a:pPr algn="l">
              <a:lnSpc>
                <a:spcPct val="110000"/>
              </a:lnSpc>
              <a:spcBef>
                <a:spcPts val="100"/>
              </a:spcBef>
              <a:spcAft>
                <a:spcPts val="100"/>
              </a:spcAft>
            </a:pPr>
            <a:r>
              <a:rPr sz="1200">
                <a:solidFill>
                  <a:srgbClr val="000000"/>
                </a:solidFill>
                <a:latin typeface="Calibri"/>
              </a:rPr>
              <a:t>    private model: string;</a:t>
            </a:r>
          </a:p>
          <a:p>
            <a:pPr algn="l">
              <a:lnSpc>
                <a:spcPct val="110000"/>
              </a:lnSpc>
              <a:spcBef>
                <a:spcPts val="100"/>
              </a:spcBef>
              <a:spcAft>
                <a:spcPts val="100"/>
              </a:spcAft>
            </a:pPr>
            <a:r>
              <a:rPr sz="1200">
                <a:solidFill>
                  <a:srgbClr val="000000"/>
                </a:solidFill>
                <a:latin typeface="Calibri"/>
              </a:rPr>
              <a:t>    async complete(messages: Message[], options?: LLMOptions): Promise&lt;LLMResponse&gt; {</a:t>
            </a:r>
          </a:p>
          <a:p>
            <a:pPr algn="l">
              <a:lnSpc>
                <a:spcPct val="110000"/>
              </a:lnSpc>
              <a:spcBef>
                <a:spcPts val="100"/>
              </a:spcBef>
              <a:spcAft>
                <a:spcPts val="100"/>
              </a:spcAft>
            </a:pPr>
            <a:r>
              <a:rPr sz="1200">
                <a:solidFill>
                  <a:srgbClr val="000000"/>
                </a:solidFill>
                <a:latin typeface="Calibri"/>
              </a:rPr>
              <a:t>        const response = await this.client.chat.completions.create({</a:t>
            </a:r>
          </a:p>
          <a:p>
            <a:pPr algn="l">
              <a:lnSpc>
                <a:spcPct val="110000"/>
              </a:lnSpc>
              <a:spcBef>
                <a:spcPts val="100"/>
              </a:spcBef>
              <a:spcAft>
                <a:spcPts val="100"/>
              </a:spcAft>
            </a:pPr>
            <a:r>
              <a:rPr sz="1200">
                <a:solidFill>
                  <a:srgbClr val="000000"/>
                </a:solidFill>
                <a:latin typeface="Calibri"/>
              </a:rPr>
              <a:t>            model: this.model,</a:t>
            </a:r>
          </a:p>
          <a:p>
            <a:pPr algn="l">
              <a:lnSpc>
                <a:spcPct val="110000"/>
              </a:lnSpc>
              <a:spcBef>
                <a:spcPts val="100"/>
              </a:spcBef>
              <a:spcAft>
                <a:spcPts val="100"/>
              </a:spcAft>
            </a:pPr>
            <a:r>
              <a:rPr sz="1200">
                <a:solidFill>
                  <a:srgbClr val="000000"/>
                </a:solidFill>
                <a:latin typeface="Calibri"/>
              </a:rPr>
              <a:t>            messages: messages.map(m =&gt; ({</a:t>
            </a:r>
          </a:p>
          <a:p>
            <a:pPr algn="l">
              <a:lnSpc>
                <a:spcPct val="110000"/>
              </a:lnSpc>
              <a:spcBef>
                <a:spcPts val="100"/>
              </a:spcBef>
              <a:spcAft>
                <a:spcPts val="100"/>
              </a:spcAft>
            </a:pPr>
            <a:r>
              <a:rPr sz="1200">
                <a:solidFill>
                  <a:srgbClr val="000000"/>
                </a:solidFill>
                <a:latin typeface="Calibri"/>
              </a:rPr>
              <a:t>                role: m.role,</a:t>
            </a:r>
          </a:p>
          <a:p>
            <a:pPr algn="l">
              <a:lnSpc>
                <a:spcPct val="110000"/>
              </a:lnSpc>
              <a:spcBef>
                <a:spcPts val="100"/>
              </a:spcBef>
              <a:spcAft>
                <a:spcPts val="100"/>
              </a:spcAft>
            </a:pPr>
            <a:r>
              <a:rPr sz="1200">
                <a:solidFill>
                  <a:srgbClr val="000000"/>
                </a:solidFill>
                <a:latin typeface="Calibri"/>
              </a:rPr>
              <a:t>                content: m.content,</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temperature: options?.temperature || 0.7,</a:t>
            </a:r>
          </a:p>
          <a:p>
            <a:pPr algn="l">
              <a:lnSpc>
                <a:spcPct val="110000"/>
              </a:lnSpc>
              <a:spcBef>
                <a:spcPts val="100"/>
              </a:spcBef>
              <a:spcAft>
                <a:spcPts val="100"/>
              </a:spcAft>
            </a:pPr>
            <a:r>
              <a:rPr sz="1200">
                <a:solidFill>
                  <a:srgbClr val="000000"/>
                </a:solidFill>
                <a:latin typeface="Calibri"/>
              </a:rPr>
              <a:t>            max_tokens: options?.maxTokens || 1000,</a:t>
            </a:r>
          </a:p>
          <a:p>
            <a:pPr algn="l">
              <a:lnSpc>
                <a:spcPct val="110000"/>
              </a:lnSpc>
              <a:spcBef>
                <a:spcPts val="100"/>
              </a:spcBef>
              <a:spcAft>
                <a:spcPts val="100"/>
              </a:spcAft>
            </a:pPr>
            <a:r>
              <a:rPr sz="1200">
                <a:solidFill>
                  <a:srgbClr val="000000"/>
                </a:solidFill>
                <a:latin typeface="Calibri"/>
              </a:rPr>
              <a:t>            tools: options?.tools,</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return {</a:t>
            </a:r>
          </a:p>
          <a:p>
            <a:pPr algn="l">
              <a:lnSpc>
                <a:spcPct val="110000"/>
              </a:lnSpc>
              <a:spcBef>
                <a:spcPts val="100"/>
              </a:spcBef>
              <a:spcAft>
                <a:spcPts val="100"/>
              </a:spcAft>
            </a:pPr>
            <a:r>
              <a:rPr sz="1200">
                <a:solidFill>
                  <a:srgbClr val="000000"/>
                </a:solidFill>
                <a:latin typeface="Calibri"/>
              </a:rPr>
              <a:t>            content: response.choices[0].message.content || '',</a:t>
            </a:r>
          </a:p>
          <a:p>
            <a:pPr algn="l">
              <a:lnSpc>
                <a:spcPct val="110000"/>
              </a:lnSpc>
              <a:spcBef>
                <a:spcPts val="100"/>
              </a:spcBef>
              <a:spcAft>
                <a:spcPts val="100"/>
              </a:spcAft>
            </a:pPr>
            <a:r>
              <a:rPr sz="1200">
                <a:solidFill>
                  <a:srgbClr val="000000"/>
                </a:solidFill>
                <a:latin typeface="Calibri"/>
              </a:rPr>
              <a:t>            toolCalls: response.choices[0].message.tool_calls || [],</a:t>
            </a:r>
          </a:p>
          <a:p>
            <a:pPr algn="l">
              <a:lnSpc>
                <a:spcPct val="110000"/>
              </a:lnSpc>
              <a:spcBef>
                <a:spcPts val="100"/>
              </a:spcBef>
              <a:spcAft>
                <a:spcPts val="100"/>
              </a:spcAft>
            </a:pPr>
            <a:r>
              <a:rPr sz="1200">
                <a:solidFill>
                  <a:srgbClr val="000000"/>
                </a:solidFill>
                <a:latin typeface="Calibri"/>
              </a:rPr>
              <a:t>            usage: {</a:t>
            </a:r>
          </a:p>
          <a:p>
            <a:pPr algn="l">
              <a:lnSpc>
                <a:spcPct val="110000"/>
              </a:lnSpc>
              <a:spcBef>
                <a:spcPts val="100"/>
              </a:spcBef>
              <a:spcAft>
                <a:spcPts val="100"/>
              </a:spcAft>
            </a:pPr>
            <a:r>
              <a:rPr sz="1200">
                <a:solidFill>
                  <a:srgbClr val="000000"/>
                </a:solidFill>
                <a:latin typeface="Calibri"/>
              </a:rPr>
              <a:t>                promptTokens: response.usage?.prompt_tokens || 0,</a:t>
            </a:r>
          </a:p>
          <a:p>
            <a:pPr algn="l">
              <a:lnSpc>
                <a:spcPct val="110000"/>
              </a:lnSpc>
              <a:spcBef>
                <a:spcPts val="100"/>
              </a:spcBef>
              <a:spcAft>
                <a:spcPts val="100"/>
              </a:spcAft>
            </a:pPr>
            <a:r>
              <a:rPr sz="1200">
                <a:solidFill>
                  <a:srgbClr val="000000"/>
                </a:solidFill>
                <a:latin typeface="Calibri"/>
              </a:rPr>
              <a:t>                completionTokens: response.usage?.completion_tokens || 0,</a:t>
            </a:r>
          </a:p>
          <a:p>
            <a:pPr algn="l">
              <a:lnSpc>
                <a:spcPct val="110000"/>
              </a:lnSpc>
              <a:spcBef>
                <a:spcPts val="100"/>
              </a:spcBef>
              <a:spcAft>
                <a:spcPts val="100"/>
              </a:spcAft>
            </a:pPr>
            <a:r>
              <a:rPr sz="1200">
                <a:solidFill>
                  <a:srgbClr val="000000"/>
                </a:solidFill>
                <a:latin typeface="Calibri"/>
              </a:rPr>
              <a:t>                totalTokens: response.usage?.total_tokens || 0,</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Agent Tools</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200">
                <a:solidFill>
                  <a:srgbClr val="000000"/>
                </a:solidFill>
                <a:latin typeface="Calibri"/>
              </a:rPr>
              <a:t>```typescript</a:t>
            </a:r>
          </a:p>
          <a:p>
            <a:pPr algn="l">
              <a:lnSpc>
                <a:spcPct val="110000"/>
              </a:lnSpc>
              <a:spcBef>
                <a:spcPts val="100"/>
              </a:spcBef>
              <a:spcAft>
                <a:spcPts val="100"/>
              </a:spcAft>
            </a:pPr>
            <a:r>
              <a:rPr sz="1200">
                <a:solidFill>
                  <a:srgbClr val="000000"/>
                </a:solidFill>
                <a:latin typeface="Calibri"/>
              </a:rPr>
              <a:t>interface Tool {</a:t>
            </a:r>
          </a:p>
          <a:p>
            <a:pPr algn="l">
              <a:lnSpc>
                <a:spcPct val="110000"/>
              </a:lnSpc>
              <a:spcBef>
                <a:spcPts val="100"/>
              </a:spcBef>
              <a:spcAft>
                <a:spcPts val="100"/>
              </a:spcAft>
            </a:pPr>
            <a:r>
              <a:rPr sz="1200">
                <a:solidFill>
                  <a:srgbClr val="000000"/>
                </a:solidFill>
                <a:latin typeface="Calibri"/>
              </a:rPr>
              <a:t>    name: string;</a:t>
            </a:r>
          </a:p>
          <a:p>
            <a:pPr algn="l">
              <a:lnSpc>
                <a:spcPct val="110000"/>
              </a:lnSpc>
              <a:spcBef>
                <a:spcPts val="100"/>
              </a:spcBef>
              <a:spcAft>
                <a:spcPts val="100"/>
              </a:spcAft>
            </a:pPr>
            <a:r>
              <a:rPr sz="1200">
                <a:solidFill>
                  <a:srgbClr val="000000"/>
                </a:solidFill>
                <a:latin typeface="Calibri"/>
              </a:rPr>
              <a:t>    description: string;</a:t>
            </a:r>
          </a:p>
          <a:p>
            <a:pPr algn="l">
              <a:lnSpc>
                <a:spcPct val="110000"/>
              </a:lnSpc>
              <a:spcBef>
                <a:spcPts val="100"/>
              </a:spcBef>
              <a:spcAft>
                <a:spcPts val="100"/>
              </a:spcAft>
            </a:pPr>
            <a:r>
              <a:rPr sz="1200">
                <a:solidFill>
                  <a:srgbClr val="000000"/>
                </a:solidFill>
                <a:latin typeface="Calibri"/>
              </a:rPr>
              <a:t>    parameters: {</a:t>
            </a:r>
          </a:p>
          <a:p>
            <a:pPr algn="l">
              <a:lnSpc>
                <a:spcPct val="110000"/>
              </a:lnSpc>
              <a:spcBef>
                <a:spcPts val="100"/>
              </a:spcBef>
              <a:spcAft>
                <a:spcPts val="100"/>
              </a:spcAft>
            </a:pPr>
            <a:r>
              <a:rPr sz="1200">
                <a:solidFill>
                  <a:srgbClr val="000000"/>
                </a:solidFill>
                <a:latin typeface="Calibri"/>
              </a:rPr>
              <a:t>        type: 'object';</a:t>
            </a:r>
          </a:p>
          <a:p>
            <a:pPr algn="l">
              <a:lnSpc>
                <a:spcPct val="110000"/>
              </a:lnSpc>
              <a:spcBef>
                <a:spcPts val="100"/>
              </a:spcBef>
              <a:spcAft>
                <a:spcPts val="100"/>
              </a:spcAft>
            </a:pPr>
            <a:r>
              <a:rPr sz="1200">
                <a:solidFill>
                  <a:srgbClr val="000000"/>
                </a:solidFill>
                <a:latin typeface="Calibri"/>
              </a:rPr>
              <a:t>        properties: Record&lt;string, {</a:t>
            </a:r>
          </a:p>
          <a:p>
            <a:pPr algn="l">
              <a:lnSpc>
                <a:spcPct val="110000"/>
              </a:lnSpc>
              <a:spcBef>
                <a:spcPts val="100"/>
              </a:spcBef>
              <a:spcAft>
                <a:spcPts val="100"/>
              </a:spcAft>
            </a:pPr>
            <a:r>
              <a:rPr sz="1200">
                <a:solidFill>
                  <a:srgbClr val="000000"/>
                </a:solidFill>
                <a:latin typeface="Calibri"/>
              </a:rPr>
              <a:t>            type: string;</a:t>
            </a:r>
          </a:p>
          <a:p>
            <a:pPr algn="l">
              <a:lnSpc>
                <a:spcPct val="110000"/>
              </a:lnSpc>
              <a:spcBef>
                <a:spcPts val="100"/>
              </a:spcBef>
              <a:spcAft>
                <a:spcPts val="100"/>
              </a:spcAft>
            </a:pPr>
            <a:r>
              <a:rPr sz="1200">
                <a:solidFill>
                  <a:srgbClr val="000000"/>
                </a:solidFill>
                <a:latin typeface="Calibri"/>
              </a:rPr>
              <a:t>            description: string;</a:t>
            </a:r>
          </a:p>
          <a:p>
            <a:pPr algn="l">
              <a:lnSpc>
                <a:spcPct val="110000"/>
              </a:lnSpc>
              <a:spcBef>
                <a:spcPts val="100"/>
              </a:spcBef>
              <a:spcAft>
                <a:spcPts val="100"/>
              </a:spcAft>
            </a:pPr>
            <a:r>
              <a:rPr sz="1200">
                <a:solidFill>
                  <a:srgbClr val="000000"/>
                </a:solidFill>
                <a:latin typeface="Calibri"/>
              </a:rPr>
              <a:t>            enum?: string[];</a:t>
            </a:r>
          </a:p>
          <a:p>
            <a:pPr algn="l">
              <a:lnSpc>
                <a:spcPct val="110000"/>
              </a:lnSpc>
              <a:spcBef>
                <a:spcPts val="100"/>
              </a:spcBef>
              <a:spcAft>
                <a:spcPts val="100"/>
              </a:spcAft>
            </a:pPr>
            <a:r>
              <a:rPr sz="1200">
                <a:solidFill>
                  <a:srgbClr val="000000"/>
                </a:solidFill>
                <a:latin typeface="Calibri"/>
              </a:rPr>
              <a:t>        }&gt;;</a:t>
            </a:r>
          </a:p>
          <a:p>
            <a:pPr algn="l">
              <a:lnSpc>
                <a:spcPct val="110000"/>
              </a:lnSpc>
              <a:spcBef>
                <a:spcPts val="100"/>
              </a:spcBef>
              <a:spcAft>
                <a:spcPts val="100"/>
              </a:spcAft>
            </a:pPr>
            <a:r>
              <a:rPr sz="1200">
                <a:solidFill>
                  <a:srgbClr val="000000"/>
                </a:solidFill>
                <a:latin typeface="Calibri"/>
              </a:rPr>
              <a:t>        required: string[];</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execute: (params: Record&lt;string, any&gt;) =&gt; Promise&lt;any&gt;;</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 Example Tool: Create Task</a:t>
            </a:r>
          </a:p>
          <a:p>
            <a:pPr algn="l">
              <a:lnSpc>
                <a:spcPct val="110000"/>
              </a:lnSpc>
              <a:spcBef>
                <a:spcPts val="100"/>
              </a:spcBef>
              <a:spcAft>
                <a:spcPts val="100"/>
              </a:spcAft>
            </a:pPr>
            <a:r>
              <a:rPr sz="1200">
                <a:solidFill>
                  <a:srgbClr val="000000"/>
                </a:solidFill>
                <a:latin typeface="Calibri"/>
              </a:rPr>
              <a:t>class CreateTaskTool implements Tool {</a:t>
            </a:r>
          </a:p>
          <a:p>
            <a:pPr algn="l">
              <a:lnSpc>
                <a:spcPct val="110000"/>
              </a:lnSpc>
              <a:spcBef>
                <a:spcPts val="100"/>
              </a:spcBef>
              <a:spcAft>
                <a:spcPts val="100"/>
              </a:spcAft>
            </a:pPr>
            <a:r>
              <a:rPr sz="1200">
                <a:solidFill>
                  <a:srgbClr val="000000"/>
                </a:solidFill>
                <a:latin typeface="Calibri"/>
              </a:rPr>
              <a:t>    name = 'create_task';</a:t>
            </a:r>
          </a:p>
          <a:p>
            <a:pPr algn="l">
              <a:lnSpc>
                <a:spcPct val="110000"/>
              </a:lnSpc>
              <a:spcBef>
                <a:spcPts val="100"/>
              </a:spcBef>
              <a:spcAft>
                <a:spcPts val="100"/>
              </a:spcAft>
            </a:pPr>
            <a:r>
              <a:rPr sz="1200">
                <a:solidFill>
                  <a:srgbClr val="000000"/>
                </a:solidFill>
                <a:latin typeface="Calibri"/>
              </a:rPr>
              <a:t>    description = 'Create a new task in the system';</a:t>
            </a:r>
          </a:p>
          <a:p>
            <a:pPr algn="l">
              <a:lnSpc>
                <a:spcPct val="110000"/>
              </a:lnSpc>
              <a:spcBef>
                <a:spcPts val="100"/>
              </a:spcBef>
              <a:spcAft>
                <a:spcPts val="100"/>
              </a:spcAft>
            </a:pPr>
            <a:r>
              <a:rPr sz="1200">
                <a:solidFill>
                  <a:srgbClr val="000000"/>
                </a:solidFill>
                <a:latin typeface="Calibri"/>
              </a:rPr>
              <a:t>    parameters = {</a:t>
            </a:r>
          </a:p>
          <a:p>
            <a:pPr algn="l">
              <a:lnSpc>
                <a:spcPct val="110000"/>
              </a:lnSpc>
              <a:spcBef>
                <a:spcPts val="100"/>
              </a:spcBef>
              <a:spcAft>
                <a:spcPts val="100"/>
              </a:spcAft>
            </a:pPr>
            <a:r>
              <a:rPr sz="1200">
                <a:solidFill>
                  <a:srgbClr val="000000"/>
                </a:solidFill>
                <a:latin typeface="Calibri"/>
              </a:rPr>
              <a:t>        type: 'object' as const,</a:t>
            </a:r>
          </a:p>
          <a:p>
            <a:pPr algn="l">
              <a:lnSpc>
                <a:spcPct val="110000"/>
              </a:lnSpc>
              <a:spcBef>
                <a:spcPts val="100"/>
              </a:spcBef>
              <a:spcAft>
                <a:spcPts val="100"/>
              </a:spcAft>
            </a:pPr>
            <a:r>
              <a:rPr sz="1200">
                <a:solidFill>
                  <a:srgbClr val="000000"/>
                </a:solidFill>
                <a:latin typeface="Calibri"/>
              </a:rPr>
              <a:t>        properties: {</a:t>
            </a:r>
          </a:p>
          <a:p>
            <a:pPr algn="l">
              <a:lnSpc>
                <a:spcPct val="110000"/>
              </a:lnSpc>
              <a:spcBef>
                <a:spcPts val="100"/>
              </a:spcBef>
              <a:spcAft>
                <a:spcPts val="100"/>
              </a:spcAft>
            </a:pPr>
            <a:r>
              <a:rPr sz="1200">
                <a:solidFill>
                  <a:srgbClr val="000000"/>
                </a:solidFill>
                <a:latin typeface="Calibri"/>
              </a:rPr>
              <a:t>            title: { type: 'string', description: 'Task title' },</a:t>
            </a:r>
          </a:p>
          <a:p>
            <a:pPr algn="l">
              <a:lnSpc>
                <a:spcPct val="110000"/>
              </a:lnSpc>
              <a:spcBef>
                <a:spcPts val="100"/>
              </a:spcBef>
              <a:spcAft>
                <a:spcPts val="100"/>
              </a:spcAft>
            </a:pPr>
            <a:r>
              <a:rPr sz="1200">
                <a:solidFill>
                  <a:srgbClr val="000000"/>
                </a:solidFill>
                <a:latin typeface="Calibri"/>
              </a:rPr>
              <a:t>            description: { type: 'string', description: 'Task description' },</a:t>
            </a:r>
          </a:p>
          <a:p>
            <a:pPr algn="l">
              <a:lnSpc>
                <a:spcPct val="110000"/>
              </a:lnSpc>
              <a:spcBef>
                <a:spcPts val="100"/>
              </a:spcBef>
              <a:spcAft>
                <a:spcPts val="100"/>
              </a:spcAft>
            </a:pPr>
            <a:r>
              <a:rPr sz="1200">
                <a:solidFill>
                  <a:srgbClr val="000000"/>
                </a:solidFill>
                <a:latin typeface="Calibri"/>
              </a:rPr>
              <a:t>            priority: { type: 'string', enum: ['low', 'medium', 'high', 'critical']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required: ['title', 'description'],</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async execute(params: Record&lt;string, any&gt;): Promise&lt;any&gt; {</a:t>
            </a:r>
          </a:p>
          <a:p>
            <a:pPr algn="l">
              <a:lnSpc>
                <a:spcPct val="110000"/>
              </a:lnSpc>
              <a:spcBef>
                <a:spcPts val="100"/>
              </a:spcBef>
              <a:spcAft>
                <a:spcPts val="100"/>
              </a:spcAft>
            </a:pPr>
            <a:r>
              <a:rPr sz="1200">
                <a:solidFill>
                  <a:srgbClr val="000000"/>
                </a:solidFill>
                <a:latin typeface="Calibri"/>
              </a:rPr>
              <a:t>        return await taskService.createTask({</a:t>
            </a:r>
          </a:p>
          <a:p>
            <a:pPr algn="l">
              <a:lnSpc>
                <a:spcPct val="110000"/>
              </a:lnSpc>
              <a:spcBef>
                <a:spcPts val="100"/>
              </a:spcBef>
              <a:spcAft>
                <a:spcPts val="100"/>
              </a:spcAft>
            </a:pPr>
            <a:r>
              <a:rPr sz="1200">
                <a:solidFill>
                  <a:srgbClr val="000000"/>
                </a:solidFill>
                <a:latin typeface="Calibri"/>
              </a:rPr>
              <a:t>            title: params.title,</a:t>
            </a:r>
          </a:p>
          <a:p>
            <a:pPr algn="l">
              <a:lnSpc>
                <a:spcPct val="110000"/>
              </a:lnSpc>
              <a:spcBef>
                <a:spcPts val="100"/>
              </a:spcBef>
              <a:spcAft>
                <a:spcPts val="100"/>
              </a:spcAft>
            </a:pPr>
            <a:r>
              <a:rPr sz="1200">
                <a:solidFill>
                  <a:srgbClr val="000000"/>
                </a:solidFill>
                <a:latin typeface="Calibri"/>
              </a:rPr>
              <a:t>            description: params.description,</a:t>
            </a:r>
          </a:p>
          <a:p>
            <a:pPr algn="l">
              <a:lnSpc>
                <a:spcPct val="110000"/>
              </a:lnSpc>
              <a:spcBef>
                <a:spcPts val="100"/>
              </a:spcBef>
              <a:spcAft>
                <a:spcPts val="100"/>
              </a:spcAft>
            </a:pPr>
            <a:r>
              <a:rPr sz="1200">
                <a:solidFill>
                  <a:srgbClr val="000000"/>
                </a:solidFill>
                <a:latin typeface="Calibri"/>
              </a:rPr>
              <a:t>            priority: params.priority || 'medium',</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    }</a:t>
            </a:r>
          </a:p>
          <a:p>
            <a:pPr algn="l">
              <a:lnSpc>
                <a:spcPct val="110000"/>
              </a:lnSpc>
              <a:spcBef>
                <a:spcPts val="100"/>
              </a:spcBef>
              <a:spcAft>
                <a:spcPts val="100"/>
              </a:spcAft>
            </a:pPr>
            <a:r>
              <a:rPr sz="1200">
                <a:solidFill>
                  <a:srgbClr val="000000"/>
                </a:solidFill>
                <a:latin typeface="Calibri"/>
              </a:rPr>
              <a:t>}</a:t>
            </a:r>
          </a:p>
          <a:p>
            <a:pPr algn="l">
              <a:lnSpc>
                <a:spcPct val="110000"/>
              </a:lnSpc>
              <a:spcBef>
                <a:spcPts val="100"/>
              </a:spcBef>
              <a:spcAft>
                <a:spcPts val="100"/>
              </a:spcAft>
            </a:pPr>
            <a:r>
              <a:rPr sz="1200">
                <a:solidFill>
                  <a:srgbClr val="000000"/>
                </a:solidFill>
                <a:latin typeface="Calibri"/>
              </a:rPr>
              <a: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Vector Memory</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```typescript</a:t>
            </a:r>
          </a:p>
          <a:p>
            <a:pPr algn="l">
              <a:lnSpc>
                <a:spcPct val="110000"/>
              </a:lnSpc>
              <a:spcBef>
                <a:spcPts val="100"/>
              </a:spcBef>
              <a:spcAft>
                <a:spcPts val="100"/>
              </a:spcAft>
            </a:pPr>
            <a:r>
              <a:rPr sz="1100">
                <a:solidFill>
                  <a:srgbClr val="000000"/>
                </a:solidFill>
                <a:latin typeface="Calibri"/>
              </a:rPr>
              <a:t>class VectorMemory {</a:t>
            </a:r>
          </a:p>
          <a:p>
            <a:pPr algn="l">
              <a:lnSpc>
                <a:spcPct val="110000"/>
              </a:lnSpc>
              <a:spcBef>
                <a:spcPts val="100"/>
              </a:spcBef>
              <a:spcAft>
                <a:spcPts val="100"/>
              </a:spcAft>
            </a:pPr>
            <a:r>
              <a:rPr sz="1100">
                <a:solidFill>
                  <a:srgbClr val="000000"/>
                </a:solidFill>
                <a:latin typeface="Calibri"/>
              </a:rPr>
              <a:t>    private memories: Map&lt;string, MemoryEntry&gt; = new Map();</a:t>
            </a:r>
          </a:p>
          <a:p>
            <a:pPr algn="l">
              <a:lnSpc>
                <a:spcPct val="110000"/>
              </a:lnSpc>
              <a:spcBef>
                <a:spcPts val="100"/>
              </a:spcBef>
              <a:spcAft>
                <a:spcPts val="100"/>
              </a:spcAft>
            </a:pPr>
            <a:r>
              <a:rPr sz="1100">
                <a:solidFill>
                  <a:srgbClr val="000000"/>
                </a:solidFill>
                <a:latin typeface="Calibri"/>
              </a:rPr>
              <a:t>    async store(content: string, metadata: Record&lt;string, any&gt; = {}): Promise&lt;string&gt; {</a:t>
            </a:r>
          </a:p>
          <a:p>
            <a:pPr algn="l">
              <a:lnSpc>
                <a:spcPct val="110000"/>
              </a:lnSpc>
              <a:spcBef>
                <a:spcPts val="100"/>
              </a:spcBef>
              <a:spcAft>
                <a:spcPts val="100"/>
              </a:spcAft>
            </a:pPr>
            <a:r>
              <a:rPr sz="1100">
                <a:solidFill>
                  <a:srgbClr val="000000"/>
                </a:solidFill>
                <a:latin typeface="Calibri"/>
              </a:rPr>
              <a:t>        const id = randomUUID();</a:t>
            </a:r>
          </a:p>
          <a:p>
            <a:pPr algn="l">
              <a:lnSpc>
                <a:spcPct val="110000"/>
              </a:lnSpc>
              <a:spcBef>
                <a:spcPts val="100"/>
              </a:spcBef>
              <a:spcAft>
                <a:spcPts val="100"/>
              </a:spcAft>
            </a:pPr>
            <a:r>
              <a:rPr sz="1100">
                <a:solidFill>
                  <a:srgbClr val="000000"/>
                </a:solidFill>
                <a:latin typeface="Calibri"/>
              </a:rPr>
              <a:t>        const embedding = await this.llm.embed(content);</a:t>
            </a:r>
          </a:p>
          <a:p>
            <a:pPr algn="l">
              <a:lnSpc>
                <a:spcPct val="110000"/>
              </a:lnSpc>
              <a:spcBef>
                <a:spcPts val="100"/>
              </a:spcBef>
              <a:spcAft>
                <a:spcPts val="100"/>
              </a:spcAft>
            </a:pPr>
            <a:r>
              <a:rPr sz="1100">
                <a:solidFill>
                  <a:srgbClr val="000000"/>
                </a:solidFill>
                <a:latin typeface="Calibri"/>
              </a:rPr>
              <a:t>        this.memories.set(id, {</a:t>
            </a:r>
          </a:p>
          <a:p>
            <a:pPr algn="l">
              <a:lnSpc>
                <a:spcPct val="110000"/>
              </a:lnSpc>
              <a:spcBef>
                <a:spcPts val="100"/>
              </a:spcBef>
              <a:spcAft>
                <a:spcPts val="100"/>
              </a:spcAft>
            </a:pPr>
            <a:r>
              <a:rPr sz="1100">
                <a:solidFill>
                  <a:srgbClr val="000000"/>
                </a:solidFill>
                <a:latin typeface="Calibri"/>
              </a:rPr>
              <a:t>            id,</a:t>
            </a:r>
          </a:p>
          <a:p>
            <a:pPr algn="l">
              <a:lnSpc>
                <a:spcPct val="110000"/>
              </a:lnSpc>
              <a:spcBef>
                <a:spcPts val="100"/>
              </a:spcBef>
              <a:spcAft>
                <a:spcPts val="100"/>
              </a:spcAft>
            </a:pPr>
            <a:r>
              <a:rPr sz="1100">
                <a:solidFill>
                  <a:srgbClr val="000000"/>
                </a:solidFill>
                <a:latin typeface="Calibri"/>
              </a:rPr>
              <a:t>            content,</a:t>
            </a:r>
          </a:p>
          <a:p>
            <a:pPr algn="l">
              <a:lnSpc>
                <a:spcPct val="110000"/>
              </a:lnSpc>
              <a:spcBef>
                <a:spcPts val="100"/>
              </a:spcBef>
              <a:spcAft>
                <a:spcPts val="100"/>
              </a:spcAft>
            </a:pPr>
            <a:r>
              <a:rPr sz="1100">
                <a:solidFill>
                  <a:srgbClr val="000000"/>
                </a:solidFill>
                <a:latin typeface="Calibri"/>
              </a:rPr>
              <a:t>            embedding,</a:t>
            </a:r>
          </a:p>
          <a:p>
            <a:pPr algn="l">
              <a:lnSpc>
                <a:spcPct val="110000"/>
              </a:lnSpc>
              <a:spcBef>
                <a:spcPts val="100"/>
              </a:spcBef>
              <a:spcAft>
                <a:spcPts val="100"/>
              </a:spcAft>
            </a:pPr>
            <a:r>
              <a:rPr sz="1100">
                <a:solidFill>
                  <a:srgbClr val="000000"/>
                </a:solidFill>
                <a:latin typeface="Calibri"/>
              </a:rPr>
              <a:t>            metadata,</a:t>
            </a:r>
          </a:p>
          <a:p>
            <a:pPr algn="l">
              <a:lnSpc>
                <a:spcPct val="110000"/>
              </a:lnSpc>
              <a:spcBef>
                <a:spcPts val="100"/>
              </a:spcBef>
              <a:spcAft>
                <a:spcPts val="100"/>
              </a:spcAft>
            </a:pPr>
            <a:r>
              <a:rPr sz="1100">
                <a:solidFill>
                  <a:srgbClr val="000000"/>
                </a:solidFill>
                <a:latin typeface="Calibri"/>
              </a:rPr>
              <a:t>            timestamp: new Date(),</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return id;</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async search(query: string, limit: number = 10): Promise&lt;MemoryEntry[]&gt; {</a:t>
            </a:r>
          </a:p>
          <a:p>
            <a:pPr algn="l">
              <a:lnSpc>
                <a:spcPct val="110000"/>
              </a:lnSpc>
              <a:spcBef>
                <a:spcPts val="100"/>
              </a:spcBef>
              <a:spcAft>
                <a:spcPts val="100"/>
              </a:spcAft>
            </a:pPr>
            <a:r>
              <a:rPr sz="1100">
                <a:solidFill>
                  <a:srgbClr val="000000"/>
                </a:solidFill>
                <a:latin typeface="Calibri"/>
              </a:rPr>
              <a:t>        const queryEmbedding = await this.llm.embed(query);</a:t>
            </a:r>
          </a:p>
          <a:p>
            <a:pPr algn="l">
              <a:lnSpc>
                <a:spcPct val="110000"/>
              </a:lnSpc>
              <a:spcBef>
                <a:spcPts val="100"/>
              </a:spcBef>
              <a:spcAft>
                <a:spcPts val="100"/>
              </a:spcAft>
            </a:pPr>
            <a:r>
              <a:rPr sz="1100">
                <a:solidFill>
                  <a:srgbClr val="000000"/>
                </a:solidFill>
                <a:latin typeface="Calibri"/>
              </a:rPr>
              <a:t>        const results: Array&lt;{ entry: MemoryEntry; similarity: number }&gt; = [];</a:t>
            </a:r>
          </a:p>
          <a:p>
            <a:pPr algn="l">
              <a:lnSpc>
                <a:spcPct val="110000"/>
              </a:lnSpc>
              <a:spcBef>
                <a:spcPts val="100"/>
              </a:spcBef>
              <a:spcAft>
                <a:spcPts val="100"/>
              </a:spcAft>
            </a:pPr>
            <a:r>
              <a:rPr sz="1100">
                <a:solidFill>
                  <a:srgbClr val="000000"/>
                </a:solidFill>
                <a:latin typeface="Calibri"/>
              </a:rPr>
              <a:t>        for (const entry of this.memories.values()) {</a:t>
            </a:r>
          </a:p>
          <a:p>
            <a:pPr algn="l">
              <a:lnSpc>
                <a:spcPct val="110000"/>
              </a:lnSpc>
              <a:spcBef>
                <a:spcPts val="100"/>
              </a:spcBef>
              <a:spcAft>
                <a:spcPts val="100"/>
              </a:spcAft>
            </a:pPr>
            <a:r>
              <a:rPr sz="1100">
                <a:solidFill>
                  <a:srgbClr val="000000"/>
                </a:solidFill>
                <a:latin typeface="Calibri"/>
              </a:rPr>
              <a:t>            if (!entry.embedding) continue;</a:t>
            </a:r>
          </a:p>
          <a:p>
            <a:pPr algn="l">
              <a:lnSpc>
                <a:spcPct val="110000"/>
              </a:lnSpc>
              <a:spcBef>
                <a:spcPts val="100"/>
              </a:spcBef>
              <a:spcAft>
                <a:spcPts val="100"/>
              </a:spcAft>
            </a:pPr>
            <a:r>
              <a:rPr sz="1100">
                <a:solidFill>
                  <a:srgbClr val="000000"/>
                </a:solidFill>
                <a:latin typeface="Calibri"/>
              </a:rPr>
              <a:t>            const similarity = this.cosineSimilarity(queryEmbedding, entry.embedding);</a:t>
            </a:r>
          </a:p>
          <a:p>
            <a:pPr algn="l">
              <a:lnSpc>
                <a:spcPct val="110000"/>
              </a:lnSpc>
              <a:spcBef>
                <a:spcPts val="100"/>
              </a:spcBef>
              <a:spcAft>
                <a:spcPts val="100"/>
              </a:spcAft>
            </a:pPr>
            <a:r>
              <a:rPr sz="1100">
                <a:solidFill>
                  <a:srgbClr val="000000"/>
                </a:solidFill>
                <a:latin typeface="Calibri"/>
              </a:rPr>
              <a:t>            results.push({ entry, similarity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results.sort((a, b) =&gt; b.similarity - a.similarity);</a:t>
            </a:r>
          </a:p>
          <a:p>
            <a:pPr algn="l">
              <a:lnSpc>
                <a:spcPct val="110000"/>
              </a:lnSpc>
              <a:spcBef>
                <a:spcPts val="100"/>
              </a:spcBef>
              <a:spcAft>
                <a:spcPts val="100"/>
              </a:spcAft>
            </a:pPr>
            <a:r>
              <a:rPr sz="1100">
                <a:solidFill>
                  <a:srgbClr val="000000"/>
                </a:solidFill>
                <a:latin typeface="Calibri"/>
              </a:rPr>
              <a:t>        return results.slice(0, limit).map(r =&gt; r.entry);</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private cosineSimilarity(a: number[], b: number[]): number {</a:t>
            </a:r>
          </a:p>
          <a:p>
            <a:pPr algn="l">
              <a:lnSpc>
                <a:spcPct val="110000"/>
              </a:lnSpc>
              <a:spcBef>
                <a:spcPts val="100"/>
              </a:spcBef>
              <a:spcAft>
                <a:spcPts val="100"/>
              </a:spcAft>
            </a:pPr>
            <a:r>
              <a:rPr sz="1100">
                <a:solidFill>
                  <a:srgbClr val="000000"/>
                </a:solidFill>
                <a:latin typeface="Calibri"/>
              </a:rPr>
              <a:t>        // Calculate similarity between vectors</a:t>
            </a:r>
          </a:p>
          <a:p>
            <a:pPr algn="l">
              <a:lnSpc>
                <a:spcPct val="110000"/>
              </a:lnSpc>
              <a:spcBef>
                <a:spcPts val="100"/>
              </a:spcBef>
              <a:spcAft>
                <a:spcPts val="100"/>
              </a:spcAft>
            </a:pPr>
            <a:r>
              <a:rPr sz="1100">
                <a:solidFill>
                  <a:srgbClr val="000000"/>
                </a:solidFill>
                <a:latin typeface="Calibri"/>
              </a:rPr>
              <a:t>        let dotProduct = 0;</a:t>
            </a:r>
          </a:p>
          <a:p>
            <a:pPr algn="l">
              <a:lnSpc>
                <a:spcPct val="110000"/>
              </a:lnSpc>
              <a:spcBef>
                <a:spcPts val="100"/>
              </a:spcBef>
              <a:spcAft>
                <a:spcPts val="100"/>
              </a:spcAft>
            </a:pPr>
            <a:r>
              <a:rPr sz="1100">
                <a:solidFill>
                  <a:srgbClr val="000000"/>
                </a:solidFill>
                <a:latin typeface="Calibri"/>
              </a:rPr>
              <a:t>        let normA = 0;</a:t>
            </a:r>
          </a:p>
          <a:p>
            <a:pPr algn="l">
              <a:lnSpc>
                <a:spcPct val="110000"/>
              </a:lnSpc>
              <a:spcBef>
                <a:spcPts val="100"/>
              </a:spcBef>
              <a:spcAft>
                <a:spcPts val="100"/>
              </a:spcAft>
            </a:pPr>
            <a:r>
              <a:rPr sz="1100">
                <a:solidFill>
                  <a:srgbClr val="000000"/>
                </a:solidFill>
                <a:latin typeface="Calibri"/>
              </a:rPr>
              <a:t>        let normB = 0;</a:t>
            </a:r>
          </a:p>
          <a:p>
            <a:pPr algn="l">
              <a:lnSpc>
                <a:spcPct val="110000"/>
              </a:lnSpc>
              <a:spcBef>
                <a:spcPts val="100"/>
              </a:spcBef>
              <a:spcAft>
                <a:spcPts val="100"/>
              </a:spcAft>
            </a:pPr>
            <a:r>
              <a:rPr sz="1100">
                <a:solidFill>
                  <a:srgbClr val="000000"/>
                </a:solidFill>
                <a:latin typeface="Calibri"/>
              </a:rPr>
              <a:t>        for (let i = 0; i &lt; a.length; i++) {</a:t>
            </a:r>
          </a:p>
          <a:p>
            <a:pPr algn="l">
              <a:lnSpc>
                <a:spcPct val="110000"/>
              </a:lnSpc>
              <a:spcBef>
                <a:spcPts val="100"/>
              </a:spcBef>
              <a:spcAft>
                <a:spcPts val="100"/>
              </a:spcAft>
            </a:pPr>
            <a:r>
              <a:rPr sz="1100">
                <a:solidFill>
                  <a:srgbClr val="000000"/>
                </a:solidFill>
                <a:latin typeface="Calibri"/>
              </a:rPr>
              <a:t>            dotProduct += a[i] * b[i];</a:t>
            </a:r>
          </a:p>
          <a:p>
            <a:pPr algn="l">
              <a:lnSpc>
                <a:spcPct val="110000"/>
              </a:lnSpc>
              <a:spcBef>
                <a:spcPts val="100"/>
              </a:spcBef>
              <a:spcAft>
                <a:spcPts val="100"/>
              </a:spcAft>
            </a:pPr>
            <a:r>
              <a:rPr sz="1100">
                <a:solidFill>
                  <a:srgbClr val="000000"/>
                </a:solidFill>
                <a:latin typeface="Calibri"/>
              </a:rPr>
              <a:t>            normA += a[i] * a[i];</a:t>
            </a:r>
          </a:p>
          <a:p>
            <a:pPr algn="l">
              <a:lnSpc>
                <a:spcPct val="110000"/>
              </a:lnSpc>
              <a:spcBef>
                <a:spcPts val="100"/>
              </a:spcBef>
              <a:spcAft>
                <a:spcPts val="100"/>
              </a:spcAft>
            </a:pPr>
            <a:r>
              <a:rPr sz="1100">
                <a:solidFill>
                  <a:srgbClr val="000000"/>
                </a:solidFill>
                <a:latin typeface="Calibri"/>
              </a:rPr>
              <a:t>            normB += b[i] * b[i];</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if (normA === 0 || normB === 0) return 0;</a:t>
            </a:r>
          </a:p>
          <a:p>
            <a:pPr algn="l">
              <a:lnSpc>
                <a:spcPct val="110000"/>
              </a:lnSpc>
              <a:spcBef>
                <a:spcPts val="100"/>
              </a:spcBef>
              <a:spcAft>
                <a:spcPts val="100"/>
              </a:spcAft>
            </a:pPr>
            <a:r>
              <a:rPr sz="1100">
                <a:solidFill>
                  <a:srgbClr val="000000"/>
                </a:solidFill>
                <a:latin typeface="Calibri"/>
              </a:rPr>
              <a:t>        return dotProduct / (Math.sqrt(normA) * Math.sqrt(normB));</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PART 6.2: The Final Boss (20 Slides)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Request Queue</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```typescript</a:t>
            </a:r>
          </a:p>
          <a:p>
            <a:pPr algn="l">
              <a:lnSpc>
                <a:spcPct val="110000"/>
              </a:lnSpc>
              <a:spcBef>
                <a:spcPts val="100"/>
              </a:spcBef>
              <a:spcAft>
                <a:spcPts val="100"/>
              </a:spcAft>
            </a:pPr>
            <a:r>
              <a:rPr sz="1100">
                <a:solidFill>
                  <a:srgbClr val="000000"/>
                </a:solidFill>
                <a:latin typeface="Calibri"/>
              </a:rPr>
              <a:t>enum Priority {</a:t>
            </a:r>
          </a:p>
          <a:p>
            <a:pPr algn="l">
              <a:lnSpc>
                <a:spcPct val="110000"/>
              </a:lnSpc>
              <a:spcBef>
                <a:spcPts val="100"/>
              </a:spcBef>
              <a:spcAft>
                <a:spcPts val="100"/>
              </a:spcAft>
            </a:pPr>
            <a:r>
              <a:rPr sz="1100">
                <a:solidFill>
                  <a:srgbClr val="000000"/>
                </a:solidFill>
                <a:latin typeface="Calibri"/>
              </a:rPr>
              <a:t>    CRITICAL = 0,</a:t>
            </a:r>
          </a:p>
          <a:p>
            <a:pPr algn="l">
              <a:lnSpc>
                <a:spcPct val="110000"/>
              </a:lnSpc>
              <a:spcBef>
                <a:spcPts val="100"/>
              </a:spcBef>
              <a:spcAft>
                <a:spcPts val="100"/>
              </a:spcAft>
            </a:pPr>
            <a:r>
              <a:rPr sz="1100">
                <a:solidFill>
                  <a:srgbClr val="000000"/>
                </a:solidFill>
                <a:latin typeface="Calibri"/>
              </a:rPr>
              <a:t>    HIGH = 1,</a:t>
            </a:r>
          </a:p>
          <a:p>
            <a:pPr algn="l">
              <a:lnSpc>
                <a:spcPct val="110000"/>
              </a:lnSpc>
              <a:spcBef>
                <a:spcPts val="100"/>
              </a:spcBef>
              <a:spcAft>
                <a:spcPts val="100"/>
              </a:spcAft>
            </a:pPr>
            <a:r>
              <a:rPr sz="1100">
                <a:solidFill>
                  <a:srgbClr val="000000"/>
                </a:solidFill>
                <a:latin typeface="Calibri"/>
              </a:rPr>
              <a:t>    MEDIUM = 2,</a:t>
            </a:r>
          </a:p>
          <a:p>
            <a:pPr algn="l">
              <a:lnSpc>
                <a:spcPct val="110000"/>
              </a:lnSpc>
              <a:spcBef>
                <a:spcPts val="100"/>
              </a:spcBef>
              <a:spcAft>
                <a:spcPts val="100"/>
              </a:spcAft>
            </a:pPr>
            <a:r>
              <a:rPr sz="1100">
                <a:solidFill>
                  <a:srgbClr val="000000"/>
                </a:solidFill>
                <a:latin typeface="Calibri"/>
              </a:rPr>
              <a:t>    LOW = 3,</a:t>
            </a:r>
          </a:p>
          <a:p>
            <a:pPr algn="l">
              <a:lnSpc>
                <a:spcPct val="110000"/>
              </a:lnSpc>
              <a:spcBef>
                <a:spcPts val="100"/>
              </a:spcBef>
              <a:spcAft>
                <a:spcPts val="100"/>
              </a:spcAft>
            </a:pPr>
            <a:r>
              <a:rPr sz="1100">
                <a:solidFill>
                  <a:srgbClr val="000000"/>
                </a:solidFill>
                <a:latin typeface="Calibri"/>
              </a:rPr>
              <a:t>    BACKGROUND = 4,</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class RequestQueue {</a:t>
            </a:r>
          </a:p>
          <a:p>
            <a:pPr algn="l">
              <a:lnSpc>
                <a:spcPct val="110000"/>
              </a:lnSpc>
              <a:spcBef>
                <a:spcPts val="100"/>
              </a:spcBef>
              <a:spcAft>
                <a:spcPts val="100"/>
              </a:spcAft>
            </a:pPr>
            <a:r>
              <a:rPr sz="1100">
                <a:solidFill>
                  <a:srgbClr val="000000"/>
                </a:solidFill>
                <a:latin typeface="Calibri"/>
              </a:rPr>
              <a:t>    private queues: Map&lt;Priority, QueuedRequest[]&gt; = new Map();</a:t>
            </a:r>
          </a:p>
          <a:p>
            <a:pPr algn="l">
              <a:lnSpc>
                <a:spcPct val="110000"/>
              </a:lnSpc>
              <a:spcBef>
                <a:spcPts val="100"/>
              </a:spcBef>
              <a:spcAft>
                <a:spcPts val="100"/>
              </a:spcAft>
            </a:pPr>
            <a:r>
              <a:rPr sz="1100">
                <a:solidFill>
                  <a:srgbClr val="000000"/>
                </a:solidFill>
                <a:latin typeface="Calibri"/>
              </a:rPr>
              <a:t>    private processing = 0;</a:t>
            </a:r>
          </a:p>
          <a:p>
            <a:pPr algn="l">
              <a:lnSpc>
                <a:spcPct val="110000"/>
              </a:lnSpc>
              <a:spcBef>
                <a:spcPts val="100"/>
              </a:spcBef>
              <a:spcAft>
                <a:spcPts val="100"/>
              </a:spcAft>
            </a:pPr>
            <a:r>
              <a:rPr sz="1100">
                <a:solidFill>
                  <a:srgbClr val="000000"/>
                </a:solidFill>
                <a:latin typeface="Calibri"/>
              </a:rPr>
              <a:t>    private maxConcurrent = 10;</a:t>
            </a:r>
          </a:p>
          <a:p>
            <a:pPr algn="l">
              <a:lnSpc>
                <a:spcPct val="110000"/>
              </a:lnSpc>
              <a:spcBef>
                <a:spcPts val="100"/>
              </a:spcBef>
              <a:spcAft>
                <a:spcPts val="100"/>
              </a:spcAft>
            </a:pPr>
            <a:r>
              <a:rPr sz="1100">
                <a:solidFill>
                  <a:srgbClr val="000000"/>
                </a:solidFill>
                <a:latin typeface="Calibri"/>
              </a:rPr>
              <a:t>    async enqueue&lt;T&gt;(</a:t>
            </a:r>
          </a:p>
          <a:p>
            <a:pPr algn="l">
              <a:lnSpc>
                <a:spcPct val="110000"/>
              </a:lnSpc>
              <a:spcBef>
                <a:spcPts val="100"/>
              </a:spcBef>
              <a:spcAft>
                <a:spcPts val="100"/>
              </a:spcAft>
            </a:pPr>
            <a:r>
              <a:rPr sz="1100">
                <a:solidFill>
                  <a:srgbClr val="000000"/>
                </a:solidFill>
                <a:latin typeface="Calibri"/>
              </a:rPr>
              <a:t>        execute: () =&gt; Promise&lt;T&gt;,</a:t>
            </a:r>
          </a:p>
          <a:p>
            <a:pPr algn="l">
              <a:lnSpc>
                <a:spcPct val="110000"/>
              </a:lnSpc>
              <a:spcBef>
                <a:spcPts val="100"/>
              </a:spcBef>
              <a:spcAft>
                <a:spcPts val="100"/>
              </a:spcAft>
            </a:pPr>
            <a:r>
              <a:rPr sz="1100">
                <a:solidFill>
                  <a:srgbClr val="000000"/>
                </a:solidFill>
                <a:latin typeface="Calibri"/>
              </a:rPr>
              <a:t>        priority: Priority = Priority.MEDIUM,</a:t>
            </a:r>
          </a:p>
          <a:p>
            <a:pPr algn="l">
              <a:lnSpc>
                <a:spcPct val="110000"/>
              </a:lnSpc>
              <a:spcBef>
                <a:spcPts val="100"/>
              </a:spcBef>
              <a:spcAft>
                <a:spcPts val="100"/>
              </a:spcAft>
            </a:pPr>
            <a:r>
              <a:rPr sz="1100">
                <a:solidFill>
                  <a:srgbClr val="000000"/>
                </a:solidFill>
                <a:latin typeface="Calibri"/>
              </a:rPr>
              <a:t>        timeout: number = 30000</a:t>
            </a:r>
          </a:p>
          <a:p>
            <a:pPr algn="l">
              <a:lnSpc>
                <a:spcPct val="110000"/>
              </a:lnSpc>
              <a:spcBef>
                <a:spcPts val="100"/>
              </a:spcBef>
              <a:spcAft>
                <a:spcPts val="100"/>
              </a:spcAft>
            </a:pPr>
            <a:r>
              <a:rPr sz="1100">
                <a:solidFill>
                  <a:srgbClr val="000000"/>
                </a:solidFill>
                <a:latin typeface="Calibri"/>
              </a:rPr>
              <a:t>    ): Promise&lt;T&gt; {</a:t>
            </a:r>
          </a:p>
          <a:p>
            <a:pPr algn="l">
              <a:lnSpc>
                <a:spcPct val="110000"/>
              </a:lnSpc>
              <a:spcBef>
                <a:spcPts val="100"/>
              </a:spcBef>
              <a:spcAft>
                <a:spcPts val="100"/>
              </a:spcAft>
            </a:pPr>
            <a:r>
              <a:rPr sz="1100">
                <a:solidFill>
                  <a:srgbClr val="000000"/>
                </a:solidFill>
                <a:latin typeface="Calibri"/>
              </a:rPr>
              <a:t>        return new Promise((resolve, reject) =&gt; {</a:t>
            </a:r>
          </a:p>
          <a:p>
            <a:pPr algn="l">
              <a:lnSpc>
                <a:spcPct val="110000"/>
              </a:lnSpc>
              <a:spcBef>
                <a:spcPts val="100"/>
              </a:spcBef>
              <a:spcAft>
                <a:spcPts val="100"/>
              </a:spcAft>
            </a:pPr>
            <a:r>
              <a:rPr sz="1100">
                <a:solidFill>
                  <a:srgbClr val="000000"/>
                </a:solidFill>
                <a:latin typeface="Calibri"/>
              </a:rPr>
              <a:t>            const request: QueuedRequest&lt;T&gt; = {</a:t>
            </a:r>
          </a:p>
          <a:p>
            <a:pPr algn="l">
              <a:lnSpc>
                <a:spcPct val="110000"/>
              </a:lnSpc>
              <a:spcBef>
                <a:spcPts val="100"/>
              </a:spcBef>
              <a:spcAft>
                <a:spcPts val="100"/>
              </a:spcAft>
            </a:pPr>
            <a:r>
              <a:rPr sz="1100">
                <a:solidFill>
                  <a:srgbClr val="000000"/>
                </a:solidFill>
                <a:latin typeface="Calibri"/>
              </a:rPr>
              <a:t>                id: randomUUID(),</a:t>
            </a:r>
          </a:p>
          <a:p>
            <a:pPr algn="l">
              <a:lnSpc>
                <a:spcPct val="110000"/>
              </a:lnSpc>
              <a:spcBef>
                <a:spcPts val="100"/>
              </a:spcBef>
              <a:spcAft>
                <a:spcPts val="100"/>
              </a:spcAft>
            </a:pPr>
            <a:r>
              <a:rPr sz="1100">
                <a:solidFill>
                  <a:srgbClr val="000000"/>
                </a:solidFill>
                <a:latin typeface="Calibri"/>
              </a:rPr>
              <a:t>                priority,</a:t>
            </a:r>
          </a:p>
          <a:p>
            <a:pPr algn="l">
              <a:lnSpc>
                <a:spcPct val="110000"/>
              </a:lnSpc>
              <a:spcBef>
                <a:spcPts val="100"/>
              </a:spcBef>
              <a:spcAft>
                <a:spcPts val="100"/>
              </a:spcAft>
            </a:pPr>
            <a:r>
              <a:rPr sz="1100">
                <a:solidFill>
                  <a:srgbClr val="000000"/>
                </a:solidFill>
                <a:latin typeface="Calibri"/>
              </a:rPr>
              <a:t>                execute,</a:t>
            </a:r>
          </a:p>
          <a:p>
            <a:pPr algn="l">
              <a:lnSpc>
                <a:spcPct val="110000"/>
              </a:lnSpc>
              <a:spcBef>
                <a:spcPts val="100"/>
              </a:spcBef>
              <a:spcAft>
                <a:spcPts val="100"/>
              </a:spcAft>
            </a:pPr>
            <a:r>
              <a:rPr sz="1100">
                <a:solidFill>
                  <a:srgbClr val="000000"/>
                </a:solidFill>
                <a:latin typeface="Calibri"/>
              </a:rPr>
              <a:t>                resolve,</a:t>
            </a:r>
          </a:p>
          <a:p>
            <a:pPr algn="l">
              <a:lnSpc>
                <a:spcPct val="110000"/>
              </a:lnSpc>
              <a:spcBef>
                <a:spcPts val="100"/>
              </a:spcBef>
              <a:spcAft>
                <a:spcPts val="100"/>
              </a:spcAft>
            </a:pPr>
            <a:r>
              <a:rPr sz="1100">
                <a:solidFill>
                  <a:srgbClr val="000000"/>
                </a:solidFill>
                <a:latin typeface="Calibri"/>
              </a:rPr>
              <a:t>                reject,</a:t>
            </a:r>
          </a:p>
          <a:p>
            <a:pPr algn="l">
              <a:lnSpc>
                <a:spcPct val="110000"/>
              </a:lnSpc>
              <a:spcBef>
                <a:spcPts val="100"/>
              </a:spcBef>
              <a:spcAft>
                <a:spcPts val="100"/>
              </a:spcAft>
            </a:pPr>
            <a:r>
              <a:rPr sz="1100">
                <a:solidFill>
                  <a:srgbClr val="000000"/>
                </a:solidFill>
                <a:latin typeface="Calibri"/>
              </a:rPr>
              <a:t>                timeout,</a:t>
            </a:r>
          </a:p>
          <a:p>
            <a:pPr algn="l">
              <a:lnSpc>
                <a:spcPct val="110000"/>
              </a:lnSpc>
              <a:spcBef>
                <a:spcPts val="100"/>
              </a:spcBef>
              <a:spcAft>
                <a:spcPts val="100"/>
              </a:spcAft>
            </a:pPr>
            <a:r>
              <a:rPr sz="1100">
                <a:solidFill>
                  <a:srgbClr val="000000"/>
                </a:solidFill>
                <a:latin typeface="Calibri"/>
              </a:rPr>
              <a:t>                enqueuedAt: new Date(),</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this.queues.get(priority)!.push(request);</a:t>
            </a:r>
          </a:p>
          <a:p>
            <a:pPr algn="l">
              <a:lnSpc>
                <a:spcPct val="110000"/>
              </a:lnSpc>
              <a:spcBef>
                <a:spcPts val="100"/>
              </a:spcBef>
              <a:spcAft>
                <a:spcPts val="100"/>
              </a:spcAft>
            </a:pPr>
            <a:r>
              <a:rPr sz="1100">
                <a:solidFill>
                  <a:srgbClr val="000000"/>
                </a:solidFill>
                <a:latin typeface="Calibri"/>
              </a:rPr>
              <a:t>            this.processNext();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private async processNext(): Promise&lt;void&gt; {</a:t>
            </a:r>
          </a:p>
          <a:p>
            <a:pPr algn="l">
              <a:lnSpc>
                <a:spcPct val="110000"/>
              </a:lnSpc>
              <a:spcBef>
                <a:spcPts val="100"/>
              </a:spcBef>
              <a:spcAft>
                <a:spcPts val="100"/>
              </a:spcAft>
            </a:pPr>
            <a:r>
              <a:rPr sz="1100">
                <a:solidFill>
                  <a:srgbClr val="000000"/>
                </a:solidFill>
                <a:latin typeface="Calibri"/>
              </a:rPr>
              <a:t>        if (this.processing &gt;= this.maxConcurrent) return;</a:t>
            </a:r>
          </a:p>
          <a:p>
            <a:pPr algn="l">
              <a:lnSpc>
                <a:spcPct val="110000"/>
              </a:lnSpc>
              <a:spcBef>
                <a:spcPts val="100"/>
              </a:spcBef>
              <a:spcAft>
                <a:spcPts val="100"/>
              </a:spcAft>
            </a:pPr>
            <a:r>
              <a:rPr sz="1100">
                <a:solidFill>
                  <a:srgbClr val="000000"/>
                </a:solidFill>
                <a:latin typeface="Calibri"/>
              </a:rPr>
              <a:t>        // Get highest priority request</a:t>
            </a:r>
          </a:p>
          <a:p>
            <a:pPr algn="l">
              <a:lnSpc>
                <a:spcPct val="110000"/>
              </a:lnSpc>
              <a:spcBef>
                <a:spcPts val="100"/>
              </a:spcBef>
              <a:spcAft>
                <a:spcPts val="100"/>
              </a:spcAft>
            </a:pPr>
            <a:r>
              <a:rPr sz="1100">
                <a:solidFill>
                  <a:srgbClr val="000000"/>
                </a:solidFill>
                <a:latin typeface="Calibri"/>
              </a:rPr>
              <a:t>        let request: QueuedRequest | undefined;</a:t>
            </a:r>
          </a:p>
          <a:p>
            <a:pPr algn="l">
              <a:lnSpc>
                <a:spcPct val="110000"/>
              </a:lnSpc>
              <a:spcBef>
                <a:spcPts val="100"/>
              </a:spcBef>
              <a:spcAft>
                <a:spcPts val="100"/>
              </a:spcAft>
            </a:pPr>
            <a:r>
              <a:rPr sz="1100">
                <a:solidFill>
                  <a:srgbClr val="000000"/>
                </a:solidFill>
                <a:latin typeface="Calibri"/>
              </a:rPr>
              <a:t>        for (const p of Object.values(Priority).sort()) {</a:t>
            </a:r>
          </a:p>
          <a:p>
            <a:pPr algn="l">
              <a:lnSpc>
                <a:spcPct val="110000"/>
              </a:lnSpc>
              <a:spcBef>
                <a:spcPts val="100"/>
              </a:spcBef>
              <a:spcAft>
                <a:spcPts val="100"/>
              </a:spcAft>
            </a:pPr>
            <a:r>
              <a:rPr sz="1100">
                <a:solidFill>
                  <a:srgbClr val="000000"/>
                </a:solidFill>
                <a:latin typeface="Calibri"/>
              </a:rPr>
              <a:t>            const queue = this.queues.get(p)!;</a:t>
            </a:r>
          </a:p>
          <a:p>
            <a:pPr algn="l">
              <a:lnSpc>
                <a:spcPct val="110000"/>
              </a:lnSpc>
              <a:spcBef>
                <a:spcPts val="100"/>
              </a:spcBef>
              <a:spcAft>
                <a:spcPts val="100"/>
              </a:spcAft>
            </a:pPr>
            <a:r>
              <a:rPr sz="1100">
                <a:solidFill>
                  <a:srgbClr val="000000"/>
                </a:solidFill>
                <a:latin typeface="Calibri"/>
              </a:rPr>
              <a:t>            if (queue.length &gt; 0) {</a:t>
            </a:r>
          </a:p>
          <a:p>
            <a:pPr algn="l">
              <a:lnSpc>
                <a:spcPct val="110000"/>
              </a:lnSpc>
              <a:spcBef>
                <a:spcPts val="100"/>
              </a:spcBef>
              <a:spcAft>
                <a:spcPts val="100"/>
              </a:spcAft>
            </a:pPr>
            <a:r>
              <a:rPr sz="1100">
                <a:solidFill>
                  <a:srgbClr val="000000"/>
                </a:solidFill>
                <a:latin typeface="Calibri"/>
              </a:rPr>
              <a:t>                request = queue.shift();</a:t>
            </a:r>
          </a:p>
          <a:p>
            <a:pPr algn="l">
              <a:lnSpc>
                <a:spcPct val="110000"/>
              </a:lnSpc>
              <a:spcBef>
                <a:spcPts val="100"/>
              </a:spcBef>
              <a:spcAft>
                <a:spcPts val="100"/>
              </a:spcAft>
            </a:pPr>
            <a:r>
              <a:rPr sz="1100">
                <a:solidFill>
                  <a:srgbClr val="000000"/>
                </a:solidFill>
                <a:latin typeface="Calibri"/>
              </a:rPr>
              <a:t>                break;</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if (!request) return;</a:t>
            </a:r>
          </a:p>
          <a:p>
            <a:pPr algn="l">
              <a:lnSpc>
                <a:spcPct val="110000"/>
              </a:lnSpc>
              <a:spcBef>
                <a:spcPts val="100"/>
              </a:spcBef>
              <a:spcAft>
                <a:spcPts val="100"/>
              </a:spcAft>
            </a:pPr>
            <a:r>
              <a:rPr sz="1100">
                <a:solidFill>
                  <a:srgbClr val="000000"/>
                </a:solidFill>
                <a:latin typeface="Calibri"/>
              </a:rPr>
              <a:t>        this.processing++;</a:t>
            </a:r>
          </a:p>
          <a:p>
            <a:pPr algn="l">
              <a:lnSpc>
                <a:spcPct val="110000"/>
              </a:lnSpc>
              <a:spcBef>
                <a:spcPts val="100"/>
              </a:spcBef>
              <a:spcAft>
                <a:spcPts val="100"/>
              </a:spcAft>
            </a:pPr>
            <a:r>
              <a:rPr sz="1100">
                <a:solidFill>
                  <a:srgbClr val="000000"/>
                </a:solidFill>
                <a:latin typeface="Calibri"/>
              </a:rPr>
              <a:t>        try {</a:t>
            </a:r>
          </a:p>
          <a:p>
            <a:pPr algn="l">
              <a:lnSpc>
                <a:spcPct val="110000"/>
              </a:lnSpc>
              <a:spcBef>
                <a:spcPts val="100"/>
              </a:spcBef>
              <a:spcAft>
                <a:spcPts val="100"/>
              </a:spcAft>
            </a:pPr>
            <a:r>
              <a:rPr sz="1100">
                <a:solidFill>
                  <a:srgbClr val="000000"/>
                </a:solidFill>
                <a:latin typeface="Calibri"/>
              </a:rPr>
              <a:t>            const result = await this.executeWithTimeout(request);</a:t>
            </a:r>
          </a:p>
          <a:p>
            <a:pPr algn="l">
              <a:lnSpc>
                <a:spcPct val="110000"/>
              </a:lnSpc>
              <a:spcBef>
                <a:spcPts val="100"/>
              </a:spcBef>
              <a:spcAft>
                <a:spcPts val="100"/>
              </a:spcAft>
            </a:pPr>
            <a:r>
              <a:rPr sz="1100">
                <a:solidFill>
                  <a:srgbClr val="000000"/>
                </a:solidFill>
                <a:latin typeface="Calibri"/>
              </a:rPr>
              <a:t>            request.resolve(result);</a:t>
            </a:r>
          </a:p>
          <a:p>
            <a:pPr algn="l">
              <a:lnSpc>
                <a:spcPct val="110000"/>
              </a:lnSpc>
              <a:spcBef>
                <a:spcPts val="100"/>
              </a:spcBef>
              <a:spcAft>
                <a:spcPts val="100"/>
              </a:spcAft>
            </a:pPr>
            <a:r>
              <a:rPr sz="1100">
                <a:solidFill>
                  <a:srgbClr val="000000"/>
                </a:solidFill>
                <a:latin typeface="Calibri"/>
              </a:rPr>
              <a:t>        } catch (error) {</a:t>
            </a:r>
          </a:p>
          <a:p>
            <a:pPr algn="l">
              <a:lnSpc>
                <a:spcPct val="110000"/>
              </a:lnSpc>
              <a:spcBef>
                <a:spcPts val="100"/>
              </a:spcBef>
              <a:spcAft>
                <a:spcPts val="100"/>
              </a:spcAft>
            </a:pPr>
            <a:r>
              <a:rPr sz="1100">
                <a:solidFill>
                  <a:srgbClr val="000000"/>
                </a:solidFill>
                <a:latin typeface="Calibri"/>
              </a:rPr>
              <a:t>            request.reject(error);</a:t>
            </a:r>
          </a:p>
          <a:p>
            <a:pPr algn="l">
              <a:lnSpc>
                <a:spcPct val="110000"/>
              </a:lnSpc>
              <a:spcBef>
                <a:spcPts val="100"/>
              </a:spcBef>
              <a:spcAft>
                <a:spcPts val="100"/>
              </a:spcAft>
            </a:pPr>
            <a:r>
              <a:rPr sz="1100">
                <a:solidFill>
                  <a:srgbClr val="000000"/>
                </a:solidFill>
                <a:latin typeface="Calibri"/>
              </a:rPr>
              <a:t>        } finally {</a:t>
            </a:r>
          </a:p>
          <a:p>
            <a:pPr algn="l">
              <a:lnSpc>
                <a:spcPct val="110000"/>
              </a:lnSpc>
              <a:spcBef>
                <a:spcPts val="100"/>
              </a:spcBef>
              <a:spcAft>
                <a:spcPts val="100"/>
              </a:spcAft>
            </a:pPr>
            <a:r>
              <a:rPr sz="1100">
                <a:solidFill>
                  <a:srgbClr val="000000"/>
                </a:solidFill>
                <a:latin typeface="Calibri"/>
              </a:rPr>
              <a:t>            this.processing--;</a:t>
            </a:r>
          </a:p>
          <a:p>
            <a:pPr algn="l">
              <a:lnSpc>
                <a:spcPct val="110000"/>
              </a:lnSpc>
              <a:spcBef>
                <a:spcPts val="100"/>
              </a:spcBef>
              <a:spcAft>
                <a:spcPts val="100"/>
              </a:spcAft>
            </a:pPr>
            <a:r>
              <a:rPr sz="1100">
                <a:solidFill>
                  <a:srgbClr val="000000"/>
                </a:solidFill>
                <a:latin typeface="Calibri"/>
              </a:rPr>
              <a:t>            this.processNext();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Rate Limiter</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```typescript</a:t>
            </a:r>
          </a:p>
          <a:p>
            <a:pPr algn="l">
              <a:lnSpc>
                <a:spcPct val="110000"/>
              </a:lnSpc>
              <a:spcBef>
                <a:spcPts val="100"/>
              </a:spcBef>
              <a:spcAft>
                <a:spcPts val="100"/>
              </a:spcAft>
            </a:pPr>
            <a:r>
              <a:rPr sz="1100">
                <a:solidFill>
                  <a:srgbClr val="000000"/>
                </a:solidFill>
                <a:latin typeface="Calibri"/>
              </a:rPr>
              <a:t>class RateLimiter {</a:t>
            </a:r>
          </a:p>
          <a:p>
            <a:pPr algn="l">
              <a:lnSpc>
                <a:spcPct val="110000"/>
              </a:lnSpc>
              <a:spcBef>
                <a:spcPts val="100"/>
              </a:spcBef>
              <a:spcAft>
                <a:spcPts val="100"/>
              </a:spcAft>
            </a:pPr>
            <a:r>
              <a:rPr sz="1100">
                <a:solidFill>
                  <a:srgbClr val="000000"/>
                </a:solidFill>
                <a:latin typeface="Calibri"/>
              </a:rPr>
              <a:t>    private requests: Map&lt;string, number[]&gt; = new Map();</a:t>
            </a:r>
          </a:p>
          <a:p>
            <a:pPr algn="l">
              <a:lnSpc>
                <a:spcPct val="110000"/>
              </a:lnSpc>
              <a:spcBef>
                <a:spcPts val="100"/>
              </a:spcBef>
              <a:spcAft>
                <a:spcPts val="100"/>
              </a:spcAft>
            </a:pPr>
            <a:r>
              <a:rPr sz="1100">
                <a:solidFill>
                  <a:srgbClr val="000000"/>
                </a:solidFill>
                <a:latin typeface="Calibri"/>
              </a:rPr>
              <a:t>    private maxRequests: number;</a:t>
            </a:r>
          </a:p>
          <a:p>
            <a:pPr algn="l">
              <a:lnSpc>
                <a:spcPct val="110000"/>
              </a:lnSpc>
              <a:spcBef>
                <a:spcPts val="100"/>
              </a:spcBef>
              <a:spcAft>
                <a:spcPts val="100"/>
              </a:spcAft>
            </a:pPr>
            <a:r>
              <a:rPr sz="1100">
                <a:solidFill>
                  <a:srgbClr val="000000"/>
                </a:solidFill>
                <a:latin typeface="Calibri"/>
              </a:rPr>
              <a:t>    private windowMs: number;</a:t>
            </a:r>
          </a:p>
          <a:p>
            <a:pPr algn="l">
              <a:lnSpc>
                <a:spcPct val="110000"/>
              </a:lnSpc>
              <a:spcBef>
                <a:spcPts val="100"/>
              </a:spcBef>
              <a:spcAft>
                <a:spcPts val="100"/>
              </a:spcAft>
            </a:pPr>
            <a:r>
              <a:rPr sz="1100">
                <a:solidFill>
                  <a:srgbClr val="000000"/>
                </a:solidFill>
                <a:latin typeface="Calibri"/>
              </a:rPr>
              <a:t>    constructor(maxRequests: number, windowMs: number) {</a:t>
            </a:r>
          </a:p>
          <a:p>
            <a:pPr algn="l">
              <a:lnSpc>
                <a:spcPct val="110000"/>
              </a:lnSpc>
              <a:spcBef>
                <a:spcPts val="100"/>
              </a:spcBef>
              <a:spcAft>
                <a:spcPts val="100"/>
              </a:spcAft>
            </a:pPr>
            <a:r>
              <a:rPr sz="1100">
                <a:solidFill>
                  <a:srgbClr val="000000"/>
                </a:solidFill>
                <a:latin typeface="Calibri"/>
              </a:rPr>
              <a:t>        this.maxRequests = maxRequests;</a:t>
            </a:r>
          </a:p>
          <a:p>
            <a:pPr algn="l">
              <a:lnSpc>
                <a:spcPct val="110000"/>
              </a:lnSpc>
              <a:spcBef>
                <a:spcPts val="100"/>
              </a:spcBef>
              <a:spcAft>
                <a:spcPts val="100"/>
              </a:spcAft>
            </a:pPr>
            <a:r>
              <a:rPr sz="1100">
                <a:solidFill>
                  <a:srgbClr val="000000"/>
                </a:solidFill>
                <a:latin typeface="Calibri"/>
              </a:rPr>
              <a:t>        this.windowMs = windowMs;</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isAllowed(key: string): boolean {</a:t>
            </a:r>
          </a:p>
          <a:p>
            <a:pPr algn="l">
              <a:lnSpc>
                <a:spcPct val="110000"/>
              </a:lnSpc>
              <a:spcBef>
                <a:spcPts val="100"/>
              </a:spcBef>
              <a:spcAft>
                <a:spcPts val="100"/>
              </a:spcAft>
            </a:pPr>
            <a:r>
              <a:rPr sz="1100">
                <a:solidFill>
                  <a:srgbClr val="000000"/>
                </a:solidFill>
                <a:latin typeface="Calibri"/>
              </a:rPr>
              <a:t>        const now = Date.now();</a:t>
            </a:r>
          </a:p>
          <a:p>
            <a:pPr algn="l">
              <a:lnSpc>
                <a:spcPct val="110000"/>
              </a:lnSpc>
              <a:spcBef>
                <a:spcPts val="100"/>
              </a:spcBef>
              <a:spcAft>
                <a:spcPts val="100"/>
              </a:spcAft>
            </a:pPr>
            <a:r>
              <a:rPr sz="1100">
                <a:solidFill>
                  <a:srgbClr val="000000"/>
                </a:solidFill>
                <a:latin typeface="Calibri"/>
              </a:rPr>
              <a:t>        const windowStart = now - this.windowMs;</a:t>
            </a:r>
          </a:p>
          <a:p>
            <a:pPr algn="l">
              <a:lnSpc>
                <a:spcPct val="110000"/>
              </a:lnSpc>
              <a:spcBef>
                <a:spcPts val="100"/>
              </a:spcBef>
              <a:spcAft>
                <a:spcPts val="100"/>
              </a:spcAft>
            </a:pPr>
            <a:r>
              <a:rPr sz="1100">
                <a:solidFill>
                  <a:srgbClr val="000000"/>
                </a:solidFill>
                <a:latin typeface="Calibri"/>
              </a:rPr>
              <a:t>        // Get recent requests</a:t>
            </a:r>
          </a:p>
          <a:p>
            <a:pPr algn="l">
              <a:lnSpc>
                <a:spcPct val="110000"/>
              </a:lnSpc>
              <a:spcBef>
                <a:spcPts val="100"/>
              </a:spcBef>
              <a:spcAft>
                <a:spcPts val="100"/>
              </a:spcAft>
            </a:pPr>
            <a:r>
              <a:rPr sz="1100">
                <a:solidFill>
                  <a:srgbClr val="000000"/>
                </a:solidFill>
                <a:latin typeface="Calibri"/>
              </a:rPr>
              <a:t>        let timestamps = this.requests.get(key) || [];</a:t>
            </a:r>
          </a:p>
          <a:p>
            <a:pPr algn="l">
              <a:lnSpc>
                <a:spcPct val="110000"/>
              </a:lnSpc>
              <a:spcBef>
                <a:spcPts val="100"/>
              </a:spcBef>
              <a:spcAft>
                <a:spcPts val="100"/>
              </a:spcAft>
            </a:pPr>
            <a:r>
              <a:rPr sz="1100">
                <a:solidFill>
                  <a:srgbClr val="000000"/>
                </a:solidFill>
                <a:latin typeface="Calibri"/>
              </a:rPr>
              <a:t>        timestamps = timestamps.filter(t =&gt; t &gt; windowStart);</a:t>
            </a:r>
          </a:p>
          <a:p>
            <a:pPr algn="l">
              <a:lnSpc>
                <a:spcPct val="110000"/>
              </a:lnSpc>
              <a:spcBef>
                <a:spcPts val="100"/>
              </a:spcBef>
              <a:spcAft>
                <a:spcPts val="100"/>
              </a:spcAft>
            </a:pPr>
            <a:r>
              <a:rPr sz="1100">
                <a:solidFill>
                  <a:srgbClr val="000000"/>
                </a:solidFill>
                <a:latin typeface="Calibri"/>
              </a:rPr>
              <a:t>        // Check limit</a:t>
            </a:r>
          </a:p>
          <a:p>
            <a:pPr algn="l">
              <a:lnSpc>
                <a:spcPct val="110000"/>
              </a:lnSpc>
              <a:spcBef>
                <a:spcPts val="100"/>
              </a:spcBef>
              <a:spcAft>
                <a:spcPts val="100"/>
              </a:spcAft>
            </a:pPr>
            <a:r>
              <a:rPr sz="1100">
                <a:solidFill>
                  <a:srgbClr val="000000"/>
                </a:solidFill>
                <a:latin typeface="Calibri"/>
              </a:rPr>
              <a:t>        if (timestamps.length &gt;= this.maxRequests) {</a:t>
            </a:r>
          </a:p>
          <a:p>
            <a:pPr algn="l">
              <a:lnSpc>
                <a:spcPct val="110000"/>
              </a:lnSpc>
              <a:spcBef>
                <a:spcPts val="100"/>
              </a:spcBef>
              <a:spcAft>
                <a:spcPts val="100"/>
              </a:spcAft>
            </a:pPr>
            <a:r>
              <a:rPr sz="1100">
                <a:solidFill>
                  <a:srgbClr val="000000"/>
                </a:solidFill>
                <a:latin typeface="Calibri"/>
              </a:rPr>
              <a:t>            return false;</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 Add request</a:t>
            </a:r>
          </a:p>
          <a:p>
            <a:pPr algn="l">
              <a:lnSpc>
                <a:spcPct val="110000"/>
              </a:lnSpc>
              <a:spcBef>
                <a:spcPts val="100"/>
              </a:spcBef>
              <a:spcAft>
                <a:spcPts val="100"/>
              </a:spcAft>
            </a:pPr>
            <a:r>
              <a:rPr sz="1100">
                <a:solidFill>
                  <a:srgbClr val="000000"/>
                </a:solidFill>
                <a:latin typeface="Calibri"/>
              </a:rPr>
              <a:t>        timestamps.push(now);</a:t>
            </a:r>
          </a:p>
          <a:p>
            <a:pPr algn="l">
              <a:lnSpc>
                <a:spcPct val="110000"/>
              </a:lnSpc>
              <a:spcBef>
                <a:spcPts val="100"/>
              </a:spcBef>
              <a:spcAft>
                <a:spcPts val="100"/>
              </a:spcAft>
            </a:pPr>
            <a:r>
              <a:rPr sz="1100">
                <a:solidFill>
                  <a:srgbClr val="000000"/>
                </a:solidFill>
                <a:latin typeface="Calibri"/>
              </a:rPr>
              <a:t>        this.requests.set(key, timestamps);</a:t>
            </a:r>
          </a:p>
          <a:p>
            <a:pPr algn="l">
              <a:lnSpc>
                <a:spcPct val="110000"/>
              </a:lnSpc>
              <a:spcBef>
                <a:spcPts val="100"/>
              </a:spcBef>
              <a:spcAft>
                <a:spcPts val="100"/>
              </a:spcAft>
            </a:pPr>
            <a:r>
              <a:rPr sz="1100">
                <a:solidFill>
                  <a:srgbClr val="000000"/>
                </a:solidFill>
                <a:latin typeface="Calibri"/>
              </a:rPr>
              <a:t>        return true;</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getRemaining(key: string): number {</a:t>
            </a:r>
          </a:p>
          <a:p>
            <a:pPr algn="l">
              <a:lnSpc>
                <a:spcPct val="110000"/>
              </a:lnSpc>
              <a:spcBef>
                <a:spcPts val="100"/>
              </a:spcBef>
              <a:spcAft>
                <a:spcPts val="100"/>
              </a:spcAft>
            </a:pPr>
            <a:r>
              <a:rPr sz="1100">
                <a:solidFill>
                  <a:srgbClr val="000000"/>
                </a:solidFill>
                <a:latin typeface="Calibri"/>
              </a:rPr>
              <a:t>        const now = Date.now();</a:t>
            </a:r>
          </a:p>
          <a:p>
            <a:pPr algn="l">
              <a:lnSpc>
                <a:spcPct val="110000"/>
              </a:lnSpc>
              <a:spcBef>
                <a:spcPts val="100"/>
              </a:spcBef>
              <a:spcAft>
                <a:spcPts val="100"/>
              </a:spcAft>
            </a:pPr>
            <a:r>
              <a:rPr sz="1100">
                <a:solidFill>
                  <a:srgbClr val="000000"/>
                </a:solidFill>
                <a:latin typeface="Calibri"/>
              </a:rPr>
              <a:t>        const windowStart = now - this.windowMs;</a:t>
            </a:r>
          </a:p>
          <a:p>
            <a:pPr algn="l">
              <a:lnSpc>
                <a:spcPct val="110000"/>
              </a:lnSpc>
              <a:spcBef>
                <a:spcPts val="100"/>
              </a:spcBef>
              <a:spcAft>
                <a:spcPts val="100"/>
              </a:spcAft>
            </a:pPr>
            <a:r>
              <a:rPr sz="1100">
                <a:solidFill>
                  <a:srgbClr val="000000"/>
                </a:solidFill>
                <a:latin typeface="Calibri"/>
              </a:rPr>
              <a:t>        const timestamps = this.requests.get(key) || [];</a:t>
            </a:r>
          </a:p>
          <a:p>
            <a:pPr algn="l">
              <a:lnSpc>
                <a:spcPct val="110000"/>
              </a:lnSpc>
              <a:spcBef>
                <a:spcPts val="100"/>
              </a:spcBef>
              <a:spcAft>
                <a:spcPts val="100"/>
              </a:spcAft>
            </a:pPr>
            <a:r>
              <a:rPr sz="1100">
                <a:solidFill>
                  <a:srgbClr val="000000"/>
                </a:solidFill>
                <a:latin typeface="Calibri"/>
              </a:rPr>
              <a:t>        const recent = timestamps.filter(t =&gt; t &gt; windowStart);</a:t>
            </a:r>
          </a:p>
          <a:p>
            <a:pPr algn="l">
              <a:lnSpc>
                <a:spcPct val="110000"/>
              </a:lnSpc>
              <a:spcBef>
                <a:spcPts val="100"/>
              </a:spcBef>
              <a:spcAft>
                <a:spcPts val="100"/>
              </a:spcAft>
            </a:pPr>
            <a:r>
              <a:rPr sz="1100">
                <a:solidFill>
                  <a:srgbClr val="000000"/>
                </a:solidFill>
                <a:latin typeface="Calibri"/>
              </a:rPr>
              <a:t>        return Math.max(0, this.maxRequests - recent.length);</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getResetTime(key: string): Date {</a:t>
            </a:r>
          </a:p>
          <a:p>
            <a:pPr algn="l">
              <a:lnSpc>
                <a:spcPct val="110000"/>
              </a:lnSpc>
              <a:spcBef>
                <a:spcPts val="100"/>
              </a:spcBef>
              <a:spcAft>
                <a:spcPts val="100"/>
              </a:spcAft>
            </a:pPr>
            <a:r>
              <a:rPr sz="1100">
                <a:solidFill>
                  <a:srgbClr val="000000"/>
                </a:solidFill>
                <a:latin typeface="Calibri"/>
              </a:rPr>
              <a:t>        const now = Date.now();</a:t>
            </a:r>
          </a:p>
          <a:p>
            <a:pPr algn="l">
              <a:lnSpc>
                <a:spcPct val="110000"/>
              </a:lnSpc>
              <a:spcBef>
                <a:spcPts val="100"/>
              </a:spcBef>
              <a:spcAft>
                <a:spcPts val="100"/>
              </a:spcAft>
            </a:pPr>
            <a:r>
              <a:rPr sz="1100">
                <a:solidFill>
                  <a:srgbClr val="000000"/>
                </a:solidFill>
                <a:latin typeface="Calibri"/>
              </a:rPr>
              <a:t>        const timestamps = this.requests.get(key) || [];</a:t>
            </a:r>
          </a:p>
          <a:p>
            <a:pPr algn="l">
              <a:lnSpc>
                <a:spcPct val="110000"/>
              </a:lnSpc>
              <a:spcBef>
                <a:spcPts val="100"/>
              </a:spcBef>
              <a:spcAft>
                <a:spcPts val="100"/>
              </a:spcAft>
            </a:pPr>
            <a:r>
              <a:rPr sz="1100">
                <a:solidFill>
                  <a:srgbClr val="000000"/>
                </a:solidFill>
                <a:latin typeface="Calibri"/>
              </a:rPr>
              <a:t>        if (timestamps.length === 0) {</a:t>
            </a:r>
          </a:p>
          <a:p>
            <a:pPr algn="l">
              <a:lnSpc>
                <a:spcPct val="110000"/>
              </a:lnSpc>
              <a:spcBef>
                <a:spcPts val="100"/>
              </a:spcBef>
              <a:spcAft>
                <a:spcPts val="100"/>
              </a:spcAft>
            </a:pPr>
            <a:r>
              <a:rPr sz="1100">
                <a:solidFill>
                  <a:srgbClr val="000000"/>
                </a:solidFill>
                <a:latin typeface="Calibri"/>
              </a:rPr>
              <a:t>            return new Date(now + this.windowMs);</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const oldest = Math.min(...timestamps);</a:t>
            </a:r>
          </a:p>
          <a:p>
            <a:pPr algn="l">
              <a:lnSpc>
                <a:spcPct val="110000"/>
              </a:lnSpc>
              <a:spcBef>
                <a:spcPts val="100"/>
              </a:spcBef>
              <a:spcAft>
                <a:spcPts val="100"/>
              </a:spcAft>
            </a:pPr>
            <a:r>
              <a:rPr sz="1100">
                <a:solidFill>
                  <a:srgbClr val="000000"/>
                </a:solidFill>
                <a:latin typeface="Calibri"/>
              </a:rPr>
              <a:t>        return new Date(oldest + this.windowMs);</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57200"/>
            <a:ext cx="10789920" cy="731520"/>
          </a:xfrm>
          <a:prstGeom prst="rect">
            <a:avLst/>
          </a:prstGeom>
          <a:noFill/>
        </p:spPr>
        <p:txBody>
          <a:bodyPr wrap="square">
            <a:spAutoFit/>
          </a:bodyPr>
          <a:lstStyle/>
          <a:p>
            <a:pPr algn="l">
              <a:spcAft>
                <a:spcPts val="0"/>
              </a:spcAft>
            </a:pPr>
            <a:r>
              <a:rPr sz="3200" b="1">
                <a:solidFill>
                  <a:srgbClr val="000000"/>
                </a:solidFill>
                <a:latin typeface="Calibri"/>
              </a:rPr>
              <a:t>Complete Orchestrator</a:t>
            </a:r>
          </a:p>
        </p:txBody>
      </p:sp>
      <p:sp>
        <p:nvSpPr>
          <p:cNvPr id="3" name="TextBox 2"/>
          <p:cNvSpPr txBox="1"/>
          <p:nvPr/>
        </p:nvSpPr>
        <p:spPr>
          <a:xfrm>
            <a:off x="685800" y="1280160"/>
            <a:ext cx="10789920" cy="5303520"/>
          </a:xfrm>
          <a:prstGeom prst="rect">
            <a:avLst/>
          </a:prstGeom>
          <a:noFill/>
        </p:spPr>
        <p:txBody>
          <a:bodyPr wrap="square">
            <a:spAutoFit/>
          </a:bodyPr>
          <a:lstStyle/>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FINAL ORCHESTRATOR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   │</a:t>
            </a:r>
          </a:p>
          <a:p>
            <a:pPr algn="l">
              <a:lnSpc>
                <a:spcPct val="110000"/>
              </a:lnSpc>
              <a:spcBef>
                <a:spcPts val="100"/>
              </a:spcBef>
              <a:spcAft>
                <a:spcPts val="100"/>
              </a:spcAft>
            </a:pPr>
            <a:r>
              <a:rPr sz="1100">
                <a:solidFill>
                  <a:srgbClr val="000000"/>
                </a:solidFill>
                <a:latin typeface="Calibri"/>
              </a:rPr>
              <a:t>│  │                    ORCHESTRATOR                        │   │</a:t>
            </a:r>
          </a:p>
          <a:p>
            <a:pPr algn="l">
              <a:lnSpc>
                <a:spcPct val="110000"/>
              </a:lnSpc>
              <a:spcBef>
                <a:spcPts val="100"/>
              </a:spcBef>
              <a:spcAft>
                <a:spcPts val="100"/>
              </a:spcAft>
            </a:pPr>
            <a:r>
              <a:rPr sz="1100">
                <a:solidFill>
                  <a:srgbClr val="000000"/>
                </a:solidFill>
                <a:latin typeface="Calibri"/>
              </a:rPr>
              <a:t>│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1. Rate Limiter                              │ │   │</a:t>
            </a:r>
          </a:p>
          <a:p>
            <a:pPr algn="l">
              <a:lnSpc>
                <a:spcPct val="110000"/>
              </a:lnSpc>
              <a:spcBef>
                <a:spcPts val="100"/>
              </a:spcBef>
              <a:spcAft>
                <a:spcPts val="100"/>
              </a:spcAft>
            </a:pPr>
            <a:r>
              <a:rPr sz="1100">
                <a:solidFill>
                  <a:srgbClr val="000000"/>
                </a:solidFill>
                <a:latin typeface="Calibri"/>
              </a:rPr>
              <a:t>│  │  │     Checks if request is allowed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2. Deduplicator                             │ │   │</a:t>
            </a:r>
          </a:p>
          <a:p>
            <a:pPr algn="l">
              <a:lnSpc>
                <a:spcPct val="110000"/>
              </a:lnSpc>
              <a:spcBef>
                <a:spcPts val="100"/>
              </a:spcBef>
              <a:spcAft>
                <a:spcPts val="100"/>
              </a:spcAft>
            </a:pPr>
            <a:r>
              <a:rPr sz="1100">
                <a:solidFill>
                  <a:srgbClr val="000000"/>
                </a:solidFill>
                <a:latin typeface="Calibri"/>
              </a:rPr>
              <a:t>│  │  │     Prevents duplicate requests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3. Request Queue                            │ │   │</a:t>
            </a:r>
          </a:p>
          <a:p>
            <a:pPr algn="l">
              <a:lnSpc>
                <a:spcPct val="110000"/>
              </a:lnSpc>
              <a:spcBef>
                <a:spcPts val="100"/>
              </a:spcBef>
              <a:spcAft>
                <a:spcPts val="100"/>
              </a:spcAft>
            </a:pPr>
            <a:r>
              <a:rPr sz="1100">
                <a:solidFill>
                  <a:srgbClr val="000000"/>
                </a:solidFill>
                <a:latin typeface="Calibri"/>
              </a:rPr>
              <a:t>│  │  │     Prioritize and schedule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4. Retry Policy                             │ │   │</a:t>
            </a:r>
          </a:p>
          <a:p>
            <a:pPr algn="l">
              <a:lnSpc>
                <a:spcPct val="110000"/>
              </a:lnSpc>
              <a:spcBef>
                <a:spcPts val="100"/>
              </a:spcBef>
              <a:spcAft>
                <a:spcPts val="100"/>
              </a:spcAft>
            </a:pPr>
            <a:r>
              <a:rPr sz="1100">
                <a:solidFill>
                  <a:srgbClr val="000000"/>
                </a:solidFill>
                <a:latin typeface="Calibri"/>
              </a:rPr>
              <a:t>│  │  │     Exponential backoff on failure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  5. Execute                                  │ │   │</a:t>
            </a:r>
          </a:p>
          <a:p>
            <a:pPr algn="l">
              <a:lnSpc>
                <a:spcPct val="110000"/>
              </a:lnSpc>
              <a:spcBef>
                <a:spcPts val="100"/>
              </a:spcBef>
              <a:spcAft>
                <a:spcPts val="100"/>
              </a:spcAft>
            </a:pPr>
            <a:r>
              <a:rPr sz="1100">
                <a:solidFill>
                  <a:srgbClr val="000000"/>
                </a:solidFill>
                <a:latin typeface="Calibri"/>
              </a:rPr>
              <a:t>│  │  │     With AbortController                      │ │   │</a:t>
            </a:r>
          </a:p>
          <a:p>
            <a:pPr algn="l">
              <a:lnSpc>
                <a:spcPct val="110000"/>
              </a:lnSpc>
              <a:spcBef>
                <a:spcPts val="100"/>
              </a:spcBef>
              <a:spcAft>
                <a:spcPts val="100"/>
              </a:spcAft>
            </a:pPr>
            <a:r>
              <a:rPr sz="1100">
                <a:solidFill>
                  <a:srgbClr val="000000"/>
                </a:solidFill>
                <a:latin typeface="Calibri"/>
              </a:rPr>
              <a:t>│  │  └──────────────────────────────────────────────────┘ │   │</a:t>
            </a:r>
          </a:p>
          <a:p>
            <a:pPr algn="l">
              <a:lnSpc>
                <a:spcPct val="110000"/>
              </a:lnSpc>
              <a:spcBef>
                <a:spcPts val="100"/>
              </a:spcBef>
              <a:spcAft>
                <a:spcPts val="100"/>
              </a:spcAft>
            </a:pPr>
            <a:r>
              <a:rPr sz="1100">
                <a:solidFill>
                  <a:srgbClr val="000000"/>
                </a:solidFill>
                <a:latin typeface="Calibri"/>
              </a:rPr>
              <a:t>│  └─────────────────────────────────────────────────────────┘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PRIMERS OVERVIEW (10 Slides)</a:t>
            </a:r>
          </a:p>
          <a:p>
            <a:pPr algn="l">
              <a:lnSpc>
                <a:spcPct val="110000"/>
              </a:lnSpc>
              <a:spcBef>
                <a:spcPts val="100"/>
              </a:spcBef>
              <a:spcAft>
                <a:spcPts val="100"/>
              </a:spcAft>
            </a:pPr>
            <a:r>
              <a:rPr sz="1100">
                <a:solidFill>
                  <a:srgbClr val="000000"/>
                </a:solidFill>
                <a:latin typeface="Calibri"/>
              </a:rPr>
              <a:t>### Slide P.1: Complete Primer List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20 COMPREHENSIVE PRIMERS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1.  Understanding the JavaScript Event Loop                   │</a:t>
            </a:r>
          </a:p>
          <a:p>
            <a:pPr algn="l">
              <a:lnSpc>
                <a:spcPct val="110000"/>
              </a:lnSpc>
              <a:spcBef>
                <a:spcPts val="100"/>
              </a:spcBef>
              <a:spcAft>
                <a:spcPts val="100"/>
              </a:spcAft>
            </a:pPr>
            <a:r>
              <a:rPr sz="1100">
                <a:solidFill>
                  <a:srgbClr val="000000"/>
                </a:solidFill>
                <a:latin typeface="Calibri"/>
              </a:rPr>
              <a:t>│  2.  Understanding Hexagonal Architecture                      │</a:t>
            </a:r>
          </a:p>
          <a:p>
            <a:pPr algn="l">
              <a:lnSpc>
                <a:spcPct val="110000"/>
              </a:lnSpc>
              <a:spcBef>
                <a:spcPts val="100"/>
              </a:spcBef>
              <a:spcAft>
                <a:spcPts val="100"/>
              </a:spcAft>
            </a:pPr>
            <a:r>
              <a:rPr sz="1100">
                <a:solidFill>
                  <a:srgbClr val="000000"/>
                </a:solidFill>
                <a:latin typeface="Calibri"/>
              </a:rPr>
              <a:t>│  3.  Understanding Distributed Systems Patterns                │</a:t>
            </a:r>
          </a:p>
          <a:p>
            <a:pPr algn="l">
              <a:lnSpc>
                <a:spcPct val="110000"/>
              </a:lnSpc>
              <a:spcBef>
                <a:spcPts val="100"/>
              </a:spcBef>
              <a:spcAft>
                <a:spcPts val="100"/>
              </a:spcAft>
            </a:pPr>
            <a:r>
              <a:rPr sz="1100">
                <a:solidFill>
                  <a:srgbClr val="000000"/>
                </a:solidFill>
                <a:latin typeface="Calibri"/>
              </a:rPr>
              <a:t>│  4.  Understanding CQRS &amp; Event Sourcing                      │</a:t>
            </a:r>
          </a:p>
          <a:p>
            <a:pPr algn="l">
              <a:lnSpc>
                <a:spcPct val="110000"/>
              </a:lnSpc>
              <a:spcBef>
                <a:spcPts val="100"/>
              </a:spcBef>
              <a:spcAft>
                <a:spcPts val="100"/>
              </a:spcAft>
            </a:pPr>
            <a:r>
              <a:rPr sz="1100">
                <a:solidFill>
                  <a:srgbClr val="000000"/>
                </a:solidFill>
                <a:latin typeface="Calibri"/>
              </a:rPr>
              <a:t>│  5.  Understanding AI Agents &amp; LLM Integration                │</a:t>
            </a:r>
          </a:p>
          <a:p>
            <a:pPr algn="l">
              <a:lnSpc>
                <a:spcPct val="110000"/>
              </a:lnSpc>
              <a:spcBef>
                <a:spcPts val="100"/>
              </a:spcBef>
              <a:spcAft>
                <a:spcPts val="100"/>
              </a:spcAft>
            </a:pPr>
            <a:r>
              <a:rPr sz="1100">
                <a:solidFill>
                  <a:srgbClr val="000000"/>
                </a:solidFill>
                <a:latin typeface="Calibri"/>
              </a:rPr>
              <a:t>│  6.  Understanding Production Orchestration Patterns          │</a:t>
            </a:r>
          </a:p>
          <a:p>
            <a:pPr algn="l">
              <a:lnSpc>
                <a:spcPct val="110000"/>
              </a:lnSpc>
              <a:spcBef>
                <a:spcPts val="100"/>
              </a:spcBef>
              <a:spcAft>
                <a:spcPts val="100"/>
              </a:spcAft>
            </a:pPr>
            <a:r>
              <a:rPr sz="1100">
                <a:solidFill>
                  <a:srgbClr val="000000"/>
                </a:solidFill>
                <a:latin typeface="Calibri"/>
              </a:rPr>
              <a:t>│  7.  Understanding Node.js Streams &amp; Backpressure            │</a:t>
            </a:r>
          </a:p>
          <a:p>
            <a:pPr algn="l">
              <a:lnSpc>
                <a:spcPct val="110000"/>
              </a:lnSpc>
              <a:spcBef>
                <a:spcPts val="100"/>
              </a:spcBef>
              <a:spcAft>
                <a:spcPts val="100"/>
              </a:spcAft>
            </a:pPr>
            <a:r>
              <a:rPr sz="1100">
                <a:solidFill>
                  <a:srgbClr val="000000"/>
                </a:solidFill>
                <a:latin typeface="Calibri"/>
              </a:rPr>
              <a:t>│  8.  Understanding Testing Strategies                        │</a:t>
            </a:r>
          </a:p>
          <a:p>
            <a:pPr algn="l">
              <a:lnSpc>
                <a:spcPct val="110000"/>
              </a:lnSpc>
              <a:spcBef>
                <a:spcPts val="100"/>
              </a:spcBef>
              <a:spcAft>
                <a:spcPts val="100"/>
              </a:spcAft>
            </a:pPr>
            <a:r>
              <a:rPr sz="1100">
                <a:solidFill>
                  <a:srgbClr val="000000"/>
                </a:solidFill>
                <a:latin typeface="Calibri"/>
              </a:rPr>
              <a:t>│  9.  Understanding Performance Optimization                   │</a:t>
            </a:r>
          </a:p>
          <a:p>
            <a:pPr algn="l">
              <a:lnSpc>
                <a:spcPct val="110000"/>
              </a:lnSpc>
              <a:spcBef>
                <a:spcPts val="100"/>
              </a:spcBef>
              <a:spcAft>
                <a:spcPts val="100"/>
              </a:spcAft>
            </a:pPr>
            <a:r>
              <a:rPr sz="1100">
                <a:solidFill>
                  <a:srgbClr val="000000"/>
                </a:solidFill>
                <a:latin typeface="Calibri"/>
              </a:rPr>
              <a:t>│  10. Understanding Security Best Practices                    │</a:t>
            </a:r>
          </a:p>
          <a:p>
            <a:pPr algn="l">
              <a:lnSpc>
                <a:spcPct val="110000"/>
              </a:lnSpc>
              <a:spcBef>
                <a:spcPts val="100"/>
              </a:spcBef>
              <a:spcAft>
                <a:spcPts val="100"/>
              </a:spcAft>
            </a:pPr>
            <a:r>
              <a:rPr sz="1100">
                <a:solidFill>
                  <a:srgbClr val="000000"/>
                </a:solidFill>
                <a:latin typeface="Calibri"/>
              </a:rPr>
              <a:t>│  11. Understanding Error Handling &amp; Observability            │</a:t>
            </a:r>
          </a:p>
          <a:p>
            <a:pPr algn="l">
              <a:lnSpc>
                <a:spcPct val="110000"/>
              </a:lnSpc>
              <a:spcBef>
                <a:spcPts val="100"/>
              </a:spcBef>
              <a:spcAft>
                <a:spcPts val="100"/>
              </a:spcAft>
            </a:pPr>
            <a:r>
              <a:rPr sz="1100">
                <a:solidFill>
                  <a:srgbClr val="000000"/>
                </a:solidFill>
                <a:latin typeface="Calibri"/>
              </a:rPr>
              <a:t>│  12. Understanding Real-Time Systems &amp; WebSockets            │</a:t>
            </a:r>
          </a:p>
          <a:p>
            <a:pPr algn="l">
              <a:lnSpc>
                <a:spcPct val="110000"/>
              </a:lnSpc>
              <a:spcBef>
                <a:spcPts val="100"/>
              </a:spcBef>
              <a:spcAft>
                <a:spcPts val="100"/>
              </a:spcAft>
            </a:pPr>
            <a:r>
              <a:rPr sz="1100">
                <a:solidFill>
                  <a:srgbClr val="000000"/>
                </a:solidFill>
                <a:latin typeface="Calibri"/>
              </a:rPr>
              <a:t>│  13. Understanding Deployment &amp; DevOps Practices             │</a:t>
            </a:r>
          </a:p>
          <a:p>
            <a:pPr algn="l">
              <a:lnSpc>
                <a:spcPct val="110000"/>
              </a:lnSpc>
              <a:spcBef>
                <a:spcPts val="100"/>
              </a:spcBef>
              <a:spcAft>
                <a:spcPts val="100"/>
              </a:spcAft>
            </a:pPr>
            <a:r>
              <a:rPr sz="1100">
                <a:solidFill>
                  <a:srgbClr val="000000"/>
                </a:solidFill>
                <a:latin typeface="Calibri"/>
              </a:rPr>
              <a:t>│  14. Understanding Event-Driven Architecture                  │</a:t>
            </a:r>
          </a:p>
          <a:p>
            <a:pPr algn="l">
              <a:lnSpc>
                <a:spcPct val="110000"/>
              </a:lnSpc>
              <a:spcBef>
                <a:spcPts val="100"/>
              </a:spcBef>
              <a:spcAft>
                <a:spcPts val="100"/>
              </a:spcAft>
            </a:pPr>
            <a:r>
              <a:rPr sz="1100">
                <a:solidFill>
                  <a:srgbClr val="000000"/>
                </a:solidFill>
                <a:latin typeface="Calibri"/>
              </a:rPr>
              <a:t>│  15. Understanding Microservices &amp; Service Mesh              │</a:t>
            </a:r>
          </a:p>
          <a:p>
            <a:pPr algn="l">
              <a:lnSpc>
                <a:spcPct val="110000"/>
              </a:lnSpc>
              <a:spcBef>
                <a:spcPts val="100"/>
              </a:spcBef>
              <a:spcAft>
                <a:spcPts val="100"/>
              </a:spcAft>
            </a:pPr>
            <a:r>
              <a:rPr sz="1100">
                <a:solidFill>
                  <a:srgbClr val="000000"/>
                </a:solidFill>
                <a:latin typeface="Calibri"/>
              </a:rPr>
              <a:t>│  16. Understanding Database Patterns &amp; Data Management       │</a:t>
            </a:r>
          </a:p>
          <a:p>
            <a:pPr algn="l">
              <a:lnSpc>
                <a:spcPct val="110000"/>
              </a:lnSpc>
              <a:spcBef>
                <a:spcPts val="100"/>
              </a:spcBef>
              <a:spcAft>
                <a:spcPts val="100"/>
              </a:spcAft>
            </a:pPr>
            <a:r>
              <a:rPr sz="1100">
                <a:solidFill>
                  <a:srgbClr val="000000"/>
                </a:solidFill>
                <a:latin typeface="Calibri"/>
              </a:rPr>
              <a:t>│  17. Understanding Caching Strategies &amp; CDN                  │</a:t>
            </a:r>
          </a:p>
          <a:p>
            <a:pPr algn="l">
              <a:lnSpc>
                <a:spcPct val="110000"/>
              </a:lnSpc>
              <a:spcBef>
                <a:spcPts val="100"/>
              </a:spcBef>
              <a:spcAft>
                <a:spcPts val="100"/>
              </a:spcAft>
            </a:pPr>
            <a:r>
              <a:rPr sz="1100">
                <a:solidFill>
                  <a:srgbClr val="000000"/>
                </a:solidFill>
                <a:latin typeface="Calibri"/>
              </a:rPr>
              <a:t>│  18. Understanding Message Queues &amp; Event Streaming          │</a:t>
            </a:r>
          </a:p>
          <a:p>
            <a:pPr algn="l">
              <a:lnSpc>
                <a:spcPct val="110000"/>
              </a:lnSpc>
              <a:spcBef>
                <a:spcPts val="100"/>
              </a:spcBef>
              <a:spcAft>
                <a:spcPts val="100"/>
              </a:spcAft>
            </a:pPr>
            <a:r>
              <a:rPr sz="1100">
                <a:solidFill>
                  <a:srgbClr val="000000"/>
                </a:solidFill>
                <a:latin typeface="Calibri"/>
              </a:rPr>
              <a:t>│  19. Understanding API Design &amp; Documentation                │</a:t>
            </a:r>
          </a:p>
          <a:p>
            <a:pPr algn="l">
              <a:lnSpc>
                <a:spcPct val="110000"/>
              </a:lnSpc>
              <a:spcBef>
                <a:spcPts val="100"/>
              </a:spcBef>
              <a:spcAft>
                <a:spcPts val="100"/>
              </a:spcAft>
            </a:pPr>
            <a:r>
              <a:rPr sz="1100">
                <a:solidFill>
                  <a:srgbClr val="000000"/>
                </a:solidFill>
                <a:latin typeface="Calibri"/>
              </a:rPr>
              <a:t>│  20. Understanding System Architecture &amp; Design Patterns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CONCLUSION (5 Slides)</a:t>
            </a:r>
          </a:p>
          <a:p>
            <a:pPr algn="l">
              <a:lnSpc>
                <a:spcPct val="110000"/>
              </a:lnSpc>
              <a:spcBef>
                <a:spcPts val="100"/>
              </a:spcBef>
              <a:spcAft>
                <a:spcPts val="100"/>
              </a:spcAft>
            </a:pPr>
            <a:r>
              <a:rPr sz="1100">
                <a:solidFill>
                  <a:srgbClr val="000000"/>
                </a:solidFill>
                <a:latin typeface="Calibri"/>
              </a:rPr>
              <a:t>### Slide C.1: What You've Built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COMPLETE ORCHESTRATOR SYSTEM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 Production-Ready HTTP Service                              │</a:t>
            </a:r>
          </a:p>
          <a:p>
            <a:pPr algn="l">
              <a:lnSpc>
                <a:spcPct val="110000"/>
              </a:lnSpc>
              <a:spcBef>
                <a:spcPts val="100"/>
              </a:spcBef>
              <a:spcAft>
                <a:spcPts val="100"/>
              </a:spcAft>
            </a:pPr>
            <a:r>
              <a:rPr sz="1100">
                <a:solidFill>
                  <a:srgbClr val="000000"/>
                </a:solidFill>
                <a:latin typeface="Calibri"/>
              </a:rPr>
              <a:t>│  ✅ Hexagonal Architecture with Clean Separation              │</a:t>
            </a:r>
          </a:p>
          <a:p>
            <a:pPr algn="l">
              <a:lnSpc>
                <a:spcPct val="110000"/>
              </a:lnSpc>
              <a:spcBef>
                <a:spcPts val="100"/>
              </a:spcBef>
              <a:spcAft>
                <a:spcPts val="100"/>
              </a:spcAft>
            </a:pPr>
            <a:r>
              <a:rPr sz="1100">
                <a:solidFill>
                  <a:srgbClr val="000000"/>
                </a:solidFill>
                <a:latin typeface="Calibri"/>
              </a:rPr>
              <a:t>│  ✅ PostgreSQL Integration with Connection Pooling            │</a:t>
            </a:r>
          </a:p>
          <a:p>
            <a:pPr algn="l">
              <a:lnSpc>
                <a:spcPct val="110000"/>
              </a:lnSpc>
              <a:spcBef>
                <a:spcPts val="100"/>
              </a:spcBef>
              <a:spcAft>
                <a:spcPts val="100"/>
              </a:spcAft>
            </a:pPr>
            <a:r>
              <a:rPr sz="1100">
                <a:solidFill>
                  <a:srgbClr val="000000"/>
                </a:solidFill>
                <a:latin typeface="Calibri"/>
              </a:rPr>
              <a:t>│  ✅ Redis Caching with Multi-Level Strategy                   │</a:t>
            </a:r>
          </a:p>
          <a:p>
            <a:pPr algn="l">
              <a:lnSpc>
                <a:spcPct val="110000"/>
              </a:lnSpc>
              <a:spcBef>
                <a:spcPts val="100"/>
              </a:spcBef>
              <a:spcAft>
                <a:spcPts val="100"/>
              </a:spcAft>
            </a:pPr>
            <a:r>
              <a:rPr sz="1100">
                <a:solidFill>
                  <a:srgbClr val="000000"/>
                </a:solidFill>
                <a:latin typeface="Calibri"/>
              </a:rPr>
              <a:t>│  ✅ Distributed Patterns (Circuit Breaker, Saga, Retry)      │</a:t>
            </a:r>
          </a:p>
          <a:p>
            <a:pPr algn="l">
              <a:lnSpc>
                <a:spcPct val="110000"/>
              </a:lnSpc>
              <a:spcBef>
                <a:spcPts val="100"/>
              </a:spcBef>
              <a:spcAft>
                <a:spcPts val="100"/>
              </a:spcAft>
            </a:pPr>
            <a:r>
              <a:rPr sz="1100">
                <a:solidFill>
                  <a:srgbClr val="000000"/>
                </a:solidFill>
                <a:latin typeface="Calibri"/>
              </a:rPr>
              <a:t>│  ✅ Request Context &amp; Cancellation Propagation                │</a:t>
            </a:r>
          </a:p>
          <a:p>
            <a:pPr algn="l">
              <a:lnSpc>
                <a:spcPct val="110000"/>
              </a:lnSpc>
              <a:spcBef>
                <a:spcPts val="100"/>
              </a:spcBef>
              <a:spcAft>
                <a:spcPts val="100"/>
              </a:spcAft>
            </a:pPr>
            <a:r>
              <a:rPr sz="1100">
                <a:solidFill>
                  <a:srgbClr val="000000"/>
                </a:solidFill>
                <a:latin typeface="Calibri"/>
              </a:rPr>
              <a:t>│  ✅ Cloud-Native Deployment (Lambda, Workers)                │</a:t>
            </a:r>
          </a:p>
          <a:p>
            <a:pPr algn="l">
              <a:lnSpc>
                <a:spcPct val="110000"/>
              </a:lnSpc>
              <a:spcBef>
                <a:spcPts val="100"/>
              </a:spcBef>
              <a:spcAft>
                <a:spcPts val="100"/>
              </a:spcAft>
            </a:pPr>
            <a:r>
              <a:rPr sz="1100">
                <a:solidFill>
                  <a:srgbClr val="000000"/>
                </a:solidFill>
                <a:latin typeface="Calibri"/>
              </a:rPr>
              <a:t>│  ✅ Event Sourcing with Complete Audit Trail                 │</a:t>
            </a:r>
          </a:p>
          <a:p>
            <a:pPr algn="l">
              <a:lnSpc>
                <a:spcPct val="110000"/>
              </a:lnSpc>
              <a:spcBef>
                <a:spcPts val="100"/>
              </a:spcBef>
              <a:spcAft>
                <a:spcPts val="100"/>
              </a:spcAft>
            </a:pPr>
            <a:r>
              <a:rPr sz="1100">
                <a:solidFill>
                  <a:srgbClr val="000000"/>
                </a:solidFill>
                <a:latin typeface="Calibri"/>
              </a:rPr>
              <a:t>│  ✅ AI Agents with LLM Integration                            │</a:t>
            </a:r>
          </a:p>
          <a:p>
            <a:pPr algn="l">
              <a:lnSpc>
                <a:spcPct val="110000"/>
              </a:lnSpc>
              <a:spcBef>
                <a:spcPts val="100"/>
              </a:spcBef>
              <a:spcAft>
                <a:spcPts val="100"/>
              </a:spcAft>
            </a:pPr>
            <a:r>
              <a:rPr sz="1100">
                <a:solidFill>
                  <a:srgbClr val="000000"/>
                </a:solidFill>
                <a:latin typeface="Calibri"/>
              </a:rPr>
              <a:t>│  ✅ Production Orchestration Layer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Slide C.2: Key Takeaways</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KEY TAKEAWAYS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1. Architecture is About Trade-offs                           │</a:t>
            </a:r>
          </a:p>
          <a:p>
            <a:pPr algn="l">
              <a:lnSpc>
                <a:spcPct val="110000"/>
              </a:lnSpc>
              <a:spcBef>
                <a:spcPts val="100"/>
              </a:spcBef>
              <a:spcAft>
                <a:spcPts val="100"/>
              </a:spcAft>
            </a:pPr>
            <a:r>
              <a:rPr sz="1100">
                <a:solidFill>
                  <a:srgbClr val="000000"/>
                </a:solidFill>
                <a:latin typeface="Calibri"/>
              </a:rPr>
              <a:t>│     • No perfect solution                                      │</a:t>
            </a:r>
          </a:p>
          <a:p>
            <a:pPr algn="l">
              <a:lnSpc>
                <a:spcPct val="110000"/>
              </a:lnSpc>
              <a:spcBef>
                <a:spcPts val="100"/>
              </a:spcBef>
              <a:spcAft>
                <a:spcPts val="100"/>
              </a:spcAft>
            </a:pPr>
            <a:r>
              <a:rPr sz="1100">
                <a:solidFill>
                  <a:srgbClr val="000000"/>
                </a:solidFill>
                <a:latin typeface="Calibri"/>
              </a:rPr>
              <a:t>│     • Balance competing requirements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2. Code Quality Matters                                       │</a:t>
            </a:r>
          </a:p>
          <a:p>
            <a:pPr algn="l">
              <a:lnSpc>
                <a:spcPct val="110000"/>
              </a:lnSpc>
              <a:spcBef>
                <a:spcPts val="100"/>
              </a:spcBef>
              <a:spcAft>
                <a:spcPts val="100"/>
              </a:spcAft>
            </a:pPr>
            <a:r>
              <a:rPr sz="1100">
                <a:solidFill>
                  <a:srgbClr val="000000"/>
                </a:solidFill>
                <a:latin typeface="Calibri"/>
              </a:rPr>
              <a:t>│     • Production-grade code                                   │</a:t>
            </a:r>
          </a:p>
          <a:p>
            <a:pPr algn="l">
              <a:lnSpc>
                <a:spcPct val="110000"/>
              </a:lnSpc>
              <a:spcBef>
                <a:spcPts val="100"/>
              </a:spcBef>
              <a:spcAft>
                <a:spcPts val="100"/>
              </a:spcAft>
            </a:pPr>
            <a:r>
              <a:rPr sz="1100">
                <a:solidFill>
                  <a:srgbClr val="000000"/>
                </a:solidFill>
                <a:latin typeface="Calibri"/>
              </a:rPr>
              <a:t>│     • Error handling                                           │</a:t>
            </a:r>
          </a:p>
          <a:p>
            <a:pPr algn="l">
              <a:lnSpc>
                <a:spcPct val="110000"/>
              </a:lnSpc>
              <a:spcBef>
                <a:spcPts val="100"/>
              </a:spcBef>
              <a:spcAft>
                <a:spcPts val="100"/>
              </a:spcAft>
            </a:pPr>
            <a:r>
              <a:rPr sz="1100">
                <a:solidFill>
                  <a:srgbClr val="000000"/>
                </a:solidFill>
                <a:latin typeface="Calibri"/>
              </a:rPr>
              <a:t>│     • Observability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3. Patterns are Tools                                         │</a:t>
            </a:r>
          </a:p>
          <a:p>
            <a:pPr algn="l">
              <a:lnSpc>
                <a:spcPct val="110000"/>
              </a:lnSpc>
              <a:spcBef>
                <a:spcPts val="100"/>
              </a:spcBef>
              <a:spcAft>
                <a:spcPts val="100"/>
              </a:spcAft>
            </a:pPr>
            <a:r>
              <a:rPr sz="1100">
                <a:solidFill>
                  <a:srgbClr val="000000"/>
                </a:solidFill>
                <a:latin typeface="Calibri"/>
              </a:rPr>
              <a:t>│     • Learn the patterns                                      │</a:t>
            </a:r>
          </a:p>
          <a:p>
            <a:pPr algn="l">
              <a:lnSpc>
                <a:spcPct val="110000"/>
              </a:lnSpc>
              <a:spcBef>
                <a:spcPts val="100"/>
              </a:spcBef>
              <a:spcAft>
                <a:spcPts val="100"/>
              </a:spcAft>
            </a:pPr>
            <a:r>
              <a:rPr sz="1100">
                <a:solidFill>
                  <a:srgbClr val="000000"/>
                </a:solidFill>
                <a:latin typeface="Calibri"/>
              </a:rPr>
              <a:t>│     • Apply appropriately                                     │</a:t>
            </a:r>
          </a:p>
          <a:p>
            <a:pPr algn="l">
              <a:lnSpc>
                <a:spcPct val="110000"/>
              </a:lnSpc>
              <a:spcBef>
                <a:spcPts val="100"/>
              </a:spcBef>
              <a:spcAft>
                <a:spcPts val="100"/>
              </a:spcAft>
            </a:pPr>
            <a:r>
              <a:rPr sz="1100">
                <a:solidFill>
                  <a:srgbClr val="000000"/>
                </a:solidFill>
                <a:latin typeface="Calibri"/>
              </a:rPr>
              <a:t>│     • Avoid over-engineering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4. Distributed Systems are Different                         │</a:t>
            </a:r>
          </a:p>
          <a:p>
            <a:pPr algn="l">
              <a:lnSpc>
                <a:spcPct val="110000"/>
              </a:lnSpc>
              <a:spcBef>
                <a:spcPts val="100"/>
              </a:spcBef>
              <a:spcAft>
                <a:spcPts val="100"/>
              </a:spcAft>
            </a:pPr>
            <a:r>
              <a:rPr sz="1100">
                <a:solidFill>
                  <a:srgbClr val="000000"/>
                </a:solidFill>
                <a:latin typeface="Calibri"/>
              </a:rPr>
              <a:t>│     • Expect failures                                          │</a:t>
            </a:r>
          </a:p>
          <a:p>
            <a:pPr algn="l">
              <a:lnSpc>
                <a:spcPct val="110000"/>
              </a:lnSpc>
              <a:spcBef>
                <a:spcPts val="100"/>
              </a:spcBef>
              <a:spcAft>
                <a:spcPts val="100"/>
              </a:spcAft>
            </a:pPr>
            <a:r>
              <a:rPr sz="1100">
                <a:solidFill>
                  <a:srgbClr val="000000"/>
                </a:solidFill>
                <a:latin typeface="Calibri"/>
              </a:rPr>
              <a:t>│     • Design for resilience                                   │</a:t>
            </a:r>
          </a:p>
          <a:p>
            <a:pPr algn="l">
              <a:lnSpc>
                <a:spcPct val="110000"/>
              </a:lnSpc>
              <a:spcBef>
                <a:spcPts val="100"/>
              </a:spcBef>
              <a:spcAft>
                <a:spcPts val="100"/>
              </a:spcAft>
            </a:pPr>
            <a:r>
              <a:rPr sz="1100">
                <a:solidFill>
                  <a:srgbClr val="000000"/>
                </a:solidFill>
                <a:latin typeface="Calibri"/>
              </a:rPr>
              <a:t>│     • Monitor everything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5. Continuous Improvement                                     │</a:t>
            </a:r>
          </a:p>
          <a:p>
            <a:pPr algn="l">
              <a:lnSpc>
                <a:spcPct val="110000"/>
              </a:lnSpc>
              <a:spcBef>
                <a:spcPts val="100"/>
              </a:spcBef>
              <a:spcAft>
                <a:spcPts val="100"/>
              </a:spcAft>
            </a:pPr>
            <a:r>
              <a:rPr sz="1100">
                <a:solidFill>
                  <a:srgbClr val="000000"/>
                </a:solidFill>
                <a:latin typeface="Calibri"/>
              </a:rPr>
              <a:t>│     • Learn from each system                                  │</a:t>
            </a:r>
          </a:p>
          <a:p>
            <a:pPr algn="l">
              <a:lnSpc>
                <a:spcPct val="110000"/>
              </a:lnSpc>
              <a:spcBef>
                <a:spcPts val="100"/>
              </a:spcBef>
              <a:spcAft>
                <a:spcPts val="100"/>
              </a:spcAft>
            </a:pPr>
            <a:r>
              <a:rPr sz="1100">
                <a:solidFill>
                  <a:srgbClr val="000000"/>
                </a:solidFill>
                <a:latin typeface="Calibri"/>
              </a:rPr>
              <a:t>│     • Evolve with requirements                                │</a:t>
            </a:r>
          </a:p>
          <a:p>
            <a:pPr algn="l">
              <a:lnSpc>
                <a:spcPct val="110000"/>
              </a:lnSpc>
              <a:spcBef>
                <a:spcPts val="100"/>
              </a:spcBef>
              <a:spcAft>
                <a:spcPts val="100"/>
              </a:spcAft>
            </a:pPr>
            <a:r>
              <a:rPr sz="1100">
                <a:solidFill>
                  <a:srgbClr val="000000"/>
                </a:solidFill>
                <a:latin typeface="Calibri"/>
              </a:rPr>
              <a:t>│     • Stay curious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Slide C.3: What's Next?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WHAT'S NEXT?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Deepen Your Knowledge:                                        │</a:t>
            </a:r>
          </a:p>
          <a:p>
            <a:pPr algn="l">
              <a:lnSpc>
                <a:spcPct val="110000"/>
              </a:lnSpc>
              <a:spcBef>
                <a:spcPts val="100"/>
              </a:spcBef>
              <a:spcAft>
                <a:spcPts val="100"/>
              </a:spcAft>
            </a:pPr>
            <a:r>
              <a:rPr sz="1100">
                <a:solidFill>
                  <a:srgbClr val="000000"/>
                </a:solidFill>
                <a:latin typeface="Calibri"/>
              </a:rPr>
              <a:t>│  • Kubernetes for orchestration                               │</a:t>
            </a:r>
          </a:p>
          <a:p>
            <a:pPr algn="l">
              <a:lnSpc>
                <a:spcPct val="110000"/>
              </a:lnSpc>
              <a:spcBef>
                <a:spcPts val="100"/>
              </a:spcBef>
              <a:spcAft>
                <a:spcPts val="100"/>
              </a:spcAft>
            </a:pPr>
            <a:r>
              <a:rPr sz="1100">
                <a:solidFill>
                  <a:srgbClr val="000000"/>
                </a:solidFill>
                <a:latin typeface="Calibri"/>
              </a:rPr>
              <a:t>│  • Service Mesh (Istio, Linkerd)                              │</a:t>
            </a:r>
          </a:p>
          <a:p>
            <a:pPr algn="l">
              <a:lnSpc>
                <a:spcPct val="110000"/>
              </a:lnSpc>
              <a:spcBef>
                <a:spcPts val="100"/>
              </a:spcBef>
              <a:spcAft>
                <a:spcPts val="100"/>
              </a:spcAft>
            </a:pPr>
            <a:r>
              <a:rPr sz="1100">
                <a:solidFill>
                  <a:srgbClr val="000000"/>
                </a:solidFill>
                <a:latin typeface="Calibri"/>
              </a:rPr>
              <a:t>│  • Kafka for event streaming                                  │</a:t>
            </a:r>
          </a:p>
          <a:p>
            <a:pPr algn="l">
              <a:lnSpc>
                <a:spcPct val="110000"/>
              </a:lnSpc>
              <a:spcBef>
                <a:spcPts val="100"/>
              </a:spcBef>
              <a:spcAft>
                <a:spcPts val="100"/>
              </a:spcAft>
            </a:pPr>
            <a:r>
              <a:rPr sz="1100">
                <a:solidFill>
                  <a:srgbClr val="000000"/>
                </a:solidFill>
                <a:latin typeface="Calibri"/>
              </a:rPr>
              <a:t>│  • GraphQL for APIs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Expand the System:                                           │</a:t>
            </a:r>
          </a:p>
          <a:p>
            <a:pPr algn="l">
              <a:lnSpc>
                <a:spcPct val="110000"/>
              </a:lnSpc>
              <a:spcBef>
                <a:spcPts val="100"/>
              </a:spcBef>
              <a:spcAft>
                <a:spcPts val="100"/>
              </a:spcAft>
            </a:pPr>
            <a:r>
              <a:rPr sz="1100">
                <a:solidFill>
                  <a:srgbClr val="000000"/>
                </a:solidFill>
                <a:latin typeface="Calibri"/>
              </a:rPr>
              <a:t>│  • Mobile apps (React Native)                                │</a:t>
            </a:r>
          </a:p>
          <a:p>
            <a:pPr algn="l">
              <a:lnSpc>
                <a:spcPct val="110000"/>
              </a:lnSpc>
              <a:spcBef>
                <a:spcPts val="100"/>
              </a:spcBef>
              <a:spcAft>
                <a:spcPts val="100"/>
              </a:spcAft>
            </a:pPr>
            <a:r>
              <a:rPr sz="1100">
                <a:solidFill>
                  <a:srgbClr val="000000"/>
                </a:solidFill>
                <a:latin typeface="Calibri"/>
              </a:rPr>
              <a:t>│  • Web UI (React, Next.js)                                   │</a:t>
            </a:r>
          </a:p>
          <a:p>
            <a:pPr algn="l">
              <a:lnSpc>
                <a:spcPct val="110000"/>
              </a:lnSpc>
              <a:spcBef>
                <a:spcPts val="100"/>
              </a:spcBef>
              <a:spcAft>
                <a:spcPts val="100"/>
              </a:spcAft>
            </a:pPr>
            <a:r>
              <a:rPr sz="1100">
                <a:solidFill>
                  <a:srgbClr val="000000"/>
                </a:solidFill>
                <a:latin typeface="Calibri"/>
              </a:rPr>
              <a:t>│  • Additional services                                        │</a:t>
            </a:r>
          </a:p>
          <a:p>
            <a:pPr algn="l">
              <a:lnSpc>
                <a:spcPct val="110000"/>
              </a:lnSpc>
              <a:spcBef>
                <a:spcPts val="100"/>
              </a:spcBef>
              <a:spcAft>
                <a:spcPts val="100"/>
              </a:spcAft>
            </a:pPr>
            <a:r>
              <a:rPr sz="1100">
                <a:solidFill>
                  <a:srgbClr val="000000"/>
                </a:solidFill>
                <a:latin typeface="Calibri"/>
              </a:rPr>
              <a:t>│  • Machine Learning integration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Production Optimizations:                                    │</a:t>
            </a:r>
          </a:p>
          <a:p>
            <a:pPr algn="l">
              <a:lnSpc>
                <a:spcPct val="110000"/>
              </a:lnSpc>
              <a:spcBef>
                <a:spcPts val="100"/>
              </a:spcBef>
              <a:spcAft>
                <a:spcPts val="100"/>
              </a:spcAft>
            </a:pPr>
            <a:r>
              <a:rPr sz="1100">
                <a:solidFill>
                  <a:srgbClr val="000000"/>
                </a:solidFill>
                <a:latin typeface="Calibri"/>
              </a:rPr>
              <a:t>│  • Load testing                                               │</a:t>
            </a:r>
          </a:p>
          <a:p>
            <a:pPr algn="l">
              <a:lnSpc>
                <a:spcPct val="110000"/>
              </a:lnSpc>
              <a:spcBef>
                <a:spcPts val="100"/>
              </a:spcBef>
              <a:spcAft>
                <a:spcPts val="100"/>
              </a:spcAft>
            </a:pPr>
            <a:r>
              <a:rPr sz="1100">
                <a:solidFill>
                  <a:srgbClr val="000000"/>
                </a:solidFill>
                <a:latin typeface="Calibri"/>
              </a:rPr>
              <a:t>│  • Security scanning                                          │</a:t>
            </a:r>
          </a:p>
          <a:p>
            <a:pPr algn="l">
              <a:lnSpc>
                <a:spcPct val="110000"/>
              </a:lnSpc>
              <a:spcBef>
                <a:spcPts val="100"/>
              </a:spcBef>
              <a:spcAft>
                <a:spcPts val="100"/>
              </a:spcAft>
            </a:pPr>
            <a:r>
              <a:rPr sz="1100">
                <a:solidFill>
                  <a:srgbClr val="000000"/>
                </a:solidFill>
                <a:latin typeface="Calibri"/>
              </a:rPr>
              <a:t>│  • Performance tuning                                         │</a:t>
            </a:r>
          </a:p>
          <a:p>
            <a:pPr algn="l">
              <a:lnSpc>
                <a:spcPct val="110000"/>
              </a:lnSpc>
              <a:spcBef>
                <a:spcPts val="100"/>
              </a:spcBef>
              <a:spcAft>
                <a:spcPts val="100"/>
              </a:spcAft>
            </a:pPr>
            <a:r>
              <a:rPr sz="1100">
                <a:solidFill>
                  <a:srgbClr val="000000"/>
                </a:solidFill>
                <a:latin typeface="Calibri"/>
              </a:rPr>
              <a:t>│  • Disaster recovery planning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Slide C.4: Resources</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RECOMMENDED RESOURCES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Books:                                                        │</a:t>
            </a:r>
          </a:p>
          <a:p>
            <a:pPr algn="l">
              <a:lnSpc>
                <a:spcPct val="110000"/>
              </a:lnSpc>
              <a:spcBef>
                <a:spcPts val="100"/>
              </a:spcBef>
              <a:spcAft>
                <a:spcPts val="100"/>
              </a:spcAft>
            </a:pPr>
            <a:r>
              <a:rPr sz="1100">
                <a:solidFill>
                  <a:srgbClr val="000000"/>
                </a:solidFill>
                <a:latin typeface="Calibri"/>
              </a:rPr>
              <a:t>│  • "Designing Data-Intensive Applications" - Martin Kleppmann │</a:t>
            </a:r>
          </a:p>
          <a:p>
            <a:pPr algn="l">
              <a:lnSpc>
                <a:spcPct val="110000"/>
              </a:lnSpc>
              <a:spcBef>
                <a:spcPts val="100"/>
              </a:spcBef>
              <a:spcAft>
                <a:spcPts val="100"/>
              </a:spcAft>
            </a:pPr>
            <a:r>
              <a:rPr sz="1100">
                <a:solidFill>
                  <a:srgbClr val="000000"/>
                </a:solidFill>
                <a:latin typeface="Calibri"/>
              </a:rPr>
              <a:t>│  • "Building Microservices" - Sam Newman                     │</a:t>
            </a:r>
          </a:p>
          <a:p>
            <a:pPr algn="l">
              <a:lnSpc>
                <a:spcPct val="110000"/>
              </a:lnSpc>
              <a:spcBef>
                <a:spcPts val="100"/>
              </a:spcBef>
              <a:spcAft>
                <a:spcPts val="100"/>
              </a:spcAft>
            </a:pPr>
            <a:r>
              <a:rPr sz="1100">
                <a:solidFill>
                  <a:srgbClr val="000000"/>
                </a:solidFill>
                <a:latin typeface="Calibri"/>
              </a:rPr>
              <a:t>│  • "The Pragmatic Programmer" - David Thomas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Documentation:                                                │</a:t>
            </a:r>
          </a:p>
          <a:p>
            <a:pPr algn="l">
              <a:lnSpc>
                <a:spcPct val="110000"/>
              </a:lnSpc>
              <a:spcBef>
                <a:spcPts val="100"/>
              </a:spcBef>
              <a:spcAft>
                <a:spcPts val="100"/>
              </a:spcAft>
            </a:pPr>
            <a:r>
              <a:rPr sz="1100">
                <a:solidFill>
                  <a:srgbClr val="000000"/>
                </a:solidFill>
                <a:latin typeface="Calibri"/>
              </a:rPr>
              <a:t>│  • Node.js Official Docs                                      │</a:t>
            </a:r>
          </a:p>
          <a:p>
            <a:pPr algn="l">
              <a:lnSpc>
                <a:spcPct val="110000"/>
              </a:lnSpc>
              <a:spcBef>
                <a:spcPts val="100"/>
              </a:spcBef>
              <a:spcAft>
                <a:spcPts val="100"/>
              </a:spcAft>
            </a:pPr>
            <a:r>
              <a:rPr sz="1100">
                <a:solidFill>
                  <a:srgbClr val="000000"/>
                </a:solidFill>
                <a:latin typeface="Calibri"/>
              </a:rPr>
              <a:t>│  • TypeScript Handbook                                        │</a:t>
            </a:r>
          </a:p>
          <a:p>
            <a:pPr algn="l">
              <a:lnSpc>
                <a:spcPct val="110000"/>
              </a:lnSpc>
              <a:spcBef>
                <a:spcPts val="100"/>
              </a:spcBef>
              <a:spcAft>
                <a:spcPts val="100"/>
              </a:spcAft>
            </a:pPr>
            <a:r>
              <a:rPr sz="1100">
                <a:solidFill>
                  <a:srgbClr val="000000"/>
                </a:solidFill>
                <a:latin typeface="Calibri"/>
              </a:rPr>
              <a:t>│  • PostgreSQL Documentation                                   │</a:t>
            </a:r>
          </a:p>
          <a:p>
            <a:pPr algn="l">
              <a:lnSpc>
                <a:spcPct val="110000"/>
              </a:lnSpc>
              <a:spcBef>
                <a:spcPts val="100"/>
              </a:spcBef>
              <a:spcAft>
                <a:spcPts val="100"/>
              </a:spcAft>
            </a:pPr>
            <a:r>
              <a:rPr sz="1100">
                <a:solidFill>
                  <a:srgbClr val="000000"/>
                </a:solidFill>
                <a:latin typeface="Calibri"/>
              </a:rPr>
              <a:t>│  • Redis Documentation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Courses:                                                      │</a:t>
            </a:r>
          </a:p>
          <a:p>
            <a:pPr algn="l">
              <a:lnSpc>
                <a:spcPct val="110000"/>
              </a:lnSpc>
              <a:spcBef>
                <a:spcPts val="100"/>
              </a:spcBef>
              <a:spcAft>
                <a:spcPts val="100"/>
              </a:spcAft>
            </a:pPr>
            <a:r>
              <a:rPr sz="1100">
                <a:solidFill>
                  <a:srgbClr val="000000"/>
                </a:solidFill>
                <a:latin typeface="Calibri"/>
              </a:rPr>
              <a:t>│  • AWS Training                                               │</a:t>
            </a:r>
          </a:p>
          <a:p>
            <a:pPr algn="l">
              <a:lnSpc>
                <a:spcPct val="110000"/>
              </a:lnSpc>
              <a:spcBef>
                <a:spcPts val="100"/>
              </a:spcBef>
              <a:spcAft>
                <a:spcPts val="100"/>
              </a:spcAft>
            </a:pPr>
            <a:r>
              <a:rPr sz="1100">
                <a:solidFill>
                  <a:srgbClr val="000000"/>
                </a:solidFill>
                <a:latin typeface="Calibri"/>
              </a:rPr>
              <a:t>│  • Cloudflare Workers                                         │</a:t>
            </a:r>
          </a:p>
          <a:p>
            <a:pPr algn="l">
              <a:lnSpc>
                <a:spcPct val="110000"/>
              </a:lnSpc>
              <a:spcBef>
                <a:spcPts val="100"/>
              </a:spcBef>
              <a:spcAft>
                <a:spcPts val="100"/>
              </a:spcAft>
            </a:pPr>
            <a:r>
              <a:rPr sz="1100">
                <a:solidFill>
                  <a:srgbClr val="000000"/>
                </a:solidFill>
                <a:latin typeface="Calibri"/>
              </a:rPr>
              <a:t>│  • OpenAI API Documentation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Community:                                                    │</a:t>
            </a:r>
          </a:p>
          <a:p>
            <a:pPr algn="l">
              <a:lnSpc>
                <a:spcPct val="110000"/>
              </a:lnSpc>
              <a:spcBef>
                <a:spcPts val="100"/>
              </a:spcBef>
              <a:spcAft>
                <a:spcPts val="100"/>
              </a:spcAft>
            </a:pPr>
            <a:r>
              <a:rPr sz="1100">
                <a:solidFill>
                  <a:srgbClr val="000000"/>
                </a:solidFill>
                <a:latin typeface="Calibri"/>
              </a:rPr>
              <a:t>│  • Stack Overflow                                             │</a:t>
            </a:r>
          </a:p>
          <a:p>
            <a:pPr algn="l">
              <a:lnSpc>
                <a:spcPct val="110000"/>
              </a:lnSpc>
              <a:spcBef>
                <a:spcPts val="100"/>
              </a:spcBef>
              <a:spcAft>
                <a:spcPts val="100"/>
              </a:spcAft>
            </a:pPr>
            <a:r>
              <a:rPr sz="1100">
                <a:solidFill>
                  <a:srgbClr val="000000"/>
                </a:solidFill>
                <a:latin typeface="Calibri"/>
              </a:rPr>
              <a:t>│  • GitHub                                                     │</a:t>
            </a:r>
          </a:p>
          <a:p>
            <a:pPr algn="l">
              <a:lnSpc>
                <a:spcPct val="110000"/>
              </a:lnSpc>
              <a:spcBef>
                <a:spcPts val="100"/>
              </a:spcBef>
              <a:spcAft>
                <a:spcPts val="100"/>
              </a:spcAft>
            </a:pPr>
            <a:r>
              <a:rPr sz="1100">
                <a:solidFill>
                  <a:srgbClr val="000000"/>
                </a:solidFill>
                <a:latin typeface="Calibri"/>
              </a:rPr>
              <a:t>│  • Local meetups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Slide C.5: Thank You</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  CONGRATULATIONS  🎉🎉🎉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You have completed the JavaScript Systems Architecture       │</a:t>
            </a:r>
          </a:p>
          <a:p>
            <a:pPr algn="l">
              <a:lnSpc>
                <a:spcPct val="110000"/>
              </a:lnSpc>
              <a:spcBef>
                <a:spcPts val="100"/>
              </a:spcBef>
              <a:spcAft>
                <a:spcPts val="100"/>
              </a:spcAft>
            </a:pPr>
            <a:r>
              <a:rPr sz="1100">
                <a:solidFill>
                  <a:srgbClr val="000000"/>
                </a:solidFill>
                <a:latin typeface="Calibri"/>
              </a:rPr>
              <a:t>│  Series!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7 Phases • 20 Primers • 100+ Code Files                     │</a:t>
            </a:r>
          </a:p>
          <a:p>
            <a:pPr algn="l">
              <a:lnSpc>
                <a:spcPct val="110000"/>
              </a:lnSpc>
              <a:spcBef>
                <a:spcPts val="100"/>
              </a:spcBef>
              <a:spcAft>
                <a:spcPts val="100"/>
              </a:spcAft>
            </a:pPr>
            <a:r>
              <a:rPr sz="1100">
                <a:solidFill>
                  <a:srgbClr val="000000"/>
                </a:solidFill>
                <a:latin typeface="Calibri"/>
              </a:rPr>
              <a:t>│  10,000+ Lines of Code • Production-Grade System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You are now equipped to:                                     │</a:t>
            </a:r>
          </a:p>
          <a:p>
            <a:pPr algn="l">
              <a:lnSpc>
                <a:spcPct val="110000"/>
              </a:lnSpc>
              <a:spcBef>
                <a:spcPts val="100"/>
              </a:spcBef>
              <a:spcAft>
                <a:spcPts val="100"/>
              </a:spcAft>
            </a:pPr>
            <a:r>
              <a:rPr sz="1100">
                <a:solidFill>
                  <a:srgbClr val="000000"/>
                </a:solidFill>
                <a:latin typeface="Calibri"/>
              </a:rPr>
              <a:t>│  ✅ Design distributed systems                                │</a:t>
            </a:r>
          </a:p>
          <a:p>
            <a:pPr algn="l">
              <a:lnSpc>
                <a:spcPct val="110000"/>
              </a:lnSpc>
              <a:spcBef>
                <a:spcPts val="100"/>
              </a:spcBef>
              <a:spcAft>
                <a:spcPts val="100"/>
              </a:spcAft>
            </a:pPr>
            <a:r>
              <a:rPr sz="1100">
                <a:solidFill>
                  <a:srgbClr val="000000"/>
                </a:solidFill>
                <a:latin typeface="Calibri"/>
              </a:rPr>
              <a:t>│  ✅ Build microservices                                      │</a:t>
            </a:r>
          </a:p>
          <a:p>
            <a:pPr algn="l">
              <a:lnSpc>
                <a:spcPct val="110000"/>
              </a:lnSpc>
              <a:spcBef>
                <a:spcPts val="100"/>
              </a:spcBef>
              <a:spcAft>
                <a:spcPts val="100"/>
              </a:spcAft>
            </a:pPr>
            <a:r>
              <a:rPr sz="1100">
                <a:solidFill>
                  <a:srgbClr val="000000"/>
                </a:solidFill>
                <a:latin typeface="Calibri"/>
              </a:rPr>
              <a:t>│  ✅ Implement event-driven architecture                       │</a:t>
            </a:r>
          </a:p>
          <a:p>
            <a:pPr algn="l">
              <a:lnSpc>
                <a:spcPct val="110000"/>
              </a:lnSpc>
              <a:spcBef>
                <a:spcPts val="100"/>
              </a:spcBef>
              <a:spcAft>
                <a:spcPts val="100"/>
              </a:spcAft>
            </a:pPr>
            <a:r>
              <a:rPr sz="1100">
                <a:solidFill>
                  <a:srgbClr val="000000"/>
                </a:solidFill>
                <a:latin typeface="Calibri"/>
              </a:rPr>
              <a:t>│  ✅ Deploy to cloud                                          │</a:t>
            </a:r>
          </a:p>
          <a:p>
            <a:pPr algn="l">
              <a:lnSpc>
                <a:spcPct val="110000"/>
              </a:lnSpc>
              <a:spcBef>
                <a:spcPts val="100"/>
              </a:spcBef>
              <a:spcAft>
                <a:spcPts val="100"/>
              </a:spcAft>
            </a:pPr>
            <a:r>
              <a:rPr sz="1100">
                <a:solidFill>
                  <a:srgbClr val="000000"/>
                </a:solidFill>
                <a:latin typeface="Calibri"/>
              </a:rPr>
              <a:t>│  ✅ Integrate AI agents                                      │</a:t>
            </a:r>
          </a:p>
          <a:p>
            <a:pPr algn="l">
              <a:lnSpc>
                <a:spcPct val="110000"/>
              </a:lnSpc>
              <a:spcBef>
                <a:spcPts val="100"/>
              </a:spcBef>
              <a:spcAft>
                <a:spcPts val="100"/>
              </a:spcAft>
            </a:pPr>
            <a:r>
              <a:rPr sz="1100">
                <a:solidFill>
                  <a:srgbClr val="000000"/>
                </a:solidFill>
                <a:latin typeface="Calibri"/>
              </a:rPr>
              <a:t>│  ✅ Production orchestration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Go build something amazing! 🚀                              │</a:t>
            </a:r>
          </a:p>
          <a:p>
            <a:pPr algn="l">
              <a:lnSpc>
                <a:spcPct val="110000"/>
              </a:lnSpc>
              <a:spcBef>
                <a:spcPts val="100"/>
              </a:spcBef>
              <a:spcAft>
                <a:spcPts val="100"/>
              </a:spcAft>
            </a:pPr>
            <a:r>
              <a:rPr sz="1100">
                <a:solidFill>
                  <a:srgbClr val="000000"/>
                </a:solidFill>
                <a:latin typeface="Calibri"/>
              </a:rPr>
              <a:t>│                                                                 │</a:t>
            </a:r>
          </a:p>
          <a:p>
            <a:pPr algn="l">
              <a:lnSpc>
                <a:spcPct val="110000"/>
              </a:lnSpc>
              <a:spcBef>
                <a:spcPts val="100"/>
              </a:spcBef>
              <a:spcAft>
                <a:spcPts val="100"/>
              </a:spcAft>
            </a:pPr>
            <a:r>
              <a:rPr sz="1100">
                <a:solidFill>
                  <a:srgbClr val="000000"/>
                </a:solidFill>
                <a:latin typeface="Calibri"/>
              </a:rPr>
              <a:t>│  Questions? Reach out at [your-email]                         │</a:t>
            </a:r>
          </a:p>
          <a:p>
            <a:pPr algn="l">
              <a:lnSpc>
                <a:spcPct val="110000"/>
              </a:lnSpc>
              <a:spcBef>
                <a:spcPts val="100"/>
              </a:spcBef>
              <a:spcAft>
                <a:spcPts val="100"/>
              </a:spcAft>
            </a:pPr>
            <a:r>
              <a:rPr sz="1100">
                <a:solidFill>
                  <a:srgbClr val="000000"/>
                </a:solidFill>
                <a:latin typeface="Calibri"/>
              </a:rPr>
              <a:t>│  Share your projects at [your-social]                         │</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a:t>
            </a:r>
          </a:p>
          <a:p>
            <a:pPr algn="l">
              <a:lnSpc>
                <a:spcPct val="110000"/>
              </a:lnSpc>
              <a:spcBef>
                <a:spcPts val="100"/>
              </a:spcBef>
              <a:spcAft>
                <a:spcPts val="100"/>
              </a:spcAft>
            </a:pPr>
            <a:r>
              <a:rPr sz="1100">
                <a:solidFill>
                  <a:srgbClr val="000000"/>
                </a:solidFill>
                <a:latin typeface="Calibri"/>
              </a:rPr>
              <a:t>## TOTAL SLIDE COUNT: 185 Slides</a:t>
            </a:r>
          </a:p>
          <a:p>
            <a:pPr algn="l">
              <a:lnSpc>
                <a:spcPct val="110000"/>
              </a:lnSpc>
              <a:spcBef>
                <a:spcPts val="100"/>
              </a:spcBef>
              <a:spcAft>
                <a:spcPts val="100"/>
              </a:spcAft>
            </a:pPr>
            <a:r>
              <a:rPr sz="1100">
                <a:solidFill>
                  <a:srgbClr val="000000"/>
                </a:solidFill>
                <a:latin typeface="Calibri"/>
              </a:rPr>
              <a:t>This comprehensive slide outline covers the entire JavaScript Systems Architecture series with detailed content, code examples, and teaching notes for each slide. The slides are designed to be used in sequential order, with each building on the previous content.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