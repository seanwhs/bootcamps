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  <p:sldId id="463" r:id="rId214"/>
    <p:sldId id="464" r:id="rId215"/>
    <p:sldId id="465" r:id="rId216"/>
    <p:sldId id="466" r:id="rId217"/>
    <p:sldId id="467" r:id="rId218"/>
    <p:sldId id="468" r:id="rId219"/>
    <p:sldId id="469" r:id="rId220"/>
    <p:sldId id="470" r:id="rId221"/>
    <p:sldId id="471" r:id="rId222"/>
    <p:sldId id="472" r:id="rId223"/>
    <p:sldId id="473" r:id="rId224"/>
    <p:sldId id="474" r:id="rId225"/>
    <p:sldId id="475" r:id="rId226"/>
    <p:sldId id="476" r:id="rId227"/>
    <p:sldId id="477" r:id="rId228"/>
    <p:sldId id="478" r:id="rId229"/>
    <p:sldId id="479" r:id="rId230"/>
    <p:sldId id="480" r:id="rId231"/>
    <p:sldId id="481" r:id="rId232"/>
    <p:sldId id="482" r:id="rId233"/>
    <p:sldId id="483" r:id="rId234"/>
    <p:sldId id="484" r:id="rId235"/>
    <p:sldId id="485" r:id="rId236"/>
    <p:sldId id="486" r:id="rId237"/>
    <p:sldId id="487" r:id="rId238"/>
    <p:sldId id="488" r:id="rId239"/>
    <p:sldId id="489" r:id="rId240"/>
    <p:sldId id="490" r:id="rId2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Relationship Id="rId213" Type="http://schemas.openxmlformats.org/officeDocument/2006/relationships/slide" Target="slides/slide207.xml"/><Relationship Id="rId214" Type="http://schemas.openxmlformats.org/officeDocument/2006/relationships/slide" Target="slides/slide208.xml"/><Relationship Id="rId215" Type="http://schemas.openxmlformats.org/officeDocument/2006/relationships/slide" Target="slides/slide209.xml"/><Relationship Id="rId216" Type="http://schemas.openxmlformats.org/officeDocument/2006/relationships/slide" Target="slides/slide210.xml"/><Relationship Id="rId217" Type="http://schemas.openxmlformats.org/officeDocument/2006/relationships/slide" Target="slides/slide211.xml"/><Relationship Id="rId218" Type="http://schemas.openxmlformats.org/officeDocument/2006/relationships/slide" Target="slides/slide212.xml"/><Relationship Id="rId219" Type="http://schemas.openxmlformats.org/officeDocument/2006/relationships/slide" Target="slides/slide213.xml"/><Relationship Id="rId220" Type="http://schemas.openxmlformats.org/officeDocument/2006/relationships/slide" Target="slides/slide214.xml"/><Relationship Id="rId221" Type="http://schemas.openxmlformats.org/officeDocument/2006/relationships/slide" Target="slides/slide215.xml"/><Relationship Id="rId222" Type="http://schemas.openxmlformats.org/officeDocument/2006/relationships/slide" Target="slides/slide216.xml"/><Relationship Id="rId223" Type="http://schemas.openxmlformats.org/officeDocument/2006/relationships/slide" Target="slides/slide217.xml"/><Relationship Id="rId224" Type="http://schemas.openxmlformats.org/officeDocument/2006/relationships/slide" Target="slides/slide218.xml"/><Relationship Id="rId225" Type="http://schemas.openxmlformats.org/officeDocument/2006/relationships/slide" Target="slides/slide219.xml"/><Relationship Id="rId226" Type="http://schemas.openxmlformats.org/officeDocument/2006/relationships/slide" Target="slides/slide220.xml"/><Relationship Id="rId227" Type="http://schemas.openxmlformats.org/officeDocument/2006/relationships/slide" Target="slides/slide221.xml"/><Relationship Id="rId228" Type="http://schemas.openxmlformats.org/officeDocument/2006/relationships/slide" Target="slides/slide222.xml"/><Relationship Id="rId229" Type="http://schemas.openxmlformats.org/officeDocument/2006/relationships/slide" Target="slides/slide223.xml"/><Relationship Id="rId230" Type="http://schemas.openxmlformats.org/officeDocument/2006/relationships/slide" Target="slides/slide224.xml"/><Relationship Id="rId231" Type="http://schemas.openxmlformats.org/officeDocument/2006/relationships/slide" Target="slides/slide225.xml"/><Relationship Id="rId232" Type="http://schemas.openxmlformats.org/officeDocument/2006/relationships/slide" Target="slides/slide226.xml"/><Relationship Id="rId233" Type="http://schemas.openxmlformats.org/officeDocument/2006/relationships/slide" Target="slides/slide227.xml"/><Relationship Id="rId234" Type="http://schemas.openxmlformats.org/officeDocument/2006/relationships/slide" Target="slides/slide228.xml"/><Relationship Id="rId235" Type="http://schemas.openxmlformats.org/officeDocument/2006/relationships/slide" Target="slides/slide229.xml"/><Relationship Id="rId236" Type="http://schemas.openxmlformats.org/officeDocument/2006/relationships/slide" Target="slides/slide230.xml"/><Relationship Id="rId237" Type="http://schemas.openxmlformats.org/officeDocument/2006/relationships/slide" Target="slides/slide231.xml"/><Relationship Id="rId238" Type="http://schemas.openxmlformats.org/officeDocument/2006/relationships/slide" Target="slides/slide232.xml"/><Relationship Id="rId239" Type="http://schemas.openxmlformats.org/officeDocument/2006/relationships/slide" Target="slides/slide233.xml"/><Relationship Id="rId240" Type="http://schemas.openxmlformats.org/officeDocument/2006/relationships/slide" Target="slides/slide234.xml"/><Relationship Id="rId241" Type="http://schemas.openxmlformats.org/officeDocument/2006/relationships/slide" Target="slides/slide2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Enterprise Cybersecurity Architecture &amp; Frameworks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An Engineering-Led, Risk-Driven Curriculum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Complete Training Presentation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250+ Slides | 12-15 Instructional Days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Target Audience: Security Architects, Cloud Architects, DevSecOps Engineers, Platform Engineers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Comprehensive slide-by-slide outline for teaching the entire 5-part series.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Each slide includes: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• Slide Number for reference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• Title for clear identification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• Content Bullets for what to present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• Visual Notes for diagram recommendations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• Speaker Notes for key talking points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• Time Estimate for pacing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Total Slides: 250+ | Estimated Duration: 12-15 instructional days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000000"/>
                </a:solidFill>
                <a:latin typeface="Calibri Light"/>
              </a:defRPr>
            </a:pPr>
            <a:r>
              <a:t>SECTION 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0000"/>
                </a:solidFill>
                <a:latin typeface="Calibri Light"/>
              </a:defRPr>
            </a:pPr>
            <a:r>
              <a:t>INTRODUCTION &amp; SERIES OVERVIEW</a:t>
            </a:r>
          </a:p>
          <a:p>
            <a:pPr>
              <a:spcBef>
                <a:spcPts val="1200"/>
              </a:spcBef>
              <a:defRPr sz="1800">
                <a:solidFill>
                  <a:srgbClr val="505050"/>
                </a:solidFill>
                <a:latin typeface="Calibri"/>
              </a:defRPr>
            </a:pPr>
            <a:r>
              <a:t>10 Slides | 60 Minutes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The Modern Enterprise Reality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Hybrid cloud infrastructure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Containerized microservices on Kubernetes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SaaS applications via APIs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Distributed remote workforces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IoT/OT environments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Complex supply chains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The perimeter has evaporated. Trust can no longer be implicit.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The Problem We're Solving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Traditional perimeter security is dead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Threat actors are more sophisticated than ever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Compliance checklists aren't strategies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Security must be an engineering discipline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We're moving from checkbox security to true security architecture.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What You'll 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Complete security architecture for Nexus Global Industries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5-part series, 24 sections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129+ artifacts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Production-grade code and configurations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By the end, you'll have built a complete, defensible enterprise security architecture.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The Four Layers (Part 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Layer 1: Governance &amp; Risk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• SABSA, NIST CSF 2.0, ISO 27001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• Threat Modeling (STRIDE, PASTA, Attack Trees)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• Risk management and compliance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Everything starts with governance. We build the blueprint before we build the house.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The Four Layers (Part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Layer 2: Zero Trust &amp; Identity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• NIST SP 800-207 Zero Trust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• Identity Management (Keycloak)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• Privileged Access (Vault)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• Micro-segmentation (Calico, Istio)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Zero Trust is the foundation of modern security. We replace perimeter trust with continuous verification.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The Four Layers (Part 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Layer 3: Cloud-Native Security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• Multi-Cloud (AWS + Azure)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• Kubernetes Security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• API Security (OWASP Top 10)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• DevSecOps CI/CD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Cloud-native requires new thinking. Containers, APIs, and pipelines all need security.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The Four Layers (Part 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Layer 4: Detection, Response &amp; Resilience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• SIEM/XDR (ELK + CrowdStrike)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• Detection Engineering (Sigma + MITRE)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• Threat Hunting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• SOAR Automation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• Chaos Engineering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• Business Continuity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Assume breach. Detect quickly. Respond effectively. Recover fast.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The Complete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1. Governance &amp; Risk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2. Zero Trust &amp; Identity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3. Cloud-Native Security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4. Detection, Response &amp; Resilience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This is what we're building — an integrated, layered security architecture.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Target Audience &amp; Prerequisites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Audience: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• Enterprise Security Architects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• Cloud Security Architects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• DevSecOps Engineers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• Platform Engineers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• Solutions Architects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• Technical Security Managers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Prerequisites: Basic TCP/IP, DNS, HTTP(S), some cloud experience, Docker basics, OAuth/JWT concepts, some Python/YAML/Terraform, basic security terms.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000000"/>
                </a:solidFill>
                <a:latin typeface="Calibri Light"/>
              </a:defRPr>
            </a:pPr>
            <a:r>
              <a:t>PART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0000"/>
                </a:solidFill>
                <a:latin typeface="Calibri Light"/>
              </a:defRPr>
            </a:pPr>
            <a:r>
              <a:t>FOUNDATIONS &amp; FRAMEWORKS</a:t>
            </a:r>
          </a:p>
          <a:p>
            <a:pPr>
              <a:spcBef>
                <a:spcPts val="1200"/>
              </a:spcBef>
              <a:defRPr sz="1800">
                <a:solidFill>
                  <a:srgbClr val="505050"/>
                </a:solidFill>
                <a:latin typeface="Calibri"/>
              </a:defRPr>
            </a:pPr>
            <a:r>
              <a:t>60 Slides | 3 Days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000000"/>
                </a:solidFill>
                <a:latin typeface="Calibri Light"/>
              </a:defRPr>
            </a:pPr>
            <a:r>
              <a:t>1.1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0000"/>
                </a:solidFill>
                <a:latin typeface="Calibri Light"/>
              </a:defRPr>
            </a:pPr>
            <a:r>
              <a:t>SABSA FRAMEWORK</a:t>
            </a:r>
          </a:p>
          <a:p>
            <a:pPr>
              <a:spcBef>
                <a:spcPts val="1200"/>
              </a:spcBef>
              <a:defRPr sz="1800">
                <a:solidFill>
                  <a:srgbClr val="505050"/>
                </a:solidFill>
                <a:latin typeface="Calibri"/>
              </a:defRPr>
            </a:pPr>
            <a:r>
              <a:t>15 Slides | 3 Hours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SABSA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Sherwood Applied Business Security Architecture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Business-driven security architecture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6 layers from business to operations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SABSA is about traceability from business requirements to operational procedures.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The Six Layers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1. Contextual (Why?)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2. Conceptual (What?)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3. Logical (How?)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4. Physical (Where?)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5. Component (Who/Which?)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6. Operational (When/Where/How?)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Each layer maps to the one below it, creating complete traceability.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Layer 1 — Contextual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Business requirements and environment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Risk appetite and tolerances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Regulatory landscape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Business drivers and objectives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This is the WHY. What does the business need from security?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Layer 2 — Conceptual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Security strategy and service framework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Security service domains: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• Security Management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• Enterprise Identity &amp; Access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• Infrastructure &amp; Workload Security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• Threat &amp; Application Security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• Detection &amp; Resilience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This is the WHAT. What security services do we need to deliver?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Layer 3 — Logical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Security services and mechanisms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Service-to-mechanism mapping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Architecture patterns: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• Zero Trust Identity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• Micro-segmentation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• Detection &amp; Response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This is the HOW. How do we deliver each security service?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Layer 4 — Physical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Technology stack selection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Environment domains: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• Cloud (AWS + Azure)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• On-Premises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• OT/ICS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• Kubernetes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• SaaS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This is the WHERE. What technology implements each mechanism?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Layer 5 — Component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Detailed component specifications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Component configurations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Integration points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Lifecycle management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This is the WHO/WHICH. What specific components make up the architecture?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Layer 6 — Operational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Governance structure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Operational procedures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Security workflows: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• Threat Modeling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• Change Management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• Incident Response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• Chaos Testing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Staffing and roles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This is the WHEN/WHERE/HOW. How do we operate and govern it all?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The Traceability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Connects all six layers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Ensures business alignment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Provides audit trail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Maps: Business → Service → Mechanism → Technology → Component → Procedure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This is the magic of SABSA — complete traceability from business to operations.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000000"/>
                </a:solidFill>
                <a:latin typeface="Calibri Light"/>
              </a:defRPr>
            </a:pPr>
            <a:r>
              <a:t>1.2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0000"/>
                </a:solidFill>
                <a:latin typeface="Calibri Light"/>
              </a:defRPr>
            </a:pPr>
            <a:r>
              <a:t>NIST CSF 2.0</a:t>
            </a:r>
          </a:p>
          <a:p>
            <a:pPr>
              <a:spcBef>
                <a:spcPts val="1200"/>
              </a:spcBef>
              <a:defRPr sz="1800">
                <a:solidFill>
                  <a:srgbClr val="505050"/>
                </a:solidFill>
                <a:latin typeface="Calibri"/>
              </a:defRPr>
            </a:pPr>
            <a:r>
              <a:t>15 Slides | 3 Hours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NIST CSF 2.0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NIST Cybersecurity Framework 2.0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Risk-based approach to cybersecurity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6 functions (Govern is NEW)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Common language for risk management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CSF 2.0 adds Governance, recognizing that cybersecurity is a business leadership responsibility.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The 6 Functions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1. GOVERN — Strategy and oversight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2. IDENTIFY — Assets and risks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3. PROTECT — Safeguards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4. DETECT — Events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5. RESPOND — Incidents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6. RECOVER — Operations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These six functions cover the entire cybersecurity lifecycle.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Govern Function (GV)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GV.OC Organizational Context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GV.RM Risk Management Strategy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GV.RR Roles &amp; Responsibilities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GV.PO Policies &amp; Procedures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GV.OV Oversight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GV.SC Supply Chain Risk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GV.AW Awareness &amp; Training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GV.FI Feedback &amp; Improvement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Govern is the new function in CSF 2.0 — it's about leadership and strategy.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Identify Function (ID)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ID.AM Asset Management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ID.RA Risk Assessment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ID.BE Business Environment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ID.GV Governance &amp; Risk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ID.IM Improvement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You can't protect what you don't know you have.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Protect Function (PR)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PR.AC Access Control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PR.AT Awareness &amp; Training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PR.DS Data Security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PR.IP Information Protection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PR.MA Maintenance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PR.ND Network Security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PR.IR Incident Response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This is where most traditional security controls live.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Detect Function (DE)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DE.AE Anomalies &amp; Events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DE.CM Continuous Monitoring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DE.DP Detection Processes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DE.AR Anomaly Response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DE.DU Detection of Unauthorized Activity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DE.SR Security Monitoring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Detection is about having the eyes and ears to know when something is wrong.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Respond Function (RS)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RS.RP Response Planning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RS.AN Analysis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RS.MI Mitigation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RS.IM Improvement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RS.CO Communications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Response is about having a plan and executing it effectively.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Recover Function (RC)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RC.RP Recovery Planning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RC.IM Improvement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RC.RI Recovery Infrastructure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RC.RC Recovery Communications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Recovery is about getting back to normal as quickly as possible.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CSF-SABSA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CSF functions map to SABSA layers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Traceability across frameworks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Complete governance coverage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Together, SABSA and CSF provide complete architecture and governance.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000000"/>
                </a:solidFill>
                <a:latin typeface="Calibri Light"/>
              </a:defRPr>
            </a:pPr>
            <a:r>
              <a:t>1.3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0000"/>
                </a:solidFill>
                <a:latin typeface="Calibri Light"/>
              </a:defRPr>
            </a:pPr>
            <a:r>
              <a:t>ISO 27001 ISMS</a:t>
            </a:r>
          </a:p>
          <a:p>
            <a:pPr>
              <a:spcBef>
                <a:spcPts val="1200"/>
              </a:spcBef>
              <a:defRPr sz="1800">
                <a:solidFill>
                  <a:srgbClr val="505050"/>
                </a:solidFill>
                <a:latin typeface="Calibri"/>
              </a:defRPr>
            </a:pPr>
            <a:r>
              <a:t>15 Slides | 3 Hours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ISO 27001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International standard for information security management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Systematic approach to managing security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78 Annex A controls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Certification path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ISO 27001 is about building a management system, not just a checklist.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The ISMS Components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1. ISMS Policy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2. Risk Assessment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3. Risk Treatment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4. Statement of Applicability (SoA)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5. Implementation &amp; Operation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6. Monitoring &amp; Review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7. Continuous Improvement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The ISMS is the engine that drives security management.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Risk Assessment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Asset-based risk assessment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Likelihood × Impact scoring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Risk levels: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• LOW (1-4): Accept / Monitor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• MEDIUM (5-9): Treat within 6 months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• HIGH (10-14): Treat within 3 months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• CRITICAL (15-25): Treat immediately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Statement of Applicability (SoA)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78 Annex A controls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Applicable or Not Applicable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Justification for each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Implementation status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The SoA is your control selection document. It shows which controls apply and why.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Annex A Control Categories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A.5 Organizational (37 controls)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A.6 People (8 controls)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A.7 Physical (14 controls)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A.8 Technology (34 controls)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Total: 78 controls across 4 categories.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Risk Treatment 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MITIGATE — Implement controls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ACCEPT — Accept risk with justification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AVOID — Stop the activity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TRANSFER — Insurance, outsourcing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Each risk requires a documented treatment decision.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The PDCA 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PLAN: Establish ISMS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DO: Implement and operate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CHECK: Monitor and review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ACT: Maintain and improve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ISO 27001 is about continuous improvement, not just achieving certification.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Certification 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Stage 1: Documentation review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Stage 2: Implementation review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Certification awarded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Annual surveillance audits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Recertification every 3 years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Certification is a journey, not a destination. It requires ongoing commitment.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000000"/>
                </a:solidFill>
                <a:latin typeface="Calibri Light"/>
              </a:defRPr>
            </a:pPr>
            <a:r>
              <a:t>1.4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0000"/>
                </a:solidFill>
                <a:latin typeface="Calibri Light"/>
              </a:defRPr>
            </a:pPr>
            <a:r>
              <a:t>THREAT MODELING</a:t>
            </a:r>
          </a:p>
          <a:p>
            <a:pPr>
              <a:spcBef>
                <a:spcPts val="1200"/>
              </a:spcBef>
              <a:defRPr sz="1800">
                <a:solidFill>
                  <a:srgbClr val="505050"/>
                </a:solidFill>
                <a:latin typeface="Calibri"/>
              </a:defRPr>
            </a:pPr>
            <a:r>
              <a:t>15 Slides | 3 Hours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Threat Modeling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Systematic approach to identifying threats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Four methodologies: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1. STRIDE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2. PASTA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3. Attack Trees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4. MITRE ATT&amp;CK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You can't defend against threats you haven't identified.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STRIDE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S — Spoofing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T — Tampering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R — Repudiation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I — Information Disclosure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D — Denial of Service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E — Elevation of Privilege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STRIDE helps you systematically identify threats to each component.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PASTA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Process for Attack Simulation and Threat Analysis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7 stages: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1. Define Business Objectives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2. Define Technical Scope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3. Application Decomposition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4. Threat Analysis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5. Vulnerability Analysis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6. Attack Modeling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7. Risk &amp; Impact Analysis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Attack Trees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Visual representation of attack paths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Root goal at top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OR / AND nodes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Leaf nodes are specific attack steps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Attack trees help you visualize how an attacker might achieve their goal.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MITRE ATT&amp;CK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Knowledge base of adversary behavior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14 tactics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Hundreds of techniques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Common language for threats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MITRE ATT&amp;CK is the encyclopedia of attacker techniques.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The 14 ATT&amp;CK Tactics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1. Reconnaissance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2. Resource Development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3. Initial Access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4. Execution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5. Persistence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6. Privilege Escalation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7. Defense Evasion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8. Credential Access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9. Discovery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10. Lateral Movement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11. Collection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12. Command &amp; Control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13. Exfiltration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14. Impact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Threat Modeling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How all four methodologies work together: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• STRIDE for component-level analysis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• PASTA for business alignment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• Attack Trees for visualization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• MITRE ATT&amp;CK for threat intelligence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Use all four together for complete threat modeling.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Part 1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SABSA: Business-driven architecture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NIST CSF 2.0: Risk management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ISO 27001: Management system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Threat Modeling: Threat identification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Part 1 provides the foundation for everything we'll build.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000000"/>
                </a:solidFill>
                <a:latin typeface="Calibri Light"/>
              </a:defRPr>
            </a:pPr>
            <a:r>
              <a:t>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0000"/>
                </a:solidFill>
                <a:latin typeface="Calibri Light"/>
              </a:defRPr>
            </a:pPr>
            <a:r>
              <a:t>ZERO TRUST &amp; IDENTITY</a:t>
            </a:r>
          </a:p>
          <a:p>
            <a:pPr>
              <a:spcBef>
                <a:spcPts val="1200"/>
              </a:spcBef>
              <a:defRPr sz="1800">
                <a:solidFill>
                  <a:srgbClr val="505050"/>
                </a:solidFill>
                <a:latin typeface="Calibri"/>
              </a:defRPr>
            </a:pPr>
            <a:r>
              <a:t>60 Slides | 3 Days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000000"/>
                </a:solidFill>
                <a:latin typeface="Calibri Light"/>
              </a:defRPr>
            </a:pPr>
            <a:r>
              <a:t>2.1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0000"/>
                </a:solidFill>
                <a:latin typeface="Calibri Light"/>
              </a:defRPr>
            </a:pPr>
            <a:r>
              <a:t>ZERO TRUST ARCHITECTURE</a:t>
            </a:r>
          </a:p>
          <a:p>
            <a:pPr>
              <a:spcBef>
                <a:spcPts val="1200"/>
              </a:spcBef>
              <a:defRPr sz="1800">
                <a:solidFill>
                  <a:srgbClr val="505050"/>
                </a:solidFill>
                <a:latin typeface="Calibri"/>
              </a:defRPr>
            </a:pPr>
            <a:r>
              <a:t>15 Slides | 3 Hours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Zero Trust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NIST SP 800-207 Zero Trust Architecture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Never trust, always verify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3 core principles: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1. Verify Explicitly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2. Least Privilege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3. Assume Breach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Zero Trust is not a product — it's a philosophy and architecture.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The Problem with Perimeter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Castle-and-moat model is obsolete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No perimeter in modern enterprise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Remote work, cloud, mobile, APIs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Trusted insider = vulnerable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The perimeter has evaporated. We need a new approach.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ZTA Components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PDP: Policy Decision Point (makes decisions)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PEP: Policy Enforcement Point (enforces decisions)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PAP: Policy Administration Point (manages policies)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PIP: Policy Information Point (provides context)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These four components work together to implement Zero Trust.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The Zero Trust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1. User requests access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2. PEP intercepts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3. PIP gathers context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4. PDP evaluates policy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5. Decision made (Allow / Deny / Challenge)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6. PEP enforces decision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7. Decision logged to SIEM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OPA PDP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Open Policy Agent (OPA)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Rego policy language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Policy examples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Integration with Istio and Kong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OPA is the brain of our Zero Trust implementation.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OPA Policy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Service-to-Service Access: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allow = true {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  input.source.service in allowed_services[input.target.service]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  input.mtls == true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}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User Access: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allow = true {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  input.user.authenticated == true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  input.user.mfa_enabled == true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  input.device.posture == "compliant"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}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Istio PEP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Istio service mesh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mTLS for all services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Authorization policies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Telemetry and observability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Istio provides the enforcement layer for Zero Trust.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Istio Authorization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apiVersion: security.istio.io/v1beta1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kind: AuthorizationPolicy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metadata: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name: payment-service-authz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spec: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action: ALLOW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rules: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- from: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  - source: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      principals: ["cluster.local/ns/production/sa/order-service"]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  to: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  - operation: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      methods: ["POST"]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      paths: ["/api/v1/payment/*"]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Risk Scoring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Risk factors: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• Session age (&gt;8 hours)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• Inactivity (&gt;15 minutes)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• Device posture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• Geographic anomaly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• Behavioral anomaly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Scores 0-100 | Thresholds: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&lt;70: Low risk | 70-89: Suspicious (step-up) | 90+: Critical (terminate)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Zero Trust Implementation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Phase 1: Foundation (Months 1-3)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• OPA deployment, basic policies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Phase 2: Workload Protection (Months 4-6)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• Istio, mTLS, PEP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Phase 3: User Access (Months 7-9)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• IdP integration, user policies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Phase 4: Advanced (Months 10-12)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• Continuous verification, risk scoring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Zero Trust Maturity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Level 1: Traditional (perimeter-based)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Level 2: Initial (MFA, basic segmentation)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Level 3: Advanced (micro-segmentation, continuous verification)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Level 4: Mature (automated, self-healing)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Most enterprises are at Level 1-2. The goal is Level 3+.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000000"/>
                </a:solidFill>
                <a:latin typeface="Calibri Light"/>
              </a:defRPr>
            </a:pPr>
            <a:r>
              <a:t>2.2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0000"/>
                </a:solidFill>
                <a:latin typeface="Calibri Light"/>
              </a:defRPr>
            </a:pPr>
            <a:r>
              <a:t>IDENTITY &amp; ACCESS MANAGEMENT</a:t>
            </a:r>
          </a:p>
          <a:p>
            <a:pPr>
              <a:spcBef>
                <a:spcPts val="1200"/>
              </a:spcBef>
              <a:defRPr sz="1800">
                <a:solidFill>
                  <a:srgbClr val="505050"/>
                </a:solidFill>
                <a:latin typeface="Calibri"/>
              </a:defRPr>
            </a:pPr>
            <a:r>
              <a:t>15 Slides | 3 Hours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IAM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Identity is the new perimeter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Centralized identity management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Key components: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• Identity Provider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• Authentication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• Authorization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• Identity Lifecycle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Identity is the foundation of Zero Trust.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Keycloak Identity Provider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Open-source identity provider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OAuth 2.1 / OIDC support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SAML 2.0 federation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SCIM 2.0 provisioning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MFA support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Keycloak is our centralized identity hub.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Authentication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1. User accesses application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2. Redirected to Keycloak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3. User authenticates (MFA)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4. Keycloak issues JWT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5. Application validates JWT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6. User granted access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MFA 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WebAuthn (primary)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TOTP (backup)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SMS (fallback)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MFA required for all users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Step-up authentication for high-risk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No user should access enterprise resources without MFA.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SCIM 2.0 Automation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System for Cross-domain Identity Management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Automated JML: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• Joiner: Create account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• Mover: Update permissions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• Leaver: Disable / delete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Integration with HRIS (Workday)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SCIM automates the entire identity lifecycle.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RBAC / ABAC Policies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Role-Based Access Control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Attribute-Based Access Control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OPA policies for authorization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Least privilege enforcement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RBAC and ABAC work together for fine-grained access control.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RBAC Policy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role_permissions := {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"admin": {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  "allowed_resources": ["*"],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  "allowed_actions": ["*"]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},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"rd-engineer": {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  "allowed_resources": ["rd/*"],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  "allowed_actions": ["read", "write"]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},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"finance": {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  "allowed_resources": ["finance/*"],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  "allowed_actions": ["read", "write"]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}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ABAC Policy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allow_abac_clearance := true {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user_attr := user_attributes[input.user.username]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resource_attr := resource_attributes[input.resource.name]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user_attr.clearance_level &gt;= resource_attr.classification_level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Identity Federation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SAML 2.0 for Azure AD federation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Single sign-on across all applications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Consistent identity management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User attribute mapping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One identity. Everywhere.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Security Hardening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Strong password policy (12+ chars, complexity)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MFA for all users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Session management (8 hours max, 15 min idle)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Credential rotation (90 days)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Audit logging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Identity is the most attacked surface. Harden it relentlessly.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000000"/>
                </a:solidFill>
                <a:latin typeface="Calibri Light"/>
              </a:defRPr>
            </a:pPr>
            <a:r>
              <a:t>2.3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0000"/>
                </a:solidFill>
                <a:latin typeface="Calibri Light"/>
              </a:defRPr>
            </a:pPr>
            <a:r>
              <a:t>PRIVILEGED ACCESS MANAGEMENT</a:t>
            </a:r>
          </a:p>
          <a:p>
            <a:pPr>
              <a:spcBef>
                <a:spcPts val="1200"/>
              </a:spcBef>
              <a:defRPr sz="1800">
                <a:solidFill>
                  <a:srgbClr val="505050"/>
                </a:solidFill>
                <a:latin typeface="Calibri"/>
              </a:defRPr>
            </a:pPr>
            <a:r>
              <a:t>15 Slides | 3 Hours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PAM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Privileged Access Management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Managing elevated access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Key concepts: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• JIT (Just-In-Time)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• JEA (Just-Enough-Administration)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• Session recording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• Credential rotation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Privileged access is the most critical to protect.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HashiCorp Vault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Secrets management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Dynamic credentials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JIT workflows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Session recording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Audit logging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Vault is our PAM solution.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JIT Access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1. User requests privileged access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2. Approval workflow (manager + security)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3. Vault generates dynamic credentials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4. Session recording starts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5. Time-bound access (15 min max)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6. Auto-expiration and cleanup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JEA — Just Enough Administration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Minimal permissions for privileged tasks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Least privilege applied to admin access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Granular permission controls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No permanent admin access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Give admins only the permissions they need, when they need them.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Vault Dynamic Credentials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AWS IAM roles (dynamic)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Azure AD credentials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Database credentials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API keys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Service account tokens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Every credential is temporary, scoped, and automatically rotated.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Session Recording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All privileged sessions recorded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Audit trail for admin actions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Compliance evidence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Incident investigation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Retention: 365 days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If it wasn't recorded, it didn't happen.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Break-Glass Access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Emergency access procedure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Immediate activation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30-minute sessions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Immediate alerts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Strict audit requirements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2-person approval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Break-glass is for emergencies only. It triggers immediate alerts.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Vault Policies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Admin: Full access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Platform Engineer: Infrastructure access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Security Engineer: Security operations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Developer: Application secrets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JIT Admin: Temporary admin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Break-Glass: Emergency access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Every role has precisely scoped vault access.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000000"/>
                </a:solidFill>
                <a:latin typeface="Calibri Light"/>
              </a:defRPr>
            </a:pPr>
            <a:r>
              <a:t>2.4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0000"/>
                </a:solidFill>
                <a:latin typeface="Calibri Light"/>
              </a:defRPr>
            </a:pPr>
            <a:r>
              <a:t>MICRO-SEGMENTATION &amp; SDP</a:t>
            </a:r>
          </a:p>
          <a:p>
            <a:pPr>
              <a:spcBef>
                <a:spcPts val="1200"/>
              </a:spcBef>
              <a:defRPr sz="1800">
                <a:solidFill>
                  <a:srgbClr val="505050"/>
                </a:solidFill>
                <a:latin typeface="Calibri"/>
              </a:defRPr>
            </a:pPr>
            <a:r>
              <a:t>15 Slides | 3 Hours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Micro-segmentation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Fine-grained network isolation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Limiting blast radius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East-west traffic control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Default deny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Micro-segmentation prevents lateral movement.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Calico Network Policies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Kubernetes-native network policies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Default deny for all namespaces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Micro-segmentation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Flow logs for monitoring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Calico provides network-level segmentation.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Istio Service Mesh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Service-to-service communication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mTLS for all traffic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Authorization policies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Telemetry and observability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Istio provides application-layer segmentation.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SDP — Software-Defined Perimeter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"Black cloud" architecture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Infrastructure invisible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Authentication required before visibility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OpenZiti implementation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SDP hides infrastructure until authenticated.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East-West Traffic Controls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Circuit breaking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Retry policies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Timeouts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Rate limiting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Load balancing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Control traffic between services, not just north-south.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Blast Radius Minimization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Limit blast radius for incidents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Production isolation from R&amp;D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OT complete isolation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Environment isolation (dev, stage, prod)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Limit the impact of any security incident.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Policy Automation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Automated policy deployment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Policy validation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Compliance checking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Audit logging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GitOps workflow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Policies as code. Versioned. Reviewed. Automated.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Part 2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Zero Trust Architecture (NIST SP 800-207)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Identity &amp; Access Management (Keycloak)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Privileged Access Management (Vault)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Micro-segmentation &amp; SDP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Part 2 built the Zero Trust foundation for the enterprise.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000000"/>
                </a:solidFill>
                <a:latin typeface="Calibri Light"/>
              </a:defRPr>
            </a:pPr>
            <a:r>
              <a:t>PART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0000"/>
                </a:solidFill>
                <a:latin typeface="Calibri Light"/>
              </a:defRPr>
            </a:pPr>
            <a:r>
              <a:t>CLOUD-NATIVE SECURITY</a:t>
            </a:r>
          </a:p>
          <a:p>
            <a:pPr>
              <a:spcBef>
                <a:spcPts val="1200"/>
              </a:spcBef>
              <a:defRPr sz="1800">
                <a:solidFill>
                  <a:srgbClr val="505050"/>
                </a:solidFill>
                <a:latin typeface="Calibri"/>
              </a:defRPr>
            </a:pPr>
            <a:r>
              <a:t>70 Slides | 3.5 Days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000000"/>
                </a:solidFill>
                <a:latin typeface="Calibri Light"/>
              </a:defRPr>
            </a:pPr>
            <a:r>
              <a:t>3.1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0000"/>
                </a:solidFill>
                <a:latin typeface="Calibri Light"/>
              </a:defRPr>
            </a:pPr>
            <a:r>
              <a:t>MULTI-CLOUD SECURITY</a:t>
            </a:r>
          </a:p>
          <a:p>
            <a:pPr>
              <a:spcBef>
                <a:spcPts val="1200"/>
              </a:spcBef>
              <a:defRPr sz="1800">
                <a:solidFill>
                  <a:srgbClr val="505050"/>
                </a:solidFill>
                <a:latin typeface="Calibri"/>
              </a:defRPr>
            </a:pPr>
            <a:r>
              <a:t>15 Slides | 3 Hours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Multi-Cloud Security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AWS + Azure landing zones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Consistent security controls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Shared responsibility model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CSPM automation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We need consistent security across multiple clouds.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Multi-Cloud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AWS: Primary (60% workloads)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Azure: Secondary (20% workloads)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On-premises: Legacy / OT (15%)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Consistent controls across all environments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One security posture. Many environments.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AWS Landing Zone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AWS Organizations (multi-account)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Organizational Units: Security, Infrastructure, Workloads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SCPs (Service Control Policies)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Security Hub, GuardDuty, Config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AWS landing zone provides the foundation for secure multi-account architecture.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AWS SCP Examples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Deny public S3 buckets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Restrict regions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Require encryption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Enforce TLS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SCPs are guardrails. They prevent misconfigurations at the organization level.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Azure Landing Zone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Management Groups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Azure Policy (equivalent to SCPs)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Security Center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Sentinel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Defender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Azure landing zone mirrors AWS patterns with native Azure tooling.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Shared Responsibility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Cloud Provider: Physical, hardware, hypervisor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Customer: Data, apps, OS, config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IaaS: Customer responsible for OS, apps, data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PaaS: Customer responsible for apps, data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SaaS: Customer responsible for data, user mgmt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Know who is responsible for what.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CSPM Automation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AWS Security Hub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Azure Security Center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Continuous compliance monitoring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Automated remediation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Reporting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CSPM provides continuous cloud compliance.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Cross-Cloud IAM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Azure AD → AWS IAM federation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Single sign-on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Consistent RBAC / ABAC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SCIM provisioning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One identity. Every cloud.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Cross-Cloud Backup &amp; DR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AWS → Azure replication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Immutable backups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Cross-cloud DR failover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RTO / RPO validation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Don't put all your recovery eggs in one cloud basket.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000000"/>
                </a:solidFill>
                <a:latin typeface="Calibri Light"/>
              </a:defRPr>
            </a:pPr>
            <a:r>
              <a:t>3.2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0000"/>
                </a:solidFill>
                <a:latin typeface="Calibri Light"/>
              </a:defRPr>
            </a:pPr>
            <a:r>
              <a:t>CONTAINER &amp; KUBERNETES SECURITY</a:t>
            </a:r>
          </a:p>
          <a:p>
            <a:pPr>
              <a:spcBef>
                <a:spcPts val="1200"/>
              </a:spcBef>
              <a:defRPr sz="1800">
                <a:solidFill>
                  <a:srgbClr val="505050"/>
                </a:solidFill>
                <a:latin typeface="Calibri"/>
              </a:defRPr>
            </a:pPr>
            <a:r>
              <a:t>15 Slides | 3 Hours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Container Security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Container security controls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Image scanning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SBOM generation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Image signing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Runtime security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Containers need security at every stage.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Container Security Lifecycle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BUILD: Image scanning, SBOM, signing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DEPLOY: Admission controllers, pod security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RUNTIME: Falco, monitoring, isolation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Secure the entire container lifecycle — not just runtime.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Trivy Image Scanning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Vulnerability scanning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OS and application vulnerabilities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SBOM generation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CI/CD integration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Scan every image before it reaches the registry.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SBOM Generation (Syft)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Software Bill of Materials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All components in container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CycloneDX and SPDX formats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Vulnerability correlation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Know exactly what's in your containers.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Image Signing (Cosign)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Digital signing of images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Integrity verification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Supply chain security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Sigstore integration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Only run signed images. Verify every time.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Kubernetes Security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API server security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RBAC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Admission controllers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Pod security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Network security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Kubernetes is powerful — and dangerous if misconfigured.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Kubernetes RBAC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Roles and ClusterRoles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RoleBindings and ClusterRoleBindings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Least privilege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Service accounts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Every pod, every user, every service account must have minimal permissions.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RBAC Configuration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apiVersion: rbac.authorization.k8s.io/v1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kind: ClusterRole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metadata: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name: readonly-clusterrole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rules: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apiGroups: [""]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resources: ["pods", "services"]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verbs: ["get", "list", "watch"]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Kyverno Admission Controller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Policy enforcement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Validation and mutation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Kubernetes-native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Policy examples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Kyverno enforces policies on all Kubernetes resources.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Kyverno Policy Examples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Require image tags (no 'latest')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Require resource limits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Require non-root user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Deny privilege escalation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Default deny. Explicit allow.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Pod Security Standards (PSA)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RESTRICTED (production, OT)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BASELINE (R&amp;D, dev)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PRIVILEGED (legacy)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Namespace labels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Production workloads run restricted. No exceptions.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Falco Runtime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Runtime threat detection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Shell detection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Outbound connections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Privileged containers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Sensitive mounts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Falco monitors running containers for suspicious activity.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Kubernetes Audit Logging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API server audit logs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Audit policy configuration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Webhook to SIEM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Monitoring and alerting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Log everything. Every API call. Every change.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000000"/>
                </a:solidFill>
                <a:latin typeface="Calibri Light"/>
              </a:defRPr>
            </a:pPr>
            <a:r>
              <a:t>3.3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0000"/>
                </a:solidFill>
                <a:latin typeface="Calibri Light"/>
              </a:defRPr>
            </a:pPr>
            <a:r>
              <a:t>INFRASTRUCTURE AS CODE SECURITY</a:t>
            </a:r>
          </a:p>
          <a:p>
            <a:pPr>
              <a:spcBef>
                <a:spcPts val="1200"/>
              </a:spcBef>
              <a:defRPr sz="1800">
                <a:solidFill>
                  <a:srgbClr val="505050"/>
                </a:solidFill>
                <a:latin typeface="Calibri"/>
              </a:defRPr>
            </a:pPr>
            <a:r>
              <a:t>15 Slides | 3 Hours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IaC Security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Infrastructure as Code security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Terraform scanning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Policy-as-Code (OPA / Sentinel)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CI/CD security gates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Secret management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Security must be built into infrastructure code.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Terraform Security Scanning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Terrascan: Vulnerability scanning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Checkov: Misconfiguration detection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CIS benchmarks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Custom policies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Scan every Terraform plan before apply.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Terrascan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terrascan scan -i terraform -d . --severity critical,high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Fail the pipeline on critical or high findings.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Checkov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checkov -d . --framework terraform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Comprehensive misconfiguration detection for Terraform, CloudFormation, and more.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Policy-as-Code (OPA)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OPA policies for IaC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RDS encryption check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S3 encryption check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Security group checks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Policies as code. Versioned. Reviewed. Enforced.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OPA Policy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# Require RDS encryption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deny[msg] {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resource := input.resource.aws_db_instance[_]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resource.storage_encrypted == false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msg := sprintf("RDS instance %s must have encryption enabled", [resource.name])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CI/CD Security Gates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Pre-commit hooks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Security scanning stage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Policy check stage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Deployment approval gate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Security gates ensure only secure code is deployed.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Secrets Management in IaC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Vault integration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Terraform Vault provider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Dynamic credentials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No secrets in code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Never hardcode secrets in IaC.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Vault Terraform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data "vault_generic_secret" "aws_credentials" {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path = "secret/data/aws/production"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}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resource "aws_db_instance" "main" {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username = data.vault_generic_secret.aws_credentials.data["db_username"]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password = data.vault_generic_secret.aws_credentials.data["db_password"]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Compliance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NIST 800-53 compliance checks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CIS compliance checks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PCI DSS compliance checks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Automated validation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Compliance is not a point-in-time exercise. It's continuous.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000000"/>
                </a:solidFill>
                <a:latin typeface="Calibri Light"/>
              </a:defRPr>
            </a:pPr>
            <a:r>
              <a:t>3.4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0000"/>
                </a:solidFill>
                <a:latin typeface="Calibri Light"/>
              </a:defRPr>
            </a:pPr>
            <a:r>
              <a:t>API SECURITY</a:t>
            </a:r>
          </a:p>
          <a:p>
            <a:pPr>
              <a:spcBef>
                <a:spcPts val="1200"/>
              </a:spcBef>
              <a:defRPr sz="1800">
                <a:solidFill>
                  <a:srgbClr val="505050"/>
                </a:solidFill>
                <a:latin typeface="Calibri"/>
              </a:defRPr>
            </a:pPr>
            <a:r>
              <a:t>15 Slides | 3 Hours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API Security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OWASP API Security Top 10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API Gateway security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JWT validation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Rate limiting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Input validation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APIs are the most common attack vector.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OWASP API Top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1. Broken Object Level Authorization (BOLA)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2. Broken Authentication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3. Excessive Data Exposure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4. Lack of Resources &amp; Rate Limiting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5. Broken Function Level Authorization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6. Mass Assignment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7. Security Misconfiguration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8. Injection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9. Improper Asset Management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10. Insufficient Logging &amp; Monitoring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API Gateway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Kong API Gateway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Authentication (OIDC, JWT)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Rate limiting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OWASP protections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Request validation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API Gateway is the security control point.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Kong Security Plugins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OIDC: Authentication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JWT: Token validation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Rate Limiting: Request throttling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CORS: Cross-origin protection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OWASP: API Top 10 protections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Plugins extend Kong into a security platform.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JWT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OIDC integration with Keycloak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JWT signature validation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Claim validation (exp, aud, iss)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MFA claim check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Validate every token. Every claim. Every time.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Rate Limiting 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config: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minute: 100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hour: 10000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policy: redis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redis_host: redis.default.svc.cluster.local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limit_by: consumer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Input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JSON schema validation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SQL injection detection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XSS detection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Input sanitization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Validate all inputs, reject invalid data.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JSON Schema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{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"$schema": "http://json-schema.org/draft-07/schema#",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"type": "object",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"properties": {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  "customer_id": {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    "type": "string",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    "pattern": "^CUST-[0-9]{6}$"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  },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  "items": {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    "type": "array",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    "minItems": 1,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    "maxItems": 50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  }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},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"required": ["customer_id", "items"]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API Security Testing (ZAP)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OWASP ZAP automated scanning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Active scan: SQLi, XSS, etc.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Passive scan: Headers, cookies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CI/CD integration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Test APIs like an attacker would. Automatically.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000000"/>
                </a:solidFill>
                <a:latin typeface="Calibri Light"/>
              </a:defRPr>
            </a:pPr>
            <a:r>
              <a:t>3.5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0000"/>
                </a:solidFill>
                <a:latin typeface="Calibri Light"/>
              </a:defRPr>
            </a:pPr>
            <a:r>
              <a:t>DEVSECOPS CI/CD</a:t>
            </a:r>
          </a:p>
          <a:p>
            <a:pPr>
              <a:spcBef>
                <a:spcPts val="1200"/>
              </a:spcBef>
              <a:defRPr sz="1800">
                <a:solidFill>
                  <a:srgbClr val="505050"/>
                </a:solidFill>
                <a:latin typeface="Calibri"/>
              </a:defRPr>
            </a:pPr>
            <a:r>
              <a:t>15 Slides | 3 Hours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DevSecOps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Security in CI/CD pipelines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Shift-left security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SAST, DAST, SCA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Container scanning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Policy enforcement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Security must be embedded in the development pipeline.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The DevSecOps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Plan → Code → Build → Test → Release → Deploy → Operate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Security at every stage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Shift-left: Security earlier in the process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Don't bolt security on. Build it in.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SAST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Static Application Security Testing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Semgrep for code scanning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OWASP Top 10 rules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Custom rules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Fail on critical / high findings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SAST finds vulnerabilities in code before it runs.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SAST Rule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rules: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- id: owasp-top10-a03-injection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  pattern: |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    query = "SELECT * FROM users WHERE id = " + user_input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  message: "SQL injection risk"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  severity: ERROR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SCA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Software Composition Analysis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Dependency vulnerability scanning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License compliance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Fail on critical / high vulnerabilities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SCA finds vulnerabilities in dependencies.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Container Scanning in CI/CD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Trivy in CI/CD pipeline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Build → Scan → Fail / Succeed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SBOM generation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Image signing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No vulnerable container reaches production.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Pipeline Hardening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GitLab Runner security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Protected variables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Secret masking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Branch protection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Audit logging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The pipeline itself must be secure.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Secret Management in CI/CD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Vault for secrets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No secrets in code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Dynamic credentials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Secure variable injection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Secrets never touch source control.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Policy Enforcement in CI/CD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OPA policies for pipelines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Must pass all checks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Zero critical vulnerabilities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Limited high vulnerabilities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Required approvals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Automated policies block insecure deployments.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CI/CD Security Gates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Gate 1: Pre-commit (secrets, format)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Gate 2: Build (SAST, SCA)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Gate 3: Container (scan, SBOM)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Gate 4: Deploy (policy, approvals)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Four gates. Every deployment. Every time.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Part 3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Multi-Cloud Security: AWS + Azure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Container / K8s Security: Trivy, Kyverno, Falco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IaC Security: Terrascan, Checkov, OPA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API Security: OWASP Top 10, Kong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DevSecOps: SAST, DAST, SCA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Part 3 secured the cloud-native environment.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000000"/>
                </a:solidFill>
                <a:latin typeface="Calibri Light"/>
              </a:defRPr>
            </a:pPr>
            <a:r>
              <a:t>PART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0000"/>
                </a:solidFill>
                <a:latin typeface="Calibri Light"/>
              </a:defRPr>
            </a:pPr>
            <a:r>
              <a:t>DETECTION, RESPONSE &amp; RESILIENCE</a:t>
            </a:r>
          </a:p>
          <a:p>
            <a:pPr>
              <a:spcBef>
                <a:spcPts val="1200"/>
              </a:spcBef>
              <a:defRPr sz="1800">
                <a:solidFill>
                  <a:srgbClr val="505050"/>
                </a:solidFill>
                <a:latin typeface="Calibri"/>
              </a:defRPr>
            </a:pPr>
            <a:r>
              <a:t>80 Slides | 4 Days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000000"/>
                </a:solidFill>
                <a:latin typeface="Calibri Light"/>
              </a:defRPr>
            </a:pPr>
            <a:r>
              <a:t>4.1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0000"/>
                </a:solidFill>
                <a:latin typeface="Calibri Light"/>
              </a:defRPr>
            </a:pPr>
            <a:r>
              <a:t>SIEM / XDR ARCHITECTURE</a:t>
            </a:r>
          </a:p>
          <a:p>
            <a:pPr>
              <a:spcBef>
                <a:spcPts val="1200"/>
              </a:spcBef>
              <a:defRPr sz="1800">
                <a:solidFill>
                  <a:srgbClr val="505050"/>
                </a:solidFill>
                <a:latin typeface="Calibri"/>
              </a:defRPr>
            </a:pPr>
            <a:r>
              <a:t>15 Slides | 3 Hours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SIEM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Security Information and Event Management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Centralized logging and analysis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Detection and alerting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Compliance evidence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SIEM is your central nervous system for security.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SIEM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Data sources: Application, System, Security, Cloud, XDR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Logstash: Ingestion and enrichment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Elasticsearch: Storage and indexing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Kibana: Visualization and dashboards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ELK stack provides open, scalable SIEM capabilities.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ELK Stack Components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Elasticsearch: Distributed search and analytics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Logstash: Data processing pipeline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Kibana: Visualization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Beats: Lightweight shippers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Collect. Process. Store. Analyze. Visualize.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Logstash Pipeline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input {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beats { port =&gt; 5044 }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}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filter {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date { match =&gt; [ "timestamp", "ISO8601" ] }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geoip { source =&gt; "source_ip" }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}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output {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elasticsearch { hosts =&gt; ["elasticsearch:9200"] }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Kibana Dashboards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Security Overview Dashboard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Incident Response Dashboard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Threat Hunting Workspace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Compliance Dashboard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Dashboards turn data into actionable intelligence.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XDR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CrowdStrike Falcon XDR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Endpoint telemetry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Malware detection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Endpoint isolation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SIEM integration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XDR extends SIEM to the endpoint.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Log Retention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HOT: 90 days (fast access)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WARM: 180 days (slow access)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COLD: 365 days (archive)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DELETE: 365+ days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Right data. Right tier. Right cost.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000000"/>
                </a:solidFill>
                <a:latin typeface="Calibri Light"/>
              </a:defRPr>
            </a:pPr>
            <a:r>
              <a:t>4.2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0000"/>
                </a:solidFill>
                <a:latin typeface="Calibri Light"/>
              </a:defRPr>
            </a:pPr>
            <a:r>
              <a:t>DETECTION ENGINEERING</a:t>
            </a:r>
          </a:p>
          <a:p>
            <a:pPr>
              <a:spcBef>
                <a:spcPts val="1200"/>
              </a:spcBef>
              <a:defRPr sz="1800">
                <a:solidFill>
                  <a:srgbClr val="505050"/>
                </a:solidFill>
                <a:latin typeface="Calibri"/>
              </a:defRPr>
            </a:pPr>
            <a:r>
              <a:t>15 Slides | 3 Hours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Detection Engineering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Creating detection rules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Sigma standard format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MITRE ATT&amp;CK mapping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Rule lifecycle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Detection engineering is about building the rules that find threats.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Sigma Rules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Vendor-neutral detection format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Portable across SIEMs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Community library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Structured and testable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Write once. Deploy everywhere.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Sigma Rule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Title and ID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Status (production / development)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Description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Tags (MITRE ATT&amp;CK)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Logsource (product, service)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Detection (selection, condition)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False positives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Level (critical / high / medium / low)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Sigma Rule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title: "Credential Dumping via LSASS"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id: "rule-001"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status: "production"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tags: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- attack.t1003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logsource: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product: windows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service: security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detection: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selection: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  EventID: 4688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  CommandLine: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    - "*lsass*"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    - "*procdump*"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condition: selection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level: high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MITRE ATT&amp;CK Mapping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Each rule maps to ATT&amp;CK techniques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T1003: Credential Dumping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T1068: Privilege Escalation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T1021: Lateral Movement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T1486: Ransomware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Map every detection to a known adversary behavior.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Detection Coverage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Tactic coverage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Technique coverage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Coverage gaps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Priority improvements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Know what you can detect. Know what you can't.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Rule Testing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Test cases per rule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Positive and negative tests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Automated testing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False positive validation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Rules must be tested before deployment.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Rule Lifecycle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1. Identify threat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2. Develop rule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3. Test rule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4. Deploy rule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5. Monitor alerts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6. Tune as needed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7. Review and improve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Detection is never done. It's a continuous cycle.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False Positive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False positive identification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Tuning strategies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Exception management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Continuous improvement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A noisy rule is worse than no rule.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000000"/>
                </a:solidFill>
                <a:latin typeface="Calibri Light"/>
              </a:defRPr>
            </a:pPr>
            <a:r>
              <a:t>4.3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0000"/>
                </a:solidFill>
                <a:latin typeface="Calibri Light"/>
              </a:defRPr>
            </a:pPr>
            <a:r>
              <a:t>THREAT HUNTING</a:t>
            </a:r>
          </a:p>
          <a:p>
            <a:pPr>
              <a:spcBef>
                <a:spcPts val="1200"/>
              </a:spcBef>
              <a:defRPr sz="1800">
                <a:solidFill>
                  <a:srgbClr val="505050"/>
                </a:solidFill>
                <a:latin typeface="Calibri"/>
              </a:defRPr>
            </a:pPr>
            <a:r>
              <a:t>15 Slides | 3 Hours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Threat Hunting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Proactive threat detection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Hypothesis-driven approach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Finding unknown threats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Continuous improvement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Hunting finds threats that automated detection misses.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Reactive vs Proactive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REACTIVE: Alert → Investigate → Respond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PROACTIVE: Hypothesis → Search → Discover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Don't wait for alerts. Go find the threats.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Hunting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1. Hypothesis formulation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2. Data collection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3. Analysis &amp; investigation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4. Discovery &amp; validation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5. Improvement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Structured hunting beats ad-hoc searching.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Hypothesis Types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Intel-Based: Driven by threat intelligence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Data-Driven: Driven by data analysis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TTP-Based: Driven by attacker behavior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Analytics-Based: Driven by anomalies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Start with a hypothesis. End with evidence.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Hunting Playbooks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Credential Dumping Hunt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Lateral Movement Hunt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Data Exfiltration Hunt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Privilege Escalation Hunt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Playbooks standardize hunting methodology.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Credential Dumping Hunt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Hypothesis: Attackers may be dumping credentials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Data sources: Windows logs, Sysmon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Query: LSASS access, suspicious processes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Validation: Review findings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Look for the techniques. Find the attacker.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Hunting 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SIEM (Kibana)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Jupyter notebooks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Python analytics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MITRE ATT&amp;CK Navigator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Threat intelligence feeds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The right tools make hunting faster and more effective.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Hunting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CONFIRMED THREAT: Escalate to IR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SUSPICIOUS: Monitor and investigate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FALSE POSITIVE: Document and tune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NO FINDING: Document and archive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Every hunt produces a finding. Every finding drives action.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000000"/>
                </a:solidFill>
                <a:latin typeface="Calibri Light"/>
              </a:defRPr>
            </a:pPr>
            <a:r>
              <a:t>4.4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0000"/>
                </a:solidFill>
                <a:latin typeface="Calibri Light"/>
              </a:defRPr>
            </a:pPr>
            <a:r>
              <a:t>SOAR AUTOMATION</a:t>
            </a:r>
          </a:p>
          <a:p>
            <a:pPr>
              <a:spcBef>
                <a:spcPts val="1200"/>
              </a:spcBef>
              <a:defRPr sz="1800">
                <a:solidFill>
                  <a:srgbClr val="505050"/>
                </a:solidFill>
                <a:latin typeface="Calibri"/>
              </a:defRPr>
            </a:pPr>
            <a:r>
              <a:t>15 Slides | 3 Hours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SOAR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Security Orchestration, Automation, and Response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Automated incident response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Playbook execution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Case management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SOAR automates the response process.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SOAR Components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Orchestration: Connect tools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Automation: Execute playbooks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Response: Take actions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Case Management: Track incidents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Connect. Automate. Respond. Track.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Playbooks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Phishing Response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Ransomware Response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Compromised Credentials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Zero Trust Violation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API Abuse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Playbooks turn chaos into structured response.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Phishing Response Playbook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1. Alert Triage (5 min)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2. Email Analysis (10 min)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3. User Isolation (5 min)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4. Containment (10 min)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5. User Notification (15 min)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6. Case Documentation (15 min)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Total: 60 minutes from alert to containment.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Ransomware Response Playbook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1. Alert Triage (5 min)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2. Network Isolation (2 min)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3. Credential Protection (5 min)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4. Backup Recovery (30 min)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5. System Restoration (1 hour)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6. Post-Incident Analysis (4 hours)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Speed matters. Every minute counts.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Alert Enrichment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Threat intelligence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GeoIP lookup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WHOIS lookup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URL reputation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User context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Context turns alerts into actionable intelligence.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Automated 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Quarantine mailbox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Disable account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Reset password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Revoke sessions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Block IP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Isolate endpoint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Rotate credentials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SOAR Integrations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SIEM (ELK)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Identity (Keycloak)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Vault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XDR (CrowdStrike)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Email Gateway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Network Policy (Calico)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Communication (Slack)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SOAR connects your entire security stack.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000000"/>
                </a:solidFill>
                <a:latin typeface="Calibri Light"/>
              </a:defRPr>
            </a:pPr>
            <a:r>
              <a:t>4.5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0000"/>
                </a:solidFill>
                <a:latin typeface="Calibri Light"/>
              </a:defRPr>
            </a:pPr>
            <a:r>
              <a:t>CHAOS ENGINEERING</a:t>
            </a:r>
          </a:p>
          <a:p>
            <a:pPr>
              <a:spcBef>
                <a:spcPts val="1200"/>
              </a:spcBef>
              <a:defRPr sz="1800">
                <a:solidFill>
                  <a:srgbClr val="505050"/>
                </a:solidFill>
                <a:latin typeface="Calibri"/>
              </a:defRPr>
            </a:pPr>
            <a:r>
              <a:t>15 Slides | 3 Hours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Chaos Engineering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Testing system resilience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Injecting failures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Measuring recovery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Continuous improvement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Chaos engineering tests if your systems can survive failures.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The Chaos Principle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Fire drills for systems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Test before real incidents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Find weaknesses proactively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Build confidence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Break things on purpose. In production. Safely.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Failure Scenarios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CHAOS-001: Node Failure (Weekly)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CHAOS-002: Network Partition (Bi-weekly)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CHAOS-003: DNS Failure (Weekly)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CHAOS-004: Database Failure (Weekly)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CHAOS-005: CPU Pressure (Monthly)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Security Chaos Experiments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IAM Policy Revocation (Monthly)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MFA Bypass Simulation (Monthly)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Ransomware Simulation (Quarterly)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Credential Replay Attack (Monthly)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Zero Trust Violation (Weekly)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API Security Control Test (Weekly)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Resilience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MTTD measurement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MTTR measurement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Recovery rate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Error rate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Resilience scoring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If you don't measure it, you can't improve it.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Chaos Test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1. Define hypothesis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2. Plan test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3. Execute test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4. Analyze results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5. Improve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Hypothesis. Plan. Execute. Analyze. Improve.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Chaos Test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Hypothesis: System auto-recovers from node failure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Test: Turn off a Kubernetes node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Measure: Recovery time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Result: Auto-recovery &lt; 2 minutes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Improvement: Optimize pod scheduling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Every test teaches us something.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MTTD / MTTR Measurement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Detection time tracking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Response time tracking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Trend analysis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Improvement targets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MTTD &lt; 60 minutes | MTTR &lt; 4 hours</a:t>
            </a: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000000"/>
                </a:solidFill>
                <a:latin typeface="Calibri Light"/>
              </a:defRPr>
            </a:pPr>
            <a:r>
              <a:t>4.6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0000"/>
                </a:solidFill>
                <a:latin typeface="Calibri Light"/>
              </a:defRPr>
            </a:pPr>
            <a:r>
              <a:t>BUSINESS CONTINUITY</a:t>
            </a:r>
          </a:p>
          <a:p>
            <a:pPr>
              <a:spcBef>
                <a:spcPts val="1200"/>
              </a:spcBef>
              <a:defRPr sz="1800">
                <a:solidFill>
                  <a:srgbClr val="505050"/>
                </a:solidFill>
                <a:latin typeface="Calibri"/>
              </a:defRPr>
            </a:pPr>
            <a:r>
              <a:t>15 Slides | 3 Hours</a:t>
            </a: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Business Continuity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Planning for disruptions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Recovery strategies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Immutable backups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Air-gapped vaults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RTO / RPO validation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Business continuity ensures you can recover from the worst.</a:t>
            </a: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Recovery Tiers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Tier 0: Critical (RTO 2 hours, RPO 15 minutes)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Tier 1: High (RTO 4 hours, RPO 1 hour)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Tier 2: Medium (RTO 8 hours, RPO 4 hours)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Tier 3: Low (RTO 24 hours, RPO 24 hours)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Not all systems are equal. Tier them appropriately.</a:t>
            </a: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Recovery Strategies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Active-Active: Multiple live sites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Active-Passive: Primary + standby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Air-Gapped: Offline recovery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SaaS Provider: Provider managed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Match strategy to tier. Match tier to business impact.</a:t>
            </a: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Immutable Backups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WORM protection (Write Once Read Many)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AWS S3 Object Lock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Azure Immutable Blob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30-day minimum retention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Cannot be modified or deleted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Immutable backups protect against ransomware.</a:t>
            </a: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Air-Gapped Vaults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Primary vault (Singapore)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Secondary vault (London)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AWS S3 Glacier Deep Archive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Offline tape storage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2-person access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12-24 hour retrieval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Air-gapped means air-gapped. No network. No exceptions.</a:t>
            </a: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Air-Gapped Access Procedure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1. Request access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2. Secondary approval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3. Retrieve backup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4. Validate integrity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5. Restore data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6. Document access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Two-person rule. Every time. No exceptions.</a:t>
            </a: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RTO / RPO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Regular DR tests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Backup recovery tests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Chaos tests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Metrics collection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Compliance reporting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Test your recovery. Or don't claim you can recover.</a:t>
            </a: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BCP Testing Schedule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Tabletop exercises: Quarterly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Backup recovery tests: Monthly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Full DR tests: Bi-annual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Chaos tests: Monthly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If you don't test it, it doesn't work.</a:t>
            </a: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Part 4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SIEM / XDR: Monitoring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Detection Engineering: Rules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Threat Hunting: Proactive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SOAR: Automation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Chaos Engineering: Testing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Business Continuity: Recovery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Part 4 built the detection, response, and resilience capabilities.</a:t>
            </a:r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000000"/>
                </a:solidFill>
                <a:latin typeface="Calibri Light"/>
              </a:defRPr>
            </a:pPr>
            <a:r>
              <a:t>PART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0000"/>
                </a:solidFill>
                <a:latin typeface="Calibri Light"/>
              </a:defRPr>
            </a:pPr>
            <a:r>
              <a:t>ENTERPRISE CAPSTONE</a:t>
            </a:r>
          </a:p>
          <a:p>
            <a:pPr>
              <a:spcBef>
                <a:spcPts val="1200"/>
              </a:spcBef>
              <a:defRPr sz="1800">
                <a:solidFill>
                  <a:srgbClr val="505050"/>
                </a:solidFill>
                <a:latin typeface="Calibri"/>
              </a:defRPr>
            </a:pPr>
            <a:r>
              <a:t>20 Slides | 2 Days</a:t>
            </a: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Capstone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Nexus Global Industries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Cloud transformation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Active adversarial pressure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Board mandate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90-day blueprint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This is the real-world scenario. This is what we're building for.</a:t>
            </a: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Deliverable 1 — 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Business context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Vision and objectives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Architecture overview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Investment summary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Success criteria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The executive summary tells the story in business language.</a:t>
            </a:r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Deliverable 1 — Key Elements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The challenge (why change is needed)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The vision (what we're building)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The architecture (how it works)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The benefits (what it delivers)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The investment (what it costs)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Five elements. One compelling narrative.</a:t>
            </a:r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Deliverable 2 — Enterprise Topology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Multi-zone network architecture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Trust boundaries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Cloud landing zones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Cross-cloud architecture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IAM / PAM integration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The topology shows how everything connects.</a:t>
            </a:r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Deliverable 2 — Key Elements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Zone 1: OT / Manufacturing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Zone 2: Data &amp; Identity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Zone 3: Application (AWS + Azure)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Zone 4: DMZ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Zone 5: Internet / Customer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Five zones. Clear boundaries. Controlled traffic.</a:t>
            </a:r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Deliverable 3 — Threat Model Package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STRIDE analysis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PASTA risk model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Attack trees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MITRE ATT&amp;CK mapping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Risk assessment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Know your threats before you build your defenses.</a:t>
            </a:r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Deliverable 3 — Key Elements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Top threats identified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MITRE coverage: 71.4%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Risk assessment (10 risks)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Control mapping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Prioritization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Threat model drives control selection.</a:t>
            </a:r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Deliverable 4 — Zero Trust Blueprint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NIST SP 800-207 compliance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PDP / OPA implementation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PEP / Istio implementation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Continuous verification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Micro-segmentation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Zero Trust is not optional. It's the foundation.</a:t>
            </a:r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Deliverable 4 — Key Elements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Zero Trust policies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OPA Rego examples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Istio authorization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Continuous verification service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API security (OWASP Top 10)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DevSecOps pipeline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Every component implements Zero Trust principles.</a:t>
            </a:r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Deliverable 5 — Detection &amp; Resilience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SIEM / XDR architecture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Detection rules (10+ Sigma)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Threat hunting program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SOAR playbooks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Chaos engineering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Business continuity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Assume breach. Detect fast. Respond faster. Recover fastest.</a:t>
            </a:r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Deliverable 5 — Key Elements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SIEM: ELK Stack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Detection: Sigma + MITRE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Hunting: Methodology + playbooks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SOAR: Automated response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Chaos: Failure scenarios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BCP: RTO / RPO validation</a:t>
            </a:r>
          </a:p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Deliverable 6 — Implementation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18-month plan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4 phases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$27M investment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Success metrics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Governance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A plan without a timeline is just a dream.</a:t>
            </a:r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Deliverable 6 — Key Elements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Phase 1: Foundation (Months 1-6, $8.5M)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Phase 2: Zero Trust &amp; Cloud (Months 7-12, $9.5M)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Phase 3: Detection &amp; Response (Months 13-15, $5.5M)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Phase 4: Resilience &amp; Capstone (Months 16-18, $3.5M)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Phased. Prioritized. Funded.</a:t>
            </a:r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Success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Zero Trust Coverage: 100%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MFA Coverage: 100%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MTTD: &lt; 60 minutes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MTTR: &lt; 4 hours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RTO: &lt; 2 hours (Tier 0)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RPO: &lt; 15 minutes (Tier 0)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Compliance: Zero critical findings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Measure what matters. Report what you measure.</a:t>
            </a:r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Capstone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Complete enterprise architecture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Business-aligned security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Zero Trust foundation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Cloud-native security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Detection and resilience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This is the complete, defensible enterprise security architecture.</a:t>
            </a:r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000000"/>
                </a:solidFill>
                <a:latin typeface="Calibri Light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0000"/>
                </a:solidFill>
                <a:latin typeface="Calibri Light"/>
              </a:defRPr>
            </a:pPr>
            <a:r>
              <a:t>SERIES WRAP-UP</a:t>
            </a:r>
          </a:p>
          <a:p>
            <a:pPr>
              <a:spcBef>
                <a:spcPts val="1200"/>
              </a:spcBef>
              <a:defRPr sz="1800">
                <a:solidFill>
                  <a:srgbClr val="505050"/>
                </a:solidFill>
                <a:latin typeface="Calibri"/>
              </a:defRPr>
            </a:pPr>
            <a:r>
              <a:t>5 Slides | 30 Minutes</a:t>
            </a:r>
          </a:p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What You've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5 parts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45 sections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129+ artifacts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4 frameworks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14 security domains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This is not theory. This is production-grade security architecture.</a:t>
            </a:r>
          </a:p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The Complete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1. Governance &amp; Risk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2. Zero Trust &amp; Identity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3. Cloud-Native Security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4. Detection, Response &amp; Resilience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Four layers. One integrated defense.</a:t>
            </a:r>
          </a:p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1. Security is a business enabler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2. Zero Trust is the foundation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3. Cloud-native requires new thinking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4. Detection is critical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5. Resilience is non-negotiable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6. Automation is essential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7. Compliance is a byproduct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8. People matter most</a:t>
            </a:r>
          </a:p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1. Review the architecture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2. Adapt to your organization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3. Build the foundation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4. Implement phase by phase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5. Measure and improve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6. Stay current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Architecture is a journey, not a destination.</a:t>
            </a:r>
          </a:p>
        </p:txBody>
      </p:sp>
    </p:spTree>
  </p:cSld>
  <p:clrMapOvr>
    <a:masterClrMapping/>
  </p:clrMapOvr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Enterprise Cybersecurity Architecture &amp; Frameworks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Questions and discussion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Thank you for attending.</a:t>
            </a:r>
          </a:p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000000"/>
                </a:solidFill>
                <a:latin typeface="Calibri Light"/>
              </a:defRPr>
            </a:pPr>
            <a: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0000"/>
                </a:solidFill>
                <a:latin typeface="Calibri Light"/>
              </a:defRPr>
            </a:pPr>
            <a:r>
              <a:t>REFERENCE MATERIALS</a:t>
            </a:r>
          </a:p>
          <a:p>
            <a:pPr>
              <a:spcBef>
                <a:spcPts val="1200"/>
              </a:spcBef>
              <a:defRPr sz="1800">
                <a:solidFill>
                  <a:srgbClr val="505050"/>
                </a:solidFill>
                <a:latin typeface="Calibri"/>
              </a:defRPr>
            </a:pPr>
            <a:r>
              <a:t>As Needed</a:t>
            </a:r>
          </a:p>
        </p:txBody>
      </p:sp>
    </p:spTree>
  </p:cSld>
  <p:clrMapOvr>
    <a:masterClrMapping/>
  </p:clrMapOvr>
</p:sld>
</file>

<file path=ppt/slides/slide2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Appendix A — Complete Artifact Index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All 129+ files listed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By part and section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File descriptions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Reference only.</a:t>
            </a:r>
          </a:p>
        </p:txBody>
      </p:sp>
    </p:spTree>
  </p:cSld>
  <p:clrMapOvr>
    <a:masterClrMapping/>
  </p:clrMapOvr>
</p:sld>
</file>

<file path=ppt/slides/slide2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Appendix B — Framework Quick 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SABSA 6 layers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NIST CSF 6 functions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ISO 27001 Annex A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MITRE ATT&amp;CK 14 tactics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Quick reference cards for daily use.</a:t>
            </a:r>
          </a:p>
        </p:txBody>
      </p:sp>
    </p:spTree>
  </p:cSld>
  <p:clrMapOvr>
    <a:masterClrMapping/>
  </p:clrMapOvr>
</p:sld>
</file>

<file path=ppt/slides/slide2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Appendix C — Deployment Commands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Kubernetes deployments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Terraform commands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Security tool setup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Command reference for hands-on labs.</a:t>
            </a:r>
          </a:p>
        </p:txBody>
      </p:sp>
    </p:spTree>
  </p:cSld>
  <p:clrMapOvr>
    <a:masterClrMapping/>
  </p:clrMapOvr>
</p:sld>
</file>

<file path=ppt/slides/slide2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Appendix D — Troubleshooting Guide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Common issues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Quick fixes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Diagnostic commands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When things break, start here.</a:t>
            </a:r>
          </a:p>
        </p:txBody>
      </p:sp>
    </p:spTree>
  </p:cSld>
  <p:clrMapOvr>
    <a:masterClrMapping/>
  </p:clrMapOvr>
</p:sld>
</file>

<file path=ppt/slides/slide2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Total Statistics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Introduction: 10 slides | 1 hour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Part 1: 60 slides | 3 days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Part 2: 60 slides | 3 days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Part 3: 70 slides | 3.5 days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Part 4: 80 slides | 4 days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Part 5: 20 slides | 2 days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Conclusion: 5 slides | 0.5 hours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Appendices: 20 slides | Reference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Total: ~325 slides | 12-15 days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