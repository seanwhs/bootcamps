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100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1C9C1B-F871-40C9-B0EF-3BA1273E73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53AD57-4C0A-48B0-93E7-B5ADF48368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FC2688-6763-491F-9967-7DF57B2C1B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51A37E-C1F4-40AB-B6FE-8A2AA416EF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6C03FC-CBBA-45FB-BD91-72ADDEA825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4EA838-E925-4E78-BFE2-86072BE50B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F98BA4-E3A3-476C-8316-E90099C774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CF19F7-1AF7-4DFC-B7A9-06405D2921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CC3F04-AB9E-4419-BAAE-044E4E55E4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B55E5B-8218-4955-8D2C-9B5A66DE2E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20FFFD-135F-48C9-945F-DA73975A88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22860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Mastering Modern Data Architecture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3840480"/>
            <a:ext cx="1127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From Databases and Distributed Storage to Enterprise Data Platforms, Analytics, and AI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Series Overview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548640" y="1188720"/>
            <a:ext cx="10972440" cy="53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What We'll Build Together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Ultimate Architecture: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Transactional Data Stores (OLTP)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Distributed Storage Layer (Object/Block)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Integration Layer (ETL/Streaming)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Lakehouse (Bronze/Silver/Gold)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Metadata &amp; Governance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Semantic &amp; BI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Presentation Layer (Dashboards/ML)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Learning Journey: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Sources → Ingestion → Storage → Processing → Analytics → Insights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↓            ↓          ↓          ↓            ↓           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OLTP Apps    Kafka      Lakehouse   Spark/ETL    BI/ML     Dashboards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SaaS APIs    CDC        Data Lake   Streaming   Semantic    Reports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Why This Series Matters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548640" y="1188720"/>
            <a:ext cx="10972440" cy="52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Data Revolution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Modern Challenges: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2.5 quintillion bytes of data created daily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90% of data created in last 2 years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80% of enterprise data is unstructured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Real-time expectations increasing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AI/ML becoming mainstream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Opportunity: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Data-driven companies are 23x more likely to acquire customers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6x more likely to retain customers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19x more likely to be profitable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What You'll Learn: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Design principles, not just technologies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Why, not just how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Production-ready implementations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Real-world patterns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Target Audience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Who This Is For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Primary Audience: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Software Engineers &amp; Backend Developers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Engineers &amp; Data Architects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Solution Architects &amp; Enterprise Architects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Cloud Engineers &amp; Platform Engineers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DevOps Engineers &amp; Technical Leads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Engineering Managers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AI and Machine Learning Engineers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Business Intelligence Developers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Prerequisites: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Basic understanding of software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Familiarity with at least one programming language (Python recommended)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Willingness to learn and practice hands-on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Not Required (We'll Cover It):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Advanced database knowledge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Cloud architecture experience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ML/AI expertise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Series Structure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15 Parts, 5 Appendices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Part | Title | Focus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|------|-------|-------|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0 | Introduction | Series overview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 | Foundations | Data modeling, ERD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2 | Storage Engines | B-Trees, LSM, MVCC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3 | Enterprise Storage | DAS, NAS, SAN, HDFS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4 | Cloud Object Storage | S3, Data Lakes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5 | Data Formats | Parquet, ORC, Avro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6 | Transactions | ACID, 2PC, Saga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7 | Data Integration | ETL/ELT, Kafka, CDC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8 | Scalability | Sharding, Replication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9 | Caching | Redis, Patterns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10 | Lakehouses | Delta Lake, Iceberg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11 | Data Hubs | Data Mesh, Contracts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12 | Metadata | Governance, Lineage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13 | BI &amp; Analytics | Star/Snowflake, Dashboards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14 | ML Architecture | Feature Store, RAG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15 | Enterprise Platform | Reference Architecture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Architecture You'll Build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548640" y="1188720"/>
            <a:ext cx="10972440" cy="138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Complete Enterprise Data Platform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PRESENTATION LAYER  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┌──────────┐ ┌──────────┐ ┌──────────┐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│Executive │ │ Self-   │ │  Machine │ │ Embedded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│Dashboards│ │ Serve BI │ │ Learning │ │Analytics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└──────────┘ └──────────┘ └──────────┘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SEMANTIC &amp; BI LAYER   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┌──────────────────────────────────────┐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│   Semantic Models / Data Marts       │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│   Star Schema / Snowflake Schema     │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└──────────────────────────────────────┘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DATA LAKEHOUSE PLATFORM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┌──────────────────────────────────────┐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│      MEDALLION ARCHITECTURE          │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│  ┌─────────┐ ┌─────────┐ ┌─────────┐│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│  │ BRONZE  │→│ SILVER  │→│  GOLD   ││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│  │  (Raw)  │ │ (Clean) │ │(Curated)││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│  └─────────┘ └─────────┘ └─────────┘│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│  Delta Lake / Iceberg / Parquet     │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└──────────────────────────────────────┘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DATA INTEGRATION LAYER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┌──────────┐ ┌──────────┐ ┌──────────┐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Batch   │ │ Stream   │ │   CDC    │ │Orchestra-│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ETL    │ │Processing│ │(Debezium)│ │tion(Air-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│(Airflow) │ │ (Kafka)  │ │          │ │ flow)   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└──────────┘ └──────────┘ └──────────┘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STORAGE LAYER         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┌──────────┐ ┌──────────┐ ┌──────────┐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Object  │ │Distributed│ │ Columnar │ │   Cache 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Storage  │ │File System│ │  Storage │ │  (Redis)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(S3)    │ │  (HDFS)   │ │ (Parquet)│ │         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└──────────┘ └──────────┘ └──────────┘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DATA SOURCES          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┌──────────┐ ┌──────────┐ ┌──────────┐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OLTP    │ │  SaaS    │ │   IoT    │ │ Third-  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Apps    │ │  Apps    │ │ Devices  │ │ Party    │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└──────────┘ └──────────┘ └──────────┘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Technology Stack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What We'll Use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Layer | Technologies | Purpose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|-------|--------------|---------|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Transactional | PostgreSQL, MySQL, MongoDB | ACID-compliant databases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Storage | MinIO (S3-compatible), HDFS | Object/block storage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Formats | Parquet, ORC, Avro, Delta Lake, Iceberg | Optimized data formats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Processing | Spark, Trino, DuckDB | Data processing engines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Streaming | Apache Kafka, Debezium | Event streaming, CDC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Orchestration | Apache Airflow | Pipeline orchestration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Caching | Redis, Memcached | Performance optimization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BI | Superset, Streamlit | Dashboards and analytics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Monitoring | Prometheus, Grafana | Metrics and visualization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ML | Feature Store, Vector DB, RAG | ML/AI infrastructure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Learning Outcomes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By the End of This Series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You Will Be Able To: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Design scalable enterprise data architectures from scratch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Model data for both transactional and analytical workloads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Understand how modern database storage engines 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Build resilient distributed storage solutions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Architect cloud-native data lakes and lakehouses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Design reliable batch and streaming data pipelines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Implement scalable replication and partitioning strategies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Optimize storage, indexing, and query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Build enterprise data hubs and domain-oriented platforms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Establish governance, lineage, metadata, and data quality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Design high-performance BI and analytical platforms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Build data pipelines for ML and AI workloads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Evaluate architectural trade-offs across technologies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Design secure, resilient, and future-proof ecosystems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Hands-On Deliverables: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Complete working data 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45+ Python implementation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20+ configuration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10+ Docker services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Production-ready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Getting Started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Development Environment Setup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Prerequisites: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Docker &amp; Docker Compose (20.10+)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Python 3.9+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Git 2.30+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8GB+ RAM (16GB recommended)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20GB+ free disk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One-Command Setup: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git clone https://github.com/yourusername/data-architecture-tutorial.git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cd data-architecture-tutorial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cp .env.example .env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./setup.sh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docker-compose up -d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Services You'll Run: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PostgreSQL, MySQL, MongoDB (Databases)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MinIO (Object Storage)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Redis, Memcached (Caching)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Kafka (Streaming)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Airflow (Orchestration)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Superset (BI)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Grafana, Prometheus (Monitoring)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Verification: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python scripts/verify_environment.py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FOUNDATIONS OF DATA ARCHITECTURE AND DATA MODELING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Evolution of Data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From Mainframes to Lakehouses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Era | Architecture | Characteristics | Pain Points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|-----|--------------|-----------------|-------------|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1970s-1980s | Centralized Mainframe | Single database, monolithic | Limited scalability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1990s-2000s | Client-Server + Data Warehouse | OLTP + OLAP separate | Batch ETL delays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2010s | Big Data + Cloud | Hadoop ecosystem, data lakes | Complexity, governance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2020s+ | Modern Data Stack | Lakehouse, real-time, mesh | Integration, talent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Key Insight: The trend is toward more flexibility, lower cost, and real-time capabilities.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Operational vs. Analytical Systems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OLTP vs. OLAP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Aspect | OLTP | OLAP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|--------|------|------|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Purpose | Run day-to-day operations | Support business decisions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Users | Employees, customers | Analysts, executives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Workload | Many small transactions | Few large, complex queries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Data Model | Normalized (3NF) | Denormalized (Star/Snowflake)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Latency | Milliseconds | Seconds to minutes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History | Current state | Historical trends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Example | E-commerce checkout | Monthly sales report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Why This Matters: Choosing the right system for the right workload is critical.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Types and Structures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Structured, Semi-Structured, Unstructured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Structured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id │ name    │ age │ city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1  │ Alice   │ 30  │ NY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2  │ Bob     │ 25  │ LA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Fixed schema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Relational databases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Examples: CSV, SQL tables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Semi-Structured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{                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"id": 1,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"name": "Alice",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"preferences": {"theme": "dark"}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}                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Flexible schema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Self-describing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Examples: JSON, XML, Avro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Unstructured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📄 PDF Files     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🖼️ Images       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🎬 Videos       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📝 Text documents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No predefined structure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lakes store this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Examples: Documents, images,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Relational vs. NoSQL Databases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Choosing the Right Tool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Aspect | Relational (SQL) | NoSQL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|--------|------------------|-------|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Data Model | Tables, rows, columns | Key-value, document, graph, column-family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Schema | Fixed, rigid | Flexible, dynamic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Scalability | Vertical (limited) | Horizontal (almost unlimited)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ACID | Full support | Varies (BASE usually)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Use Cases | Financial, ERP, CRM | Real-time, IoT, recommendations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Examples | PostgreSQL, MySQL | MongoDB, Cassandra, Neo4j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Decision Factors: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Relationships vs. scalability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Consistency vs. availability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Maturity vs. flexibility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ACID vs. BASE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Consistency Models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ACID (Relational Databases)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**Atomicity**: All or nothing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**Consistency**: Data remains valid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**Isolation**: Transactions don't interfere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**Durability**: Committed data survives failures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BASE (NoSQL Databases)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**Basically Available**: Always responds (maybe stale)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**Soft State**: State changes over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**Eventual Consistency**: Converges over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ACID                                BASE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┌──────────────────┐               ┌──────────────────┐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Strong Consistency│               │ High Availability│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✓ Guarantees     │               │ ✓ Always responds│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✗ Slower writes  │               │ ✗ May be stale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✓ Complex setup  │               │ ✓ Simple scaling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└──────────────────┘               └──────────────────┘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CAP Theorem Explained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You Can Only Have Two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Consistency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(All nodes see same data)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CA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(RDBMS)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CP     /                  \    AP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(HBase)  /                    \  (Cassandra)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  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                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/\          Availability              /\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\     (System always responds)     /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\                                /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\                              /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\                            /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      \                          /      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/____________________________________\/____________\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CP: Consistency + Partition Tolerance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Examples: HBase, MongoDB (strong consistency)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Best for: Financial transactions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AP: Availability + Partition Tolerance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Examples: Cassandra, DynamoDB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Best for: Social media, real-time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CA: Consistency + Availability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No partition tolerance (single-node)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Examples: Traditional RDBMS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Entity-Relationship Modeling (ERD)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Visualizing Data Relationships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Core Components: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┌─────────────┐     ┌─────────────┐     ┌─────────────┐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CUSTOMER  │────&lt;│    ORDER    │────&lt;│  ORDER_ITEM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│     │             │     │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id          │     │ id          │     │ id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name        │     │ customer_id │     │ order_id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email       │     │ order_date  │     │ product_id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phone       │     │ total       │     │ quantity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└─────────────┘     └─────────────┘     └─────────────┘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│ 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│ 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▼                    ▼                    ▼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┌─────────────┐     ┌─────────────┐     ┌─────────────┐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ADDRESS   │     │   PAYMENT   │     │   PRODUCT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│     │             │     │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id          │     │ id          │     │ id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customer_id │     │ order_id    │     │ name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street      │     │ method      │     │ price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city        │     │ amount      │     │ stock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└─────────────┘     └─────────────┘     └─────────────┘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Relationship Types: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- One-to-One (1:1)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- One-to-Many (1:N) &lt;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- Many-to-Many (M:N) &gt;&lt;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Normalization Explained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Reducing Data Redundancy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Normal Forms: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Level | Rule | Example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|-------|------|---------|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1NF | Atomic values, no repeating groups | No multiple phone numbers in one field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2NF | All non-key attributes depend on full key | Remove partial dependencies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3NF | No transitive dependencies | Remove dependencies on non-key attributes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Example: Before Normalization (Flat Table)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order_id │ customer │ item1  │ price1 │ item2  │ price2 │ total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1        │ Alice    │ Laptop │ 999.99 │ Mouse  │ 29.99  │ 1029.98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Issues: Repeating groups, redundant data, hard to query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After Normalization (3NF)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orders:     (order_id, customer_id, total)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customers:  (customer_id, name)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order_items: (order_item_id, order_id, product_id, price)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products:   (product_id, name, price)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Normalization vs. Denormalization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Trade-Off Decisions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Aspect | Normalization | Denormalization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|--------|---------------|-----------------|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Storage | Less (no redundancy) | More (redundant data)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Queries | Complex (many joins) | Simple (few joins)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Writes | Fast (single place) | Slower (multiple places)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Reads | Slower (joins) | Fast (no joins)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Consistency | Better | Worse (duplication)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Use Case | OLTP (writes) | OLAP (reads)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When to Normalize: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Transactional systems (OLTP)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High write volume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integrity critical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When to Denormalize: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Analytics systems (OLAP)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High read volume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Performance priority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Star Schema vs. Snowflake Schema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Dimensional Modeling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Star Schema (Denormalized)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FACT TABLE        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 ┌──────────┐  ┌──────────┐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TIME    │  │ PRODUCT  │  │ CUSTOMER │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DIM     │  │  DIM     │  │  DIM     │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(Flat)   │  │ (Flat)   │  │ (Flat)   │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 └──────────┘  └──────────┘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✓ Simple queries, fast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✗ More storage, data redundancy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**Snowflake Schema (Normalized)**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FACT TABLE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TIME       PRODUCT     CUSTOMER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DIM         DIM         DIM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SUB-DIM     SUB-DIM     SUB-DIM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✓ Less storage, normalized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✗ More complex queries, slower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Master Data Management (MDM)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Single Source of Truth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What Is MDM?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Consolidating critical data from multiple sources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Creating a "golden record" for each entity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Ensuring consistency across the enterprise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MDM Architecture: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MASTER DATA MANAGEMENT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Source Systems          MDM Hub           Consuming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          ┌──────────┐      Systems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CRM     │──────────▶│          │─────▶│  Data Lake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          │          │      └──────────┘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          │ Golden   │      ┌──────────┐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ERP     │──────────▶│ Record   │─────▶│  Data     │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          │          │      │ Warehouse│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          │          │      └──────────┘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Legacy   │──────────▶│          │      ┌──────────┐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Systems  │           └──────────┘─────▶│  BI/ML   │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                             └──────────┘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Key Capabilities: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Data consolidation and deduplication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Data quality and validation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Hierarchy management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Reference data management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Data governance and stewardship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Schema Evolution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Handling Change Over Time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Types of Schema Changes: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Add new fields (most common)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Remove deprecated fields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Change data types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Rename fields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Restructure hierarchies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Strategies: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**Forward Compatibility**: New readers can read old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**Backward Compatibility**: Old readers can read new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**Full Compatibility**: Both directions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Implementation Patterns: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Version 1:                        Version 2: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{                                 {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"id": 1,                          "id": 1,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"name": "Alice",                  "name": "Alice",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"age": 30                         "birth_date": "1994-01-15"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}                                 }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Migrate by: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Adding new fields with defaults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Dual-write during transition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Reading multiple schema versions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Deprecating old fields gradually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Best Practices: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Version your schemas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Use optional fields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Provide migration paths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Document breaking changes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STORAGE ENGINES AND DATABASE INTERNALS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Database Architecture Layers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From Query to Disk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SQL/Query Interface Layer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Query Parser &amp; Validator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(Parses SQL, checks syntax, validates)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Query Optimizer &amp; Planner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(Generates execution plan, chooses indexes)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Execution Engine      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(Executes the query plan, processes data)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Storage Engine &amp; Transaction Manager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(Manages data storage, concurrency, ACID)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Buffer/Cache Management 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(In-memory cache for frequently accessed data)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Disk Storage (Pages, Extents)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(Persistent storage on disk)  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Storage Hierarchy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Speed vs. Cost Trade-Offs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STORAGE HIERARCHY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Register (CPU) - Fastest, most expensive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════════════════════════════════════════════════════════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Capacity: KB    │  Latency: &lt;1ns   │  Cost: $$$$$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├─────────────────────────────────────────────────────────┤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L1/L2/L3 Cache - Extremely fast, expensive, small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════════════════════════════════════════════════════════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Capacity: MB    │  Latency: 1-10ns  │  Cost: $$$$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├─────────────────────────────────────────────────────────┤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RAM/Memory - Fast, moderate cost, moderate size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════════════════════════════════════════════════════════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Capacity: GB    │  Latency: 100ns   │  Cost: $$$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├─────────────────────────────────────────────────────────┤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SSD Storage - Fast, moderate cost, large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════════════════════════════════════════════════════════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Capacity: TB    │  Latency: 0.1ms   │  Cost: $$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├─────────────────────────────────────────────────────────┤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HDD Storage - Slower, cheap, massive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════════════════════════════════════════════════════════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Capacity: PB    │  Latency: 10ms    │  Cost: $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Key Principle: Data should live at the cheapest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tier that meets performance requirements.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B-Tree and B+Tree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Balanced Search Trees for Databases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B-Tree Structure: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[Root Node]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[30, 60]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|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|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[10,20] [40,50] [70,80,90]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|  \  /  |  \  /  |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   L  L L   L  L L   L  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Properties: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Balanced (all leaves at same depth)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High fanout (many children per node)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Self-balancing on insert/delete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O(log n) search, insert, delete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**B+Tree (Most Common in Databases):**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[Internal Nodes]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[30, 60]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|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/    |    \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[10,20] [40,50] [70,80,90]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||||||| ||||||| |||||||||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[Leaves contain all data]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[10][20][30][40][50][60][70][80][90]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B+Tree Advantages: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All data at leaves (faster range queries)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Sequential access via leaf links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Higher fanout (internal nodes smaller)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LSM Trees (Log-Structured Merge Trees)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Optimized for Write-Heavy Workloads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Architecture: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LSM TREE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Writes: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Write-Ahead Log (WAL) → Immutable → Flush to Disk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Memtable (In-Memory)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key1:value1  key2:value2  key3:value3         │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(When full)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SSTable 1 (Disk)  SSTable 2 (Disk)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┌─────────────┐  ┌─────────────┐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│Sorted:      │  │Sorted:      │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│key1:value1  │  │key4:value4  │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│key2:value2  │  │key5:value5  │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└─────────────┘  └─────────────┘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(Compaction)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Merged SSTable (Sorted, deduplicated)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Reads: Memtable → SSTables (newest to oldest)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Writes: O(1) to memtable + WAL (sequential writes)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Compaction: Merges SSTables periodically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Use Cases: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Write-heavy workloads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High throughput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Event logging, metrics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Cassandra, HBase, RocksDB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Write-Ahead Logging (WAL)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Ensuring Durability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WRITE-AHEAD LOGGING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Transaction Flow: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┌─────────┐     ┌─────────┐     ┌─────────┐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Begin  │────▶│  Write  │────▶│  Commit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TXN    │     │  to WAL │     │  TXN   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└─────────┘     └─────────┘     └─────────┘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│               │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▼               ▼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┌─────────────────────────────────────┐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         WAL Log File     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┌───────────────────────────────────┐│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│ TXN1 | INSERT | data              ││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│ TXN1 | UPDATE | data              ││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│ TXN2 | DELETE | data              ││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│ TXN1 | COMMIT |                   ││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└───────────────────────────────────┘│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└─────────────────────────────────────┘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│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▼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Data Flush to Disk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(Asynchronous, from WAL to data files)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Recovery on Crash: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1. Replay WAL from last checkpoint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2. Reapply all committed transactions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3. Rollback uncommitted transactions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Benefits: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Durability guarantee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Crash recovery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Performance (sequential writes)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MVCC (Multi-Version Concurrency Control)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Enabling Concurrent Access Without Locks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MVCC MODEL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Row Versions: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Row ID: 100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Version 1: Alice, 30 (Created by TX1)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Version 2: Alice, 31 (Created by TX2)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Version 3: Alice, 32 (Created by TX3, deleted)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Visibility Rules: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Transaction T1 (started at time 10):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- Sees versions created before time 10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- Doesn't see versions created after time 10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- Sees its own changes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Transactions: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Tx1 (time 10): Reads A=30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Tx2 (time 15): Updates A=31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Tx1 (time 20): Reads A=30 (still sees old value)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Benefits: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Readers don't block writers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Writers don't block readers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Consistent snapshots for each transaction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Supports time travel queries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Implementation: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Store version with transaction 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Clean up old versions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Used in PostgreSQL, MySQL InnoDB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Indexing Strategies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Speeding Up Data Access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Index Types: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Type | Description | Best For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|------|-------------|----------|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B-Tree | Balanced tree structure | Equality and range queries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Hash | Hash table | Exact equality (point queries)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GIN | Generalized Inverted Index | Full-text search, arrays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GiST | Generalized Search Tree | Geospatial, geometric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BRIN | Block Range Index | Very large tables with natural order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Clustered vs. Non-Clustered: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Clustered Index: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Table Data (sorted by index key)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(id=1, name=Alice)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(id=2, name=Bob)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(id=3, name=Charlie)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is physically ordered by key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Only one per 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InnoDB, SQL Server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Non-Clustered Index: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Index (sorted by key) 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Alice → pointer to row 1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Bob → pointer to row 2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Charlie → pointer to row 3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Separate structure from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Multiple allowed per 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PostgreSQL, most DBs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Query Optimization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Planning the Best Execution Path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Query Plan Process: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SQL Query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▼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PARSER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Parse SQL → Abstract Syntax Tree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▼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REWRITER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Apply view expansion, simplification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▼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OPTIMIZER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┌───────────────────────────────────────────────────────┐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1. Generate multiple execution plans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2. Estimate cost for each plan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- I/O cost                 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- CPU cost                 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- Memory cost              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3. Choose the cheapest plan                          │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└───────────────────────────────────────────────────────┘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▼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EXECUTOR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Execute the chosen plan with all optimization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Key Optimizations: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Index selection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Join order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Predicate pushdown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Column pruning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Limit/order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Storage Engine Comparison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Choosing the Right Engine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Engine | Type | Best For | Characteristics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|--------|------|----------|-----------------|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InnoDB | B-Tree (Row) | Mixed workloads | ACID, FK, standard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MyRocks | LSM (Row) | Write-heavy | Compression, less I/O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Cassandra | LSM (Row) | Write-heavy, distributed | No ACID, high scale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PostgreSQL | B-Tree (Row) | Complex queries | Feature-rich, ACID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Parquet | Columnar | Analytics | Compression, performance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ClickHouse | Columnar | Time-series, analytics | Vectorized, fast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Decision Factors: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Workload Type: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Read-Heavy  → B-Tree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Write-Heavy → LSM Tree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Analytics   → Columnar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Consistency Requirements: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Strong  → RDBMS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Eventual → NoSQL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Scale Requirements: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Single-node → PostgreSQL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Distributed → Cassandra, Scylla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ENTERPRISE STORAGE ARCHITECTURE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Storage Architecture Types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DAS, NAS, SAN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Direct Attached Storage (DAS)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Server 1 ──▶ [Local Disks]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Server 2 ──▶ [Local Disks]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Server 3 ──▶ [Local Disks]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Fast, simple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Not shareable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Limited scalability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Network Attached Storage (NAS)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Server 1 ──▶ [NAS Device] ◀── Server 2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Network (NFS, SMB)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Shareable over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File-level 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Good for file sharing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Storage Area Network (SAN)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Server 1 ──▶ [SAN Switch] ◀── Server 2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Fibre Channel/iSCSI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[Storage Array]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Block-level 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High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Enterprise-grade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Key Differences: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DAS: Fastest, simplest, not shared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NAS: Shared, file-level, good for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SAN: Shared, block-level, high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RAID Levels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Redundancy and Performance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RAID Level | Description | Min Disks | Redundancy | Performance | Use Case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|------------|-------------|-----------|------------|-------------|----------|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RAID 0 | Striping | 2 | None | Excellent | Non-critical data, speed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RAID 1 | Mirroring | 2 | Excellent | Good reads | Critical data, small systems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RAID 5 | Striping + Parity | 3 | 1 disk failure | Good | General purpose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RAID 6 | Striping + Double Parity | 4 | 2 disk failures | Good | High reliability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RAID 10 | Striped Mirrors | 4 | Excellent | Excellent | High performance + reliability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RAID 0:           RAID 1:           RAID 5: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Disk1 [1][3]      Disk1 [1][2]      Disk1 [1][2][P]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Disk2 [2][4]      Disk2 [1][2]      Disk2 [3][4][P]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Disk3 [5][6][P]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RAID 6:                           RAID 10: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Disk1 [1][2][P1][P2]              Disk1 [1] Disk2 [1]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Disk2 [3][4][P1][P2]              Disk3 [2] Disk4 [2]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Disk3 [5][6][P1][P2]              Disk5 [3] Disk6 [3]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Distributed File Systems (HDFS)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Scalable, Fault-Tolerant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HDFS ARCHITECTURE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NameNode (Metadata)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┌─────────────────────┐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│ /data/file1  → 1,2,3│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│ /data/file2  → 4,5  │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└─────────────────────┘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│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┌───────────────┼───────────────┐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│               │               │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▼               ▼               ▼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DataNode 1       DataNode 2       DataNode 3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┌────────┐       ┌────────┐       ┌────────┐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│Block 1 │       │Block 2 │       │Block 1 │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│Block 4 │       │Block 3 │       │Block 2 │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│Block 5 │       │Block 4 │       │Block 3 │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└────────┘       └────────┘       └────────┘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Features: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Replication factor (default 3)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Rack awareness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Automatic rebalancing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Append-only, no updates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High throughput, moderate latency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Key Concepts: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**Block Size**: 128MB (large for sequential access)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**Replication**: 3 copies for fault tolerance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**Write Once, Read Many**: Optimized for batch processing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**Rack Awareness**: Copies across racks for resilience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Backup and Recovery Strategies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Protecting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Backup Types: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Type | Description | Recovery Time | Storage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|------|-------------|---------------|---------|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Full | Complete copy | Fast | Large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Incremental | Changes since last backup | Medium | Small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Differential | Changes since last full | Medium | Medium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Continuous | Real-time log shipping | Very fast | Large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3-2-1 Backup Rule: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3-2-1 BACKUP RULE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3 Copies of Data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1. Production (Primary)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2. Backup Copy (Secondary)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3. DR Copy (Disaster Recovery)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 Different Media Types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Local storage (SSD/HDD)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Cloud storage (S3, Azure)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Tape (for archival)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 Offsite Copy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Different geographic location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Different region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Cloud provider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Recovery Objectives: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**RPO** (Recovery Point Objective): Acceptable data loss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**RTO** (Recovery Time Objective): Acceptable downtime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CLOUD OBJECT STORAGE AND DATA LAKE FOUNDATIONS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Object Storage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S3 and Its Competitors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OBJECT STORAGE MODEL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Account / Tenant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Bucket 1 (Container)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Object 1: { 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Key: "path/to/file"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Data: &lt;binary data&gt;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ETag: "abc123..."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Metadata: {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  "content-type": "text/csv",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  "created": "2024-01-15"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}        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}          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Object 2: { ... }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Bucket 2: { ... }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Key Features: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Unlimited storage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Global namespace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HTTP-based API (RESTful)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Strong consistency (most providers)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Built-in versioning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Lifecycle management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Advantages: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Infinite scalability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Low cost (especially for cold storage)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Simple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Built-in durability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Global availability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Lake Foundations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Modern Data Lake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DATA LAKE LAYERS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Layer 1: Raw / Landing Zone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as it arrives from sources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No transformations applied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Formats: JSON, CSV, Parquet, Avro, logs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30 days 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Layer 2: Staging Zone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Validated, lightly cleaned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Schema applied                                 │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Formats: Parquet, Delta Lake, Iceberg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90 days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Layer 3: Curated Zone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Cleaned, enriched, standardized data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Business rules applied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Formats: Optimized Parquet, Delta tables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1 year 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Layer 4: Analytics Zone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Aggregated, denormalized for analytics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Pre-computed aggregates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Formats: Tables, views, cubes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3 years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Layer 5: Archive Zone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Cold storage for compliance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Compressed formats 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7-10 years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Partitioning Strategies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Optimizing Query Performance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Prefix Organization: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Poor Prefix Strategy: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s3://bucket/file1.csv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s3://bucket/file2.csv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s3://bucket/file3.csv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❌ All files in root - slow listing, no pruning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Good Prefix Strategy: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s3://bucket/year=2024/month=01/day=15/file1.csv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s3://bucket/year=2024/month=01/day=15/file2.csv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s3://bucket/year=2024/month=01/day=16/file3.csv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✅ Partitioned by time - fast filtering, partition pruning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Excellent Prefix Strategy: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s3://bucket/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 source=crm/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└── year=2024/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└── month=01/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└── day=15/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└── customers.parquet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 source=orders/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└── year=2024/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└── month=01/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└── day=15/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└── orders.parquet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 source=logs/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 year=2024/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 month=01/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 day=15/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 access.log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Best Practices: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Use key=value patterns (partition elimination)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Avoid deep nesting (&gt;5 levels)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Use consistent date formats (YYYY/MM/DD)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Consider data skew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Lifecycle Management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Automating Data Movement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LIFECYCLE MANAGEMENT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Time →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▼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HOT (0-30 days)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S3 Standard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Frequent access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High cost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(30 days)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WARM (30-90 days)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S3 Standard-IA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Infrequent access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Medium cost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(90 days)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COLD (90-365 days)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Glacier Instant Retrieval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Very infrequent access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Low cost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(365 days)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ARCHIVE (&gt;365 days)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Glacier Deep Archive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Compliance, historical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Very low cost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Rule Example: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{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"prefix": "logs/",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"actions": {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"transition": [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{"days": 30, "storage_class": "STANDARD_IA"},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{"days": 90, "storage_class": "GLACIER"}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],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"expiration": {"days": 365}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}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}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MODERN DATA FORMATS AND STORAGE OPTIMIZATION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Row-Based vs. Columnar Storage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Fundamental Trade-Offs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Row-Based Storage (CSV, Avro):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Row 1: [id=1, name=Alice, age=30, city=NY]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Row 2: [id=2, name=Bob, age=25, city=LA]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Row 3: [id=3, name=Charlie, age=35, city=SF]│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All fields stored together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Good for OLTP (entire rows)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Poor for analytics (only some columns)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Columnar Storage (Parquet, ORC):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Column 1: [1, 2, 3]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Column 2: [Alice, Bob, Charlie]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Column 3: [30, 25, 35]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Column 4: [NY, LA, SF]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Same type stored together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Excellent compression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Great for analytics (column pruning)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Performance Comparison: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Row-Based              Columnar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┌──────────────────┐    ┌──────────────────┐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SELECT *          │    │ SELECT          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Very Fast         │    │ avg(salary)     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│    │ Very Fast       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└──────────────────┘    └──────────────────┘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┌──────────────────┐    ┌──────────────────┐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SELECT           │    │ SELECT *        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avg(salary)      │    │ Very Slow       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Very Slow        │    │                 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└──────────────────┘    └──────────────────┘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Apache Parquet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Columnar Storage Standard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PARQUET FILE STRUCTURE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File Header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Magic Number (PAR1)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Row Group 1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Column Chunk: id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[1, 2, 3, 4, 5]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+ Metadata (min, max, nulls)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Column Chunk: name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[Alice, Bob, Charlie, David, Eve]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+ Metadata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Column Chunk: salary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[75000, 65000, 85000, 95000, 70000]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+ Metadata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Row Group 2 ...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File Footer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Metadata (schema, row groups, offsets)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Magic Number (PAR1)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Key Features: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Predicate pushdown (column statistics)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Encoding: Dictionary, RLE, Bit-packing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Schema evolution support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Nested data support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Compression Algorithms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Storage vs. Speed Trade-Offs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Algorithm | Ratio | Speed | CPU | Use Case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|-----------|-------|-------|-----|----------|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Snappy | Good | Fast | Low | Default, balance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Gzip/Zlib | Excellent | Slow | High | Archival, infrequent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Zstd | Excellent | Fast | Medium | Modern workloads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LZ4 | Good | Very Fast | Low | Speed-critical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LZO | Good | Very Fast | Low | Legacy systems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Choosing Compression: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Write-Intensive Workload: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Snappy or LZ4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(Fast compression, lower ratios)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Read-Intensive Workload: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Zstd or Gzip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(Higher compression, slower)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Storage-Limited: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Zstd (best ratio with good speed)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CPU-Limited: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LZ4 (minimal CPU usage)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Real-Time Analytics: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Snappy (good balance)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Compression Impact: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Raw Data: 10GB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With Snappy: 3GB (70% savings)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With Gzip: 1.5GB (85% savings)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With Zstd: 1.8GB (82% savings)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Predicate Pushdown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Filtering at the Storage Layer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Without Predicate Pushdown: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Query: SELECT * FROM table WHERE age &gt; 30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Storage → Read ALL data → Apply filter → Return results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10GB scanned → Filter applied → 1GB returned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Cost: High I/O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With Predicate Pushdown: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Query: SELECT * FROM table WHERE age &gt; 30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Storage → Read ONLY data matching → Return results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Read statistics → Skip row groups → Read only data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100MB scanned → 1GB returned (95% less I/O)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Cost: Low I/O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How It Works: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1. Storage stores min/max statistics per row group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2. Query pushes filter to storage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3. Storage checks stats for each row group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4. Only reads row groups that may contain matches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5. Massive I/O reduction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Small File Problem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Hidden Performance Killer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Problem: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Data Lake with many small files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s3://bucket/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├── file_0001.json (1KB)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├── file_0002.json (1KB)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├── file_0003.json (1KB)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│         ...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└── file_10000.json (1KB)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Issues: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10,000 metadata calls (slow)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Task overhead (Spark: 1 task per file)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Inefficient I/O (random reads)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Poor compression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Solutions: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1. Compaction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Combine small files into larger files (128MB+)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Single file with 10,000 records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Better compression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Sequential reads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2. Batch Processing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Process in batches before writing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Collect data in memory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Write in larger chunks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3. Use a File Format with Indexing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Parquet/ORC with built-in metadata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Single file contains all data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Efficient filtering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Bloom Filters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Fast Membership Testing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BLOOM FILTER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Adding Elements: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hash1("Alice") → bit 1  set bit 1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hash2("Alice") → bit 3  set bit 3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hash3("Alice") → bit 5  set bit 5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Checking Elements: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hash1("Alice") → bit 1  ✅ set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hash2("Alice") → bit 3  ✅ set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hash3("Alice") → bit 5  ✅ set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❌ FALSE POSITIVE: bit 3 set but "Bob" not stored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Bit Array: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0  1  0  1  1  0  0  1  0  1  0  0  1  0  1  0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↑       ↑          ↑             ↑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|       |          |             |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Alice   Bob     Charlie       David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Trade-offs: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✅ Fast membership tests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✅ Memory efficient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❌ False positives possible (no false negatives)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❌ Can't delete elements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Use Cases: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skipping in Parquet/ORC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Cache filtering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Distributed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Database indexes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TRANSACTION PROCESSING AND DISTRIBUTED CONSISTENCY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ACID Properties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The Foundation of Reliable Transactions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ACID PROPERTIES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A - Atomicity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All or Nothing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Example: Transfer money from A to B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Both accounts updated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✗ Neither account updated (on failure)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 - Consistency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Data remains valid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Example: Total balance never negative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All constraints satisfied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✗ Transaction rejected if violates rules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I - Isolation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Transactions don't interfere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Example: Two transfers from same account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Both see consistent state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✗ No dirty reads, non-repeatable, phantoms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 - Durability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Committed data survives failures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Example: Write to disk, WAL, replication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Data persists after crash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✗ Data lost only if unrecoverable failure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Isolation Levels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Trade-offs Between Consistency and Performance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ISOLATION LEVELS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Level 1: Read Uncommitted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Can read uncommitted data (dirty reads)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Fastest, lowest isolation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🚫 Dirty Reads ✓ Non-Repeatable ✓ Phantoms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Level 2: Read Committed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Only read committed data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Still allows non-repeatable reads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❌ Dirty Reads ✓ Non-Repeatable ✓ Phantoms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Level 3: Repeatable Read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Consistent snapshots within transaction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Prevents non-repeatable reads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❌ Dirty Reads ❌ Non-Repeatable ✓ Phantoms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Level 4: Serializable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Full isolation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Prevents all anomalies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❌ Dirty Reads ❌ Non-Repeatable ❌ Phantoms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Common Defaults: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PostgreSQL: Read Committed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MySQL: Repeatable Read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Oracle: Read Committed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SQL Server: Read Committed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Two-Phase Commit (2PC)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Distributed Transaction Protocol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TWO-PHASE COMMIT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Coordinator: Payment Service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Phase 1: PREPARE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Coordinator: "Can you commit?"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Participant 1: ✅ "Yes"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Participant 2: ✅ "Yes"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Participant 3: ✅ "Yes"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│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▼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Phase 2: COMMIT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Coordinator: "Commit!"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Participant 1: ✅ Committed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Participant 2: ✅ Committed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Participant 3: ✅ Committed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Failure Scenario: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Phase 1: PREPARE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Coordinator: "Can you commit?"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Participant 1: ✅ "Yes"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Participant 2: ❌ "No" (failure)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Participant 3: ✅ "Yes"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│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▼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Phase 2: ABORT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Coordinator: "Abort!"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Participant 1: ✅ Aborted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Participant 2: (already failed)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Participant 3: ✅ Aborted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Ensures atomicity across participants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Simple protocol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Coordinator single point of failure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Blocking protocol (participants wait)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Performance overhead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Saga Pattern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Microservices Transaction Handling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SAGA PATTERN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Travel Booking Saga: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┌─────────────┐     ┌─────────────┐     ┌─────────────┐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Book Hotel │────▶│  Book Flight│────▶│  Rent Car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✔️ Success │     │  ✔️ Success │     │  ❌ Failed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└─────────────┘     └─────────────┘     └─────────────┘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│                    │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│                    ▼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│          ┌─────────────┐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└─────────▶│Cancel Flight│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           │ (Compensate)│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           └─────────────┘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                  │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                  ▼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└────────────────────────┬────────────────┐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▼      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┌─────────────┐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│Cancel Hotel │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│ (Compensate)│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└─────────────┘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Compensation Actions:                    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Book Hotel → Cancel Hotel (if needed) 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Book Flight → Cancel Flight (if needed)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Rent Car → Cancel Rent (if needed)              │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Two Approaches: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Approach | Description | Pros | Cons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|----------|-------------|------|------|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Choreography | Decentralized, event-driven | Loose coupling | Hard to track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Orchestration | Centralized coordinator | Easier to manage | Single point of failure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INTEGRATION AND MODERN DATA PIPELINES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ETL vs. ELT vs. Reverse ETL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Integration Patterns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ETL (Extract, Transform, Load):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┌─────────┐     ┌──────────────┐     ┌─────────┐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Extract │────▶│  Transform   │────▶│  Load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└─────────┘     └──────────────┘     └─────────┘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Transform before loading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Good for structured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warehouse focused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Pros: Clean data, validated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Cons: Slow, heavy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ELT (Extract, Load, Transform):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┌─────────┐     ┌─────────┐     ┌──────────────┐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Extract │────▶│  Load   │────▶│  Transform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└─────────┘     └─────────┘     └──────────────┘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Load raw data 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Transform in warehouse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Leverages modern compute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Pros: Fast, flexible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Cons: Storage costs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Reverse ETL: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┌─────────┐     ┌─────────┐     ┌──────────────┐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Extract │────▶│Transform│────▶│ Load to Apps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└─────────┘     └─────────┘     └──────────────┘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Push analytics to operational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Enable data-driven 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Real-time personalization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Pros: Operational insights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Cons: Complexity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Change Data Capture (CDC)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Capturing Database Changes in Real-Time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CHANGE DATA CAPTURE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Source Database: PostgreSQL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WAL (Write-Ahead Log)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┌─────────────────────────────────────────────┐││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│ Transaction 1: INSERT into users           │││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│ Transaction 2: UPDATE orders               │││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│ Transaction 3: DELETE from products        │││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└─────────────────────────────────────────────┘││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CDC Tool (Debezium)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Captures change events from WAL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Formats as JSON/Avro messages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Publishes to Kafka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Kafka Topic: db_changes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{"table": "users", "op": "insert",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"data": {"id": 1, "name": "Alice"}}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{"table": "orders", "op": "update",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"data": {"id": 2, "status": "shipped"}}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{"table": "products", "op": "delete",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"data": {"id": 3}}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Consumers: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Data Lake (raw data)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Data Warehouse (analytics)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Search Index (elastic)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Cache (invalidation)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Benefits: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Real-time data sync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Minimal impact on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Supports multiple consumers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Audit trail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Apache Kafka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Distributed Event Streaming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KAFKA ARCHITECTURE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Producers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┌──────────┐ ┌──────────┐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Service A│ │ Service B│ │ Service C│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└──────────┘ └──────────┘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│            │            │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└────────────┼────────────┘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▼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┌──────────────────────────────────────┐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          Kafka Cluster 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┌──────────┐  ┌──────────┐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Partition│  │ Partition│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 0       │  │   1      │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[msg][msg]│  │ [msg][msg]│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        │  │          │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└──────────┘  └──────────┘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     Topic: "orders"   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┌──────────┐  ┌──────────┐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Partition│  │ Partition│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 0       │  │   1      │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[msg][msg]│  │ [msg][msg]│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└──────────┘  └──────────┘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     Topic: "events"   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└──────────────────────────────────────┘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│            │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┌────────────┼────────────┘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│            │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▼            ▼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┌──────────┐ ┌──────────┐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│Consumer 1│ │Consumer 2│ │Consumer 3│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(Group A)│ │ (Group A)│ │ (Group B)│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└──────────┘ └──────────┘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Key Concepts: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Topics: Logical stream of messages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Partitions: Ordered, immutable sequence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Offsets: Unique position in partition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Consumer Groups: Load balancing across consumers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Replication: Fault tolerance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Pipeline Orchestration (Airflow)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Managing Complex Workflows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AIRFLOW DAG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DAG: data_ingestion_dag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Schedule: @daily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Start Date: 2024-01-01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Catchup: false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┌─────────┐     ┌─────────┐     ┌─────────┐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Extract │────▶│Transform│────▶│ Load   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│(Python) │     │(SQL)    │     │(Python) │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└─────────┘     └─────────┘     └─────────┘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│               │               │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│               │               │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▼               ▼               ▼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Dependencies: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Extract must succeed before Transform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Transform must succeed before Load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Load triggers Data Quality Check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Operators: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PythonOperator: Run Python functions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SQLOperator: Execute SQL statements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BashOperator: Run shell commands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DockerOperator: Run Docker containers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SensorOperator: Wait for external events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Features: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Retry on failure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Email alerts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Task dependencies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Execution history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Logging and monitoring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8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SCALABILITY, DISTRIBUTION, AND HIGH AVAILABILITY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Scaling Strategies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Vertical, Horizontal, Elastic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SCALING STRATEGIES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Vertical Scaling (Scale Up)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Server 1      │ CPU: 4 cores → 8 cores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(Single       │ RAM: 16GB → 32GB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Machine)      │ Disk: 500GB → 1TB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│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Pros: Simple, no distribution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Cons: Limited, expensive at high end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Horizontal Scaling (Scale Out)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Server 1      │ Server 2      │ Server 3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(4 cores,     │ (4 cores,     │ (4 cores,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16GB RAM)    │  16GB RAM)    │  16GB RAM)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│               │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Pros: Virtually unlimited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Cons: Distributed complexity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Elastic Scaling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Load →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┌──────────────────────────────────────────────┐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Low load: 2 nodes                        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Medium load: 4 nodes                     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High load: 10 nodes                      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└──────────────────────────────────────────────┘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Pros: Cost optimization, automatic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Cons: Monitoring overhead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Partitioning (Sharding)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Distributing Data Across Nodes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PARTITIONING STRATEGIES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Range Partitioning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1: A-G   │ Partition 2: H-M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3: N-S   │ Partition 4: T-Z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Pros: Good for range queries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Cons: Data skew possible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Hash Partitioning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hash(key) % 4 → Partition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1: [0]  Partition 2: [1]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3: [2]  Partition 4: [3]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Pros: Even distribution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Cons: Range queries expensive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List Partitioning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1: US, CA, MX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2: UK, FR, DE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3: JP, CN, KR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Pros: Explicit control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Cons: Manual management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Composite Partitioning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by (Date, Region)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1: 2024-01, NA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2: 2024-01, EU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Partition 3: 2024-02, NA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Pros: Flexible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Cons: Complex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Consistent Hashing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Minimizing Rebalancing on Node Changes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CONSISTENT HASH RING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Initial Setup (3 nodes):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[Node2]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╱         ╲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╱             ╲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╱                 ╲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╱                     ╲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╱                         ╲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╱                             ╲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[Node4]                             [Node3]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╲                             ╱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╲                         ╱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╲                     ╱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╲                 ╱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╲             ╱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╲         ╱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[Node1]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Adding Node4: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Keys rebalanced: only keys between Node3 and Node4│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Result: ~25% keys move (instead of 50% in hash)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Benefits: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Minimizes data movement on node changes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Virtual nodes for better distribution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Used in Cassandra, DynamoDB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Virtual Nodes: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Each physical node maps to multiple virtual nodes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Better load distribution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Handles heterogeneous hardware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Easier rebalancing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Replication Models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Distributing Data Copies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REPLICATION MODELS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Leader-Follower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┌─────────┐    ┌─────────┐    ┌─────────┐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│ Leader  │───▶│Follower │───▶│Follower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│ (Write) │    │ (Read)  │    │ (Read) 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└─────────┘    └─────────┘    └─────────┘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Writes to leader, replicates to followers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Reads from followers (scale read)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Used in: PostgreSQL, MySQL, MongoDB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Multi-Leader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┌─────────┐    ┌─────────┐    ┌─────────┐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│ Leader  │────│ Leader  │────│ Leader 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│ (Write) │    │ (Write) │    │ (Write)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└─────────┘    └─────────┘    └─────────┘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Writes to multiple leaders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Conflict resolution needed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Used in: Some NoSQL databases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Leaderless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┌─────────┐    ┌─────────┐    ┌─────────┐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│ Node    │    │ Node    │    │ Node   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│ (Write) │    │ (Write) │    │ (Write)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└─────────┘    └─────────┘    └─────────┘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All nodes accept writes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Quorum for consistency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Used in: Cassandra, DynamoDB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CACHING AND PERFORMANCE ENGINEERING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Caching Fundamentals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Speed vs. Freshness Trade-Off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CACHING FUNDAMENTALS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Cache Hit/Miss Flow: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┌─────────┐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Request │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└────┬────┘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▼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┌─────────────┐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Check Cache │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└────┬────────┘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│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┌───┴───┐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│       │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▼       ▼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Hit     Miss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│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▼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┌─────────────┐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│Load from    │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│Database     │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└──────┬──────┘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│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▼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┌─────────────┐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Store in    │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Cache       │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└──────┬──────┘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│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└────┬────┘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▼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┌─────────────┐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Return      │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Response    │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└─────────────┘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Metrics: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Hit Rate = Hits / (Hits + Misses)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Average latency: Cache ~1ms, Database ~10ms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Memory usage: Trade-off with performance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Cache Eviction Policies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Deciding What to Keep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CACHE EVICTION POLICIES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LRU (Least Recently Used)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Evicts the least recently accessed item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Works well for most workloads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✗ Memory overhead (timestamps)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LFU (Least Frequently Used)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Evicts the least frequently accessed item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Good for "hot" items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✗ Doesn't adapt to changing patterns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FIFO (First In First Out)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Evicts the oldest item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Simple, low overhead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✗ Not optimal for most workloads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TTL (Time To Live)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Items expire after set time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Good for data with natural expiration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✗ Need to choose appropriate TTL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Comparison: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Policy  │ Hit Rate  │ Overhead  │ Complexity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LRU     │ High      │ Medium    │ Medium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LFU     │ High      │ High      │ High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FIFO    │ Medium    │ Low       │ Low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TTL     │ Medium    │ Low       │ Low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Caching Patterns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When to Use Which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CACHING PATTERNS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Cache-Aside (Lazy Loading)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┌─────────┐   Miss   ┌───────┐   ┌─────────┐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Client  │─────────▶│ Cache │──▶│ Database│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└─────────┘          └───────┘   └─────────┘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Application manages cache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✓ Simple to implement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✗ Cache stampede on misses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Read-Through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┌─────────┐   ┌───────────┐   ┌─────────┐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Client  │──▶│  Cache    │──▶│ Database│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└─────────┘   │ (read-only)│   └─────────┘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Cache handles misses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✓ Consistent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✗ Complexity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Write-Through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┌─────────┐   ┌───────────┐   ┌─────────┐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Client  │──▶│  Cache    │──▶│ Database│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└─────────┘   │ (write)   │   └─────────┘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Cache writes to DB synchronously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✓ Data consistency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✗ Write latency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Write-Behind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┌─────────┐   ┌───────────┐   ┌─────────┐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Client  │──▶│  Cache    │──▶│ Database│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└─────────┘   │ (write)   │   └─────────┘          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Cache writes to DB asynchronously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✓ Fast writes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✗ Data loss risk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Redis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In-Memory Data Store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REDIS ARCHITECTURE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Data Structures: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Strings:  SET key "value"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Hashes:   HSET user:1 name "Alice"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Lists:    LPUSH orders "order1"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Sets:     SADD users "user1"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Sorted Sets: ZADD scores 100 "player1"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Bitmaps:  SETBIT flags 1 1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Streams:  XADD orders * amount 100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Persistence Options: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RDB (Snapshot): Periodic point-in-time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Smaller files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Slower recovery (loss of data)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AOF (Append-Only File): Logs every write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More durable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Larger files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Hybrid: RDB + AOF (recommended)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High Availability: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Redis Sentinel (Master-Slave)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Automatic failover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Minimal downtime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Redis Cluster (Sharding)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Horizontal scaling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Distributed operations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LAKES, LAKEHOUSES, AND MODERN ANALYTICS PLATFORMS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Architecture Evolution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From Warehouse to Lakehouse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DATA ARCHITECTURE EVOLUTION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1990s-2010s: Data Warehouse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Structured Data → ETL → Warehouse → BI Reports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Schema-on-write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High performance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Expensive, proprietary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Limited data types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2010s-2020s: Data Lake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All Data → Data Lake → ELT → Analytics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Schema-on-read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Low cost, scalable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Quality challenges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No ACID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2020s+: Lakehouse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All Data → Open Formats → Lakehouse → Analytics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ACID transactions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Schema enforcement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Time travel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Warehouse performance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Lake flexibility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Lakehouse = Best of Both Worlds!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Medallion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Bronze → Silver → Gold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MEDALLION ARCHITECTURE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BRONZE (Raw Data)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as it arrives from sources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No transformations applied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High volume, high variety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Formats: JSON, CSV, Avro, logs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30 days 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Use: Auditing, reprocessing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SILVER (Cleaned &amp; Validated)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quality checks applied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Schema validation   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Deduplication       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Standardized formats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Formats: Parquet, Delta Lake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90 days 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Use: Data analysis, ML training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GOLD (Curated &amp; Aggregated)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Business-ready data 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Aggregated for analytics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Denormalized for performance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marts and summaries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Formats: Star schemas, aggregated tables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1+ years          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Use: BI dashboards, reporting             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Benefits: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Clear data progression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Traceable data lineage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Quality at each level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Reproducible pipelines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Delta Lake Features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ACID on Data Lakes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DELTA LAKE FEATURES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ACID Transactions: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Atomicity: All or nothing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Consistency: Schema enforcement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Isolation: Snapshot isolation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Durability: Data persists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Time Travel: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Query data as of specific version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SELECT * FROM table VERSION AS OF 10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SELECT * FROM table TIMESTAMP AS OF '2024-01-15'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Audit trail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Rollback capabilities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Schema Enforcement: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Schema validation on write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Schema evolution with merge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Data quality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Predictable schemas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Performance Features: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skipping (min/max stats)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Z-order indexing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Optimized writes (compaction)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Caching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Open Table Formats Comparison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Feature | Delta Lake | Apache Iceberg | Apache Hudi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|---------|------------|----------------|-------------|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Created By | Databricks | Netflix | Uber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ACID Transactions | ✅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Time Travel | ✅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Schema Evolution | ✅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Partition Evolution | ❌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Hidden Partitioning | ✅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Data Skipping | ✅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Merge/Update/Delete | ✅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Compaction | ✅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Primary Key Support | ❌ | ❌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Incremental Processing | ❌ | ✅ | ✅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| Adoption | High | High | Growing |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Choosing the Right Format: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**Delta Lake**: Best for Databricks users, simple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**Iceberg**: Best for open source, multi-engine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**Hudi**: Best for streaming, incremental processing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11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ENTERPRISE DATA HUBS AND DATA MESH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Enterprise Data Hub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Centralized Data Sharing Platform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ENTERPRISE DATA HUB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Producers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┌──────────┐ ┌──────────┐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CRM     │ │  ERP     │ │  Legacy  │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└──────────┘ └──────────┘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│            │            │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└────────────┼────────────┘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▼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┌──────────────────────────────────────┐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   Data Hub Platform   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                        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┌─────────────────────────────────┐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Asset Catalog         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• Discoverable assets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• Metadata management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└─────────────────────────────────┘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┌─────────────────────────────────┐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Data Contracts       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• SLAs               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• Access controls    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└─────────────────────────────────┘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┌─────────────────────────────────┐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Governance            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• Quality rules      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│  • Compliance                  │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└─────────────────────────────────┘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└──────────────────────────────────────┘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│            │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┌────────────┼────────────┘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│            │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▼            ▼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┌──────────┐ ┌──────────┐ ┌──────────┐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│Consumer 1│ │Consumer 2│ │Consumer 3│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│(Analytics)│ │(ML Team)│ │(BI Team)│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└──────────┘ └──────────┘ └──────────┘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Key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Centralized asset discovery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contracts and SLAs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Governance and compliance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Metadata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Access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Mesh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Decentralized Data Ownership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DATA MESH ARCHITECTURE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Domain 1: Sales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Data Product: Customer Master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Data Product: Order History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Owner: Sales Team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Domain 2: Marketing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Data Product: Campaign Performance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Data Product: Audience Segments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Owner: Marketing Team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Domain 3: Engineering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Data Product: Service Health Metrics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Data Product: Error Logs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Owner: Engineering Team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┌──────────────────────────────────────┐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   Mesh Interconnection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• Event-driven integration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• API-first access      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• Federated governance  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│  • Data contracts                    │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└──────────────────────────────────────┘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Principles: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1. Domain ownership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2. Data as a product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3. Self-serve infrastructure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4. Federated governance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Products vs. Data Assets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What's the Difference?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DATA PRODUCTS VS. DATA ASSETS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Data Assets (Traditional)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Raw data in a lake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Uncurated, uncleaned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No clear ownership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Hard to discover and use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No SLAs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Data Products (Data Mesh)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Curated, business-ready data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Clear ownership and stewardship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Published with documentation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Clear schema and quality guarantees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SLAs and contracts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Discoverable via catalog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Accessible via APIs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Data Product Lifecycle: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Plan → Build → Publish → Consume → Iterate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│        │          │          │       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│        │          │          │       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▼        ▼          ▼          ▼          ▼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Design  Pipeline   Catalog   Discover   Improve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Product Example: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Name: Customer 360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Owner: Data Platform Team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Description: Unified customer data across all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Schema: customer_id, name, email, segments, preferences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Quality: 99.5% completeness, 98% 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SLA: Availability 99.9%, Latency &lt;500ms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Access: API, SQL, Kafka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12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METADATA MANAGEMENT AND DATA GOVERNANCE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Metadata Types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Technical, Business, Operational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METADATA TYPES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Technical Metadata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File format: Parquet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Schema: id, name, age, city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Size: 500MB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Location: s3://datalake/customers/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Created: 2024-01-15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Modified: 2024-02-01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Uses: Data integration, optimization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Business Metadata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Description: Customer master data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Owner: Sales Team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Glossary: "Active customer" = purchase in 90d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Sensitivity: PII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Retention: 10 years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Tags: customer, sales, master-data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Uses: Data discovery, governance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Operational Metadata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Last accessed: 2024-02-01 14:30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Access count: 156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Freshness score: 95%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Quality score: 97%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Run frequency: Daily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Processing time: 2 minutes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Error count: 0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Uses: Monitoring, optimization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Lineage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Tracing Data Flow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DATA LINEAGE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End-to-End Lineage: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┌─────────────┐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Source A   │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(Postgres) │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└──────┬──────┘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▼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┌─────────────┐     ┌─────────────┐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ETL Job   │────▶│   ETL Job   │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(Extract) │     │  (Transform)│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└─────────────┘     └─────────────┘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│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┌────────────────────┼────────────────────┐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│                    │                    │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▼                    ▼                    ▼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┌─────────────┐     ┌─────────────┐     ┌─────────────┐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Table A    │     │  Table B    │     │  Table C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(Bronze)   │     │  (Silver)   │     │  (Gold)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└─────────────┘     └─────────────┘     └─────────────┘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│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▼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┌─────────────┐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│  Report     │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│  Dashboard  │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└─────────────┘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Benefits: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Impact analysis (what breaks?)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Data quality (trace issues back)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Compliance (regulatory reporting)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Trust (know where data comes from)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Lineage Visualization Example: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SELECT * FROM gold.customer_summary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WHERE customer_id = 'CUST-001'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Sources: sales.orders → silver.orders → gold.customer_summary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customer.crm → silver.customers → gold.customer_summary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analytics.purchases → gold.customer_summary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Transformations: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- orders: Filter status='completed', aggregate total_spent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- customers: Join with crm data, enrich with segment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- purchases: Last 90 days, compute engagement score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Quality Framework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Measuring and Monitoring Quality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DATA QUALITY FRAMEWORK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Quality Dimensions: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Completeness  │  All required data present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Accuracy     │  Data reflects reality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Consistency  │  Data is consistent across systems│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Timeliness   │  Data is up-to-date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Uniqueness   │  No duplicates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Validity     │  Data conforms to format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Quality Rules: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Rule: Email format validation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check: email ~* '^[A-Za-z0-9._%+-]+@...'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severity: error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threshold: 95%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Rule: Customer segment consistency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check: segment IN ('A','B','C')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severity: warning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threshold: 90%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Quality Metrics: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Overall Score: 96%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├─ Completeness: 99%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├─ Accuracy: 95%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├─ Consistency: 94%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├─ Timeliness: 97%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 Validity: 100%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Data Governance Framework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Policies, Standards, Compliance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DATA GOVERNANCE FRAMEWORK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Governance Components: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Policies &amp; Standards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classification (Public, Internal, etc.)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retention policies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Access control rules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Security standards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Regulatory Compliance: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GDPR (EU)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Right to access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Right to delete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portability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Breach notification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CCPA (California)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Right to know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Right to delete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Right to opt-out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Non-discrimination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HIPAA (Healthcare)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Privacy rule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Security rule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Breach notification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Implementation: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Data catalog with classification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Access control (RBAC)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Audit logging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Data subject request handling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✓ Compliance reporting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13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BUSINESS INTELLIGENCE AND ANALYTICAL ARCHITECTURE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Dimensional Modeling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Star and Snowflake Schemas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DIMENSIONAL MODELING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Star Schema Components: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Fact Table: Sales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sales_amount, quantity, discount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time_key, product_key, customer_key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    │           │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    │           │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▼          ▼           ▼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┌────────────┐ ┌────────────┐ ┌────────────┐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Time Dim   │ │ Product Dim│ │Customer Dim│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Year,      │ │ Name,      │ │ Name,     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Quarter,   │ │ Category,  │ │ Segment,  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Month      │ │ Brand      │ │ Country    │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└────────────┘ └────────────┘ └────────────┘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Key Concepts: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FACT TABLES: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Store quantitative, measurable data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Example: Sales, transactions, clicks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Large, growing, high volume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Fact table: Order items (measures)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DIMENSION TABLES: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Store descriptive, categorical data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Example: Products, customers, time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Smaller, relatively static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Dimension: Customer demographics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Keys: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Surrogate key (SK): Internal, artificial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Natural key (NK): Business identifier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Foreign key (FK): Reference to dimension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Business Intelligence Dashboard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Visualizing Insights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BUSINESS INTELLIGENCE DASHBOARD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Executive Sales Dashboard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╔═══════════╗  ╔═══════════╗  ╔═══════════╗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║  $1.2M   ║  ║  2,500   ║  ║   $480   ║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║ Revenue   ║  ║  Orders  ║  ║ Avg Order║      │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╚═══════════╝  ╚═══════════╝  ╚═══════════╝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▲ 12%          ▲ 8%          ▼ -2%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┌────────────────────┐  ┌────────────────────┐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Revenue by Region │  │  Sales by Product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(Pie Chart)       │  │  (Bar Chart)    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                │  │                 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╭────────────────╮│  │  ██████████ Laptop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│  NA  45%       ││  │  ████████ Phone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│  EU  30%       ││  │  ██████ Tablet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│  APAC 25%      ││  │  ████ Monitor    │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╰────────────────╯│  │  ██ Keyboard    │    │    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└────────────────────┘  └────────────────────┘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┌──────────────────────────────────────────────┐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Revenue Trend (Line Chart)        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$1.5M ████████████████████████████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$1.0M ████████████████████████████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$0.5M ████████████████████████████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$0.0M ████████████████████████████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    Jan Feb Mar Apr May Jun               │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└──────────────────────────────────────────────┘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Widget Types: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KPIs (Metrics)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Charts (Bar, Line, Pie)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Tables (Data grid)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Alerts (Anomalies)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Filters (Interactive)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Semantic Layer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Bridging Data and Business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SEMANTIC LAYER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Purpose: Translate technical data into business concepts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Business Users (Analysts, Executives)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"What was our revenue last quarter?"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"Show me top customers by segment"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Semantic Layer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Business Model: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Revenue = SUM(sales.amount)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Customer Segment = CASE...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YTD = DATE_FILTER(year)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Measures:  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Total Revenue (SUM)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Avg Order Value (AVG)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Customer Count (COUNT DISTINCT)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Dimensions: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Time (Year, Quarter, Month)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Product (Category, Brand)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Customer (Segment, Region)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Technical Data (Data Warehouse/Lake)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sales_fact: (amount, customer_id, product_id)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product_dim: (product_id, category, brand)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customer_dim: (customer_id, segment, region)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Benefits: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Self-service analytics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Consistent metrics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Faster insights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Reduced IT dependency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MACHINE LEARNING DATA ARCHITECTURE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ML Data Pipeline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From Data to Model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ML DATA PIPELINE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Phase 1: Data Collection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Raw data from sources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Batch and streaming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Structured and unstructured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Phase 2: Feature Engineering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Feature extraction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Feature transformation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Feature selection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Store in feature store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Phase 3: Training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Model selection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Hyperparameter tuning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Training and validation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Model evaluation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Phase 4: Deployment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Model serving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Online inference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Batch inference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Monitoring and logging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Phase 5: Continuous Improvement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Model retraining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A/B testing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Performance tracking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Feedback loop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Feature Store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Centralized Feature Management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FEATURE STORE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Offline Store (Training)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Historical features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Batch processing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Parquet/Delta tables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 model training and backtesting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Feature Registry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Feature Definitions: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Name: total_spend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Type: float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Source: orders table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Aggregation: SUM()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Granularity: customer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Online Store (Inference)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Current features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Low latency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Redis/CloudMemory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For model serving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ML Models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Training: Uses offline store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Serving: Uses online store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Benefit: Consistent features across training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Benefits: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Feature reuse across models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Consistency between training and serving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Feature governance and quality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Faster model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Vector Databases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Storing and Searching Embeddings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VECTOR DATABASE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Embeddings (Vector Representations):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"Apple" → [0.12, 0.85, -0.23, 0.45, ...]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"Orange" → [0.15, 0.78, -0.20, 0.50, ...]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"Car" → [-0.10, 0.05, 0.90, -0.15, ...]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Vector Space: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Dim 2 ↑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🔵 Apple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🔵 Orange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🔵 Computer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                🔵 Car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│  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└──────────────────────────────────────────────▶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      Dim 1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Similarity Search: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Query: "Fruit"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Results:  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1. Apple (0.92 similarity)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2. Orange (0.89 similarity)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3. Banana (0.85 similarity)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Use Cases: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Semantic search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Recommendation systems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Anomaly detection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RAG (Retrieval-Augmented Generation)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RAG (Retrieval-Augmented Generation)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Combining Retrieval with LLMs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RAG ARCHITECTURE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User Query: "What is our return policy?"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1. RETRIEVE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Convert query to embedding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Search vector database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• Find relevant documents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2. AUGMENT 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Context:   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"Customers can return products within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 30 days for a full refund"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Prompt:                           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"Based on: {context}, answer: {query}"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3. GENERATE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┌─────────────────────────────────────────────────┐│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LLM: "Our return policy allows returns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│  within 30 days for a full refund."            ││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└─────────────────────────────────────────────────┘│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▼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Response: "Our return policy allows returns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within 30 days for a full refund."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Benefits: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Factual, up-to-date responses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Reduced hallucinations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Source attribution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Domain-specific knowledge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"/>
          <p:cNvSpPr/>
          <p:nvPr/>
        </p:nvSpPr>
        <p:spPr>
          <a:xfrm>
            <a:off x="457200" y="25603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282828"/>
                </a:solidFill>
                <a:effectLst/>
                <a:uFillTx/>
                <a:latin typeface="Helvetica Neue"/>
              </a:rPr>
              <a:t>PART 15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2"/>
          <p:cNvSpPr/>
          <p:nvPr/>
        </p:nvSpPr>
        <p:spPr>
          <a:xfrm>
            <a:off x="457200" y="3108960"/>
            <a:ext cx="1127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ENTERPRISE DATA PLATFORM ARCHITECTURE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Reference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Complete Enterprise Platform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ENTERPRISE DATA PLATFORM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PRESENTATION LAYER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BI Dashboards │ API Gateway │ ML Inference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SEMANTIC LAYER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Semantic Model │ Data Marts │ Metrics Layer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DATA LAKEHOUSE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Gold Layer (Curated, Aggregated)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Silver Layer (Cleaned, Validated)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Bronze Layer (Raw Data)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Formats: Delta Lake / Iceberg / Parquet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INTEGRATION LAYER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ETL Pipelines │ Stream Processing │ CDC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STORAGE LAYER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Object Storage │ Distributed FS │ Database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INFRASTRUCTURE LAYER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Kubernetes │ Monitoring │ Security │ Observability│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GOVERNANCE &amp; METADATA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Data Catalog │ Lineage │ Quality │ Compliance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End-to-End Data Flow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Complete Data Journey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END-TO-END DATA FLOW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1. INGESTION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Sources → Debezium → Kafka → Bronze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Real-time CDC from databases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Batch loads from files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API integrations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2. PROCESSING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Bronze → Spark (ETL) → Silver → Gold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validation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Schema enforcement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quality checks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Aggregations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3. STORAGE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Bronze: Raw data in Delta Lake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Silver: Cleaned data in Parquet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Gold: Curated data in optimized format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4. CONSUMPTION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Gold → Semantic Layer → BI Dashboards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Gold → Feature Store → ML Models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Gold → Data Marts → Self-Service Analytics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│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5. MONITORING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quality monitoring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Pipeline health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SLA tracking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Cost optimization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Production Readiness Checklist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PRODUCTION READINESS CHECKLIST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SECURITY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Encryption at rest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Encryption in transit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Access controls (RBAC)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Audit logging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Security scanning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RELIABILITY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High availability (multi-region)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Disaster recovery plan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Backup strategy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Failover testing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Monitoring and alerts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PERFORMANCE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Query optimization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Caching strategy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Auto-scaling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Load testing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Query monitoring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GOVERNANCE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Data quality rules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Metadata management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Data lineage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Compliance (GDPR, CCPA)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Policy enforcement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OPERATIONS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CI/CD pipeline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Documentation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Runbooks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SLA/SLOs     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✅ Cost monitoring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Future Trends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What's Coming Next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FUTURE TRENDS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1. AI-Native Data Platforms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Built-in embedding support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Vector search native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RAG as a service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Timeline: 2-3 years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2. Real-Time Everything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Streaming as default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Batch as fallback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Sub-second latency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Timeline: 1-2 years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3. Data Mesh Maturity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Wider adoption  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Domain-driven design standard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product marketplaces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Timeline: 3-5 years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4. Open Table Formats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Iceberg becoming standard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Vendor lock-in decreasing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Multi-engine support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Timeline: 1-2 years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5. Data Observability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reliability as standard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Automated quality monitoring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Self-healing pipelines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Timeline: 2-3 years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6. Zero-ETL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Direct querying of raw data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ELT replacing ETL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Federation first 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Timeline: 3-5 years      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Key Takeaways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What You've Learned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KEY TAKEAWAYS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1. Data Architecture is About Flow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From sources to insights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Clean, validated, and governed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2. Choose the Right Tool for the Job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OLTP vs. OLAP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Row-based vs. Columnar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Data Lake vs. Warehouse vs. Lakehouse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3. Governance is Not Optional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Build it in from day one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Data quality, metadata, lineage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4. Modern Data is Polyglot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Multiple technologies working together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Right tool for each job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5. The Medallion Architecture is Your Friend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Bronze → Silver → Gold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Clear progression from raw to curated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6. Start Simple, Scale When Needed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Don't over-engineer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Add complexity when required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7. Future-Proof with Open Formats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Avoid vendor lock-in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Use Delta Lake, Iceberg, Parquet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8. Lakehouses are the Future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Best of both worlds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Flexibility + Performance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• ACID on data lakes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Next Steps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Continuing Your Journey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NEXT STEPS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Continue Learning: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Deep dive into open table formats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  (Iceberg, Delta Lake, Hudi)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Advanced streaming (Flink, Pulsar)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MLOps (Kubeflow, MLflow)   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Data governance tools (Collibra, Alation)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Cloud-native data platforms  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Build Your Own Platform: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Use the patterns from this series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Adapt to your organization's needs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Start small, iterate quickly  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Share your learnings with your team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Contribute and Grow: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Contribute to open-source data projects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Join data architecture communities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Stay current with emerging trends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Mentor others in data architecture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Resources: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┌─────────────────────────────────────────────────────┐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All code is available on GitHub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Appendices contain reference materials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│  • Community forums for questions                  │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└─────────────────────────────────────────────────────┘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1"/>
          <p:cNvSpPr/>
          <p:nvPr/>
        </p:nvSpPr>
        <p:spPr>
          <a:xfrm>
            <a:off x="548640" y="365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Thank You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"/>
          <p:cNvSpPr/>
          <p:nvPr/>
        </p:nvSpPr>
        <p:spPr>
          <a:xfrm>
            <a:off x="548640" y="118872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Series Complete!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THANK YOU!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Mastering Modern Data Architecture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15 Parts + 5 Appendices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45+ Python Implementation Files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20+ Configuration Files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10+ Docker Services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Complete Production-Ready Code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Comprehensive Inline Comments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Verification Steps for Every Part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Keep Building, Keep Learning! 🚀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Appendix: Quick Reference Slides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A1: Key Architecture Patterns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QUICK REFERENCE: ARCHITECTURE PATTERNS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STORAGE PATTERNS: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Data Lake: Raw, flexible, schema-on-read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Data Warehouse: Curated, fast, schema-on-write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Lakehouse: Best of both, ACID on lake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PROCESSING PATTERNS: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ETL: Extract → Transform → Load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ELT: Extract → Load → Transform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Reverse ETL: Analytics → Operational Systems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CDC: Real-time change capture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CONSISTENCY MODELS: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Strong: All reads see latest writes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Eventual: Converges over time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Read-Your-Writes: Writer sees own writes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Causal: Operation ordering maintained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SCALING APPROACHES: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Vertical: Add more resources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Horizontal: Add more machines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• Elastic: Automatic scaling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A2: Technology Stack 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QUICK REFERENCE: TECHNOLOGY STACK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                          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DATABASES:        PostgreSQL, MySQL, MongoDB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STORAGE:          MinIO, HDFS, S3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FORMATS:          Parquet, ORC, Avro, Delta, Iceberg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PROCESSING:       Spark, Trino, DuckDB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STREAMING:        Kafka, Debezium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ORCHESTRATION:    Airflow        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CACHING:          Redis, Memcached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BI:               Superset, Streamlit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MONITORING:       Prometheus, Grafana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ML:               Feature Store, Vector DB, RAG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│  INFRASTRUCTURE:   Docker, Kubernetes, Terraform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  <a:spcAft>
                <a:spcPts val="1001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End of Slide Deck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2026-08-03T04:38:38Z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