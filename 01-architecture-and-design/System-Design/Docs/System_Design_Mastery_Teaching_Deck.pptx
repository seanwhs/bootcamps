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</p:sldIdLst>
  <p:notesMasterIdLst>
    <p:notesMasterId r:id="rId29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notesMaster" Target="notesMasters/notesMaster1.xml"/><Relationship Id="rId293" Type="http://schemas.openxmlformats.org/officeDocument/2006/relationships/presProps" Target="presProps.xml"/><Relationship Id="rId294" Type="http://schemas.openxmlformats.org/officeDocument/2006/relationships/viewProps" Target="viewProps.xml"/><Relationship Id="rId295" Type="http://schemas.openxmlformats.org/officeDocument/2006/relationships/theme" Target="theme/theme1.xml"/><Relationship Id="rId296" Type="http://schemas.openxmlformats.org/officeDocument/2006/relationships/tableStyles" Target="tableStyles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Mastery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Code to Distributed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Deck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Minimalist edition — black text on white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Goals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intuition for how data and requests move through systems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about bottlenecks, failure modes, and trade-offs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 a simple app into a resilient, scalable platform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for system design interviews and real architecture 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conceptual mastery over pattern memorization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engineers aiming for senior or staff levels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developers seeking deeper backend and infrastructure understanding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preparing for system design interviews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who prefers reasoning over rote pattern recall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Deck Is Organized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— Introduction and scope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1–8 — Core technical modules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primer concepts integrated throughout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 frameworks and checklists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synthesis and practice guidance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Deck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per slide where possible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for discussion after section dividers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Student Workbook exercises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Student Notes for quick review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timed designs from Appendix G prompts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Series 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practical, engineering-first path through system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collection of memorized interview patterns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data flow, bottlenecks, failure, and evolution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scenarios and explicit trade-off analysis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Be Able to Do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high-level architectures and defend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what breaks first when traffic grows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consistency, storage, and communication styles deliberately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reliability patterns under partial failure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designs clearly in interviews and design reviews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Architecture Shape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→ DNS + CDN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 / API gateway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application tier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Caches and async workers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 stores (SQL + NoSQL as needed)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Observability, security, and operational controls throughout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Code-heavy and complete where implementation appears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Beginner-friendly explanations with expert-quality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progression — every step builds on the previous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steps so you can confirm understanding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dives isolated so the main narrative stays practical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Scalable Systems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 common vocabulary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latency vs throughput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vertical and horizontal scaling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anatomy of a request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Internalize CAP and PACELC trade-offs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a single request to complete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milliseconds (or microseconds)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User-facing goal is often under 100–200 ms p99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hop in the path adds latency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the system can handle per unit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expressed as RPS or QPS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can have good latency and poor throughput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high throughput with painful latency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 of time the system is usable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expressed in nines (99.9% = three nines)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allows roughly 43 minutes downtime per month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nines are exponentially more expensive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that a completed request is correct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 availability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can be up and still return wrong answers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under failure matters as much as uptime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vs Throughput — Analogy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= how long you wait for your coffee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= how many coffees the shop serves per hour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one does not automatically improve the other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must target both under real load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vs Horizontal Scaling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(scale up)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machine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CPU, RAM, disk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but limited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of failure risk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(scale out)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machines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distribution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statelessness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at large scale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Bottleneck Order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— heavy computation or inefficient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— large structures or connection pools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I/O — database writes or logging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— bandwidth or connection limits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connections and locks — classic late-stage fire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Request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DNS lookup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CDN / edge (static or cached content)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Load balancer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Application server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Cache check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Database or external service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Response path back to client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Theorem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network partition, choose at most two of: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— every read sees the latest write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— every request gets a non-error response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tolerance — system continues despite splits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 happen; you effectively choose CP or AP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PACELC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Partition → choose Availability or Consistency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(no partition) → choose Latency or Consistency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the normal-case trade-off CAP omits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systems offer tunable consistency for this reason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Key Takeaways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latency and throughput separately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scaling needs stateless services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request path and where time is spent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vs availability is a deliberate choice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breaks first when traffic grows 10×?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Networking, Traffic Management &amp; Service Communication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balancing strategies and L4 vs L7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gateways, rate limiting, circuit breaking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and CDN roles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vs asynchronous communication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safely handle large concurrent traffic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 Role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client connections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Chooses a healthy backend instance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Forwards traffic and returns the response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the fleet behind a single address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vs L7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and port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HTTP awareness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whole connections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HTTP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and header routing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termination possible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Slightly higher cost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Balancing Algorithms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Round-robin — cycle through instances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connections — prefer least busy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hashing — same key → same instance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response time — prefer currently fast instances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variants for heterogeneous fleets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Liveness: is the process alive? (restart if not)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Readiness: is it ready for traffic right now?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Unhealthy instances are removed from the pool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zero-downtime deployments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Responsibilities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to the correct service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termination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and authorization checks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Request/response transformation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place for cross-cutting policy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Purpose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backends from overload and abuse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per-user, per-tenant, or per-IP quotas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fair usage in multi-tenant systems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429 with Retry-After when exceeded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Bucket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holds up to N tokens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refill at a steady rate 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request costs one token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controlled bursts up to capacity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and widely used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requests in the last T seconds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when the count would exceed the limit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than fixed windows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 more memory (especially log-based variants)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Role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names to addresses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controls how long answers are cached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TTL enables faster failover at the cost of more queries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and latency-based routing possible at DNS layer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Role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Caches content near users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static assets (JS, CSS, images, video)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also cache some dynamic or semi-static responses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origin load and improves latency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vs Async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 waits for result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reason about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includes callee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 feels callee failures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 continues immediately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scaling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idempotency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and retries to manage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Prefer Synchronous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needs the result before continuing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is fast and reliable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consistency or immediate confirmation required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graph is simple and debuggability matters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Prefer Asynchronous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is not required for the immediate response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is slow, bursty, or resource-heavy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fan-out is needed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to protect the critical path from downstream load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Key Takeaways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L4 or L7 based on routing needs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rate limiting and auth at the edge and gateway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for static; origin for personalized dynamic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async for non-critical 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design for retries and overload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Storage, Databases &amp; Consistency</a:t>
            </a:r>
            <a:endParaRPr lang="en-US"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storage by access pattern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indexing, replicas, sharding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Saga and 2PC concepts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consistency models deliberately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product features to data strategies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/ Relational Strengths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Multi-row transactions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joins and constraints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consistency by default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tooling and query optimizers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 unless you have a clear reason not to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Stores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schemas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fit for nested aggregates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frequent whole-document reads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Weaker multi-document transaction support in many systems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Key-Value Stores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lookup by key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high throughput and low latency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sessions, caches, simple entities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fit for secondary indexes or complex queries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Columnar / Wide-Column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large scans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and high-write workloads (some systems)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storage layout optimized for aggregates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ideal for highly transactional single-row updates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Stores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Relationship-heavy queries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Recommendations, social graphs, dependency graphs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replaced by relational + recursive queries in moderate cases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cost rises at very large scale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side structure that avoids full scans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Speeds lookups, ranges, and ordering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index adds write cost and storage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index column order matters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Replicas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of the primary used for reads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read 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replication lag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substitute for proper caching of hot data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Sharding / Partitioning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data across machines by a partition key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should appear in most queries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hot partitions and uneven distribution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Cross-shard operations become harder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Hashing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Minimizes key movement when nodes change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nodes improve balance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for caches and some databases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 a plan for hot keys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Commit (2PC)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phase then commit phase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consistency across participants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and coordinator is a risk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preferred across service boundaries today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 Pattern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local transactions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has a compensating 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global lock; eventual consistency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approach for multi-service workflows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Consistency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write completes, every read sees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correctness reasoning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coordination cost and latency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money, inventory, uniqueness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writes stop, all readers eventually agree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availability and often lower latency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must tolerate temporary staleness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counts, feeds, catalogs,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Read-Your-Writes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 always sees its own writes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after profile edits, settings changes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achieved with sticky routing or version awareness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Weaker than full strong consistency but often sufficient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Key Takeaways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storage from access patterns, not fashion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deliberately; measure write impact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by a key that matches query patterns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Saga over 2PC for most service workflows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is per data type, not per system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Caching &amp; State Management</a:t>
            </a:r>
            <a:endParaRPr lang="en-US" sz="2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caches at the right layers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cache-aside and related patterns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async processing for non-critical 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application tiers stateless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classic cache failure modes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Placement Layers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— per user, static and some API responses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/ edge — shared, geographic proximity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(Redis etc.) — shared across app instances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buffer pool — internal to the DB engine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Cache-Aside Pattern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checks cache first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miss: load from DB, populate cache, return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write: update DB and invalidate or update cache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application-level pattern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Write-Through and Write-Behind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Write-through: write cache and DB together — always fresh, higher write latency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Write-behind: write cache, flush DB later — fast writes, durability risk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based on freshness vs write-speed needs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 Policies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LRU — discard least recently used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LFU — discard least frequently used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— time-based expiration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TTL with size-based eviction in practice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Stampede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key expires; many requests miss at once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hit the database simultaneously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 with single-flight, early refresh, locks, or soft TTL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Services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client-specific state in process memory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instance can handle any request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free horizontal scaling and simple failover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sessions, carts, and uploads to external stores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Processing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request, do critical work, enqueue the rest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process email, analytics, indexing, notifications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user-facing latency low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idempotency and lag monitoring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Key Takeaways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close to the reader when data allows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Cache-aside is the default application pattern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against stampedes on hot keys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app servers stateless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non-critical work off the request path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Scaling, Reliability &amp; Fault Tolerance</a:t>
            </a:r>
            <a:endParaRPr lang="en-US" sz="2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scaling and partitioning at scale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Redundancy, failover, bulkheads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Retries, idempotency, circuit breakers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metrics, logs, traces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in failure modes, not only happy paths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Scaling 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instances behind a load balancer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stateless app tier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needs partitioning or replication strategy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hashing reduces rebalancing pain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and Failover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multiple instances of every critical component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 drive automatic removal of bad instances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should be tested, not assumed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single points of failure in the design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Bulkheads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resources so one failure cannot sink everything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thread pools, connection pools, queues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blast radius of slow or failing dependencies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compartments analogy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remote call needs an explicit timeout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threads from blocking forever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shorter than the caller’s own timeout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line of defense against slow dependencies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with Backoff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transient failures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 increases delay between attempts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 randomizes delay to avoid synchronized storms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attempts and total retry time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the operation multiple times has the same effect as once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whenever retries or at-least-once delivery exist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Techniques: idempotency keys, unique constraints, state checks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payments, orders, and any side-effecting write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Closed: calls flow normally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fail fast without calling the dependency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Half-open: allow test calls to probe recovery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the caller and gives the dependency breathing room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Back-Pressure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signals upstream to slow down when overloaded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queues instead of unbounded growth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shedding returns errors early under extreme 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silent memory exhaustion and collapse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core user value when non-critical parts fail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 recommendations, serve cached data, read-only mode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identifying critical path in advance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 should be deliberate and observable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 Revisited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failure → restart the instance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failure → stop sending traffic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must not depend on deep external services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should reflect ability to do useful work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measurements over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signals: latency, traffic, errors, saturation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dashboards and alerting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cardinality under control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events with context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structured JSON with consistent fields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request / trace IDs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log secrets or sensitive PII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of a single request across services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 show timing and causality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context propagation (trace ID in headers)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to control cost; always keep errors and slow traces</a:t>
            </a:r>
            <a:endParaRPr lang="en-US" sz="15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SLI, SLO, Error Budget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 — the measurement (e.g., success ratio)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 — the target (e.g., 99.9% over 30 days)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budget — allowed unreliability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budget to guide release risk and reliability investment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— Key Takeaways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failure from the start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Timeouts, retries, idempotency, circuit breakers, bulkheads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queues and back-pressure prevent collapse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golden signals and user-facing SLIs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happens when this component dies?</a:t>
            </a:r>
            <a:endParaRPr lang="en-US" sz="15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Isolation &amp; Production Engineering</a:t>
            </a:r>
            <a:endParaRPr lang="en-US" sz="2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and service identity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and authorization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deployments and migrations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Principle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trust; always verify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and authorize every request, even internal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at every hop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in transit as the default</a:t>
            </a:r>
            <a:endParaRPr lang="en-US" sz="15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vs Authorization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 Who are you?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Authorization: What are you allowed to do?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authenticate first, then authorize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on the server, never only in the UI</a:t>
            </a:r>
            <a:endParaRPr lang="en-US" sz="15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Management Rules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store secrets in git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bake secrets into images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at runtime from a secret manager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and rotatable credentials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short-lived or dynamic secrets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Data Isolation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carries tenant identity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filters by tenant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 the filter so it cannot be forgotten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keys must include tenant identity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Noisy-Neighbor Protection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Per-tenant rate limits and quotas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connection or worker pools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resources for very large tenants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or throttle under overload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Placement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CDN — coarse DDoS and abuse protection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— consistent per-key / per-user limits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— business-specific limits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expensive dependencies — protect them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Deployment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instances in batches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extra resource cost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and new versions coexist briefly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backward compatibility</a:t>
            </a:r>
            <a:endParaRPr lang="en-US" sz="15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Deployment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small percentage of traffic to the new version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metrics; expand or roll 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initial blast radius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good observability and automated analysis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Blue-Green Deployment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full environments; switch traffic in one step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 rollback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infrastructure cost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needs careful data migration handling</a:t>
            </a:r>
            <a:endParaRPr lang="en-US" sz="15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switches for behavior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 deployment from release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exposure and instant kill switches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release flags after full rollout</a:t>
            </a:r>
            <a:endParaRPr lang="en-US" sz="15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/ Contract Migrations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form (expand)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write / dual publish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Backfill and switch readers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old form (contract)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system compatible throughout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Launch Minimum Bar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Timeouts, retries, idempotency on critical writes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 and basic metrics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everywhere; secrets from a manager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deploy with tested rollback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rate limiting and tested backups</a:t>
            </a:r>
            <a:endParaRPr lang="en-US" sz="15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— Key Takeaways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and authorize every request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never in code or images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tenants for data and performance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progressively; migrate with expand/contract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Operability is part of the design</a:t>
            </a:r>
            <a:endParaRPr lang="en-US" sz="15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Architectural Blueprints</a:t>
            </a:r>
            <a:endParaRPr lang="en-US" sz="2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prior modules into end-to-end designs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trade-off analysis on familiar systems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shortener, notifications, rate limiter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feed, ride dispatch, video streaming sketches</a:t>
            </a:r>
            <a:endParaRPr lang="en-US" sz="15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Shortener — Requirements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short links from long URLs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with very low latency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read-to-write ratio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analytics and custom aliases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Shortener — Key Decisions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generation: counter or hash with collision handling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key-value or simple relational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hot redirects aggressively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uniqueness on create; eventual OK for counts</a:t>
            </a:r>
            <a:endParaRPr lang="en-US" sz="15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Engine — Requirements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delivery (email, push, SMS)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from one event to many deliveries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At-least-once with idempotency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Engine — Key Decisions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workers per channel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send with deduplication keys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with backoff; dead-letter for permanent failures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user preferences and quiet hours</a:t>
            </a:r>
            <a:endParaRPr lang="en-US" sz="15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Limiter Service — Requirements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/ per-IP / per-key limits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latency decision path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across many application nodes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429 behavior</a:t>
            </a:r>
            <a:endParaRPr lang="en-US" sz="15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Limiter — Key Decisions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bucket or sliding window in Redis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store so limits are global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Fail-open or fail-closed policy under store failure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remaining quota in headers</a:t>
            </a:r>
            <a:endParaRPr lang="en-US" sz="15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System — Sketch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connections for real-time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ordering per conversation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to online members; durable store for offline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service; media via object storage</a:t>
            </a:r>
            <a:endParaRPr lang="en-US" sz="15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Feed — Sketch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fan-out: push for normal users, pull for celebrities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cache per user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as a separate concern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 for feed; strong for the post itself</a:t>
            </a:r>
            <a:endParaRPr lang="en-US" sz="15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Dispatch — Sketch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Geo-index drivers (geohash / S2)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with short-lived locks to avoid double booking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state machine with timeouts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by city or geo ranges</a:t>
            </a:r>
            <a:endParaRPr lang="en-US" sz="15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Streaming — Sketch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object storage → async transcoding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for playback; adaptive bitrate manifests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in document or relational store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URLs or tokens for authorized access</a:t>
            </a:r>
            <a:endParaRPr lang="en-US" sz="15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Method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requirements and scale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high-level flow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data model and partition key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caching and async boundaries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with rate limits, timeouts, circuit breakers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failure modes and observability</a:t>
            </a:r>
            <a:endParaRPr lang="en-US" sz="15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— Key Takeaways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building blocks recombine for different products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identify the hardest part of the specific prompt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Celebrity / hot-key problems appear repeatedly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and isolation choices drive the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full blueprints under time pressure</a:t>
            </a:r>
            <a:endParaRPr lang="en-US" sz="15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Interview &amp; Real-World Decision-Making</a:t>
            </a:r>
            <a:endParaRPr lang="en-US" sz="2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6-step framework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the conversation under time pressure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problems and grading dimensions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interview skill into day-to-day architecture</a:t>
            </a:r>
            <a:endParaRPr lang="en-US" sz="15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6-Step Framework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Clarify and scope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Back-of-the-envelope estimates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High-level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Deep dives on hardest parts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Trade-offs and alternatives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Evolution and observability</a:t>
            </a:r>
            <a:endParaRPr lang="en-US" sz="15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Clarify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Non-functional: latency, QPS, consistency, availability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out-of-scope items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assumptions out loud</a:t>
            </a:r>
            <a:endParaRPr lang="en-US" sz="15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Estimates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QPS average and peak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size over years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Read/write ratio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numbers to drive later choices</a:t>
            </a:r>
            <a:endParaRPr lang="en-US" sz="15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High-Level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components and primary data flow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vs async boundaries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model and partition key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with the interviewer before deep dives</a:t>
            </a:r>
            <a:endParaRPr lang="en-US" sz="15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Deep Dives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2–3 hardest areas for this problem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model, scaling, consistency, failure modes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concrete: algorithms, keys, failure behavior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staying only on the easy CRUD path</a:t>
            </a:r>
            <a:endParaRPr lang="en-US" sz="15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Trade-offs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what you optimized for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what you sacrificed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 at least one rejected alternative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judgment, not just a single path</a:t>
            </a:r>
            <a:endParaRPr lang="en-US" sz="15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Evolution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design grows to 10×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and alerts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 and next risks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 clear final picture</a:t>
            </a:r>
            <a:endParaRPr lang="en-US" sz="15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Dimensions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scoping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and scale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design clarity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on critical areas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and reliability thinking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awareness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and collaboration</a:t>
            </a:r>
            <a:endParaRPr lang="en-US" sz="15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Jumping into components before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numbers or numbers never used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failure modes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all data as strongly consistent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Over-engineering the MVP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assumptions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name-dropping without justification</a:t>
            </a:r>
            <a:endParaRPr lang="en-US" sz="15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Communication Habits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assumptions out loud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“we” language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after high-level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clean labeled diagrams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trade-offs explicitly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stuck, narrate the tension you see</a:t>
            </a:r>
            <a:endParaRPr lang="en-US" sz="15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Translating to Real 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→ Goals / Non-goals in RFCs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→ Capacity and cost models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→ Alternatives considered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 → Operability sections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muscles, longer time horizon</a:t>
            </a:r>
            <a:endParaRPr lang="en-US" sz="15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— Key Takeaways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beats improvisation under pressure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on the hardest part matters most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and failure modes separate senior answers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timed designs and self-score with a rubric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discipline improves real design reviews</a:t>
            </a:r>
            <a:endParaRPr lang="en-US" sz="15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Concepts Condensed</a:t>
            </a:r>
            <a:endParaRPr lang="en-US" sz="28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Themes Covered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Latency, throughput, request path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Processes, threads, statelessness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Indexes, consistency models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TLS, load balancers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Caching, sync/async, fan-out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Idempotency, timeouts, retries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breakers, bulkheads, back-pressure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checks, observability, SLOs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Deployments, feature flags, migrations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Secrets, multi-tenancy, rate limiting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vs authz, messaging semantics</a:t>
            </a:r>
            <a:endParaRPr lang="en-US" sz="15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—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effect whether executed once or many times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for safe retries and at-least-once messaging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Keys, unique constraints, state checks, upserts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Non-idempotent writes + retries = duplicate side effects</a:t>
            </a:r>
            <a:endParaRPr lang="en-US" sz="15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—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→ Open → Half-Open → Closed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 when dependency is unhealthy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caller resources; allows dependency recovery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timeouts, retries, and fallbacks</a:t>
            </a:r>
            <a:endParaRPr lang="en-US" sz="15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Bulkhead —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resources by workload or dependency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pools and queues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failure cannot consume everything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Complements circuit breakers</a:t>
            </a:r>
            <a:endParaRPr lang="en-US" sz="15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Back-Pressure —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upstream to slow down when overloaded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queues are essential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shedding under extreme pressure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unbounded memory growth</a:t>
            </a:r>
            <a:endParaRPr lang="en-US" sz="15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—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event becomes many pieces of 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(write) vs pull (read) vs hybrid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Celebrity / hot-key problem is the classic trap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combined with async processing</a:t>
            </a:r>
            <a:endParaRPr lang="en-US" sz="15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Semantics —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At-most-once: may lose, no duplicates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At-least-once: no loss, may duplicate — needs idempotency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Exactly-once: hard; usually at-least-once + idempotency in practice</a:t>
            </a:r>
            <a:endParaRPr lang="en-US" sz="15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Expand/Contract —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(expand) → dual write → backfill → switch reads → remove old (contract)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zero-downtime schema and API evolution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big-bang destructive changes while old code runs</a:t>
            </a:r>
            <a:endParaRPr lang="en-US" sz="15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Multi-Tenancy —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isolation: never leak across tenants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isolation: noisy-neighbor controls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filter everywhere; per-tenant limits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client-supplied tenant ID alone</a:t>
            </a:r>
            <a:endParaRPr lang="en-US" sz="15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Tools &amp; Checklists</a:t>
            </a:r>
            <a:endParaRPr lang="en-US" sz="28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Decision Flow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queries look like?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need multi-row transactions?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shape document-like or tabular?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lookup primarily by key?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workload analytical?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simplest store that fits</a:t>
            </a:r>
            <a:endParaRPr lang="en-US" sz="15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Decision Flow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wrong if a reader sees stale data?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money or inventory is wrong → strong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counter is briefly wrong → eventual often OK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writer need to see their own write immediately?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per data type</a:t>
            </a:r>
            <a:endParaRPr lang="en-US" sz="15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vs Async Decision Flow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user need the result now?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work slow or fan-out heavy?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failure be handled later with retries?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 to later handling → prefer async</a:t>
            </a:r>
            <a:endParaRPr lang="en-US" sz="15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Failure-Mode Checklist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this instance disappears?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this dependency is slow?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this dependency returns errors?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traffic multiplies by 10×?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detect each case?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recover?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blast radius?</a:t>
            </a:r>
            <a:endParaRPr lang="en-US" sz="15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 Snapshot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 and retries on critical paths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for side-effecting writes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 and golden signals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injected at runtime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deploy with rollback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and tenant isolation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backup/restore</a:t>
            </a:r>
            <a:endParaRPr lang="en-US" sz="15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Self-Score Dimensions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scoping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 and scale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on critical areas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and reliability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and alternatives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5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 Practice Guidance</a:t>
            </a:r>
            <a:endParaRPr lang="en-US" sz="28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Loop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prompt from the practice 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6-step framework under a timer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Self-score with the rubric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gaps and revisit primers or parts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Repeat; track scores over time</a:t>
            </a:r>
            <a:endParaRPr lang="en-US" sz="15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Prompts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shortener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Pastebin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limiter service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feed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system</a:t>
            </a:r>
            <a:endParaRPr lang="en-US" sz="15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Prompts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Ride-sharing dispatch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streaming platform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document editor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checkout and inventory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autocomplete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metrics platform</a:t>
            </a:r>
            <a:endParaRPr lang="en-US" sz="15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Practice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I skip in the framework?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estimates influence decisions?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discuss failure modes?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name trade-offs?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single highest-leverage improvement?</a:t>
            </a:r>
            <a:endParaRPr lang="en-US" sz="15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Theme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real-time collaborative task platform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multi-tenancy, real-time, consistency, search, notifications, files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final integrative assessment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against the full rubric and isolation checklist</a:t>
            </a:r>
            <a:endParaRPr lang="en-US" sz="15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28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Have Built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vocabulary and mental models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Traffic, data, cache, and async patterns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and isolation toolkit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production practices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method and interview framework</a:t>
            </a:r>
            <a:endParaRPr lang="en-US" sz="15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Questions for Any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critical user journeys?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scale numbers?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state live?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consistency does each piece of data need?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be cached or made async?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X fails?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isolate tenants and observe the system?</a:t>
            </a:r>
            <a:endParaRPr lang="en-US" sz="15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Habits That Compound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assumptions explicitly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numbers over adjectives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trade-offs out loud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failure before polishing the happy path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app tiers stateless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user-facing signals</a:t>
            </a:r>
            <a:endParaRPr lang="en-US" sz="15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the Student Workbook sections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timed designs weekly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Capstone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anti-pattern primers before design reviews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same framework to real RFCs and incidents</a:t>
            </a:r>
            <a:endParaRPr lang="en-US" sz="15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not to memorize architectures.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to reason clearly under constraints.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Mastery</a:t>
            </a:r>
            <a:endParaRPr lang="en-US" sz="14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Teaching Deck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Mastery</a:t>
            </a:r>
            <a:endParaRPr lang="en-US" sz="1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Companion List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series Parts 0–8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Appendices A–L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Primers A–AE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Workbook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Notes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and Test Bank</a:t>
            </a:r>
            <a:endParaRPr lang="en-US" sz="15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with diagrams and discussion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under time pressure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honestly and iterate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the questions into real systems</a:t>
            </a:r>
            <a:endParaRPr lang="en-US" sz="15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Expanded</a:t>
            </a:r>
            <a:endParaRPr lang="en-US" sz="28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Budgets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to edge: tens of 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to origin same region: low 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cache: sub-ms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point lookup: low 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User-facing p99 often &lt; 100–200 ms</a:t>
            </a:r>
            <a:endParaRPr lang="en-US" sz="15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Math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QPS ≈ DAU × actions per user per day / 86400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estimate peak as well as average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often 2–5× average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Headroom of 30–50% is prudent</a:t>
            </a:r>
            <a:endParaRPr lang="en-US" sz="15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Math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≈ 7.3 hours downtime/month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≈ 43 minutes/month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≈ 4.3 minutes/month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nine is roughly 10× harder</a:t>
            </a:r>
            <a:endParaRPr lang="en-US" sz="15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Checklist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in-memory sessions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disk as source of truth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sticky-session requirement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durable state externalized</a:t>
            </a:r>
            <a:endParaRPr lang="en-US" sz="15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Path Checklist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TTL strategy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cache policy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 algorithm and health checks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timeouts to dependencies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hit/miss path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query plan and indexes</a:t>
            </a:r>
            <a:endParaRPr lang="en-US" sz="15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Expanded</a:t>
            </a:r>
            <a:endParaRPr lang="en-US" sz="28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Sessions Risks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Complicates scaling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Painful instance replacement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external session store</a:t>
            </a:r>
            <a:endParaRPr lang="en-US" sz="15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Termination Points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CDN or gateway: simpler cert management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 stronger internal security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for service identity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based on threat model</a:t>
            </a:r>
            <a:endParaRPr lang="en-US" sz="15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vs Service Mesh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Gateway: north-south, edge policy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Mesh: east-west, service identity and mTLS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used together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must be justified</a:t>
            </a:r>
            <a:endParaRPr lang="en-US" sz="15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Dimensions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— coarse, shared NAT issues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— fairer for authenticated traffic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— multi-tenant protection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— last line of defense</a:t>
            </a:r>
            <a:endParaRPr lang="en-US" sz="15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Boundary Examples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and push after signup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index updates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events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Thumbnail generation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notifications</a:t>
            </a:r>
            <a:endParaRPr lang="en-US" sz="15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Expanded</a:t>
            </a:r>
            <a:endParaRPr lang="en-US" sz="28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Design Tips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selective columns used in filters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column of composite index must match query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over-indexing write-heavy tables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unused indexes</a:t>
            </a:r>
            <a:endParaRPr lang="en-US" sz="15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Key Mitigations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caching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salting / spreading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coalescing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replicas for popular keys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Special-case celebrity logic</a:t>
            </a:r>
            <a:endParaRPr lang="en-US" sz="15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Lag Handling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Read-your-writes routing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staleness SLOs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to primary on read-after-write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lag and alert</a:t>
            </a:r>
            <a:endParaRPr lang="en-US" sz="15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 Design Tips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each step idempotent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compensations first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orchestration for complex flows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state for recovery</a:t>
            </a:r>
            <a:endParaRPr lang="en-US" sz="15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Per Feature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total: strong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reserve: strong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confirmation email: eventual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list: eventual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self-view: read-your-writes</a:t>
            </a:r>
            <a:endParaRPr lang="en-US" sz="15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&amp; Async Expanded</a:t>
            </a:r>
            <a:endParaRPr lang="en-US" sz="28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Key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tenant and user where needed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or hash content for static assets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unbounded key growth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TTL and invalidation rules</a:t>
            </a:r>
            <a:endParaRPr lang="en-US" sz="15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Invalidation Strategies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on write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on write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TTL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keys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based on staleness cost</a:t>
            </a:r>
            <a:endParaRPr lang="en-US" sz="15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Design Tips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the queue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Dead-letter after N failures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consumers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depth and 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critical and non-critical queues</a:t>
            </a:r>
            <a:endParaRPr lang="en-US" sz="15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Hybrid Rules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when audience is bounded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when audience is huge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 for active users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amplification</a:t>
            </a:r>
            <a:endParaRPr lang="en-US" sz="15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Migration Path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session to Redis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uploads to object storage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local temp state with durable store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sticky sessions from LB</a:t>
            </a:r>
            <a:endParaRPr lang="en-US" sz="15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Expanded</a:t>
            </a:r>
            <a:endParaRPr lang="en-US" sz="28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Hierarchy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call timeout &lt; caller budget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margin for retries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budgets per dependency class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inherit infinite defaults</a:t>
            </a:r>
            <a:endParaRPr lang="en-US" sz="15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Policy Template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attempts: 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 with full jitter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transient errors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operations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total retry time</a:t>
            </a:r>
            <a:endParaRPr lang="en-US" sz="15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Settings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threshold and window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duration before half-open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threshold to close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on state transitions</a:t>
            </a:r>
            <a:endParaRPr lang="en-US" sz="15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Bulkhead Examples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pool for payments vs recommendations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queue for exports vs interactive 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Per-tenant concurrency caps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third-party calls</a:t>
            </a:r>
            <a:endParaRPr lang="en-US" sz="15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 Playbook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critical path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Pre-agree fallback UX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for shedding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when degraded mode is active</a:t>
            </a:r>
            <a:endParaRPr lang="en-US" sz="15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Ops Expanded</a:t>
            </a:r>
            <a:endParaRPr lang="en-US" sz="28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Patterns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/ OAuth2 for users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or workload identity for services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 tokens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audience and expiry</a:t>
            </a:r>
            <a:endParaRPr lang="en-US" sz="15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Authz Patterns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for coarse roles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checks for object access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membership always verified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by default</a:t>
            </a:r>
            <a:endParaRPr lang="en-US" sz="15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Rotation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Dual-accept during transition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where possible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TTLs reduce blast radius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access</a:t>
            </a:r>
            <a:endParaRPr lang="en-US" sz="15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Analysis Signals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vs baseline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percentiles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metrics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KPIs if available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rollback thresholds</a:t>
            </a:r>
            <a:endParaRPr lang="en-US" sz="15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Hygiene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and expiry 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after full rollout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flag interactions explosion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both states</a:t>
            </a:r>
            <a:endParaRPr lang="en-US" sz="15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Expanded</a:t>
            </a:r>
            <a:endParaRPr lang="en-US" sz="28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Script Elements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functional needs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non-functional targets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assumptions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out of scope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to sketch high-level next</a:t>
            </a:r>
            <a:endParaRPr lang="en-US" sz="15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Selection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unique or hard in this prompt?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and partitioning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path latency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and isolation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boundaries</a:t>
            </a:r>
            <a:endParaRPr lang="en-US" sz="15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Phrasing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optimizing for 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costs 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rejected Z because...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constraint C changes, I would reconsider</a:t>
            </a:r>
            <a:endParaRPr lang="en-US" sz="15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Script Elements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core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 key trade-offs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10× evolution path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out open risks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remaining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Self-Review Questions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use numbers?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discuss failure?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name a trade-off?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the diagram clear?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check in with the interviewer?</a:t>
            </a:r>
            <a:endParaRPr lang="en-US" sz="15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Definitions</a:t>
            </a:r>
            <a:endParaRPr lang="en-US" sz="28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Geographically distributed cache for static and edge content</a:t>
            </a:r>
            <a:endParaRPr lang="en-US" sz="15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entry point for routing, auth, rate limits, TLS</a:t>
            </a:r>
            <a:endParaRPr lang="en-US" sz="15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layer for service-to-service identity and policy</a:t>
            </a:r>
            <a:endParaRPr lang="en-US" sz="15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 Key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Client-generated key that makes retries safe</a:t>
            </a:r>
            <a:endParaRPr lang="en-US" sz="15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Dead-Letter Queue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Holding area for messages that failed repeatedly</a:t>
            </a:r>
            <a:endParaRPr lang="en-US" sz="15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local transactions with compensations</a:t>
            </a:r>
            <a:endParaRPr lang="en-US" sz="15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Pattern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Reliably publish events from a database transaction</a:t>
            </a:r>
            <a:endParaRPr lang="en-US" sz="15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Hashing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ring that minimizes remapping on node change</a:t>
            </a:r>
            <a:endParaRPr lang="en-US" sz="15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Key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that receives disproportionate traffic</a:t>
            </a:r>
            <a:endParaRPr lang="en-US" sz="15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the system a failure can affect</a:t>
            </a:r>
            <a:endParaRPr lang="en-US" sz="15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Budget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unreliability derived from an SLO</a:t>
            </a:r>
            <a:endParaRPr lang="en-US" sz="15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Signals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Latency, traffic, errors, saturation</a:t>
            </a:r>
            <a:endParaRPr lang="en-US" sz="15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Probe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decides if instance should receive traffic</a:t>
            </a:r>
            <a:endParaRPr lang="en-US" sz="15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Probe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decides if instance should be restarted</a:t>
            </a:r>
            <a:endParaRPr lang="en-US" sz="15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switch decoupling deploy from release</a:t>
            </a:r>
            <a:endParaRPr lang="en-US" sz="15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Expand/Contract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migration pattern for safe evolution</a:t>
            </a:r>
            <a:endParaRPr lang="en-US" sz="15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Bucket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algorithm that permits controlled bursts</a:t>
            </a:r>
            <a:endParaRPr lang="en-US" sz="15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Fail-fast guard around unhealthy dependencies</a:t>
            </a:r>
            <a:endParaRPr lang="en-US" sz="15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Bulkhead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isolation to limit failure propagation</a:t>
            </a:r>
            <a:endParaRPr lang="en-US" sz="15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Back-Pressure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slowdown signal under overload</a:t>
            </a:r>
            <a:endParaRPr lang="en-US" sz="15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 event producing many downstream actions</a:t>
            </a:r>
            <a:endParaRPr lang="en-US" sz="15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Cache-Aside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Application-managed load-on-miss caching pattern</a:t>
            </a:r>
            <a:endParaRPr lang="en-US" sz="15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Write-Through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write to cache and store together</a:t>
            </a:r>
            <a:endParaRPr lang="en-US" sz="15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At-Least-Once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guarantee that may duplicate</a:t>
            </a:r>
            <a:endParaRPr lang="en-US" sz="15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Exactly-Once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single processing; hard end-to-end</a:t>
            </a:r>
            <a:endParaRPr lang="en-US" sz="15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and authorize every request always</a:t>
            </a:r>
            <a:endParaRPr lang="en-US" sz="15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TLS for service identity</a:t>
            </a:r>
            <a:endParaRPr lang="en-US" sz="15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Neighbor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whose load harms others</a:t>
            </a:r>
            <a:endParaRPr lang="en-US" sz="15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level for an SLI over a window</a:t>
            </a:r>
            <a:endParaRPr lang="en-US" sz="15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measure of service behavior</a:t>
            </a:r>
            <a:endParaRPr lang="en-US" sz="15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One-Liners</a:t>
            </a:r>
            <a:endParaRPr lang="en-US" sz="28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Postgres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 access patterns clearly demand otherwise</a:t>
            </a:r>
            <a:endParaRPr lang="en-US" sz="15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what is read often and expensive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Invalidate or TTL according to staleness cost</a:t>
            </a:r>
            <a:endParaRPr lang="en-US" sz="15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the non-critical path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user-facing latency tight</a:t>
            </a:r>
            <a:endParaRPr lang="en-US" sz="15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every remote call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decide on retries</a:t>
            </a:r>
            <a:endParaRPr lang="en-US" sz="15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only if idempotent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fix the operation first</a:t>
            </a:r>
            <a:endParaRPr lang="en-US" sz="15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Circuit-break repeated failure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 and degrade</a:t>
            </a:r>
            <a:endParaRPr lang="en-US" sz="150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every queue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Unbounded queues become outages</a:t>
            </a:r>
            <a:endParaRPr lang="en-US" sz="15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by tenant and by dependency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blast radius</a:t>
            </a:r>
            <a:endParaRPr lang="en-US" sz="150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then authorize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sensitive path</a:t>
            </a:r>
            <a:endParaRPr lang="en-US" sz="15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secrets at runtime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from git or images</a:t>
            </a:r>
            <a:endParaRPr lang="en-US" sz="15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progressively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or rolling with health gates</a:t>
            </a:r>
            <a:endParaRPr lang="en-US" sz="15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expand then contract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big-bang schema breaks</a:t>
            </a:r>
            <a:endParaRPr lang="en-US" sz="15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golden signals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on user impact</a:t>
            </a:r>
            <a:endParaRPr lang="en-US" sz="15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before designing deep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change the architecture</a:t>
            </a:r>
            <a:endParaRPr lang="en-US" sz="15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trade-off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optimization is hidden risk</a:t>
            </a:r>
            <a:endParaRPr lang="en-US" sz="15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Anti-Patterns to Avoid</a:t>
            </a:r>
            <a:endParaRPr lang="en-US" sz="28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Big-bang release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progressive delivery</a:t>
            </a:r>
            <a:endParaRPr lang="en-US" sz="15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sessions by default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stateless + external store</a:t>
            </a:r>
            <a:endParaRPr lang="en-US" sz="15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Unbounded queues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and apply back-pressure</a:t>
            </a:r>
            <a:endParaRPr lang="en-US" sz="15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without jitter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thundering herds</a:t>
            </a:r>
            <a:endParaRPr lang="en-US" sz="15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non-idempotent writes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duplicates</a:t>
            </a:r>
            <a:endParaRPr lang="en-US" sz="15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timeouts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block forever</a:t>
            </a:r>
            <a:endParaRPr lang="en-US" sz="15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god credentials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per service</a:t>
            </a:r>
            <a:endParaRPr lang="en-US" sz="15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in images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injection only</a:t>
            </a:r>
            <a:endParaRPr lang="en-US" sz="15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UI-only authorization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on the server</a:t>
            </a:r>
            <a:endParaRPr lang="en-US" sz="15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tenant filters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 and test</a:t>
            </a:r>
            <a:endParaRPr lang="en-US" sz="15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latency only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p95/p99</a:t>
            </a:r>
            <a:endParaRPr lang="en-US" sz="15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on CPU alone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on user-facing SLIs</a:t>
            </a:r>
            <a:endParaRPr lang="en-US" sz="15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Exactly-once wishful thinking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At-least-once + idempotency</a:t>
            </a:r>
            <a:endParaRPr lang="en-US" sz="15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everything forever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and invalidation required</a:t>
            </a:r>
            <a:endParaRPr lang="en-US" sz="150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celebrity keys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hybrid fan-out or special cases</a:t>
            </a:r>
            <a:endParaRPr lang="en-US" sz="150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Exercises</a:t>
            </a:r>
            <a:endParaRPr lang="en-US" sz="28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Latency Budget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user 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total p99 latency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across hops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tightest hop</a:t>
            </a:r>
            <a:endParaRPr lang="en-US" sz="150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Consistency Map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5 data types in an app you know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strong vs eventual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each choice</a:t>
            </a:r>
            <a:endParaRPr lang="en-US" sz="15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Failure Drill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dependency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timeout, retry, circuit breaker, fallback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user-visible degradation</a:t>
            </a:r>
            <a:endParaRPr lang="en-US" sz="150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Tenant Isolation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a shared-table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where tenant_id is enforced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two noisy-neighbor controls</a:t>
            </a:r>
            <a:endParaRPr lang="en-US" sz="15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Cache Plan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hot read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layer and TTL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invalidation rule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stampede protection</a:t>
            </a:r>
            <a:endParaRPr lang="en-US" sz="15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Async Boundary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steps after “place order”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which must be sync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queue and consumers for the rest</a:t>
            </a:r>
            <a:endParaRPr lang="en-US" sz="15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Rate Limit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dimensions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algorithm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429 behavior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enforcement points</a:t>
            </a:r>
            <a:endParaRPr lang="en-US" sz="15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Migration Plan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a heavily used column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expand → dual write → backfill → contract steps</a:t>
            </a:r>
            <a:endParaRPr lang="en-US" sz="15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Observability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one SLI and SLO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metrics, log fields, and a trace span 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alert condition</a:t>
            </a:r>
            <a:endParaRPr lang="en-US" sz="15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Exercise: 6-Step Dry Run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“design a URL shortener”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2 minutes per framework step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where you got stuck</a:t>
            </a:r>
            <a:endParaRPr lang="en-US" sz="15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Recap Cards</a:t>
            </a:r>
            <a:endParaRPr lang="en-US" sz="280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of scale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vs horizontal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anatomy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/ PACELC</a:t>
            </a:r>
            <a:endParaRPr lang="en-US" sz="150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 algorithms and layers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and rate limits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and CDN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vs async</a:t>
            </a:r>
            <a:endParaRPr lang="en-US" sz="150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families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 and sharding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 vs 2PC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models</a:t>
            </a:r>
            <a:endParaRPr lang="en-US" sz="150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layers and patterns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Stampede defenses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services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work</a:t>
            </a:r>
            <a:endParaRPr lang="en-US" sz="150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 retries idempotency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breakers bulkheads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Back-pressure degradation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logs traces SLOs</a:t>
            </a:r>
            <a:endParaRPr lang="en-US" sz="150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and secrets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authz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and migrate safely</a:t>
            </a:r>
            <a:endParaRPr lang="en-US" sz="150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shortener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feed dispatch streaming sketches</a:t>
            </a:r>
            <a:endParaRPr lang="en-US" sz="150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 Recap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6-step framework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dimensions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transfer</a:t>
            </a:r>
            <a:endParaRPr lang="en-US" sz="150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Matter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Full Curriculum</a:t>
            </a:r>
            <a:endParaRPr lang="en-US" sz="280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Map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0–8: core narrative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Primers: focused concept boosters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Appendices: reference and assessment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Workbook: active exercises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rapid review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guide: facilitation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bank: knowledge checks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deck: classroom teaching aid</a:t>
            </a:r>
            <a:endParaRPr lang="en-US" sz="150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Teaching Pace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and networking: 1–2 sessions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caching: 1–2 sessions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Reliability: 1–2 sessions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ops: 1 session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Blueprints and interview: 2 sessions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and review: 1–2 sessions</a:t>
            </a:r>
            <a:endParaRPr lang="en-US" sz="150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Ideas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quizzes from the test bank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Timed 45-minute designs scored by rubric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document or presentation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Oral defense of trade-offs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 of practice designs</a:t>
            </a:r>
            <a:endParaRPr lang="en-US" sz="1500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Mastery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Deck</a:t>
            </a:r>
            <a:endParaRPr lang="en-US" sz="160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Count Note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is built for teaching coverage, not speed reading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or compress depth sections as needed for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every major section with a workbook exercise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discussion over rushing through slides</a:t>
            </a:r>
            <a:endParaRPr lang="en-US" sz="150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Supplement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Extra Drills &amp; Checkpoints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Additional Practice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Design a distributed lock service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Focus on correctness under partition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Discuss fencing tokens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Compare lease vs lock approaches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Additional Practice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Design a feature-flag service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Low-latency evaluation at high QPS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Targeting rules and percentage rollouts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Auditability and kill switches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Additional Practice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Design a global unique ID generator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Snowflake-style vs UUID vs DB sequences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Clock skew handling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Availability vs uniqueness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Estimation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100M DAU, 10 actions/user/day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Compute average QPS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Assume peak 4× average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State storage if 500 bytes/event for 1 year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Estimation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URL shortener: 10M creates/month, 100:1 read ratio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Peak read QPS?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Storage for 5 years at 300 bytes/record with 3× replication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Consistency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Shopping cart contents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Payment capture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Product view count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Friend relationship edge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Assign strong or eventual and justify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Reliability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List protections for a call to an email provider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Timeout value reasoning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Retry policy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Circuit breaker role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Fallback UX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Multi-Tenant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Shared DB table design for documents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Where tenant_id is applied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Cache key format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Two rate-limit dimensions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Observability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Define SLI for checkout success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Set an SLO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Compute monthly error budget minutes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Name one alert on burn rate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Deployment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Choose canary vs rolling for a risky payments change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Justify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List metrics to watch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Rollback trigger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Security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Identify anti-patterns: API keys in git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Trust of client tenant headers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No service-to-service auth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Cache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Hot product page fragments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Choose cache layer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TTL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Invalidation on price change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Stampede plan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Messaging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Order-placed event to inventory, email, analytics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Delivery semantic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Idempotency approach per consumer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Dead-letter policy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Fan-out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User posts to 50 followers vs 5M followers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Strategy for each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Storage implications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Trade-off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Strong consistency vs low latency for a social like button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State both sides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Make a recommendation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Framework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For design a pastebin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Write 3 clarifying questions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State 3 assumptions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Name the hardest part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Capstone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Real-time board updates mechanism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Tenant isolation enforcement point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Search freshness approach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File upload path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Capstone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Notification idempotency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Degradation when search is down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Per-tenant rate limits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SLO for task mutation API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Glossary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Define bulkhead in one sentence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Define error budget in one sentence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Define read-your-writes in one sentence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Glossary Rapid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Define back-pressure in one sentence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Define expand/contract in one sentence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Define zero-trust in one sentence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Closing Teaching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Pause after each part for workbook exercises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Prefer one deep discussion over many shallow slides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Score practice designs live when possible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Arial"/>
              </a:defRPr>
            </a:pPr>
            <a:r>
              <a:t>Closing Teaching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Keep the 6-step framework visible during practice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Reward explicit trade-offs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End each session with one failure-mode question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290</Slides>
  <Notes>290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290</vt:i4>
      </vt:variant>
    </vt:vector>
  </HeadingPairs>
  <TitlesOfParts>
    <vt:vector size="29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Mastery: From Code to Distributed Architecture</dc:title>
  <dc:subject>Teaching deck - minimalist</dc:subject>
  <dc:creator>System Design Mastery</dc:creator>
  <cp:lastModifiedBy>System Design Mastery</cp:lastModifiedBy>
  <cp:revision>1</cp:revision>
  <dcterms:created xsi:type="dcterms:W3CDTF">2026-07-28T10:47:55Z</dcterms:created>
  <dcterms:modified xsi:type="dcterms:W3CDTF">2026-07-28T10:47:55Z</dcterms:modified>
</cp:coreProperties>
</file>