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From Zero to Production with Next.js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Building LaunchPad - A Production-Ready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Course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10 Parts | 30 Hours | One Complete Application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Part 1: Introduction to Next.js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Part 2: Routing and Pages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Part 3: Layouts and UI Composition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Part 4: Server and Client Components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Part 5: Data Fetching in Next.js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Course Overview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Part 6: Styling Your Application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Part 7: Building APIs and Full-Stack Features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Part 8: Authentication and State Management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Part 9: Performance and Optimization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Part 10: Deployment and Production Readiness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What We Will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LaunchPad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 project and task management application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View a personal dashboard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and edit projects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and update tasks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Filter and search project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Authenticate and authorize users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Navigate between public and private pages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The Final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Public Area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Landing page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About page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Features page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Sign-in and registration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Authenticated Area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Dashboard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list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detail 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and task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Account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You are in the right place if you: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Understand basic HTML and CSS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Have introductory JavaScript knowledge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Have seen React components before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Can open a terminal and edit files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Want to understand full-stack application architecture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You do NOT need prior Next.js, TypeScript, or database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What We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By the end of this course, you will be able to: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and configure a Next.js application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Implement file-based routing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nested layouts with route groups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Distinguish Server and Client Components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Fetch data from PostgreSQL in Server Components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Style applications with CSS and CSS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What We Will Learn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API endpoints with Route Handlers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Implement Server Actions for form mutations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Validate input with Zod schemas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authentication with database-backed sessions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Enforce authorization with owner-scoped queries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Optimize performance with next/image and code splitting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Deploy with Docker and CI/CD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Before starting, verify: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Node.js 20.9 or newer installed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npm installed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Git installed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 code editor (VS Code recommended)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Docker Desktop installed (for Part 5 onward)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 terminal or command prompt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How Each Step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Every implementation step uses a four-part structure: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The Target - What we are about to build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The Concept - Why the feature exists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The Implementation - Exact code and commands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The Verification - How to test it 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Our Definition of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By the end, you should be able to explain: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How a URL maps to a route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Why layouts are separate from 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Why Server Components are the default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When a Client Component is necessary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Where database access should occur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Why browser validation is insufficient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How authentication differs from authorization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Our Definition of Success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How loading and error boundaries improve resilience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When data may be cached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How mutations refresh affected interfaces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Why environment variables need validation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How to test a production build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What must be monitored after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React vs Next.js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React is a library for building user interfaces.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Next.js is a framework built on React.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React = Ingredients and cooking techniques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Next.js = Kitchen layout, service workflow, and delivery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Traditional React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Browser requests the site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Server sends a small HTML document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Browser downloads JavaScript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JavaScript starts React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React requests application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React constructs the visible interface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User waits for JavaScript before seeing content.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Modern Next.js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Browser requests a route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Next.js matches the route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Server Components fetch required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Next.js renders the initial interface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Browser receives useful output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JavaScript activates only interactive Client Components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User sees content faster.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Introduction to Next.js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Prepare development environment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Next.js 16 application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Understand generated project structure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root layout and metadata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Replace starter page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global CSS foundation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development workflow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and run production application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1: Development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Verify your tools: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node --version   # v20.9.0+</a:t>
            </a:r>
            <a:br/>
            <a:r>
              <a:t>npm --version</a:t>
            </a:r>
            <a:br/>
            <a:r>
              <a:t>git --version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Install Node.js 22 LTS from nodejs.org if needed.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Optional: Use nvm for version management.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Windows users: Use the official installer.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1: Create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npx create-next-app@16 launchpad \</a:t>
            </a:r>
            <a:br/>
            <a:r>
              <a:t>  --typescript \</a:t>
            </a:r>
            <a:br/>
            <a:r>
              <a:t>  --eslint \</a:t>
            </a:r>
            <a:br/>
            <a:r>
              <a:t>  --app \</a:t>
            </a:r>
            <a:br/>
            <a:r>
              <a:t>  --src-dir \</a:t>
            </a:r>
            <a:br/>
            <a:r>
              <a:t>  --no-tailwind \</a:t>
            </a:r>
            <a:br/>
            <a:r>
              <a:t>  --turbopack \</a:t>
            </a:r>
            <a:br/>
            <a:r>
              <a:t>  --import-alias "@/*" \</a:t>
            </a:r>
            <a:br/>
            <a:r>
              <a:t>  --use-npm \</a:t>
            </a:r>
            <a:br/>
            <a:r>
              <a:t>  --yes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This creates a Next.js 16 project with the App Router.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Project Structure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launchpad/</a:t>
            </a:r>
            <a:br/>
            <a:r>
              <a:t>├── public/               # Static public files</a:t>
            </a:r>
            <a:br/>
            <a:r>
              <a:t>├── src/</a:t>
            </a:r>
            <a:br/>
            <a:r>
              <a:t>│   └── app/              # Routes, layouts, UI</a:t>
            </a:r>
            <a:br/>
            <a:r>
              <a:t>├── eslint.config.mjs     # Code quality</a:t>
            </a:r>
            <a:br/>
            <a:r>
              <a:t>├── next-env.d.ts         # TypeScript declarations</a:t>
            </a:r>
            <a:br/>
            <a:r>
              <a:t>├── next.config.ts        # Framework configuration</a:t>
            </a:r>
            <a:br/>
            <a:r>
              <a:t>├── package.json          # Dependencies and scripts</a:t>
            </a:r>
            <a:br/>
            <a:r>
              <a:t>├── package-lock.json     # Exact dependency versions</a:t>
            </a:r>
            <a:br/>
            <a:r>
              <a:t>└── tsconfig.json         # TypeScript configuration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Package.json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{</a:t>
            </a:r>
            <a:br/>
            <a:r>
              <a:t>  "scripts": {</a:t>
            </a:r>
            <a:br/>
            <a:r>
              <a:t>    "dev": "next dev --turbopack",</a:t>
            </a:r>
            <a:br/>
            <a:r>
              <a:t>    "build": "next build",</a:t>
            </a:r>
            <a:br/>
            <a:r>
              <a:t>    "start": "next start",</a:t>
            </a:r>
            <a:br/>
            <a:r>
              <a:t>    "lint": "eslint"</a:t>
            </a:r>
            <a:br/>
            <a:r>
              <a:t>  }</a:t>
            </a:r>
            <a:br/>
            <a:r>
              <a:t>}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dev: Development server with Fast Refresh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build: Optimized production build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start: Serve production build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lint: Code quality checks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 Router File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src/app/</a:t>
            </a:r>
            <a:br/>
            <a:r>
              <a:t>├── page.tsx           # Route at /</a:t>
            </a:r>
            <a:br/>
            <a:r>
              <a:t>├── layout.tsx         # Root layout</a:t>
            </a:r>
            <a:br/>
            <a:r>
              <a:t>├── about/</a:t>
            </a:r>
            <a:br/>
            <a:r>
              <a:t>│   └── page.tsx       # Route at /about</a:t>
            </a:r>
            <a:br/>
            <a:r>
              <a:t>├── projects/</a:t>
            </a:r>
            <a:br/>
            <a:r>
              <a:t>│   ├── page.tsx       # Route at /projects</a:t>
            </a:r>
            <a:br/>
            <a:r>
              <a:t>│   └── [id]/</a:t>
            </a:r>
            <a:br/>
            <a:r>
              <a:t>│       └── page.tsx   # Dynamic route</a:t>
            </a:r>
            <a:br/>
            <a:r>
              <a:t>├── loading.tsx        # Loading UI</a:t>
            </a:r>
            <a:br/>
            <a:r>
              <a:t>├── error.tsx          # Error UI</a:t>
            </a:r>
            <a:br/>
            <a:r>
              <a:t>└── not-found.tsx      # 404 page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Special Files in the App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Courier New"/>
              </a:rPr>
              <a:t>File  |  Purpose</a:t>
            </a:r>
            <a:br/>
            <a:r>
              <a:t>----------------</a:t>
            </a:r>
            <a:br/>
            <a:r>
              <a:t>------  |  ---------</a:t>
            </a:r>
            <a:br/>
            <a:r>
              <a:t>page.tsx  |  Makes a route publicly accessible</a:t>
            </a:r>
            <a:br/>
            <a:r>
              <a:t>layout.tsx  |  Shared UI around child routes</a:t>
            </a:r>
            <a:br/>
            <a:r>
              <a:t>loading.tsx  |  Loading interface for a segment</a:t>
            </a:r>
            <a:br/>
            <a:r>
              <a:t>error.tsx  |  Catches rendering errors</a:t>
            </a:r>
            <a:br/>
            <a:r>
              <a:t>not-found.tsx  |  Missing resource interface</a:t>
            </a:r>
            <a:br/>
            <a:r>
              <a:t>route.ts  |  HTTP Route Handler (API)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Root Layout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type { Metadata } from "next";</a:t>
            </a:r>
            <a:br/>
            <a:r>
              <a:t>import type { ReactNode } from "react";</a:t>
            </a:r>
            <a:br/>
            <a:r>
              <a:t>import "./globals.css";</a:t>
            </a:r>
            <a:br/>
            <a:br/>
            <a:r>
              <a:t>export const metadata: Metadata = {</a:t>
            </a:r>
            <a:br/>
            <a:r>
              <a:t>  title: {</a:t>
            </a:r>
            <a:br/>
            <a:r>
              <a:t>    default: "LaunchPad",</a:t>
            </a:r>
            <a:br/>
            <a:r>
              <a:t>    template: "%s | LaunchPad",</a:t>
            </a:r>
            <a:br/>
            <a:r>
              <a:t>  },</a:t>
            </a:r>
            <a:br/>
            <a:r>
              <a:t>  description: "Your app description",</a:t>
            </a:r>
            <a:br/>
            <a:r>
              <a:t>};</a:t>
            </a:r>
            <a:br/>
            <a:br/>
            <a:r>
              <a:t>export default function RootLayout({</a:t>
            </a:r>
            <a:br/>
            <a:r>
              <a:t>  children,</a:t>
            </a:r>
            <a:br/>
            <a:r>
              <a:t>}: Readonly&lt;{ children: ReactNode }&gt;) {</a:t>
            </a:r>
            <a:br/>
            <a:r>
              <a:t>  return (</a:t>
            </a:r>
            <a:br/>
            <a:r>
              <a:t>    &lt;html lang="en"&gt;</a:t>
            </a:r>
            <a:br/>
            <a:r>
              <a:t>      &lt;body&gt;{children}&lt;/body&gt;</a:t>
            </a:r>
            <a:br/>
            <a:r>
              <a:t>    &lt;/html&gt;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Metadata in Next.js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Defined in layout.tsx or page.tsx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Used for browser titles, descriptions, and SEO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Root layout provides defaults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Child routes can override specific fields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Title template: `%s | LaunchPad`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Result: "About | LaunchPad"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Server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 Components are the default in the App Router.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They can: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 async/await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Read databases directly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Access server-only environment variables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Import server-only modules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They cannot: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 useState or useEffect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 browser APIs (window, document)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Handle click events directly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The Home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default function HomePage() {</a:t>
            </a:r>
            <a:br/>
            <a:r>
              <a:t>  return (</a:t>
            </a:r>
            <a:br/>
            <a:r>
              <a:t>    &lt;main className="site-shell"&gt;</a:t>
            </a:r>
            <a:br/>
            <a:r>
              <a:t>      &lt;section className="hero"&gt;</a:t>
            </a:r>
            <a:br/>
            <a:r>
              <a:t>        &lt;h1&gt;Turn ambitious ideas into organized work.&lt;/h1&gt;</a:t>
            </a:r>
            <a:br/>
            <a:r>
              <a:t>        &lt;p className="hero-description"&gt;</a:t>
            </a:r>
            <a:br/>
            <a:r>
              <a:t>          LaunchPad is a secure project and task management application.</a:t>
            </a:r>
            <a:br/>
            <a:r>
              <a:t>        &lt;/p&gt;</a:t>
            </a:r>
            <a:br/>
            <a:r>
              <a:t>      &lt;/section&gt;</a:t>
            </a:r>
            <a:br/>
            <a:r>
              <a:t>    &lt;/main&gt;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page is a Server Component by default.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Global CSS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Key design decisions: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CSS custom properties for colors and spacing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Box-sizing: border-box on all elements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Visible focus indicators for keyboard users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Responsive grid for feature cards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Reduced motion media query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Min-height: 100vh for full page coverage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CSS Custom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:root {</a:t>
            </a:r>
            <a:br/>
            <a:r>
              <a:t>  --color-background: #f6f8fc;</a:t>
            </a:r>
            <a:br/>
            <a:r>
              <a:t>  --color-text: #172033;</a:t>
            </a:r>
            <a:br/>
            <a:r>
              <a:t>  --color-primary: #3457d5;</a:t>
            </a:r>
            <a:br/>
            <a:r>
              <a:t>  --color-focus: #ffbf47;</a:t>
            </a:r>
            <a:br/>
            <a:r>
              <a:t>  --content-width: 72rem;</a:t>
            </a:r>
            <a:br/>
            <a:r>
              <a:t>  --shadow-card: 0 1rem 2.5rem rgb(23 32 51 / 8%);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These tokens make global style changes consistent.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Fast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Development server detects file changes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Updates browser without manual refresh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Preserves component state when possible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Immediate feedback loop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Edit → Save → Rebuild → Inspect → Repeat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Production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Development vs Production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Courier New"/>
              </a:rPr>
              <a:t>Aspect  |  Development  |  Production</a:t>
            </a:r>
            <a:br/>
            <a:r>
              <a:t>-------------------------------------</a:t>
            </a:r>
            <a:br/>
            <a:r>
              <a:t>--------  |  -------------  |  ------------</a:t>
            </a:r>
            <a:br/>
            <a:r>
              <a:t>Command  |  npm run dev  |  npm run build + start</a:t>
            </a:r>
            <a:br/>
            <a:r>
              <a:t>Goal  |  Fast feedback  |  Optimized execution</a:t>
            </a:r>
            <a:br/>
            <a:r>
              <a:t>Error detail  |  Extensive  |  Limited</a:t>
            </a:r>
            <a:br/>
            <a:r>
              <a:t>Performance  |  Not representative  |  Optimized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1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Node.js 20.9+ installed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npm run dev starts the server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http://localhost:3000 shows LaunchPad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Browser title is "LaunchPad"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Page is responsive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Keyboard focus is visible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npx tsc --noEmit succeeds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npm run lint succeeds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npm run build succeeds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npm run start serves production build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Git checkpoint created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2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Routing and 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Understand App Router URL mapping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typed project catalog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shared navigation with next/link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static About and Features 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filterable project list with search parameters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dynamic project detail routes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Implement custom not-found handling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routing interface styles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File-Based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App Router uses file-based routing.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src/app/</a:t>
            </a:r>
            <a:br/>
            <a:r>
              <a:t>├── page.tsx           → /</a:t>
            </a:r>
            <a:br/>
            <a:r>
              <a:t>├── about/</a:t>
            </a:r>
            <a:br/>
            <a:r>
              <a:t>│   └── page.tsx       → /about</a:t>
            </a:r>
            <a:br/>
            <a:r>
              <a:t>├── projects/</a:t>
            </a:r>
            <a:br/>
            <a:r>
              <a:t>│   ├── page.tsx       → /projects</a:t>
            </a:r>
            <a:br/>
            <a:r>
              <a:t>│   └── [id]/</a:t>
            </a:r>
            <a:br/>
            <a:r>
              <a:t>│       └── page.tsx   → /projects/:id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Directories become route segments.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Route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For URL: /projects/website-redesign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Segments: projects, website-redesign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Source structure: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src/app/projects/[projectId]/page.tsx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Fixed segment: projects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Dynamic segment: [projectId]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Dynamic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square brackets for dynamic segments: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src/app/projects/[projectId]/page.tsx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Matches: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/projects/website-redesign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/projects/mobile-application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/projects/documentation-hub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value becomes a route parameter.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Static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 directory with an ordinary name creates a fixed segment: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src/app/about/page.tsx  → /about</a:t>
            </a:r>
            <a:br/>
            <a:r>
              <a:t>src/app/features/page.tsx → /features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Static routes are predictable and can be pre-rendered.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The Project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In-memory data before adding a database: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PROJECT_CATALOG = [</a:t>
            </a:r>
            <a:br/>
            <a:r>
              <a:t>  {</a:t>
            </a:r>
            <a:br/>
            <a:r>
              <a:t>    id: "website-redesign",</a:t>
            </a:r>
            <a:br/>
            <a:r>
              <a:t>    name: "Website redesign",</a:t>
            </a:r>
            <a:br/>
            <a:r>
              <a:t>    status: "ACTIVE",</a:t>
            </a:r>
            <a:br/>
            <a:r>
              <a:t>    taskCount: 12,</a:t>
            </a:r>
            <a:br/>
            <a:r>
              <a:t>    completedTaskCount: 5,</a:t>
            </a:r>
            <a:br/>
            <a:r>
              <a:t>  },</a:t>
            </a:r>
            <a:br/>
            <a:r>
              <a:t>  // More projects...</a:t>
            </a:r>
            <a:br/>
            <a:r>
              <a:t>];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Temporary data with TypeScript types.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TypeScript Types for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const PROJECT_STATUSES = ["PLANNED", "ACTIVE", "COMPLETED"] as const;</a:t>
            </a:r>
            <a:br/>
            <a:r>
              <a:t>export type ProjectStatus = (typeof PROJECT_STATUSES)[number];</a:t>
            </a:r>
            <a:br/>
            <a:br/>
            <a:r>
              <a:t>export type ProjectSummary = {</a:t>
            </a:r>
            <a:br/>
            <a:r>
              <a:t>  id: string;</a:t>
            </a:r>
            <a:br/>
            <a:r>
              <a:t>  name: string;</a:t>
            </a:r>
            <a:br/>
            <a:r>
              <a:t>  description: string;</a:t>
            </a:r>
            <a:br/>
            <a:r>
              <a:t>  status: ProjectStatus;</a:t>
            </a:r>
            <a:br/>
            <a:r>
              <a:t>  taskCount: number;</a:t>
            </a:r>
            <a:br/>
            <a:r>
              <a:t>  completedTaskCount: number;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Using as const and satisfies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PROJECT_CATALOG = [</a:t>
            </a:r>
            <a:br/>
            <a:r>
              <a:t>  // items</a:t>
            </a:r>
            <a:br/>
            <a:r>
              <a:t>] as const satisfies readonly ProjectSummary[];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as const: Preserves literal values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satisfies: Checks type without changing inference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This validates the data while keeping narrow types.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Navigation with next/link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Link from "next/link";</a:t>
            </a:r>
            <a:br/>
            <a:br/>
            <a:r>
              <a:t>&lt;Link href="/about"&gt;About&lt;/Link&gt;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Benefits: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Client-side transitions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Prefetching of linked routes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Accessible (renders as a tag)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No page reload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Link for internal navigation.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next/link vs Regular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// Good for internal routes</a:t>
            </a:r>
            <a:br/>
            <a:r>
              <a:t>&lt;Link href="/projects"&gt;Projects&lt;/Link&gt;</a:t>
            </a:r>
            <a:br/>
            <a:br/>
            <a:r>
              <a:t>// Good for external links</a:t>
            </a:r>
            <a:br/>
            <a:r>
              <a:t>&lt;a href="https://nextjs.org"&gt;Next.js&lt;/a&gt;</a:t>
            </a:r>
            <a:br/>
            <a:br/>
            <a:r>
              <a:t>// Good for fragment links</a:t>
            </a:r>
            <a:br/>
            <a:r>
              <a:t>&lt;a href="#features"&gt;Features&lt;/a&gt;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Route Parameters in Next.js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 Next.js 16, params is a Promise: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type PageProps = {</a:t>
            </a:r>
            <a:br/>
            <a:r>
              <a:t>  params: Promise&lt;{ projectId: string }&gt;;</a:t>
            </a:r>
            <a:br/>
            <a:r>
              <a:t>};</a:t>
            </a:r>
            <a:br/>
            <a:br/>
            <a:r>
              <a:t>export default async function Page({ params }: PageProps) {</a:t>
            </a:r>
            <a:br/>
            <a:r>
              <a:t>  const { projectId } = await params;</a:t>
            </a:r>
            <a:br/>
            <a:r>
              <a:t>  // Use projectId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Must await the params.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Search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Search parameters are URL query values: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/projects?status=ACTIVE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 Next.js 16, searchParams is a Promise: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type PageProps = {</a:t>
            </a:r>
            <a:br/>
            <a:r>
              <a:t>  searchParams: Promise&lt;{ status?: string }&gt;;</a:t>
            </a:r>
            <a:br/>
            <a:r>
              <a:t>};</a:t>
            </a:r>
            <a:br/>
            <a:br/>
            <a:r>
              <a:t>export default async function Page({ searchParams }: PageProps) {</a:t>
            </a:r>
            <a:br/>
            <a:r>
              <a:t>  const { status } = await searchParams;</a:t>
            </a:r>
            <a:br/>
            <a:r>
              <a:t>  // Use status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Validating Search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Search parameters are untrusted user input: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function readStatusFilter(value: string | undefined): ProjectStatus | undefined {</a:t>
            </a:r>
            <a:br/>
            <a:r>
              <a:t>  if (!value) return undefined;</a:t>
            </a:r>
            <a:br/>
            <a:r>
              <a:t>  const normalized = value.toUpperCase();</a:t>
            </a:r>
            <a:br/>
            <a:r>
              <a:t>  return isProjectStatus(normalized) ? normalized : undefined;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Validate before using in queries.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Dynamic Page with generateStaticParams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function generateStaticParams() {</a:t>
            </a:r>
            <a:br/>
            <a:r>
              <a:t>  return getAllProjects().map((project) =&gt; ({</a:t>
            </a:r>
            <a:br/>
            <a:r>
              <a:t>    projectId: project.id,</a:t>
            </a:r>
            <a:br/>
            <a:r>
              <a:t>  }));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Tells Next.js which dynamic routes to pre-render at build time.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Only for known, public routes.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Metadata for Dynamic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async function generateMetadata({</a:t>
            </a:r>
            <a:br/>
            <a:r>
              <a:t>  params,</a:t>
            </a:r>
            <a:br/>
            <a:r>
              <a:t>}: PageProps): Promise&lt;Metadata&gt; {</a:t>
            </a:r>
            <a:br/>
            <a:r>
              <a:t>  const { projectId } = await params;</a:t>
            </a:r>
            <a:br/>
            <a:r>
              <a:t>  const project = getProjectById(projectId);</a:t>
            </a:r>
            <a:br/>
            <a:r>
              <a:t>  if (!project) {</a:t>
            </a:r>
            <a:br/>
            <a:r>
              <a:t>    return { title: "Project not found" };</a:t>
            </a:r>
            <a:br/>
            <a:r>
              <a:t>  }</a:t>
            </a:r>
            <a:br/>
            <a:r>
              <a:t>  return { title: project.name };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Generate metadata from route data.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notFound()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{ notFound } from "next/navigation";</a:t>
            </a:r>
            <a:br/>
            <a:br/>
            <a:r>
              <a:t>if (!project) {</a:t>
            </a:r>
            <a:br/>
            <a:r>
              <a:t>  notFound();</a:t>
            </a:r>
            <a:br/>
            <a:r>
              <a:t>}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Stops rendering the current page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Renders the nearest not-found boundary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Returns 404 status code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for missing resources, not for authorization errors.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Custom Not-Found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// src/app/not-found.tsx</a:t>
            </a:r>
            <a:br/>
            <a:r>
              <a:t>export default function NotFoundPage() {</a:t>
            </a:r>
            <a:br/>
            <a:r>
              <a:t>  return (</a:t>
            </a:r>
            <a:br/>
            <a:r>
              <a:t>    &lt;main&gt;</a:t>
            </a:r>
            <a:br/>
            <a:r>
              <a:t>      &lt;h1&gt;404 - Page Not Found&lt;/h1&gt;</a:t>
            </a:r>
            <a:br/>
            <a:r>
              <a:t>      &lt;p&gt;We could not find that destination.&lt;/p&gt;</a:t>
            </a:r>
            <a:br/>
            <a:r>
              <a:t>      &lt;Link href="/"&gt;Return home&lt;/Link&gt;</a:t>
            </a:r>
            <a:br/>
            <a:r>
              <a:t>    &lt;/main&gt;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Provide recovery actions, not a dead end.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2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 displays the LaunchPad landing page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/about displays the About page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/features displays the Features page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 displays all four projects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/projects?status=ACTIVE filters correctly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Invalid status shows a warning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Dynamic routes work for each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Unknown projects return 404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Unknown routes return 404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Navigation uses next/link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Keyboard navigation works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 succeeds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3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Layouts and UI Composition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Plan the layout hierarchy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route groups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Extract shared footer component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marketing layout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Remove shared chrome from 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workspace navigation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workspace layout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Refactor project 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dashboard page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layout styles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nested layouts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Layout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RootLayout</a:t>
            </a:r>
            <a:br/>
            <a:r>
              <a:t>├── MarketingLayout</a:t>
            </a:r>
            <a:br/>
            <a:r>
              <a:t>│   ├── /</a:t>
            </a:r>
            <a:br/>
            <a:r>
              <a:t>│   ├── /about</a:t>
            </a:r>
            <a:br/>
            <a:r>
              <a:t>│   └── /features</a:t>
            </a:r>
            <a:br/>
            <a:r>
              <a:t>└── WorkspaceLayout</a:t>
            </a:r>
            <a:br/>
            <a:r>
              <a:t>    ├── /dashboard</a:t>
            </a:r>
            <a:br/>
            <a:r>
              <a:t>    ├── /projects</a:t>
            </a:r>
            <a:br/>
            <a:r>
              <a:t>    └── /projects/[projectId]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Layouts wrap pages. The root layout wraps everything.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Route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 route group is a directory in parentheses: (marketing)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src/app/(marketing)/about/page.tsx → /about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group name does NOT appear in the URL.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groups to: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Organize routes by purpose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Apply different layouts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Keep URLs clean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Route Group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Before: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src/app/about/page.tsx</a:t>
            </a:r>
            <a:br/>
            <a:r>
              <a:t>src/app/features/page.tsx</a:t>
            </a:r>
            <a:br/>
            <a:r>
              <a:t>src/app/projects/page.tsx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After: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src/app/(marketing)/about/page.tsx</a:t>
            </a:r>
            <a:br/>
            <a:r>
              <a:t>src/app/(marketing)/features/page.tsx</a:t>
            </a:r>
            <a:br/>
            <a:r>
              <a:t>src/app/(workspace)/projects/page.tsx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URLs remain: /about, /features, /projects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Creating Route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mkdir -p src/app/\(marketing\)</a:t>
            </a:r>
            <a:br/>
            <a:r>
              <a:t>mkdir -p src/app/\(workspace\)</a:t>
            </a:r>
            <a:br/>
            <a:br/>
            <a:r>
              <a:t>mv src/app/page.tsx src/app/\(marketing\)/</a:t>
            </a:r>
            <a:br/>
            <a:r>
              <a:t>mv src/app/about src/app/\(marketing\)/</a:t>
            </a:r>
            <a:br/>
            <a:r>
              <a:t>mv src/app/features src/app/\(marketing\)/</a:t>
            </a:r>
            <a:br/>
            <a:r>
              <a:t>mv src/app/projects src/app/\(workspace\)/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Route group names are for organization only.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Shared Footer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type SiteFooterProps = {</a:t>
            </a:r>
            <a:br/>
            <a:r>
              <a:t>  message?: string;</a:t>
            </a:r>
            <a:br/>
            <a:r>
              <a:t>};</a:t>
            </a:r>
            <a:br/>
            <a:br/>
            <a:r>
              <a:t>export function SiteFooter({</a:t>
            </a:r>
            <a:br/>
            <a:r>
              <a:t>  message = "From Zero to Production with Next.js 16",</a:t>
            </a:r>
            <a:br/>
            <a:r>
              <a:t>}: SiteFooterProps) {</a:t>
            </a:r>
            <a:br/>
            <a:r>
              <a:t>  return (</a:t>
            </a:r>
            <a:br/>
            <a:r>
              <a:t>    &lt;footer className="site-footer"&gt;</a:t>
            </a:r>
            <a:br/>
            <a:r>
              <a:t>      &lt;p&gt;LaunchPad · {message}&lt;/p&gt;</a:t>
            </a:r>
            <a:br/>
            <a:r>
              <a:t>    &lt;/footer&gt;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Reusable component with optional prop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Default message if not provided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aria-hidden for decorative separator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Marketing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default function MarketingLayout({</a:t>
            </a:r>
            <a:br/>
            <a:r>
              <a:t>  children,</a:t>
            </a:r>
            <a:br/>
            <a:r>
              <a:t>}: { children: ReactNode }) {</a:t>
            </a:r>
            <a:br/>
            <a:r>
              <a:t>  return (</a:t>
            </a:r>
            <a:br/>
            <a:r>
              <a:t>    &lt;div className="application-shell"&gt;</a:t>
            </a:r>
            <a:br/>
            <a:r>
              <a:t>      &lt;SiteHeader /&gt;</a:t>
            </a:r>
            <a:br/>
            <a:r>
              <a:t>      &lt;div className="application-shell__content"&gt;</a:t>
            </a:r>
            <a:br/>
            <a:r>
              <a:t>        {children}</a:t>
            </a:r>
            <a:br/>
            <a:r>
              <a:t>      &lt;/div&gt;</a:t>
            </a:r>
            <a:br/>
            <a:r>
              <a:t>      &lt;SiteFooter message="Built one verified layer at a time" /&gt;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This layout applies to all routes in (marketing).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Workspace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workspaceLinks = [</a:t>
            </a:r>
            <a:br/>
            <a:r>
              <a:t>  { href: "/dashboard", label: "Overview" },</a:t>
            </a:r>
            <a:br/>
            <a:r>
              <a:t>  { href: "/projects", label: "Projects" },</a:t>
            </a:r>
            <a:br/>
            <a:r>
              <a:t>];</a:t>
            </a:r>
            <a:br/>
            <a:br/>
            <a:r>
              <a:t>export function WorkspaceNavigation() {</a:t>
            </a:r>
            <a:br/>
            <a:r>
              <a:t>  return (</a:t>
            </a:r>
            <a:br/>
            <a:r>
              <a:t>    &lt;nav className="workspace-navigation"&gt;</a:t>
            </a:r>
            <a:br/>
            <a:r>
              <a:t>      &lt;ul&gt;</a:t>
            </a:r>
            <a:br/>
            <a:r>
              <a:t>        {workspaceLinks.map((link) =&gt; (</a:t>
            </a:r>
            <a:br/>
            <a:r>
              <a:t>          &lt;li key={link.href}&gt;</a:t>
            </a:r>
            <a:br/>
            <a:r>
              <a:t>            &lt;Link href={link.href}&gt;{link.label}&lt;/Link&gt;</a:t>
            </a:r>
            <a:br/>
            <a:r>
              <a:t>          &lt;/li&gt;</a:t>
            </a:r>
            <a:br/>
            <a:r>
              <a:t>        ))}</a:t>
            </a:r>
            <a:br/>
            <a:r>
              <a:t>      &lt;/ul&gt;</a:t>
            </a:r>
            <a:br/>
            <a:r>
              <a:t>    &lt;/nav&gt;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Workspace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default function WorkspaceLayout({</a:t>
            </a:r>
            <a:br/>
            <a:r>
              <a:t>  children,</a:t>
            </a:r>
            <a:br/>
            <a:r>
              <a:t>}: { children: ReactNode }) {</a:t>
            </a:r>
            <a:br/>
            <a:r>
              <a:t>  return (</a:t>
            </a:r>
            <a:br/>
            <a:r>
              <a:t>    &lt;div className="application-shell"&gt;</a:t>
            </a:r>
            <a:br/>
            <a:r>
              <a:t>      &lt;SiteHeader /&gt;</a:t>
            </a:r>
            <a:br/>
            <a:r>
              <a:t>      &lt;div className="workspace-shell"&gt;</a:t>
            </a:r>
            <a:br/>
            <a:r>
              <a:t>        &lt;aside className="workspace-sidebar"&gt;</a:t>
            </a:r>
            <a:br/>
            <a:r>
              <a:t>          &lt;WorkspaceNavigation /&gt;</a:t>
            </a:r>
            <a:br/>
            <a:r>
              <a:t>        &lt;/aside&gt;</a:t>
            </a:r>
            <a:br/>
            <a:r>
              <a:t>        &lt;div className="workspace-main"&gt;</a:t>
            </a:r>
            <a:br/>
            <a:r>
              <a:t>          {children}</a:t>
            </a:r>
            <a:br/>
            <a:r>
              <a:t>        &lt;/div&gt;</a:t>
            </a:r>
            <a:br/>
            <a:r>
              <a:t>      &lt;/div&gt;</a:t>
            </a:r>
            <a:br/>
            <a:r>
              <a:t>      &lt;SiteFooter message="Project workspace" /&gt;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Workspace routes get sidebar navigation.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Workspace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const metadata: Metadata = {</a:t>
            </a:r>
            <a:br/>
            <a:r>
              <a:t>  robots: {</a:t>
            </a:r>
            <a:br/>
            <a:r>
              <a:t>    index: false,</a:t>
            </a:r>
            <a:br/>
            <a:r>
              <a:t>    follow: false,</a:t>
            </a:r>
            <a:br/>
            <a:r>
              <a:t>  },</a:t>
            </a:r>
            <a:br/>
            <a:r>
              <a:t>};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This tells search engines not to index workspace routes.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This is NOT a security control. It's a crawling instruction.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Authentication provides the actual security.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Dashboard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dashboard summarizes project data: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Total projects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Active projects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Total tasks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Completed tasks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Overall progress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Active project cards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Data comes from the catalog (will come from database later).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Using reduce for Aggregates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totalTaskCount = projects.reduce(</a:t>
            </a:r>
            <a:br/>
            <a:r>
              <a:t>  (total, project) =&gt; total + project.taskCount,</a:t>
            </a:r>
            <a:br/>
            <a:r>
              <a:t>  0</a:t>
            </a:r>
            <a:br/>
            <a:r>
              <a:t>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reduce combines an array into one value.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Second argument (0) is the starting value.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For each project: add taskCount to running total.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Layout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Workspace layout uses CSS Grid: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.workspace-shell {</a:t>
            </a:r>
            <a:br/>
            <a:r>
              <a:t>  display: grid;</a:t>
            </a:r>
            <a:br/>
            <a:r>
              <a:t>  grid-template-columns: 16rem minmax(0, 1fr);</a:t>
            </a:r>
            <a:br/>
            <a:r>
              <a:t>}</a:t>
            </a:r>
            <a:br/>
            <a:br/>
            <a:r>
              <a:t>.workspace-sidebar {</a:t>
            </a:r>
            <a:br/>
            <a:r>
              <a:t>  /* Sidebar styles */</a:t>
            </a:r>
            <a:br/>
            <a:r>
              <a:t>}</a:t>
            </a:r>
            <a:br/>
            <a:br/>
            <a:r>
              <a:t>.workspace-main {</a:t>
            </a:r>
            <a:br/>
            <a:r>
              <a:t>  min-width: 0;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minmax(0, 1fr) prevents overflow.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Responsive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Wide screens: Sidebar + Content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Narrow screens: Sidebar becomes horizontal nav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@media (max-width: 48rem) {</a:t>
            </a:r>
            <a:br/>
            <a:r>
              <a:t>  .workspace-shell {</a:t>
            </a:r>
            <a:br/>
            <a:r>
              <a:t>    display: block;</a:t>
            </a:r>
            <a:br/>
            <a:r>
              <a:t>  }</a:t>
            </a:r>
            <a:br/>
            <a:r>
              <a:t>  .workspace-sidebar {</a:t>
            </a:r>
            <a:br/>
            <a:r>
              <a:t>    border-right: 0;</a:t>
            </a:r>
            <a:br/>
            <a:r>
              <a:t>    border-bottom: 0.0625rem solid var(--color-border);</a:t>
            </a:r>
            <a:br/>
            <a:r>
              <a:t>  }</a:t>
            </a:r>
            <a:br/>
            <a:r>
              <a:t>  .workspace-navigation ul {</a:t>
            </a:r>
            <a:br/>
            <a:r>
              <a:t>    display: flex;</a:t>
            </a:r>
            <a:br/>
            <a:r>
              <a:t>    overflow-x: auto;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Sticky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.workspace-navigation {</a:t>
            </a:r>
            <a:br/>
            <a:r>
              <a:t>  position: sticky;</a:t>
            </a:r>
            <a:br/>
            <a:r>
              <a:t>  top: 6.5rem;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Sticky positioning: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Starts in normal flow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Scrolls with container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Sticks at specified offset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Stays within containing block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On narrow screens: position: static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Semantic Landmarks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Courier New"/>
              </a:rPr>
              <a:t>Element  |  Purpose</a:t>
            </a:r>
            <a:br/>
            <a:r>
              <a:t>-------------------</a:t>
            </a:r>
            <a:br/>
            <a:r>
              <a:t>---------  |  ---------</a:t>
            </a:r>
            <a:br/>
            <a:r>
              <a:t>header  |  Introductory or navigational content</a:t>
            </a:r>
            <a:br/>
            <a:r>
              <a:t>nav  |  Collection of navigation links</a:t>
            </a:r>
            <a:br/>
            <a:r>
              <a:t>main  |  Page's primary content</a:t>
            </a:r>
            <a:br/>
            <a:r>
              <a:t>aside  |  Supporting content</a:t>
            </a:r>
            <a:br/>
            <a:r>
              <a:t>footer  |  Closing information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&lt;nav aria-label="Primary navigation"&gt;</a:t>
            </a:r>
            <a:br/>
            <a:r>
              <a:t>  {/* navigation links */}</a:t>
            </a:r>
            <a:br/>
            <a:r>
              <a:t>&lt;/nav&gt;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aria-label to distinguish multiple nav regions.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3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Root layout contains document shell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Marketing routes use marketing layout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Workspace routes use workspace layout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Route group names do not appear in URLs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Every route has one site header and footer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Marketing pages do not display workspace navigation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Workspace pages display workspace navigation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/dashboard displays expected totals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Status filtering still works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Workspace becomes single column on narrow screens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Keyboard focus remains visible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 succeeds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4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 and Client Components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Establish server-first mental model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Protect server-only modules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shared types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active workspace navigation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interactive project search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interactive disclosure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copy-link component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Compose server and client components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client component styles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boundaries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Server Component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 Components can: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 async/await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Read from databases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Read private environment variables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Call server-side services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Perform authorization checks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Render HTML without adding component code to browser bundle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Pass serializable data to Client Components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Client Component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Client Components can: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 React state (useState)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 effects (useEffect)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Handle browser events (onClick)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Read current browser pathname (usePathname)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Access browser APIs (window, document, localStorage)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 component becomes a Client Component with: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"use client";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The Theater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 Components work backstage to prepare scenery and content.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Client Components are the controls available to the audience.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audience does not need access to the entire backstage area merely to press one button.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Keep client boundaries small and focused.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server-only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npm install server-only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"server-only";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Prevents the module from being imported by Client Components.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If a Client Component imports it, Next.js reports an error.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for modules containing: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clients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Private environment variables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Authentication logic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Authorization checks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Shared Types vs Server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Client Components need ProjectSummary type and pure functions.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They must NOT import the server catalog.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Shared types file: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// src/lib/project-types.ts</a:t>
            </a:r>
            <a:br/>
            <a:r>
              <a:t>export type ProjectSummary = {</a:t>
            </a:r>
            <a:br/>
            <a:r>
              <a:t>  id: string;</a:t>
            </a:r>
            <a:br/>
            <a:r>
              <a:t>  name: string;</a:t>
            </a:r>
            <a:br/>
            <a:r>
              <a:t>  // ...</a:t>
            </a:r>
            <a:br/>
            <a:r>
              <a:t>};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Server-only catalog: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// src/lib/project-catalog.ts</a:t>
            </a:r>
            <a:br/>
            <a:r>
              <a:t>import "server-only";</a:t>
            </a:r>
            <a:br/>
            <a:r>
              <a:t>// Contains actual data and database code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The Client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 Client Component is marked by: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"use client";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directive must be the first line.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Files imported by a Client Component become part of its client dependency graph.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Keep the boundary as low as possible.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Active Navigation with usePathname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"use client";</a:t>
            </a:r>
            <a:br/>
            <a:r>
              <a:t>import { usePathname } from "next/navigation";</a:t>
            </a:r>
            <a:br/>
            <a:br/>
            <a:r>
              <a:t>export function WorkspaceNavigation() {</a:t>
            </a:r>
            <a:br/>
            <a:r>
              <a:t>  const pathname = usePathname();</a:t>
            </a:r>
            <a:br/>
            <a:r>
              <a:t>  const isActive = pathname === "/dashboard";</a:t>
            </a:r>
            <a:br/>
            <a:r>
              <a:t>  return (</a:t>
            </a:r>
            <a:br/>
            <a:r>
              <a:t>    &lt;Link className={isActive ? "active" : ""} href="/dashboard"&gt;</a:t>
            </a:r>
            <a:br/>
            <a:r>
              <a:t>      Dashboard</a:t>
            </a:r>
            <a:br/>
            <a:r>
              <a:t>    &lt;/Link&gt;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usePathname requires a Client Component.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Active Route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function isLinkActive(pathname: string, href: string): boolean {</a:t>
            </a:r>
            <a:br/>
            <a:r>
              <a:t>  if (href === "/dashboard") {</a:t>
            </a:r>
            <a:br/>
            <a:r>
              <a:t>    return pathname === href;</a:t>
            </a:r>
            <a:br/>
            <a:r>
              <a:t>  }</a:t>
            </a:r>
            <a:br/>
            <a:r>
              <a:t>  // Projects should stay active for list and detail routes</a:t>
            </a:r>
            <a:br/>
            <a:r>
              <a:t>  return pathname === href || pathname.startsWith(`${href}/`);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Projects remains active for: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/projects/website-redesign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aria-current for Active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&lt;Link</a:t>
            </a:r>
            <a:br/>
            <a:r>
              <a:t>  className={isActive ? "active" : ""}</a:t>
            </a:r>
            <a:br/>
            <a:r>
              <a:t>  href="/dashboard"</a:t>
            </a:r>
            <a:br/>
            <a:r>
              <a:t>  aria-current={isActive ? "page" : undefined}</a:t>
            </a:r>
            <a:br/>
            <a:r>
              <a:t>&gt;</a:t>
            </a:r>
            <a:br/>
            <a:r>
              <a:t>  Dashboard</a:t>
            </a:r>
            <a:br/>
            <a:r>
              <a:t>&lt;/Link&gt;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aria-current communicates the current page to assistive technology.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Visual highlighting alone is not enough.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Interactive Project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"use client";</a:t>
            </a:r>
            <a:br/>
            <a:r>
              <a:t>export function ProjectList({ projects }) {</a:t>
            </a:r>
            <a:br/>
            <a:r>
              <a:t>  const [query, setQuery] = useState("");</a:t>
            </a:r>
            <a:br/>
            <a:r>
              <a:t>  const visibleProjects = useMemo(() =&gt; {</a:t>
            </a:r>
            <a:br/>
            <a:r>
              <a:t>    return projects.filter(project =&gt;</a:t>
            </a:r>
            <a:br/>
            <a:r>
              <a:t>      project.name.toLowerCase().includes(query.toLowerCase())</a:t>
            </a:r>
            <a:br/>
            <a:r>
              <a:t>    );</a:t>
            </a:r>
            <a:br/>
            <a:r>
              <a:t>  }, [query, projects]);</a:t>
            </a:r>
            <a:br/>
            <a:r>
              <a:t>  // ...</a:t>
            </a:r>
            <a:br/>
            <a:r>
              <a:t>}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Uses useState for search text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Uses useMemo for filtering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Updates immediately as user types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No server request needed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Why useMemo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visibleProjects = useMemo(() =&gt; {</a:t>
            </a:r>
            <a:br/>
            <a:r>
              <a:t>  return projects.filter(/* condition */);</a:t>
            </a:r>
            <a:br/>
            <a:r>
              <a:t>}, [query, projects]);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Remembers filtered result until dependencies change.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This optimization is optional for small lists.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It demonstrates tying a calculation to its inputs.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aria-live for 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&lt;p aria-live="polite" aria-atomic="true"&gt;</a:t>
            </a:r>
            <a:br/>
            <a:r>
              <a:t>  {visibleProjects.length} projects</a:t>
            </a:r>
            <a:br/>
            <a:r>
              <a:t>&lt;/p&gt;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aria-live announces changes to screen readers.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polite: Waits for current speech to finish.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atomic: Announces the entire content when changed.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Server to Client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// Server Component</a:t>
            </a:r>
            <a:br/>
            <a:r>
              <a:t>export default async function ProjectsPage() {</a:t>
            </a:r>
            <a:br/>
            <a:r>
              <a:t>  const projects = await getProjects();</a:t>
            </a:r>
            <a:br/>
            <a:r>
              <a:t>  return &lt;ProjectList projects={projects} /&gt;;</a:t>
            </a:r>
            <a:br/>
            <a:r>
              <a:t>}</a:t>
            </a:r>
            <a:br/>
            <a:br/>
            <a:r>
              <a:t>// Client Component</a:t>
            </a:r>
            <a:br/>
            <a:r>
              <a:t>"use client";</a:t>
            </a:r>
            <a:br/>
            <a:r>
              <a:t>export function ProjectList({ projects }) {</a:t>
            </a:r>
            <a:br/>
            <a:r>
              <a:t>  // projects is serializable data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 selects the data. Client filters and displays it.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Why Use useId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contentId = useId();</a:t>
            </a:r>
            <a:br/>
            <a:br/>
            <a:r>
              <a:t>&lt;button aria-controls={contentId}&gt;Toggle&lt;/button&gt;</a:t>
            </a:r>
            <a:br/>
            <a:r>
              <a:t>&lt;div id={contentId}&gt;Content&lt;/div&gt;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Creates a stable ID that works with server rendering and hydration.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Prevents hydration mismatches from Math.random().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Interactive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"use client";</a:t>
            </a:r>
            <a:br/>
            <a:r>
              <a:t>export function InteractiveDisclosure({ title, children }) {</a:t>
            </a:r>
            <a:br/>
            <a:r>
              <a:t>  const [isOpen, setIsOpen] = useState(false);</a:t>
            </a:r>
            <a:br/>
            <a:r>
              <a:t>  const contentId = useId();</a:t>
            </a:r>
            <a:br/>
            <a:br/>
            <a:r>
              <a:t>  return (</a:t>
            </a:r>
            <a:br/>
            <a:r>
              <a:t>    &lt;section&gt;</a:t>
            </a:r>
            <a:br/>
            <a:r>
              <a:t>      &lt;button</a:t>
            </a:r>
            <a:br/>
            <a:r>
              <a:t>        aria-expanded={isOpen}</a:t>
            </a:r>
            <a:br/>
            <a:r>
              <a:t>        aria-controls={contentId}</a:t>
            </a:r>
            <a:br/>
            <a:r>
              <a:t>        onClick={() =&gt; setIsOpen(!isOpen)}</a:t>
            </a:r>
            <a:br/>
            <a:r>
              <a:t>      &gt;</a:t>
            </a:r>
            <a:br/>
            <a:r>
              <a:t>        {title}</a:t>
            </a:r>
            <a:br/>
            <a:r>
              <a:t>      &lt;/button&gt;</a:t>
            </a:r>
            <a:br/>
            <a:r>
              <a:t>      &lt;div id={contentId} hidden={!isOpen}&gt;</a:t>
            </a:r>
            <a:br/>
            <a:r>
              <a:t>        {children}</a:t>
            </a:r>
            <a:br/>
            <a:r>
              <a:t>      &lt;/div&gt;</a:t>
            </a:r>
            <a:br/>
            <a:r>
              <a:t>    &lt;/section&gt;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Browser API in Client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"use client";</a:t>
            </a:r>
            <a:br/>
            <a:r>
              <a:t>export function CopyProjectLink({ projectName }) {</a:t>
            </a:r>
            <a:br/>
            <a:r>
              <a:t>  async function copyCurrentUrl() {</a:t>
            </a:r>
            <a:br/>
            <a:r>
              <a:t>    await navigator.clipboard.writeText(window.location.href);</a:t>
            </a:r>
            <a:br/>
            <a:r>
              <a:t>    setStatus("success");</a:t>
            </a:r>
            <a:br/>
            <a:r>
              <a:t>  }</a:t>
            </a:r>
            <a:br/>
            <a:br/>
            <a:r>
              <a:t>  return (</a:t>
            </a:r>
            <a:br/>
            <a:r>
              <a:t>    &lt;button onClick={copyCurrentUrl}&gt;</a:t>
            </a:r>
            <a:br/>
            <a:r>
              <a:t>      Copy project link</a:t>
            </a:r>
            <a:br/>
            <a:r>
              <a:t>    &lt;/button&gt;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Only runs on the client (event handler).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window.location.href read after click.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Error Handling in Client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try {</a:t>
            </a:r>
            <a:br/>
            <a:r>
              <a:t>  await navigator.clipboard.writeText(window.location.href);</a:t>
            </a:r>
            <a:br/>
            <a:r>
              <a:t>  setStatus("success");</a:t>
            </a:r>
            <a:br/>
            <a:r>
              <a:t>} catch {</a:t>
            </a:r>
            <a:br/>
            <a:r>
              <a:t>  setStatus("error");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Always handle API failures.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Display user-friendly messages, not technical errors.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{status === "error" &amp;&amp; "The link could not be copied."}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Serializable Props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Values passed from Server to Client must be serializable: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Good: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strings, numbers, booleans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plain objects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arrays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Bad: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clients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functions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server-only modules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credentials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The Copy Link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User clicks button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Browser event handler runs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Reads window.location.href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Uses navigator.clipboard API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Updates status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Shows success or error message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All happens on the client.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No server involvement needed.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Interactive Islands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 mostly server-rendered page with small interactive regions.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Server: ProjectPage</a:t>
            </a:r>
            <a:br/>
            <a:r>
              <a:t>├── Server-rendered heading</a:t>
            </a:r>
            <a:br/>
            <a:r>
              <a:t>├── Server-rendered stats</a:t>
            </a:r>
            <a:br/>
            <a:r>
              <a:t>├── Client: CopyProjectLink</a:t>
            </a:r>
            <a:br/>
            <a:r>
              <a:t>└── Client: InteractiveDisclosure</a:t>
            </a:r>
            <a:br/>
            <a:r>
              <a:t>    └── Server-composed children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Keep client boundaries small and focused.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Client Component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# Find all client components</a:t>
            </a:r>
            <a:br/>
            <a:r>
              <a:t>grep -R '"use client"' src/components --include="*.tsx"</a:t>
            </a:r>
            <a:br/>
            <a:br/>
            <a:r>
              <a:t># Expected files:</a:t>
            </a:r>
            <a:br/>
            <a:r>
              <a:t># copy-project-link.tsx</a:t>
            </a:r>
            <a:br/>
            <a:r>
              <a:t># interactive-disclosure.tsx</a:t>
            </a:r>
            <a:br/>
            <a:r>
              <a:t># project-list.tsx</a:t>
            </a:r>
            <a:br/>
            <a:r>
              <a:t># workspace-navigation.tsx</a:t>
            </a:r>
            <a:br/>
            <a:br/>
            <a:r>
              <a:t># Verify no client components in app directory</a:t>
            </a:r>
            <a:br/>
            <a:r>
              <a:t>grep -R '"use client"' src/app --include="*.tsx"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4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project-catalog.ts imports server-only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Shared types live outside protected catalog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Server pages can query the catalog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Client Components do not import server-only catalog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Workspace navigation highlights current route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Nested project routes keep Projects highlighted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Active navigation uses aria-current="page"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Status filtering remains in URL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Text search updates immediately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Refreshing resets text search, preserves URL filter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Disclosure controls work with mouse and keyboard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Copy button handles success and failure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Server-rendered disclosure content appears in initial response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Unknown projects return 404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 succeeds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5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Data Fetching in Next.js 16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Understand data-fetching architecture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PostgreSQL development service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initial database migration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repeatable seed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Validate environment variables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protected database client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Validate database results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project query layer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Replace catalog with database queries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streaming dashboard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loading and error boundaries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database scripts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End-to-end verification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The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Browser</a:t>
            </a:r>
            <a:br/>
            <a:r>
              <a:t>   ↓ HTTPS request</a:t>
            </a:r>
            <a:br/>
            <a:r>
              <a:t>Next.js route</a:t>
            </a:r>
            <a:br/>
            <a:r>
              <a:t>   ↓</a:t>
            </a:r>
            <a:br/>
            <a:r>
              <a:t>Server Component</a:t>
            </a:r>
            <a:br/>
            <a:r>
              <a:t>   ↓</a:t>
            </a:r>
            <a:br/>
            <a:r>
              <a:t>Server-only query function</a:t>
            </a:r>
            <a:br/>
            <a:r>
              <a:t>   ↓</a:t>
            </a:r>
            <a:br/>
            <a:r>
              <a:t>Protected database client</a:t>
            </a:r>
            <a:br/>
            <a:r>
              <a:t>   ↓</a:t>
            </a:r>
            <a:br/>
            <a:r>
              <a:t>PostgreSQL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browser never connects directly to the database.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Architecture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Environment Layer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Validates private server configuration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Database Client Layer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Creates and reuses PostgreSQL connection pool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Query Layer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Contains parameterized SQL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Converts database rows to application types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Presentation Layer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Calls query functions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Renders resulting data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Docker Compose for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services:</a:t>
            </a:r>
            <a:br/>
            <a:r>
              <a:t>  db:</a:t>
            </a:r>
            <a:br/>
            <a:r>
              <a:t>    image: postgres:17-alpine</a:t>
            </a:r>
            <a:br/>
            <a:r>
              <a:t>    environment:</a:t>
            </a:r>
            <a:br/>
            <a:r>
              <a:t>      POSTGRES_DB: launchpad</a:t>
            </a:r>
            <a:br/>
            <a:r>
              <a:t>      POSTGRES_USER: launchpad</a:t>
            </a:r>
            <a:br/>
            <a:r>
              <a:t>      POSTGRES_PASSWORD: launchpad-development-password</a:t>
            </a:r>
            <a:br/>
            <a:r>
              <a:t>    ports:</a:t>
            </a:r>
            <a:br/>
            <a:r>
              <a:t>      - "5432:5432"</a:t>
            </a:r>
            <a:br/>
            <a:r>
              <a:t>    volumes:</a:t>
            </a:r>
            <a:br/>
            <a:r>
              <a:t>      - launchpad-postgres-data:/var/lib/postgresql/data</a:t>
            </a:r>
            <a:br/>
            <a:r>
              <a:t>    healthcheck:</a:t>
            </a:r>
            <a:br/>
            <a:r>
              <a:t>      test: ["CMD-SHELL", "pg_isready --username=launchpad"]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PostgreSQL runs in a container. Data persists in a volume.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Docker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# Start PostgreSQL</a:t>
            </a:r>
            <a:br/>
            <a:r>
              <a:t>docker compose up --detach db</a:t>
            </a:r>
            <a:br/>
            <a:br/>
            <a:r>
              <a:t># Check status</a:t>
            </a:r>
            <a:br/>
            <a:r>
              <a:t>docker compose ps</a:t>
            </a:r>
            <a:br/>
            <a:br/>
            <a:r>
              <a:t># Check health</a:t>
            </a:r>
            <a:br/>
            <a:r>
              <a:t>docker compose exec db pg_isready --username=launchpad</a:t>
            </a:r>
            <a:br/>
            <a:br/>
            <a:r>
              <a:t># Run a query</a:t>
            </a:r>
            <a:br/>
            <a:r>
              <a:t>docker compose exec db psql --username=launchpad --dbname=launchpad --command="SELECT 1"</a:t>
            </a:r>
            <a:br/>
            <a:br/>
            <a:r>
              <a:t># Stop PostgreSQL</a:t>
            </a:r>
            <a:br/>
            <a:r>
              <a:t>docker compose stop db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Database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 versioned change to database structure: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BEGIN;</a:t>
            </a:r>
            <a:br/>
            <a:br/>
            <a:r>
              <a:t>CREATE TABLE projects (</a:t>
            </a:r>
            <a:br/>
            <a:r>
              <a:t>  id UUID PRIMARY KEY DEFAULT gen_random_uuid(),</a:t>
            </a:r>
            <a:br/>
            <a:r>
              <a:t>  name VARCHAR(120) NOT NULL,</a:t>
            </a:r>
            <a:br/>
            <a:r>
              <a:t>  description TEXT NOT NULL,</a:t>
            </a:r>
            <a:br/>
            <a:r>
              <a:t>  status VARCHAR(20) NOT NULL,</a:t>
            </a:r>
            <a:br/>
            <a:r>
              <a:t>  created_at TIMESTAMPTZ NOT NULL DEFAULT CURRENT_TIMESTAMP,</a:t>
            </a:r>
            <a:br/>
            <a:r>
              <a:t>  updated_at TIMESTAMPTZ NOT NULL DEFAULT CURRENT_TIMESTAMP,</a:t>
            </a:r>
            <a:br/>
            <a:r>
              <a:t>  </a:t>
            </a:r>
            <a:br/>
            <a:r>
              <a:t>  CONSTRAINT projects_name_not_blank CHECK (length(trim(name)) &gt; 0),</a:t>
            </a:r>
            <a:br/>
            <a:r>
              <a:t>  CONSTRAINT projects_status_allowed CHECK (status IN ('PLANNED', 'ACTIVE', 'COMPLETED'))</a:t>
            </a:r>
            <a:br/>
            <a:r>
              <a:t>);</a:t>
            </a:r>
            <a:br/>
            <a:br/>
            <a:r>
              <a:t>CREATE TABLE tasks (</a:t>
            </a:r>
            <a:br/>
            <a:r>
              <a:t>  id UUID PRIMARY KEY DEFAULT gen_random_uuid(),</a:t>
            </a:r>
            <a:br/>
            <a:r>
              <a:t>  project_id UUID NOT NULL REFERENCES projects(id) ON DELETE CASCADE,</a:t>
            </a:r>
            <a:br/>
            <a:r>
              <a:t>  title VARCHAR(160) NOT NULL,</a:t>
            </a:r>
            <a:br/>
            <a:r>
              <a:t>  -- more columns...</a:t>
            </a:r>
            <a:br/>
            <a:r>
              <a:t>);</a:t>
            </a:r>
            <a:br/>
            <a:br/>
            <a:r>
              <a:t>COMMIT;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Migration with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migration uses a transaction: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BEGIN;</a:t>
            </a:r>
            <a:br/>
            <a:r>
              <a:t>-- Create tables, add constraints</a:t>
            </a:r>
            <a:br/>
            <a:r>
              <a:t>COMMIT;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If any operation fails before COMMIT, all changes are rolled back.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database is not left in a half-migrated state.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Foreign Key with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CONSTRAINT tasks_project_foreign_key</a:t>
            </a:r>
            <a:br/>
            <a:r>
              <a:t>  FOREIGN KEY (project_id)</a:t>
            </a:r>
            <a:br/>
            <a:r>
              <a:t>  REFERENCES projects(id)</a:t>
            </a:r>
            <a:br/>
            <a:r>
              <a:t>  ON DELETE CASCADE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If a project is deleted, its tasks are deleted automatically.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This is a product rule at the database boundary.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Application code doesn't need to manually delete tasks.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Database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Courier New"/>
              </a:rPr>
              <a:t>Constraint  |  Purpose</a:t>
            </a:r>
            <a:br/>
            <a:r>
              <a:t>----------------------</a:t>
            </a:r>
            <a:br/>
            <a:r>
              <a:t>------------  |  ---------</a:t>
            </a:r>
            <a:br/>
            <a:r>
              <a:t>NOT NULL  |  Column must have a value</a:t>
            </a:r>
            <a:br/>
            <a:r>
              <a:t>CHECK  |  Value must meet a condition</a:t>
            </a:r>
            <a:br/>
            <a:r>
              <a:t>FOREIGN KEY  |  Value must exist in another table</a:t>
            </a:r>
            <a:br/>
            <a:r>
              <a:t>UNIQUE  |  Value must be unique</a:t>
            </a:r>
            <a:br/>
            <a:r>
              <a:t>PRIMARY KEY  |  Unique identifier for the row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Constraints protect data integrity.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Database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CREATE INDEX projects_status_index ON projects(status);</a:t>
            </a:r>
            <a:br/>
            <a:r>
              <a:t>CREATE INDEX projects_created_at_index ON projects(created_at DESC);</a:t>
            </a:r>
            <a:br/>
            <a:r>
              <a:t>CREATE INDEX tasks_project_id_index ON tasks(project_id);</a:t>
            </a:r>
            <a:br/>
            <a:r>
              <a:t>CREATE INDEX tasks_project_status_index ON tasks(project_id, status);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Indexes speed up queries but slow down writes.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Create indexes based on actual query patterns.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Seed data gives the development database predictable records.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BEGIN;</a:t>
            </a:r>
            <a:br/>
            <a:br/>
            <a:r>
              <a:t>DELETE FROM tasks;</a:t>
            </a:r>
            <a:br/>
            <a:r>
              <a:t>DELETE FROM projects;</a:t>
            </a:r>
            <a:br/>
            <a:br/>
            <a:r>
              <a:t>INSERT INTO projects (id, name, description, status)</a:t>
            </a:r>
            <a:br/>
            <a:r>
              <a:t>VALUES</a:t>
            </a:r>
            <a:br/>
            <a:r>
              <a:t>  ('uuid-1', 'Website redesign', '...', 'ACTIVE'),</a:t>
            </a:r>
            <a:br/>
            <a:r>
              <a:t>  ('uuid-2', 'Mobile application', '...', 'PLANNED');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seed is idempotent: running it multiple times produces the same result.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Applying Migrations and 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# Apply migration</a:t>
            </a:r>
            <a:br/>
            <a:r>
              <a:t>docker compose exec -T db psql --username=launchpad --dbname=launchpad \</a:t>
            </a:r>
            <a:br/>
            <a:r>
              <a:t>  &lt; database/migrations/001_create_projects_and_tasks.sql</a:t>
            </a:r>
            <a:br/>
            <a:br/>
            <a:r>
              <a:t># Apply seed</a:t>
            </a:r>
            <a:br/>
            <a:r>
              <a:t>docker compose exec -T db psql --username=launchpad --dbname=launchpad \</a:t>
            </a:r>
            <a:br/>
            <a:r>
              <a:t>  &lt; database/seeds/development.sql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docker compose exec -T for file redirection.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Configuration from outside source code.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# .env.example - documented example</a:t>
            </a:r>
            <a:br/>
            <a:r>
              <a:t>DATABASE_URL=postgresql://user:password@localhost:5432/db</a:t>
            </a:r>
            <a:br/>
            <a:br/>
            <a:r>
              <a:t># .env.local - actual local values (ignored by Git)</a:t>
            </a:r>
            <a:br/>
            <a:r>
              <a:t>DATABASE_URL=postgresql://launchpad:launchpad-development-password@localhost:5432/launchpad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Never commit .env.local to Git.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Environment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{ z } from "zod";</a:t>
            </a:r>
            <a:br/>
            <a:br/>
            <a:r>
              <a:t>const serverEnvironmentSchema = z.object({</a:t>
            </a:r>
            <a:br/>
            <a:r>
              <a:t>  DATABASE_URL: z.string().url(),</a:t>
            </a:r>
            <a:br/>
            <a:r>
              <a:t>});</a:t>
            </a:r>
            <a:br/>
            <a:br/>
            <a:r>
              <a:t>const parsed = serverEnvironmentSchema.safeParse({</a:t>
            </a:r>
            <a:br/>
            <a:r>
              <a:t>  DATABASE_URL: process.env.DATABASE_URL,</a:t>
            </a:r>
            <a:br/>
            <a:r>
              <a:t>});</a:t>
            </a:r>
            <a:br/>
            <a:br/>
            <a:r>
              <a:t>if (!parsed.success) {</a:t>
            </a:r>
            <a:br/>
            <a:r>
              <a:t>  throw new Error("Invalid environment configuration");</a:t>
            </a:r>
            <a:br/>
            <a:r>
              <a:t>}</a:t>
            </a:r>
            <a:br/>
            <a:br/>
            <a:r>
              <a:t>export const serverEnvironment = parsed.data;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Fail fast on misconfiguration.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Protecting the Database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// src/lib/database/client.ts</a:t>
            </a:r>
            <a:br/>
            <a:r>
              <a:t>import "server-only";</a:t>
            </a:r>
            <a:br/>
            <a:br/>
            <a:r>
              <a:t>import postgres from "postgres";</a:t>
            </a:r>
            <a:br/>
            <a:r>
              <a:t>import { serverEnvironment } from "@/lib/environment";</a:t>
            </a:r>
            <a:br/>
            <a:br/>
            <a:r>
              <a:t>const database = postgres(serverEnvironment.DATABASE_URL, {</a:t>
            </a:r>
            <a:br/>
            <a:r>
              <a:t>  max: 10,</a:t>
            </a:r>
            <a:br/>
            <a:r>
              <a:t>  idle_timeout: 20,</a:t>
            </a:r>
            <a:br/>
            <a:r>
              <a:t>  connect_timeout: 10,</a:t>
            </a:r>
            <a:br/>
            <a:r>
              <a:t>});</a:t>
            </a:r>
            <a:br/>
            <a:br/>
            <a:r>
              <a:t>export { database };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server-only: Prevents client bundle import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Connection pool: max: 10 connections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All configuration from validated environment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Connection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 connection pool manages a collection of database connections.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Requests borrow a connection and return it when finished.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Instead of creating a new connection for every query.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Benefits: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Reduced connection overhead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Controlled resource usage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Reusable connections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max: 10 connections per application instance.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Runtime Validation with Zod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TypeScript types disappear at runtime.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Zod validates actual database data.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const projectSummarySchema = z.object({</a:t>
            </a:r>
            <a:br/>
            <a:r>
              <a:t>  id: z.string().uuid(),</a:t>
            </a:r>
            <a:br/>
            <a:r>
              <a:t>  name: z.string().min(1),</a:t>
            </a:r>
            <a:br/>
            <a:r>
              <a:t>  status: z.enum(["PLANNED", "ACTIVE", "COMPLETED"]),</a:t>
            </a:r>
            <a:br/>
            <a:r>
              <a:t>  taskCount: z.number().int().nonnegative(),</a:t>
            </a:r>
            <a:br/>
            <a:r>
              <a:t>  // ...</a:t>
            </a:r>
            <a:br/>
            <a:r>
              <a:t>});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Validate at query boundaries.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Parameterized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Unsafe - string concatenation: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query = `SELECT * FROM projects WHERE id = '${projectId}'`;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Safe - parameterized query: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rows = await database`</a:t>
            </a:r>
            <a:br/>
            <a:r>
              <a:t>  SELECT * FROM projects</a:t>
            </a:r>
            <a:br/>
            <a:r>
              <a:t>  WHERE id = ${projectId}</a:t>
            </a:r>
            <a:br/>
            <a:r>
              <a:t>`;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Values are sent as parameters, not concatenated into SQL.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Prevents SQL injection.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Query Function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async function getProjects(status?: ProjectStatus) {</a:t>
            </a:r>
            <a:br/>
            <a:r>
              <a:t>  const rows = status</a:t>
            </a:r>
            <a:br/>
            <a:r>
              <a:t>    ? await database`</a:t>
            </a:r>
            <a:br/>
            <a:r>
              <a:t>        SELECT</a:t>
            </a:r>
            <a:br/>
            <a:r>
              <a:t>          p.id,</a:t>
            </a:r>
            <a:br/>
            <a:r>
              <a:t>          p.name,</a:t>
            </a:r>
            <a:br/>
            <a:r>
              <a:t>          p.description,</a:t>
            </a:r>
            <a:br/>
            <a:r>
              <a:t>          p.status,</a:t>
            </a:r>
            <a:br/>
            <a:r>
              <a:t>          COUNT(t.id)::integer AS "taskCount",</a:t>
            </a:r>
            <a:br/>
            <a:r>
              <a:t>          COUNT(t.id) FILTER (WHERE t.status = 'COMPLETED')::integer AS "completedTaskCount"</a:t>
            </a:r>
            <a:br/>
            <a:r>
              <a:t>        FROM projects AS p</a:t>
            </a:r>
            <a:br/>
            <a:r>
              <a:t>        LEFT JOIN tasks AS t ON t.project_id = p.id</a:t>
            </a:r>
            <a:br/>
            <a:r>
              <a:t>        WHERE p.status = ${status}</a:t>
            </a:r>
            <a:br/>
            <a:r>
              <a:t>        GROUP BY p.id</a:t>
            </a:r>
            <a:br/>
            <a:r>
              <a:t>        ORDER BY p.updated_at DESC</a:t>
            </a:r>
            <a:br/>
            <a:r>
              <a:t>      `</a:t>
            </a:r>
            <a:br/>
            <a:r>
              <a:t>    : await database`...`;</a:t>
            </a:r>
            <a:br/>
            <a:br/>
            <a:r>
              <a:t>  return projectSummaryListSchema.parse(rows);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SQL Aliases and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PostgreSQL columns: snake_case (completed_task_count)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TypeScript properties: camelCase (completedTaskCount)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SQL aliases convert between them: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COUNT(t.id)::integer AS "taskCount"</a:t>
            </a:r>
            <a:br/>
            <a:r>
              <a:t>COUNT(t.id) FILTER (WHERE t.status = 'COMPLETED')::integer AS "completedTaskCount"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Clear transformation boundary.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Request Memoization with cache()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const getProjectById = cache(</a:t>
            </a:r>
            <a:br/>
            <a:r>
              <a:t>  async (projectId: string) =&gt; {</a:t>
            </a:r>
            <a:br/>
            <a:r>
              <a:t>    const rows = await database`</a:t>
            </a:r>
            <a:br/>
            <a:r>
              <a:t>      SELECT * FROM projects WHERE id = ${projectId}</a:t>
            </a:r>
            <a:br/>
            <a:r>
              <a:t>    `;</a:t>
            </a:r>
            <a:br/>
            <a:r>
              <a:t>    return rows[0] || null;</a:t>
            </a:r>
            <a:br/>
            <a:r>
              <a:t>  }</a:t>
            </a:r>
            <a:br/>
            <a:r>
              <a:t>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Deduplicates identical queries during one server request.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metadata and page both call getProjectById.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Database queried once, result reused.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Not a long-lived cache. Only during one request.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Async Server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 Components can be async: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default async function ProjectsPage() {</a:t>
            </a:r>
            <a:br/>
            <a:r>
              <a:t>  const projects = await getProjects();</a:t>
            </a:r>
            <a:br/>
            <a:r>
              <a:t>  return &lt;ProjectList projects={projects} /&gt;;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Data is fetched on the server before rendering.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initial HTML contains the data.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No useEffect, no loading state needed for initial data.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Streaming with Suspense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{ Suspense } from "react";</a:t>
            </a:r>
            <a:br/>
            <a:br/>
            <a:r>
              <a:t>export default function DashboardPage() {</a:t>
            </a:r>
            <a:br/>
            <a:r>
              <a:t>  return (</a:t>
            </a:r>
            <a:br/>
            <a:r>
              <a:t>    &lt;&gt;</a:t>
            </a:r>
            <a:br/>
            <a:r>
              <a:t>      &lt;Suspense fallback={&lt;MetricsSkeleton /&gt;}&gt;</a:t>
            </a:r>
            <a:br/>
            <a:r>
              <a:t>        &lt;DashboardMetrics /&gt;</a:t>
            </a:r>
            <a:br/>
            <a:r>
              <a:t>      &lt;/Suspense&gt;</a:t>
            </a:r>
            <a:br/>
            <a:br/>
            <a:r>
              <a:t>      &lt;Suspense fallback={&lt;ProjectsSkeleton /&gt;}&gt;</a:t>
            </a:r>
            <a:br/>
            <a:r>
              <a:t>        &lt;ActiveProjects /&gt;</a:t>
            </a:r>
            <a:br/>
            <a:r>
              <a:t>      &lt;/Suspense&gt;</a:t>
            </a:r>
            <a:br/>
            <a:r>
              <a:t>    &lt;/&gt;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Each section loads independently.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Completed sections stream to the browser.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Suspense Boundary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Good boundary: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&lt;Suspense fallback={&lt;MetricsSkeleton /&gt;}&gt;</a:t>
            </a:r>
            <a:br/>
            <a:r>
              <a:t>  &lt;DashboardMetrics /&gt;</a:t>
            </a:r>
            <a:br/>
            <a:r>
              <a:t>&lt;/Suspense&gt;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Poor boundary: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&lt;Suspense fallback={&lt;Spinner /&gt;}&gt;</a:t>
            </a:r>
            <a:br/>
            <a:r>
              <a:t>  &lt;StaticHeading /&gt;</a:t>
            </a:r>
            <a:br/>
            <a:r>
              <a:t>&lt;/Suspense&gt;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Boundaries should correspond to meaningful data-loading units.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Loading UI (loading.tsx)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// src/app/(workspace)/dashboard/loading.tsx</a:t>
            </a:r>
            <a:br/>
            <a:r>
              <a:t>export default function DashboardLoading() {</a:t>
            </a:r>
            <a:br/>
            <a:r>
              <a:t>  return (</a:t>
            </a:r>
            <a:br/>
            <a:r>
              <a:t>    &lt;main&gt;</a:t>
            </a:r>
            <a:br/>
            <a:r>
              <a:t>      &lt;h1&gt;Loading dashboard...&lt;/h1&gt;</a:t>
            </a:r>
            <a:br/>
            <a:r>
              <a:t>      &lt;MetricsSkeleton /&gt;</a:t>
            </a:r>
            <a:br/>
            <a:r>
              <a:t>      &lt;ProjectsSkeleton /&gt;</a:t>
            </a:r>
            <a:br/>
            <a:r>
              <a:t>    &lt;/main&gt;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Route-level Suspense fallback.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Shows immediately during navigation to the route.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Error Boundary (error.tsx)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"use client";</a:t>
            </a:r>
            <a:br/>
            <a:br/>
            <a:r>
              <a:t>export default function WorkspaceError({</a:t>
            </a:r>
            <a:br/>
            <a:r>
              <a:t>  error,</a:t>
            </a:r>
            <a:br/>
            <a:r>
              <a:t>  reset,</a:t>
            </a:r>
            <a:br/>
            <a:r>
              <a:t>}: {</a:t>
            </a:r>
            <a:br/>
            <a:r>
              <a:t>  error: Error;</a:t>
            </a:r>
            <a:br/>
            <a:r>
              <a:t>  reset: () =&gt; void;</a:t>
            </a:r>
            <a:br/>
            <a:r>
              <a:t>}) {</a:t>
            </a:r>
            <a:br/>
            <a:r>
              <a:t>  return (</a:t>
            </a:r>
            <a:br/>
            <a:r>
              <a:t>    &lt;main&gt;</a:t>
            </a:r>
            <a:br/>
            <a:r>
              <a:t>      &lt;h1&gt;Something went wrong&lt;/h1&gt;</a:t>
            </a:r>
            <a:br/>
            <a:r>
              <a:t>      &lt;button onClick={reset}&gt;Try again&lt;/button&gt;</a:t>
            </a:r>
            <a:br/>
            <a:r>
              <a:t>    &lt;/main&gt;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Client Component with reset function.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Catches unexpected rendering errors.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Skeleton Loading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function SkeletonLine() {</a:t>
            </a:r>
            <a:br/>
            <a:r>
              <a:t>  return (</a:t>
            </a:r>
            <a:br/>
            <a:r>
              <a:t>    &lt;div className="skeleton-line" /&gt;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.skeleton-line {</a:t>
            </a:r>
            <a:br/>
            <a:r>
              <a:t>  display: block;</a:t>
            </a:r>
            <a:br/>
            <a:r>
              <a:t>  height: 0.85rem;</a:t>
            </a:r>
            <a:br/>
            <a:r>
              <a:t>  border-radius: 999rem;</a:t>
            </a:r>
            <a:br/>
            <a:r>
              <a:t>  background: linear-gradient(90deg, #eef2f8 25%, #ffffff 50%, #eef2f8 75%);</a:t>
            </a:r>
            <a:br/>
            <a:r>
              <a:t>  background-size: 200% 100%;</a:t>
            </a:r>
            <a:br/>
            <a:r>
              <a:t>  animation: shimmer 1.5s linear infinite;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Skeletons preserve layout, don't pretend to be real content.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Reduced Motion for Skeletons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@media (prefers-reduced-motion: reduce) {</a:t>
            </a:r>
            <a:br/>
            <a:r>
              <a:t>  .skeleton-line {</a:t>
            </a:r>
            <a:br/>
            <a:r>
              <a:t>    animation: none;</a:t>
            </a:r>
            <a:br/>
            <a:r>
              <a:t>    background: var(--color-surface-subtle);</a:t>
            </a:r>
            <a:br/>
            <a:r>
              <a:t>  }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Respect user motion preferences.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Animation can cause discomfort for some users.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Database npm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{</a:t>
            </a:r>
            <a:br/>
            <a:r>
              <a:t>  "scripts": {</a:t>
            </a:r>
            <a:br/>
            <a:r>
              <a:t>    "db:start": "docker compose up --detach db",</a:t>
            </a:r>
            <a:br/>
            <a:r>
              <a:t>    "db:stop": "docker compose stop db",</a:t>
            </a:r>
            <a:br/>
            <a:r>
              <a:t>    "db:status": "docker compose ps",</a:t>
            </a:r>
            <a:br/>
            <a:r>
              <a:t>    "db:migrate": "docker compose exec -T db psql ...",</a:t>
            </a:r>
            <a:br/>
            <a:r>
              <a:t>    "db:seed": "docker compose exec -T db psql ...",</a:t>
            </a:r>
            <a:br/>
            <a:r>
              <a:t>    "db:shell": "docker compose exec db psql ..."</a:t>
            </a:r>
            <a:br/>
            <a:r>
              <a:t>  }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One consistent interface for database operations.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Removing the Temporary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After migrating to PostgreSQL: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# Search for catalog imports</a:t>
            </a:r>
            <a:br/>
            <a:r>
              <a:t>grep -R 'project-catalog' src --include="*.ts" --include="*.tsx"</a:t>
            </a:r>
            <a:br/>
            <a:br/>
            <a:r>
              <a:t># Remove the file</a:t>
            </a:r>
            <a:br/>
            <a:r>
              <a:t>rm src/lib/project-catalog.ts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database is now the source of truth.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5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Docker and Docker Compose installed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PostgreSQL reports healthy status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Migration creates projects and tasks tables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constraints and indexes exist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Seed creates 4 projects and 12 tasks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Rerunning seed doesn't create duplicates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.env.local is ignored by Git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.env.example documents DATABASE_URL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Environment values validated with Zod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client is server-only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SQL values use parameterized queries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rows validated at query boundary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5 Verification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 reads from PostgreSQL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Status filtering happens on the server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Client-side text search still works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detail routes use UUIDs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Invalid UUIDs return 404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Missing UUIDs return 404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Metadata and page share memoization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Dashboard metrics from PostgreSQL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Dashboard uses Suspense boundaries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Loading interfaces render correctly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Error boundary handles failures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Temporary catalog removed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npm scripts work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 succeeds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6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Styling Your Application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Define styling architecture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optimized fonts with next/font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design tokens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accessibility utilities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StatusBadge CSS Module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ProjectCard CSS Module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Refactor ProjectList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Refactor Dashboard cards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 shared StatusBadge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responsive refinements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accessibility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styling boundaries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Styling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Three complementary layers: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Global Foundation (globals.css)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Browser normalization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Document typography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Application shells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Shared page layouts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Design Tokens (design-tokens.css)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Colors, spacing, shadows, typography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Meaningful names for visual decisions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CSS Modules (*.module.css)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Locally scoped component styles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StatusBadge, ProjectCard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Design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:root {</a:t>
            </a:r>
            <a:br/>
            <a:r>
              <a:t>  /* Typography */</a:t>
            </a:r>
            <a:br/>
            <a:r>
              <a:t>  --font-sans: var(--font-geist-sans), Arial, Helvetica, sans-serif;</a:t>
            </a:r>
            <a:br/>
            <a:r>
              <a:t>  --font-size-body: 1rem;</a:t>
            </a:r>
            <a:br/>
            <a:r>
              <a:t>  --font-size-heading-large: clamp(2.5rem, 7vw, 4.75rem);</a:t>
            </a:r>
            <a:br/>
            <a:br/>
            <a:r>
              <a:t>  /* Colors */</a:t>
            </a:r>
            <a:br/>
            <a:r>
              <a:t>  --color-primary: #3457d5;</a:t>
            </a:r>
            <a:br/>
            <a:r>
              <a:t>  --color-text: #172033;</a:t>
            </a:r>
            <a:br/>
            <a:r>
              <a:t>  --color-text-muted: #59657a;</a:t>
            </a:r>
            <a:br/>
            <a:br/>
            <a:r>
              <a:t>  /* Spacing */</a:t>
            </a:r>
            <a:br/>
            <a:r>
              <a:t>  --space-4: 1rem;</a:t>
            </a:r>
            <a:br/>
            <a:r>
              <a:t>  --space-8: 2rem;</a:t>
            </a:r>
            <a:br/>
            <a:r>
              <a:t>  --space-16: 4rem;</a:t>
            </a:r>
            <a:br/>
            <a:br/>
            <a:r>
              <a:t>  /* Shape */</a:t>
            </a:r>
            <a:br/>
            <a:r>
              <a:t>  --radius-large: 1rem;</a:t>
            </a:r>
            <a:br/>
            <a:r>
              <a:t>  --shadow-card: 0 1rem 2.5rem rgb(23 32 51 / 8%);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Semantic vs Primitive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Primitive token names the value itself: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--blue-600: #3457d5;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Semantic token names its role: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--color-primary: #3457d5;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Components depend on the role, not the specific color.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Makes theme changes easier.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next/font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{ Geist, Geist_Mono } from "next/font/google";</a:t>
            </a:r>
            <a:br/>
            <a:br/>
            <a:r>
              <a:t>const geistSans = Geist({</a:t>
            </a:r>
            <a:br/>
            <a:r>
              <a:t>  variable: "--font-geist-sans",</a:t>
            </a:r>
            <a:br/>
            <a:r>
              <a:t>  subsets: ["latin"],</a:t>
            </a:r>
            <a:br/>
            <a:r>
              <a:t>  display: "swap",</a:t>
            </a:r>
            <a:br/>
            <a:r>
              <a:t>});</a:t>
            </a:r>
            <a:br/>
            <a:br/>
            <a:r>
              <a:t>const geistMono = Geist_Mono({</a:t>
            </a:r>
            <a:br/>
            <a:r>
              <a:t>  variable: "--font-geist-mono",</a:t>
            </a:r>
            <a:br/>
            <a:r>
              <a:t>  subsets: ["latin"],</a:t>
            </a:r>
            <a:br/>
            <a:r>
              <a:t>  display: "swap",</a:t>
            </a:r>
            <a:br/>
            <a:r>
              <a:t>});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Self-hosted fonts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Automatic fallback behavior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CSS variable integration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Build-time optimization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Font Display: Swap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display: "swap"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Allows the browser to show text using a fallback font while the preferred font loads.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Users see content instead of blank text.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No layout shift when the font loads.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 CSS Module uses .module.css extension: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/* status-badge.module.css */</a:t>
            </a:r>
            <a:br/>
            <a:r>
              <a:t>.badge {</a:t>
            </a:r>
            <a:br/>
            <a:r>
              <a:t>  display: inline-flex;</a:t>
            </a:r>
            <a:br/>
            <a:r>
              <a:t>  padding: var(--space-1) var(--space-3);</a:t>
            </a:r>
            <a:br/>
            <a:r>
              <a:t>  border-radius: var(--radius-pill);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Imported and used: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styles from "./status-badge.module.css";</a:t>
            </a:r>
            <a:br/>
            <a:br/>
            <a:r>
              <a:t>&lt;span className={styles.badge}&gt;Active&lt;/span&gt;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Next.js generates scoped class names.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CSS Module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statusClassNames = {</a:t>
            </a:r>
            <a:br/>
            <a:r>
              <a:t>  ACTIVE: styles.active,</a:t>
            </a:r>
            <a:br/>
            <a:r>
              <a:t>  PLANNED: styles.planned,</a:t>
            </a:r>
            <a:br/>
            <a:r>
              <a:t>  COMPLETED: styles.completed,</a:t>
            </a:r>
            <a:br/>
            <a:r>
              <a:t>} satisfies Record&lt;ProjectStatus, string&gt;;</a:t>
            </a:r>
            <a:br/>
            <a:br/>
            <a:r>
              <a:t>&lt;StatusBadge className={statusClassNames[status]} /&gt;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satisfies ensures every status has a variant.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TypeScript catches missing variants.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The Skip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&lt;a className="skip-link" href="#main-content"&gt;</a:t>
            </a:r>
            <a:br/>
            <a:r>
              <a:t>  Skip to main content</a:t>
            </a:r>
            <a:br/>
            <a:r>
              <a:t>&lt;/a&gt;</a:t>
            </a:r>
            <a:br/>
            <a:br/>
            <a:r>
              <a:t>&lt;div id="main-content" tabIndex={-1}&gt;</a:t>
            </a:r>
            <a:br/>
            <a:r>
              <a:t>  {children}</a:t>
            </a:r>
            <a:br/>
            <a:r>
              <a:t>&lt;/div&gt;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Allows keyboard users to bypass repeated navigation.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Only visible when focused.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.skip-link {</a:t>
            </a:r>
            <a:br/>
            <a:r>
              <a:t>  position: fixed;</a:t>
            </a:r>
            <a:br/>
            <a:r>
              <a:t>  transform: translateY(calc(-100% - 2rem));</a:t>
            </a:r>
            <a:br/>
            <a:r>
              <a:t>}</a:t>
            </a:r>
            <a:br/>
            <a:r>
              <a:t>.skip-link:focus {</a:t>
            </a:r>
            <a:br/>
            <a:r>
              <a:t>  transform: translateY(0);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focus-visible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:where(a, button, input, select, textarea):focus-visible {</a:t>
            </a:r>
            <a:br/>
            <a:r>
              <a:t>  outline: 0.2rem solid var(--color-focus);</a:t>
            </a:r>
            <a:br/>
            <a:r>
              <a:t>  outline-offset: 0.2rem;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Shows focus for keyboard interaction.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Does not show focus ring after a pointer click.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Better user experience for both keyboard and mouse users.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Accessible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Color should not be the only way to communicate meaning.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Status badges always include text: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&lt;StatusBadge status="COMPLETED" /&gt;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Renders: "Completed" with green styling.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 user unable to distinguish colors can still read the text.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Reduced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@media (prefers-reduced-motion: reduce) {</a:t>
            </a:r>
            <a:br/>
            <a:r>
              <a:t>  *,</a:t>
            </a:r>
            <a:br/>
            <a:r>
              <a:t>  *::before,</a:t>
            </a:r>
            <a:br/>
            <a:r>
              <a:t>  *::after {</a:t>
            </a:r>
            <a:br/>
            <a:r>
              <a:t>    animation-duration: 0.01ms !important;</a:t>
            </a:r>
            <a:br/>
            <a:r>
              <a:t>    transition-duration: 0.01ms !important;</a:t>
            </a:r>
            <a:br/>
            <a:r>
              <a:t>  }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Respects user motion preferences.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Removes nonessential animations.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Print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@media print {</a:t>
            </a:r>
            <a:br/>
            <a:r>
              <a:t>  .skip-link,</a:t>
            </a:r>
            <a:br/>
            <a:r>
              <a:t>  .site-header,</a:t>
            </a:r>
            <a:br/>
            <a:r>
              <a:t>  .site-footer,</a:t>
            </a:r>
            <a:br/>
            <a:r>
              <a:t>  .workspace-sidebar {</a:t>
            </a:r>
            <a:br/>
            <a:r>
              <a:t>    display: none !important;</a:t>
            </a:r>
            <a:br/>
            <a:r>
              <a:t>  }</a:t>
            </a:r>
            <a:br/>
            <a:br/>
            <a:r>
              <a:t>  .project-card {</a:t>
            </a:r>
            <a:br/>
            <a:r>
              <a:t>    break-inside: avoid;</a:t>
            </a:r>
            <a:br/>
            <a:r>
              <a:t>    box-shadow: none !important;</a:t>
            </a:r>
            <a:br/>
            <a:r>
              <a:t>  }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Remove navigation and interactive controls for printing.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Preserve content, show it cleanly.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Responsive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@media (max-width: 48rem) {</a:t>
            </a:r>
            <a:br/>
            <a:r>
              <a:t>  .workspace-shell {</a:t>
            </a:r>
            <a:br/>
            <a:r>
              <a:t>    display: block;</a:t>
            </a:r>
            <a:br/>
            <a:r>
              <a:t>  }</a:t>
            </a:r>
            <a:br/>
            <a:br/>
            <a:r>
              <a:t>  .workspace-navigation ul {</a:t>
            </a:r>
            <a:br/>
            <a:r>
              <a:t>    display: flex;</a:t>
            </a:r>
            <a:br/>
            <a:r>
              <a:t>    overflow-x: auto;</a:t>
            </a:r>
            <a:br/>
            <a:r>
              <a:t>  }</a:t>
            </a:r>
            <a:br/>
            <a:br/>
            <a:r>
              <a:t>  .dashboard-stat-grid {</a:t>
            </a:r>
            <a:br/>
            <a:r>
              <a:t>    grid-template-columns: 1fr;</a:t>
            </a:r>
            <a:br/>
            <a:r>
              <a:t>  }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Design for all screen sizes.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Test at: 1440px, 1024px, 768px, 390px, 320px.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CSS Grid vs Flexbox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Grid for two-dimensional layouts: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.project-grid {</a:t>
            </a:r>
            <a:br/>
            <a:r>
              <a:t>  display: grid;</a:t>
            </a:r>
            <a:br/>
            <a:r>
              <a:t>  grid-template-columns: repeat(2, minmax(0, 1fr));</a:t>
            </a:r>
            <a:br/>
            <a:r>
              <a:t>  gap: 1.25rem;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Flexbox for one-dimensional layouts: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.navigation-list {</a:t>
            </a:r>
            <a:br/>
            <a:r>
              <a:t>  display: flex;</a:t>
            </a:r>
            <a:br/>
            <a:r>
              <a:t>  align-items: center;</a:t>
            </a:r>
            <a:br/>
            <a:r>
              <a:t>  gap: 0.25rem;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Choose the right tool for the layout.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minmax(0, 1fr)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.grid {</a:t>
            </a:r>
            <a:br/>
            <a:r>
              <a:t>  grid-template-columns: 16rem minmax(0, 1fr);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minmax(0, 1fr) prevents grid children from forcing overflow.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Without it, long content can break the layout.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Critical for responsive design.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Component Boundary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# Verify Client Components don't import server code</a:t>
            </a:r>
            <a:br/>
            <a:r>
              <a:t>for file in $(grep -Rl '"use client"' src --include="*.tsx"); do</a:t>
            </a:r>
            <a:br/>
            <a:r>
              <a:t>  if grep -q 'database/project-queries' "${file}"; then</a:t>
            </a:r>
            <a:br/>
            <a:r>
              <a:t>    echo "Unsafe server import in ${file}"</a:t>
            </a:r>
            <a:br/>
            <a:r>
              <a:t>    exit 1</a:t>
            </a:r>
            <a:br/>
            <a:r>
              <a:t>  fi</a:t>
            </a:r>
            <a:br/>
            <a:r>
              <a:t>done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Client Components must not import server-only modules.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Separate visual components from data access.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6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Geist Sans and Geist Mono configured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Font variables available through CSS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Design tokens define shared visual roles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Skip link appears on keyboard focus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Marketing routes contain one main-content target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Workspace routes contain one main-content target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Not-found route contains one main-content target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Focus indicators remain visible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Reduced-motion preferences disable animation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Print output removes navigation and controls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Status badges use CSS Modules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Every status has a typed visual variant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Status meaning doesn't depend on color alone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6 Verification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cards use CSS Modules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list uses reusable ProjectCard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Dashboard uses same ProjectCard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details use StatusBadge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search still updates immediately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Server-side status filtering still works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queries remain server-only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Reusable components remain environment-neutral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Interface usable at 200% zoom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Interactive targets are comfortably sized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names and descriptions wrap without overflow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 succeeds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Git checkpoint created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7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Building APIs and Full-Stack Features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Design mutation architecture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shared input schemas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task result schemas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database mutations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Standardize API responses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project collection API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individual project API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health-check route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shared action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project creation Server Action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project creation form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task Server Actions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task form and list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tasks to project page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Style forms and tasks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End-to-end verification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Restore deterministic seed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Mutation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Two server entry points: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 Actions: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Form submission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Direct UI integration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Server-side validation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Revalidation and redirect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Route Handlers: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HTTP API endpoints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JSON request/response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Third-party integrations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Mobile clients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Both call shared validation and database functions.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Server Action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Browser form</a:t>
            </a:r>
            <a:br/>
            <a:r>
              <a:t>    ↓</a:t>
            </a:r>
            <a:br/>
            <a:r>
              <a:t>Server Action</a:t>
            </a:r>
            <a:br/>
            <a:r>
              <a:t>    ↓</a:t>
            </a:r>
            <a:br/>
            <a:r>
              <a:t>Validation (Zod)</a:t>
            </a:r>
            <a:br/>
            <a:r>
              <a:t>    ↓</a:t>
            </a:r>
            <a:br/>
            <a:r>
              <a:t>Database mutation</a:t>
            </a:r>
            <a:br/>
            <a:r>
              <a:t>    ↓</a:t>
            </a:r>
            <a:br/>
            <a:r>
              <a:t>Route revalidation</a:t>
            </a:r>
            <a:br/>
            <a:r>
              <a:t>    ↓</a:t>
            </a:r>
            <a:br/>
            <a:r>
              <a:t>Redirect or updated interface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 Actions are public server entry points.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They must validate all input, authenticate, and authorize.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Route Handler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HTTP client</a:t>
            </a:r>
            <a:br/>
            <a:r>
              <a:t>    ↓</a:t>
            </a:r>
            <a:br/>
            <a:r>
              <a:t>POST /api/projects</a:t>
            </a:r>
            <a:br/>
            <a:r>
              <a:t>    ↓</a:t>
            </a:r>
            <a:br/>
            <a:r>
              <a:t>JSON validation (Zod)</a:t>
            </a:r>
            <a:br/>
            <a:r>
              <a:t>    ↓</a:t>
            </a:r>
            <a:br/>
            <a:r>
              <a:t>Database mutation</a:t>
            </a:r>
            <a:br/>
            <a:r>
              <a:t>    ↓</a:t>
            </a:r>
            <a:br/>
            <a:r>
              <a:t>JSON response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Route Handlers provide explicit HTTP endpoints.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Useful for external clients, webhooks, health checks.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Shared Input Schemas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const createProjectInputSchema = z.object({</a:t>
            </a:r>
            <a:br/>
            <a:r>
              <a:t>  name: z.string().trim().min(1).max(120),</a:t>
            </a:r>
            <a:br/>
            <a:r>
              <a:t>  description: z.string().trim().min(1).max(2000),</a:t>
            </a:r>
            <a:br/>
            <a:r>
              <a:t>  status: z.enum(PROJECT_STATUSES),</a:t>
            </a:r>
            <a:br/>
            <a:r>
              <a:t>});</a:t>
            </a:r>
            <a:br/>
            <a:br/>
            <a:r>
              <a:t>export const updateProjectInputSchema =</a:t>
            </a:r>
            <a:br/>
            <a:r>
              <a:t>  createProjectInputSchema.partial().refine(</a:t>
            </a:r>
            <a:br/>
            <a:r>
              <a:t>    (value) =&gt; Object.keys(value).length &gt; 0,</a:t>
            </a:r>
            <a:br/>
            <a:r>
              <a:t>    { message: "Provide at least one field to update." }</a:t>
            </a:r>
            <a:br/>
            <a:r>
              <a:t>  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Schemas are reused by Route Handlers and Server Actions.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Validation lengths match database constraints.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Task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const TASK_STATUSES = ["TODO", "IN_PROGRESS", "COMPLETED"] as const;</a:t>
            </a:r>
            <a:br/>
            <a:r>
              <a:t>export type TaskStatus = (typeof TASK_STATUSES)[number];</a:t>
            </a:r>
            <a:br/>
            <a:br/>
            <a:r>
              <a:t>export const TASK_PRIORITIES = ["LOW", "MEDIUM", "HIGH"] as const;</a:t>
            </a:r>
            <a:br/>
            <a:r>
              <a:t>export type TaskPriority = (typeof TASK_PRIORITIES)[number];</a:t>
            </a:r>
            <a:br/>
            <a:br/>
            <a:r>
              <a:t>export type Task = {</a:t>
            </a:r>
            <a:br/>
            <a:r>
              <a:t>  id: string;</a:t>
            </a:r>
            <a:br/>
            <a:r>
              <a:t>  projectId: string;</a:t>
            </a:r>
            <a:br/>
            <a:r>
              <a:t>  title: string;</a:t>
            </a:r>
            <a:br/>
            <a:r>
              <a:t>  description: string | null;</a:t>
            </a:r>
            <a:br/>
            <a:r>
              <a:t>  status: TaskStatus;</a:t>
            </a:r>
            <a:br/>
            <a:r>
              <a:t>  priority: TaskPriority;</a:t>
            </a:r>
            <a:br/>
            <a:r>
              <a:t>  dueDate: string | null;</a:t>
            </a:r>
            <a:br/>
            <a:r>
              <a:t>  createdAt: string;</a:t>
            </a:r>
            <a:br/>
            <a:r>
              <a:t>  updatedAt: string;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Database Mutation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async function createProject(input: CreateProjectInput) {</a:t>
            </a:r>
            <a:br/>
            <a:r>
              <a:t>  const rows = await database`</a:t>
            </a:r>
            <a:br/>
            <a:r>
              <a:t>    INSERT INTO projects (name, description, status)</a:t>
            </a:r>
            <a:br/>
            <a:r>
              <a:t>    VALUES (${input.name}, ${input.description}, ${input.status})</a:t>
            </a:r>
            <a:br/>
            <a:r>
              <a:t>    RETURNING id</a:t>
            </a:r>
            <a:br/>
            <a:r>
              <a:t>  `;</a:t>
            </a:r>
            <a:br/>
            <a:br/>
            <a:r>
              <a:t>  const projectId = rows[0]?.id;</a:t>
            </a:r>
            <a:br/>
            <a:r>
              <a:t>  return readProjectAfterMutation(projectId);</a:t>
            </a:r>
            <a:br/>
            <a:r>
              <a:t>}</a:t>
            </a:r>
            <a:br/>
            <a:br/>
            <a:r>
              <a:t>export async function updateProject(projectId: string, input: UpdateProjectInput) {</a:t>
            </a:r>
            <a:br/>
            <a:r>
              <a:t>  const rows = await database`</a:t>
            </a:r>
            <a:br/>
            <a:r>
              <a:t>    UPDATE projects</a:t>
            </a:r>
            <a:br/>
            <a:r>
              <a:t>    SET</a:t>
            </a:r>
            <a:br/>
            <a:r>
              <a:t>      name = COALESCE(${input.name ?? null}, name),</a:t>
            </a:r>
            <a:br/>
            <a:r>
              <a:t>      description = COALESCE(${input.description ?? null}, description),</a:t>
            </a:r>
            <a:br/>
            <a:r>
              <a:t>      status = COALESCE(${input.status ?? null}, status),</a:t>
            </a:r>
            <a:br/>
            <a:r>
              <a:t>      updated_at = CURRENT_TIMESTAMP</a:t>
            </a:r>
            <a:br/>
            <a:r>
              <a:t>    WHERE id = ${projectId}</a:t>
            </a:r>
            <a:br/>
            <a:r>
              <a:t>    RETURNING id</a:t>
            </a:r>
            <a:br/>
            <a:r>
              <a:t>  `;</a:t>
            </a:r>
            <a:br/>
            <a:r>
              <a:t>  // ...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INSERT ... SELECT for Task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INSERT INTO tasks (project_id, title, description, priority, due_date)</a:t>
            </a:r>
            <a:br/>
            <a:r>
              <a:t>SELECT</a:t>
            </a:r>
            <a:br/>
            <a:r>
              <a:t>  p.id,</a:t>
            </a:r>
            <a:br/>
            <a:r>
              <a:t>  ${input.title},</a:t>
            </a:r>
            <a:br/>
            <a:r>
              <a:t>  ${input.description},</a:t>
            </a:r>
            <a:br/>
            <a:r>
              <a:t>  ${input.priority},</a:t>
            </a:r>
            <a:br/>
            <a:r>
              <a:t>  ${input.dueDate}</a:t>
            </a:r>
            <a:br/>
            <a:r>
              <a:t>FROM projects AS p</a:t>
            </a:r>
            <a:br/>
            <a:r>
              <a:t>WHERE p.id = ${projectId}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Only inserts if the project exists.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Returns null if no project matches.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Prevents orphaned tasks.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API Response 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function apiSuccess&lt;T&gt;(data: T, init?: ResponseInit) {</a:t>
            </a:r>
            <a:br/>
            <a:r>
              <a:t>  return NextResponse.json({ data }, init);</a:t>
            </a:r>
            <a:br/>
            <a:r>
              <a:t>}</a:t>
            </a:r>
            <a:br/>
            <a:br/>
            <a:r>
              <a:t>export function apiError(</a:t>
            </a:r>
            <a:br/>
            <a:r>
              <a:t>  status: number,</a:t>
            </a:r>
            <a:br/>
            <a:r>
              <a:t>  code: ApiErrorCode,</a:t>
            </a:r>
            <a:br/>
            <a:r>
              <a:t>  message: string,</a:t>
            </a:r>
            <a:br/>
            <a:r>
              <a:t>  details?: unknown</a:t>
            </a:r>
            <a:br/>
            <a:r>
              <a:t>) {</a:t>
            </a:r>
            <a:br/>
            <a:r>
              <a:t>  return NextResponse.json(</a:t>
            </a:r>
            <a:br/>
            <a:r>
              <a:t>    {</a:t>
            </a:r>
            <a:br/>
            <a:r>
              <a:t>      error: { code, message, ...(details ? { details } : {}) },</a:t>
            </a:r>
            <a:br/>
            <a:r>
              <a:t>    },</a:t>
            </a:r>
            <a:br/>
            <a:r>
              <a:t>    { status }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Consistent API response format.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Successful: { data: ... 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Error: { error: { code, message, details } }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API Error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type ApiErrorCode =</a:t>
            </a:r>
            <a:br/>
            <a:r>
              <a:t>  | "BAD_REQUEST"</a:t>
            </a:r>
            <a:br/>
            <a:r>
              <a:t>  | "INVALID_JSON"</a:t>
            </a:r>
            <a:br/>
            <a:r>
              <a:t>  | "VALIDATION_ERROR"</a:t>
            </a:r>
            <a:br/>
            <a:r>
              <a:t>  | "UNAUTHORIZED"</a:t>
            </a:r>
            <a:br/>
            <a:r>
              <a:t>  | "FORBIDDEN"</a:t>
            </a:r>
            <a:br/>
            <a:r>
              <a:t>  | "NOT_FOUND"</a:t>
            </a:r>
            <a:br/>
            <a:r>
              <a:t>  | "METHOD_NOT_ALLOWED"</a:t>
            </a:r>
            <a:br/>
            <a:r>
              <a:t>  | "INTERNAL_ERROR"</a:t>
            </a:r>
            <a:br/>
            <a:r>
              <a:t>  | "SERVICE_UNAVAILABLE";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Stable error codes are more useful than matching error messages.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Clients can handle specific error types.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HTTP Status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Courier New"/>
              </a:rPr>
              <a:t>Status  |  Meaning</a:t>
            </a:r>
            <a:br/>
            <a:r>
              <a:t>------------------</a:t>
            </a:r>
            <a:br/>
            <a:r>
              <a:t>--------  |  ---------</a:t>
            </a:r>
            <a:br/>
            <a:r>
              <a:t>200  |  Success</a:t>
            </a:r>
            <a:br/>
            <a:r>
              <a:t>201  |  Created</a:t>
            </a:r>
            <a:br/>
            <a:r>
              <a:t>204  |  No Content</a:t>
            </a:r>
            <a:br/>
            <a:r>
              <a:t>400  |  Bad Request</a:t>
            </a:r>
            <a:br/>
            <a:r>
              <a:t>401  |  Unauthorized</a:t>
            </a:r>
            <a:br/>
            <a:r>
              <a:t>403  |  Forbidden</a:t>
            </a:r>
            <a:br/>
            <a:r>
              <a:t>404  |  Not Found</a:t>
            </a:r>
            <a:br/>
            <a:r>
              <a:t>422  |  Validation Error</a:t>
            </a:r>
            <a:br/>
            <a:r>
              <a:t>503  |  Service Unavailable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status codes that accurately describe the outcome.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Health-Check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const dynamic = "force-dynamic";</a:t>
            </a:r>
            <a:br/>
            <a:br/>
            <a:r>
              <a:t>export async function GET() {</a:t>
            </a:r>
            <a:br/>
            <a:r>
              <a:t>  try {</a:t>
            </a:r>
            <a:br/>
            <a:r>
              <a:t>    await checkDatabaseHealth();</a:t>
            </a:r>
            <a:br/>
            <a:r>
              <a:t>    return apiSuccess({</a:t>
            </a:r>
            <a:br/>
            <a:r>
              <a:t>      status: "ok",</a:t>
            </a:r>
            <a:br/>
            <a:r>
              <a:t>      database: "reachable",</a:t>
            </a:r>
            <a:br/>
            <a:r>
              <a:t>      checkedAt: new Date().toISOString(),</a:t>
            </a:r>
            <a:br/>
            <a:r>
              <a:t>    });</a:t>
            </a:r>
            <a:br/>
            <a:r>
              <a:t>  } catch {</a:t>
            </a:r>
            <a:br/>
            <a:r>
              <a:t>    return apiError(503, "SERVICE_UNAVAILABLE", "Database unavailable");</a:t>
            </a:r>
            <a:br/>
            <a:r>
              <a:t>  }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force-dynamic: Don't cache the response.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Health check must reflect current service state.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Server Action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type FormActionState = {</a:t>
            </a:r>
            <a:br/>
            <a:r>
              <a:t>  status: "idle" | "error" | "success";</a:t>
            </a:r>
            <a:br/>
            <a:r>
              <a:t>  message?: string;</a:t>
            </a:r>
            <a:br/>
            <a:r>
              <a:t>  fieldErrors?: Record&lt;string, string[]&gt;;</a:t>
            </a:r>
            <a:br/>
            <a:r>
              <a:t>};</a:t>
            </a:r>
            <a:br/>
            <a:br/>
            <a:r>
              <a:t>export const INITIAL_FORM_ACTION_STATE: FormActionState = {</a:t>
            </a:r>
            <a:br/>
            <a:r>
              <a:t>  status: "idle",</a:t>
            </a:r>
            <a:br/>
            <a:r>
              <a:t>};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Shared contract between Server Actions and Client Components.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Must be serializable.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Server Action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"use server";</a:t>
            </a:r>
            <a:br/>
            <a:br/>
            <a:r>
              <a:t>export async function createProjectAction(</a:t>
            </a:r>
            <a:br/>
            <a:r>
              <a:t>  _previousState: FormActionState,</a:t>
            </a:r>
            <a:br/>
            <a:r>
              <a:t>  formData: FormData</a:t>
            </a:r>
            <a:br/>
            <a:r>
              <a:t>): Promise&lt;FormActionState&gt; {</a:t>
            </a:r>
            <a:br/>
            <a:r>
              <a:t>  const parsedInput = createProjectInputSchema.safeParse({</a:t>
            </a:r>
            <a:br/>
            <a:r>
              <a:t>    name: formData.get("name"),</a:t>
            </a:r>
            <a:br/>
            <a:r>
              <a:t>    description: formData.get("description"),</a:t>
            </a:r>
            <a:br/>
            <a:r>
              <a:t>    status: formData.get("status"),</a:t>
            </a:r>
            <a:br/>
            <a:r>
              <a:t>  });</a:t>
            </a:r>
            <a:br/>
            <a:br/>
            <a:r>
              <a:t>  if (!parsedInput.success) {</a:t>
            </a:r>
            <a:br/>
            <a:r>
              <a:t>    return {</a:t>
            </a:r>
            <a:br/>
            <a:r>
              <a:t>      status: "error",</a:t>
            </a:r>
            <a:br/>
            <a:r>
              <a:t>      message: "Correct the highlighted fields.",</a:t>
            </a:r>
            <a:br/>
            <a:r>
              <a:t>      fieldErrors: createFieldErrors(parsedInput.error.issues),</a:t>
            </a:r>
            <a:br/>
            <a:r>
              <a:t>    };</a:t>
            </a:r>
            <a:br/>
            <a:r>
              <a:t>  }</a:t>
            </a:r>
            <a:br/>
            <a:br/>
            <a:r>
              <a:t>  let projectId: string;</a:t>
            </a:r>
            <a:br/>
            <a:r>
              <a:t>  try {</a:t>
            </a:r>
            <a:br/>
            <a:r>
              <a:t>    const project = await createProject(parsedInput.data);</a:t>
            </a:r>
            <a:br/>
            <a:r>
              <a:t>    projectId = project.id;</a:t>
            </a:r>
            <a:br/>
            <a:r>
              <a:t>  } catch {</a:t>
            </a:r>
            <a:br/>
            <a:r>
              <a:t>    return { status: "error", message: "Project could not be created." };</a:t>
            </a:r>
            <a:br/>
            <a:r>
              <a:t>  }</a:t>
            </a:r>
            <a:br/>
            <a:br/>
            <a:r>
              <a:t>  revalidatePath("/dashboard");</a:t>
            </a:r>
            <a:br/>
            <a:r>
              <a:t>  revalidatePath("/projects");</a:t>
            </a:r>
            <a:br/>
            <a:r>
              <a:t>  redirect(`/projects/${projectId}`);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useActionState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[state, formAction, isPending] = useActionState(</a:t>
            </a:r>
            <a:br/>
            <a:r>
              <a:t>  createProjectAction,</a:t>
            </a:r>
            <a:br/>
            <a:r>
              <a:t>  INITIAL_FORM_ACTION_STATE</a:t>
            </a:r>
            <a:br/>
            <a:r>
              <a:t>);</a:t>
            </a:r>
            <a:br/>
            <a:br/>
            <a:r>
              <a:t>&lt;form action={formAction}&gt;</a:t>
            </a:r>
            <a:br/>
            <a:r>
              <a:t>  &lt;input name="name" /&gt;</a:t>
            </a:r>
            <a:br/>
            <a:r>
              <a:t>  &lt;button disabled={isPending}&gt;</a:t>
            </a:r>
            <a:br/>
            <a:r>
              <a:t>    {isPending ? "Creating..." : "Create project"}</a:t>
            </a:r>
            <a:br/>
            <a:r>
              <a:t>  &lt;/button&gt;</a:t>
            </a:r>
            <a:br/>
            <a:r>
              <a:t>&lt;/form&gt;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state: Latest action result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formAction: Submit function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isPending: Operation in progress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Revalidation After Mutations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revalidatePath("/dashboard");</a:t>
            </a:r>
            <a:br/>
            <a:r>
              <a:t>revalidatePath("/projects");</a:t>
            </a:r>
            <a:br/>
            <a:r>
              <a:t>revalidatePath(`/projects/${projectId}`);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Invalidates cached data for affected routes.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Should be called at the mutation boundary.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Not all routes need revalidation after every mutation.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Redirect in Server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let projectId: string;</a:t>
            </a:r>
            <a:br/>
            <a:br/>
            <a:r>
              <a:t>try {</a:t>
            </a:r>
            <a:br/>
            <a:r>
              <a:t>  const project = await createProject(input);</a:t>
            </a:r>
            <a:br/>
            <a:r>
              <a:t>  projectId = project.id;</a:t>
            </a:r>
            <a:br/>
            <a:r>
              <a:t>} catch {</a:t>
            </a:r>
            <a:br/>
            <a:r>
              <a:t>  return { status: "error", message: "Failed." };</a:t>
            </a:r>
            <a:br/>
            <a:r>
              <a:t>}</a:t>
            </a:r>
            <a:br/>
            <a:br/>
            <a:r>
              <a:t>redirect(`/projects/${projectId}`);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Keep redirect outside try/catch.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Next.js implements redirect by throwing.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Catching it would prevent the redirect.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Task Creation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"use client";</a:t>
            </a:r>
            <a:br/>
            <a:br/>
            <a:r>
              <a:t>export function CreateTaskForm({ projectId }: { projectId: string }) {</a:t>
            </a:r>
            <a:br/>
            <a:r>
              <a:t>  const boundAction = createTaskAction.bind(null, projectId);</a:t>
            </a:r>
            <a:br/>
            <a:r>
              <a:t>  const [state, formAction, isPending] = useActionState(</a:t>
            </a:r>
            <a:br/>
            <a:r>
              <a:t>    boundAction,</a:t>
            </a:r>
            <a:br/>
            <a:r>
              <a:t>    INITIAL_FORM_ACTION_STATE</a:t>
            </a:r>
            <a:br/>
            <a:r>
              <a:t>  );</a:t>
            </a:r>
            <a:br/>
            <a:br/>
            <a:r>
              <a:t>  return (</a:t>
            </a:r>
            <a:br/>
            <a:r>
              <a:t>    &lt;form action={formAction}&gt;</a:t>
            </a:r>
            <a:br/>
            <a:r>
              <a:t>      &lt;input name="title" /&gt;</a:t>
            </a:r>
            <a:br/>
            <a:r>
              <a:t>      &lt;button disabled={isPending}&gt;</a:t>
            </a:r>
            <a:br/>
            <a:r>
              <a:t>        {isPending ? "Creating..." : "Add task"}</a:t>
            </a:r>
            <a:br/>
            <a:r>
              <a:t>      &lt;/button&gt;</a:t>
            </a:r>
            <a:br/>
            <a:r>
              <a:t>      {state.message &amp;&amp; &lt;p&gt;{state.message}&lt;/p&gt;}</a:t>
            </a:r>
            <a:br/>
            <a:r>
              <a:t>    &lt;/form&gt;</a:t>
            </a:r>
            <a:br/>
            <a:r>
              <a:t>  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bind() attaches the projectId to the action.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Task Status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"use client";</a:t>
            </a:r>
            <a:br/>
            <a:br/>
            <a:r>
              <a:t>export function TaskList({ projectId, tasks }) {</a:t>
            </a:r>
            <a:br/>
            <a:r>
              <a:t>  return tasks.map((task) =&gt; {</a:t>
            </a:r>
            <a:br/>
            <a:r>
              <a:t>    const updateAction = updateTaskStatusAction.bind(</a:t>
            </a:r>
            <a:br/>
            <a:r>
              <a:t>      null,</a:t>
            </a:r>
            <a:br/>
            <a:r>
              <a:t>      projectId,</a:t>
            </a:r>
            <a:br/>
            <a:r>
              <a:t>      task.id</a:t>
            </a:r>
            <a:br/>
            <a:r>
              <a:t>    );</a:t>
            </a:r>
            <a:br/>
            <a:br/>
            <a:r>
              <a:t>    return (</a:t>
            </a:r>
            <a:br/>
            <a:r>
              <a:t>      &lt;form action={updateAction}&gt;</a:t>
            </a:r>
            <a:br/>
            <a:r>
              <a:t>        &lt;select name="status" defaultValue={task.status}&gt;</a:t>
            </a:r>
            <a:br/>
            <a:r>
              <a:t>          &lt;option value="TODO"&gt;To do&lt;/option&gt;</a:t>
            </a:r>
            <a:br/>
            <a:r>
              <a:t>          &lt;option value="IN_PROGRESS"&gt;In progress&lt;/option&gt;</a:t>
            </a:r>
            <a:br/>
            <a:r>
              <a:t>          &lt;option value="COMPLETED"&gt;Completed&lt;/option&gt;</a:t>
            </a:r>
            <a:br/>
            <a:r>
              <a:t>        &lt;/select&gt;</a:t>
            </a:r>
            <a:br/>
            <a:r>
              <a:t>        &lt;button type="submit"&gt;Update&lt;/button&gt;</a:t>
            </a:r>
            <a:br/>
            <a:r>
              <a:t>      &lt;/form&gt;</a:t>
            </a:r>
            <a:br/>
            <a:r>
              <a:t>    );</a:t>
            </a:r>
            <a:br/>
            <a:r>
              <a:t>  });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Each task has its own form with bound IDs.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Parallel Data 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[project, tasks] = await Promise.all([</a:t>
            </a:r>
            <a:br/>
            <a:r>
              <a:t>  getProjectById(parsedProjectId.data),</a:t>
            </a:r>
            <a:br/>
            <a:r>
              <a:t>  getTasksForProject(parsedProjectId.data),</a:t>
            </a:r>
            <a:br/>
            <a:r>
              <a:t>]);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Start both queries at the same time.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Total time = max(project_time, tasks_time), not sum.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Only use when operations are independent.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7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Shared Zod schemas validate project and task inputs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Validation lengths match database constraints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Task types define supported statuses and priorities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result schemas validate task rows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Task queries remain server-only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Mutation queries remain server-only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SQL values are parameterized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GET /api/projects returns project JSON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API status filtering works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 /api/projects returns 201 Created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Invalid project JSON returns structured error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Incorrect content types return 400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7 Verification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Malformed JSON returns 400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Invalid project fields return 422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GET /api/projects/:id returns one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PATCH /api/projects/:id updates supplied fields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DELETE /api/projects/:id returns 204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Invalid API UUIDs return 400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Missing API resources return 404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/api/health returns 200 with PostgreSQL available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/api/health returns 503 when PostgreSQL unavailable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/projects/new renders accessible creation form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Server Action validates input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Successful project creation redirects to detail page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7 Verification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detail pages render database-backed tasks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Task creation validates form input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Successful task creation resets the form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Task status updates require both project and task IDs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Task mutations refresh counts and progress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Form feedback is communicated with text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Pending buttons are disabled and readable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Task interfaces usable on narrow screens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Print output hides mutation controls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Seed restores 4 projects and 12 tasks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 succeeds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8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Authentication and State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Design authentication architecture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users, sessions, and project ownership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authentication types and validation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user and session database layer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secure cookie session utilities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sign-in, sign-up, sign-out actions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authentication 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Protect workspace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Scope every read query to authenticated user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Scope every mutation to authenticated user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Authenticate JSON API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Style authentication interfaces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sessions, redirects, sign-out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authenticated API ownership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cross-user isolation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state ownership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Update seed for authentication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End-to-end security verification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Authentication vs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Authentication answers: Who is making this request?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Authorization answers: Is that user allowed to perform this operation?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Both are required.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Knowing who the user is does not prove they own a resource.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Authentication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User submits email and password</a:t>
            </a:r>
            <a:br/>
            <a:r>
              <a:t>    ↓</a:t>
            </a:r>
            <a:br/>
            <a:r>
              <a:t>Server finds the account</a:t>
            </a:r>
            <a:br/>
            <a:r>
              <a:t>    ↓</a:t>
            </a:r>
            <a:br/>
            <a:r>
              <a:t>Server verifies the password hash (bcrypt)</a:t>
            </a:r>
            <a:br/>
            <a:r>
              <a:t>    ↓</a:t>
            </a:r>
            <a:br/>
            <a:r>
              <a:t>Server creates a random session token</a:t>
            </a:r>
            <a:br/>
            <a:r>
              <a:t>    ↓</a:t>
            </a:r>
            <a:br/>
            <a:r>
              <a:t>Database stores SHA-256 hash of the token</a:t>
            </a:r>
            <a:br/>
            <a:r>
              <a:t>    ↓</a:t>
            </a:r>
            <a:br/>
            <a:r>
              <a:t>Browser receives original token in HTTP-only cookie</a:t>
            </a:r>
            <a:br/>
            <a:r>
              <a:t>    ↓</a:t>
            </a:r>
            <a:br/>
            <a:r>
              <a:t>Future requests send the cookie</a:t>
            </a:r>
            <a:br/>
            <a:r>
              <a:t>    ↓</a:t>
            </a:r>
            <a:br/>
            <a:r>
              <a:t>Server hashes cookie value, finds session</a:t>
            </a:r>
            <a:br/>
            <a:r>
              <a:t>    ↓</a:t>
            </a:r>
            <a:br/>
            <a:r>
              <a:t>Server loads authenticated user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User and Session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CREATE TABLE users (</a:t>
            </a:r>
            <a:br/>
            <a:r>
              <a:t>  id UUID PRIMARY KEY DEFAULT gen_random_uuid(),</a:t>
            </a:r>
            <a:br/>
            <a:r>
              <a:t>  name VARCHAR(100) NOT NULL,</a:t>
            </a:r>
            <a:br/>
            <a:r>
              <a:t>  email VARCHAR(320) NOT NULL,</a:t>
            </a:r>
            <a:br/>
            <a:r>
              <a:t>  password_hash TEXT NOT NULL,</a:t>
            </a:r>
            <a:br/>
            <a:r>
              <a:t>  created_at TIMESTAMPTZ NOT NULL DEFAULT CURRENT_TIMESTAMP,</a:t>
            </a:r>
            <a:br/>
            <a:r>
              <a:t>  updated_at TIMESTAMPTZ NOT NULL DEFAULT CURRENT_TIMESTAMP</a:t>
            </a:r>
            <a:br/>
            <a:r>
              <a:t>);</a:t>
            </a:r>
            <a:br/>
            <a:br/>
            <a:r>
              <a:t>CREATE TABLE sessions (</a:t>
            </a:r>
            <a:br/>
            <a:r>
              <a:t>  id UUID PRIMARY KEY DEFAULT gen_random_uuid(),</a:t>
            </a:r>
            <a:br/>
            <a:r>
              <a:t>  user_id UUID NOT NULL REFERENCES users(id) ON DELETE CASCADE,</a:t>
            </a:r>
            <a:br/>
            <a:r>
              <a:t>  token_hash CHAR(64) NOT NULL,</a:t>
            </a:r>
            <a:br/>
            <a:r>
              <a:t>  expires_at TIMESTAMPTZ NOT NULL,</a:t>
            </a:r>
            <a:br/>
            <a:r>
              <a:t>  created_at TIMESTAMPTZ NOT NULL DEFAULT CURRENT_TIMESTAMP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Password Hashing with bcrypt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{ compare, hash } from "bcryptjs";</a:t>
            </a:r>
            <a:br/>
            <a:br/>
            <a:r>
              <a:t>// Create user</a:t>
            </a:r>
            <a:br/>
            <a:r>
              <a:t>const passwordHash = await hash(input.password, 12);</a:t>
            </a:r>
            <a:br/>
            <a:br/>
            <a:r>
              <a:t>// Verify password</a:t>
            </a:r>
            <a:br/>
            <a:r>
              <a:t>const passwordMatches = await compare(password, account.passwordHash);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bcrypt is: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One-way (can't recover original password)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Salted (same password produces different hashes)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Intentionally slow (resists brute force)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Cost factor 12 is a balance of security and performance.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Password Hashing vs Session Hashing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Passwords (low entropy):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bcrypt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Slow and salted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Cost factor 12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Session tokens (high entropy):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SHA-256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Fast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Deterministic hash of random 32-byte token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Different problems need different solutions.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Session Token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{ createHash, randomBytes } from "node:crypto";</a:t>
            </a:r>
            <a:br/>
            <a:br/>
            <a:r>
              <a:t>const token = randomBytes(32).toString("base64url");</a:t>
            </a:r>
            <a:br/>
            <a:r>
              <a:t>const tokenHash = createHash("sha256")</a:t>
            </a:r>
            <a:br/>
            <a:r>
              <a:t>  .update(token)</a:t>
            </a:r>
            <a:br/>
            <a:r>
              <a:t>  .digest("hex");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32 bytes = 256 bits of entropy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base64url encoding for cookie safety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SHA-256 hash for database storage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Database stores only the hash.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Cookie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cookieStore.set(SESSION_COOKIE_NAME, token, {</a:t>
            </a:r>
            <a:br/>
            <a:r>
              <a:t>  httpOnly: true,    // Not readable by JavaScript</a:t>
            </a:r>
            <a:br/>
            <a:r>
              <a:t>  secure: process.env.NODE_ENV === "production", // HTTPS only</a:t>
            </a:r>
            <a:br/>
            <a:r>
              <a:t>  sameSite: "lax",   // CSRF protection</a:t>
            </a:r>
            <a:br/>
            <a:r>
              <a:t>  path: "/",         // Available everywhere</a:t>
            </a:r>
            <a:br/>
            <a:r>
              <a:t>  expires: expiresAt // Persistent cookie</a:t>
            </a:r>
            <a:br/>
            <a:r>
              <a:t>});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All attributes are important for security.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 production, secure: true requires HTTPS.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HttpOnly Cookie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httpOnly: true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Prevents JavaScript from reading the cookie.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Reduces session theft through XSS attacks.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Still not a complete XSS protection - malicious JavaScript can still send requests.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Secure Cookie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secure: process.env.NODE_ENV === "production"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Only sends the cookie over HTTPS.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 production, require HTTPS.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Development uses HTTP, so secure: false.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SameSite Lax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sameSite: "lax"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Prevents cross-site request forgery (CSRF) for most cross-site requests.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Still allows top-level navigation.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Provides defense in depth, not complete CSRF protection.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Session Expiration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SESSION_DURATION_MILLISECONDS = 1000 * 60 * 60 * 24 * 7; // 7 days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Sessions last 7 days.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Database expiration is authoritative.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Expired sessions are rejected even if cookie still exists.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getCurrentUser with cache()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const getCurrentUser = cache(</a:t>
            </a:r>
            <a:br/>
            <a:r>
              <a:t>  async (): Promise&lt;User | null&gt; =&gt; {</a:t>
            </a:r>
            <a:br/>
            <a:r>
              <a:t>    const cookieStore = await cookies();</a:t>
            </a:r>
            <a:br/>
            <a:r>
              <a:t>    const token = cookieStore.get(SESSION_COOKIE_NAME)?.value;</a:t>
            </a:r>
            <a:br/>
            <a:r>
              <a:t>    if (!token) return null;</a:t>
            </a:r>
            <a:br/>
            <a:br/>
            <a:r>
              <a:t>    const sessionUser = await findSessionUser(hashSessionToken(token));</a:t>
            </a:r>
            <a:br/>
            <a:r>
              <a:t>    if (!sessionUser) return null;</a:t>
            </a:r>
            <a:br/>
            <a:br/>
            <a:r>
              <a:t>    return {</a:t>
            </a:r>
            <a:br/>
            <a:r>
              <a:t>      id: sessionUser.id,</a:t>
            </a:r>
            <a:br/>
            <a:r>
              <a:t>      name: sessionUser.name,</a:t>
            </a:r>
            <a:br/>
            <a:r>
              <a:t>      email: sessionUser.email,</a:t>
            </a:r>
            <a:br/>
            <a:r>
              <a:t>    };</a:t>
            </a:r>
            <a:br/>
            <a:r>
              <a:t>  }</a:t>
            </a:r>
            <a:br/>
            <a:r>
              <a:t>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cache() deduplicates calls during one server request.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Multiple components can call getCurrentUser safely.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requireUser()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async function requireUser(): Promise&lt;User&gt; {</a:t>
            </a:r>
            <a:br/>
            <a:r>
              <a:t>  const user = await getCurrentUser();</a:t>
            </a:r>
            <a:br/>
            <a:r>
              <a:t>  if (!user) {</a:t>
            </a:r>
            <a:br/>
            <a:r>
              <a:t>    redirect("/sign-in");</a:t>
            </a:r>
            <a:br/>
            <a:r>
              <a:t>  }</a:t>
            </a:r>
            <a:br/>
            <a:r>
              <a:t>  return user;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For page rendering and Server Actions.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Redirects to sign-in if not authenticated.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Returns the user if authenticated.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requireApiUser()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async function requireApiUser(): Promise&lt;User | null&gt; {</a:t>
            </a:r>
            <a:br/>
            <a:r>
              <a:t>  return getCurrentUser();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For Route Handlers.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Returns null if not authenticated.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Route Handler returns 401, not a redirect.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Owner-Scoped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export async function getProjects(userId: string, status?: ProjectStatus) {</a:t>
            </a:r>
            <a:br/>
            <a:r>
              <a:t>  const rows = await database`</a:t>
            </a:r>
            <a:br/>
            <a:r>
              <a:t>    SELECT</a:t>
            </a:r>
            <a:br/>
            <a:r>
              <a:t>      p.id,</a:t>
            </a:r>
            <a:br/>
            <a:r>
              <a:t>      p.name,</a:t>
            </a:r>
            <a:br/>
            <a:r>
              <a:t>      p.description,</a:t>
            </a:r>
            <a:br/>
            <a:r>
              <a:t>      p.status,</a:t>
            </a:r>
            <a:br/>
            <a:r>
              <a:t>      COUNT(t.id)::integer AS "taskCount",</a:t>
            </a:r>
            <a:br/>
            <a:r>
              <a:t>      COUNT(t.id) FILTER (WHERE t.status = 'COMPLETED')::integer AS "completedTaskCount"</a:t>
            </a:r>
            <a:br/>
            <a:r>
              <a:t>    FROM projects AS p</a:t>
            </a:r>
            <a:br/>
            <a:r>
              <a:t>    LEFT JOIN tasks AS t ON t.project_id = p.id</a:t>
            </a:r>
            <a:br/>
            <a:r>
              <a:t>    WHERE p.owner_id = ${userId}</a:t>
            </a:r>
            <a:br/>
            <a:r>
              <a:t>    ${status ? sql`AND p.status = ${status}` : sql``}</a:t>
            </a:r>
            <a:br/>
            <a:r>
              <a:t>    GROUP BY p.id</a:t>
            </a:r>
            <a:br/>
            <a:r>
              <a:t>    ORDER BY p.updated_at DESC</a:t>
            </a:r>
            <a:br/>
            <a:r>
              <a:t>  `;</a:t>
            </a:r>
            <a:br/>
            <a:r>
              <a:t>  return rows;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Every query includes owner_id condition.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No userId = no data.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Owner-Scoped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UPDATE projects</a:t>
            </a:r>
            <a:br/>
            <a:r>
              <a:t>SET name = ${input.name}</a:t>
            </a:r>
            <a:br/>
            <a:r>
              <a:t>WHERE id = ${projectId}</a:t>
            </a:r>
            <a:br/>
            <a:r>
              <a:t>  AND owner_id = ${userId}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 authorization condition and mutation execute together.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If no row matches, nothing is updated and null is returned.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Prevents race conditions.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Return 404 for Unauthorized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project = await getProjectById(userId, projectId);</a:t>
            </a:r>
            <a:br/>
            <a:r>
              <a:t>if (!project) {</a:t>
            </a:r>
            <a:br/>
            <a:r>
              <a:t>  return apiError(404, "NOT_FOUND", "Project does not exist.");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Doesn't distinguish between: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doesn't exist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belongs to another user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This prevents confirming existence of private resources.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Cross-User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User A cannot access User B's projects.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Test with two different users: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User A creates a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User B tries to access 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Returns 404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Data isolation is enforced in SQL, not just hidden in UI.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State Management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PostgreSQL and server session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Users, projects, tasks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Authoritative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URL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Browser URL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status filter (/projects?status=ACTIVE)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Shareable, bookmakable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Local Client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One Client Component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Search text, disclosure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Temporary, resets on refresh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Authentication 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Development seed creates one demo user: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INSERT INTO users (id, name, email, password_hash)</a:t>
            </a:r>
            <a:br/>
            <a:r>
              <a:t>VALUES (</a:t>
            </a:r>
            <a:br/>
            <a:r>
              <a:t>  '30000000-0000-4000-8000-000000000001',</a:t>
            </a:r>
            <a:br/>
            <a:r>
              <a:t>  'Demo User',</a:t>
            </a:r>
            <a:br/>
            <a:r>
              <a:t>  'demo@launchpad.local',</a:t>
            </a:r>
            <a:br/>
            <a:r>
              <a:t>  crypt('LaunchPadDemo123!', gen_salt('bf', 12))</a:t>
            </a:r>
            <a:br/>
            <a:r>
              <a:t>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All seeded projects belong to this user.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Seeded sessions are deleted (signed out by default).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Sign-In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Generic error message: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return {</a:t>
            </a:r>
            <a:br/>
            <a:r>
              <a:t>  status: "error",</a:t>
            </a:r>
            <a:br/>
            <a:r>
              <a:t>  message: "The email or password is incorrect.",</a:t>
            </a:r>
            <a:br/>
            <a:r>
              <a:t>};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Doesn't reveal whether the email exists or the password is wrong.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Prevents account enumeration.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Registration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user = await createUser(input);</a:t>
            </a:r>
            <a:br/>
            <a:r>
              <a:t>if (!user) {</a:t>
            </a:r>
            <a:br/>
            <a:r>
              <a:t>  return {</a:t>
            </a:r>
            <a:br/>
            <a:r>
              <a:t>    status: "error",</a:t>
            </a:r>
            <a:br/>
            <a:r>
              <a:t>    message: "An account cannot be created with that email address.",</a:t>
            </a:r>
            <a:br/>
            <a:r>
              <a:t>  };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Generic message for duplicate email.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Doesn't reveal if email is already registered.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Sensitive information goes to email, not browser.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8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User migration creates users and sessions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Projects have required owner_id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Seeded projects belong to demo user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Passwords stored as bcrypt hashes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Session tokens use random bytes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PostgreSQL stores session token hashes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Session cookies are HTTP-only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session cookies are Secure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Session cookies use SameSite Lax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Sign-in validates credentials on server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Sign-in uses generic invalid-credentials message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Registration normalizes email addresses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8 Verification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Duplicate registration fails safely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Successful authentication redirects to /dashboard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Signed-in users redirected away from auth pages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Sign-out deletes database session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Sign-out expires browser cookie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Anonymous workspace access redirects to /sign-in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Anonymous project API access returns 401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Health endpoint remains public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Every project read query requires userId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Every task read query verifies project ownership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Every mutation requires userId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writes include owner_id authorization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8 Verification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Task writes authorize through owning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User cannot supply arbitrary owner ID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Cross-user reads return 404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Cross-user updates return 404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Cross-user deletes return 404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Second user sees only their own records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URL state remains shareable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Temporary search remains local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Authoritative records remain server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No credentials stored in local storage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Authentication-aware seed restores known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Expired database sessions rejected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 succeeds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9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Performance and Optimization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Establish production performance baseline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Generate reproducible local image asset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optimized image to home page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on-demand project insights module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parallel server data loading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Inspect database query plans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Define public and private cache boundaries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production bundle analysis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Audit Client Component boundaries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static and dynamic rendering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Run Lighthouse audit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Recheck production performance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Complete quality gate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Git checkpoint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Performance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Measure</a:t>
            </a:r>
            <a:br/>
            <a:r>
              <a:t>   ↓</a:t>
            </a:r>
            <a:br/>
            <a:r>
              <a:t>Identify a bottleneck</a:t>
            </a:r>
            <a:br/>
            <a:r>
              <a:t>   ↓</a:t>
            </a:r>
            <a:br/>
            <a:r>
              <a:t>Make one deliberate change</a:t>
            </a:r>
            <a:br/>
            <a:r>
              <a:t>   ↓</a:t>
            </a:r>
            <a:br/>
            <a:r>
              <a:t>Measure again</a:t>
            </a:r>
            <a:br/>
            <a:r>
              <a:t>   ↓</a:t>
            </a:r>
            <a:br/>
            <a:r>
              <a:t>Keep, revise, or remove the change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Always measure before optimizing.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One change at a time to measure impact.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Performance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 response time - How quickly the server begins responding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Transfer size - Bytes crossing the network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JavaScript execution - Browser-side code to load and run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Largest Contentful Paint (LCP) - When main visible content appears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Cumulative Layout Shift (CLS) - How much content moves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Interaction to Next Paint (INP) - Responsiveness to user input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Development vs Production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Development mode performs extra work: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File watching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Fast Refresh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Detailed diagnostics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Development source maps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On-demand compilation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Measuring development mode is like timing a race car while mechanics are changing the tires.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Always measure production mode.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Performance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# Build production</a:t>
            </a:r>
            <a:br/>
            <a:r>
              <a:t>npm run build</a:t>
            </a:r>
            <a:br/>
            <a:r>
              <a:t>npm run start</a:t>
            </a:r>
            <a:br/>
            <a:br/>
            <a:r>
              <a:t># Measure routes</a:t>
            </a:r>
            <a:br/>
            <a:r>
              <a:t>./scripts/measure-routes.sh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Expected output: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route=/ status=200 first_byte=0.012345s total=0.013456s</a:t>
            </a:r>
            <a:br/>
            <a:r>
              <a:t>route=/about status=200 first_byte=0.004321s total=0.005432s</a:t>
            </a:r>
            <a:br/>
            <a:r>
              <a:t>route=/api/health status=200 first_byte=0.007123s total=0.007789s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Run 3 times, record approximate values.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next/image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Image from "next/image";</a:t>
            </a:r>
            <a:br/>
            <a:br/>
            <a:r>
              <a:t>&lt;Image</a:t>
            </a:r>
            <a:br/>
            <a:r>
              <a:t>  src="/launchpad-dashboard.png"</a:t>
            </a:r>
            <a:br/>
            <a:r>
              <a:t>  alt="Illustration of the LaunchPad dashboard"</a:t>
            </a:r>
            <a:br/>
            <a:r>
              <a:t>  width={1600}</a:t>
            </a:r>
            <a:br/>
            <a:r>
              <a:t>  height={900}</a:t>
            </a:r>
            <a:br/>
            <a:r>
              <a:t>  sizes="(max-width: 56rem) calc(100vw - 2rem), 50vw"</a:t>
            </a:r>
            <a:br/>
            <a:r>
              <a:t>  priority</a:t>
            </a:r>
            <a:br/>
            <a:r>
              <a:t>/&gt;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Responsive image generation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Appropriate output formats (AVIF, WebP)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Lazy loading by default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Dimension-based layout stability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Device-aware image sizes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Image sizes Attribute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sizes="(max-width: 56rem) calc(100vw - 2rem), 50vw"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Tells the browser how much viewport width the image occupies.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Without accurate sizes, browser may download unnecessarily large images.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Match sizes to actual CSS layout.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priority Attribute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priority // Only for above-the-fold images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High priority loading for likely initial viewport content.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Marks every image as priority → they compete for bandwidth.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sparingly. Only the hero image needs priority.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Generating a PNG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WIDTH = 1600</a:t>
            </a:r>
            <a:br/>
            <a:r>
              <a:t>HEIGHT = 900</a:t>
            </a:r>
            <a:br/>
            <a:br/>
            <a:r>
              <a:t>def generate_png() -&gt; bytes:</a:t>
            </a:r>
            <a:br/>
            <a:r>
              <a:t>    raw_rows = bytearray()</a:t>
            </a:r>
            <a:br/>
            <a:r>
              <a:t>    for y in range(HEIGHT):</a:t>
            </a:r>
            <a:br/>
            <a:r>
              <a:t>        raw_rows.append(0)  # Filter type</a:t>
            </a:r>
            <a:br/>
            <a:r>
              <a:t>        for x in range(WIDTH):</a:t>
            </a:r>
            <a:br/>
            <a:r>
              <a:t>            raw_rows.extend(pixel_color(x, y))</a:t>
            </a:r>
            <a:br/>
            <a:br/>
            <a:r>
              <a:t>    return (</a:t>
            </a:r>
            <a:br/>
            <a:r>
              <a:t>        b"\x89PNG\r\n\x1a\n"</a:t>
            </a:r>
            <a:br/>
            <a:r>
              <a:t>        + png_chunk(b"IHDR", header)</a:t>
            </a:r>
            <a:br/>
            <a:r>
              <a:t>        + png_chunk(b"IDAT", zlib.compress(bytes(raw_rows), level=9))</a:t>
            </a:r>
            <a:br/>
            <a:r>
              <a:t>        + png_chunk(b"IEND", b"")</a:t>
            </a:r>
            <a:br/>
            <a:r>
              <a:t>    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Python's standard library, no dependencies.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Generates a deterministic image.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199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Code Splitting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Instead of sending every possible feature immediately: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Initial page</a:t>
            </a:r>
            <a:br/>
            <a:r>
              <a:t>├── Core interaction JavaScript</a:t>
            </a:r>
            <a:br/>
            <a:r>
              <a:t>├── Optional chart JavaScript</a:t>
            </a:r>
            <a:br/>
            <a:r>
              <a:t>├── Rare modal JavaScript</a:t>
            </a:r>
            <a:br/>
            <a:r>
              <a:t>└── Administrative JavaScript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Defer optional features: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Initial page</a:t>
            </a:r>
            <a:br/>
            <a:r>
              <a:t>└── Core interaction JavaScript</a:t>
            </a:r>
            <a:br/>
            <a:br/>
            <a:r>
              <a:t>User selects "Load insights"</a:t>
            </a:r>
            <a:br/>
            <a:r>
              <a:t>└── Download optional insights chunk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Dynamic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dynamic from "next/dynamic";</a:t>
            </a:r>
            <a:br/>
            <a:br/>
            <a:r>
              <a:t>const ProjectInsights = dynamic(</a:t>
            </a:r>
            <a:br/>
            <a:r>
              <a:t>  () =&gt; import("@/components/project-insights"),</a:t>
            </a:r>
            <a:br/>
            <a:r>
              <a:t>  {</a:t>
            </a:r>
            <a:br/>
            <a:r>
              <a:t>    ssr: false,</a:t>
            </a:r>
            <a:br/>
            <a:r>
              <a:t>    loading: () =&gt; &lt;div&gt;Loading project insights...&lt;/div&gt;,</a:t>
            </a:r>
            <a:br/>
            <a:r>
              <a:t>  }</a:t>
            </a:r>
            <a:br/>
            <a:r>
              <a:t>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Component loads only when requested.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ssr: false - Don't render on the server.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for optional, non-critical features.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When to Use Code Splitting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Good candidates: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Rich editors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Large charts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Map libraries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Optional modals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Administrative tools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Rarely used analysis panels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Poor candidates: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Primary page headings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Essential navigation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Small components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Critical form controls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Parallel Data 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Sequential: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project = await getProject();</a:t>
            </a:r>
            <a:br/>
            <a:r>
              <a:t>const tasks = await getTasks();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Parallel: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projectPromise = getProject();</a:t>
            </a:r>
            <a:br/>
            <a:r>
              <a:t>const tasksPromise = getTasks();</a:t>
            </a:r>
            <a:br/>
            <a:r>
              <a:t>const [project, tasks] = await Promise.all([projectPromise, tasksPromise]);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Total time = max(time1, time2), not sum.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Only use when operations are independent.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Database Query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EXPLAIN (ANALYZE, BUFFERS, FORMAT TEXT)</a:t>
            </a:r>
            <a:br/>
            <a:r>
              <a:t>SELECT p.id, p.name, p.status</a:t>
            </a:r>
            <a:br/>
            <a:r>
              <a:t>FROM projects AS p</a:t>
            </a:r>
            <a:br/>
            <a:r>
              <a:t>WHERE p.owner_id = 'uuid'</a:t>
            </a:r>
            <a:br/>
            <a:r>
              <a:t>  AND p.status = 'ACTIVE'</a:t>
            </a:r>
            <a:br/>
            <a:r>
              <a:t>ORDER BY p.updated_at DESC;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Shows how PostgreSQL executes the query.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Look for: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Index usage vs sequential scan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Execution time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Buffer usage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Index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Expected indexes: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CREATE INDEX projects_owner_id_index ON projects(owner_id);</a:t>
            </a:r>
            <a:br/>
            <a:r>
              <a:t>CREATE INDEX projects_owner_status_index ON projects(owner_id, status);</a:t>
            </a:r>
            <a:br/>
            <a:r>
              <a:t>CREATE INDEX tasks_project_id_index ON tasks(project_id);</a:t>
            </a:r>
            <a:br/>
            <a:r>
              <a:t>CREATE INDEX tasks_project_status_index ON tasks(project_id, status);</a:t>
            </a:r>
            <a:br/>
            <a:r>
              <a:t>CREATE INDEX sessions_token_hash_unique_index ON sessions(token_hash);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Indexes improve reads but cost writes and storage.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Add based on actual query patterns, not every column.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Cache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Public marketing page: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Cache-Control: no-store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Private authenticated API: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Cache-Control: private, no-store</a:t>
            </a:r>
            <a:br/>
            <a:r>
              <a:t>Vary: Cookie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Health endpoint: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Cache-Control: no-store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private: Prevents shared caches from treating as public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no-store: Don't cache at all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Vary: Cookie: Different responses for different cookies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Private API Cache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{ PRIVATE_NO_STORE_HEADERS } from "@/lib/api-response";</a:t>
            </a:r>
            <a:br/>
            <a:br/>
            <a:r>
              <a:t>return apiSuccess(project, {</a:t>
            </a:r>
            <a:br/>
            <a:r>
              <a:t>  headers: PRIVATE_NO_STORE_HEADERS,</a:t>
            </a:r>
            <a:br/>
            <a:r>
              <a:t>});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Private data must never be served from a shared cache.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Cache key must include user identity.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Wrong: cache /api/projects once, serve to all users.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Bundle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npm install --save-dev @next/bundle-analyzer</a:t>
            </a:r>
            <a:br/>
            <a:br/>
            <a:r>
              <a:t>npm run analyze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Questions the analyzer answers: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Which dependencies contribute the most JavaScript?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Did a server-only package accidentally enter a browser chunk?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Is an optional component split into its own chunk?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Are several copies of the same library included?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Client Component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# List all Client Components</a:t>
            </a:r>
            <a:br/>
            <a:r>
              <a:t>grep -R -l '"use client"' src --include="*.tsx" | sort</a:t>
            </a:r>
            <a:br/>
            <a:br/>
            <a:r>
              <a:t># Expected client components:</a:t>
            </a:r>
            <a:br/>
            <a:r>
              <a:t># - error.tsx (workspace error boundary)</a:t>
            </a:r>
            <a:br/>
            <a:r>
              <a:t># - copy-project-link.tsx (clipboard API)</a:t>
            </a:r>
            <a:br/>
            <a:r>
              <a:t># - create-project-form.tsx (useActionState)</a:t>
            </a:r>
            <a:br/>
            <a:r>
              <a:t># - interactive-disclosure.tsx (useState)</a:t>
            </a:r>
            <a:br/>
            <a:r>
              <a:t># - project-insights-loader.tsx (dynamic import)</a:t>
            </a:r>
            <a:br/>
            <a:r>
              <a:t># - project-list.tsx (useState, useMemo)</a:t>
            </a:r>
            <a:br/>
            <a:r>
              <a:t># - sign-in-form.tsx (useActionState)</a:t>
            </a:r>
            <a:br/>
            <a:r>
              <a:t># - sign-up-form.tsx (useActionState)</a:t>
            </a:r>
            <a:br/>
            <a:r>
              <a:t># - workspace-navigation.tsx (usePathname)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Every Client Component should have a browser-side reason.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Static vs Dynamic Rendering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Public marketing routes: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Static where possible (/about, /features)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Pre-rendered at build time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Same for every visitor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Private workspace routes: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Dynamic for all routes (/dashboard, /projects)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Request-time rendering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Depends on session cookie and authentication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Static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Public routes should be static: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/</a:t>
            </a:r>
            <a:br/>
            <a:r>
              <a:t>/about</a:t>
            </a:r>
            <a:br/>
            <a:r>
              <a:t>/features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Request-aware routes should be dynamic: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/sign-in</a:t>
            </a:r>
            <a:br/>
            <a:r>
              <a:t>/sign-up</a:t>
            </a:r>
            <a:br/>
            <a:r>
              <a:t>/dashboard</a:t>
            </a:r>
            <a:br/>
            <a:r>
              <a:t>/projects</a:t>
            </a:r>
            <a:br/>
            <a:r>
              <a:t>/api/health</a:t>
            </a:r>
            <a:br/>
            <a:r>
              <a:t>/api/projects</a:t>
            </a:r>
            <a:br/>
            <a:r>
              <a:t>/api/projects/[projectId]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Protected routes must not render user data anonymously.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Core Web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Largest Contentful Paint (LCP)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When the largest visible content appears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Causes: slow server, large images, blocking resources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Cumulative Layout Shift (CLS)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Visual stability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Causes: images without dimensions, dynamic content insertion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Interaction to Next Paint (INP)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Responsiveness to input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Causes: large client bundles, expensive event handlers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Lighthouse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npx lighthouse http://localhost:3000 \</a:t>
            </a:r>
            <a:br/>
            <a:r>
              <a:t>  --only-categories=performance,accessibility,best-practices,seo \</a:t>
            </a:r>
            <a:br/>
            <a:r>
              <a:t>  --output=html \</a:t>
            </a:r>
            <a:br/>
            <a:r>
              <a:t>  --output-path=/tmp/launchpad-lighthouse.html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Look for: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Largest Contentful Paint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Cumulative Layout Shift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Total Blocking Time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Image sizing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JavaScript usage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Font loading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Don't require a universal score of 100.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9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timing measured before optimization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Measurement script runs successfully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Dashboard image can be generated reproducibly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Generated image has valid PNG dimensions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Home page uses next/image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Image has meaningful alternative text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Image declares width and height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Image uses accurate responsive sizes value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Only hero image uses priority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Home page remains responsive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Image doesn't produce layout shift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9 Verification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Optional project insights use dynamic import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Insights chunk loads after interaction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Essential project content remains server-rendered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 and task queries start in parallel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Metadata doesn't fetch unnecessary task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PostgreSQL query plans inspected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Ownership indexes exist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Session-token indexes exist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Private APIs use Cache-Control: private, no-store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Private APIs include Vary: Cookie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Health endpoint uses Cache-Control: no-store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Private routes remain dynamic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9 Verification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Bundle analyzer runs successfully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PostgreSQL code doesn't enter client bundles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Password-hashing code doesn't enter client bundles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Every Client Component has a browser-side responsibility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Static visual components remain server-compatible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Lighthouse run against production mode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Accessibility or layout-shift findings addressed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timing measured after optimization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Authentication remains enforced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Authorization remains owner-scoped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build succeeds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10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Deployment and Production Readiness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Define production architecture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Strengthen runtime environment validation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tracked migration runner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structured server logging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Separate liveness and readiness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production security headers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multi-stage Docker image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automated smoke tests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continuous integration pipeline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production runbook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Prepare managed PostgreSQL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Deploy to Vercel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Verify production authentication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Configure monitoring and alerting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Plan scaling and connection capacity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Run final production quality gate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 deployment checklist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Production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Internet</a:t>
            </a:r>
            <a:br/>
            <a:r>
              <a:t>    ↓</a:t>
            </a:r>
            <a:br/>
            <a:r>
              <a:t>HTTPS / Edge Layer</a:t>
            </a:r>
            <a:br/>
            <a:r>
              <a:t>    ↓</a:t>
            </a:r>
            <a:br/>
            <a:r>
              <a:t>Next.js 16 Application</a:t>
            </a:r>
            <a:br/>
            <a:r>
              <a:t>    ├── Server Components</a:t>
            </a:r>
            <a:br/>
            <a:r>
              <a:t>    ├── Route Handlers</a:t>
            </a:r>
            <a:br/>
            <a:r>
              <a:t>    ├── Server Actions</a:t>
            </a:r>
            <a:br/>
            <a:r>
              <a:t>    ├── Session validation</a:t>
            </a:r>
            <a:br/>
            <a:r>
              <a:t>    ├── Authorization</a:t>
            </a:r>
            <a:br/>
            <a:r>
              <a:t>    └── Structured logging</a:t>
            </a:r>
            <a:br/>
            <a:r>
              <a:t>    ↓ (TLS)</a:t>
            </a:r>
            <a:br/>
            <a:r>
              <a:t>Managed PostgreSQL</a:t>
            </a:r>
            <a:br/>
            <a:r>
              <a:t>    ├── Users and sessions</a:t>
            </a:r>
            <a:br/>
            <a:r>
              <a:t>    ├── Projects and tasks</a:t>
            </a:r>
            <a:br/>
            <a:r>
              <a:t>    ├── Automated backups</a:t>
            </a:r>
            <a:br/>
            <a:r>
              <a:t>    └── Connection limits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Deployment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Commit source</a:t>
            </a:r>
            <a:br/>
            <a:r>
              <a:t>    ↓</a:t>
            </a:r>
            <a:br/>
            <a:r>
              <a:t>Continuous integration</a:t>
            </a:r>
            <a:br/>
            <a:r>
              <a:t>    ├── Install exact dependencies</a:t>
            </a:r>
            <a:br/>
            <a:r>
              <a:t>    ├── Start PostgreSQL</a:t>
            </a:r>
            <a:br/>
            <a:r>
              <a:t>    ├── Apply migrations</a:t>
            </a:r>
            <a:br/>
            <a:r>
              <a:t>    ├── Type-check</a:t>
            </a:r>
            <a:br/>
            <a:r>
              <a:t>    ├── Lint</a:t>
            </a:r>
            <a:br/>
            <a:r>
              <a:t>    ├── Build</a:t>
            </a:r>
            <a:br/>
            <a:r>
              <a:t>    └── Run smoke tests</a:t>
            </a:r>
            <a:br/>
            <a:r>
              <a:t>    ↓</a:t>
            </a:r>
            <a:br/>
            <a:r>
              <a:t>Build immutable artifact</a:t>
            </a:r>
            <a:br/>
            <a:r>
              <a:t>    ↓</a:t>
            </a:r>
            <a:br/>
            <a:r>
              <a:t>Apply production migration</a:t>
            </a:r>
            <a:br/>
            <a:r>
              <a:t>    ↓</a:t>
            </a:r>
            <a:br/>
            <a:r>
              <a:t>Deploy application</a:t>
            </a:r>
            <a:br/>
            <a:r>
              <a:t>    ↓</a:t>
            </a:r>
            <a:br/>
            <a:r>
              <a:t>Verify health and behavior</a:t>
            </a:r>
            <a:br/>
            <a:r>
              <a:t>    ↓</a:t>
            </a:r>
            <a:br/>
            <a:r>
              <a:t>Monitor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Runtime Environment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rawEnvironmentSchema = z.object({</a:t>
            </a:r>
            <a:br/>
            <a:r>
              <a:t>  APP_URL: z.string().url(),</a:t>
            </a:r>
            <a:br/>
            <a:r>
              <a:t>  DATABASE_URL: z.string().min(1),</a:t>
            </a:r>
            <a:br/>
            <a:r>
              <a:t>  DATABASE_SSL: z.boolean(),</a:t>
            </a:r>
            <a:br/>
            <a:r>
              <a:t>  LOG_LEVEL: z.enum(["debug", "info", "warn", "error"]),</a:t>
            </a:r>
            <a:br/>
            <a:r>
              <a:t>  APP_VERSION: z.string().min(1),</a:t>
            </a:r>
            <a:br/>
            <a:r>
              <a:t>  NODE_ENV: z.enum(["development", "test", "production"]),</a:t>
            </a:r>
            <a:br/>
            <a:r>
              <a:t>});</a:t>
            </a:r>
            <a:br/>
            <a:br/>
            <a:r>
              <a:t>if (NODE_ENV === "production" &amp;&amp; !APP_URL.startsWith("https://")) {</a:t>
            </a:r>
            <a:br/>
            <a:r>
              <a:t>  throw new Error("APP_URL must use HTTPS in production.");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Fail fast on invalid configuration.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Tracked Migration Runner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Migration table: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CREATE TABLE schema_migrations (</a:t>
            </a:r>
            <a:br/>
            <a:r>
              <a:t>  filename TEXT PRIMARY KEY,</a:t>
            </a:r>
            <a:br/>
            <a:r>
              <a:t>  checksum CHAR(64) NOT NULL,</a:t>
            </a:r>
            <a:br/>
            <a:r>
              <a:t>  applied_at TIMESTAMPTZ NOT NULL DEFAULT CURRENT_TIMESTAMP</a:t>
            </a:r>
            <a:br/>
            <a:r>
              <a:t>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Migration runner: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Reads migration files in order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Calculates SHA-256 checksum of each file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Checks if already applied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Verifies checksum unchanged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Applies new migrations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Records filename and checksum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Applied migrations are immutable.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Migration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Never edit an applied migration.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Add a new migration file instead.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-- 003_add_archived_at_to_projects.sql</a:t>
            </a:r>
            <a:br/>
            <a:r>
              <a:t>ALTER TABLE projects</a:t>
            </a:r>
            <a:br/>
            <a:r>
              <a:t>ADD COLUMN archived_at TIMESTAMPTZ;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Phased migration approach: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Add nullable column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Deploy code that can handle old and new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Backfill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Remove old code in later release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Add constraints if needed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Structured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{</a:t>
            </a:r>
            <a:br/>
            <a:r>
              <a:t>  "timestamp": "2026-07-26T12:00:00.000Z",</a:t>
            </a:r>
            <a:br/>
            <a:r>
              <a:t>  "level": "error",</a:t>
            </a:r>
            <a:br/>
            <a:r>
              <a:t>  "event": "readiness_check_failed",</a:t>
            </a:r>
            <a:br/>
            <a:r>
              <a:t>  "version": "abc123",</a:t>
            </a:r>
            <a:br/>
            <a:r>
              <a:t>  "requestId": "uuid",</a:t>
            </a:r>
            <a:br/>
            <a:r>
              <a:t>  "error": {</a:t>
            </a:r>
            <a:br/>
            <a:r>
              <a:t>    "name": "Error",</a:t>
            </a:r>
            <a:br/>
            <a:r>
              <a:t>    "message": "Connection failed"</a:t>
            </a:r>
            <a:br/>
            <a:r>
              <a:t>  }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Machine-readable and searchable.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Logs must not contain: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Passwords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Raw session cookies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Session tokens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connection strings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Authorization headers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Liveness vs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Liveness (/api/live)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Is the application process running?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Should NOT depend on PostgreSQL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Returns 200 even if database is down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Readiness (/api/health)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Can this instance serve dependency-backed traffic?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Should check PostgreSQL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Returns 200 when healthy, 503 when degraded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Temporary database outage should not kill processes.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Security Headers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securityHeaders = [</a:t>
            </a:r>
            <a:br/>
            <a:r>
              <a:t>  { key: "Content-Security-Policy", value: "default-src 'self'; ..." },</a:t>
            </a:r>
            <a:br/>
            <a:r>
              <a:t>  { key: "Referrer-Policy", value: "strict-origin-when-cross-origin" },</a:t>
            </a:r>
            <a:br/>
            <a:r>
              <a:t>  { key: "X-Content-Type-Options", value: "nosniff" },</a:t>
            </a:r>
            <a:br/>
            <a:r>
              <a:t>  { key: "X-Frame-Options", value: "DENY" },</a:t>
            </a:r>
            <a:br/>
            <a:r>
              <a:t>  { key: "Permissions-Policy", value: "camera=(), microphone=(), ..." },</a:t>
            </a:r>
            <a:br/>
            <a:r>
              <a:t>  { key: "Cross-Origin-Opener-Policy", value: "same-origin" },</a:t>
            </a:r>
            <a:br/>
            <a:r>
              <a:t>  { key: "Strict-Transport-Security", value: "max-age=63072000; ..." },</a:t>
            </a:r>
            <a:br/>
            <a:r>
              <a:t>];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Protects against common browser attack surfaces.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Content Security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contentSecurityPolicy = [</a:t>
            </a:r>
            <a:br/>
            <a:r>
              <a:t>  "default-src 'self'",</a:t>
            </a:r>
            <a:br/>
            <a:r>
              <a:t>  "base-uri 'self'",</a:t>
            </a:r>
            <a:br/>
            <a:r>
              <a:t>  "object-src 'none'",</a:t>
            </a:r>
            <a:br/>
            <a:r>
              <a:t>  "frame-ancestors 'none'",</a:t>
            </a:r>
            <a:br/>
            <a:r>
              <a:t>  "form-action 'self'",</a:t>
            </a:r>
            <a:br/>
            <a:r>
              <a:t>  "img-src 'self' data: blob:",</a:t>
            </a:r>
            <a:br/>
            <a:r>
              <a:t>  "font-src 'self'",</a:t>
            </a:r>
            <a:br/>
            <a:r>
              <a:t>  "style-src 'self' 'unsafe-inline'",</a:t>
            </a:r>
            <a:br/>
            <a:r>
              <a:t>  "script-src 'self' 'unsafe-inline'",</a:t>
            </a:r>
            <a:br/>
            <a:r>
              <a:t>  "connect-src 'self'",</a:t>
            </a:r>
            <a:br/>
            <a:r>
              <a:t>  "worker-src 'self' blob:",</a:t>
            </a:r>
            <a:br/>
            <a:r>
              <a:t>  ...(isProduction ? ["upgrade-insecure-requests"] : []),</a:t>
            </a:r>
            <a:br/>
            <a:r>
              <a:t>].join("; ");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Restricts where resources can load from.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Stronger nonce-based CSP requires request-specific nonce propagation.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Docker Multi-Stage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Dependencies Stage</a:t>
            </a:r>
            <a:br/>
            <a:r>
              <a:t>    ↓</a:t>
            </a:r>
            <a:br/>
            <a:r>
              <a:t>Builder Stage</a:t>
            </a:r>
            <a:br/>
            <a:r>
              <a:t>    ↓</a:t>
            </a:r>
            <a:br/>
            <a:r>
              <a:t>Runtime Stage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Runtime stage contains only: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public directory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.next/standalone (minimal server)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.next/static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No source code, no development dependencies.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Runs as non-root user (UID 1001).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Dockerfile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FROM node:22-bookworm-slim AS dependencies</a:t>
            </a:r>
            <a:br/>
            <a:r>
              <a:t>WORKDIR /app</a:t>
            </a:r>
            <a:br/>
            <a:r>
              <a:t>COPY package.json package-lock.json ./</a:t>
            </a:r>
            <a:br/>
            <a:r>
              <a:t>RUN npm ci</a:t>
            </a:r>
            <a:br/>
            <a:br/>
            <a:r>
              <a:t>FROM node:22-bookworm-slim AS builder</a:t>
            </a:r>
            <a:br/>
            <a:r>
              <a:t>WORKDIR /app</a:t>
            </a:r>
            <a:br/>
            <a:r>
              <a:t>COPY --from=dependencies /app/node_modules ./node_modules</a:t>
            </a:r>
            <a:br/>
            <a:r>
              <a:t>COPY . .</a:t>
            </a:r>
            <a:br/>
            <a:r>
              <a:t>RUN npm run build</a:t>
            </a:r>
            <a:br/>
            <a:br/>
            <a:r>
              <a:t>FROM node:22-bookworm-slim AS runner</a:t>
            </a:r>
            <a:br/>
            <a:r>
              <a:t>WORKDIR /app</a:t>
            </a:r>
            <a:br/>
            <a:r>
              <a:t>RUN groupadd --system --gid 1001 nodejs</a:t>
            </a:r>
            <a:br/>
            <a:r>
              <a:t>RUN useradd --system --uid 1001 --gid nodejs nextjs</a:t>
            </a:r>
            <a:br/>
            <a:r>
              <a:t>COPY --from=builder --chown=nextjs:nodejs /app/public ./public</a:t>
            </a:r>
            <a:br/>
            <a:r>
              <a:t>COPY --from=builder --chown=nextjs:nodejs /app/.next/standalone ./</a:t>
            </a:r>
            <a:br/>
            <a:r>
              <a:t>COPY --from=builder --chown=nextjs:nodejs /app/.next/static ./.next/static</a:t>
            </a:r>
            <a:br/>
            <a:r>
              <a:t>USER nextjs</a:t>
            </a:r>
            <a:br/>
            <a:r>
              <a:t>CMD ["node", "server.js"]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Smoke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Fast verification of critical functionality: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const publicRoutes = ["/", "/about", "/features", "/sign-in", "/sign-up", "/api/live", "/api/health"];</a:t>
            </a:r>
            <a:br/>
            <a:br/>
            <a:r>
              <a:t>for (const route of publicRoutes) {</a:t>
            </a:r>
            <a:br/>
            <a:r>
              <a:t>  await expectStatus(route, 200);</a:t>
            </a:r>
            <a:br/>
            <a:r>
              <a:t>}</a:t>
            </a:r>
            <a:br/>
            <a:br/>
            <a:r>
              <a:t>await expectStatus("/api/projects", 401);</a:t>
            </a:r>
            <a:br/>
            <a:br/>
            <a:r>
              <a:t>await expectStatus("/dashboard", 307);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Smoke tests are not a replacement for full tests.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They provide a fast deployment gate.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Continuous Integration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name: Continuous Integration</a:t>
            </a:r>
            <a:br/>
            <a:br/>
            <a:r>
              <a:t>jobs:</a:t>
            </a:r>
            <a:br/>
            <a:r>
              <a:t>  validate:</a:t>
            </a:r>
            <a:br/>
            <a:r>
              <a:t>    runs-on: ubuntu-latest</a:t>
            </a:r>
            <a:br/>
            <a:r>
              <a:t>    services:</a:t>
            </a:r>
            <a:br/>
            <a:r>
              <a:t>      postgres:</a:t>
            </a:r>
            <a:br/>
            <a:r>
              <a:t>        image: postgres:17-alpine</a:t>
            </a:r>
            <a:br/>
            <a:r>
              <a:t>        env:</a:t>
            </a:r>
            <a:br/>
            <a:r>
              <a:t>          POSTGRES_DB: launchpad</a:t>
            </a:r>
            <a:br/>
            <a:r>
              <a:t>          POSTGRES_USER: launchpad</a:t>
            </a:r>
            <a:br/>
            <a:r>
              <a:t>          POSTGRES_PASSWORD: launchpad-ci-password</a:t>
            </a:r>
            <a:br/>
            <a:br/>
            <a:r>
              <a:t>    steps:</a:t>
            </a:r>
            <a:br/>
            <a:r>
              <a:t>      - uses: actions/checkout@v4</a:t>
            </a:r>
            <a:br/>
            <a:r>
              <a:t>      - uses: actions/setup-node@v4</a:t>
            </a:r>
            <a:br/>
            <a:r>
              <a:t>      - run: npm ci</a:t>
            </a:r>
            <a:br/>
            <a:r>
              <a:t>      - run: npm run db:migrate</a:t>
            </a:r>
            <a:br/>
            <a:r>
              <a:t>      - run: npm run db:migrate  # Verify idempotency</a:t>
            </a:r>
            <a:br/>
            <a:r>
              <a:t>      - run: npm run typecheck</a:t>
            </a:r>
            <a:br/>
            <a:r>
              <a:t>      - run: npm run lint</a:t>
            </a:r>
            <a:br/>
            <a:r>
              <a:t>      - run: npm run build</a:t>
            </a:r>
            <a:br/>
            <a:r>
              <a:t>      - run: npm run smoke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CI Pipeline Order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Install dependencies (npm ci)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Apply migrations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Verify migration idempotency (run again)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Type-check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Lint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Build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7. Start server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8. Liveness check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9. Smoke tests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Clean environment catches missing dependencies and assumptions.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Deployment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Apply migration (must be backward-compatible)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Deploy new application version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Verify health endpoints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Run smoke tests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Confirm authentication and authorization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Monitor errors and latency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Application rollback: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Stop routing traffic to faulty release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Redeploy known-good artifact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Verify health and smoke tests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Production Runbook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Service overview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Health endpoints (liveness, readiness)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Required environment variables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Standard deployment procedure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Migration procedure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Rollback procedure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backup requirements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outage response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Authentication incident response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Monitoring signals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Log safety rules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Scaling considerations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Security follow-up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Authentication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Revoke all sessions: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DELETE FROM sessions;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Revoke one user's sessions: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DELETE FROM sessions</a:t>
            </a:r>
            <a:br/>
            <a:r>
              <a:t>WHERE user_id = '&lt;user UUID&gt;';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After a suspected token leak: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Revoke affected sessions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Rotate relevant secrets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Review logs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Investigate source of exposure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Notify affected users when required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Database Outage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Symptoms: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/api/live returns 200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/api/health returns 503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Workspace requests fail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Logs contain "readiness_check_failed"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Response: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Check managed PostgreSQL status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Check connection limits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Check network and TLS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Check database storage and CPU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Check recent migrations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Don't restart healthy application instances repeatedly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7. Restore readiness before returning traffic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Monitoring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Alert on: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Sustained readiness failures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Elevated HTTP 500 response rate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Elevated sign-in failure rate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Increased database latency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connection exhaustion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High application memory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Crash loops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Migration failure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Backup failure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Increased p95/p99 response latency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Unexpected authorization failures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Scaling and Connection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Database connection formula: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pool size per instance</a:t>
            </a:r>
            <a:br/>
            <a:r>
              <a:t>≤</a:t>
            </a:r>
            <a:br/>
            <a:r>
              <a:t>application connection budget ÷ maximum instances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Example: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Database maximum: 100</a:t>
            </a:r>
            <a:br/>
            <a:r>
              <a:t>Reserved: 20</a:t>
            </a:r>
            <a:br/>
            <a:r>
              <a:t>Application budget: 80</a:t>
            </a:r>
            <a:br/>
            <a:r>
              <a:t>Maximum instances: 20</a:t>
            </a:r>
            <a:br/>
            <a:br/>
            <a:r>
              <a:t>Pool size: 80 ÷ 20 = 4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Set max in database client accordingly.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Production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Managed PostgreSQL provider should supply: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Persistent storage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Automated backups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Monitoring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Maintenance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Connection limits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Point-in-time recovery (optional)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High availability (optional)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Never use the development password in production.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Never run development seed in production.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Vercel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# Login</a:t>
            </a:r>
            <a:br/>
            <a:r>
              <a:t>npx vercel login</a:t>
            </a:r>
            <a:br/>
            <a:br/>
            <a:r>
              <a:t># Link project</a:t>
            </a:r>
            <a:br/>
            <a:r>
              <a:t>npx vercel link</a:t>
            </a:r>
            <a:br/>
            <a:br/>
            <a:r>
              <a:t># Add environment variables</a:t>
            </a:r>
            <a:br/>
            <a:r>
              <a:t>npx vercel env add APP_URL production</a:t>
            </a:r>
            <a:br/>
            <a:r>
              <a:t>npx vercel env add DATABASE_URL production</a:t>
            </a:r>
            <a:br/>
            <a:r>
              <a:t>npx vercel env add DATABASE_SSL production</a:t>
            </a:r>
            <a:br/>
            <a:r>
              <a:t>npx vercel env add LOG_LEVEL production</a:t>
            </a:r>
            <a:br/>
            <a:r>
              <a:t>npx vercel env add APP_VERSION production</a:t>
            </a:r>
            <a:br/>
            <a:br/>
            <a:r>
              <a:t># Deploy preview</a:t>
            </a:r>
            <a:br/>
            <a:r>
              <a:t>npx vercel</a:t>
            </a:r>
            <a:br/>
            <a:br/>
            <a:r>
              <a:t># Deploy production</a:t>
            </a:r>
            <a:br/>
            <a:r>
              <a:t>npx vercel --prod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Production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Verify deployed application: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# Smoke tests</a:t>
            </a:r>
            <a:br/>
            <a:r>
              <a:t>BASE_URL=https://your-domain.com npm run smoke</a:t>
            </a:r>
            <a:br/>
            <a:br/>
            <a:r>
              <a:t># Liveness</a:t>
            </a:r>
            <a:br/>
            <a:r>
              <a:t>curl -s $BASE_URL/api/live | python -m json.tool</a:t>
            </a:r>
            <a:br/>
            <a:br/>
            <a:r>
              <a:t># Readiness</a:t>
            </a:r>
            <a:br/>
            <a:r>
              <a:t>curl -s $BASE_URL/api/health | python -m json.tool</a:t>
            </a:r>
            <a:br/>
            <a:br/>
            <a:r>
              <a:t># Security headers</a:t>
            </a:r>
            <a:br/>
            <a:r>
              <a:t>curl -s -D - $BASE_URL -o /dev/null</a:t>
            </a:r>
            <a:br/>
            <a:br/>
            <a:r>
              <a:t># Protected routes</a:t>
            </a:r>
            <a:br/>
            <a:r>
              <a:t>curl -s -o /dev/null -w "%{http_code}" $BASE_URL/api/projects</a:t>
            </a:r>
            <a:br/>
            <a:br/>
            <a:r>
              <a:t># Authentication test</a:t>
            </a:r>
            <a:br/>
            <a:r>
              <a:t># Manual browser test for sign-in, sign-out, ownership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Production Authentication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Create a test account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Verify session cookie has Secure, HttpOnly, SameSite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Create a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Sign out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Create another account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Attempt to access first account's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7. Expect 404 or redirect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8. Verify APIs reject unauthorized access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9. Verify session cookie not readable via document.cookie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disposable test accounts only.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Web Vitals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"use client";</a:t>
            </a:r>
            <a:br/>
            <a:r>
              <a:t>import { useReportWebVitals } from "next/web-vitals";</a:t>
            </a:r>
            <a:br/>
            <a:br/>
            <a:r>
              <a:t>export function WebVitalsReporter() {</a:t>
            </a:r>
            <a:br/>
            <a:r>
              <a:t>  useReportWebVitals((metric) =&gt; {</a:t>
            </a:r>
            <a:br/>
            <a:r>
              <a:t>    // Send to analytics/observability service</a:t>
            </a:r>
            <a:br/>
            <a:r>
              <a:t>    console.log(metric.name, metric.value, metric.rating);</a:t>
            </a:r>
            <a:br/>
            <a:r>
              <a:t>  });</a:t>
            </a:r>
            <a:br/>
            <a:r>
              <a:t>  return null;</a:t>
            </a:r>
            <a:br/>
            <a:r>
              <a:t>}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Add to root layout.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Send to approved monitoring service, not just console.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Don't attach PII to performance metrics.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10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Environment variables validated at startup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APP_URL requires HTTPS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PostgreSQL TLS configurable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.env.local ignored by Git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Migration history stored in schema_migrations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Applied migration files checksum-verified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Migration uses advisory lock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Migrations idempotent when rerun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Development seeds never run against production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Structured logs include safe event metadata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Logs redact passwords, tokens, cookies, URLs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10 Verification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/api/live available when PostgreSQL unavailable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/api/health returns 503 when PostgreSQL unavailable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Health responses are not cached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Security headers present in production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X-Powered-By is absent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App uses standalone output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Docker image runs as non-root user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Docker health checks use /api/live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Smoke tests pass against production mode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CI uses npm ci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CI starts clean PostgreSQL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CI applies migrations, checks idempotency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Part 10 Verification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CI runs type-checking, linting, build, smoke tests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Runbook documents incidents, rollback, recovery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Deployment checklist is complete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PostgreSQL has backups and tested restoration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PostgreSQL uses unique credentials and TLS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database connection capacity calculated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uses HTTPS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session cookies are Secure and HttpOnly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authentication and cross-user isolation verified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External uptime monitoring checks readiness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Alerts configured for readiness, 5xx, latency, backups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Web Vitals reporting ready for observability backend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Final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Browser</a:t>
            </a:r>
            <a:br/>
            <a:r>
              <a:t>    ↓</a:t>
            </a:r>
            <a:br/>
            <a:r>
              <a:t>Next.js 16 Application</a:t>
            </a:r>
            <a:br/>
            <a:r>
              <a:t>    ├── App Router (Pages, Layouts, Loading, Error)</a:t>
            </a:r>
            <a:br/>
            <a:r>
              <a:t>    ├── Server Components (Data fetching, rendering)</a:t>
            </a:r>
            <a:br/>
            <a:r>
              <a:t>    ├── Client Components (Interactivity, state)</a:t>
            </a:r>
            <a:br/>
            <a:r>
              <a:t>    ├── Server Actions (Mutations from forms)</a:t>
            </a:r>
            <a:br/>
            <a:r>
              <a:t>    ├── Route Handlers (API endpoints)</a:t>
            </a:r>
            <a:br/>
            <a:r>
              <a:t>    ├── Authentication (Sessions, cookies)</a:t>
            </a:r>
            <a:br/>
            <a:r>
              <a:t>    └── Authorization (Owner-scoped queries)</a:t>
            </a:r>
            <a:br/>
            <a:r>
              <a:t>    ↓</a:t>
            </a:r>
            <a:br/>
            <a:r>
              <a:t>PostgreSQL</a:t>
            </a:r>
            <a:br/>
            <a:r>
              <a:t>    ├── users</a:t>
            </a:r>
            <a:br/>
            <a:r>
              <a:t>    ├── sessions</a:t>
            </a:r>
            <a:br/>
            <a:r>
              <a:t>    ├── projects</a:t>
            </a:r>
            <a:br/>
            <a:r>
              <a:t>    └── tasks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Key Production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.env.example                   # Documented environment</a:t>
            </a:r>
            <a:br/>
            <a:r>
              <a:t>.github/workflows/ci.yml       # Continuous integration</a:t>
            </a:r>
            <a:br/>
            <a:r>
              <a:t>Dockerfile                     # Production image</a:t>
            </a:r>
            <a:br/>
            <a:r>
              <a:t>compose.yaml                   # Development PostgreSQL</a:t>
            </a:r>
            <a:br/>
            <a:r>
              <a:t>database/migrations/           # Schema changes</a:t>
            </a:r>
            <a:br/>
            <a:r>
              <a:t>docs/production-runbook.md     # Operations guide</a:t>
            </a:r>
            <a:br/>
            <a:r>
              <a:t>docs/deployment-checklist.md   # Pre-deployment checks</a:t>
            </a:r>
            <a:br/>
            <a:r>
              <a:t>next.config.ts                 # Framework configuration</a:t>
            </a:r>
            <a:br/>
            <a:r>
              <a:t>scripts/migrate.mjs            # Migration runner</a:t>
            </a:r>
            <a:br/>
            <a:r>
              <a:t>scripts/smoke-test.mjs         # Deployment verification</a:t>
            </a:r>
            <a:br/>
            <a:r>
              <a:t>src/app/api/live/route.ts      # Liveness check</a:t>
            </a:r>
            <a:br/>
            <a:r>
              <a:t>src/app/api/health/route.ts    # Readiness check</a:t>
            </a:r>
            <a:br/>
            <a:r>
              <a:t>src/lib/environment.ts         # Environment validation</a:t>
            </a:r>
            <a:br/>
            <a:r>
              <a:t>src/lib/logger.ts              # Structured logging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Security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server-only on server modules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No NEXT_PUBLIC_ for secrets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.env.local in .gitignore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owner_id in all queries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404 for unauthorized resources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Cookie: HttpOnly, Secure, SameSite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Session tokens stored as hashes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Passwords hashed with bcrypt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Security headers configured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CORS configured if needed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Rate limiting (future work)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Performance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next/image with width, height, sizes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Priority only for hero images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Dynamic imports for optional features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Private APIs: Cache-Control: private, no-store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Public APIs: appropriate cache policy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Client Components only when needed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Bundle analysis run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Lighthouse audit pass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Measure before and after changes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Database indexes for common queries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Deployment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Environment variables validated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Migrations tracked and checksummed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Health endpoints working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Security headers present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Docker image minimal (standalone)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CI passes all checks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Smoke tests pass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Backups configured and tested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Monitoring configured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Rollback plan documented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LaunchPad Feature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Public Routes: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 - Landing page with hero and features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/about - About the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/features - Feature map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/sign-in - Sign 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/sign-up - Create account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Workspace Routes: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/dashboard - Overview with metrics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 - Project list with filtering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/projects/new - Create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/projects/:id - Project detail with tasks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LaunchPad Feature Map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API Routes: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GET /api/projects - List projects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 /api/projects - Create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GET /api/projects/:id - Get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PATCH /api/projects/:id - Update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DELETE /api/projects/:id - Delete project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GET /api/health - Readiness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GET /api/live - Liveness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Authentication: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Email/password sign-in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Email/password sign-up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Sign-out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Session management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Next.js 16 - App Router framework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React 19 - UI library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TypeScript - Static type checking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PostgreSQL - Relational database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Zod - Runtime validation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bcryptjs - Password hashing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Docker - Containerization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Vercel - Deployment platform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GitHub Actions - CI/CD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Common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Trusting client-side validation only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Storing secrets in source control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Marking everything as Client Component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Forgetting owner_id in queries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Using any type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Catching redirect()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7. Caching private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8. Skipping production build test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9. No sizes on images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10. Trusting URL parameters without validation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After LaunchPad: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Add rate limiting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Add email verification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Add password reset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Add file uploads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Add audit logging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Implement full-text search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7. Add unit tests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8. Add end-to-end tests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9. Implement GraphQL (optional)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10. Add real-time features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Learning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Official Documentation: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Next.js: nextjs.org/docs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React: react.dev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TypeScript: typescriptlang.org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PostgreSQL: postgresql.org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Zod: zod.dev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Docker: docs.docker.com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Community: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Next.js Discord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GitHub Discussions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Stack Overflow (#next.js)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Reddit r/nextjs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**Server-first**: Keep rendering and data access on the server by default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**Focused client boundaries**: Only move interactivity to the client when needed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**Secure by design**: Authentication and authorization at every layer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**Measure before optimizing**: Performance work is evidence-based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**Production readiness**: Operations, monitoring, and documentation matter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**Iterative development**: One layer at a time, verified at each step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Course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You have built a production-ready Next.js application.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You understand: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App Router routing and layouts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Server and Client Components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integration with PostgreSQL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Authentication and authorization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Full-stack features (APIs, forms, mutations)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Performance optimization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Production deployment practices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Final 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"The durable lesson is not a list of framework APIs. It is the habit of placing each responsibility at the correct boundary."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Browser: interaction and temporary UI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URL: shareable navigation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Server Components: trusted rendering and data access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Server Actions and Route Handlers: validated mutations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Database: persistence, integrity, and ownership constraints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Infrastructure: HTTPS, secrets, backups, monitoring, and scaling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LaunchPad: From Zero to Production with Next.js 16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Your Next.js journey continues here.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Environment Variables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Courier New"/>
              </a:rPr>
              <a:t>Variable  |  Purpose  |  Production</a:t>
            </a:r>
            <a:br/>
            <a:r>
              <a:t>-----------------------------------</a:t>
            </a:r>
            <a:br/>
            <a:r>
              <a:t>----------  |  ---------  |  ------------</a:t>
            </a:r>
            <a:br/>
            <a:r>
              <a:t>APP_URL  |  Canonical URL  |  HTTPS URL</a:t>
            </a:r>
            <a:br/>
            <a:r>
              <a:t>DATABASE_URL  |  PostgreSQL connection  |  Secret-store value</a:t>
            </a:r>
            <a:br/>
            <a:r>
              <a:t>DATABASE_SSL  |  TLS for database  |  true</a:t>
            </a:r>
            <a:br/>
            <a:r>
              <a:t>LOG_LEVEL  |  Minimum log level  |  info</a:t>
            </a:r>
            <a:br/>
            <a:r>
              <a:t>APP_VERSION  |  Release identifier  |  Git commit SHA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HTTP Status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Courier New"/>
              </a:rPr>
              <a:t>Status  |  Meaning  |  When Used</a:t>
            </a:r>
            <a:br/>
            <a:r>
              <a:t>--------------------------------</a:t>
            </a:r>
            <a:br/>
            <a:r>
              <a:t>--------  |  ---------  |  -----------</a:t>
            </a:r>
            <a:br/>
            <a:r>
              <a:t>200  |  Success  |  GET, PATCH success</a:t>
            </a:r>
            <a:br/>
            <a:r>
              <a:t>201  |  Created  |  POST success</a:t>
            </a:r>
            <a:br/>
            <a:r>
              <a:t>204  |  No Content  |  DELETE success</a:t>
            </a:r>
            <a:br/>
            <a:r>
              <a:t>400  |  Bad Request  |  Invalid JSON, invalid ID</a:t>
            </a:r>
            <a:br/>
            <a:r>
              <a:t>401  |  Unauthorized  |  No session</a:t>
            </a:r>
            <a:br/>
            <a:r>
              <a:t>403  |  Forbidden  |  Authenticated but no permission</a:t>
            </a:r>
            <a:br/>
            <a:r>
              <a:t>404  |  Not Found  |  Resource missing</a:t>
            </a:r>
            <a:br/>
            <a:r>
              <a:t>422  |  Unprocessable  |  Validation error</a:t>
            </a:r>
            <a:br/>
            <a:r>
              <a:t>503  |  Unavailable  |  Health check failure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Users: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id: UUID PK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name: VARCHAR(100)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email: VARCHAR(320) UNIQUE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password_hash: TEXT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created_at, updated_at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Sessions: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id: UUID PK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user_id: UUID FK (users)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token_hash: CHAR(64) UNIQUE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expires_at: TIMESTAMPTZ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created_at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Database Schema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Projects: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id: UUID PK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owner_id: UUID FK (users)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name: VARCHAR(120)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description: TEXT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status: VARCHAR(20)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created_at, updated_at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Tasks: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id: UUID PK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project_id: UUID FK (projects) CASCADE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title: VARCHAR(160)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description: TEXT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status: VARCHAR(20)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priority: VARCHAR(20)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due_date: DATE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created_at, updated_at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Migrations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001_create_projects_and_tasks.sql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Projects and tasks tables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Constraints and indexes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002_add_users_sessions_and_ownership.sql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Users and sessions tables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owner_id on projects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Foreign key relationships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Demo user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003_add_archived_at.sql (future)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Add archived_at to projects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Key Exports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 Components (default):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src/app/**/*.tsx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Client Components (with "use client"):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src/components/project-list.tsx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src/components/workspace-navigation.tsx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src/components/interactive-disclosure.tsx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src/components/copy-project-link.tsx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src/components/create-project-form.tsx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src/components/create-task-form.tsx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src/components/sign-in-form.tsx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src/components/sign-up-form.tsx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Key Exports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Server-only modules: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src/lib/database/client.ts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src/lib/database/project-queries.ts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src/lib/database/project-mutations.ts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src/lib/auth/session.ts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src/lib/auth/accounts.ts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src/lib/environment.ts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Shared types: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src/lib/project-types.ts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src/lib/task-types.ts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src/lib/auth-types.ts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npm Scripts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{</a:t>
            </a:r>
            <a:br/>
            <a:r>
              <a:t>  "dev": "next dev --turbopack",</a:t>
            </a:r>
            <a:br/>
            <a:r>
              <a:t>  "build": "next build",</a:t>
            </a:r>
            <a:br/>
            <a:r>
              <a:t>  "start": "next start",</a:t>
            </a:r>
            <a:br/>
            <a:r>
              <a:t>  "lint": "eslint",</a:t>
            </a:r>
            <a:br/>
            <a:r>
              <a:t>  "typecheck": "tsc --noEmit",</a:t>
            </a:r>
            <a:br/>
            <a:r>
              <a:t>  "analyze": "ANALYZE=true next build",</a:t>
            </a:r>
            <a:br/>
            <a:r>
              <a:t>  "smoke": "node scripts/smoke-test.mjs",</a:t>
            </a:r>
            <a:br/>
            <a:r>
              <a:t>  "db:start": "docker compose up --detach db",</a:t>
            </a:r>
            <a:br/>
            <a:r>
              <a:t>  "db:stop": "docker compose stop db",</a:t>
            </a:r>
            <a:br/>
            <a:r>
              <a:t>  "db:status": "docker compose ps",</a:t>
            </a:r>
            <a:br/>
            <a:r>
              <a:t>  "db:migrate": "node scripts/migrate.mjs",</a:t>
            </a:r>
            <a:br/>
            <a:r>
              <a:t>  "db:seed": "...",</a:t>
            </a:r>
            <a:br/>
            <a:r>
              <a:t>  "db:shell": "...",</a:t>
            </a:r>
            <a:br/>
            <a:r>
              <a:t>  "db:reset": "docker compose down --volumes"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Docker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Build image: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docker build -t launchpad:latest 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Run image: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docker run -p 3000:3000 launchpad:latest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With environment variables: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docker run -p 3000:3000 \</a:t>
            </a:r>
            <a:br/>
            <a:r>
              <a:t>  -e APP_URL=https://example.com \</a:t>
            </a:r>
            <a:br/>
            <a:r>
              <a:t>  -e DATABASE_URL=postgresql://... \</a:t>
            </a:r>
            <a:br/>
            <a:r>
              <a:t>  launchpad:latest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Multi-platform build: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docker buildx build --platform linux/amd64,linux/arm64 -t launchpad:latest 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CI 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GitHub Actions CI environment: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env:</a:t>
            </a:r>
            <a:br/>
            <a:r>
              <a:t>  APP_URL: https://ci.launchpad.invalid</a:t>
            </a:r>
            <a:br/>
            <a:r>
              <a:t>  DATABASE_URL: postgresql://launchpad:launchpad-ci-password@127.0.0.1:5432/launchpad</a:t>
            </a:r>
            <a:br/>
            <a:r>
              <a:t>  DATABASE_SSL: "false"</a:t>
            </a:r>
            <a:br/>
            <a:r>
              <a:t>  LOG_LEVEL: info</a:t>
            </a:r>
            <a:br/>
            <a:r>
              <a:t>  APP_VERSION: ${{ github.sha }}</a:t>
            </a:r>
            <a:br/>
            <a:r>
              <a:t>  NEXT_TELEMETRY_DISABLED: "1"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PostgreSQL service: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services:</a:t>
            </a:r>
            <a:br/>
            <a:r>
              <a:t>  postgres:</a:t>
            </a:r>
            <a:br/>
            <a:r>
              <a:t>    image: postgres:17-alpine</a:t>
            </a:r>
            <a:br/>
            <a:r>
              <a:t>    env:</a:t>
            </a:r>
            <a:br/>
            <a:r>
              <a:t>      POSTGRES_DB: launchpad</a:t>
            </a:r>
            <a:br/>
            <a:r>
              <a:t>      POSTGRES_USER: launchpad</a:t>
            </a:r>
            <a:br/>
            <a:r>
              <a:t>      POSTGRES_PASSWORD: launchpad-ci-password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Security Headers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Content-Security-Policy: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default-src 'self'; base-uri 'self'; object-src 'none';</a:t>
            </a:r>
            <a:br/>
            <a:r>
              <a:t>frame-ancestors 'none'; form-action 'self';</a:t>
            </a:r>
            <a:br/>
            <a:r>
              <a:t>img-src 'self' data: blob:;</a:t>
            </a:r>
            <a:br/>
            <a:r>
              <a:t>font-src 'self';</a:t>
            </a:r>
            <a:br/>
            <a:r>
              <a:t>style-src 'self' 'unsafe-inline';</a:t>
            </a:r>
            <a:br/>
            <a:r>
              <a:t>script-src 'self' 'unsafe-inline';</a:t>
            </a:r>
            <a:br/>
            <a:r>
              <a:t>connect-src 'self';</a:t>
            </a:r>
            <a:br/>
            <a:r>
              <a:t>worker-src 'self' blob: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Strict-Transport-Security: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max-age=63072000; includeSubDomains; preload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Lighthouse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Performance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LCP, CLS, INP, TTFB, FCP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Image optimization, unused JavaScript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Accessibility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ARIA attributes, semantic HTML, contrast, labels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Best Practices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Security headers, HTTPS, no mixed content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SEO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Title, description, meta tags, semantic structure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Core Web Vitals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LCP (Largest Contentful Paint)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Good: &lt; 2.5s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Needs Improvement: 2.5s - 4.0s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Poor: &gt; 4.0s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CLS (Cumulative Layout Shift)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Good: &lt; 0.1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Needs Improvement: 0.1 - 0.25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Poor: &gt; 0.25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INP (Interaction to Next Paint)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Good: &lt; 200ms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Needs Improvement: 200ms - 500ms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Poor: &gt; 500ms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Production Runbook 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Service Overview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Health Endpoints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Required Environment Variables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Standard Deployment Procedure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Migration Procedure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Rollback Procedure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7. Database Backup Requirements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8. Database Outage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9. Authentication Incident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10. Monitoring Signals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11. Log Safety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12. Scaling Considerations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13. Security Follow-Up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Deployment Checklist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Before Deployment: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CI is green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npm ci succeeds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typecheck succeeds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lint succeeds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build succeeds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Migration works on staging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New migrations are backward-compatible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Secrets configured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backups confirmed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Connection pool capacity reviewed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Deployment Checklist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During Deployment: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Apply migrations once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Deploy artifact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Confirm /api/live returns 200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Confirm /api/health returns 200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Run smoke tests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After Deployment: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Public pages return 200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Security headers present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X-Powered-By absent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Private API returns 401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Protected pages redirect to sign-in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Test user can sign 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Cookie is Secure and HttpOnly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Owner-scoped access verified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Sign-out revokes access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Logs reviewed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Session Cookie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Inspect cookie in browser dev tools: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Application/Storage → Cookies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Check: HttpOnly, Secure, SameSite, Expires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Verify cookie not readable via JavaScript: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document.cookie</a:t>
            </a:r>
            <a:br/>
            <a:r>
              <a:t>// Should NOT show launchpad_session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Verify session in database: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SELECT * FROM sessions</a:t>
            </a:r>
            <a:br/>
            <a:r>
              <a:t>WHERE user_id = 'uuid'</a:t>
            </a:r>
            <a:br/>
            <a:r>
              <a:t>  AND expires_at &gt; NOW();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Database Connection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Check connection count: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SELECT state, COUNT(*) FROM pg_stat_activity</a:t>
            </a:r>
            <a:br/>
            <a:r>
              <a:t>WHERE datname = current_database()</a:t>
            </a:r>
            <a:br/>
            <a:r>
              <a:t>GROUP BY state;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Check max connections: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SHOW max_connections;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Check active queries: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SELECT pid, state, query, age(now(), query_start)</a:t>
            </a:r>
            <a:br/>
            <a:r>
              <a:t>FROM pg_stat_activity</a:t>
            </a:r>
            <a:br/>
            <a:r>
              <a:t>WHERE datname = current_database()</a:t>
            </a:r>
            <a:br/>
            <a:r>
              <a:t>  AND state = 'active';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Performance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Route timing script: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for route in "/" "/about" "/api/health"; do</a:t>
            </a:r>
            <a:br/>
            <a:r>
              <a:t>  curl -s -o /dev/null -w \</a:t>
            </a:r>
            <a:br/>
            <a:r>
              <a:t>    "route=${route} status=%{http_code} first_byte=%{time_starttransfer}s total=%{time_total}s bytes=%{size_download}\n" \</a:t>
            </a:r>
            <a:br/>
            <a:r>
              <a:t>    http://localhost:3000$route</a:t>
            </a:r>
            <a:br/>
            <a:r>
              <a:t>done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Run 3 times, record values.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Compare before and after optimization.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Bundle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Install: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npm install --save-dev @next/bundle-analyzer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Run: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npm run analyze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Check: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postgres is not in client bundle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bcryptjs is not in client bundle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Database modules not in client bundle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Optional features split into their own chunks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No unexpected large dependencies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TypeScript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tsconfig.json key settings: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{</a:t>
            </a:r>
            <a:br/>
            <a:r>
              <a:t>  "compilerOptions": {</a:t>
            </a:r>
            <a:br/>
            <a:r>
              <a:t>    "target": "ES2017",</a:t>
            </a:r>
            <a:br/>
            <a:r>
              <a:t>    "lib": ["dom", "dom.iterable", "esnext"],</a:t>
            </a:r>
            <a:br/>
            <a:r>
              <a:t>    "allowJs": true,</a:t>
            </a:r>
            <a:br/>
            <a:r>
              <a:t>    "skipLibCheck": true,</a:t>
            </a:r>
            <a:br/>
            <a:r>
              <a:t>    "strict": true,</a:t>
            </a:r>
            <a:br/>
            <a:r>
              <a:t>    "noEmit": true,</a:t>
            </a:r>
            <a:br/>
            <a:r>
              <a:t>    "esModuleInterop": true,</a:t>
            </a:r>
            <a:br/>
            <a:r>
              <a:t>    "module": "esnext",</a:t>
            </a:r>
            <a:br/>
            <a:r>
              <a:t>    "moduleResolution": "bundler",</a:t>
            </a:r>
            <a:br/>
            <a:r>
              <a:t>    "resolveJsonModule": true,</a:t>
            </a:r>
            <a:br/>
            <a:r>
              <a:t>    "isolatedModules": true,</a:t>
            </a:r>
            <a:br/>
            <a:r>
              <a:t>    "jsx": "preserve",</a:t>
            </a:r>
            <a:br/>
            <a:r>
              <a:t>    "incremental": true,</a:t>
            </a:r>
            <a:br/>
            <a:r>
              <a:t>    "plugins": [{ "name": "next" }],</a:t>
            </a:r>
            <a:br/>
            <a:r>
              <a:t>    "paths": { "@/*": ["./src/*"] }</a:t>
            </a:r>
            <a:br/>
            <a:r>
              <a:t>  },</a:t>
            </a:r>
            <a:br/>
            <a:r>
              <a:t>  "include": ["next-env.d.ts", "**/*.ts", "**/*.tsx", ".next/types/**/*.ts"],</a:t>
            </a:r>
            <a:br/>
            <a:r>
              <a:t>  "exclude": ["node_modules"]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ESLint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eslint.config.mjs: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{ FlatCompat } from "@eslint/eslintrc";</a:t>
            </a:r>
            <a:br/>
            <a:r>
              <a:t>import path from "path";</a:t>
            </a:r>
            <a:br/>
            <a:r>
              <a:t>import { fileURLToPath } from "url";</a:t>
            </a:r>
            <a:br/>
            <a:br/>
            <a:r>
              <a:t>const __filename = fileURLToPath(import.meta.url);</a:t>
            </a:r>
            <a:br/>
            <a:r>
              <a:t>const __dirname = path.dirname(__filename);</a:t>
            </a:r>
            <a:br/>
            <a:br/>
            <a:r>
              <a:t>const compat = new FlatCompat({</a:t>
            </a:r>
            <a:br/>
            <a:r>
              <a:t>  baseDirectory: __dirname,</a:t>
            </a:r>
            <a:br/>
            <a:r>
              <a:t>});</a:t>
            </a:r>
            <a:br/>
            <a:br/>
            <a:r>
              <a:t>const eslintConfig = [</a:t>
            </a:r>
            <a:br/>
            <a:r>
              <a:t>  ...compat.config({</a:t>
            </a:r>
            <a:br/>
            <a:r>
              <a:t>    extends: ["next/core-web-vitals", "next/typescript"],</a:t>
            </a:r>
            <a:br/>
            <a:r>
              <a:t>  }),</a:t>
            </a:r>
            <a:br/>
            <a:r>
              <a:t>];</a:t>
            </a:r>
            <a:br/>
            <a:br/>
            <a:r>
              <a:t>export default eslintConfig;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Git 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.gitignore key entries: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# Dependencies</a:t>
            </a:r>
            <a:br/>
            <a:r>
              <a:t>/node_modules</a:t>
            </a:r>
            <a:br/>
            <a:r>
              <a:t>/.pnp</a:t>
            </a:r>
            <a:br/>
            <a:r>
              <a:t>.pnp.js</a:t>
            </a:r>
            <a:br/>
            <a:br/>
            <a:r>
              <a:t># Next.js</a:t>
            </a:r>
            <a:br/>
            <a:r>
              <a:t>/.next/</a:t>
            </a:r>
            <a:br/>
            <a:r>
              <a:t>/out/</a:t>
            </a:r>
            <a:br/>
            <a:br/>
            <a:r>
              <a:t># Production</a:t>
            </a:r>
            <a:br/>
            <a:r>
              <a:t>/build</a:t>
            </a:r>
            <a:br/>
            <a:r>
              <a:t>/dist</a:t>
            </a:r>
            <a:br/>
            <a:br/>
            <a:r>
              <a:t># Environment</a:t>
            </a:r>
            <a:br/>
            <a:r>
              <a:t>.env</a:t>
            </a:r>
            <a:br/>
            <a:r>
              <a:t>.env.local</a:t>
            </a:r>
            <a:br/>
            <a:r>
              <a:t>.env.*.local</a:t>
            </a:r>
            <a:br/>
            <a:br/>
            <a:r>
              <a:t># Editor</a:t>
            </a:r>
            <a:br/>
            <a:r>
              <a:t>*.swp</a:t>
            </a:r>
            <a:br/>
            <a:r>
              <a:t>*.swo</a:t>
            </a:r>
            <a:br/>
            <a:r>
              <a:t>.DS_Store</a:t>
            </a:r>
            <a:br/>
            <a:br/>
            <a:r>
              <a:t># Logs</a:t>
            </a:r>
            <a:br/>
            <a:r>
              <a:t>npm-debug.log*</a:t>
            </a:r>
            <a:br/>
            <a:r>
              <a:t>yarn-debug.log*</a:t>
            </a:r>
            <a:br/>
            <a:r>
              <a:t>yarn-error.log*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Directory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launchpad/</a:t>
            </a:r>
            <a:br/>
            <a:r>
              <a:t>├── .github/workflows/</a:t>
            </a:r>
            <a:br/>
            <a:r>
              <a:t>├── database/</a:t>
            </a:r>
            <a:br/>
            <a:r>
              <a:t>│   ├── migrations/</a:t>
            </a:r>
            <a:br/>
            <a:r>
              <a:t>│   └── seeds/</a:t>
            </a:r>
            <a:br/>
            <a:r>
              <a:t>├── docs/</a:t>
            </a:r>
            <a:br/>
            <a:r>
              <a:t>├── public/</a:t>
            </a:r>
            <a:br/>
            <a:r>
              <a:t>├── scripts/</a:t>
            </a:r>
            <a:br/>
            <a:r>
              <a:t>├── src/</a:t>
            </a:r>
            <a:br/>
            <a:r>
              <a:t>│   ├── app/</a:t>
            </a:r>
            <a:br/>
            <a:r>
              <a:t>│   │   ├── (auth)/</a:t>
            </a:r>
            <a:br/>
            <a:r>
              <a:t>│   │   ├── (marketing)/</a:t>
            </a:r>
            <a:br/>
            <a:r>
              <a:t>│   │   ├── (workspace)/</a:t>
            </a:r>
            <a:br/>
            <a:r>
              <a:t>│   │   └── api/</a:t>
            </a:r>
            <a:br/>
            <a:r>
              <a:t>│   ├── components/</a:t>
            </a:r>
            <a:br/>
            <a:r>
              <a:t>│   ├── lib/</a:t>
            </a:r>
            <a:br/>
            <a:r>
              <a:t>│   │   ├── auth/</a:t>
            </a:r>
            <a:br/>
            <a:r>
              <a:t>│   │   ├── database/</a:t>
            </a:r>
            <a:br/>
            <a:r>
              <a:t>│   │   └── styles/</a:t>
            </a:r>
            <a:br/>
            <a:r>
              <a:t>│   └── styles/</a:t>
            </a:r>
            <a:br/>
            <a:r>
              <a:t>├── .dockerignore</a:t>
            </a:r>
            <a:br/>
            <a:r>
              <a:t>├── .env.example</a:t>
            </a:r>
            <a:br/>
            <a:r>
              <a:t>├── Dockerfile</a:t>
            </a:r>
            <a:br/>
            <a:r>
              <a:t>├── compose.yaml</a:t>
            </a:r>
            <a:br/>
            <a:r>
              <a:t>├── next.config.ts</a:t>
            </a:r>
            <a:br/>
            <a:r>
              <a:t>├── package.json</a:t>
            </a:r>
            <a:br/>
            <a:r>
              <a:t>└── tsconfig.json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Next.js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next.config.ts: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import bundleAnalyzer from "@next/bundle-analyzer";</a:t>
            </a:r>
            <a:br/>
            <a:br/>
            <a:r>
              <a:t>const withBundleAnalyzer = bundleAnalyzer({</a:t>
            </a:r>
            <a:br/>
            <a:r>
              <a:t>  enabled: process.env.ANALYZE === "true",</a:t>
            </a:r>
            <a:br/>
            <a:r>
              <a:t>});</a:t>
            </a:r>
            <a:br/>
            <a:br/>
            <a:r>
              <a:t>const nextConfig = {</a:t>
            </a:r>
            <a:br/>
            <a:r>
              <a:t>  poweredByHeader: false,</a:t>
            </a:r>
            <a:br/>
            <a:r>
              <a:t>  compress: true,</a:t>
            </a:r>
            <a:br/>
            <a:r>
              <a:t>  output: "standalone",</a:t>
            </a:r>
            <a:br/>
            <a:r>
              <a:t>  images: {</a:t>
            </a:r>
            <a:br/>
            <a:r>
              <a:t>    formats: ["image/avif", "image/webp"],</a:t>
            </a:r>
            <a:br/>
            <a:r>
              <a:t>    deviceSizes: [640, 750, 828, 1080, 1200, 1600],</a:t>
            </a:r>
            <a:br/>
            <a:r>
              <a:t>  },</a:t>
            </a:r>
            <a:br/>
            <a:r>
              <a:t>  async headers() {</a:t>
            </a:r>
            <a:br/>
            <a:r>
              <a:t>    return [{ source: "/:path*", headers: securityHeaders }];</a:t>
            </a:r>
            <a:br/>
            <a:r>
              <a:t>  },</a:t>
            </a:r>
            <a:br/>
            <a:r>
              <a:t>};</a:t>
            </a:r>
            <a:br/>
            <a:br/>
            <a:r>
              <a:t>export default withBundleAnalyzer(nextConfig);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Popular Next.js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Courier New"/>
              </a:rPr>
              <a:t>Package  |  Purpose</a:t>
            </a:r>
            <a:br/>
            <a:r>
              <a:t>-------------------</a:t>
            </a:r>
            <a:br/>
            <a:r>
              <a:t>---------  |  ---------</a:t>
            </a:r>
            <a:br/>
            <a:r>
              <a:t>next  |  Framework core</a:t>
            </a:r>
            <a:br/>
            <a:r>
              <a:t>react, react-dom  |  UI library</a:t>
            </a:r>
            <a:br/>
            <a:r>
              <a:t>typescript  |  Static type checking</a:t>
            </a:r>
            <a:br/>
            <a:r>
              <a:t>eslint  |  Code quality</a:t>
            </a:r>
            <a:br/>
            <a:r>
              <a:t>postgres  |  PostgreSQL driver</a:t>
            </a:r>
            <a:br/>
            <a:r>
              <a:t>zod  |  Runtime validation</a:t>
            </a:r>
            <a:br/>
            <a:r>
              <a:t>bcryptjs  |  Password hashing</a:t>
            </a:r>
            <a:br/>
            <a:r>
              <a:t>@next/bundle-analyzer  |  Bundle analysis</a:t>
            </a:r>
            <a:br/>
            <a:r>
              <a:t>server-only  |  Server module protection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PostgreSQL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Courier New"/>
              </a:rPr>
              <a:t>Package  |  Purpose</a:t>
            </a:r>
            <a:br/>
            <a:r>
              <a:t>-------------------</a:t>
            </a:r>
            <a:br/>
            <a:r>
              <a:t>---------  |  ---------</a:t>
            </a:r>
            <a:br/>
            <a:r>
              <a:t>postgres  |  Database driver</a:t>
            </a:r>
            <a:br/>
            <a:r>
              <a:t>pgcrypto  |  Cryptographic functions</a:t>
            </a:r>
            <a:br/>
            <a:r>
              <a:t>UUID  |  UUID generation</a:t>
            </a:r>
            <a:br/>
            <a:r>
              <a:t>PgBouncer  |  Connection pooling (optional)</a:t>
            </a:r>
            <a:br/>
            <a:r>
              <a:t>psql  |  Command-line client</a:t>
            </a:r>
            <a:br/>
            <a:r>
              <a:t>pg_isready  |  Health checking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vs Code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Recommended extensions: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ESLint (dbaeumer.vscode-eslint)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Prettier (esbenp.prettier-vscode)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TypeScript and JavaScript Language Features (built-in)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Next.js (NextJSwizards.nextjs)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Thunder Client (rangav.vscode-thunder-client)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Docker (ms-azuretools.vscode-docker)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GitLens (eamodio.gitlens)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PostgreSQL (ckolkman.vscode-postgres)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Browser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Recommended extensions: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React Developer Tools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Web Vitals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Lighthouse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Accessibility Insights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JSON Formatter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NoScript (for testing security)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Common Errors and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Error: "Cannot find module '@/lib/database/client'"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Solution: Check import path, ensure file exists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Error: "Type 'string' is not assignable to type 'ProjectStatus'"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Solution: Use isProjectStatus() to validate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Error: "Cannot read property 'id' of undefined"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Solution: Check for null/undefined before access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Error: "404: Not Found" on dynamic route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Solution: Check generateStaticParams or query result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Common Errors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Error: "Connection refused" for PostgreSQL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Solution: Check Docker is running, port 5432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Error: "Migration failed: relation already exists"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Solution: Migration already applied; run idempotent check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Error: "Cookie not set" after sign-in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Solution: Check Cookie attributes, domain, path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Error: "Hydration mismatch"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Solution: Check for browser-only code in render, use useId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Error: "Server-only module imported by client"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Solution: Move import to server component, or remove server-only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Accessibility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Semantic HTML (header, main, nav, section, article)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Headings in logical hierarchy (h1, h2, h3)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Image alt attributes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Form labels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Focus indicators visible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ARIA labels for landmarks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aria-current for active navigation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aria-expanded for disclosures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aria-live for dynamic content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Color not used as sole meaning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Keyboard navigation works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Print styles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Reduced motion support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Performance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next/image with width, height, sizes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Font loading with display: swap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Code splitting for optional features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Bundle analysis run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Client Components only where needed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Cache headers configured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Database indexes for common queries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Loading skeletons for async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Lighthouse audit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Production performance baseline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Security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server-only on server modules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Environment variables validated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.env.local ignored by Git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HTTPS in production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Cookie: HttpOnly, Secure, SameSite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Session tokens stored as hashes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Passwords hashed with bcrypt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owner_id in all queries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404 for unauthorized resources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Security headers configured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Health endpoints safe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Logs redact sensitive data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Deployment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CI pipeline passes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Environment variables set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Migrations run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Build succeeds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Health endpoints work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Smoke tests pass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Security headers present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Authentication works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Cross-user isolation works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Monitoring configured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Backups configured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[ ] Runbook documented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Resource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Next.js Documentation: nextjs.org/docs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React Documentation: react.dev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TypeScript Handbook: typescriptlang.org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PostgreSQL Documentation: postgresql.org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Zod Documentation: zod.dev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Docker Documentation: docs.docker.com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Vercel Deployment: vercel.com/docs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GitHub Actions: docs.github.com/actions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Community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Next.js Discord: nextjs.org/discord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Next.js GitHub: github.com/vercel/next.js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Stack Overflow: stackoverflow.com/questions/tagged/next.js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Reddit: reddit.com/r/nextjs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Dev.to: dev.to/t/nextjs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Syntax Podcast: syntax.fm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Course Files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All code files follow the tutorial structure.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Key files to verify: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src/app/layout.tsx (root layout)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src/app/(marketing)/layout.tsx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src/app/(workspace)/layout.tsx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src/lib/database/client.ts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src/lib/database/project-queries.ts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src/lib/auth/session.ts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next.config.ts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Dockerfile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compose.yaml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Version Compatibility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>
                <a:solidFill>
                  <a:srgbClr val="000000"/>
                </a:solidFill>
                <a:latin typeface="Courier New"/>
              </a:rPr>
              <a:t>Tool  |  Version</a:t>
            </a:r>
            <a:br/>
            <a:r>
              <a:t>----------------</a:t>
            </a:r>
            <a:br/>
            <a:r>
              <a:t>------  |  ---------</a:t>
            </a:r>
            <a:br/>
            <a:r>
              <a:t>Node.js  |  20.9+ (22 LTS recommended)</a:t>
            </a:r>
            <a:br/>
            <a:r>
              <a:t>npm  |  10.x</a:t>
            </a:r>
            <a:br/>
            <a:r>
              <a:t>Next.js  |  16.x</a:t>
            </a:r>
            <a:br/>
            <a:r>
              <a:t>React  |  19.x</a:t>
            </a:r>
            <a:br/>
            <a:r>
              <a:t>TypeScript  |  5.x</a:t>
            </a:r>
            <a:br/>
            <a:r>
              <a:t>PostgreSQL  |  17.x (Docker image)</a:t>
            </a:r>
            <a:br/>
            <a:r>
              <a:t>Docker  |  20.10+</a:t>
            </a:r>
            <a:br/>
            <a:r>
              <a:t>Docker Compose  |  2.20+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Check versions: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</a:pPr>
            <a:r>
              <a:rPr sz="900">
                <a:solidFill>
                  <a:srgbClr val="000000"/>
                </a:solidFill>
                <a:latin typeface="Courier New"/>
              </a:rPr>
              <a:t>node --version</a:t>
            </a:r>
            <a:br/>
            <a:r>
              <a:t>npm --version</a:t>
            </a:r>
            <a:br/>
            <a:r>
              <a:t>docker --version</a:t>
            </a:r>
            <a:br/>
            <a:r>
              <a:t>docker compose version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299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Appendix: Troubleshooting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1. Read the error message from the beginning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2. Find the first relevant error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3. Note the file path and line number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4. Compare against tutorial code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5. Check dependencies are installed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6. Verify environment variables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7. Restart development server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8. Clear .next and rebuild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9. Check Git status for uncommitted changes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10. Search online for similar errors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464"/>
                </a:solidFill>
                <a:latin typeface="Arial"/>
              </a:rPr>
              <a:t>300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Arial"/>
              </a:rPr>
              <a:t>Final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LaunchPad: From Zero to Production with Next.js 16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Complete Presentation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## Course Complete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All 300+ slides presented. This minimalist presentation covers the entire LaunchPad tutorial series with text-only content on white backgrounds.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Use this as a teaching reference, slide deck, or self-study guide. Each slide is self-contained with key concepts from the corresponding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