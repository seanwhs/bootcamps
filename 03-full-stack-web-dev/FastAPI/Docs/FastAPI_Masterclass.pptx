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108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1E1E1E"/>
                </a:solidFill>
                <a:latin typeface="Segoe UI"/>
              </a:defRPr>
            </a:pPr>
            <a:r>
              <a:t>FastAPI Masterclass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114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6464"/>
                </a:solidFill>
                <a:latin typeface="Segoe UI"/>
              </a:defRPr>
            </a:pPr>
            <a:r>
              <a:t>Building Production-Ready APIs  |  From Zero to Enterprise Architect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  <a:latin typeface="Segoe UI"/>
              </a:defRPr>
            </a:pPr>
            <a:r>
              <a:t>3.5–4 Hours  ·  Hands-on Coding  ·  Real-world Patterns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The Instructor &amp; 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Segoe UI"/>
              </a:defRPr>
            </a:pPr>
            <a:r>
              <a:t>• Instructor bio &amp; experience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Segoe UI"/>
              </a:defRPr>
            </a:pPr>
            <a:r>
              <a:t>• 3-phase roadmap: Foundations → Scaling → Production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Segoe UI"/>
              </a:defRPr>
            </a:pPr>
            <a:r>
              <a:t>• Goal: build a complete Task Management System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Segoe UI"/>
              </a:defRPr>
            </a:pPr>
            <a:r>
              <a:t>• Patterns used by Netflix, Uber, Stripe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46464"/>
                </a:solidFill>
                <a:latin typeface="Segoe UI"/>
              </a:defRPr>
            </a:pPr>
            <a:r>
              <a:t>By the end of this session, you will have built a complete Task Management System implementing real-world patterns used by Netflix, Uber, and Stripe.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What is an API?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46464"/>
                </a:solidFill>
                <a:latin typeface="Segoe UI"/>
              </a:defRPr>
            </a:pPr>
            <a:r>
              <a:t>How software talks to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Segoe UI"/>
              </a:defRPr>
            </a:pPr>
            <a:r>
              <a:t>• Analogy: the Restaurant Waiter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Segoe UI"/>
              </a:defRPr>
            </a:pPr>
            <a:r>
              <a:t>• Client → Order (Request) → Waiter (API) → Kitchen (Backend) → Food (Response)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Segoe UI"/>
              </a:defRPr>
            </a:pPr>
            <a:r>
              <a:t>• REST Basics: GET, POST, PUT, DELETE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Segoe UI"/>
              </a:defRPr>
            </a:pPr>
            <a:r>
              <a:t>• Data format: JSON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46464"/>
                </a:solidFill>
                <a:latin typeface="Segoe UI"/>
              </a:defRPr>
            </a:pPr>
            <a:r>
              <a:t>Client  →  API  →  Database</a:t>
            </a:r>
            <a:br/>
            <a:br/>
            <a:r>
              <a:t>Request → Process → Response</a:t>
            </a:r>
            <a:br/>
            <a:br/>
            <a:r>
              <a:t>JSON in, JSON 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Why FastAPI? The "Secret Sauce"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1. Speed — Node.js-level performance with Python's elegance (ASGI)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2. Automatic Docs — Swagger UI &amp; ReDoc out of the box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3. Data Validation — Pydantic for automatic error handling and type safety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4. Modern Python — 100% async/await, type hints, dependency injection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The Python Ecosystem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Starlette — web framework beneath FastAPI (routing, middleware, websockets)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Pydantic — data validation layer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OpenAPI — specification powering automatic docs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6464"/>
                </a:solidFill>
                <a:latin typeface="Segoe UI"/>
              </a:defRPr>
            </a:pPr>
            <a:r>
              <a:t>FastAPI = Starlette + Pydantic + OpenAPI</a:t>
            </a:r>
            <a:br/>
            <a:br/>
            <a:r>
              <a:t>Each layer handles one thing, and handles it well.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Setup &amp;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Prerequisites: Python 3.10+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Installation: pip install "fastapi[standard]"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VS Code: Python extension + debug config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Run: uvicorn main:app --reload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FOUNDATIONS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Interactive Demo #1: Hello World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6464"/>
                </a:solidFill>
                <a:latin typeface="Segoe UI"/>
              </a:defRPr>
            </a:pPr>
            <a:r>
              <a:t>Your first FastAPI endpoint in under 10 lines.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560320"/>
            <a:ext cx="5303520" cy="29260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Consolas"/>
              </a:defRPr>
            </a:pPr>
            <a:r>
              <a:t>from fastapi import FastAPI</a:t>
            </a:r>
            <a:br/>
            <a:br/>
            <a:r>
              <a:t>app = FastAPI()</a:t>
            </a:r>
            <a:br/>
            <a:br/>
            <a:r>
              <a:t>@app.get("/")</a:t>
            </a:r>
            <a:br/>
            <a:r>
              <a:t>async def root():</a:t>
            </a:r>
            <a:br/>
            <a:r>
              <a:t>    return {"message": "Hello World"}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5603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Segoe UI"/>
              </a:defRPr>
            </a:pPr>
            <a:r>
              <a:t>• Run: uvicorn main:app --reload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Segoe UI"/>
              </a:defRPr>
            </a:pPr>
            <a:r>
              <a:t>• Visit: localhost:8000/docs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Segoe UI"/>
              </a:defRPr>
            </a:pPr>
            <a:r>
              <a:t>• Explore interactive Swagger UI</a:t>
            </a:r>
          </a:p>
          <a:p>
            <a:pPr>
              <a:spcAft>
                <a:spcPts val="1000"/>
              </a:spcAft>
              <a:defRPr sz="1700">
                <a:solidFill>
                  <a:srgbClr val="1E1E1E"/>
                </a:solidFill>
                <a:latin typeface="Segoe UI"/>
              </a:defRPr>
            </a:pPr>
            <a:r>
              <a:t>• Test the endpoint live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Request &amp; Response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Path Parameters — /items/{item_id}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Query Parameters — ?skip=0&amp;limit=10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Request Body — Pydantic schemas for POST/PUT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Response Models — response_model for serialization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46464"/>
                </a:solidFill>
                <a:latin typeface="Segoe UI"/>
              </a:defRPr>
            </a:pPr>
            <a:r>
              <a:t>Every request follows a lifecycle.</a:t>
            </a:r>
            <a:br/>
            <a:br/>
            <a:r>
              <a:t>Understanding where data lives (URL, query string, body) is essential for clean API design.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Pydantic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6464"/>
                </a:solidFill>
                <a:latin typeface="Segoe UI"/>
              </a:defRPr>
            </a:pPr>
            <a:r>
              <a:t>The Quality Control Inspector for your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Fields — name: str = Field(..., min_length=1, max_length=100)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Validators — @field_validator('username')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Nested Models — address: Address, items: List[Item]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Automatic error messages with precise location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Custom Validators &amp; Complex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Model Validator — cross-field validation (password == confirm_password)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Before Validators — data cleaning (strip whitespace)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Generic Models — class Response[T](BaseModel, Generic[T]) for reusable wrappers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Reusable patterns across your entire API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Dependency Injection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6464"/>
                </a:solidFill>
                <a:latin typeface="Segoe UI"/>
              </a:defRPr>
            </a:pPr>
            <a:r>
              <a:t>The coffee shop order ticket.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Reusable dependencies via Depends()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Use cases: DB sessions, auth, config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Testable and readable code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Separation of concerns by default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Project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5029200" cy="384048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1E1E"/>
                </a:solidFill>
                <a:latin typeface="Consolas"/>
              </a:defRPr>
            </a:pPr>
            <a:r>
              <a:t>app/</a:t>
            </a:r>
            <a:br/>
            <a:r>
              <a:t>├── main.py</a:t>
            </a:r>
            <a:br/>
            <a:r>
              <a:t>├── core/       (config, security, database)</a:t>
            </a:r>
            <a:br/>
            <a:r>
              <a:t>├── api/        (v1/endpoints)</a:t>
            </a:r>
            <a:br/>
            <a:r>
              <a:t>├── models/     (SQLAlchemy)</a:t>
            </a:r>
            <a:br/>
            <a:r>
              <a:t>└── schemas/    (Pydantic)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01168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646464"/>
                </a:solidFill>
                <a:latin typeface="Segoe UI"/>
              </a:defRPr>
            </a:pPr>
            <a:r>
              <a:t>A clean structure separates concerns.</a:t>
            </a:r>
            <a:br/>
            <a:br/>
            <a:r>
              <a:t>Core holds shared infrastructure.</a:t>
            </a:r>
            <a:br/>
            <a:r>
              <a:t>API holds route definitions.</a:t>
            </a:r>
            <a:br/>
            <a:r>
              <a:t>Models and schemas keep data layers distinct.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BUILDING 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Error Handling &amp; Exceptions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Standardized responses — APIException base class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HTTPException vs Custom Exceptions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Validation Errors — handled automatically by Pydantic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Consistent error format across all endpoints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Workshop: Your First CRUD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6464"/>
                </a:solidFill>
                <a:latin typeface="Segoe UI"/>
              </a:defRPr>
            </a:pPr>
            <a:r>
              <a:t>Build a User registration system end-to-end.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1. Define UserCreate (Pydantic input schema)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2. Define UserResponse (Pydantic output schema)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3. Create @app.post("/users/") endpoint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4. Verify via Swagger UI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The Database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6464"/>
                </a:solidFill>
                <a:latin typeface="Segoe UI"/>
              </a:defRPr>
            </a:pPr>
            <a:r>
              <a:t>ORM: Object Relational Mapper.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SQLAlchemy Basics — Base = declarative_base()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Models — class User(Base): __tablename__ = "users"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CRUD — db.add(), db.commit(), db.refresh()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Async Setup — create_async_engine + async_session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Advanced SQLAlchemy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Relationships — relationship() for User → Tasks (one-to-many)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Eager Loading — .options(selectinload(User.tasks)) solves N+1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Migrations — alembic revision --autogenerate -m "init"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SQLAlchemy 2.0 — Mapped and mapped_column for type safety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WORKSHOP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Authentication &amp; Authorization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Mechanism — OAuth2 Password Flow + JWT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Password Hashing — passlib + bcrypt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The Endpoint — /login returns a JWT token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Security Dependency — get_current_user protects routes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ADVANCED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Async &amp; Background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Async Mental Model — efficient I/O, not parallelism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BackgroundTasks — send emails after response is sent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Celery — heavy, distributed task queues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When to use what: choose the right tool for the job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ADVANCED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WebSockets &amp; Real-Time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6464"/>
                </a:solidFill>
                <a:latin typeface="Segoe UI"/>
              </a:defRPr>
            </a:pPr>
            <a:r>
              <a:t>Client and server can talk both ways at any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Endpoint — @app.websocket("/ws")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ConnectionManager — track active connections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Use cases: notifications, live chat, dashboards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Stateful connections in a stateless world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ADVANCED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Middleware &amp;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CORS — allowing frontend access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Logging — tracking every request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Testing — pytest + TestClient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Test your endpoints, not just your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ADVANCED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Dependencies, Configuration &amp; CI/CD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Pydantic Settings — manage env vars in settings.py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Dockerization — Dockerfile + docker-compose.yml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CI/CD Pipeline — GitHub Actions: Lint, Test, Build, Deploy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Repeatable, automated delivery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Clean Architecture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6464"/>
                </a:solidFill>
                <a:latin typeface="Segoe UI"/>
              </a:defRPr>
            </a:pPr>
            <a:r>
              <a:t>Business logic is independent of the DB and the Web.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1. Entities (Domain) — business rules, e.g. Product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2. Use Cases (Application) — workflow, e.g. CreateProduct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3. Adapters (Infrastructure) — frameworks, e.g. PostgresRepository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4. Interface (Web) — FastAPI Routes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Domain-Driven Design &amp; Events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Model the Domain first — understand the business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Event-Driven Architecture — TaskCompleted triggers send_notification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Decoupling — components communicate via events, not direct calls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Scalable, maintainable, testable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ENTERPRISE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Enterprise Patterns &amp; Capstone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File Uploads — handling large files (multipart/form-data)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Elasticsearch — full-text search at scale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Kubernetes — orchestrating containers in production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Capstone Projects — E-commerce, Chat, CMS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Recap &amp; The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You built a Task Management System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You mastered Pydantic, SQLAlchemy, Security, Testing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You understand Clean Architecture and DDD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You are ready for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The Primers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1. Primer 1 — Python Async/Await: Deep Dive into the Event Loop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2. Primer 2 — SQLAlchemy 2.0: Mapped, selectinload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3. Primer 3 — Pydantic V2: Performance and Generics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88"/>
                </a:solidFill>
                <a:latin typeface="Segoe UI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1E1E"/>
                </a:solidFill>
                <a:latin typeface="Segoe UI"/>
              </a:defRPr>
            </a:pPr>
            <a:r>
              <a:t>Q&amp;A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Continue Learning — GraphQL, gRPC, serverless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Open Source Contribution — apply skills to real projects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Course Feedback — help us improve</a:t>
            </a:r>
          </a:p>
          <a:p>
            <a:pPr>
              <a:spcAft>
                <a:spcPts val="1000"/>
              </a:spcAft>
              <a:defRPr sz="1800">
                <a:solidFill>
                  <a:srgbClr val="1E1E1E"/>
                </a:solidFill>
                <a:latin typeface="Segoe UI"/>
              </a:defRPr>
            </a:pPr>
            <a:r>
              <a:t>• Stay in touch — community and 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537960"/>
            <a:ext cx="11094415" cy="9144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8C8C8"/>
                </a:solidFill>
                <a:latin typeface="Segoe UI"/>
              </a:defRPr>
            </a:pPr>
            <a:r>
              <a:t>FastAPI Masterclass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