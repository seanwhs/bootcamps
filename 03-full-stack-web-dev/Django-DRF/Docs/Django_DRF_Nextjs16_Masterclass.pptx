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2D557D"/>
                </a:solidFill>
                <a:latin typeface="Helvetica Neue"/>
              </a:defRPr>
            </a:pPr>
            <a:r>
              <a:t>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E1E23"/>
                </a:solidFill>
                <a:latin typeface="Helvetica Neue"/>
              </a:defRPr>
            </a:pPr>
            <a:r>
              <a:t>Django REST Framework</a:t>
            </a:r>
            <a:br/>
            <a:r>
              <a:t>&amp; Next.js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000">
                <a:solidFill>
                  <a:srgbClr val="64646E"/>
                </a:solidFill>
                <a:latin typeface="Helvetica Neue"/>
              </a:defRPr>
            </a:pPr>
            <a:r>
              <a:t>From Scratch to Production — Building Modern Decoupled Full-Stack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217920"/>
            <a:ext cx="182880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23"/>
                </a:solidFill>
                <a:latin typeface="Helvetica Neue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0" cy="36576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743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600">
                <a:solidFill>
                  <a:srgbClr val="1E1E23"/>
                </a:solidFill>
                <a:latin typeface="Helvetica Neue"/>
              </a:defRPr>
            </a:pPr>
            <a:r>
              <a:t>Browser</a:t>
            </a:r>
            <a:br/>
            <a:r>
              <a:t>(Client)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743200"/>
            <a:ext cx="2743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971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600">
                <a:solidFill>
                  <a:srgbClr val="1E1E23"/>
                </a:solidFill>
                <a:latin typeface="Helvetica Neue"/>
              </a:defRPr>
            </a:pPr>
            <a:r>
              <a:t>Next.js 16</a:t>
            </a:r>
            <a:br/>
            <a:r>
              <a:t>(React 19 / App Router)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743200"/>
            <a:ext cx="2743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9718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600">
                <a:solidFill>
                  <a:srgbClr val="1E1E23"/>
                </a:solidFill>
                <a:latin typeface="Helvetica Neue"/>
              </a:defRPr>
            </a:pPr>
            <a:r>
              <a:t>Django REST</a:t>
            </a:r>
            <a:br/>
            <a:r>
              <a:t>Framework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108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200">
                <a:solidFill>
                  <a:srgbClr val="64646E"/>
                </a:solidFill>
                <a:latin typeface="Helvetica Neue"/>
              </a:defRPr>
            </a:pPr>
            <a:r>
              <a:t>HTTP/JSON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108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200">
                <a:solidFill>
                  <a:srgbClr val="64646E"/>
                </a:solidFill>
                <a:latin typeface="Helvetica Neue"/>
              </a:defRPr>
            </a:pPr>
            <a:r>
              <a:t>HTTP/JSON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389120"/>
            <a:ext cx="2103120" cy="731520"/>
          </a:xfrm>
          <a:prstGeom prst="roundRect">
            <a:avLst/>
          </a:prstGeom>
          <a:solidFill>
            <a:srgbClr val="DCE6F0"/>
          </a:solidFill>
          <a:ln w="12700">
            <a:solidFill>
              <a:srgbClr val="2D5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5720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500">
                <a:solidFill>
                  <a:srgbClr val="1E1E23"/>
                </a:solidFill>
                <a:latin typeface="Helvetica Neue"/>
              </a:defRPr>
            </a:pPr>
            <a:r>
              <a:t>PostgreSQL  +  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64646E"/>
                </a:solidFill>
                <a:latin typeface="Helvetica Neue"/>
              </a:defRPr>
            </a:pPr>
            <a:r>
              <a:t>Clean client-server boundary — Django owns data. Next.js delivers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57D"/>
                </a:solidFill>
                <a:latin typeface="Helvetica Neue"/>
              </a:defRPr>
            </a:pPr>
            <a: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731520" cy="18288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Python 3.12+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Django 6.x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DRF 3.15.x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JWT (SimpleJWT)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pytest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57D"/>
                </a:solidFill>
                <a:latin typeface="Helvetica Neue"/>
              </a:defRPr>
            </a:pPr>
            <a:r>
              <a:t>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377440"/>
            <a:ext cx="731520" cy="18288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6517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PostgreSQL 15+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Redis 7+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django-filter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57D"/>
                </a:solidFill>
                <a:latin typeface="Helvetica Neue"/>
              </a:defRPr>
            </a:pPr>
            <a:r>
              <a:t>Frontend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79" y="2377440"/>
            <a:ext cx="731520" cy="18288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6517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Next.js 16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React 19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Tailwind CSS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React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2011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57D"/>
                </a:solidFill>
                <a:latin typeface="Helvetica Neue"/>
              </a:defRPr>
            </a:pPr>
            <a:r>
              <a:t>DevOps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19" y="2377440"/>
            <a:ext cx="731520" cy="18288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265176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Docker / Compose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Nginx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Gunicorn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500">
                <a:solidFill>
                  <a:srgbClr val="1E1E23"/>
                </a:solidFill>
                <a:latin typeface="Helvetica Neue"/>
              </a:defRPr>
            </a:pPr>
            <a:r>
              <a:t>  GitHub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Learning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64646E"/>
                </a:solidFill>
                <a:latin typeface="Helvetica Neue"/>
              </a:defRPr>
            </a:pPr>
            <a:r>
              <a:t>Four phases from zero to production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Phase 1: REST API &amp; Next.js Foundations — HTTP, serializers, views, App Router, CRUD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Phase 2: Advanced DRF &amp; Next.js Data Flow — ViewSets, filtering, pagination, React Query, URL state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Phase 3: Authentication, Authorization &amp; Security — JWT, permissions, RBAC, rate limiting, CORS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Phase 4: Performance, Testing, Documentation &amp; Production — ORM optimization, Redis, Docker, CI/CD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Appendices A-Z + Primers 1-10 — Deep dives, references, cheat sheets, tooling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REST API &amp; Next.js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000">
                <a:solidFill>
                  <a:srgbClr val="FFFFFF"/>
                </a:solidFill>
                <a:latin typeface="Helvetica Neue"/>
              </a:defRPr>
            </a:pPr>
            <a:r>
              <a:t>HTTP fundamentals, Django models, DRF serializers, views, and App Router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REST Architecture &amp; HTTP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Client-Server Separation — clean boundary between frontend and backend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Statelessness — each request contains all information needed to process it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Cacheability — responses explicitly marked as cacheable or not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Uniform Interface — resource-oriented URLs with standard HTTP verbs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Layered System — client cannot tell if connected directly to end server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Everything is a noun: /users, /projects, /tasks — not /getUser or /createTask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HTTP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1097280" cy="411480"/>
          </a:xfrm>
          <a:prstGeom prst="round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FFFFFF"/>
                </a:solidFill>
                <a:latin typeface="Helvetica Neue"/>
              </a:defRPr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084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1E1E23"/>
                </a:solidFill>
                <a:latin typeface="Helvetica Neue"/>
              </a:defRPr>
            </a:pPr>
            <a:r>
              <a:t>Retrieve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84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64646E"/>
                </a:solidFill>
                <a:latin typeface="Helvetica Neue"/>
              </a:defRPr>
            </a:pPr>
            <a:r>
              <a:t>Idempotent, Safe, No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1097280" cy="411480"/>
          </a:xfrm>
          <a:prstGeom prst="round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FFFFFF"/>
                </a:solidFill>
                <a:latin typeface="Helvetica Neue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724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1E1E23"/>
                </a:solidFill>
                <a:latin typeface="Helvetica Neue"/>
              </a:defRPr>
            </a:pPr>
            <a:r>
              <a:t>Create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64646E"/>
                </a:solidFill>
                <a:latin typeface="Helvetica Neue"/>
              </a:defRPr>
            </a:pPr>
            <a:r>
              <a:t>Not idempotent, Not safe, Has body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1097280" cy="411480"/>
          </a:xfrm>
          <a:prstGeom prst="round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649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FFFFFF"/>
                </a:solidFill>
                <a:latin typeface="Helvetica Neue"/>
              </a:defRPr>
            </a:pPr>
            <a:r>
              <a:t>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3649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1E1E23"/>
                </a:solidFill>
                <a:latin typeface="Helvetica Neue"/>
              </a:defRPr>
            </a:pPr>
            <a:r>
              <a:t>Replace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3649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64646E"/>
                </a:solidFill>
                <a:latin typeface="Helvetica Neue"/>
              </a:defRPr>
            </a:pPr>
            <a:r>
              <a:t>Idempotent, Not safe, Has body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31920"/>
            <a:ext cx="1097280" cy="411480"/>
          </a:xfrm>
          <a:prstGeom prst="round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050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FFFFFF"/>
                </a:solidFill>
                <a:latin typeface="Helvetica Neue"/>
              </a:defRPr>
            </a:pPr>
            <a:r>
              <a:t>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0050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1E1E23"/>
                </a:solidFill>
                <a:latin typeface="Helvetica Neue"/>
              </a:defRPr>
            </a:pPr>
            <a:r>
              <a:t>Partial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0050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64646E"/>
                </a:solidFill>
                <a:latin typeface="Helvetica Neue"/>
              </a:defRPr>
            </a:pPr>
            <a:r>
              <a:t>Not idempotent, Not safe, Has body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572000"/>
            <a:ext cx="1097280" cy="411480"/>
          </a:xfrm>
          <a:prstGeom prst="round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>
                <a:solidFill>
                  <a:srgbClr val="FFFFFF"/>
                </a:solidFill>
                <a:latin typeface="Helvetica Neue"/>
              </a:defRPr>
            </a:pPr>
            <a: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6451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1E1E23"/>
                </a:solidFill>
                <a:latin typeface="Helvetica Neue"/>
              </a:defRPr>
            </a:pPr>
            <a:r>
              <a:t>Remove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645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64646E"/>
                </a:solidFill>
                <a:latin typeface="Helvetica Neue"/>
              </a:defRPr>
            </a:pPr>
            <a:r>
              <a:t>Idempotent, Not safe, No body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Django 6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User (Custom) → Projects (created_by) → Tasks → Comments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User → Tasks (assigned_to) — many-to-many via ForeignKey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Indexes on [project, status], [assigned_to, status], [-created_at]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Migrations: makemigrations → migrate → createsuperuser → loaddata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Environment-driven settings with django-environ and python-dotenv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DRF Serializers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Serializer — manual fields for custom data structures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ModelSerializer — auto-generated from models for most CRUD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HyperlinkedModelSerializer — RESTful hyperlinks for HATEOAS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Field-level validation: validate_&lt;field&gt;()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Object-level validation: validate()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Nested serializers for read-only relationships (tasks inside projects)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Building API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Function-Based Views (@api_view) — simple, explicit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Class-Based Views (APIView) — reusable, method-based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Generic Views (ListCreateAPIView, RetrieveUpdateDestroyAPIView)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ViewSets (ModelViewSet) — auto CRUD with one class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Routers (DefaultRouter) — auto URL generation from ViewSets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CRUD map: POST create, GET list/detail, PUT/PATCH update, DELETE destroy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Next.js 16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Server Components (default) — async/await, no hooks, excellent SEO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Client Components ('use client') — hooks, event handlers, browser APIs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App Router with route groups: (auth), (dashboard) — no URL impact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Dynamic routes: [id] for /projects/123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Loading UI (loading.tsx) and Error Boundaries (error.tsx)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Tailwind CSS utility-first styling with cn() + clsx + tailwind-merge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Connecting Next.js to DRF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Server Components fetch directly from Django API during SSR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API client wrapper with base URL, headers, and error handling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React Query for client-side caching, stale time, and background refetch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Mutations with optimistic updates and cache invalidation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Form handling with loading states, validation errors, and toast feedback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URL state management for shareable, bookmarkable filtered views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Advanced DRF &amp; Next.js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000">
                <a:solidFill>
                  <a:srgbClr val="FFFFFF"/>
                </a:solidFill>
                <a:latin typeface="Helvetica Neue"/>
              </a:defRPr>
            </a:pPr>
            <a:r>
              <a:t>ViewSets, filtering, pagination, routing, and frontend data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ViewSets, Generic Views &amp; Routers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Generic Views: ListAPIView, CreateAPIView, RetrieveAPIView, UpdateAPIView, DestroyAPIView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ModelViewSet auto-handles list, create, retrieve, update, partial_update, destroy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@action decorator for custom endpoints: complete(), stats()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DefaultRouter generates URLs automatically: ^tasks/$ and ^tasks/{id}/$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Custom actions appear as ^tasks/{id}/complete/$ and ^tasks/stats/$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Advanced Querying with django-filter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FilterSet classes: exact match, range, date, choice filters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Custom method filters for complex business logic and search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SearchFilter for full-text across multiple fields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OrderingFilter for sortable columns with default ordering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Combined query: ?status=done&amp;search=api&amp;ordering=-created_at&amp;page=2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Relationship filtering: ?project_name=masterclass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Pagination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Page Number: ?page=2&amp;page_size=20 — best for most use cases, jump to page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Limit Offset: ?limit=20&amp;offset=40 — position-based navigation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Cursor: ?cursor=encoded — infinite scroll, consistency under writes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Custom pagination class with links, count, page_size, current_page, total_pages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Frontend: page numbers with ellipsis, prev/next, page size selector (10/20/50/100)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Next.js App Router &amp;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Route groups organize without URL impact: (auth), (dashboard)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Layouts wrap pages and persist across navigation; nested layouts per section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Dynamic routes with params: /projects/[id]/page.tsx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Active navigation with usePathname() and pathname.startsWith(href)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loading.tsx shows skeleton while data fetches; error.tsx catches segment errors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Frontend Data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React Query: staleTime 60s, gcTime 5min, retry 1, refetchOnWindowFocus false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Query keys include filters: ['tasks', {status: 'todo'}]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Optimistic updates: mutate cache immediately, rollback on error, invalidate on settle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Cache invalidation: time-based, on-demand after mutations, navigation-based refresh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Data layer: UI → Client Components → Hooks → React Query → API Client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Searchable Data Interfaces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URL as state: /tasks?search=api&amp;status=in_progress&amp;page=2&amp;sort=-created_at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useUrlState hook reads searchParams and pushes updates via router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Reusable DataTable with sortable headers, toolbar (search + filters), pagination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Combined flow: user action → update URL → re-render → React Query fetches → table updates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Benefits: shareable links, bookmarkable views, natural browser navigation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Authentication, Authorization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000">
                <a:solidFill>
                  <a:srgbClr val="FFFFFF"/>
                </a:solidFill>
                <a:latin typeface="Helvetica Neue"/>
              </a:defRPr>
            </a:pPr>
            <a:r>
              <a:t>JWT tokens, permissions, role-based access control, and API hardening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Authentication vs Authorization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Authentication: 'Are you who you say you are?' — verifying identity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Authorization: 'Are you allowed to do this?' — checking permissions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Identification: 'Who are you?' — declaring identity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JWT = Header + Payload + Signature; signed with HS256 and SECRET_KEY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Token lifecycle: login → validate → issue access + refresh → use → expire → refresh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JWT with SimpleJWT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ACCESS_TOKEN_LIFETIME: 15 minutes — short-lived for security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REFRESH_TOKEN_LIFETIME: 7 days — long-lived but rotatable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ROTATE_REFRESH_TOKENS: True — new refresh on every use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BLACKLIST_AFTER_ROTATION: True — prevent replay attacks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Endpoints: /token/ (obtain), /token/refresh/, /token/verify/, /users/register/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Frontend Token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In-memory access token + localStorage fallback for persistence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Axios interceptors: attach Bearer token to every request automatically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401 response interceptor: refresh token, retry original request, or redirect to login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Auth Context with login/logout methods and user state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Next.js middleware protects routes at the edge: check cookie, redirect if missing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DRF Permissions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has_permission() — view-level: checks authentication and role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has_object_permission() — object-level: checks ownership and specific rules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Custom permissions extend BasePermission for business logic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IsProjectOwner, IsTaskAssignee, IsAdminOrManager examples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Dynamic permissions per action: create→IsAuthenticated, destroy→IsProjectOwner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Role-Based Access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ADMIN: all permissions — users, projects, tasks, settings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MANAGER: project management — create/edit/delete projects, assign tasks, view users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MEMBER: task execution — view assigned projects, update own tasks, add comments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VIEWER: read-only — view projects, tasks, and comments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Frontend RoleGuard: conditionally render UI based on user.role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API Security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Network: HTTPS, CORS (allowed origins, credentials, methods, headers)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Rate limiting: 10/min login, 5/min register, 100/hr general API, 20/hr token refresh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Security headers: HSTS, X-Frame-Options DENY, X-Content-Type-Options nosniff, CSP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Application: JWT validation, permission checks, input validation, SQL injection protection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Data: encrypted passwords, sanitized output, audit logging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Helvetica Neue"/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Helvetica Neue"/>
              </a:defRPr>
            </a:pPr>
            <a:r>
              <a:t>Performance, Testing, Documentation &amp;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2000">
                <a:solidFill>
                  <a:srgbClr val="FFFFFF"/>
                </a:solidFill>
                <a:latin typeface="Helvetica Neue"/>
              </a:defRPr>
            </a:pPr>
            <a:r>
              <a:t>ORM optimization, Redis caching, Docker, CI/CD, and observability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Django ORM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N+1 Problem: select_related for ForeignKey/OneToOne (1 query)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prefetch_related for ManyToMany/reverse FK (2 queries)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only() / defer() for field selection; values() / values_list() for lightweight dicts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Database indexes: single, composite, partial (with condition=Q), and ordering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Monitoring: Django Debug Toolbar, django-silk, query count middleware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Redis Caching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Request → Cache Check → Hit → Return; Miss → DB → Store → Return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View caching: @cache_page(5min) for API responses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Low-level caching: cache.get/set/delete with custom keys like user_profile:{id}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Strategies: view (5min), query (1hr), low-level (24hr), session (1hr)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Invalidation: delete key on update to ensure consistency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API Performance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Lightweight serializers for list views; full serializers for detail views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Response compression: GZipMiddleware + Nginx gzip configuration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Connection pooling: CONN_MAX_AGE, keepalives in PostgreSQL OPTIONS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Avoid heavy nested relations in list endpoints; use flat or summarized data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Page size limits and pagination prevent unbounded response payloads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Automated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Pyramid: many fast unit tests, some integration tests, few slow E2E tests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Backend: pytest + pytest-django + DRF APIClient + fixtures (user, auth_client)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Frontend: Jest + React Testing Library + User Event + MSW for API mocking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E2E: Playwright for full user flows (login → dashboard → create task)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Coverage target: 70%+ with pytest-cov and HTML/term reports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API Documentation with drf-spectacular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OpenAPI 3 schema auto-generated from serializers and views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Swagger UI at /api/docs/ for interactive exploration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ReDoc at /api/redoc/ for clean, readable docs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@extend_schema annotations for summaries, descriptions, parameters, responses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COMPONENT_SPLIT_REQUEST separates request/response schemas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Docker &amp; Containerization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Multi-stage builds: builder stage installs deps, production stage copies artifacts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Django: python:3.12-slim → pip install → gunicorn with preload_app and worker tuning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Next.js: output: 'standalone' for ~200MB production image vs ~1.2GB dev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Docker Compose: backend, frontend, PostgreSQL, Redis, Nginx services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Layer caching: rarely changed layers (base OS, system packages) at bottom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Production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Settings split: base.py, development.py, production.py with environment overrides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Security: DEBUG=False, SECURE_SSL_REDIRECT, HSTS, secure cookies, CSRF_COOKIE_SECURE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CORS_ALLOWED_ORIGINS restricted to known domains; credentials enabled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Logging: rotating file handlers for app.log and security.log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Environment variables for all secrets: SECRET_KEY, DATABASE_URL, REDIS_URL, SENTRY_DSN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Reverse Proxy &amp; Networking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Nginx handles SSL/TLS termination, load balancing, rate limiting, static files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Route /api/* to Django (port 8000), /* to Next.js (port 3000)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SSL: TLSv1.2+, strong ciphers, HSTS max-age=31536000, includeSubDomains, preload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Rate limiting zones: api_limit (10r/s), auth_limit (2r/s) with burst and nodelay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Security headers: X-Frame-Options DENY, X-Content-Type-Options nosniff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CI/CD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GitHub Actions: lint → unit tests → E2E tests → security scan → build → push → deploy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Pull request: tests, lint, build preview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Merge to main: build production image, deploy to staging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Staging: full validation, manual approval gate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Production: deploy with health checks, automatic rollback on failure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Observability &amp;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Logs: structured JSON logs with request/response, errors, audit trails (structlog)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Metrics: request rate, error rate &gt;5%, P95 response time &gt;500ms, CPU &gt;80%, memory &gt;85%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Traces: request flow across services, dependency mapping, bottleneck identification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Sentry integration for exception tracking with user context and release tags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Alert thresholds on error rate, latency, resource usage, database connections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Appendices &amp; Primers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64646E"/>
                </a:solidFill>
                <a:latin typeface="Helvetica Neue"/>
              </a:defRPr>
            </a:pPr>
            <a:r>
              <a:t>Reference material for ongoing development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Appendices A-Z: Deep dives, API reference, deployment guides, cheat sheets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Docker, PostgreSQL, Redis, Git, Security, Performance, Troubleshooting references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Primers 1-10: Python/Django, JavaScript/React, HTTP/REST, Docker, Git, SQL, Testing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Auth &amp; AuthZ primer, Container orchestration, Development tools &amp; workflows</a:t>
            </a:r>
          </a:p>
          <a:p>
            <a:pPr>
              <a:lnSpc>
                <a:spcPct val="160000"/>
              </a:lnSpc>
              <a:spcBef>
                <a:spcPts val="800"/>
              </a:spcBef>
              <a:defRPr sz="1700">
                <a:solidFill>
                  <a:srgbClr val="1E1E23"/>
                </a:solidFill>
                <a:latin typeface="Helvetica Neue"/>
              </a:defRPr>
            </a:pPr>
            <a:r>
              <a:t>  Complete project templates, monitoring dashboards, environment variable references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3"/>
                </a:solidFill>
                <a:latin typeface="Helvetica Neue"/>
              </a:defRPr>
            </a:pPr>
            <a:r>
              <a:t>What You've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17320"/>
            <a:ext cx="1097280" cy="27432"/>
          </a:xfrm>
          <a:prstGeom prst="rect">
            <a:avLst/>
          </a:prstGeom>
          <a:solidFill>
            <a:srgbClr val="2D5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57D"/>
                </a:solidFill>
                <a:latin typeface="Helvetica Neue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Production-quality DRF APIs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RESTful resource design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JWT auth &amp; RBAC permissions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ORM optimization &amp; Redis cache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Automated testing &amp; OpenAPI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57D"/>
                </a:solidFill>
                <a:latin typeface="Helvetica Neue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688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Next.js 16 + React 19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Server &amp; Client Components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App Router &amp; dynamic routes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React Query &amp; URL state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Search, filter, pagination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57D"/>
                </a:solidFill>
                <a:latin typeface="Helvetica Neue"/>
              </a:defRPr>
            </a:pPr>
            <a:r>
              <a:t>Production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4688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Docker multi-stage builds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Nginx reverse proxy + SSL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CI/CD with GitHub Actions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Structured logging &amp; Sentry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1400">
                <a:solidFill>
                  <a:srgbClr val="1E1E23"/>
                </a:solidFill>
                <a:latin typeface="Helvetica Neue"/>
              </a:defRPr>
            </a:pPr>
            <a:r>
              <a:t>  Monitoring &amp; alerting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500">
                <a:solidFill>
                  <a:srgbClr val="64646E"/>
                </a:solidFill>
                <a:latin typeface="Helvetica Neue"/>
              </a:defRPr>
            </a:pPr>
            <a:r>
              <a:t>Django owns the data and business rules. DRF exposes the application through a secure API. Next.js delivers the modern frontend experience. Docker makes it reproducible. Tests and CI/CD make it maintainable.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55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Django REST Framework &amp; Next.js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2200">
                <a:solidFill>
                  <a:srgbClr val="FFFFFF"/>
                </a:solidFill>
                <a:latin typeface="Helvetica Neue"/>
              </a:defRPr>
            </a:pPr>
            <a:r>
              <a:t>From Scratch to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114800"/>
            <a:ext cx="21031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