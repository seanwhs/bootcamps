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A1A1A"/>
                </a:solidFill>
                <a:latin typeface="Helvetica"/>
              </a:defRPr>
            </a:pPr>
            <a:r>
              <a:t>Mastering Sanity CMS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666666"/>
                </a:solidFill>
                <a:latin typeface="Helvetica"/>
              </a:defRPr>
            </a:pPr>
            <a:r>
              <a:t>Building Modern Content Platforms — From Content Modeling to Production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8288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CCCCCC"/>
                </a:solidFill>
                <a:latin typeface="Helvetica"/>
              </a:defRPr>
            </a:pPr>
            <a: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Helvetica"/>
              </a:defRPr>
            </a:pPr>
            <a:r>
              <a:t>Introduction &amp; Setup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What You'll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Content Lake + Studio v5 + Next.js 16 frontend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Structured content with Portable Text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GROQ queries with type-safe APIs via TypeGen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Real-time updates with Live Content API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Visual editing with Presentation Tool &amp; Stega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The Content OS Philosophy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Content as data — not presentation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Information broken into smallest reasonable pieces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Explicitly organized and classified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The LEGO brick analogy: reusable, composable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Multi-channel delivery: web, mobile, digital signage,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Sanity's Three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A1A1A"/>
                </a:solidFill>
                <a:latin typeface="Helvetica"/>
              </a:defRPr>
            </a:pPr>
            <a:r>
              <a:t>Content Lake</a:t>
            </a:r>
          </a:p>
          <a:p>
            <a:pPr>
              <a:spcAft>
                <a:spcPts val="1000"/>
              </a:spcAft>
              <a:defRPr sz="1600">
                <a:solidFill>
                  <a:srgbClr val="666666"/>
                </a:solidFill>
                <a:latin typeface="Helvetica"/>
              </a:defRPr>
            </a:pPr>
            <a:r>
              <a:t>•  Hosted structured JSON database</a:t>
            </a:r>
          </a:p>
          <a:p>
            <a:pPr>
              <a:spcAft>
                <a:spcPts val="1000"/>
              </a:spcAft>
              <a:defRPr sz="1600">
                <a:solidFill>
                  <a:srgbClr val="666666"/>
                </a:solidFill>
                <a:latin typeface="Helvetica"/>
              </a:defRPr>
            </a:pPr>
            <a:r>
              <a:t>•  Real-time sync</a:t>
            </a:r>
          </a:p>
          <a:p>
            <a:pPr>
              <a:spcAft>
                <a:spcPts val="1000"/>
              </a:spcAft>
              <a:defRPr sz="1600">
                <a:solidFill>
                  <a:srgbClr val="666666"/>
                </a:solidFill>
                <a:latin typeface="Helvetica"/>
              </a:defRPr>
            </a:pPr>
            <a:r>
              <a:t>•  Versioned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A1A1A"/>
                </a:solidFill>
                <a:latin typeface="Helvetica"/>
              </a:defRPr>
            </a:pPr>
            <a:r>
              <a:t>Studio + APIs</a:t>
            </a:r>
          </a:p>
          <a:p>
            <a:pPr>
              <a:spcAft>
                <a:spcPts val="1000"/>
              </a:spcAft>
              <a:defRPr sz="1600">
                <a:solidFill>
                  <a:srgbClr val="666666"/>
                </a:solidFill>
                <a:latin typeface="Helvetica"/>
              </a:defRPr>
            </a:pPr>
            <a:r>
              <a:t>•  React-based editing interface</a:t>
            </a:r>
          </a:p>
          <a:p>
            <a:pPr>
              <a:spcAft>
                <a:spcPts val="1000"/>
              </a:spcAft>
              <a:defRPr sz="1600">
                <a:solidFill>
                  <a:srgbClr val="666666"/>
                </a:solidFill>
                <a:latin typeface="Helvetica"/>
              </a:defRPr>
            </a:pPr>
            <a:r>
              <a:t>•  GROQ &amp; GraphQL queries</a:t>
            </a:r>
          </a:p>
          <a:p>
            <a:pPr>
              <a:spcAft>
                <a:spcPts val="1000"/>
              </a:spcAft>
              <a:defRPr sz="1600">
                <a:solidFill>
                  <a:srgbClr val="666666"/>
                </a:solidFill>
                <a:latin typeface="Helvetica"/>
              </a:defRPr>
            </a:pPr>
            <a:r>
              <a:t>•  JavaScript/TypeScript SDKs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Key Terminology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GROQ — Graph-Relational Object Queries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Portable Text — Structured rich text format (JSON)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Content Lake — Sanity's hosted database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TypeGen — TypeScript type generator from schemas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Stega — Steganographic encoding for visual editing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ISR — Incremental Static Regeneration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CCCCCC"/>
                </a:solidFill>
                <a:latin typeface="Helvetic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Helvetica"/>
              </a:defRPr>
            </a:pPr>
            <a:r>
              <a:t>Foundations of Structured 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Content Modeling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Based on meaning and intent, not presentation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Think in concepts: authors, posts, products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Design for channels that don't exist yet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Distinguish reusable vs one-off content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Build relationships with references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The Building Blocks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54480"/>
          <a:ext cx="10362895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54863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Helvetica"/>
                        </a:defRPr>
                      </a:pPr>
                      <a:r>
                        <a:t>Block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Helvetica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Helvetica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Top-level content with its own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Blog post, product, author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Reusable group of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SEO metadata, social links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Single piece of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Title (string), Price (number)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Relationship between documents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Post → Author</a:t>
                      </a:r>
                    </a:p>
                  </a:txBody>
                  <a:tcPr/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Ordered list of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Categories, tags, body blocks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Schema Design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1. Identify core concepts (Author, Post, Category)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2. Define fields for each concept with types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3. Establish relationships via references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4. Add validation rules for data integrity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5. Configure previews for editorial UX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Author Schema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1A"/>
                </a:solidFill>
                <a:latin typeface="Courier New"/>
              </a:defRPr>
            </a:pPr>
            <a:r>
              <a:t>export default defineType({</a:t>
            </a:r>
            <a:br/>
            <a:r>
              <a:t>  name: 'author',</a:t>
            </a:r>
            <a:br/>
            <a:r>
              <a:t>  title: 'Author',</a:t>
            </a:r>
            <a:br/>
            <a:r>
              <a:t>  type: 'document',</a:t>
            </a:r>
            <a:br/>
            <a:r>
              <a:t>  fields: [</a:t>
            </a:r>
            <a:br/>
            <a:r>
              <a:t>    defineField({</a:t>
            </a:r>
            <a:br/>
            <a:r>
              <a:t>      name: 'name', type: 'string',</a:t>
            </a:r>
            <a:br/>
            <a:r>
              <a:t>      validation: Rule =&gt; Rule.required()</a:t>
            </a:r>
            <a:br/>
            <a:r>
              <a:t>    }),</a:t>
            </a:r>
            <a:br/>
            <a:r>
              <a:t>    defineField({</a:t>
            </a:r>
            <a:br/>
            <a:r>
              <a:t>      name: 'slug', type: 'slug',</a:t>
            </a:r>
            <a:br/>
            <a:r>
              <a:t>      options: { source: 'name' }</a:t>
            </a:r>
            <a:br/>
            <a:r>
              <a:t>    })</a:t>
            </a:r>
            <a:br/>
            <a:r>
              <a:t>  ]</a:t>
            </a:r>
            <a:br/>
            <a:r>
              <a:t>})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Portable 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Structured rich text as JSON — not HTML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Blocks, spans, and marks (bold, links, etc.)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Custom blocks: images, code, callouts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Queryable content (find all links, images)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Multi-channel rendering without lock-in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Validation &amp; Initial Values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Required fields, min/max length, custom rules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Cross-field validation (e.g., sale &lt; price)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Friendly error messages for editors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Initial values to speed up content creation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Field groups for clean UI organization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Preview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Document previews show title, subtitle, media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Pull data from referenced documents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Custom prepare() function for formatting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Orderings for default list views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Better editorial UX = better content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CCCCCC"/>
                </a:solidFill>
                <a:latin typeface="Helvetic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Helvetica"/>
              </a:defRPr>
            </a:pPr>
            <a:r>
              <a:t>Querying Content with GROQ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What is GROQ?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Graph-Relational Object Queries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"SQL for JSON" — query language for content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Filters, projections, ordering, pagination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Native to Sanity, designed for structured content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Composable and expressive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Query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1A"/>
                </a:solidFill>
                <a:latin typeface="Courier New"/>
              </a:defRPr>
            </a:pPr>
            <a:r>
              <a:t>*[&lt;filter&gt;]{&lt;projection&gt;}</a:t>
            </a:r>
            <a:br/>
            <a:br/>
            <a:r>
              <a:t>// All posts</a:t>
            </a:r>
            <a:br/>
            <a:r>
              <a:t>*[_type == "post"]</a:t>
            </a:r>
            <a:br/>
            <a:br/>
            <a:r>
              <a:t>// Posts after date</a:t>
            </a:r>
            <a:br/>
            <a:r>
              <a:t>*[_type == "post" &amp;&amp; publishedAt &gt; "2024-01-01"]</a:t>
            </a:r>
            <a:br/>
            <a:br/>
            <a:r>
              <a:t>// Posts with author</a:t>
            </a:r>
            <a:br/>
            <a:r>
              <a:t>*[_type == "post" &amp;&amp; defined(author)]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References &amp; Projections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1A"/>
                </a:solidFill>
                <a:latin typeface="Courier New"/>
              </a:defRPr>
            </a:pPr>
            <a:r>
              <a:t>// Follow reference with -&gt;</a:t>
            </a:r>
            <a:br/>
            <a:r>
              <a:t>*[_type == "post"] {</a:t>
            </a:r>
            <a:br/>
            <a:r>
              <a:t>  title,</a:t>
            </a:r>
            <a:br/>
            <a:r>
              <a:t>  "authorName": author-&gt;name,</a:t>
            </a:r>
            <a:br/>
            <a:r>
              <a:t>  "categories": categories[]-&gt; { title, slug }</a:t>
            </a:r>
            <a:br/>
            <a:r>
              <a:t>}</a:t>
            </a:r>
            <a:br/>
            <a:br/>
            <a:r>
              <a:t>// Computed fields</a:t>
            </a:r>
            <a:br/>
            <a:r>
              <a:t>*[_type == "post"] {</a:t>
            </a:r>
            <a:br/>
            <a:r>
              <a:t>  title,</a:t>
            </a:r>
            <a:br/>
            <a:r>
              <a:t>  "readingTime": round(length(pt::text(body)) / 900)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Advanced GROQ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coalesce() — first non-null value fallback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select() — conditional field values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Splat operator (...) — include all + extend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Array operations: count(), membership (in)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pt::text() — extract plain text from Portable Text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Full Post Query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1A"/>
                </a:solidFill>
                <a:latin typeface="Courier New"/>
              </a:defRPr>
            </a:pPr>
            <a:r>
              <a:t>*[_type == "post" &amp;&amp; slug.current == $slug][0] {</a:t>
            </a:r>
            <a:br/>
            <a:r>
              <a:t>  _id, title, slug, excerpt, publishedAt,</a:t>
            </a:r>
            <a:br/>
            <a:r>
              <a:t>  featuredImage {</a:t>
            </a:r>
            <a:br/>
            <a:r>
              <a:t>    asset-&gt; { url, metadata { lqip, dimensions } },</a:t>
            </a:r>
            <a:br/>
            <a:r>
              <a:t>    alt, caption</a:t>
            </a:r>
            <a:br/>
            <a:r>
              <a:t>  },</a:t>
            </a:r>
            <a:br/>
            <a:r>
              <a:t>  body[] { ..., _type == "image" =&gt; { ..., asset-&gt; } },</a:t>
            </a:r>
            <a:br/>
            <a:r>
              <a:t>  "author": author-&gt; { name, slug, bio, avatar },</a:t>
            </a:r>
            <a:br/>
            <a:r>
              <a:t>  "categories": categories[]-&gt; { title, slug },</a:t>
            </a:r>
            <a:br/>
            <a:r>
              <a:t>  "readingTime": round(length(pt::text(body)) / 900)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Sanity Client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1A"/>
                </a:solidFill>
                <a:latin typeface="Courier New"/>
              </a:defRPr>
            </a:pPr>
            <a:r>
              <a:t>import { createClient } from '@sanity/client'</a:t>
            </a:r>
            <a:br/>
            <a:br/>
            <a:r>
              <a:t>export const client = createClient({</a:t>
            </a:r>
            <a:br/>
            <a:r>
              <a:t>  projectId: process.env.NEXT_PUBLIC_SANITY_PROJECT_ID!,</a:t>
            </a:r>
            <a:br/>
            <a:r>
              <a:t>  dataset: process.env.NEXT_PUBLIC_SANITY_DATASET!,</a:t>
            </a:r>
            <a:br/>
            <a:r>
              <a:t>  apiVersion: '2024-01-01',</a:t>
            </a:r>
            <a:br/>
            <a:r>
              <a:t>  useCdn: process.env.NODE_ENV === 'production'</a:t>
            </a:r>
            <a:br/>
            <a:r>
              <a:t>})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Sanity TypeGen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Generates TypeScript types from schemas &amp; GROQ queries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Ensures type safety across the entire application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Eliminates runtime errors from schema drift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Watch mode for automatic updates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npx sanity typegen generate --watch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CCCCCC"/>
                </a:solidFill>
                <a:latin typeface="Helvetic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Helvetica"/>
              </a:defRPr>
            </a:pPr>
            <a:r>
              <a:t>Extending Sanity Studio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Custom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Organize documents beyond default type grouping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Custom document lists with filters &amp; ordering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Singleton documents for site settings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Dividers and nested sections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Defined via structureTool({ structure })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Custom Input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Color pickers, slug previews, enhanced editors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Built with Sanity UI + React hooks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Registered via form.components.input in config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Keep focused on single purpose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Handle error states gracefully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Custom Document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Override default publish/delete/duplicate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Add validation before publish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Integrate external APIs (AI, webhooks)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Custom publishing workflows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Registered per schema type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Dashboard Widgets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Content stats, recent activity, quick links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Fetch data in parallel for performance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Show loading and error states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Auto-refresh when appropriate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Use Sanity UI for visual consistency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CCCCCC"/>
                </a:solidFill>
                <a:latin typeface="Helvetic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Helvetica"/>
              </a:defRPr>
            </a:pPr>
            <a:r>
              <a:t>Real-Time Content &amp; Visual Editing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Live Content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Real-time sync between Studio and frontend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No polling — automatic cache invalidation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Tag-based revalidation in Next.js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sanityFetch from next-sanity/live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Draft mode for previewing unpublished content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Presentation Tool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Visual editing: click content → edit in Studio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Live preview with Draft Mode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Stega encoding embeds editing info securely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Resolve routes to document types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Install: npm install @sanity/presentation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Stega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1A"/>
                </a:solidFill>
                <a:latin typeface="Courier New"/>
              </a:defRPr>
            </a:pPr>
            <a:r>
              <a:t>const client = createClient({</a:t>
            </a:r>
            <a:br/>
            <a:r>
              <a:t>  // ...base config</a:t>
            </a:r>
            <a:br/>
            <a:r>
              <a:t>  stega: {</a:t>
            </a:r>
            <a:br/>
            <a:r>
              <a:t>    enabled: process.env.NODE_ENV === 'development',</a:t>
            </a:r>
            <a:br/>
            <a:r>
              <a:t>    studioUrl: 'http://localhost:3333'</a:t>
            </a:r>
            <a:br/>
            <a:r>
              <a:t>  }</a:t>
            </a:r>
            <a:br/>
            <a:r>
              <a:t>})</a:t>
            </a:r>
            <a:br/>
            <a:br/>
            <a:r>
              <a:t>// Clean encoded text for display</a:t>
            </a:r>
            <a:br/>
            <a:r>
              <a:t>import { stegaClean } from '@sanity/client/stega'</a:t>
            </a:r>
            <a:br/>
            <a:r>
              <a:t>const cleanText = stegaClean(textWithStega)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CCCCCC"/>
                </a:solidFill>
                <a:latin typeface="Helvetica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Helvetica"/>
              </a:defRPr>
            </a:pPr>
            <a:r>
              <a:t>React 19 &amp; Next.js 16 Integration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Project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1A"/>
                </a:solidFill>
                <a:latin typeface="Courier New"/>
              </a:defRPr>
            </a:pPr>
            <a:r>
              <a:t>npx create-next-app@latest frontend --typescript --tailwind --app</a:t>
            </a:r>
            <a:br/>
            <a:r>
              <a:t>npm install @sanity/client @sanity/image-url @portabletext/react</a:t>
            </a:r>
            <a:br/>
            <a:br/>
            <a:r>
              <a:t>// next.config.ts</a:t>
            </a:r>
            <a:br/>
            <a:r>
              <a:t>images: {</a:t>
            </a:r>
            <a:br/>
            <a:r>
              <a:t>  remotePatterns: [{ protocol: 'https', hostname: 'cdn.sanity.io' }],</a:t>
            </a:r>
            <a:br/>
            <a:r>
              <a:t>  formats: ['image/avif', 'image/webp']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Server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Render on server, fetch data directly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No client-side JavaScript for content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Better performance and SEO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Async route parameters in Next.js 16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generateStaticParams for ISR paths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Portable Text Rendering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1A"/>
                </a:solidFill>
                <a:latin typeface="Courier New"/>
              </a:defRPr>
            </a:pPr>
            <a:r>
              <a:t>import { PortableText } from '@portabletext/react'</a:t>
            </a:r>
            <a:br/>
            <a:br/>
            <a:r>
              <a:t>const components = {</a:t>
            </a:r>
            <a:br/>
            <a:r>
              <a:t>  block: {</a:t>
            </a:r>
            <a:br/>
            <a:r>
              <a:t>    h1: ({children}) =&gt; &lt;h1 className="text-4xl font-bold"&gt;{children}&lt;/h1&gt;,</a:t>
            </a:r>
            <a:br/>
            <a:r>
              <a:t>    normal: ({children}) =&gt; &lt;p className="mb-4"&gt;{children}&lt;/p&gt;</a:t>
            </a:r>
            <a:br/>
            <a:r>
              <a:t>  },</a:t>
            </a:r>
            <a:br/>
            <a:r>
              <a:t>  types: {</a:t>
            </a:r>
            <a:br/>
            <a:r>
              <a:t>    image: ({value}) =&gt; &lt;Image src={urlFor(value).url()} ... /&gt;</a:t>
            </a:r>
            <a:br/>
            <a:r>
              <a:t>  },</a:t>
            </a:r>
            <a:br/>
            <a:r>
              <a:t>  marks: {</a:t>
            </a:r>
            <a:br/>
            <a:r>
              <a:t>    link: ({value, children}) =&gt; &lt;a href={value?.href}&gt;{children}&lt;/a&gt;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Caching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Layer 1: Sanity CDN (global edge cache)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Layer 2: Next.js Data Cache (server-side)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Layer 3: Browser Cache (client-side)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Tag-based revalidation for granular updates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ISR with revalidate for static pages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On-demand revalidation via webhooks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SEO &amp; Metadata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Dynamic metadata from Sanity content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Open Graph images (1200×630)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Twitter cards, structured data (JSON-LD)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Sitemap.ts + robots.ts in App Router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Proper heading hierarchy and clean URLs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CCCCCC"/>
                </a:solidFill>
                <a:latin typeface="Helvetica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Helvetica"/>
              </a:defRPr>
            </a:pPr>
            <a:r>
              <a:t>Advanced Patterns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Multi-Language Strategies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A1A1A"/>
                </a:solidFill>
                <a:latin typeface="Helvetica"/>
              </a:defRPr>
            </a:pPr>
            <a:r>
              <a:t>Field-Level</a:t>
            </a:r>
          </a:p>
          <a:p>
            <a:pPr>
              <a:spcAft>
                <a:spcPts val="1000"/>
              </a:spcAft>
              <a:defRPr sz="1600">
                <a:solidFill>
                  <a:srgbClr val="666666"/>
                </a:solidFill>
                <a:latin typeface="Helvetica"/>
              </a:defRPr>
            </a:pPr>
            <a:r>
              <a:t>•  Small sites, limited languages</a:t>
            </a:r>
          </a:p>
          <a:p>
            <a:pPr>
              <a:spcAft>
                <a:spcPts val="1000"/>
              </a:spcAft>
              <a:defRPr sz="1600">
                <a:solidFill>
                  <a:srgbClr val="666666"/>
                </a:solidFill>
                <a:latin typeface="Helvetica"/>
              </a:defRPr>
            </a:pPr>
            <a:r>
              <a:t>•  Single document, larger size</a:t>
            </a:r>
          </a:p>
          <a:p>
            <a:pPr>
              <a:spcAft>
                <a:spcPts val="1000"/>
              </a:spcAft>
              <a:defRPr sz="1600">
                <a:solidFill>
                  <a:srgbClr val="666666"/>
                </a:solidFill>
                <a:latin typeface="Helvetica"/>
              </a:defRPr>
            </a:pPr>
            <a:r>
              <a:t>•  Query: title[$lang]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A1A1A"/>
                </a:solidFill>
                <a:latin typeface="Helvetica"/>
              </a:defRPr>
            </a:pPr>
            <a:r>
              <a:t>Document-Level</a:t>
            </a:r>
          </a:p>
          <a:p>
            <a:pPr>
              <a:spcAft>
                <a:spcPts val="1000"/>
              </a:spcAft>
              <a:defRPr sz="1600">
                <a:solidFill>
                  <a:srgbClr val="666666"/>
                </a:solidFill>
                <a:latin typeface="Helvetica"/>
              </a:defRPr>
            </a:pPr>
            <a:r>
              <a:t>•  Dedicated language pages</a:t>
            </a:r>
          </a:p>
          <a:p>
            <a:pPr>
              <a:spcAft>
                <a:spcPts val="1000"/>
              </a:spcAft>
              <a:defRPr sz="1600">
                <a:solidFill>
                  <a:srgbClr val="666666"/>
                </a:solidFill>
                <a:latin typeface="Helvetica"/>
              </a:defRPr>
            </a:pPr>
            <a:r>
              <a:t>•  Complete separation</a:t>
            </a:r>
          </a:p>
          <a:p>
            <a:pPr>
              <a:spcAft>
                <a:spcPts val="1000"/>
              </a:spcAft>
              <a:defRPr sz="1600">
                <a:solidFill>
                  <a:srgbClr val="666666"/>
                </a:solidFill>
                <a:latin typeface="Helvetica"/>
              </a:defRPr>
            </a:pPr>
            <a:r>
              <a:t>•  More flexible routing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E-Commerce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Product: name, SKU, price, salePrice, inventory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Images with hotspot for art direction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Cross-field validation: sale &lt; price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References to categories, variants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Integrate with Stripe, Shopify, or custom cart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Third-Party Integrations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Algolia: sync content for instant search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MailChimp: newsletter subscriptions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Webhooks: trigger on document changes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Sanity Functions: serverless document actions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Keep sync logic idempotent and retry-safe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CCCCCC"/>
                </a:solidFill>
                <a:latin typeface="Helvetica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Helvetica"/>
              </a:defRPr>
            </a:pPr>
            <a:r>
              <a:t>Production &amp; Deployment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Security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API tokens as environment variables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CORS origins restricted to production domains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Read-only tokens for frontend queries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Draft mode behind authentication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Webhook secret validation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HTTPS everywhere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Performance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useCdn: true in production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ISR with revalidate intervals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Cache tags for granular invalidation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Next.js Image optimization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Lazy loading for below-fold content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Bundle analysis and code splitting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Vercel: zero-config, edge network, analytics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Studio: sanity deploy → .sanity.studio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Netlify: connect repo, set build command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Environment variables for both frontend &amp; studio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Post-deploy: test pages, preview mode, Lighthouse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Maintenance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Daily: monitor error logs, uptime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Weekly: review Lighthouse, Core Web Vitals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Monthly: update dependencies, security patches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Quarterly: full performance &amp; security audit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Backup: sanity dataset export production backup.tar.gz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CCCCCC"/>
                </a:solidFill>
                <a:latin typeface="Helvetica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Helvetica"/>
              </a:defRPr>
            </a:pPr>
            <a:r>
              <a:t>Reference &amp; Resources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GROQ Quick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54480"/>
          <a:ext cx="103628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Helvetica"/>
                        </a:defRPr>
                      </a:pPr>
                      <a:r>
                        <a:t>Operator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Helvetica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Helvetica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Equality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_type == "post"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&amp;&amp;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Logical 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_type == "post" &amp;&amp; published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||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Logical 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_type == "post" || _type == "page"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Array membership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"tech" in categories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String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title match "Hello*"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-&gt;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Dereference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author-&gt;name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GROQ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54480"/>
          <a:ext cx="103628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Helvetica"/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Helvetica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Helvetica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count()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Count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count(categories)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defined()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Check existence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defined(featuredImage)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coalesce()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First non-null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coalesce(seo.title, title)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select()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Conditional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select(true =&gt; "Yes")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pt::text()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Extract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pt::text(body)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now()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Current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Helvetica"/>
                        </a:defRPr>
                      </a:pPr>
                      <a:r>
                        <a:t>publishedAt &lt; now()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Essential 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3716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sanity.io/docs — Official documentation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sanity.io/docs/groq — GROQ reference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nextjs.org/docs — Next.js App Router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react.dev — React 19 features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slack.sanity.io — Community support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"/>
              </a:defRPr>
            </a:pPr>
            <a:r>
              <a:t>•  github.com/sanity-io — Open source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A1A1A"/>
                </a:solidFill>
                <a:latin typeface="Helvetica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666666"/>
                </a:solidFill>
                <a:latin typeface="Helvetica"/>
              </a:defRPr>
            </a:pPr>
            <a:r>
              <a:t>Questions? — sanity.io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8288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