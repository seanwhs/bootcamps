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1. Title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Course Title: Serverless Postgres with Neon: From Zero to Production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Subtitle: Building a Production-Ready E-Commerce Backend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Duration: [X] hours / [X] sessions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Instructor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2. What This Course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Modern PostgreSQL without infrastructure headaches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Neon's serverless PostgreSQL platform features: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Scale-to-zero compute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Instant database branching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Connection pooling built-in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Point-in-time restore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Building a complete e-commerce backend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SQL fundamentals + cutting-edge serverless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3. What You'll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Complete e-commerce backend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Product catalog with flexible attributes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User authentication and management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Order processing with inventory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Real-time sales analytics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CI/CD with database branches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4. Target Audience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Developers with basic programming experience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New to databases or SQL (or need a refresher)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Interested in modern serverless workflows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Want to build production-grade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5. Prerequisites &amp;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Neon account (free tier)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PostgreSQL client (psql recommended)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Development environment (terminal, code editor)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Node.js (for API examples)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Git for version control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0.2: Architecture Overview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6-10**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6. The Problem with Traditional PostgreSQL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Installing and configuring locally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Connection string management across environments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Scaling concerns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Database copy/backup challenges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Cost of idle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7. The Neon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Serverless PostgreSQL platform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Compute-Storage separation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Key differentiators: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Scale-to-zero (no paying for idle)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Instant branching (Git-like workflows)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Built-in connection pooling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Free tier: 0.5GB storage, 100 compute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8. Ultimate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Frontend Application           │</a:t>
            </a:r>
            <a:br/>
            <a:r>
              <a:t>│  (React, Next.js, or any client)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    API Layer (Your Code)       │</a:t>
            </a:r>
            <a:br/>
            <a:r>
              <a:t>│  - Express.js / Fastify             │</a:t>
            </a:r>
            <a:br/>
            <a:r>
              <a:t>│  - Business Logic &amp; Validation 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       Neon PostgreSQL              │</a:t>
            </a:r>
            <a:br/>
            <a:r>
              <a:t>│  ┌───────────────────────────────┐ │</a:t>
            </a:r>
            <a:br/>
            <a:r>
              <a:t>│  │        Main Branch            │ │</a:t>
            </a:r>
            <a:br/>
            <a:r>
              <a:t>│  │  ┌──────────┐ ┌──────────┐  │ │</a:t>
            </a:r>
            <a:br/>
            <a:r>
              <a:t>│  │  │ products │ │  users   │  │ │</a:t>
            </a:r>
            <a:br/>
            <a:r>
              <a:t>│  │  │ orders   │ │ address  │  │ │</a:t>
            </a:r>
            <a:br/>
            <a:r>
              <a:t>│  │  └──────────┘ └──────────┘  │ │</a:t>
            </a:r>
            <a:br/>
            <a:r>
              <a:t>│  └───────────────────────────────┘ │</a:t>
            </a:r>
            <a:br/>
            <a:r>
              <a:t>│              │          </a:t>
            </a:r>
            <a:br/>
            <a:r>
              <a:t>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9. Course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Part | Topic | Focus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|------|-------|-------|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1 | Setup &amp; Cloud SQL Fundamentals | CRUD, Basic Queries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2 | Bulletproof Schemas &amp; Data Integrity | Constraints, UUIDs, Pooling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3 | Database Branching &amp; Relational Architecture | Foreign Keys, Joins, Branches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4 | Analytical Power | Aggregations, Window Functions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5 | JSONB &amp; Extensions | Semi-structured data, Search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6 | Performance, Transactions &amp; CI/CD | Optimization, Deployment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10.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Provision production-ready PostgreSQL in seconds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Design normalized schemas with constraints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Write complex SQL queries (joins, aggregations)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Implement ACID transactions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Use JSONB for flexible document storage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Optimize queries with proper indexing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Leverage Neon database branching for CI/CD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Apply skills to any PostgreSQL project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1.1: Getting Started with Neon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11-15**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11. Part 1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**Target**: Spin up Neon database, connect, create products table, perform CRUD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**Concepts**: Databases as digital filing cabinets, serverless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**Hands-On**: Provision database, build products table, seed data, CRUD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12. Neon Account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Navigate to neon.tech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Sign up with GitHub (recommended) or email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Create project: "ecommerce-backend"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Choose region closest to users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Wait ~10 seconds for provisioning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13. Project &amp; Database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Project = top-level container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production = root default branch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Each project holds: branches, databases, roles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Create one project per repository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14. Connection Strings Explained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postgresql://username:password@ep-xyz.us-east-1.aws.neon.tech/database?sslmode=require</a:t>
            </a:r>
            <a:br/>
            <a:br/>
            <a:r>
              <a:t>Breakdown:</a:t>
            </a:r>
            <a:br/>
            <a:r>
              <a:t>- postgresql:// - Protocol</a:t>
            </a:r>
            <a:br/>
            <a:r>
              <a:t>- username:password - Your credentials</a:t>
            </a:r>
            <a:br/>
            <a:r>
              <a:t>- ep-xyz.us-east-1.aws.neon.tech - Host endpoint</a:t>
            </a:r>
            <a:br/>
            <a:r>
              <a:t>- /database - Database name (neondb)</a:t>
            </a:r>
            <a:br/>
            <a:r>
              <a:t>- ?sslmode=require - SSL required (always!)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15. Neon CLI Installation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# Install CLI</a:t>
            </a:r>
            <a:br/>
            <a:r>
              <a:t>npm install -g neonctl</a:t>
            </a:r>
            <a:br/>
            <a:br/>
            <a:r>
              <a:t># Authenticate</a:t>
            </a:r>
            <a:br/>
            <a:r>
              <a:t>neonctl auth</a:t>
            </a:r>
            <a:br/>
            <a:br/>
            <a:r>
              <a:t># Verify</a:t>
            </a:r>
            <a:br/>
            <a:r>
              <a:t>neonctl --version</a:t>
            </a:r>
            <a:br/>
            <a:br/>
            <a:r>
              <a:t># List projects</a:t>
            </a:r>
            <a:br/>
            <a:r>
              <a:t>neonctl projects list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1.2: Connecting to Your Database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16-20**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16. psql Installation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# macOS</a:t>
            </a:r>
            <a:br/>
            <a:r>
              <a:t>brew install postgresql@16</a:t>
            </a:r>
            <a:br/>
            <a:br/>
            <a:r>
              <a:t># Ubuntu/Debian</a:t>
            </a:r>
            <a:br/>
            <a:r>
              <a:t>sudo apt update</a:t>
            </a:r>
            <a:br/>
            <a:r>
              <a:t>sudo apt install postgresql-client</a:t>
            </a:r>
            <a:br/>
            <a:br/>
            <a:r>
              <a:t># Windows: Download from PostgreSQL Downloads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17. Connect with psql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psql "postgresql://username:password@ep-xyz.us-east-1.aws.neon.tech/neondb?sslmode=require"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**Expected Output**:</a:t>
            </a:r>
          </a:p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psql (16.1)</a:t>
            </a:r>
            <a:br/>
            <a:r>
              <a:t>SSL connection (protocol: TLSv1.3)</a:t>
            </a:r>
            <a:br/>
            <a:r>
              <a:t>Type "help" for help.</a:t>
            </a:r>
            <a:br/>
            <a:r>
              <a:t>neondb=&gt;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18. Test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SELECT version();</a:t>
            </a:r>
            <a:br/>
            <a:r>
              <a:t>-- Should show PostgreSQL 16.x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19. Understanding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Type | Use Case | Example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|------|----------|---------|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SERIAL | Auto-incrementing IDs | 1, 2, 3...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VARCHAR(255) | Short text | Names, emails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TEXT | Unlimited text | Descriptions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NUMERIC(10,2) | Money/Exact decimals | 99.99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INTEGER | Whole numbers | Stock quantity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TIMESTAMPTZ | Date+time+timezone | created_at |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20. psql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\c database_name  -- Connect to database</a:t>
            </a:r>
            <a:br/>
            <a:r>
              <a:t>\l              -- List databases</a:t>
            </a:r>
            <a:br/>
            <a:r>
              <a:t>\dt             -- List tables</a:t>
            </a:r>
            <a:br/>
            <a:r>
              <a:t>\d table_name   -- Describe table</a:t>
            </a:r>
            <a:br/>
            <a:r>
              <a:t>\q              -- Quit psql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1.3: Creating the Products Table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21-25**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21. Table Creation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IF NOT EXISTS products (</a:t>
            </a:r>
            <a:br/>
            <a:r>
              <a:t>    id SERIAL PRIMARY KEY,</a:t>
            </a:r>
            <a:br/>
            <a:r>
              <a:t>    name VARCHAR(255) NOT NULL,</a:t>
            </a:r>
            <a:br/>
            <a:r>
              <a:t>    description TEXT,</a:t>
            </a:r>
            <a:br/>
            <a:r>
              <a:t>    price NUMERIC(10,2) NOT NULL,</a:t>
            </a:r>
            <a:br/>
            <a:r>
              <a:t>    stock_quantity INTEGER NOT NULL DEFAULT 0,</a:t>
            </a:r>
            <a:br/>
            <a:r>
              <a:t>    created_at TIMESTAMPTZ DEFAULT CURRENT_TIMESTAMP,</a:t>
            </a:r>
            <a:br/>
            <a:r>
              <a:t>    updated_at TIMESTAMPTZ DEFAULT CURRENT_TIMESTAMP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22. Understanding Each Column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**SERIAL PRIMARY KEY**: Auto-incrementing unique ID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**VARCHAR(255) NOT NULL**: Required text, max 255 chars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**TEXT**: Unlimited text (good for descriptions)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**NUMERIC(10,2)**: Exact decimal, 10 digits total, 2 after decimal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**INTEGER NOT NULL DEFAULT 0**: Whole number, defaults to 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**TIMESTAMPTZ DEFAULT CURRENT_TIMESTAMP**: Auto-set on creation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23. Verify Table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\d products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**Output**: Shows all columns with data types and constraints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24. E-Commerce Table Design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Each entity gets its own table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Unique identifiers (primary keys)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Foreign keys for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Proper data types for each field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NOT NULL for required fields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DEFAULT values for common cases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25. Key 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Principle | Example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|-----------|---------|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Each user has unique ID | cust_id SERIAL PRIMARY KEY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Product has unique ID | item_id SERIAL PRIMARY KEY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Required fields = NOT NULL | item_name VARCHAR(100) NOT NULL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Foreign keys link tables | cust_id INTEGER REFERENCES users(cust_id)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1.4: CRUD Operations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26-35**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26. CREATE (INSERT)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Single row</a:t>
            </a:r>
            <a:br/>
            <a:r>
              <a:t>INSERT INTO products (name, description, price, stock_quantity)</a:t>
            </a:r>
            <a:br/>
            <a:r>
              <a:t>VALUES ('Wireless Headphones', 'Premium noise-cancelling', 99.99, 150);</a:t>
            </a:r>
            <a:br/>
            <a:br/>
            <a:r>
              <a:t>-- Multiple rows</a:t>
            </a:r>
            <a:br/>
            <a:r>
              <a:t>INSERT INTO products (name, price, stock_quantity) VALUES</a:t>
            </a:r>
            <a:br/>
            <a:r>
              <a:t>    ('4K Camera', 249.99, 45),</a:t>
            </a:r>
            <a:br/>
            <a:r>
              <a:t>    ('Smart Watch', 199.00, 78),</a:t>
            </a:r>
            <a:br/>
            <a:r>
              <a:t>    ('Docking Station', 149.50, 23);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**Key**: Specify columns → values match order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27. READ (SELECT) - Basic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All columns, all rows</a:t>
            </a:r>
            <a:br/>
            <a:r>
              <a:t>SELECT * FROM products;</a:t>
            </a:r>
            <a:br/>
            <a:br/>
            <a:r>
              <a:t>-- Specific columns</a:t>
            </a:r>
            <a:br/>
            <a:r>
              <a:t>SELECT id, name, price FROM products;</a:t>
            </a:r>
            <a:br/>
            <a:br/>
            <a:r>
              <a:t>-- With filter</a:t>
            </a:r>
            <a:br/>
            <a:r>
              <a:t>SELECT * FROM products WHERE price &gt; 100;</a:t>
            </a:r>
            <a:br/>
            <a:br/>
            <a:r>
              <a:t>-- With ordering</a:t>
            </a:r>
            <a:br/>
            <a:r>
              <a:t>SELECT * FROM products ORDER BY price DESC;</a:t>
            </a:r>
            <a:br/>
            <a:br/>
            <a:r>
              <a:t>-- With limit</a:t>
            </a:r>
            <a:br/>
            <a:r>
              <a:t>SELECT * FROM products LIMIT 5;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28. READ (SELECT) - Advanced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Range query</a:t>
            </a:r>
            <a:br/>
            <a:r>
              <a:t>SELECT * FROM products WHERE price BETWEEN 100 AND 200;</a:t>
            </a:r>
            <a:br/>
            <a:br/>
            <a:r>
              <a:t>-- Pattern matching</a:t>
            </a:r>
            <a:br/>
            <a:r>
              <a:t>SELECT * FROM products WHERE name ILIKE '%wireless%';</a:t>
            </a:r>
            <a:br/>
            <a:br/>
            <a:r>
              <a:t>-- Multiple conditions</a:t>
            </a:r>
            <a:br/>
            <a:r>
              <a:t>SELECT * FROM products</a:t>
            </a:r>
            <a:br/>
            <a:r>
              <a:t>WHERE price &gt; 50 AND stock_quantity &gt; 0;</a:t>
            </a:r>
            <a:br/>
            <a:br/>
            <a:r>
              <a:t>-- Pagination</a:t>
            </a:r>
            <a:br/>
            <a:r>
              <a:t>SELECT * FROM products LIMIT 10 OFFSET 20;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29.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Update single column</a:t>
            </a:r>
            <a:br/>
            <a:r>
              <a:t>UPDATE products</a:t>
            </a:r>
            <a:br/>
            <a:r>
              <a:t>SET price = 39.99</a:t>
            </a:r>
            <a:br/>
            <a:r>
              <a:t>WHERE name = 'Wireless Mouse';</a:t>
            </a:r>
            <a:br/>
            <a:br/>
            <a:r>
              <a:t>-- Update multiple columns</a:t>
            </a:r>
            <a:br/>
            <a:r>
              <a:t>UPDATE products</a:t>
            </a:r>
            <a:br/>
            <a:r>
              <a:t>SET price = 54.99, stock_quantity = 25</a:t>
            </a:r>
            <a:br/>
            <a:r>
              <a:t>WHERE name = 'Keyboard';</a:t>
            </a:r>
            <a:br/>
            <a:br/>
            <a:r>
              <a:t>-- Calculate new value</a:t>
            </a:r>
            <a:br/>
            <a:r>
              <a:t>UPDATE products</a:t>
            </a:r>
            <a:br/>
            <a:r>
              <a:t>SET price = price * 1.10</a:t>
            </a:r>
            <a:br/>
            <a:r>
              <a:t>WHERE price &lt; 50;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**⚠️ WARNING**: Always use WHERE or you update ALL rows!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30. DELETE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Delete specific row</a:t>
            </a:r>
            <a:br/>
            <a:r>
              <a:t>DELETE FROM products WHERE id = 5;</a:t>
            </a:r>
            <a:br/>
            <a:br/>
            <a:r>
              <a:t>-- Delete with conditions</a:t>
            </a:r>
            <a:br/>
            <a:r>
              <a:t>DELETE FROM products WHERE stock_quantity = 0;</a:t>
            </a:r>
            <a:br/>
            <a:br/>
            <a:r>
              <a:t>-- Safe: Check before delete</a:t>
            </a:r>
            <a:br/>
            <a:r>
              <a:t>SELECT * FROM products WHERE id = 5;</a:t>
            </a:r>
            <a:br/>
            <a:r>
              <a:t>DELETE FROM products WHERE id = 5;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**⚠️ WARNING**: Always use WHERE or you delete ALL data!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31. CRUD Summary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Operation | SQL Command | Key Rule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|-----------|-------------|----------|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Create | INSERT INTO ... VALUES | Match columns/values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Read | SELECT ... FROM ... WHERE | Filter with WHERE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Update | UPDATE ... SET ... WHERE | ALWAYS use WHERE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Delete | DELETE FROM ... WHERE | ALWAYS use WHERE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1.5: Filtering &amp; Sorting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32-38**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32. WHERE Clause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=   -- Equal</a:t>
            </a:r>
            <a:br/>
            <a:r>
              <a:t>!=  -- Not equal</a:t>
            </a:r>
            <a:br/>
            <a:r>
              <a:t>&gt;   -- Greater than</a:t>
            </a:r>
            <a:br/>
            <a:r>
              <a:t>&lt;   -- Less than</a:t>
            </a:r>
            <a:br/>
            <a:r>
              <a:t>&gt;=  -- Greater than or equal</a:t>
            </a:r>
            <a:br/>
            <a:r>
              <a:t>&lt;=  -- Less than or equal</a:t>
            </a:r>
            <a:br/>
            <a:r>
              <a:t>IN  -- In a list</a:t>
            </a:r>
            <a:br/>
            <a:r>
              <a:t>BETWEEN -- Range</a:t>
            </a:r>
            <a:br/>
            <a:r>
              <a:t>LIKE -- Pattern (case-sensitive)</a:t>
            </a:r>
            <a:br/>
            <a:r>
              <a:t>ILIKE -- Pattern (case-insensitive)</a:t>
            </a:r>
            <a:br/>
            <a:r>
              <a:t>IS NULL -- Check for NULL</a:t>
            </a:r>
            <a:br/>
            <a:r>
              <a:t>IS NOT NULL -- Check for non-NULL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33. Pattern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Starts with 'K'</a:t>
            </a:r>
            <a:br/>
            <a:r>
              <a:t>SELECT * FROM products WHERE name LIKE 'K%';</a:t>
            </a:r>
            <a:br/>
            <a:br/>
            <a:r>
              <a:t>-- Ends with 'er'</a:t>
            </a:r>
            <a:br/>
            <a:r>
              <a:t>SELECT * FROM products WHERE name LIKE '%er';</a:t>
            </a:r>
            <a:br/>
            <a:br/>
            <a:r>
              <a:t>-- Contains 'om'</a:t>
            </a:r>
            <a:br/>
            <a:r>
              <a:t>SELECT * FROM products WHERE name LIKE '%om%';</a:t>
            </a:r>
            <a:br/>
            <a:br/>
            <a:r>
              <a:t>-- Case-insensitive</a:t>
            </a:r>
            <a:br/>
            <a:r>
              <a:t>SELECT * FROM products WHERE name ILIKE '%keyboard%';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**Pattern Symbols**: `%` = any characters, `_` = exactly one character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34. ORDER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Ascending (default)</a:t>
            </a:r>
            <a:br/>
            <a:r>
              <a:t>SELECT * FROM products ORDER BY price;</a:t>
            </a:r>
            <a:br/>
            <a:br/>
            <a:r>
              <a:t>-- Descending</a:t>
            </a:r>
            <a:br/>
            <a:r>
              <a:t>SELECT * FROM products ORDER BY price DESC;</a:t>
            </a:r>
            <a:br/>
            <a:br/>
            <a:r>
              <a:t>-- Multiple columns</a:t>
            </a:r>
            <a:br/>
            <a:r>
              <a:t>SELECT * FROM products ORDER BY price DESC, name ASC;</a:t>
            </a:r>
            <a:br/>
            <a:br/>
            <a:r>
              <a:t>-- With NULL handling</a:t>
            </a:r>
            <a:br/>
            <a:r>
              <a:t>SELECT * FROM products ORDER BY stock_quantity ASC NULLS LAST;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35. LIMIT &amp; Pagination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First 5 products</a:t>
            </a:r>
            <a:br/>
            <a:r>
              <a:t>SELECT * FROM products LIMIT 5;</a:t>
            </a:r>
            <a:br/>
            <a:br/>
            <a:r>
              <a:t>-- Most expensive 3</a:t>
            </a:r>
            <a:br/>
            <a:r>
              <a:t>SELECT * FROM products ORDER BY price DESC LIMIT 3;</a:t>
            </a:r>
            <a:br/>
            <a:br/>
            <a:r>
              <a:t>-- Page 2 (rows 11-20)</a:t>
            </a:r>
            <a:br/>
            <a:r>
              <a:t>SELECT * FROM products ORDER BY id LIMIT 10 OFFSET 10;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36. Combined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Expensive products with low stock</a:t>
            </a:r>
            <a:br/>
            <a:r>
              <a:t>SELECT id, name, price, stock_quantity</a:t>
            </a:r>
            <a:br/>
            <a:r>
              <a:t>FROM products</a:t>
            </a:r>
            <a:br/>
            <a:r>
              <a:t>WHERE price &gt; 100</a:t>
            </a:r>
            <a:br/>
            <a:r>
              <a:t>  AND stock_quantity &lt; 50</a:t>
            </a:r>
            <a:br/>
            <a:r>
              <a:t>ORDER BY price DESC</a:t>
            </a:r>
            <a:br/>
            <a:r>
              <a:t>LIMIT 5;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**Use case**: Inventory alert for expensive items running low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37. Verification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Count products</a:t>
            </a:r>
            <a:br/>
            <a:r>
              <a:t>SELECT COUNT(*) FROM products;</a:t>
            </a:r>
            <a:br/>
            <a:br/>
            <a:r>
              <a:t>-- See sample data</a:t>
            </a:r>
            <a:br/>
            <a:r>
              <a:t>SELECT * FROM products LIMIT 5;</a:t>
            </a:r>
            <a:br/>
            <a:br/>
            <a:r>
              <a:t>-- Check for duplicates</a:t>
            </a:r>
            <a:br/>
            <a:r>
              <a:t>SELECT name, COUNT(*) FROM products GROUP BY name HAVING COUNT(*) &gt; 1;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38. Exercise - Build a Catalog Query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Requirements: In-stock only, cheapest first, show 5 per page</a:t>
            </a:r>
            <a:br/>
            <a:r>
              <a:t>SELECT</a:t>
            </a:r>
            <a:br/>
            <a:r>
              <a:t>    id, name, price,</a:t>
            </a:r>
            <a:br/>
            <a:r>
              <a:t>    CASE</a:t>
            </a:r>
            <a:br/>
            <a:r>
              <a:t>        WHEN LENGTH(description) &gt; 100</a:t>
            </a:r>
            <a:br/>
            <a:r>
              <a:t>        THEN LEFT(description, 97) || '...'</a:t>
            </a:r>
            <a:br/>
            <a:r>
              <a:t>        ELSE description</a:t>
            </a:r>
            <a:br/>
            <a:r>
              <a:t>    END AS short_description,</a:t>
            </a:r>
            <a:br/>
            <a:r>
              <a:t>    stock_quantity</a:t>
            </a:r>
            <a:br/>
            <a:r>
              <a:t>FROM products</a:t>
            </a:r>
            <a:br/>
            <a:r>
              <a:t>WHERE stock_quantity &gt; 0</a:t>
            </a:r>
            <a:br/>
            <a:r>
              <a:t>ORDER BY price ASC</a:t>
            </a:r>
            <a:br/>
            <a:r>
              <a:t>LIMIT 5 OFFSET 0;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2.1: Primary Keys - SERIAL vs UUID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39-45**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39. Part 2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**Target**: Build robust users table with constraints and UUIDs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**Concepts**: Data integrity, primary key selection, connection pooling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**Hands-On**: UUID-enabled users table with validation, constraints, pooling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40. SERIAL Primary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example_serial (</a:t>
            </a:r>
            <a:br/>
            <a:r>
              <a:t>    id SERIAL PRIMARY KEY,  -- 1, 2, 3, 4...</a:t>
            </a:r>
            <a:br/>
            <a:r>
              <a:t>    name TEXT</a:t>
            </a:r>
            <a:br/>
            <a:r>
              <a:t>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**Pros**: Simple, efficient (4 bytes), fast joins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**Cons**: Predictable (security risk), not portable across databases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41. UUID Primary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EXTENSION IF NOT EXISTS "uuid-ossp";</a:t>
            </a:r>
            <a:br/>
            <a:br/>
            <a:r>
              <a:t>CREATE TABLE example_uuid (</a:t>
            </a:r>
            <a:br/>
            <a:r>
              <a:t>    id UUID PRIMARY KEY DEFAULT gen_random_uuid(),</a:t>
            </a:r>
            <a:br/>
            <a:r>
              <a:t>    name TEXT</a:t>
            </a:r>
            <a:br/>
            <a:r>
              <a:t>);</a:t>
            </a:r>
            <a:br/>
            <a:r>
              <a:t>-- 550e8400-e29b-41d4-a716-446655440000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**Pros**: Globally unique, non-sequential (security)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**Cons**: Larger (16 bytes), slower indexing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42. Which to Choose?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Use SERIAL When | Use UUID When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|-----------------|---------------|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Simple internal apps | Public-facing APIs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No database merging | Distributed systems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Performance critical | Security matters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Billions of rows | Client-side ID generation |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43. Enable UUID in Neon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Enable extension</a:t>
            </a:r>
            <a:br/>
            <a:r>
              <a:t>CREATE EXTENSION IF NOT EXISTS "uuid-ossp";</a:t>
            </a:r>
            <a:br/>
            <a:br/>
            <a:r>
              <a:t>-- Test generation</a:t>
            </a:r>
            <a:br/>
            <a:r>
              <a:t>SELECT uuid_generate_v4();</a:t>
            </a:r>
            <a:br/>
            <a:r>
              <a:t>-- Returns: 550e8400-e29b-41d4-a716-446655440000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44. Complete Users Table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users (</a:t>
            </a:r>
            <a:br/>
            <a:r>
              <a:t>    id UUID PRIMARY KEY DEFAULT gen_random_uuid(),</a:t>
            </a:r>
            <a:br/>
            <a:r>
              <a:t>    email VARCHAR(255) UNIQUE NOT NULL,</a:t>
            </a:r>
            <a:br/>
            <a:r>
              <a:t>    username VARCHAR(50) UNIQUE NOT NULL,</a:t>
            </a:r>
            <a:br/>
            <a:r>
              <a:t>    password_hash TEXT NOT NULL,</a:t>
            </a:r>
            <a:br/>
            <a:r>
              <a:t>    full_name VARCHAR(100) NOT NULL,</a:t>
            </a:r>
            <a:br/>
            <a:r>
              <a:t>    phone VARCHAR(20),</a:t>
            </a:r>
            <a:br/>
            <a:r>
              <a:t>    status VARCHAR(20) NOT NULL DEFAULT 'active',</a:t>
            </a:r>
            <a:br/>
            <a:r>
              <a:t>    role VARCHAR(20) NOT NULL DEFAULT 'customer',</a:t>
            </a:r>
            <a:br/>
            <a:r>
              <a:t>    created_at TIMESTAMPTZ NOT NULL DEFAULT CURRENT_TIMESTAMP,</a:t>
            </a:r>
            <a:br/>
            <a:r>
              <a:t>    updated_at TIMESTAMPTZ NOT NULL DEFAULT CURRENT_TIMESTAMP,</a:t>
            </a:r>
            <a:br/>
            <a:r>
              <a:t>    deleted_at TIMESTAMPTZ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45. Constraints Explained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**UNIQUE NOT NULL**: Email and username must be unique and present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**NOT NULL DEFAULT 'active'**: Status has default if not provided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**CHECK constraints** (next slide): Validate formats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**FOREIGN KEY constraints**: Reference other tables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**TIMESTAMPTZ**: Store timezone-aware timestamps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2.2: Data Integrity Constraints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46-52**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46. Types of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Constraint | Purpose | Example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|------------|---------|---------|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NOT NULL | Value required | email VARCHAR NOT NULL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UNIQUE | No duplicates | email UNIQUE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PRIMARY KEY | Unique identifier | id SERIAL PRIMARY KEY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FOREIGN KEY | Reference another table | user_id REFERENCES users(id)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CHECK | Custom validation | price CHECK (price &gt;= 0)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DEFAULT | Fallback value | status DEFAULT 'active' |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47. Email Validation with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CONSTRAINT valid_email</a:t>
            </a:r>
            <a:br/>
            <a:r>
              <a:t>CHECK (email ~* '^[A-Za-z0-9._%+-]+@[A-Za-z0-9.-]+\.[A-Za-z]{2,}$')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**Pattern Breakdown**: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`^` - Start of string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`[A-Za-z0-9._%+-]+` - Local part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`@` - Literal @ symbol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`[A-Za-z0-9.-]+` - Domain name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`\.` - Literal dot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`[A-Za-z]{2,}` - Top-level domain (at least 2 chars)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`$` - End of string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48. Username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CONSTRAINT valid_username</a:t>
            </a:r>
            <a:br/>
            <a:r>
              <a:t>CHECK (username ~ '^[A-Za-z][A-Za-z0-9_]{2,49}$')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**Rules**: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First character must be a letter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Followed by 2-49 letters, numbers, or underscores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Total length: 3-50 characters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49. Enum-like Status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CONSTRAINT valid_status</a:t>
            </a:r>
            <a:br/>
            <a:r>
              <a:t>CHECK (status IN ('active', 'inactive', 'suspended'))</a:t>
            </a:r>
            <a:br/>
            <a:br/>
            <a:r>
              <a:t>CONSTRAINT valid_role</a:t>
            </a:r>
            <a:br/>
            <a:r>
              <a:t>CHECK (role IN ('customer', 'staff', 'admin'))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**Benefits**: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Database enforces valid values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No invalid statuses/roles can be inserted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Clear to developers what values are valid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50. Testing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This should FAIL</a:t>
            </a:r>
            <a:br/>
            <a:r>
              <a:t>INSERT INTO users (email, username, password_hash, full_name)</a:t>
            </a:r>
            <a:br/>
            <a:r>
              <a:t>VALUES ('invalidemail.com', '1test', 'hash', 'Test');</a:t>
            </a:r>
            <a:br/>
            <a:r>
              <a:t>-- ERROR: invalid email format</a:t>
            </a:r>
            <a:br/>
            <a:r>
              <a:t>-- ERROR: username must start with letter</a:t>
            </a:r>
            <a:br/>
            <a:br/>
            <a:r>
              <a:t>-- This should SUCCEED</a:t>
            </a:r>
            <a:br/>
            <a:r>
              <a:t>INSERT INTO users (email, username, password_hash, full_name)</a:t>
            </a:r>
            <a:br/>
            <a:r>
              <a:t>VALUES ('test@example.com', 'test_user', 'hash', 'Test User');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51. Automatic Timestamps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Function to update updated_at</a:t>
            </a:r>
            <a:br/>
            <a:r>
              <a:t>CREATE OR REPLACE FUNCTION update_updated_at_column()</a:t>
            </a:r>
            <a:br/>
            <a:r>
              <a:t>RETURNS TRIGGER AS $$</a:t>
            </a:r>
            <a:br/>
            <a:r>
              <a:t>BEGIN</a:t>
            </a:r>
            <a:br/>
            <a:r>
              <a:t>    NEW.updated_at = CURRENT_TIMESTAMP;</a:t>
            </a:r>
            <a:br/>
            <a:r>
              <a:t>    RETURN NEW;</a:t>
            </a:r>
            <a:br/>
            <a:r>
              <a:t>END;</a:t>
            </a:r>
            <a:br/>
            <a:r>
              <a:t>$$ language 'plpgsql';</a:t>
            </a:r>
            <a:br/>
            <a:br/>
            <a:r>
              <a:t>-- Trigger to call function</a:t>
            </a:r>
            <a:br/>
            <a:r>
              <a:t>CREATE TRIGGER update_users_updated_at</a:t>
            </a:r>
            <a:br/>
            <a:r>
              <a:t>    BEFORE UPDATE ON users</a:t>
            </a:r>
            <a:br/>
            <a:r>
              <a:t>    FOR EACH ROW</a:t>
            </a:r>
            <a:br/>
            <a:r>
              <a:t>    EXECUTE FUNCTION update_updated_at_column();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52. Soft Delete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Mark as deleted (not actually delete)</a:t>
            </a:r>
            <a:br/>
            <a:r>
              <a:t>UPDATE users</a:t>
            </a:r>
            <a:br/>
            <a:r>
              <a:t>SET deleted_at = CURRENT_TIMESTAMP</a:t>
            </a:r>
            <a:br/>
            <a:r>
              <a:t>WHERE email = 'user@example.com';</a:t>
            </a:r>
            <a:br/>
            <a:br/>
            <a:r>
              <a:t>-- Query active users (deleted_at IS NULL)</a:t>
            </a:r>
            <a:br/>
            <a:r>
              <a:t>SELECT * FROM users WHERE deleted_at IS NULL;</a:t>
            </a:r>
            <a:br/>
            <a:br/>
            <a:r>
              <a:t>-- View for active users</a:t>
            </a:r>
            <a:br/>
            <a:r>
              <a:t>CREATE VIEW active_users AS</a:t>
            </a:r>
            <a:br/>
            <a:r>
              <a:t>SELECT * FROM users WHERE deleted_at IS NULL;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**Benefits**: Data not permanently lost, can restore, audit trail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2.3: Connection Pooling in Neon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53-57**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53. Direct vs Pooled Connections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Direct (Standard):</a:t>
            </a:r>
            <a:br/>
            <a:r>
              <a:t>postgresql://username:password@ep-xyz.us-east-1.aws.neon.tech/neondb?sslmode=require</a:t>
            </a:r>
            <a:br/>
            <a:br/>
            <a:r>
              <a:t>Pooled (Recommended for Serverless):</a:t>
            </a:r>
            <a:br/>
            <a:r>
              <a:t>postgresql://username:password@ep-xyz-pooler.us-east-1.aws.neon.tech/neondb?sslmode=require&amp;pool_mode=transaction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54. Why Pooling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**Problem**: Serverless functions create a new connection per request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**Opening connections is slow** (TCP handshake, authentication)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**Connection limits**: Can exhaust max_connections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**Pooled Connections**: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Reuse connections between requests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Much faster for short-lived connections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Can handle thousands of concurrent users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55. Pooling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Mode | Description | Best For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|------|-------------|----------|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Session | Connection for entire session | Long-running apps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Transaction | Connection for one transaction | Serverless functions |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56. Using Pooled Connection in Node.js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const { Pool } = require('pg');</a:t>
            </a:r>
            <a:br/>
            <a:br/>
            <a:r>
              <a:t>const pool = new Pool({</a:t>
            </a:r>
            <a:br/>
            <a:r>
              <a:t>    connectionString: process.env.DATABASE_POOLED_URL,</a:t>
            </a:r>
            <a:br/>
            <a:r>
              <a:t>    max: 20, // Max connections in pool</a:t>
            </a:r>
            <a:br/>
            <a:r>
              <a:t>    idleTimeoutMillis: 30000,</a:t>
            </a:r>
            <a:br/>
            <a:r>
              <a:t>    connectionTimeoutMillis: 2000,</a:t>
            </a:r>
            <a:br/>
            <a:r>
              <a:t>});</a:t>
            </a:r>
            <a:br/>
            <a:br/>
            <a:r>
              <a:t>// Use the pool</a:t>
            </a:r>
            <a:br/>
            <a:r>
              <a:t>const client = await pool.connect();</a:t>
            </a:r>
            <a:br/>
            <a:r>
              <a:t>try {</a:t>
            </a:r>
            <a:br/>
            <a:r>
              <a:t>    const result = await client.query('SELECT * FROM products');</a:t>
            </a:r>
            <a:br/>
            <a:r>
              <a:t>    // Process result</a:t>
            </a:r>
            <a:br/>
            <a:r>
              <a:t>} finally {</a:t>
            </a:r>
            <a:br/>
            <a:r>
              <a:t>    client.release(); // Return to pool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57. Migration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migrations/001_create_users_table.sql</a:t>
            </a:r>
            <a:br/>
            <a:r>
              <a:t>CREATE EXTENSION IF NOT EXISTS "uuid-ossp";</a:t>
            </a:r>
            <a:br/>
            <a:br/>
            <a:r>
              <a:t>CREATE TABLE users (</a:t>
            </a:r>
            <a:br/>
            <a:r>
              <a:t>    id UUID PRIMARY KEY DEFAULT gen_random_uuid(),</a:t>
            </a:r>
            <a:br/>
            <a:r>
              <a:t>    email VARCHAR(255) UNIQUE NOT NULL,</a:t>
            </a:r>
            <a:br/>
            <a:r>
              <a:t>    CONSTRAINT valid_email CHECK (email ~* '^[A-Za-z0-9._%+-]+@[A-Za-z0-9.-]+\.[A-Za-z]{2,}$'),</a:t>
            </a:r>
            <a:br/>
            <a:r>
              <a:t>    -- ... more columns and constraints</a:t>
            </a:r>
            <a:br/>
            <a:r>
              <a:t>);</a:t>
            </a:r>
            <a:br/>
            <a:br/>
            <a:r>
              <a:t>-- Create indexes</a:t>
            </a:r>
            <a:br/>
            <a:r>
              <a:t>CREATE INDEX idx_users_email ON users(email);</a:t>
            </a:r>
            <a:br/>
            <a:r>
              <a:t>CREATE INDEX idx_users_username ON users(username);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3.1: Neon Database Branching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58-64**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58. Part 3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**Target**: Create dev/staging branches, build relational models, write JOINs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**Concepts**: Neon branching as Git for databases, foreign keys,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**Hands-On**: Create branch, orders/order_items with FKs, complex JOIN queries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59. What is Database Branching?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Instant copy of your database (copy-on-write)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Branches share underlying storage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Changes only stored when you modify data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Traditional copying: hours/days for large databases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Neon: seconds regardless of size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60. Branching Analogy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Git:  Your code repository</a:t>
            </a:r>
            <a:br/>
            <a:r>
              <a:t>Neon: Your database</a:t>
            </a:r>
            <a:br/>
            <a:br/>
            <a:r>
              <a:t>git branch feature-x  →  neonctl branches create --name feature-x</a:t>
            </a:r>
            <a:br/>
            <a:r>
              <a:t>git reset --hard main →  neonctl branches reset feature-x --target main</a:t>
            </a:r>
            <a:br/>
            <a:r>
              <a:t>git merge feature-x   →  neonctl branches merge feature-x --target main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61. Creating a 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# In Neon Console: Branches → Create Branch → Name: dev-branch</a:t>
            </a:r>
            <a:br/>
            <a:br/>
            <a:r>
              <a:t># Or using CLI</a:t>
            </a:r>
            <a:br/>
            <a:r>
              <a:t>neonctl branches create --name dev-branch --project-id your-project-id</a:t>
            </a:r>
            <a:br/>
            <a:br/>
            <a:r>
              <a:t># Create from specific parent</a:t>
            </a:r>
            <a:br/>
            <a:r>
              <a:t>neonctl branches create --name staging-branch --parent main --project-id your-project-id</a:t>
            </a:r>
            <a:br/>
            <a:br/>
            <a:r>
              <a:t># Create with TTL (auto-delete after 4 hours)</a:t>
            </a:r>
            <a:br/>
            <a:r>
              <a:t>neonctl branches create --name test-123 --ttl 4h --parent main --project-id your-project-id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62. Connect to 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# Get connection string</a:t>
            </a:r>
            <a:br/>
            <a:r>
              <a:t>neonctl branches get-connection-string dev-branch --project-id your-project-id</a:t>
            </a:r>
            <a:br/>
            <a:br/>
            <a:r>
              <a:t># Connect</a:t>
            </a:r>
            <a:br/>
            <a:r>
              <a:t>psql "postgresql://username:password@ep-xyz.us-east-1.aws.neon.tech/dev-branch?sslmode=require"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63. Branch Management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# List all branches</a:t>
            </a:r>
            <a:br/>
            <a:r>
              <a:t>neonctl branches list --project-id your-project-id</a:t>
            </a:r>
            <a:br/>
            <a:br/>
            <a:r>
              <a:t># Get branch info</a:t>
            </a:r>
            <a:br/>
            <a:r>
              <a:t>neonctl branches info dev-branch --project-id your-project-id</a:t>
            </a:r>
            <a:br/>
            <a:br/>
            <a:r>
              <a:t># Reset to parent (like git reset --hard)</a:t>
            </a:r>
            <a:br/>
            <a:r>
              <a:t>neonctl branches reset dev-branch --parent main --project-id your-project-id</a:t>
            </a:r>
            <a:br/>
            <a:br/>
            <a:r>
              <a:t># Merge changes</a:t>
            </a:r>
            <a:br/>
            <a:r>
              <a:t>neonctl branches merge dev-branch --target main --project-id your-project-id</a:t>
            </a:r>
            <a:br/>
            <a:br/>
            <a:r>
              <a:t># Delete branch</a:t>
            </a:r>
            <a:br/>
            <a:r>
              <a:t>neonctl branches delete dev-branch --project-id your-project-id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64. Branch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Production (main)</a:t>
            </a:r>
            <a:br/>
            <a:r>
              <a:t>    │</a:t>
            </a:r>
            <a:br/>
            <a:r>
              <a:t>    ├── development (long-lived)</a:t>
            </a:r>
            <a:br/>
            <a:r>
              <a:t>    │       │</a:t>
            </a:r>
            <a:br/>
            <a:r>
              <a:t>    │       ├── feature-payments (temporary)</a:t>
            </a:r>
            <a:br/>
            <a:r>
              <a:t>    │       └── feature-auth (temporary)</a:t>
            </a:r>
            <a:br/>
            <a:r>
              <a:t>    │</a:t>
            </a:r>
            <a:br/>
            <a:r>
              <a:t>    └── staging (pre-production)</a:t>
            </a:r>
            <a:br/>
            <a:r>
              <a:t>            │</a:t>
            </a:r>
            <a:br/>
            <a:r>
              <a:t>            └── preview-pr-123 (auto-deleted)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3.2: Relational Models - One-to-Many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65-70**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65. Relationship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**One-to-One (1:1)**: One user → one profile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**One-to-Many (1:M)**: One user → many orders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**Many-to-Many (M:N)**: Many products → many orders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66. One-to-Many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Users table (one)</a:t>
            </a:r>
            <a:br/>
            <a:r>
              <a:t>CREATE TABLE users (</a:t>
            </a:r>
            <a:br/>
            <a:r>
              <a:t>    id UUID PRIMARY KEY,</a:t>
            </a:r>
            <a:br/>
            <a:r>
              <a:t>    name TEXT NOT NULL</a:t>
            </a:r>
            <a:br/>
            <a:r>
              <a:t>);</a:t>
            </a:r>
            <a:br/>
            <a:br/>
            <a:r>
              <a:t>-- Orders table (many)</a:t>
            </a:r>
            <a:br/>
            <a:r>
              <a:t>CREATE TABLE orders (</a:t>
            </a:r>
            <a:br/>
            <a:r>
              <a:t>    id UUID PRIMARY KEY,</a:t>
            </a:r>
            <a:br/>
            <a:r>
              <a:t>    user_id UUID NOT NULL REFERENCES users(id) ON DELETE CASCADE,</a:t>
            </a:r>
            <a:br/>
            <a:r>
              <a:t>    total NUMERIC(10,2)</a:t>
            </a:r>
            <a:br/>
            <a:r>
              <a:t>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**Relationship**: One user can have many orders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**Foreign Key**: user_id references users(id)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67. Addresses Table (One-to-Many with Users)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addresses (</a:t>
            </a:r>
            <a:br/>
            <a:r>
              <a:t>    id UUID PRIMARY KEY DEFAULT gen_random_uuid(),</a:t>
            </a:r>
            <a:br/>
            <a:r>
              <a:t>    user_id UUID NOT NULL REFERENCES users(id) ON DELETE CASCADE,</a:t>
            </a:r>
            <a:br/>
            <a:r>
              <a:t>    address_line1 VARCHAR(255) NOT NULL,</a:t>
            </a:r>
            <a:br/>
            <a:r>
              <a:t>    city VARCHAR(100) NOT NULL,</a:t>
            </a:r>
            <a:br/>
            <a:r>
              <a:t>    state VARCHAR(50) NOT NULL,</a:t>
            </a:r>
            <a:br/>
            <a:r>
              <a:t>    postal_code VARCHAR(20) NOT NULL,</a:t>
            </a:r>
            <a:br/>
            <a:r>
              <a:t>    address_type VARCHAR(20) DEFAULT 'shipping',</a:t>
            </a:r>
            <a:br/>
            <a:r>
              <a:t>    is_default BOOLEAN DEFAULT FALSE,</a:t>
            </a:r>
            <a:br/>
            <a:r>
              <a:t>    created_at TIMESTAMPTZ DEFAULT CURRENT_TIMESTAMP,</a:t>
            </a:r>
            <a:br/>
            <a:r>
              <a:t>    deleted_at TIMESTAMPTZ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68. Orders Table (One-to-Many with Users)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orders (</a:t>
            </a:r>
            <a:br/>
            <a:r>
              <a:t>    id UUID PRIMARY KEY DEFAULT gen_random_uuid(),</a:t>
            </a:r>
            <a:br/>
            <a:r>
              <a:t>    user_id UUID NOT NULL REFERENCES users(id) ON DELETE RESTRICT,</a:t>
            </a:r>
            <a:br/>
            <a:r>
              <a:t>    shipping_address_id UUID NOT NULL REFERENCES addresses(id) ON DELETE RESTRICT,</a:t>
            </a:r>
            <a:br/>
            <a:r>
              <a:t>    order_number VARCHAR(20) UNIQUE NOT NULL,</a:t>
            </a:r>
            <a:br/>
            <a:r>
              <a:t>    status VARCHAR(20) DEFAULT 'pending',</a:t>
            </a:r>
            <a:br/>
            <a:r>
              <a:t>    total NUMERIC(10,2) NOT NULL,</a:t>
            </a:r>
            <a:br/>
            <a:r>
              <a:t>    created_at TIMESTAMPTZ DEFAULT CURRENT_TIMESTAMP,</a:t>
            </a:r>
            <a:br/>
            <a:r>
              <a:t>    deleted_at TIMESTAMPTZ,</a:t>
            </a:r>
            <a:br/>
            <a:r>
              <a:t>    CONSTRAINT valid_status CHECK (status IN ('pending', 'processing', 'shipped', 'delivered', 'cancelled'))</a:t>
            </a:r>
            <a:br/>
            <a:r>
              <a:t>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**ON DELETE RESTRICT**: Prevents deleting user who has orders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69. Cascade Rules Explained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Rule | Behavior | Use When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|------|----------|----------|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CASCADE | Delete child records | Addresses should be deleted with user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RESTRICT | Prevent deletion | Orders should remain even if user deleted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SET NULL | Set FK to NULL | Keep record but remove relationship |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70. Creating Relationships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Self-referencing (categories with subcategories)</a:t>
            </a:r>
            <a:br/>
            <a:r>
              <a:t>CREATE TABLE categories (</a:t>
            </a:r>
            <a:br/>
            <a:r>
              <a:t>    id SERIAL PRIMARY KEY,</a:t>
            </a:r>
            <a:br/>
            <a:r>
              <a:t>    name VARCHAR(100) NOT NULL,</a:t>
            </a:r>
            <a:br/>
            <a:r>
              <a:t>    parent_id INTEGER REFERENCES categories(id) ON DELETE CASCADE</a:t>
            </a:r>
            <a:br/>
            <a:r>
              <a:t>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3.3: Relational Models - Many-to-Many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71-75**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71. Many-to-Many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Junction table (resolves M:N)</a:t>
            </a:r>
            <a:br/>
            <a:r>
              <a:t>CREATE TABLE order_items (</a:t>
            </a:r>
            <a:br/>
            <a:r>
              <a:t>    order_id UUID REFERENCES orders(id) ON DELETE CASCADE,</a:t>
            </a:r>
            <a:br/>
            <a:r>
              <a:t>    product_id INTEGER REFERENCES products(id) ON DELETE RESTRICT,</a:t>
            </a:r>
            <a:br/>
            <a:r>
              <a:t>    quantity INTEGER NOT NULL,</a:t>
            </a:r>
            <a:br/>
            <a:r>
              <a:t>    unit_price NUMERIC(10,2) NOT NULL,</a:t>
            </a:r>
            <a:br/>
            <a:r>
              <a:t>    PRIMARY KEY (order_id, product_id)</a:t>
            </a:r>
            <a:br/>
            <a:r>
              <a:t>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**Key**: Junction table has composite primary key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**Purpose**: Connects orders and products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72. Complete Relational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users ──┬── addresses (1:M)</a:t>
            </a:r>
            <a:br/>
            <a:r>
              <a:t>        ├── orders (1:M)</a:t>
            </a:r>
            <a:br/>
            <a:r>
              <a:t>        │       └── order_items (1:M)</a:t>
            </a:r>
            <a:br/>
            <a:r>
              <a:t>        │               └── products (M:N)</a:t>
            </a:r>
            <a:br/>
            <a:r>
              <a:t>        └── reviews (1:M)</a:t>
            </a:r>
            <a:br/>
            <a:br/>
            <a:r>
              <a:t>products ──┬── order_items (1:M)</a:t>
            </a:r>
            <a:br/>
            <a:r>
              <a:t>           ├── reviews (1:M)</a:t>
            </a:r>
            <a:br/>
            <a:r>
              <a:t>           └── categories (M:1)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73. Order Items with Denormalization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order_items (</a:t>
            </a:r>
            <a:br/>
            <a:r>
              <a:t>    id UUID PRIMARY KEY DEFAULT gen_random_uuid(),</a:t>
            </a:r>
            <a:br/>
            <a:r>
              <a:t>    order_id UUID NOT NULL REFERENCES orders(id) ON DELETE CASCADE,</a:t>
            </a:r>
            <a:br/>
            <a:r>
              <a:t>    product_id INTEGER NOT NULL REFERENCES products(id) ON DELETE RESTRICT,</a:t>
            </a:r>
            <a:br/>
            <a:r>
              <a:t>    -- Snapshot of product details (denormalized)</a:t>
            </a:r>
            <a:br/>
            <a:r>
              <a:t>    product_name VARCHAR(255) NOT NULL,</a:t>
            </a:r>
            <a:br/>
            <a:r>
              <a:t>    unit_price NUMERIC(10,2) NOT NULL,</a:t>
            </a:r>
            <a:br/>
            <a:r>
              <a:t>    quantity INTEGER NOT NULL,</a:t>
            </a:r>
            <a:br/>
            <a:r>
              <a:t>    line_subtotal NUMERIC(10,2) NOT NULL,</a:t>
            </a:r>
            <a:br/>
            <a:r>
              <a:t>    line_total NUMERIC(10,2) NOT NULL,</a:t>
            </a:r>
            <a:br/>
            <a:r>
              <a:t>    created_at TIMESTAMPTZ DEFAULT CURRENT_TIMESTAMP</a:t>
            </a:r>
            <a:br/>
            <a:r>
              <a:t>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**Denormalization**: Store product_name and unit_price even if product changes later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74. Creating the Order Items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order_items (</a:t>
            </a:r>
            <a:br/>
            <a:r>
              <a:t>    id UUID PRIMARY KEY DEFAULT gen_random_uuid(),</a:t>
            </a:r>
            <a:br/>
            <a:r>
              <a:t>    order_id UUID NOT NULL REFERENCES orders(id) ON DELETE CASCADE,</a:t>
            </a:r>
            <a:br/>
            <a:r>
              <a:t>    product_id INTEGER NOT NULL REFERENCES products(id),</a:t>
            </a:r>
            <a:br/>
            <a:r>
              <a:t>    product_name VARCHAR(255) NOT NULL,</a:t>
            </a:r>
            <a:br/>
            <a:r>
              <a:t>    unit_price NUMERIC(10,2) NOT NULL,</a:t>
            </a:r>
            <a:br/>
            <a:r>
              <a:t>    quantity INTEGER NOT NULL,</a:t>
            </a:r>
            <a:br/>
            <a:r>
              <a:t>    line_subtotal NUMERIC(10,2) NOT NULL,</a:t>
            </a:r>
            <a:br/>
            <a:r>
              <a:t>    line_total NUMERIC(10,2) NOT NULL,</a:t>
            </a:r>
            <a:br/>
            <a:r>
              <a:t>    created_at TIMESTAMPTZ DEFAULT CURRENT_TIMESTAMP,</a:t>
            </a:r>
            <a:br/>
            <a:r>
              <a:t>    CONSTRAINT positive_quantity CHECK (quantity &gt; 0),</a:t>
            </a:r>
            <a:br/>
            <a:r>
              <a:t>    CONSTRAINT positive_price CHECK (unit_price &gt;= 0)</a:t>
            </a:r>
            <a:br/>
            <a:r>
              <a:t>);</a:t>
            </a:r>
            <a:br/>
            <a:br/>
            <a:r>
              <a:t>CREATE INDEX idx_order_items_order ON order_items(order_id);</a:t>
            </a:r>
            <a:br/>
            <a:r>
              <a:t>CREATE INDEX idx_order_items_product ON order_items(product_id);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75. Data Integrity in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Get order with user and items</a:t>
            </a:r>
            <a:br/>
            <a:r>
              <a:t>SELECT</a:t>
            </a:r>
            <a:br/>
            <a:r>
              <a:t>    o.order_number,</a:t>
            </a:r>
            <a:br/>
            <a:r>
              <a:t>    u.full_name AS customer,</a:t>
            </a:r>
            <a:br/>
            <a:r>
              <a:t>    oi.product_name,</a:t>
            </a:r>
            <a:br/>
            <a:r>
              <a:t>    oi.quantity,</a:t>
            </a:r>
            <a:br/>
            <a:r>
              <a:t>    oi.unit_price,</a:t>
            </a:r>
            <a:br/>
            <a:r>
              <a:t>    oi.line_total</a:t>
            </a:r>
            <a:br/>
            <a:r>
              <a:t>FROM orders o</a:t>
            </a:r>
            <a:br/>
            <a:r>
              <a:t>JOIN users u ON o.user_id = u.id</a:t>
            </a:r>
            <a:br/>
            <a:r>
              <a:t>JOIN order_items oi ON o.id = oi.order_id</a:t>
            </a:r>
            <a:br/>
            <a:r>
              <a:t>WHERE o.id = 'order-uuid-here';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**Key**: JOIN connects tables for complete picture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3.4: JOIN Queries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76-82**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76. INNER JOIN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Returns only matching records</a:t>
            </a:r>
            <a:br/>
            <a:r>
              <a:t>SELECT</a:t>
            </a:r>
            <a:br/>
            <a:r>
              <a:t>    o.order_number,</a:t>
            </a:r>
            <a:br/>
            <a:r>
              <a:t>    u.full_name AS customer,</a:t>
            </a:r>
            <a:br/>
            <a:r>
              <a:t>    o.total</a:t>
            </a:r>
            <a:br/>
            <a:r>
              <a:t>FROM orders o</a:t>
            </a:r>
            <a:br/>
            <a:r>
              <a:t>INNER JOIN users u ON o.user_id = u.id;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**Use**: Orders that have users (should be all valid orders)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77. LEFT JOIN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Returns all users, even those without orders</a:t>
            </a:r>
            <a:br/>
            <a:r>
              <a:t>SELECT</a:t>
            </a:r>
            <a:br/>
            <a:r>
              <a:t>    u.full_name,</a:t>
            </a:r>
            <a:br/>
            <a:r>
              <a:t>    o.order_number,</a:t>
            </a:r>
            <a:br/>
            <a:r>
              <a:t>    o.total</a:t>
            </a:r>
            <a:br/>
            <a:r>
              <a:t>FROM users u</a:t>
            </a:r>
            <a:br/>
            <a:r>
              <a:t>LEFT JOIN orders o ON u.id = o.user_id;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**Use**: Find users who haven't placed orders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78. RIGHT JOIN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Returns all orders, even those without users</a:t>
            </a:r>
            <a:br/>
            <a:r>
              <a:t>SELECT</a:t>
            </a:r>
            <a:br/>
            <a:r>
              <a:t>    u.full_name,</a:t>
            </a:r>
            <a:br/>
            <a:r>
              <a:t>    o.order_number</a:t>
            </a:r>
            <a:br/>
            <a:r>
              <a:t>FROM users u</a:t>
            </a:r>
            <a:br/>
            <a:r>
              <a:t>RIGHT JOIN orders o ON u.id = o.user_id;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**Use**: Find orphaned orders (invalid data)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79. Multiple Joins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Complete order details with user, addresses, and items</a:t>
            </a:r>
            <a:br/>
            <a:r>
              <a:t>SELECT</a:t>
            </a:r>
            <a:br/>
            <a:r>
              <a:t>    o.order_number,</a:t>
            </a:r>
            <a:br/>
            <a:r>
              <a:t>    u.full_name AS customer,</a:t>
            </a:r>
            <a:br/>
            <a:r>
              <a:t>    sa.address_line1 AS shipping_address,</a:t>
            </a:r>
            <a:br/>
            <a:r>
              <a:t>    ba.address_line1 AS billing_address,</a:t>
            </a:r>
            <a:br/>
            <a:r>
              <a:t>    oi.product_name,</a:t>
            </a:r>
            <a:br/>
            <a:r>
              <a:t>    oi.quantity,</a:t>
            </a:r>
            <a:br/>
            <a:r>
              <a:t>    oi.line_total</a:t>
            </a:r>
            <a:br/>
            <a:r>
              <a:t>FROM orders o</a:t>
            </a:r>
            <a:br/>
            <a:r>
              <a:t>JOIN users u ON o.user_id = u.id</a:t>
            </a:r>
            <a:br/>
            <a:r>
              <a:t>JOIN addresses sa ON o.shipping_address_id = sa.id</a:t>
            </a:r>
            <a:br/>
            <a:r>
              <a:t>JOIN addresses ba ON o.billing_address_id = ba.id</a:t>
            </a:r>
            <a:br/>
            <a:r>
              <a:t>JOIN order_items oi ON o.id = oi.order_id;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80. Self Join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Categories with parent names</a:t>
            </a:r>
            <a:br/>
            <a:r>
              <a:t>SELECT</a:t>
            </a:r>
            <a:br/>
            <a:r>
              <a:t>    c1.name AS category,</a:t>
            </a:r>
            <a:br/>
            <a:r>
              <a:t>    c2.name AS parent_category</a:t>
            </a:r>
            <a:br/>
            <a:r>
              <a:t>FROM categories c1</a:t>
            </a:r>
            <a:br/>
            <a:r>
              <a:t>LEFT JOIN categories c2 ON c1.parent_id = c2.id;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81. JOIN Visual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JOIN Type | Result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|-----------|--------|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INNER JOIN | Only rows that match in both tables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LEFT JOIN | All rows from left + matches from right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RIGHT JOIN | All rows from right + matches from left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FULL JOIN | All rows from both tables |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82. Exercise - Customer Order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Get order count and total spent per customer</a:t>
            </a:r>
            <a:br/>
            <a:r>
              <a:t>SELECT</a:t>
            </a:r>
            <a:br/>
            <a:r>
              <a:t>    u.id,</a:t>
            </a:r>
            <a:br/>
            <a:r>
              <a:t>    u.full_name,</a:t>
            </a:r>
            <a:br/>
            <a:r>
              <a:t>    COUNT(o.id) AS order_count,</a:t>
            </a:r>
            <a:br/>
            <a:r>
              <a:t>    SUM(o.total) AS total_spent,</a:t>
            </a:r>
            <a:br/>
            <a:r>
              <a:t>    AVG(o.total) AS avg_order_value,</a:t>
            </a:r>
            <a:br/>
            <a:r>
              <a:t>    MIN(o.total) AS smallest_order,</a:t>
            </a:r>
            <a:br/>
            <a:r>
              <a:t>    MAX(o.total) AS largest_order</a:t>
            </a:r>
            <a:br/>
            <a:r>
              <a:t>FROM users u</a:t>
            </a:r>
            <a:br/>
            <a:r>
              <a:t>LEFT JOIN orders o ON u.id = o.user_id</a:t>
            </a:r>
            <a:br/>
            <a:r>
              <a:t>WHERE o.status NOT IN ('cancelled', 'refunded')</a:t>
            </a:r>
            <a:br/>
            <a:r>
              <a:t>  AND o.deleted_at IS NULL</a:t>
            </a:r>
            <a:br/>
            <a:r>
              <a:t>GROUP BY u.id, u.full_name</a:t>
            </a:r>
            <a:br/>
            <a:r>
              <a:t>HAVING COUNT(o.id) &gt; 0</a:t>
            </a:r>
            <a:br/>
            <a:r>
              <a:t>ORDER BY total_spent DESC;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4.1: Aggregate Functions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83-89**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83. Part 4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**Target**: Generate real-time sales reports and analytics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**Concepts**: Aggregations, grouping, window functions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**Hands-On**: Sales reporting, customer analytics, inventory metrics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84. Basic Aggregate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COUNT: Number of rows</a:t>
            </a:r>
            <a:br/>
            <a:r>
              <a:t>SELECT COUNT(*) FROM orders;</a:t>
            </a:r>
            <a:br/>
            <a:br/>
            <a:r>
              <a:t>-- SUM: Add values</a:t>
            </a:r>
            <a:br/>
            <a:r>
              <a:t>SELECT SUM(total) AS total_revenue FROM orders;</a:t>
            </a:r>
            <a:br/>
            <a:br/>
            <a:r>
              <a:t>-- AVG: Average</a:t>
            </a:r>
            <a:br/>
            <a:r>
              <a:t>SELECT AVG(total) AS avg_order_value FROM orders;</a:t>
            </a:r>
            <a:br/>
            <a:br/>
            <a:r>
              <a:t>-- MIN/MAX: Minimum/Maximum</a:t>
            </a:r>
            <a:br/>
            <a:r>
              <a:t>SELECT MIN(total), MAX(total) FROM orders;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85. Aggregates with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Count by status</a:t>
            </a:r>
            <a:br/>
            <a:r>
              <a:t>SELECT</a:t>
            </a:r>
            <a:br/>
            <a:r>
              <a:t>    status,</a:t>
            </a:r>
            <a:br/>
            <a:r>
              <a:t>    COUNT(*) AS order_count,</a:t>
            </a:r>
            <a:br/>
            <a:r>
              <a:t>    SUM(total) AS revenue</a:t>
            </a:r>
            <a:br/>
            <a:r>
              <a:t>FROM orders</a:t>
            </a:r>
            <a:br/>
            <a:r>
              <a:t>GROUP BY status;</a:t>
            </a:r>
            <a:br/>
            <a:br/>
            <a:r>
              <a:t>-- Distinct counts</a:t>
            </a:r>
            <a:br/>
            <a:r>
              <a:t>SELECT</a:t>
            </a:r>
            <a:br/>
            <a:r>
              <a:t>    COUNT(DISTINCT user_id) AS unique_customers,</a:t>
            </a:r>
            <a:br/>
            <a:r>
              <a:t>    COUNT(DISTINCT payment_method) AS payment_methods_used</a:t>
            </a:r>
            <a:br/>
            <a:r>
              <a:t>FROM orders;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86. GROUP BY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Monthly revenue</a:t>
            </a:r>
            <a:br/>
            <a:r>
              <a:t>SELECT</a:t>
            </a:r>
            <a:br/>
            <a:r>
              <a:t>    DATE_TRUNC('month', order_date) AS month,</a:t>
            </a:r>
            <a:br/>
            <a:r>
              <a:t>    COUNT(*) AS orders,</a:t>
            </a:r>
            <a:br/>
            <a:r>
              <a:t>    SUM(total) AS revenue,</a:t>
            </a:r>
            <a:br/>
            <a:r>
              <a:t>    AVG(total) AS avg_order_value</a:t>
            </a:r>
            <a:br/>
            <a:r>
              <a:t>FROM orders</a:t>
            </a:r>
            <a:br/>
            <a:r>
              <a:t>WHERE status NOT IN ('cancelled', 'refunded')</a:t>
            </a:r>
            <a:br/>
            <a:r>
              <a:t>GROUP BY DATE_TRUNC('month', order_date)</a:t>
            </a:r>
            <a:br/>
            <a:r>
              <a:t>ORDER BY month DESC;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87. HAVING - Filtering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Customers with more than 3 orders</a:t>
            </a:r>
            <a:br/>
            <a:r>
              <a:t>SELECT</a:t>
            </a:r>
            <a:br/>
            <a:r>
              <a:t>    user_id,</a:t>
            </a:r>
            <a:br/>
            <a:r>
              <a:t>    COUNT(*) AS order_count,</a:t>
            </a:r>
            <a:br/>
            <a:r>
              <a:t>    SUM(total) AS total_spent</a:t>
            </a:r>
            <a:br/>
            <a:r>
              <a:t>FROM orders</a:t>
            </a:r>
            <a:br/>
            <a:r>
              <a:t>GROUP BY user_id</a:t>
            </a:r>
            <a:br/>
            <a:r>
              <a:t>HAVING COUNT(*) &gt; 3</a:t>
            </a:r>
            <a:br/>
            <a:r>
              <a:t>ORDER BY total_spent DESC;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**Key**: WHERE filters rows, HAVING filters groups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88. GROUP BY with Multiple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Revenue by payment method and status</a:t>
            </a:r>
            <a:br/>
            <a:r>
              <a:t>SELECT</a:t>
            </a:r>
            <a:br/>
            <a:r>
              <a:t>    payment_method,</a:t>
            </a:r>
            <a:br/>
            <a:r>
              <a:t>    status,</a:t>
            </a:r>
            <a:br/>
            <a:r>
              <a:t>    COUNT(*) AS count,</a:t>
            </a:r>
            <a:br/>
            <a:r>
              <a:t>    SUM(total) AS revenue,</a:t>
            </a:r>
            <a:br/>
            <a:r>
              <a:t>    AVG(total) AS avg_value</a:t>
            </a:r>
            <a:br/>
            <a:r>
              <a:t>FROM orders</a:t>
            </a:r>
            <a:br/>
            <a:r>
              <a:t>WHERE deleted_at IS NULL</a:t>
            </a:r>
            <a:br/>
            <a:r>
              <a:t>GROUP BY payment_method, status</a:t>
            </a:r>
            <a:br/>
            <a:r>
              <a:t>ORDER BY payment_method, status;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89. Combined Analytics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Daily sales summary</a:t>
            </a:r>
            <a:br/>
            <a:r>
              <a:t>SELECT</a:t>
            </a:r>
            <a:br/>
            <a:r>
              <a:t>    DATE(order_date) AS sale_date,</a:t>
            </a:r>
            <a:br/>
            <a:r>
              <a:t>    COUNT(*) AS total_orders,</a:t>
            </a:r>
            <a:br/>
            <a:r>
              <a:t>    SUM(total) AS revenue,</a:t>
            </a:r>
            <a:br/>
            <a:r>
              <a:t>    AVG(total) AS avg_order,</a:t>
            </a:r>
            <a:br/>
            <a:r>
              <a:t>    COUNT(DISTINCT user_id) AS unique_customers,</a:t>
            </a:r>
            <a:br/>
            <a:r>
              <a:t>    SUM(oi.quantity) AS items_sold</a:t>
            </a:r>
            <a:br/>
            <a:r>
              <a:t>FROM orders o</a:t>
            </a:r>
            <a:br/>
            <a:r>
              <a:t>JOIN order_items oi ON o.id = oi.order_id</a:t>
            </a:r>
            <a:br/>
            <a:r>
              <a:t>WHERE o.status NOT IN ('cancelled', 'refunded')</a:t>
            </a:r>
            <a:br/>
            <a:r>
              <a:t>GROUP BY DATE(order_date)</a:t>
            </a:r>
            <a:br/>
            <a:r>
              <a:t>ORDER BY sale_date DESC</a:t>
            </a:r>
            <a:br/>
            <a:r>
              <a:t>LIMIT 30;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4.2: Window Functions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90-96**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90. What are Window Functions?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Calculations across rows related to current row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Unlike GROUP BY, rows are NOT collapsed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Each row retains its identity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Think: "Show me each order AND its running total"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91. ROW_NUMBER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Number orders per customer</a:t>
            </a:r>
            <a:br/>
            <a:r>
              <a:t>SELECT</a:t>
            </a:r>
            <a:br/>
            <a:r>
              <a:t>    u.full_name,</a:t>
            </a:r>
            <a:br/>
            <a:r>
              <a:t>    o.order_number,</a:t>
            </a:r>
            <a:br/>
            <a:r>
              <a:t>    o.total,</a:t>
            </a:r>
            <a:br/>
            <a:r>
              <a:t>    ROW_NUMBER() OVER (PARTITION BY u.id ORDER BY o.order_date) AS order_sequence</a:t>
            </a:r>
            <a:br/>
            <a:r>
              <a:t>FROM users u</a:t>
            </a:r>
            <a:br/>
            <a:r>
              <a:t>JOIN orders o ON u.id = o.user_id</a:t>
            </a:r>
            <a:br/>
            <a:r>
              <a:t>ORDER BY u.full_name, o.order_date;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**Output**: Each customer's orders numbered 1, 2, 3...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92. RANK and DENSE_RANK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Rank customers by spending</a:t>
            </a:r>
            <a:br/>
            <a:r>
              <a:t>SELECT</a:t>
            </a:r>
            <a:br/>
            <a:r>
              <a:t>    u.full_name,</a:t>
            </a:r>
            <a:br/>
            <a:r>
              <a:t>    SUM(o.total) AS total_spent,</a:t>
            </a:r>
            <a:br/>
            <a:r>
              <a:t>    RANK() OVER (ORDER BY SUM(o.total) DESC) AS rank,</a:t>
            </a:r>
            <a:br/>
            <a:r>
              <a:t>    DENSE_RANK() OVER (ORDER BY SUM(o.total) DESC) AS dense_rank</a:t>
            </a:r>
            <a:br/>
            <a:r>
              <a:t>FROM users u</a:t>
            </a:r>
            <a:br/>
            <a:r>
              <a:t>JOIN orders o ON u.id = o.user_id</a:t>
            </a:r>
            <a:br/>
            <a:r>
              <a:t>GROUP BY u.id, u.full_name</a:t>
            </a:r>
            <a:br/>
            <a:r>
              <a:t>ORDER BY total_spent DESC;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**Difference**: RANK has gaps, DENSE_RANK doesn't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93. LAG and 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Month-over-month comparison</a:t>
            </a:r>
            <a:br/>
            <a:r>
              <a:t>WITH monthly_revenue AS (</a:t>
            </a:r>
            <a:br/>
            <a:r>
              <a:t>    SELECT</a:t>
            </a:r>
            <a:br/>
            <a:r>
              <a:t>        DATE_TRUNC('month', order_date) AS month,</a:t>
            </a:r>
            <a:br/>
            <a:r>
              <a:t>        SUM(total) AS revenue</a:t>
            </a:r>
            <a:br/>
            <a:r>
              <a:t>    FROM orders</a:t>
            </a:r>
            <a:br/>
            <a:r>
              <a:t>    GROUP BY DATE_TRUNC('month', order_date)</a:t>
            </a:r>
            <a:br/>
            <a:r>
              <a:t>)</a:t>
            </a:r>
            <a:br/>
            <a:r>
              <a:t>SELECT</a:t>
            </a:r>
            <a:br/>
            <a:r>
              <a:t>    month,</a:t>
            </a:r>
            <a:br/>
            <a:r>
              <a:t>    revenue,</a:t>
            </a:r>
            <a:br/>
            <a:r>
              <a:t>    LAG(revenue, 1) OVER (ORDER BY month) AS previous_month,</a:t>
            </a:r>
            <a:br/>
            <a:r>
              <a:t>    revenue - LAG(revenue, 1) OVER (ORDER BY month) AS change,</a:t>
            </a:r>
            <a:br/>
            <a:r>
              <a:t>    ((revenue - LAG(revenue, 1) OVER (ORDER BY month)) / LAG(revenue, 1) OVER (ORDER BY month)) * 100 AS growth_pct</a:t>
            </a:r>
            <a:br/>
            <a:r>
              <a:t>FROM monthly_revenue</a:t>
            </a:r>
            <a:br/>
            <a:r>
              <a:t>ORDER BY month DESC;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94. Running Totals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Cumulative revenue over time</a:t>
            </a:r>
            <a:br/>
            <a:r>
              <a:t>SELECT</a:t>
            </a:r>
            <a:br/>
            <a:r>
              <a:t>    order_date,</a:t>
            </a:r>
            <a:br/>
            <a:r>
              <a:t>    total,</a:t>
            </a:r>
            <a:br/>
            <a:r>
              <a:t>    SUM(total) OVER (ORDER BY order_date) AS running_total,</a:t>
            </a:r>
            <a:br/>
            <a:r>
              <a:t>    AVG(total) OVER (ORDER BY order_date ROWS BETWEEN 4 PRECEDING AND CURRENT ROW) AS moving_avg_5</a:t>
            </a:r>
            <a:br/>
            <a:r>
              <a:t>FROM orders</a:t>
            </a:r>
            <a:br/>
            <a:r>
              <a:t>WHERE status NOT IN ('cancelled', 'refunded')</a:t>
            </a:r>
            <a:br/>
            <a:r>
              <a:t>ORDER BY order_date;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95. PARTITION BY in Window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Customer lifetime value with running total</a:t>
            </a:r>
            <a:br/>
            <a:r>
              <a:t>SELECT</a:t>
            </a:r>
            <a:br/>
            <a:r>
              <a:t>    u.full_name,</a:t>
            </a:r>
            <a:br/>
            <a:r>
              <a:t>    o.order_date,</a:t>
            </a:r>
            <a:br/>
            <a:r>
              <a:t>    o.total,</a:t>
            </a:r>
            <a:br/>
            <a:r>
              <a:t>    SUM(o.total) OVER (PARTITION BY u.id ORDER BY o.order_date) AS customer_lifetime_value,</a:t>
            </a:r>
            <a:br/>
            <a:r>
              <a:t>    RANK() OVER (PARTITION BY u.id ORDER BY o.total DESC) AS order_size_rank</a:t>
            </a:r>
            <a:br/>
            <a:r>
              <a:t>FROM users u</a:t>
            </a:r>
            <a:br/>
            <a:r>
              <a:t>JOIN orders o ON u.id = o.user_id</a:t>
            </a:r>
            <a:br/>
            <a:r>
              <a:t>ORDER BY u.full_name, o.order_date;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96. Window Functions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Function | Purpose | Use Case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|----------|---------|----------|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ROW_NUMBER | Sequential numbering | Number orders per customer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RANK/DENSE_RANK | Competition ranking | Top customers/products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LAG/LEAD | Previous/next values | Month-over-month comparison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SUM/AVG with OVER | Running totals | Cumulative revenue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NTILE | Percentile buckets | Customer segmentation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4.3: CASE WHEN &amp; Analytics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97-100**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97. CASE WHEN - Conditional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Categorize orders by size</a:t>
            </a:r>
            <a:br/>
            <a:r>
              <a:t>SELECT</a:t>
            </a:r>
            <a:br/>
            <a:r>
              <a:t>    order_number,</a:t>
            </a:r>
            <a:br/>
            <a:r>
              <a:t>    total,</a:t>
            </a:r>
            <a:br/>
            <a:r>
              <a:t>    CASE</a:t>
            </a:r>
            <a:br/>
            <a:r>
              <a:t>        WHEN total &lt; 100 THEN 'Small'</a:t>
            </a:r>
            <a:br/>
            <a:r>
              <a:t>        WHEN total &gt;= 100 AND total &lt; 500 THEN 'Medium'</a:t>
            </a:r>
            <a:br/>
            <a:r>
              <a:t>        WHEN total &gt;= 500 AND total &lt; 1000 THEN 'Large'</a:t>
            </a:r>
            <a:br/>
            <a:r>
              <a:t>        WHEN total &gt;= 1000 THEN 'XL'</a:t>
            </a:r>
            <a:br/>
            <a:r>
              <a:t>    END AS order_size_category</a:t>
            </a:r>
            <a:br/>
            <a:r>
              <a:t>FROM orders</a:t>
            </a:r>
            <a:br/>
            <a:r>
              <a:t>ORDER BY total DESC;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98. Customer Segmentation with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SELECT</a:t>
            </a:r>
            <a:br/>
            <a:r>
              <a:t>    u.full_name,</a:t>
            </a:r>
            <a:br/>
            <a:r>
              <a:t>    SUM(o.total) AS total_spent,</a:t>
            </a:r>
            <a:br/>
            <a:r>
              <a:t>    CASE</a:t>
            </a:r>
            <a:br/>
            <a:r>
              <a:t>        WHEN SUM(o.total) &lt; 100 THEN 'Bronze'</a:t>
            </a:r>
            <a:br/>
            <a:r>
              <a:t>        WHEN SUM(o.total) &gt;= 100 AND SUM(o.total) &lt; 500 THEN 'Silver'</a:t>
            </a:r>
            <a:br/>
            <a:r>
              <a:t>        WHEN SUM(o.total) &gt;= 500 AND SUM(o.total) &lt; 1000 THEN 'Gold'</a:t>
            </a:r>
            <a:br/>
            <a:r>
              <a:t>        WHEN SUM(o.total) &gt;= 1000 THEN 'Platinum'</a:t>
            </a:r>
            <a:br/>
            <a:r>
              <a:t>    END AS customer_tier</a:t>
            </a:r>
            <a:br/>
            <a:r>
              <a:t>FROM users u</a:t>
            </a:r>
            <a:br/>
            <a:r>
              <a:t>JOIN orders o ON u.id = o.user_id</a:t>
            </a:r>
            <a:br/>
            <a:r>
              <a:t>WHERE o.status NOT IN ('cancelled', 'refunded')</a:t>
            </a:r>
            <a:br/>
            <a:r>
              <a:t>GROUP BY u.id, u.full_name</a:t>
            </a:r>
            <a:br/>
            <a:r>
              <a:t>ORDER BY total_spent DESC;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99. Executive Dashboard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VIEW executive_dashboard AS</a:t>
            </a:r>
            <a:br/>
            <a:r>
              <a:t>SELECT</a:t>
            </a:r>
            <a:br/>
            <a:r>
              <a:t>    COUNT(DISTINCT o.id) AS total_orders,</a:t>
            </a:r>
            <a:br/>
            <a:r>
              <a:t>    SUM(o.total) AS total_revenue,</a:t>
            </a:r>
            <a:br/>
            <a:r>
              <a:t>    AVG(o.total) AS avg_order_value,</a:t>
            </a:r>
            <a:br/>
            <a:r>
              <a:t>    COUNT(DISTINCT o.user_id) AS unique_customers,</a:t>
            </a:r>
            <a:br/>
            <a:r>
              <a:t>    ROUND(</a:t>
            </a:r>
            <a:br/>
            <a:r>
              <a:t>        (COUNT(CASE WHEN o.status = 'completed' THEN 1 END)::FLOAT /</a:t>
            </a:r>
            <a:br/>
            <a:r>
              <a:t>         COUNT(*)::FLOAT) * 100, 2</a:t>
            </a:r>
            <a:br/>
            <a:r>
              <a:t>    ) AS completion_rate,</a:t>
            </a:r>
            <a:br/>
            <a:r>
              <a:t>    CURRENT_TIMESTAMP AS generated_at</a:t>
            </a:r>
            <a:br/>
            <a:r>
              <a:t>FROM orders o</a:t>
            </a:r>
            <a:br/>
            <a:r>
              <a:t>WHERE o.order_date &gt;= CURRENT_DATE - INTERVAL '30 days';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100. Product Performance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SELECT</a:t>
            </a:r>
            <a:br/>
            <a:r>
              <a:t>    p.name,</a:t>
            </a:r>
            <a:br/>
            <a:r>
              <a:t>    SUM(oi.quantity) AS units_sold,</a:t>
            </a:r>
            <a:br/>
            <a:r>
              <a:t>    SUM(oi.line_total) AS revenue,</a:t>
            </a:r>
            <a:br/>
            <a:r>
              <a:t>    COUNT(DISTINCT o.user_id) AS unique_customers,</a:t>
            </a:r>
            <a:br/>
            <a:r>
              <a:t>    CASE</a:t>
            </a:r>
            <a:br/>
            <a:r>
              <a:t>        WHEN SUM(oi.quantity) &lt; 10 THEN 'Low Volume'</a:t>
            </a:r>
            <a:br/>
            <a:r>
              <a:t>        WHEN SUM(oi.quantity) &lt; 50 THEN 'Medium Volume'</a:t>
            </a:r>
            <a:br/>
            <a:r>
              <a:t>        ELSE 'High Volume'</a:t>
            </a:r>
            <a:br/>
            <a:r>
              <a:t>    END AS sales_volume,</a:t>
            </a:r>
            <a:br/>
            <a:r>
              <a:t>    RANK() OVER (ORDER BY SUM(oi.line_total) DESC) AS revenue_rank</a:t>
            </a:r>
            <a:br/>
            <a:r>
              <a:t>FROM products p</a:t>
            </a:r>
            <a:br/>
            <a:r>
              <a:t>JOIN order_items oi ON p.id = oi.product_id</a:t>
            </a:r>
            <a:br/>
            <a:r>
              <a:t>JOIN orders o ON oi.order_id = o.id</a:t>
            </a:r>
            <a:br/>
            <a:r>
              <a:t>WHERE o.status NOT IN ('cancelled', 'refunded')</a:t>
            </a:r>
            <a:br/>
            <a:r>
              <a:t>GROUP BY p.id, p.name</a:t>
            </a:r>
            <a:br/>
            <a:r>
              <a:t>ORDER BY revenue DESC</a:t>
            </a:r>
            <a:br/>
            <a:r>
              <a:t>LIMIT 10;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5.1: JSONB Fundamentals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101-107**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101. Part 5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**Target**: Add flexible product attributes and fuzzy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**Concepts**: JSONB storage, PostgreSQL extensions, hybrid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**Hands-On**: Product attributes JSONB, variants, full-text search, fuzzy search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102. What is JSONB?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Binary JSON storage (validated and compressed)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Perfect for flexible, semi-structured data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Queryable like regular columns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Indexable with GIN indexes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Think: "Sticky notes attached to each record"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103. When to Use JSONB vs Relational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Use JSONB When | Use Relational When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|----------------|---------------------|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Data varies per row | All rows have same fields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Schema evolves frequently | Schema is stable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Nested/complex structures | Simple flat data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Data rarely needs to be joined | Data needs to be joined often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Unknown fields upfront | All fields known upfront |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104. Adding JSONB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ALTER TABLE products</a:t>
            </a:r>
            <a:br/>
            <a:r>
              <a:t>ADD COLUMN attributes JSONB DEFAULT '{}'::jsonb,</a:t>
            </a:r>
            <a:br/>
            <a:r>
              <a:t>ADD COLUMN variants JSONB DEFAULT '[]'::jsonb,</a:t>
            </a:r>
            <a:br/>
            <a:r>
              <a:t>ADD COLUMN metadata JSONB DEFAULT '{}'::jsonb;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105. Inserting JSONB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UPDATE products</a:t>
            </a:r>
            <a:br/>
            <a:r>
              <a:t>SET</a:t>
            </a:r>
            <a:br/>
            <a:r>
              <a:t>    attributes = jsonb_build_object(</a:t>
            </a:r>
            <a:br/>
            <a:r>
              <a:t>        'color', 'Black',</a:t>
            </a:r>
            <a:br/>
            <a:r>
              <a:t>        'connectivity', 'Bluetooth 5.3',</a:t>
            </a:r>
            <a:br/>
            <a:r>
              <a:t>        'battery_life', '40 hours',</a:t>
            </a:r>
            <a:br/>
            <a:r>
              <a:t>        'noise_cancellation', 'Active'</a:t>
            </a:r>
            <a:br/>
            <a:r>
              <a:t>    ),</a:t>
            </a:r>
            <a:br/>
            <a:r>
              <a:t>    variants = jsonb_build_array(</a:t>
            </a:r>
            <a:br/>
            <a:r>
              <a:t>        jsonb_build_object(</a:t>
            </a:r>
            <a:br/>
            <a:r>
              <a:t>            'color', 'Black',</a:t>
            </a:r>
            <a:br/>
            <a:r>
              <a:t>            'price_adjustment', 0,</a:t>
            </a:r>
            <a:br/>
            <a:r>
              <a:t>            'sku', 'HP-BLK-001',</a:t>
            </a:r>
            <a:br/>
            <a:r>
              <a:t>            'stock', 50</a:t>
            </a:r>
            <a:br/>
            <a:r>
              <a:t>        ),</a:t>
            </a:r>
            <a:br/>
            <a:r>
              <a:t>        jsonb_build_object(</a:t>
            </a:r>
            <a:br/>
            <a:r>
              <a:t>            'color', 'Silver',</a:t>
            </a:r>
            <a:br/>
            <a:r>
              <a:t>            'price_adjustment', 10.00,</a:t>
            </a:r>
            <a:br/>
            <a:r>
              <a:t>            'sku', 'HP-SLV-001',</a:t>
            </a:r>
            <a:br/>
            <a:r>
              <a:t>            'stock', 25</a:t>
            </a:r>
            <a:br/>
            <a:r>
              <a:t>        )</a:t>
            </a:r>
            <a:br/>
            <a:r>
              <a:t>    ),</a:t>
            </a:r>
            <a:br/>
            <a:r>
              <a:t>    metadata = jsonb_build_object(</a:t>
            </a:r>
            <a:br/>
            <a:r>
              <a:t>        'brand', 'AudioPro',</a:t>
            </a:r>
            <a:br/>
            <a:r>
              <a:t>        'warranty_months', 24,</a:t>
            </a:r>
            <a:br/>
            <a:r>
              <a:t>        'category', 'Audio',</a:t>
            </a:r>
            <a:br/>
            <a:r>
              <a:t>        'tags', array['premium', 'wireless']</a:t>
            </a:r>
            <a:br/>
            <a:r>
              <a:t>    )</a:t>
            </a:r>
            <a:br/>
            <a:r>
              <a:t>WHERE name = 'Premium Wireless Headphones';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106. JSONB Query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Operator | Description | Example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|----------|-------------|---------|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`-&gt;` | Get field (JSON) | attributes-&gt;'color'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`-&gt;&gt;` | Get field (text) | attributes-&gt;&gt;'color'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`#&gt;` | Get nested (JSON) | attributes#&gt;&gt;'{ports,hdmi}'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`@&gt;` | Contains | attributes @&gt; '{"color":"Black"}'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`?` | Key exists | attributes ? 'color'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`?|` | Any key exists | attributes ?\| array['color','size'] |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107. Querying JSONB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Get specific attributes</a:t>
            </a:r>
            <a:br/>
            <a:r>
              <a:t>SELECT</a:t>
            </a:r>
            <a:br/>
            <a:r>
              <a:t>    name,</a:t>
            </a:r>
            <a:br/>
            <a:r>
              <a:t>    attributes-&gt;&gt;'color' AS color,</a:t>
            </a:r>
            <a:br/>
            <a:r>
              <a:t>    attributes-&gt;&gt;'battery_life' AS battery</a:t>
            </a:r>
            <a:br/>
            <a:r>
              <a:t>FROM products</a:t>
            </a:r>
            <a:br/>
            <a:r>
              <a:t>WHERE attributes @&gt; '{"noise_cancellation": "Active"}'::jsonb;</a:t>
            </a:r>
            <a:br/>
            <a:br/>
            <a:r>
              <a:t>-- Query nested in variants</a:t>
            </a:r>
            <a:br/>
            <a:r>
              <a:t>SELECT</a:t>
            </a:r>
            <a:br/>
            <a:r>
              <a:t>    name,</a:t>
            </a:r>
            <a:br/>
            <a:r>
              <a:t>    variants</a:t>
            </a:r>
            <a:br/>
            <a:r>
              <a:t>FROM products</a:t>
            </a:r>
            <a:br/>
            <a:r>
              <a:t>WHERE variants @&gt; '[{"color": "Silver"}]'::jsonb;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5.2: JSONB Indexing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108-111**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108. GIN Index for JSONB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Create GIN index (fast JSONB queries)</a:t>
            </a:r>
            <a:br/>
            <a:r>
              <a:t>CREATE INDEX idx_products_attributes_gin ON products USING gin(attributes);</a:t>
            </a:r>
            <a:br/>
            <a:r>
              <a:t>CREATE INDEX idx_products_metadata_gin ON products USING gin(metadata);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**Benefit**: Speeds up containment queries (`@&gt;`)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109. Path-Specific Indexes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Index on specific JSON paths</a:t>
            </a:r>
            <a:br/>
            <a:r>
              <a:t>CREATE INDEX idx_products_brand ON products ((metadata-&gt;&gt;'brand'));</a:t>
            </a:r>
            <a:br/>
            <a:r>
              <a:t>CREATE INDEX idx_products_category ON products ((metadata-&gt;&gt;'category'));</a:t>
            </a:r>
            <a:br/>
            <a:br/>
            <a:r>
              <a:t>-- Partial index for specific category</a:t>
            </a:r>
            <a:br/>
            <a:r>
              <a:t>CREATE INDEX idx_products_audio_attributes ON products USING gin(attributes)</a:t>
            </a:r>
            <a:br/>
            <a:r>
              <a:t>WHERE metadata-&gt;&gt;'category' = 'Audio';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110. Index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Check if index is used</a:t>
            </a:r>
            <a:br/>
            <a:r>
              <a:t>EXPLAIN ANALYZE</a:t>
            </a:r>
            <a:br/>
            <a:r>
              <a:t>SELECT * FROM products</a:t>
            </a:r>
            <a:br/>
            <a:r>
              <a:t>WHERE metadata-&gt;&gt;'brand' = 'AudioPro';</a:t>
            </a:r>
            <a:br/>
            <a:r>
              <a:t>-- Should show "Index Scan" or "Bitmap Index Scan"</a:t>
            </a:r>
            <a:br/>
            <a:br/>
            <a:r>
              <a:t>-- Without index: Seq Scan on products (slow)</a:t>
            </a:r>
            <a:br/>
            <a:r>
              <a:t>-- With index: Index Scan on idx_products_brand (fast)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111. Index Tuning - Column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B-Tree index column order matters</a:t>
            </a:r>
            <a:br/>
            <a:r>
              <a:t>-- Query: WHERE a = 42 AND b = 42</a:t>
            </a:r>
            <a:br/>
            <a:r>
              <a:t>-- Best: CREATE INDEX ON example(a, b)  -- both columns in order</a:t>
            </a:r>
            <a:br/>
            <a:r>
              <a:t>-- Also good: CREATE INDEX ON example(a) AND CREATE INDEX ON example(b)</a:t>
            </a:r>
            <a:br/>
            <a:r>
              <a:t>-- Bad: CREATE INDEX ON example(b, a)  -- wrong order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**Rule**: Put most selective column first in composite indexes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5.3: PostgreSQL Extensions in Neon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112-116**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112. Available Extensions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List all available extensions</a:t>
            </a:r>
            <a:br/>
            <a:r>
              <a:t>SELECT * FROM pg_available_extensions ORDER BY name;</a:t>
            </a:r>
            <a:br/>
            <a:br/>
            <a:r>
              <a:t>-- Key extensions for e-commerce:</a:t>
            </a:r>
            <a:br/>
            <a:r>
              <a:t>-- uuid-ossp: UUID generation</a:t>
            </a:r>
            <a:br/>
            <a:r>
              <a:t>-- pg_trgm: Fuzzy text search</a:t>
            </a:r>
            <a:br/>
            <a:r>
              <a:t>-- btree_gin: Combined B-tree + GIN indexes</a:t>
            </a:r>
            <a:br/>
            <a:r>
              <a:t>-- pgcrypto: Encryption functions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113. Enable pg_trgm for Fuzzy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EXTENSION IF NOT EXISTS pg_trgm;</a:t>
            </a:r>
            <a:br/>
            <a:br/>
            <a:r>
              <a:t>-- Create trigram indexes</a:t>
            </a:r>
            <a:br/>
            <a:r>
              <a:t>CREATE INDEX idx_products_name_trgm ON products USING gin(name gin_trgm_ops);</a:t>
            </a:r>
            <a:br/>
            <a:r>
              <a:t>CREATE INDEX idx_products_description_trgm ON products USING gin(description gin_trgm_ops);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114. Fuzzy Search with Trigram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Similarity scores</a:t>
            </a:r>
            <a:br/>
            <a:r>
              <a:t>SELECT</a:t>
            </a:r>
            <a:br/>
            <a:r>
              <a:t>    name,</a:t>
            </a:r>
            <a:br/>
            <a:r>
              <a:t>    similarity(name, 'wireless headphone') AS similarity_score</a:t>
            </a:r>
            <a:br/>
            <a:r>
              <a:t>FROM products</a:t>
            </a:r>
            <a:br/>
            <a:r>
              <a:t>ORDER BY similarity_score DESC;</a:t>
            </a:r>
            <a:br/>
            <a:br/>
            <a:r>
              <a:t>-- Threshold search</a:t>
            </a:r>
            <a:br/>
            <a:r>
              <a:t>SELECT * FROM products</a:t>
            </a:r>
            <a:br/>
            <a:r>
              <a:t>WHERE similarity(name, 'wireless headphone') &gt; 0.3</a:t>
            </a:r>
            <a:br/>
            <a:r>
              <a:t>ORDER BY similarity(name, 'wireless headphone') DESC;</a:t>
            </a:r>
            <a:br/>
            <a:br/>
            <a:r>
              <a:t>-- Word similarity (better for multi-word)</a:t>
            </a:r>
            <a:br/>
            <a:r>
              <a:t>SELECT * FROM products</a:t>
            </a:r>
            <a:br/>
            <a:r>
              <a:t>WHERE word_similarity('wirelss headphone', description) &gt; 0.3;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115. Full-Text Search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Add search vector column</a:t>
            </a:r>
            <a:br/>
            <a:r>
              <a:t>ALTER TABLE products ADD COLUMN search_vector tsvector;</a:t>
            </a:r>
            <a:br/>
            <a:br/>
            <a:r>
              <a:t>-- Update search vector</a:t>
            </a:r>
            <a:br/>
            <a:r>
              <a:t>UPDATE products</a:t>
            </a:r>
            <a:br/>
            <a:r>
              <a:t>SET search_vector =</a:t>
            </a:r>
            <a:br/>
            <a:r>
              <a:t>    setweight(to_tsvector('english', COALESCE(name, '')), 'A') ||</a:t>
            </a:r>
            <a:br/>
            <a:r>
              <a:t>    setweight(to_tsvector('english', COALESCE(description, '')), 'B') ||</a:t>
            </a:r>
            <a:br/>
            <a:r>
              <a:t>    setweight(to_tsvector('english', COALESCE(metadata-&gt;&gt;'brand', '')), 'C');</a:t>
            </a:r>
            <a:br/>
            <a:br/>
            <a:r>
              <a:t>-- Create index</a:t>
            </a:r>
            <a:br/>
            <a:r>
              <a:t>CREATE INDEX idx_products_search_vector ON products USING gin(search_vector);</a:t>
            </a:r>
            <a:br/>
            <a:br/>
            <a:r>
              <a:t>-- Full-text search</a:t>
            </a:r>
            <a:br/>
            <a:r>
              <a:t>SELECT</a:t>
            </a:r>
            <a:br/>
            <a:r>
              <a:t>    name,</a:t>
            </a:r>
            <a:br/>
            <a:r>
              <a:t>    ts_rank_cd(search_vector, plainto_tsquery('wireless headphones')) AS rank</a:t>
            </a:r>
            <a:br/>
            <a:r>
              <a:t>FROM products</a:t>
            </a:r>
            <a:br/>
            <a:r>
              <a:t>WHERE search_vector @@ plainto_tsquery('wireless headphones')</a:t>
            </a:r>
            <a:br/>
            <a:r>
              <a:t>ORDER BY rank DESC;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116. Hybrid Search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OR REPLACE FUNCTION hybrid_product_search(search_term TEXT)</a:t>
            </a:r>
            <a:br/>
            <a:r>
              <a:t>RETURNS TABLE(</a:t>
            </a:r>
            <a:br/>
            <a:r>
              <a:t>    product_name VARCHAR,</a:t>
            </a:r>
            <a:br/>
            <a:r>
              <a:t>    price NUMERIC,</a:t>
            </a:r>
            <a:br/>
            <a:r>
              <a:t>    relevance_score FLOAT,</a:t>
            </a:r>
            <a:br/>
            <a:r>
              <a:t>    match_type TEXT</a:t>
            </a:r>
            <a:br/>
            <a:r>
              <a:t>) AS $$</a:t>
            </a:r>
            <a:br/>
            <a:r>
              <a:t>BEGIN</a:t>
            </a:r>
            <a:br/>
            <a:r>
              <a:t>    RETURN QUERY</a:t>
            </a:r>
            <a:br/>
            <a:r>
              <a:t>    WITH full_text AS (</a:t>
            </a:r>
            <a:br/>
            <a:r>
              <a:t>        SELECT name, price,</a:t>
            </a:r>
            <a:br/>
            <a:r>
              <a:t>            ts_rank_cd(search_vector, plainto_tsquery(search_term)) AS score</a:t>
            </a:r>
            <a:br/>
            <a:r>
              <a:t>        FROM products</a:t>
            </a:r>
            <a:br/>
            <a:r>
              <a:t>        WHERE search_vector @@ plainto_tsquery(search_term)</a:t>
            </a:r>
            <a:br/>
            <a:r>
              <a:t>    ),</a:t>
            </a:r>
            <a:br/>
            <a:r>
              <a:t>    fuzzy_matches AS (</a:t>
            </a:r>
            <a:br/>
            <a:r>
              <a:t>        SELECT name, price,</a:t>
            </a:r>
            <a:br/>
            <a:r>
              <a:t>            similarity(name, search_term) AS score</a:t>
            </a:r>
            <a:br/>
            <a:r>
              <a:t>        FROM products</a:t>
            </a:r>
            <a:br/>
            <a:r>
              <a:t>        WHERE similarity(name, search_term) &gt; 0.3</a:t>
            </a:r>
            <a:br/>
            <a:r>
              <a:t>    )</a:t>
            </a:r>
            <a:br/>
            <a:r>
              <a:t>    SELECT name, price, score, 'Full-Text' FROM full_text</a:t>
            </a:r>
            <a:br/>
            <a:r>
              <a:t>    UNION ALL</a:t>
            </a:r>
            <a:br/>
            <a:r>
              <a:t>    SELECT name, price, score, 'Fuzzy' FROM fuzzy_matches</a:t>
            </a:r>
            <a:br/>
            <a:r>
              <a:t>    WHERE NOT EXISTS (SELECT 1 FROM full_text ft WHERE ft.name = fu</a:t>
            </a:r>
            <a:br/>
            <a:r>
              <a:t>...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6.1: Query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117-125**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117. Part 6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**Target**: Optimize queries, implement transactions, set up CI/CD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**Concepts**: EXPLAIN ANALYZE, indexing strategies, ACID, Neon branching workflows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**Hands-On**: Query optimization, inventory reservation, GitHub Actions with Neon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118. EXPLAIN ANALYZE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EXPLAIN ANALYZE</a:t>
            </a:r>
            <a:br/>
            <a:r>
              <a:t>SELECT</a:t>
            </a:r>
            <a:br/>
            <a:r>
              <a:t>    u.full_name,</a:t>
            </a:r>
            <a:br/>
            <a:r>
              <a:t>    SUM(o.total) AS total_spent</a:t>
            </a:r>
            <a:br/>
            <a:r>
              <a:t>FROM users u</a:t>
            </a:r>
            <a:br/>
            <a:r>
              <a:t>INNER JOIN orders o ON u.id = o.user_id</a:t>
            </a:r>
            <a:br/>
            <a:r>
              <a:t>WHERE o.status NOT IN ('cancelled', 'refunded')</a:t>
            </a:r>
            <a:br/>
            <a:r>
              <a:t>GROUP BY u.id, u.full_name</a:t>
            </a:r>
            <a:br/>
            <a:r>
              <a:t>ORDER BY total_spent DESC;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119. Reading EXPLAIN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Seq Scan on orders (cost=0.00..245.00 rows=1000 width=100)</a:t>
            </a:r>
            <a:br/>
            <a:r>
              <a:t>  Filter: (status NOT IN ('cancelled','refunded'))</a:t>
            </a:r>
            <a:br/>
            <a:r>
              <a:t>  Rows Removed by Filter: 9000</a:t>
            </a:r>
            <a:br/>
            <a:br/>
            <a:r>
              <a:t>Problem: Sequential scan on large table</a:t>
            </a:r>
            <a:br/>
            <a:r>
              <a:t>Solution: Add index on status column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**Key indicators**: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"Seq Scan" on large table → Missing index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"Rows Removed by Filter" high → Poor selectivity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"Nested Loop" on huge tables → Inefficient join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120. Rows Removed by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Problem: Index used but many rows filtered</a:t>
            </a:r>
            <a:br/>
            <a:r>
              <a:t>CREATE INDEX example_a_idx ON example (a);</a:t>
            </a:r>
            <a:br/>
            <a:br/>
            <a:r>
              <a:t>EXPLAIN ANALYZE SELECT id FROM example WHERE a = 42 AND b = 42;</a:t>
            </a:r>
            <a:br/>
            <a:r>
              <a:t>-- Rows Removed by Filter: 1016</a:t>
            </a:r>
            <a:br/>
            <a:r>
              <a:t>-- Only 1 row returned from 1017 scanned</a:t>
            </a:r>
            <a:br/>
            <a:br/>
            <a:r>
              <a:t>-- Solution: Composite index</a:t>
            </a:r>
            <a:br/>
            <a:r>
              <a:t>CREATE INDEX example_a_b_idx ON example (a, b);</a:t>
            </a:r>
            <a:br/>
            <a:r>
              <a:t>-- Query now: Index Scan (fast, no filter)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121. Index Types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Type | Best For | Example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|------|----------|---------|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B-Tree (default) | Equality, range | WHERE price &gt; 100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GIN | JSONB, arrays, full-text | WHERE attributes @&gt; '{"color":"Black"}'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BRIN | Very large ordered tables | WHERE created_at &gt; '2024-01-01'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Partial | Frequent subset | WHERE deleted_at IS NULL |</a:t>
            </a:r>
          </a:p>
          <a:p>
            <a:pPr>
              <a:spcAft>
                <a:spcPts val="800"/>
              </a:spcAft>
              <a:defRPr sz="1200">
                <a:solidFill>
                  <a:srgbClr val="3C3C3C"/>
                </a:solidFill>
                <a:latin typeface="Courier New"/>
              </a:defRPr>
            </a:pPr>
            <a:r>
              <a:t>| Covering | Index-only scans | INCLUDE (total, status) |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122. Creating Performance Indexes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B-Tree: Range queries</a:t>
            </a:r>
            <a:br/>
            <a:r>
              <a:t>CREATE INDEX idx_orders_date ON orders(order_date DESC);</a:t>
            </a:r>
            <a:br/>
            <a:br/>
            <a:r>
              <a:t>-- Composite: Multiple conditions</a:t>
            </a:r>
            <a:br/>
            <a:r>
              <a:t>CREATE INDEX idx_orders_user_status_date ON orders(user_id, status, order_date);</a:t>
            </a:r>
            <a:br/>
            <a:br/>
            <a:r>
              <a:t>-- Partial: Specific use case</a:t>
            </a:r>
            <a:br/>
            <a:r>
              <a:t>CREATE INDEX idx_orders_active ON orders(order_date)</a:t>
            </a:r>
            <a:br/>
            <a:r>
              <a:t>WHERE status NOT IN ('cancelled', 'refunded');</a:t>
            </a:r>
            <a:br/>
            <a:br/>
            <a:r>
              <a:t>-- Covering: Index-only scans</a:t>
            </a:r>
            <a:br/>
            <a:r>
              <a:t>CREATE INDEX idx_orders_covering ON orders(user_id, order_date)</a:t>
            </a:r>
            <a:br/>
            <a:r>
              <a:t>INCLUDE (total, status);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123. Keep Index Set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Every extra index costs you:</a:t>
            </a:r>
            <a:br/>
            <a:r>
              <a:t>- Writes: INSERT/UPDATE loops through all indexes</a:t>
            </a:r>
            <a:br/>
            <a:r>
              <a:t>- Reads: Planner examines all indexes (O(N) to O(N²))</a:t>
            </a:r>
            <a:br/>
            <a:r>
              <a:t>- Memory: Unused indexes still consume cache</a:t>
            </a:r>
            <a:br/>
            <a:r>
              <a:t>- Vacuum: Processes all indexes twice</a:t>
            </a:r>
            <a:br/>
            <a:r>
              <a:t>- WAL: More indexes = more replication pressure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**Rule**: Drop unused indexes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124. Finding Unused Indexes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SELECT</a:t>
            </a:r>
            <a:br/>
            <a:r>
              <a:t>    schemaname,</a:t>
            </a:r>
            <a:br/>
            <a:r>
              <a:t>    relname AS table_name,</a:t>
            </a:r>
            <a:br/>
            <a:r>
              <a:t>    indexrelname AS index_name,</a:t>
            </a:r>
            <a:br/>
            <a:r>
              <a:t>    idx_scan AS scans,</a:t>
            </a:r>
            <a:br/>
            <a:r>
              <a:t>    pg_size_pretty(pg_relation_size(indexrelid)) AS size</a:t>
            </a:r>
            <a:br/>
            <a:r>
              <a:t>FROM pg_stat_user_indexes</a:t>
            </a:r>
            <a:br/>
            <a:r>
              <a:t>WHERE idx_scan = 0</a:t>
            </a:r>
            <a:br/>
            <a:r>
              <a:t>  AND schemaname = 'public'</a:t>
            </a:r>
            <a:br/>
            <a:r>
              <a:t>  AND indexrelname NOT LIKE 'idx_%_gin'</a:t>
            </a:r>
            <a:br/>
            <a:r>
              <a:t>ORDER BY pg_relation_size(indexrelid) DESC;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125. VACUUM and ANALYZE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Update statistics (improves query plans)</a:t>
            </a:r>
            <a:br/>
            <a:r>
              <a:t>ANALYZE orders;</a:t>
            </a:r>
            <a:br/>
            <a:br/>
            <a:r>
              <a:t>-- Reclaim storage</a:t>
            </a:r>
            <a:br/>
            <a:r>
              <a:t>VACUUM orders;</a:t>
            </a:r>
            <a:br/>
            <a:br/>
            <a:r>
              <a:t>-- Combined</a:t>
            </a:r>
            <a:br/>
            <a:r>
              <a:t>VACUUM ANALYZE orders;</a:t>
            </a:r>
            <a:br/>
            <a:br/>
            <a:r>
              <a:t>-- Full vacuum (locks table)</a:t>
            </a:r>
            <a:br/>
            <a:r>
              <a:t>VACUUM FULL orders;</a:t>
            </a:r>
            <a:br/>
            <a:br/>
            <a:r>
              <a:t>-- Rebuild indexes</a:t>
            </a:r>
            <a:br/>
            <a:r>
              <a:t>REINDEX INDEX idx_orders_date;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**When**: After bulk changes, when performance degrades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6.2: ACID Transactions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126-132**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126. ACID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**Atomicity**: All or nothing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**Consistency**: Data remains valid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**Isolation**: Transactions don't interfere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**Durability**: Committed data survives failures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127. Transaction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BEGIN;                    -- Start transaction</a:t>
            </a:r>
            <a:br/>
            <a:r>
              <a:t>SAVEPOINT savepoint_name; -- Create savepoint</a:t>
            </a:r>
            <a:br/>
            <a:r>
              <a:t>ROLLBACK TO SAVEPOINT savepoint_name; -- Partial rollback</a:t>
            </a:r>
            <a:br/>
            <a:r>
              <a:t>COMMIT;                   -- Save changes</a:t>
            </a:r>
            <a:br/>
            <a:r>
              <a:t>ROLLBACK;                 -- Discard all changes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128. Checkout Transaction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BEGIN;</a:t>
            </a:r>
            <a:br/>
            <a:br/>
            <a:r>
              <a:t>-- Create order</a:t>
            </a:r>
            <a:br/>
            <a:r>
              <a:t>INSERT INTO orders (user_id, shipping_address_id, total, status)</a:t>
            </a:r>
            <a:br/>
            <a:r>
              <a:t>VALUES (user_uuid, address_uuid, 99.99, 'pending')</a:t>
            </a:r>
            <a:br/>
            <a:r>
              <a:t>RETURNING id INTO order_id;</a:t>
            </a:r>
            <a:br/>
            <a:br/>
            <a:r>
              <a:t>-- Insert order items</a:t>
            </a:r>
            <a:br/>
            <a:r>
              <a:t>INSERT INTO order_items (order_id, product_id, quantity, unit_price)</a:t>
            </a:r>
            <a:br/>
            <a:r>
              <a:t>VALUES (order_id, 1, 2, 49.99);</a:t>
            </a:r>
            <a:br/>
            <a:br/>
            <a:r>
              <a:t>-- Update inventory</a:t>
            </a:r>
            <a:br/>
            <a:r>
              <a:t>UPDATE products</a:t>
            </a:r>
            <a:br/>
            <a:r>
              <a:t>SET stock_quantity = stock_quantity - 2</a:t>
            </a:r>
            <a:br/>
            <a:r>
              <a:t>WHERE id = 1 AND stock_quantity &gt;= 2;</a:t>
            </a:r>
            <a:br/>
            <a:br/>
            <a:r>
              <a:t>-- If everything worked</a:t>
            </a:r>
            <a:br/>
            <a:r>
              <a:t>COMMIT;</a:t>
            </a:r>
            <a:br/>
            <a:br/>
            <a:r>
              <a:t>-- If something went wrong</a:t>
            </a:r>
            <a:br/>
            <a:r>
              <a:t>ROLLBACK;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129. Row-Level Locking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BEGIN;</a:t>
            </a:r>
            <a:br/>
            <a:r>
              <a:t>-- Lock rows to prevent concurrent modifications</a:t>
            </a:r>
            <a:br/>
            <a:r>
              <a:t>SELECT * FROM inventory</a:t>
            </a:r>
            <a:br/>
            <a:r>
              <a:t>WHERE product_id = 1</a:t>
            </a:r>
            <a:br/>
            <a:r>
              <a:t>FOR UPDATE;</a:t>
            </a:r>
            <a:br/>
            <a:br/>
            <a:r>
              <a:t>-- Check availability</a:t>
            </a:r>
            <a:br/>
            <a:r>
              <a:t>IF available &gt;= requested THEN</a:t>
            </a:r>
            <a:br/>
            <a:r>
              <a:t>    UPDATE inventory</a:t>
            </a:r>
            <a:br/>
            <a:r>
              <a:t>    SET reserved_quantity = reserved_quantity + requested</a:t>
            </a:r>
            <a:br/>
            <a:r>
              <a:t>    WHERE product_id = 1;</a:t>
            </a:r>
            <a:br/>
            <a:r>
              <a:t>    COMMIT;</a:t>
            </a:r>
            <a:br/>
            <a:r>
              <a:t>ELSE</a:t>
            </a:r>
            <a:br/>
            <a:r>
              <a:t>    ROLLBACK;</a:t>
            </a:r>
            <a:br/>
            <a:r>
              <a:t>    RAISE EXCEPTION 'Insufficient stock';</a:t>
            </a:r>
            <a:br/>
            <a:r>
              <a:t>END IF;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**FOR UPDATE**: Prevents other transactions from modifying locked rows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130. Inventory Reservation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OR REPLACE FUNCTION reserve_inventory(</a:t>
            </a:r>
            <a:br/>
            <a:r>
              <a:t>    p_product_id INTEGER,</a:t>
            </a:r>
            <a:br/>
            <a:r>
              <a:t>    p_quantity INTEGER,</a:t>
            </a:r>
            <a:br/>
            <a:r>
              <a:t>    p_order_id UUID</a:t>
            </a:r>
            <a:br/>
            <a:r>
              <a:t>)</a:t>
            </a:r>
            <a:br/>
            <a:r>
              <a:t>RETURNS BOOLEAN AS $$</a:t>
            </a:r>
            <a:br/>
            <a:r>
              <a:t>DECLARE</a:t>
            </a:r>
            <a:br/>
            <a:r>
              <a:t>    v_available INTEGER;</a:t>
            </a:r>
            <a:br/>
            <a:r>
              <a:t>BEGIN</a:t>
            </a:r>
            <a:br/>
            <a:r>
              <a:t>    -- Lock the inventory row</a:t>
            </a:r>
            <a:br/>
            <a:r>
              <a:t>    SELECT stock_quantity INTO v_available</a:t>
            </a:r>
            <a:br/>
            <a:r>
              <a:t>    FROM inventory</a:t>
            </a:r>
            <a:br/>
            <a:r>
              <a:t>    WHERE product_id = p_product_id</a:t>
            </a:r>
            <a:br/>
            <a:r>
              <a:t>    FOR UPDATE;</a:t>
            </a:r>
            <a:br/>
            <a:br/>
            <a:r>
              <a:t>    IF v_available &lt; p_quantity THEN</a:t>
            </a:r>
            <a:br/>
            <a:r>
              <a:t>        RAISE EXCEPTION 'Insufficient stock';</a:t>
            </a:r>
            <a:br/>
            <a:r>
              <a:t>    END IF;</a:t>
            </a:r>
            <a:br/>
            <a:br/>
            <a:r>
              <a:t>    UPDATE inventory</a:t>
            </a:r>
            <a:br/>
            <a:r>
              <a:t>    SET reserved_quantity = reserved_quantity + p_quantity</a:t>
            </a:r>
            <a:br/>
            <a:r>
              <a:t>    WHERE product_id = p_product_id;</a:t>
            </a:r>
            <a:br/>
            <a:br/>
            <a:r>
              <a:t>    RETURN TRUE;</a:t>
            </a:r>
            <a:br/>
            <a:r>
              <a:t>END;</a:t>
            </a:r>
            <a:br/>
            <a:r>
              <a:t>$$ LANGUAGE plpgsql;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131. Complete Checkout with Transaction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OR REPLACE FUNCTION checkout_order(</a:t>
            </a:r>
            <a:br/>
            <a:r>
              <a:t>    p_user_id UUID,</a:t>
            </a:r>
            <a:br/>
            <a:r>
              <a:t>    p_items JSONB</a:t>
            </a:r>
            <a:br/>
            <a:r>
              <a:t>)</a:t>
            </a:r>
            <a:br/>
            <a:r>
              <a:t>RETURNS UUID AS $$</a:t>
            </a:r>
            <a:br/>
            <a:r>
              <a:t>DECLARE</a:t>
            </a:r>
            <a:br/>
            <a:r>
              <a:t>    v_order_id UUID;</a:t>
            </a:r>
            <a:br/>
            <a:r>
              <a:t>BEGIN</a:t>
            </a:r>
            <a:br/>
            <a:r>
              <a:t>    BEGIN</a:t>
            </a:r>
            <a:br/>
            <a:r>
              <a:t>        -- All operations in one transaction</a:t>
            </a:r>
            <a:br/>
            <a:r>
              <a:t>        INSERT INTO orders (...) RETURNING id INTO v_order_id;</a:t>
            </a:r>
            <a:br/>
            <a:br/>
            <a:r>
              <a:t>        -- For each item</a:t>
            </a:r>
            <a:br/>
            <a:r>
              <a:t>        FOR item IN SELECT * FROM jsonb_array_elements(p_items)</a:t>
            </a:r>
            <a:br/>
            <a:r>
              <a:t>        LOOP</a:t>
            </a:r>
            <a:br/>
            <a:r>
              <a:t>            PERFORM reserve_inventory(</a:t>
            </a:r>
            <a:br/>
            <a:r>
              <a:t>                item-&gt;&gt;'product_id'::int,</a:t>
            </a:r>
            <a:br/>
            <a:r>
              <a:t>                item-&gt;&gt;'quantity'::int,</a:t>
            </a:r>
            <a:br/>
            <a:r>
              <a:t>                v_order_id</a:t>
            </a:r>
            <a:br/>
            <a:r>
              <a:t>            );</a:t>
            </a:r>
            <a:br/>
            <a:br/>
            <a:r>
              <a:t>            INSERT INTO order_items (...) VALUES (...);</a:t>
            </a:r>
            <a:br/>
            <a:r>
              <a:t>        END LOOP;</a:t>
            </a:r>
            <a:br/>
            <a:br/>
            <a:r>
              <a:t>        COMMIT;</a:t>
            </a:r>
            <a:br/>
            <a:r>
              <a:t>        RETURN v_order_id;</a:t>
            </a:r>
            <a:br/>
            <a:r>
              <a:t>    EXCEPTION</a:t>
            </a:r>
            <a:br/>
            <a:r>
              <a:t>        WHEN OTHERS THEN</a:t>
            </a:r>
            <a:br/>
            <a:r>
              <a:t>            ROLLBACK;</a:t>
            </a:r>
            <a:br/>
            <a:r>
              <a:t>            RAISE;</a:t>
            </a:r>
            <a:br/>
            <a:r>
              <a:t>    END;</a:t>
            </a:r>
            <a:br/>
            <a:r>
              <a:t>END;</a:t>
            </a:r>
            <a:br/>
            <a:r>
              <a:t>$$ LANGUAGE plpgsql;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132. Transaction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Keep transactions SHORT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Avoid user interaction inside transactions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Use appropriate isolation levels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Always handle errors with ROLLBACK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Test concurrent scenarios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6.3: CI/CD with Neon Branches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133-140**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133. Preview Deployments with Branches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Git Workflow:          Neon Workflow:</a:t>
            </a:r>
            <a:br/>
            <a:r>
              <a:t>┌─────────────────┐   ┌─────────────────────────────────┐</a:t>
            </a:r>
            <a:br/>
            <a:r>
              <a:t>│ feature/payments │   │ neonctl branches create         │</a:t>
            </a:r>
            <a:br/>
            <a:r>
              <a:t>│   ↓              │   │   --name preview-123             │</a:t>
            </a:r>
            <a:br/>
            <a:r>
              <a:t>│ Pull Request     │   │   --parent main                  │</a:t>
            </a:r>
            <a:br/>
            <a:r>
              <a:t>│   ↓              │   │                                 │</a:t>
            </a:r>
            <a:br/>
            <a:r>
              <a:t>│ Deploy Preview   │   │ Run migrations on preview branch│</a:t>
            </a:r>
            <a:br/>
            <a:r>
              <a:t>│   ↓              │   │ Run tests                       │</a:t>
            </a:r>
            <a:br/>
            <a:r>
              <a:t>│ Merge to main    │   │ Merge branch to main            │</a:t>
            </a:r>
            <a:br/>
            <a:r>
              <a:t>└─────────────────┘   └─────────────────────────────────┘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134. GitHub Actions with Neon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name: Database CI/CD</a:t>
            </a:r>
            <a:br/>
            <a:r>
              <a:t>on: pull_request</a:t>
            </a:r>
            <a:br/>
            <a:br/>
            <a:r>
              <a:t>jobs:</a:t>
            </a:r>
            <a:br/>
            <a:r>
              <a:t>  test-database: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br/>
            <a:r>
              <a:t>      - name: Install Neon CLI</a:t>
            </a:r>
            <a:br/>
            <a:r>
              <a:t>        run: npm install -g neonctl</a:t>
            </a:r>
            <a:br/>
            <a:br/>
            <a:r>
              <a:t>      - name: Create Preview Branch</a:t>
            </a:r>
            <a:br/>
            <a:r>
              <a:t>        run: |</a:t>
            </a:r>
            <a:br/>
            <a:r>
              <a:t>          BRANCH_NAME="preview-${{ github.event.pull_request.number }}"</a:t>
            </a:r>
            <a:br/>
            <a:r>
              <a:t>          neonctl branches create \</a:t>
            </a:r>
            <a:br/>
            <a:r>
              <a:t>            --name $BRANCH_NAME \</a:t>
            </a:r>
            <a:br/>
            <a:r>
              <a:t>            --parent main \</a:t>
            </a:r>
            <a:br/>
            <a:r>
              <a:t>            --project-id ${{ secrets.PROJECT_ID }}</a:t>
            </a:r>
            <a:br/>
            <a:r>
              <a:t>          echo "BRANCH_NAME=$BRANCH_NAME" &gt;&gt; $GITHUB_ENV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135. Running Migrations on 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      - name: Run Migrations on Preview</a:t>
            </a:r>
            <a:br/>
            <a:r>
              <a:t>        run: |</a:t>
            </a:r>
            <a:br/>
            <a:r>
              <a:t>          CONN_STRING=$(neonctl branches get-connection-string $BRANCH_NAME)</a:t>
            </a:r>
            <a:br/>
            <a:r>
              <a:t>          psql "$CONN_STRING" -f migrations/001_create_users_table.sql</a:t>
            </a:r>
            <a:br/>
            <a:r>
              <a:t>          psql "$CONN_STRING" -f migrations/002_create_ecommerce_tables.sql</a:t>
            </a:r>
            <a:br/>
            <a:br/>
            <a:r>
              <a:t>      - name: Run Tests</a:t>
            </a:r>
            <a:br/>
            <a:r>
              <a:t>        run: |</a:t>
            </a:r>
            <a:br/>
            <a:r>
              <a:t>          export DATABASE_URL=$(neonctl branches get-connection-string $BRANCH_NAME)</a:t>
            </a:r>
            <a:br/>
            <a:r>
              <a:t>          npm test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136. Merging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      - name: Merge to Production</a:t>
            </a:r>
            <a:br/>
            <a:r>
              <a:t>        if: github.event.pull_request.merged == true</a:t>
            </a:r>
            <a:br/>
            <a:r>
              <a:t>        run: |</a:t>
            </a:r>
            <a:br/>
            <a:r>
              <a:t>          # Merge the preview branch to main</a:t>
            </a:r>
            <a:br/>
            <a:r>
              <a:t>          neonctl branches merge $BRANCH_NAME \</a:t>
            </a:r>
            <a:br/>
            <a:r>
              <a:t>            --target main \</a:t>
            </a:r>
            <a:br/>
            <a:r>
              <a:t>            --project-id ${{ secrets.PROJECT_ID }}</a:t>
            </a:r>
            <a:br/>
            <a:br/>
            <a:r>
              <a:t>          # Clean up</a:t>
            </a:r>
            <a:br/>
            <a:r>
              <a:t>          neonctl branches delete $BRANCH_NAME \</a:t>
            </a:r>
            <a:br/>
            <a:r>
              <a:t>            --project-id ${{ secrets.PROJECT_ID }}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137. Migration Specialist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1. Create test branch with 4-hour TTL</a:t>
            </a:r>
            <a:br/>
            <a:r>
              <a:t>2. Run migrations on test branch</a:t>
            </a:r>
            <a:br/>
            <a:r>
              <a:t>3. Validate changes thoroughly</a:t>
            </a:r>
            <a:br/>
            <a:r>
              <a:t>4. Delete test branch</a:t>
            </a:r>
            <a:br/>
            <a:r>
              <a:t>5. Create migration files and open PR</a:t>
            </a:r>
            <a:br/>
            <a:r>
              <a:t>6. User or CI/CD applies to main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**CRITICAL**: NEVER run migrations directly on main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138. Schema Diff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GitHub-style comparison tool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Visualize differences between branches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Green = Additions, Red = Removals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Available in Neon Console → Branches → Schema Diff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Perfect for code review of database changes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139. Branch Reset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# Reset development branch to production state</a:t>
            </a:r>
            <a:br/>
            <a:r>
              <a:t>neonctl branches reset development --target main --project-id your-project-id</a:t>
            </a:r>
            <a:br/>
            <a:br/>
            <a:r>
              <a:t># When to reset:</a:t>
            </a:r>
            <a:br/>
            <a:r>
              <a:t># ✅ After feature completed and merged</a:t>
            </a:r>
            <a:br/>
            <a:r>
              <a:t># ✅ To abandon experimental changes</a:t>
            </a:r>
            <a:br/>
            <a:r>
              <a:t># ✅ In CI/CD automation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**Like**: `git reset --hard origin/main` for databases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140. Complete CI/CD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1. Developer opens PR</a:t>
            </a:r>
            <a:br/>
            <a:r>
              <a:t>2. Neon creates preview branch</a:t>
            </a:r>
            <a:br/>
            <a:r>
              <a:t>3. Migrations run on preview branch</a:t>
            </a:r>
            <a:br/>
            <a:r>
              <a:t>4. Automated tests run</a:t>
            </a:r>
            <a:br/>
            <a:r>
              <a:t>5. Schema Diff available for review</a:t>
            </a:r>
            <a:br/>
            <a:r>
              <a:t>6. PR approved and merged</a:t>
            </a:r>
            <a:br/>
            <a:r>
              <a:t>7. Preview branch merged to main</a:t>
            </a:r>
            <a:br/>
            <a:r>
              <a:t>8. Preview branch deleted</a:t>
            </a:r>
            <a:br/>
            <a:r>
              <a:t>9. Production deployed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### Section 6.4: Production Monitoring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**Slides: 141-146**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141. Key Metrics to 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Daily health check</a:t>
            </a:r>
            <a:br/>
            <a:r>
              <a:t>SELECT</a:t>
            </a:r>
            <a:br/>
            <a:r>
              <a:t>    (SELECT COUNT(*) FROM pg_stat_activity WHERE state = 'active') AS active_connections,</a:t>
            </a:r>
            <a:br/>
            <a:r>
              <a:t>    (SELECT COUNT(*) FROM pg_stat_activity WHERE state = 'idle') AS idle_connections,</a:t>
            </a:r>
            <a:br/>
            <a:r>
              <a:t>    (SELECT pg_database_size(current_database()) / 1024 / 1024) AS database_size_mb,</a:t>
            </a:r>
            <a:br/>
            <a:r>
              <a:t>    (SELECT</a:t>
            </a:r>
            <a:br/>
            <a:r>
              <a:t>        ROUND((sum(heap_blks_hit) / (sum(heap_blks_hit) + sum(heap_blks_read)) * 100), 2)</a:t>
            </a:r>
            <a:br/>
            <a:r>
              <a:t>     FROM pg_statio_user_tables) AS cache_hit_ratio;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142. Query Performance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-- Top slow queries</a:t>
            </a:r>
            <a:br/>
            <a:r>
              <a:t>SELECT</a:t>
            </a:r>
            <a:br/>
            <a:r>
              <a:t>    queryid,</a:t>
            </a:r>
            <a:br/>
            <a:r>
              <a:t>    query,</a:t>
            </a:r>
            <a:br/>
            <a:r>
              <a:t>    calls,</a:t>
            </a:r>
            <a:br/>
            <a:r>
              <a:t>    mean_exec_time,</a:t>
            </a:r>
            <a:br/>
            <a:r>
              <a:t>    total_exec_time</a:t>
            </a:r>
            <a:br/>
            <a:r>
              <a:t>FROM pg_stat_statements</a:t>
            </a:r>
            <a:br/>
            <a:r>
              <a:t>ORDER BY mean_exec_time DESC</a:t>
            </a:r>
            <a:br/>
            <a:r>
              <a:t>LIMIT 10;</a:t>
            </a:r>
            <a:br/>
            <a:br/>
            <a:r>
              <a:t>-- Active queries</a:t>
            </a:r>
            <a:br/>
            <a:r>
              <a:t>SELECT</a:t>
            </a:r>
            <a:br/>
            <a:r>
              <a:t>    pid,</a:t>
            </a:r>
            <a:br/>
            <a:r>
              <a:t>    usename,</a:t>
            </a:r>
            <a:br/>
            <a:r>
              <a:t>    query,</a:t>
            </a:r>
            <a:br/>
            <a:r>
              <a:t>    state,</a:t>
            </a:r>
            <a:br/>
            <a:r>
              <a:t>    NOW() - query_start AS duration</a:t>
            </a:r>
            <a:br/>
            <a:r>
              <a:t>FROM pg_stat_activity</a:t>
            </a:r>
            <a:br/>
            <a:r>
              <a:t>WHERE state = 'active'</a:t>
            </a:r>
            <a:br/>
            <a:r>
              <a:t>ORDER BY duration DESC;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143. Alerting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Alerts to Configure:</a:t>
            </a:r>
            <a:br/>
            <a:r>
              <a:t>- Active connections &gt; 80% of max</a:t>
            </a:r>
            <a:br/>
            <a:r>
              <a:t>- Cache hit ratio &lt; 95%</a:t>
            </a:r>
            <a:br/>
            <a:r>
              <a:t>- Slow queries &gt; 5 seconds</a:t>
            </a:r>
            <a:br/>
            <a:r>
              <a:t>- Long-running transactions &gt; 5 minutes</a:t>
            </a:r>
            <a:br/>
            <a:r>
              <a:t>- Database size &gt; 80% capacity</a:t>
            </a:r>
            <a:br/>
            <a:r>
              <a:t>- Table bloat &gt; 30%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144. Health Check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VIEW database_health_check AS</a:t>
            </a:r>
            <a:br/>
            <a:r>
              <a:t>SELECT</a:t>
            </a:r>
            <a:br/>
            <a:r>
              <a:t>    CURRENT_TIMESTAMP AS checked_at,</a:t>
            </a:r>
            <a:br/>
            <a:r>
              <a:t>    (SELECT COUNT(*) FROM pg_stat_activity WHERE state = 'active') AS active_connections,</a:t>
            </a:r>
            <a:br/>
            <a:r>
              <a:t>    (SELECT COUNT(*) FROM pg_stat_activity WHERE state = 'idle') AS idle_connections,</a:t>
            </a:r>
            <a:br/>
            <a:r>
              <a:t>    (SELECT COUNT(*) FROM orders WHERE status = 'pending' AND order_date &lt; CURRENT_DATE - INTERVAL '1 hour') AS stuck_orders,</a:t>
            </a:r>
            <a:br/>
            <a:r>
              <a:t>    (SELECT COUNT(*) FROM products WHERE stock_quantity &lt; 10) AS low_stock_items,</a:t>
            </a:r>
            <a:br/>
            <a:r>
              <a:t>    pg_size_pretty(pg_database_size(current_database())) AS database_size;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145. Slow Query Logging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CREATE TABLE slow_query_log (</a:t>
            </a:r>
            <a:br/>
            <a:r>
              <a:t>    id BIGSERIAL PRIMARY KEY,</a:t>
            </a:r>
            <a:br/>
            <a:r>
              <a:t>    pid INTEGER,</a:t>
            </a:r>
            <a:br/>
            <a:r>
              <a:t>    username TEXT,</a:t>
            </a:r>
            <a:br/>
            <a:r>
              <a:t>    query_text TEXT,</a:t>
            </a:r>
            <a:br/>
            <a:r>
              <a:t>    duration_seconds INTEGER,</a:t>
            </a:r>
            <a:br/>
            <a:r>
              <a:t>    logged_at TIMESTAMPTZ DEFAULT CURRENT_TIMESTAMP</a:t>
            </a:r>
            <a:br/>
            <a:r>
              <a:t>);</a:t>
            </a:r>
            <a:br/>
            <a:br/>
            <a:r>
              <a:t>-- Log queries &gt; 5 seconds</a:t>
            </a:r>
            <a:br/>
            <a:r>
              <a:t>-- Schedule with cron: * * * * * SELECT log_slow_queries();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146. Performance Triage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3C3C3C"/>
                </a:solidFill>
                <a:latin typeface="Courier New"/>
              </a:defRPr>
            </a:pPr>
            <a:r>
              <a:t>1. Check EXPLAIN ANALYZE for the slow query</a:t>
            </a:r>
            <a:br/>
            <a:r>
              <a:t>2. Look for sequential scans on large tables</a:t>
            </a:r>
            <a:br/>
            <a:r>
              <a:t>3. Check pg_stat_user_indexes for unused indexes</a:t>
            </a:r>
            <a:br/>
            <a:r>
              <a:t>4. Check autovacuum status on large tables</a:t>
            </a:r>
            <a:br/>
            <a:r>
              <a:t>5. Review connection pooling configuration</a:t>
            </a:r>
            <a:br/>
            <a:r>
              <a:t>6. Check for long-running transactions (blocking locks)</a:t>
            </a:r>
            <a:br/>
            <a:r>
              <a:t>7. Review logs (log_min_duration_statement)</a:t>
            </a:r>
            <a:br/>
            <a:r>
              <a:t>8. Check for application N+1 query patterns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147. Appendix A - SQL Reference &amp;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All SQL commands covered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Data types reference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DDL/DML/DCL commands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Quick lookup tables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148. Appendix B - Sample Data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Complete seed scripts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Realistic e-commerce data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Reusable seed functions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Data validation queries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149. Appendix C - Deployment &amp;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Production deployment checklist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Monitoring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Backup and recovery procedures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Kubernetes/container deployment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150. Appendix D - SQL Query Patterns &amp; Recipes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User management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Product catalog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Order management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Reporting and analytics patterns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151. Primer 1 - PostgreSQL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Database concepts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Data types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CRUD operations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Basic queries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152. Primer 2 - Database Design &amp;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Normalization (1NF, 2NF, 3NF)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Relationship types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Schema design principles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Anti-patterns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153. Primer 3 - Working with Neon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Neon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Connection types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Branching features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CLI and console tour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154. Primer 4 - SQL Optimization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EXPLAIN ANALYZE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Index types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Query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Monitoring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155. Primer 5 - Security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Authentication &amp; authorization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SQL injection prevention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Connection security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Audit logging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156. Course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Serverless PostgreSQL with Neon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Complete e-commerce backend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SQL fundamentals to production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Database branching workflows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Performance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✅ CI/CD integration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157. What's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Build your frontend (React, Next.js)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Add authentication (Neon Auth)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Implement caching (Redis)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Add payments (Stripe)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Deploy with confidence!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158.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Neon Documentation: neon.tech/docs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Course GitHub Repository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Community: Discord, GitHub Discussions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Further Learning: Blog, Webinars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**[END OF SLIDE DECK OUTLINE]**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