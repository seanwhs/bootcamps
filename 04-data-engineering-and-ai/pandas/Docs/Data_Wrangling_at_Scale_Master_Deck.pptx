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Calibri"/>
              </a:defRPr>
            </a:pPr>
            <a:r>
              <a:t>Data Wrangling at Scale:</a:t>
            </a:r>
            <a:br/>
            <a:r>
              <a:t>The Definitive Pandas Guide</a:t>
            </a:r>
          </a:p>
          <a:p>
            <a:pPr>
              <a:spcBef>
                <a:spcPts val="2400"/>
              </a:spcBef>
              <a:defRPr sz="2000">
                <a:solidFill>
                  <a:srgbClr val="505050"/>
                </a:solidFill>
                <a:latin typeface="Calibri"/>
              </a:defRPr>
            </a:pPr>
            <a:r>
              <a:t>A Master Course on Production Pipeline Architecture, Memory Optimization &amp; Performance Tuning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0.1 Course Architecture &amp; Learning Path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Structure of the Curriculum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Primer Series: Hardware physics, memory layouts, and relational modeling.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Core Phases: High-performance ingestion, vectorization, grouping, time-series, and scale.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Production Appendices: Testing, profiling, out-of-core processing, async streams, and sinks.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Focus: Building enterprise-ready, deterministic data pipelines in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0.2 Environment &amp; Tooling Baseline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Production 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Python 3.11+ Runtime Environment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Pandas 2.x with PyArrow Backend Integration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NumPy for Vectorized SIMD Operations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DuckDB for Zero-Copy SQL Analytics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Pytest &amp; Tracemalloc for Profiling and 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1.1 Primer A: Hardware Physics of Data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Latency Hierarchy in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L1/L2 Cache: ~1 nanosecond latency access.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System RAM (DDR4/5): ~100 nanoseconds latency access.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NVMe Storage: ~10-100 microseconds latency access.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Network / Cloud Blob: ~10-100+ milliseconds latency access.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Principle: Pipeline performance is bound by memory movement, not CPU clock speed.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1.2 Primer A: Row vs. Columnar Layouts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Storage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Row-Oriented (CSV, JSON, RDBMS): Stores records contiguously.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Optimal for OLTP: Rapid row insertion and transactional updates.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Column-Oriented (Parquet, Arrow): Stores attributes contiguously.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Optimal for OLAP: Projection pruning skips unneeded columns entirely.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1.3 Primer A: Vectorization vs. Iteration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Bypassing the Python 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Python Loops (.iterrows, .apply): Incurs dynamic typing and object boxing overhead per row.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Vectorized C-Level Operations: Pushes array execution directly to compiled C/Fortran routines.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SIMD Execution: Single Instruction, Multiple Data operates across continuous memory blocks.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Performance Delta: Vectorized operations execute 100x - 300x faster than loops.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1.4 Primer A: The Modern Data Ecosystem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Tooling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Single-Node Wrangling: Pandas for feature engineering and EDA within RAM limits.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In-Process OLAP: DuckDB for rapid SQL queries directly over Pandas DataFrames.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Out-of-Core Processing: Polars and Dask for multi-threaded and distributed scale.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Distributed Clusters: PySpark for multi-terabyte dataset processing across 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1.5 Primer B: Memory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Pointers vs. Contiguous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Python Objects (object dtype): Array of memory addresses pointing to scattered RAM heap objects.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High Cache Miss Rate: Pointer chasing degrades CPU cache utilization.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Contiguous Primitive Arrays: Primitive values stored back-to-back in continuous memory.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Optimal Cache Prefetching: CPU sweeps through sequential memory with zero pointer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1.6 Primer B: Python Objects vs. C Primitives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Memory Footprint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Standard Python Float Box: ~24 bytes of overhead per number.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Contiguous C float64: Exactly 8 bytes per number.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Unoptimized DataFrame: Inflated memory footprint leading to premature Out-Of-Memory errors.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Optimized DataFrame: Downcasted primitive arrays reduce memory by up to 90%.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1.7 Primer B: Type Systems Comparison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NumPy vs. PyArrow vs. Extension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Legacy Pandas (NumPy): Forces integer columns with NaN values to convert to float64.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PyArrow Engine: Native columnar representation across Python, Rust, and C++.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Nullable Extension Dtypes: Capitalized types (Int64, boolean) preserve integers alongside missing values.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Zero-Copy Sharing: Inter-process memory sharing without serialization penalties.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1.8 Primer B: Storage Formats Matrix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File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CSV: Plaintext, row-based, slow parsing, zero schema enforcement.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JSON: Verbose, hierarchical, high CPU overhead during ingestion.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Parquet: Binary, columnar, compressed, snappy schema validation.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Arrow IPC / Feather: In-memory layout on disk, zero-copy deserialization.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1.9 Primer C: Relational Data Modeling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OLTP vs. OLAP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Normalized Models (3NF): Highly split tables to eliminate redundancy and maintain write integrity.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Denormalized Models (Star Schema): Fact tables surrounded by dimension tables.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Fact Tables: Quantitative event measurements (e.g., order revenue, quantities).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Dimension Tables: Descriptive context attributes (e.g., customer details, product categories).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1.10 Primer C: The Medallion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Data Quality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Bronze Tier (Raw): Immutable ingestion of source events with strict schema verification.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Silver Tier (Conformed): Cleaned, deduplicated, type-cast, and joined transactional tables.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Gold Tier (Aggregated): Business-level summarizations, pivot tables, and feature matrices.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Lineage Traceability: Clear flow from raw payload to executive dashboards.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1.11 Primer C: Pipeline Contracts &amp; Validation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Defensive Pipeline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Schema Contracts: Enforce explicit column names, dtypes, and non-null guarantees at boundary limits.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Boundary Validation: Verify row counts and integrity before executing downstream stages.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Fail-Fast Philosophy: Halt pipeline execution immediately upon detecting schema drift.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Automated Auditing: Log memory deltas and record validation counts at each pipeline tier.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2.1 Phase 1: High-Performance Ingestion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Multi-Source Extraction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Ingestion Goal: Streamline ingestion from CSV, Parquet, JSON, and Excel sources.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PyArrow Integration: Accelerate file parsing speed using engine='pyarrow'.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Explicit Type Definitions: Enforce schema at load time to prevent dynamic type inference bloat.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Memory Verification: Audit initial baseline memory footprints immediately upon ingestion.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2.2 Phase 1: Ingestion Engine Implementation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PyArrow Ingestion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import pandas as pd</a:t>
            </a:r>
            <a:br/>
            <a:br/>
            <a:r>
              <a:t>def load_orders(file_path: str) -&gt; pd.DataFrame:</a:t>
            </a:r>
            <a:br/>
            <a:r>
              <a:t>    schema = {</a:t>
            </a:r>
            <a:br/>
            <a:r>
              <a:t>        'order_id': 'int64[pyarrow]',</a:t>
            </a:r>
            <a:br/>
            <a:r>
              <a:t>        'quantity': 'int16[pyarrow]',</a:t>
            </a:r>
            <a:br/>
            <a:r>
              <a:t>        'unit_price': 'float32[pyarrow]',</a:t>
            </a:r>
            <a:br/>
            <a:r>
              <a:t>        'payment_method': 'category',</a:t>
            </a:r>
            <a:br/>
            <a:r>
              <a:t>    }</a:t>
            </a:r>
            <a:br/>
            <a:r>
              <a:t>    return pd.read_csv(</a:t>
            </a:r>
            <a:br/>
            <a:r>
              <a:t>        file_path,</a:t>
            </a:r>
            <a:br/>
            <a:r>
              <a:t>        dtype=schema,</a:t>
            </a:r>
            <a:br/>
            <a:r>
              <a:t>        engine='pyarrow'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2.3 Phase 1: PyArrow Engine Advantages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Speed &amp; Memory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Parallelized Multi-Threaded Parsing: Reads file buffers across all available CPU cores.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Native String Handling: Eliminates Python object pointer wrappers for text columns.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Immediate Type Enforcement: Prevents dynamic type inference overhead during file load.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Zero-Copy Conversions: Smooth integration with PyArrow analytical engines.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2.4 Phase 1: Memory Auditing at Ingestion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Deep Memory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Standard .info() vs. Deep Auditing: Default memory reporting undercounts object pointers.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df.memory_usage(deep=True): Calculates true RAM allocation across all object headers.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Baseline Tracking: Record initial ingestion MBs to establish optimization benchmarks.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Automated Alerts: Flag incoming batches that exceed RAM safety thresholds.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2.5 Phase 1: Handling Malformed Records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Defensive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Corrupted Rows: Handle missing columns, unexpected delimiters, and bad encoding.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Quarantine Pattern: Redirect malformed records to error logs without breaking the batch.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Strict Type Coercion: Use pd.to_numeric(..., errors='coerce') to isolate corrupt strings.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Audit Logging: Record rejected row IDs for downstream system diagnostics.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2.6 Phase 1: Summary &amp; Best Practices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Ingestion Phase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Rule 1: Always declare explicit schemas for raw file reads.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Rule 2: Prefer Parquet over CSV for internal pipeline storage.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Rule 3: Use PyArrow engine backends to accelerate file I/O.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Rule 4: Deep audit memory footprints at the raw ingestion boundary.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3.1 Phase 2: Slicing, Cleaning &amp; Vectorization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Data Selection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Explicit Indexing: Avoid ambiguous df[col] indexing patterns in production code.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Label Indexing (.loc): Access rows and columns strictly by explicit index labels.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Position Indexing (.iloc): Access data strictly by integer positional coordinates.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Vectorized String Cleaning: Use .str accessor methods for fast C-level text operations.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3.2 Phase 2: Slicing Implementation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Explicit Selection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# Explicit Label Slicing (.loc)</a:t>
            </a:r>
            <a:br/>
            <a:r>
              <a:t>high_val = df.loc[</a:t>
            </a:r>
            <a:br/>
            <a:r>
              <a:t>    df['unit_price'] &gt; 100.0, </a:t>
            </a:r>
            <a:br/>
            <a:r>
              <a:t>    ['order_id', 'customer_id', 'unit_price']</a:t>
            </a:r>
            <a:br/>
            <a:r>
              <a:t>]</a:t>
            </a:r>
            <a:br/>
            <a:br/>
            <a:r>
              <a:t># Explicit Positional Slicing (.iloc)</a:t>
            </a:r>
            <a:br/>
            <a:r>
              <a:t>first_ten = df.iloc[0:10, 0:4]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3.3 Phase 2: Boolean Masking &amp; Complex Filtering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Bitwise Query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Bitwise Operators: Use &amp; (AND), | (OR), ~ (NOT) for vectorized boolean condition arrays.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Parentheses Requirement: Wrap individual boolean conditions in parentheses to preserve operator precedence.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Vectorized Masking: Pass boolean arrays directly into .loc[] for instant filtered views.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Query Optimization: Avoid chaining multiple separate filter calls when a single mask suffices.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3.4 Phase 2: Vectorized String Operations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The .str Accessor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String Whitespace Stripping: df['email'].str.strip() executes stripping across all elements simultaneously.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Pattern Extraction: df['code'].str.extract(r'([A-Z]+)') uses vectorized regex pattern matching.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Categorical Case Standardization: Convert text to uniform casing via df['city'].str.upper().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Avoid Python String Loops: Eliminates manual string parsing iterations over series elements.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3.5 Phase 2: Imputation &amp; Missing Value Handling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Data Cleaning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Null Identification: Locate missing attributes using .isna() and .notna() masks.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Targeted Imputation: Fill missing numeric metrics via df['price'].fillna(df['price'].median()).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Forward / Backward Fill: Use .ffill() or .bfill() for temporal event logs.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Drop Thresholds: Remove incomplete rows safely using .dropna(subset=['critical_col']).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3.6 Phase 2: Summary &amp; Cleaning Best Practices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Data Cleaning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Always use .loc[] for conditional column assignments.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Standardize all text attributes via vectorized .str methods upon ingestion.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Document and validate missing value imputation strategies.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Verify index alignment after applying filtering operations.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4.1 Phase 3: Groupings &amp; Pivots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Split-Apply-Combine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Split Phase: Divide DataFrame into distinct groups based on key columns.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Apply Phase: Compute summary metrics across each subset independently.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Combine Phase: Merge calculated group summaries into a single unified result matrix.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Named Aggregations: Assign explicit output column names directly inside .agg() calls.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4.2 Phase 3: Named Aggregation Implementation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Clean GroupBy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summary_df = df.groupby('category').agg(</a:t>
            </a:r>
            <a:br/>
            <a:r>
              <a:t>    total_orders=('order_id', 'count'),</a:t>
            </a:r>
            <a:br/>
            <a:r>
              <a:t>    total_revenue=('unit_price', 'sum'),</a:t>
            </a:r>
            <a:br/>
            <a:r>
              <a:t>    avg_price=('unit_price', 'mean')</a:t>
            </a:r>
            <a:br/>
            <a:r>
              <a:t>).reset_index()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4.3 Phase 3: Hierarchical Multi-Indexing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MultiLevel Index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MultiIndex Creation: Generated when grouping across multiple distinct columns.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Cross-Section Selection: Retrieve hierarchical slices using the .xs() accessor method.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Index Flattening: Convert multi-level index tuples into standard columns via .reset_index().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Axis Reordering: Swap index hierarchies efficiently using .swaplevel().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4.4 Phase 3: Pivoting &amp; Reshaping Matrices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Long to Wide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pivot_table(): Reshape tall transactional logs into wide summary matrices.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Multi-Dimension Aggregation: Specify index, columns, and aggfunc parameters.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Handling Missing Intersections: Fill empty pivot combinations using fill_value=0.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Margins Computation: Generate row and column totals automatically using margins=True.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4.5 Phase 3: Unpivoting &amp; Melting Tables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Wide to Long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pd.melt(): Transform wide report tables back into normalized long-format data.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Identifier Columns (id_vars): Columns preserved as primary key identifiers.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Value Columns (value_vars): Unpivoted metric columns collapsed into key-value pairs.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Optimal for Ingestion: Normalize wide Excel sheets for relational storage sinks.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4.6 Phase 3: Summary &amp; Reshaping Best Practices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Aggregation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Use explicit named aggregations inside .agg() to maintain clean schema names.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Flatten MultiIndex results before passing data to downstream consumers.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Use pivot_table() for summary matrix creation and melt() for table normalization.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Verify record counts pre- and post-grouping to guard against lost keys.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5.1 Phase 4: Relational Joins &amp; Time Series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Combining Datasets &amp; Temporal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Relational Merges: Combine tables using inner, left, right, and outer SQL-style joins.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Integrity Validation: Enforce join cardinalities using the validate parameter.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Datetime Conversion: Parse raw string timestamps into optimized datetime64[ns] objects.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Resampling &amp; Windows: Compute temporal aggregations and rolling averages across time horizons.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5.2 Phase 4: Relational Merge Implementation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Validated Left Join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merged_df = orders_df.merge(</a:t>
            </a:r>
            <a:br/>
            <a:r>
              <a:t>    products_df,</a:t>
            </a:r>
            <a:br/>
            <a:r>
              <a:t>    on='product_id',</a:t>
            </a:r>
            <a:br/>
            <a:r>
              <a:t>    how='left',</a:t>
            </a:r>
            <a:br/>
            <a:r>
              <a:t>    suffixes=('_order', '_catalog'),</a:t>
            </a:r>
            <a:br/>
            <a:r>
              <a:t>    validate='many_to_one'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5.3 Phase 4: Vertical Stacking with pd.concat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Combining Partitioned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Vertical Concatenation (axis=0): Stack identical partitioned tables on top of each other.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Index Resetting: Rebuild continuous index sequences using ignore_index=True.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Column Alignment: Align columns automatically across distinct partitioned files.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Horizontal Concatenation (axis=1): Align and join dataframes side-by-side along the index.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5.4 Phase 4: Temporal Component Extraction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The .dt Accessor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Datetime Conversions: pd.to_datetime() parses string timestamps into continuous epoch offsets.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Attribute Extraction: Extract .dt.year, .dt.month, .dt.day_name(), and .dt.hour features.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Business Day Filters: Filter weekend events using .dt.dayofweek &gt;= 5 boolean masks.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Floor &amp; Ceiling Rounding: Truncate timestamps to standard intervals via .dt.floor('D').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5.5 Phase 4: Time-Series Resampling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Temporal Aggregation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Datetime Index Requirement: Set time column as active index before calling .resample().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Resampling Frequency Codes: Resample by Daily ('D'), Weekly ('W'), or Monthly ('ME') intervals.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Time-Based Grouping: Aggregate metric columns across structured time buckets.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Downsampling vs Upsampling: Aggregate high-frequency data or interpolate missing time gaps.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5.6 Phase 4: Moving Windows &amp; Rolling Analytics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Rolling &amp; Expanding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# 7-Day Simple Moving Average (SMA)</a:t>
            </a:r>
            <a:br/>
            <a:r>
              <a:t>daily_df['revenue_7d_sma'] = (</a:t>
            </a:r>
            <a:br/>
            <a:r>
              <a:t>    daily_df['daily_revenue']</a:t>
            </a:r>
            <a:br/>
            <a:r>
              <a:t>    .rolling(window=7, min_periods=1)</a:t>
            </a:r>
            <a:br/>
            <a:r>
              <a:t>    .mean()</a:t>
            </a:r>
            <a:br/>
            <a:r>
              <a:t>)</a:t>
            </a:r>
            <a:br/>
            <a:br/>
            <a:r>
              <a:t># YTD Cumulative Sum</a:t>
            </a:r>
            <a:br/>
            <a:r>
              <a:t>daily_df['ytd_revenue'] = (</a:t>
            </a:r>
            <a:br/>
            <a:r>
              <a:t>    daily_df['daily_revenue'].expanding().sum()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5.7 Phase 4: Period Shifting &amp; Growth Deltas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Lagging Indicators via .shift()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Value Lagging (.shift(1)): Offset column values downward to compare current vs prior records.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Period Growth Calculation: Compute Day-over-Day (DoD) growth percentages directly.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Percentage Change (.pct_change()): Calculate relative growth rates across time series instantly.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Lead Shifting (.shift(-1)): Offset values upward for predictive boundary validation.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6.1 Phase 5: High-Performance Pandas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Memory &amp; Speed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Categorical Type Encoding: Convert low-cardinality string columns to category dtypes.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Numeric Downcasting: Compress oversized int64 and float64 types to smaller bit-widths.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Vectorized Logic: Replace slow row-wise .apply() loops with vectorized NumPy arrays.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DuckDB SQL Engine: Execute zero-copy SQL queries against Pandas DataFrames at native speed.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6.2 Phase 5: Memory Optimization Implementation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Categorical &amp; Downcasting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# Downcast Numeric Columns</a:t>
            </a:r>
            <a:br/>
            <a:r>
              <a:t>df['quantity'] = pd.to_numeric(df['quantity'], downcast='integer')</a:t>
            </a:r>
            <a:br/>
            <a:r>
              <a:t>df['unit_price'] = pd.to_numeric(df['unit_price'], downcast='float')</a:t>
            </a:r>
            <a:br/>
            <a:br/>
            <a:r>
              <a:t># Convert Low-Cardinality Text to Category</a:t>
            </a:r>
            <a:br/>
            <a:r>
              <a:t>cats = ['customer_id', 'payment_method']</a:t>
            </a:r>
            <a:br/>
            <a:r>
              <a:t>df[cats] = df[cats].astype('category')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6.3 Phase 5: Eliminating .apply() Loops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Vectorized Conditional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The Apply Trap: df.apply(axis=1) iterates line-by-line in Python, introducing massive overhead.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Vectorized Replacement (np.select): Compute complex multi-condition rules simultaneously.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Vectorized Replacement (np.where): Binary if-else condition evaluations executed in C.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Benchmark Delta: Vectorization yields 100x to 300x faster execution over .apply().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6.4 Phase 5: Vectorized Conditional Logic Code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Replacing Apply with numpy.select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import numpy as np</a:t>
            </a:r>
            <a:br/>
            <a:br/>
            <a:r>
              <a:t>conditions = [</a:t>
            </a:r>
            <a:br/>
            <a:r>
              <a:t>    df['payment_method'] == 'Credit Card',</a:t>
            </a:r>
            <a:br/>
            <a:r>
              <a:t>    df['payment_method'] == 'Crypto'</a:t>
            </a:r>
            <a:br/>
            <a:r>
              <a:t>]</a:t>
            </a:r>
            <a:br/>
            <a:r>
              <a:t>choices = [</a:t>
            </a:r>
            <a:br/>
            <a:r>
              <a:t>    df['base_price'] * 0.95,</a:t>
            </a:r>
            <a:br/>
            <a:r>
              <a:t>    df['base_price'] * 0.90</a:t>
            </a:r>
            <a:br/>
            <a:r>
              <a:t>]</a:t>
            </a:r>
            <a:br/>
            <a:br/>
            <a:r>
              <a:t>df['final_price'] = np.select(</a:t>
            </a:r>
            <a:br/>
            <a:r>
              <a:t>    conditions, choices, default=df['base_price']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6.5 Phase 5: Safe View &amp; Copy Handling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Resolving SettingWithCopyWarning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Understanding Chained Assignment: Modifying chained slices (df[df['a']&gt;1]['b'] = 0) causes warnings.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View vs. Copy Ambiguity: Pandas cannot guarantee whether a chained slice is a view or a separate copy.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Safe Resolution: Use explicit .loc[mask, col] = value for direct, non-ambiguous mutation.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Explicit Copying: Call .copy() explicitly when intentionally isolating a standalone subset.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6.6 Phase 5: Zero-Copy DuckDB SQL Integration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Embedded OLAP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import duckdb</a:t>
            </a:r>
            <a:br/>
            <a:br/>
            <a:r>
              <a:t>query = '''</a:t>
            </a:r>
            <a:br/>
            <a:r>
              <a:t>    SELECT </a:t>
            </a:r>
            <a:br/>
            <a:r>
              <a:t>        p.category,</a:t>
            </a:r>
            <a:br/>
            <a:r>
              <a:t>        SUM(o.quantity * o.unit_price) AS gross_revenue</a:t>
            </a:r>
            <a:br/>
            <a:r>
              <a:t>    FROM orders_df AS o</a:t>
            </a:r>
            <a:br/>
            <a:r>
              <a:t>    JOIN products_df AS p ON o.product_id = p.product_id</a:t>
            </a:r>
            <a:br/>
            <a:r>
              <a:t>    GROUP BY p.category</a:t>
            </a:r>
            <a:br/>
            <a:r>
              <a:t>    ORDER BY gross_revenue DESC</a:t>
            </a:r>
            <a:br/>
            <a:r>
              <a:t>'''</a:t>
            </a:r>
            <a:br/>
            <a:r>
              <a:t>result_df = duckdb.query(query).df()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6.7 Phase 5: Optimization Benchmark Summary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Performance Gains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Memory Compression: Categorical encoding yields up to 90% footprint reduction.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Vectorization Speedup: np.select replaces .apply() for a 200x+ runtime acceleration.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Ingestion Speedup: PyArrow engine parses raw files 3x-5x faster than default C engines.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Query Acceleration: DuckDB joins large tables in RAM with zero-copy memory overhead.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7.1 Appendix A: Custom Pandas Accessors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Extending the DataFrame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@pd.api.extensions.register_dataframe_accessor('ecommerce')</a:t>
            </a:r>
            <a:br/>
            <a:r>
              <a:t>class ECommerceAccessor:</a:t>
            </a:r>
            <a:br/>
            <a:r>
              <a:t>    def __init__(self, pandas_obj):</a:t>
            </a:r>
            <a:br/>
            <a:r>
              <a:t>        self._obj = pandas_obj</a:t>
            </a:r>
            <a:br/>
            <a:br/>
            <a:r>
              <a:t>    def calculate_net_revenue(self, tax_rate=0.08):</a:t>
            </a:r>
            <a:br/>
            <a:r>
              <a:t>        gross = self._obj['quantity'] * self._obj['unit_price']</a:t>
            </a:r>
            <a:br/>
            <a:r>
              <a:t>        return gross * (1.0 - tax_rate)</a:t>
            </a:r>
            <a:br/>
            <a:br/>
            <a:r>
              <a:t># Usage: df.ecommerce.calculate_net_revenue()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7.2 Appendix A: Nullable Extension Dtypes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Int64 &amp; boolean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The Integer NaN Problem: Standard integer series convert to float64 when NaN is present.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Modern Extension Types: Capitalized types (Int64, Int32, boolean) support missing values natively.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Precision Preservation: Prevents precision loss when handling large integer IDs with nulls.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PyArrow Integration: Directly maps to native Arrow array missingness masks.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7.3 Appendix B: Tracing Memory Leaks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Memory Diagnostics with tracemalloc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Line-by-Line Profiling: Track exact script line numbers driving memory allocation spikes.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Memory Snapshots: Compare pre- and post-transformation memory states to identify leaks.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Object Bloat Identification: Isolate temporary string concatenations and intermediate copies.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Continuous Diagnostic Auditing: Embed automated tracemalloc hooks inside production DAGs.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7.4 Appendix B: CPU Performance Profiling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Bottleneck Analysis via cProfile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Function Call Statistics: Profile execution durations and call frequencies across pipeline stages.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Identifying Hotspots: Isolate slow helper routines and expensive third-party library calls.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Cumulative Time Sorting: Sort function profiles by cumtime to focus optimization efforts.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Targeted Refactoring: Replace identified slow functions with vectorized NumPy equivalents.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7.5 Appendix C: Chunked File Iteration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Processing Files Larger Than 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total_revenue = 0.0</a:t>
            </a:r>
            <a:br/>
            <a:br/>
            <a:r>
              <a:t>for chunk in pd.read_csv('massive_orders.csv', chunksize=20_000):</a:t>
            </a:r>
            <a:br/>
            <a:r>
              <a:t>    # Process chunk in safe RAM allocations</a:t>
            </a:r>
            <a:br/>
            <a:r>
              <a:t>    chunk_rev = (chunk['quantity'] * chunk['unit_price']).sum()</a:t>
            </a:r>
            <a:br/>
            <a:r>
              <a:t>    total_revenue += chunk_rev</a:t>
            </a:r>
            <a:br/>
            <a:br/>
            <a:r>
              <a:t>print(f'Total Revenue: {total_revenue}')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7.6 Appendix C: Distributed Scaling with Dask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Multi-Core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Lazy Task Graphs: Dask builds execution plans lazily without loading data into memory upfront.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Parallel DataFrame Partitioning: Splitted DataFrames execute across available CPU cores.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Familiar API: Mimics standard Pandas syntax for groupby, filtering, and joins.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Triggering Computation: Call .compute() to trigger multi-core task graph execution.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7.7 Appendix D: Unit Testing Data Pipelines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Automated Testing with pytest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import pytest</a:t>
            </a:r>
            <a:br/>
            <a:r>
              <a:t>import pandas as pd</a:t>
            </a:r>
            <a:br/>
            <a:br/>
            <a:r>
              <a:t>def test_net_revenue_calculation():</a:t>
            </a:r>
            <a:br/>
            <a:r>
              <a:t>    df = pd.DataFrame({</a:t>
            </a:r>
            <a:br/>
            <a:r>
              <a:t>        'quantity': [2, 5],</a:t>
            </a:r>
            <a:br/>
            <a:r>
              <a:t>        'unit_price': [100.0, 50.0]</a:t>
            </a:r>
            <a:br/>
            <a:r>
              <a:t>    })</a:t>
            </a:r>
            <a:br/>
            <a:r>
              <a:t>    result = df['quantity'] * df['unit_price'] * 0.90</a:t>
            </a:r>
            <a:br/>
            <a:r>
              <a:t>    assert result.iloc[0] == pytest.approx(180.0)</a:t>
            </a:r>
            <a:br/>
            <a:r>
              <a:t>    assert result.iloc[1] == pytest.approx(225.0)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7.8 Appendix D: Pipeline DAG Orchestration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Production Orchestration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Stage Isolation: Encapsulate pipeline tasks into explicit, independent execution stages.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Decorator Logging: Use Python logging decorators to audit stage durations and record counts.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Robust Error Propagation: Catch and log stage exceptions cleanly to trigger pipeline fail-safes.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Production Execution: Wrap pipeline DAGs for execution in Airflow, Prefect, or Dagster.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7.9 Appendix E: Asynchronous Stream Ingestion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Event-Driven Ingestion with asyncio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Non-Blocking I/O: Fetch incoming network event batches concurrently without blocking CPU loops.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Concurrent Queue Processing: Stream and process payloads concurrently using asyncio.gather().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High Throughput: Ingest multiple streaming event batches simultaneously.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Micro-Batching: Concatenate streaming payloads into micro-batch DataFrames for rapid processing.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7.10 Appendix F: Relational Database Sinks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High-Throughput Inserts via to_sql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425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Consolas"/>
              </a:defRPr>
            </a:pPr>
            <a:r>
              <a:t>from sqlalchemy import create_engine</a:t>
            </a:r>
            <a:br/>
            <a:br/>
            <a:r>
              <a:t>engine = create_engine('sqlite:///warehouse.db')</a:t>
            </a:r>
            <a:br/>
            <a:br/>
            <a:r>
              <a:t>df.to_sql(</a:t>
            </a:r>
            <a:br/>
            <a:r>
              <a:t>    name='fact_orders',</a:t>
            </a:r>
            <a:br/>
            <a:r>
              <a:t>    con=engine,</a:t>
            </a:r>
            <a:br/>
            <a:r>
              <a:t>    if_exists='replace',</a:t>
            </a:r>
            <a:br/>
            <a:r>
              <a:t>    index=False,</a:t>
            </a:r>
            <a:br/>
            <a:r>
              <a:t>    chunksize=2_000,</a:t>
            </a:r>
            <a:br/>
            <a:r>
              <a:t>    method='multi'  # Multi-row INSERT optimization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7.11 Appendix F: Partitioned Parquet Storage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Disk Storage Partitioning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Physical Partition Trees: Organizes directory structures by key columns (year=2026/month=07/).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Partition Pruning: Analytical engines read only relevant subdirectories, skipping unneeded files.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PyArrow Storage Engine: Export partitioned datasets using df.to_parquet(partition_cols=[...]).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Scalable Lakehouse Storage: Standard format for enterprise cloud data lakes.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Calibri"/>
              </a:defRPr>
            </a:pPr>
            <a:r>
              <a:t>7.12 Master Summary: Core Engineering Principles</a:t>
            </a:r>
          </a:p>
          <a:p>
            <a:pPr>
              <a:spcBef>
                <a:spcPts val="400"/>
              </a:spcBef>
              <a:defRPr sz="1500">
                <a:solidFill>
                  <a:srgbClr val="646464"/>
                </a:solidFill>
                <a:latin typeface="Calibri"/>
              </a:defRPr>
            </a:pPr>
            <a:r>
              <a:t>Final Course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Rule 1: Always enforce strict schemas upon raw file ingestion.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Rule 2: Never use row-wise Python loops (.apply) when vectorized alternatives exist.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Rule 3: Use categorical encoding and PyArrow types to minimize memory overhead.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• Rule 4: Audit pipeline memory footprints, profile execution bottlenecks, and unit test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