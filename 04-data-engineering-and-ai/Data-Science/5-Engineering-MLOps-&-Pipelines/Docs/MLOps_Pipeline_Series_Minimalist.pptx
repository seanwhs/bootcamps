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 Light"/>
              </a:defRPr>
            </a:pPr>
            <a:r>
              <a:t>SECTION 1: INTRODUCTION &amp; FOUNDATIONS (Slides 1-40)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1: Course Overview (Slides 1-15)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1: Title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**Title:** MLOps Pipeline Engineering: From Development to Production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**Subtitle:** A Comprehensive Guide to Building Production-Grade ML Systems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**Presenter:** [Your Name]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**Date:** [Date]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2: Course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Build end-to-end production ML pipelines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Master DVC for data versioning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Implement MLflow for experiment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Orchestrate with Dagster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Deploy and monitor in production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Understand MLOps best practices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3: What is MLOps?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**Definition:** ML + DevOps + Data Engineering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**Goal:** Bridge the gap between research and production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**Key Components:**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versioning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Experiment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Pipeline orchestration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deployment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Monitoring and alerting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4: The MLOps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Research → Development → Staging → Production → Monitoring</a:t>
            </a:r>
            <a:br/>
            <a:r>
              <a:t>    ↓           ↓            ↓          ↓           ↓</a:t>
            </a:r>
            <a:br/>
            <a:r>
              <a:t>  Jupyter    Pipelines    Validation  Deployment  Alerts</a:t>
            </a:r>
            <a:br/>
            <a:r>
              <a:t>  Notebooks  (Dagster)    (Testing)   (CI/CD)    (Dashboards)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5: Why MLOps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**80%** of ML projects never reach production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**60%** of models degrade within 6 months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**70%** of data science time spent on data preparation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**Goal:** Reduce time to production from months to days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6: The Three Pillars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 Versioning** (DVC)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Track datasets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Version features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Manage models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**Experiment Tracking** (MLflow)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Log parameters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Track metrics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Compare runs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**Pipeline Orchestration** (Dagster)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Automate workflows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Handle dependencies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Error recovery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7: Course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**Technical:**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Python (functions, classes, modules)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Git (commits, branches, remotes)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Command line (navigating, running scripts)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Basic ML concepts (training, validation)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**Tools to Install:**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Python 3.9+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Git 2.30+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DVC 2.0+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MLflow 2.0+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Dagster 1.0+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8: Course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**Phase 1:** Data &amp; Artifact Versioning (DVC)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**Phase 2:** Experiment Tracking (MLflow)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**Phase 3:** Pipeline Orchestration (Dagster)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**Phase 4:** Full Integration &amp; Deployment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**Primers:** Python, DVC, MLflow, Dagster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**Appendices:** API Reference, Commands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9: What You'll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**Complete MLOps System:**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Versioned data pipeline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Experiment tracking system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Orchestrated workflow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Production deployment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Monitoring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10: The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**Predictive Maintenance**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**Goal:** Detect equipment anomalies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**Data:** Sensor readings (temperature, pressure, vibration)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**Models:** Classification (Normal/Anomaly)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**Deployment:** REST API + Batch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11: Why Predictive Maintenance?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Real-world problem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Time-series data (complexity)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Multiple data sources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Clear business value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Production requirements (reliability)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12: The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  <a:br/>
            <a:r>
              <a:t>│           END-TO-END MLOPS ARCHITECTURE            │</a:t>
            </a:r>
            <a:br/>
            <a:r>
              <a:t>├─────────────────────────────────────────────────────┤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│</a:t>
            </a:r>
            <a:br/>
            <a:r>
              <a:t>│  [Data Source] → DVC → MLflow → Dagster → Deploy   │</a:t>
            </a:r>
            <a:br/>
            <a:r>
              <a:t>│       ↓           ↓        ↓          ↓        ↓   │</a:t>
            </a:r>
            <a:br/>
            <a:r>
              <a:t>│    Raw Data    Version  Track    Orchestrate  Serve │</a:t>
            </a:r>
            <a:br/>
            <a:r>
              <a:t>│                                                     │</a:t>
            </a:r>
            <a:br/>
            <a:r>
              <a:t>│  Monitoring ← Dashboard ← Alerts ← Logging         │</a:t>
            </a:r>
            <a:br/>
            <a:r>
              <a:t>│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13: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**Phase 1:** DVC (4 parts) - 2 weeks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**Phase 2:** MLflow (4 parts) - 2 weeks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**Phase 3:** Dagster (4 parts) - 2 weeks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**Phase 4:** Integration (3 parts) - 1.5 weeks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**Total:** ~7.5 weeks (with practice)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14: Learning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**Learn by Doing**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Copy-paste-ready code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Verification steps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Real-world examples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Troubleshooting guides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**Progressive Complexity**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Start simple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Add features incrementally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Build to production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15: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Run full pipeline automatically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Track all experiments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Version all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Deploy model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Monitor performance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Handle failures gracefully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2: Core Concepts (Slides 16-40)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16: What is Data Versioning?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**Definition:** Tracking changes to data over time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**Why:** Reproducibility, rollback, collaboration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**Challenge:** Large files (&gt;Git limits)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17: Git vs. DVC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Git                          DVC</a:t>
            </a:r>
            <a:br/>
            <a:r>
              <a:t>───                          ───</a:t>
            </a:r>
            <a:br/>
            <a:r>
              <a:t>Tracks code                  Tracks data</a:t>
            </a:r>
            <a:br/>
            <a:r>
              <a:t>Lightweight files            Large files</a:t>
            </a:r>
            <a:br/>
            <a:r>
              <a:t>Text-based                   Binary files</a:t>
            </a:r>
            <a:br/>
            <a:r>
              <a:t>Fast commits                 Efficient storage</a:t>
            </a:r>
            <a:br/>
            <a:r>
              <a:t>Branching/merging            Versioning</a:t>
            </a:r>
            <a:br/>
            <a:r>
              <a:t>Remote hosting               Cloud storage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18: DVC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DVC Architecture    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Git Repository ←→ .dvc Files      │</a:t>
            </a:r>
            <a:br/>
            <a:r>
              <a:t>│       ↓                  ↓          │</a:t>
            </a:r>
            <a:br/>
            <a:r>
              <a:t>│  DVC Cache ←→ Remote Storage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19: Experiment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**Definition:** Logging ML experiments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**What to Track:**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Parameters (hyperparameters)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Metrics (accuracy, F1)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Artifacts (models, plots)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Code version (Git hash)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Environment (dependencies)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20: MLflow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MLflow Components   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Tracking Server (UI)               │</a:t>
            </a:r>
            <a:br/>
            <a:r>
              <a:t>│  ↓                                  │</a:t>
            </a:r>
            <a:br/>
            <a:r>
              <a:t>│  Experiment → Runs → Metrics        │</a:t>
            </a:r>
            <a:br/>
            <a:r>
              <a:t>│  ↓                                  │</a:t>
            </a:r>
            <a:br/>
            <a:r>
              <a:t>│  Model Registry                     │</a:t>
            </a:r>
            <a:br/>
            <a:r>
              <a:t>│  ↓                                  │</a:t>
            </a:r>
            <a:br/>
            <a:r>
              <a:t>│  Staging → Production → Archived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21: Pipeline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**Definition:** Automating workflow execution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**Why:** Repeatability, error handling, monitoring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**Concepts:**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DAG (Directed Acyclic Graph)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Tasks/Operations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Dependencies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Schedules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Sensors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22: Dagster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Dagster Architecture  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User Code (Assets/Ops/Jobs)       │</a:t>
            </a:r>
            <a:br/>
            <a:r>
              <a:t>│  ↓                                  │</a:t>
            </a:r>
            <a:br/>
            <a:r>
              <a:t>│  Execution Engine                   │</a:t>
            </a:r>
            <a:br/>
            <a:r>
              <a:t>│  ↓                                  │</a:t>
            </a:r>
            <a:br/>
            <a:r>
              <a:t>│  Storage Layer (PostgreSQL/S3)     │</a:t>
            </a:r>
            <a:br/>
            <a:r>
              <a:t>│  ↓                                  │</a:t>
            </a:r>
            <a:br/>
            <a:r>
              <a:t>│  UI / API                   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23: The MLOps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1. Data Ingestion → 2. Validation → 3. Feature Engineering</a:t>
            </a:r>
            <a:br/>
            <a:r>
              <a:t>        ↓                  ↓                  ↓</a:t>
            </a:r>
            <a:br/>
            <a:r>
              <a:t>4. Model Training → 5. Evaluation → 6. Registry</a:t>
            </a:r>
            <a:br/>
            <a:r>
              <a:t>        ↓                  ↓                  ↓</a:t>
            </a:r>
            <a:br/>
            <a:r>
              <a:t>7. Staging → 8. Production → 9. Monitoring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24: CI/CD for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**Continuous Integration:**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Code testing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validation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testing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**Continuous Deployment:**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Automated deployment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Blue-Green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Canary releases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**Continuous Monitoring:**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Performance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Drift detection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Alerting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25: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**Definition:** Ability to reproduce results exactly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**Requirements:**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version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Code version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Environment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Parameters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Random seeds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Hardware configuration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26: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**Dimensions:**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Completeness (no missing values)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Consistency (valid values)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Accuracy (correct values)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Timeliness (up-to-date)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Relevance (useful features)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27: Model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**Offline Metrics:**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Accuracy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Precision/Recall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F1 Score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ROC-AUC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MSE/RMSE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**Online Metrics:**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Latency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Throughput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Error rate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Business impact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28: The Cost of Poor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**Financial:**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Wasted compute ($100K+/year)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Failed deployments ($50K+ per incident)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Reputational damage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**Time:**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40% time spent on data prep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60% models never deployed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80% effort duplicated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29: MLOps Maturity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Level 0: No MLOps (Jupyter only)</a:t>
            </a:r>
            <a:br/>
            <a:r>
              <a:t>Level 1: Scripting (manual runs)</a:t>
            </a:r>
            <a:br/>
            <a:r>
              <a:t>Level 2: Automation (scheduled runs)</a:t>
            </a:r>
            <a:br/>
            <a:r>
              <a:t>Level 3: CI/CD (automated deployment)</a:t>
            </a:r>
            <a:br/>
            <a:r>
              <a:t>Level 4: Full MLOps (continuous everything)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30: Team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MLOps Team</a:t>
            </a:r>
            <a:br/>
            <a:r>
              <a:t>├── Data Engineer (DVC, data pipelines)</a:t>
            </a:r>
            <a:br/>
            <a:r>
              <a:t>├── ML Engineer (MLflow, model training)</a:t>
            </a:r>
            <a:br/>
            <a:r>
              <a:t>├── DevOps Engineer (Dagster, deployment)</a:t>
            </a:r>
            <a:br/>
            <a:r>
              <a:t>├── Data Scientist (Model development)</a:t>
            </a:r>
            <a:br/>
            <a:r>
              <a:t>└── Product Manager (Requirements, prioritization)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31: Tool Selection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**Evaluate:**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Team expertise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Infrastructure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Scalability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Integration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Community support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32: Why These Tools?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**DVC:** Best for data versioning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**MLflow:** Most complete experiment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**Dagster:** Modern orchestration (vs. Airflow)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**All:** Open source, active community, production-ready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33: 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Python 3.9+</a:t>
            </a:r>
            <a:br/>
            <a:r>
              <a:t>Virtual Environment</a:t>
            </a:r>
            <a:br/>
            <a:r>
              <a:t>DVC 2.0+</a:t>
            </a:r>
            <a:br/>
            <a:r>
              <a:t>MLflow 2.0+</a:t>
            </a:r>
            <a:br/>
            <a:r>
              <a:t>Dagster 1.0+</a:t>
            </a:r>
            <a:br/>
            <a:r>
              <a:t>Git 2.30+</a:t>
            </a:r>
            <a:br/>
            <a:r>
              <a:t>AWS CLI / GCloud SDK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34: Development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**IDE:** VS Code, PyCharm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**Extensions:**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Python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Docker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YAML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JSON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**Terminal:** Terminal, iTerm2, PowerShell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35: Version Control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main</a:t>
            </a:r>
            <a:br/>
            <a:r>
              <a:t>├── develop</a:t>
            </a:r>
            <a:br/>
            <a:r>
              <a:t>│   ├── feature/data-versioning</a:t>
            </a:r>
            <a:br/>
            <a:r>
              <a:t>│   ├── feature/experiment-tracking</a:t>
            </a:r>
            <a:br/>
            <a:r>
              <a:t>│   ├── feature/pipeline-orchestration</a:t>
            </a:r>
            <a:br/>
            <a:r>
              <a:t>│   └── feature/integration</a:t>
            </a:r>
            <a:br/>
            <a:r>
              <a:t>└── release/v1.0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36: Branch Naming Convention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`main` - Production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`develop` - Integration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`feature/*` - New features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`bugfix/*` - Bug fixes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`hotfix/*` - Emergency fixes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`release/*` - Release candidates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37: Commit Message 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&lt;type&gt;(&lt;scope&gt;): &lt;subject&gt;</a:t>
            </a:r>
            <a:br/>
            <a:br/>
            <a:r>
              <a:t>&lt;body&gt;</a:t>
            </a:r>
            <a:br/>
            <a:br/>
            <a:r>
              <a:t>&lt;footer&gt;</a:t>
            </a:r>
            <a:br/>
            <a:br/>
            <a:r>
              <a:t>Types: feat, fix, docs, style, refactor, test, chore</a:t>
            </a:r>
            <a:br/>
            <a:r>
              <a:t>Scope: dvc, mlflow, dagster, config, deployment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38: Code Review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Create PR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Run CI/CD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Team review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Address feedback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Merge to develop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Release to production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39: Documentation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**README.md:** Project overview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**CONTRIBUTING.md:** Contribution guidelines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**CHANGELOG.md:** Version history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**API docs:** Function/class documentation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**Tutorials:** How-to guides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**Runbooks:** Operational procedures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40: Recap: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MLOps: ML + DevOps + Data Engineering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Three pillars: DVC, MLflow, Dagster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Real-world use case: Predictive maintenance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Progressive learning approach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Production mindset from day one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 Light"/>
              </a:defRPr>
            </a:pPr>
            <a:r>
              <a:t>SECTION 2: DATA VERSIONING WITH DVC (Slides 41-100)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3: DVC Fundamentals (Slides 41-65)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41: DVC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**What is DVC?**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Version Control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Git for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Open source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Python-based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**Key Features:**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Version large files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Pipeline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Remote storage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reproducibility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42: Why DVC?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**Problems Solved:**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Large file storage in Git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reproducibility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Team collaboration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Pipeline automation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**Benefits:**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Git integration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Cloud storage support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Language agnostic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Free and open source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43: How DVC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1. dvc add file.csv</a:t>
            </a:r>
            <a:br/>
            <a:r>
              <a:t>   ↓</a:t>
            </a:r>
            <a:br/>
            <a:r>
              <a:t>2. File hashed (MD5)</a:t>
            </a:r>
            <a:br/>
            <a:r>
              <a:t>   ↓</a:t>
            </a:r>
            <a:br/>
            <a:r>
              <a:t>3. File stored in .dvc/cache</a:t>
            </a:r>
            <a:br/>
            <a:r>
              <a:t>   ↓</a:t>
            </a:r>
            <a:br/>
            <a:r>
              <a:t>4. Pointer file (.dvc) in Git</a:t>
            </a:r>
            <a:br/>
            <a:r>
              <a:t>   ↓</a:t>
            </a:r>
            <a:br/>
            <a:r>
              <a:t>5. Git tracks pointer, not data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44: DVC vs. Git LFS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DVC                          Git LFS</a:t>
            </a:r>
            <a:br/>
            <a:r>
              <a:t>───                          ──────</a:t>
            </a:r>
            <a:br/>
            <a:r>
              <a:t>Data versioning              Large file storage</a:t>
            </a:r>
            <a:br/>
            <a:r>
              <a:t>Pipeline management          Basic file handling</a:t>
            </a:r>
            <a:br/>
            <a:r>
              <a:t>Remote storage               Git LFS servers</a:t>
            </a:r>
            <a:br/>
            <a:r>
              <a:t>Free                         Paid (over limit)</a:t>
            </a:r>
            <a:br/>
            <a:r>
              <a:t>Open source                  Proprietary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45: DVC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Install via pip</a:t>
            </a:r>
            <a:br/>
            <a:r>
              <a:t>pip install dvc</a:t>
            </a:r>
            <a:br/>
            <a:br/>
            <a:r>
              <a:t># Install with cloud support</a:t>
            </a:r>
            <a:br/>
            <a:r>
              <a:t>pip install dvc-s3      # AWS</a:t>
            </a:r>
            <a:br/>
            <a:r>
              <a:t>pip install dvc-gs      # GCS</a:t>
            </a:r>
            <a:br/>
            <a:r>
              <a:t>pip install dvc-azure   # Azure</a:t>
            </a:r>
            <a:br/>
            <a:br/>
            <a:r>
              <a:t># Verify installation</a:t>
            </a:r>
            <a:br/>
            <a:r>
              <a:t>dvc --version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46: DVC Initialization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Initialize DVC in existing Git repo</a:t>
            </a:r>
            <a:br/>
            <a:r>
              <a:t>dvc init</a:t>
            </a:r>
            <a:br/>
            <a:br/>
            <a:r>
              <a:t># Check files created</a:t>
            </a:r>
            <a:br/>
            <a:r>
              <a:t>ls -la .dvc/</a:t>
            </a:r>
            <a:br/>
            <a:r>
              <a:t># .dvc/config</a:t>
            </a:r>
            <a:br/>
            <a:r>
              <a:t># .dvcignore</a:t>
            </a:r>
            <a:br/>
            <a:br/>
            <a:r>
              <a:t># Verify</a:t>
            </a:r>
            <a:br/>
            <a:r>
              <a:t>dvc status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47: Tracking Data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Add a file</a:t>
            </a:r>
            <a:br/>
            <a:r>
              <a:t>dvc add data/raw/dataset.csv</a:t>
            </a:r>
            <a:br/>
            <a:br/>
            <a:r>
              <a:t># What happens:</a:t>
            </a:r>
            <a:br/>
            <a:r>
              <a:t># 1. dataset.csv → .dvc/cache/</a:t>
            </a:r>
            <a:br/>
            <a:r>
              <a:t># 2. dataset.csv.dvc created</a:t>
            </a:r>
            <a:br/>
            <a:r>
              <a:t># 3. dataset.csv becomes symlink to cache</a:t>
            </a:r>
            <a:br/>
            <a:br/>
            <a:r>
              <a:t># Commit to Git</a:t>
            </a:r>
            <a:br/>
            <a:r>
              <a:t>git add dataset.csv.dvc .gitignore</a:t>
            </a:r>
            <a:br/>
            <a:r>
              <a:t>git commit -m "Add dataset"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48: DVC File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dataset.csv.dvc</a:t>
            </a:r>
            <a:br/>
            <a:r>
              <a:t>md5: 8d4e5f6a7b8c9d0e1f2a3b4c5d6e7f8a</a:t>
            </a:r>
            <a:br/>
            <a:r>
              <a:t>outs:</a:t>
            </a:r>
            <a:br/>
            <a:r>
              <a:t>- md5: 1a2b3c4d5e6f7a8b9c0d1e2f3a4b5c6d</a:t>
            </a:r>
            <a:br/>
            <a:r>
              <a:t>  path: dataset.csv</a:t>
            </a:r>
            <a:br/>
            <a:r>
              <a:t>  size: 1024000</a:t>
            </a:r>
            <a:br/>
            <a:r>
              <a:t>  hash: md5</a:t>
            </a:r>
            <a:br/>
            <a:r>
              <a:t>  cache: true</a:t>
            </a:r>
            <a:br/>
            <a:r>
              <a:t>  metric: false</a:t>
            </a:r>
            <a:br/>
            <a:r>
              <a:t>  persist: false</a:t>
            </a:r>
            <a:br/>
            <a:r>
              <a:t>wdir: 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49: DVC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Check status</a:t>
            </a:r>
            <a:br/>
            <a:r>
              <a:t>dvc status</a:t>
            </a:r>
            <a:br/>
            <a:br/>
            <a:r>
              <a:t># Output meanings:</a:t>
            </a:r>
            <a:br/>
            <a:r>
              <a:t># "up to date" - Everything synchronized</a:t>
            </a:r>
            <a:br/>
            <a:r>
              <a:t># "changed" - File modified locally</a:t>
            </a:r>
            <a:br/>
            <a:r>
              <a:t># "deleted" - File removed</a:t>
            </a:r>
            <a:br/>
            <a:r>
              <a:t># "new" - New file</a:t>
            </a:r>
            <a:br/>
            <a:r>
              <a:t># "not pushed" - Not in remote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50: DVC Checkout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Restore data from cache</a:t>
            </a:r>
            <a:br/>
            <a:r>
              <a:t>dvc checkout</a:t>
            </a:r>
            <a:br/>
            <a:br/>
            <a:r>
              <a:t># Checkout specific file</a:t>
            </a:r>
            <a:br/>
            <a:r>
              <a:t>dvc checkout dataset.csv</a:t>
            </a:r>
            <a:br/>
            <a:br/>
            <a:r>
              <a:t># Checkout from specific version</a:t>
            </a:r>
            <a:br/>
            <a:r>
              <a:t>git checkout v1.0</a:t>
            </a:r>
            <a:br/>
            <a:r>
              <a:t>dvc checkout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51: DVC Push/Pull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Push data to remote</a:t>
            </a:r>
            <a:br/>
            <a:r>
              <a:t>dvc push</a:t>
            </a:r>
            <a:br/>
            <a:br/>
            <a:r>
              <a:t># Push specific file</a:t>
            </a:r>
            <a:br/>
            <a:r>
              <a:t>dvc push dataset.csv.dvc</a:t>
            </a:r>
            <a:br/>
            <a:br/>
            <a:r>
              <a:t># Pull data from remote</a:t>
            </a:r>
            <a:br/>
            <a:r>
              <a:t>dvc pull</a:t>
            </a:r>
            <a:br/>
            <a:br/>
            <a:r>
              <a:t># Pull specific file</a:t>
            </a:r>
            <a:br/>
            <a:r>
              <a:t>dvc pull dataset.csv.dvc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52: DVC Remote Storage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Add remote</a:t>
            </a:r>
            <a:br/>
            <a:r>
              <a:t>dvc remote add -d myremote s3://mybucket</a:t>
            </a:r>
            <a:br/>
            <a:br/>
            <a:r>
              <a:t># List remotes</a:t>
            </a:r>
            <a:br/>
            <a:r>
              <a:t>dvc remote list</a:t>
            </a:r>
            <a:br/>
            <a:br/>
            <a:r>
              <a:t># Remove remote</a:t>
            </a:r>
            <a:br/>
            <a:r>
              <a:t>dvc remote remove myremote</a:t>
            </a:r>
            <a:br/>
            <a:br/>
            <a:r>
              <a:t># Modify remote config</a:t>
            </a:r>
            <a:br/>
            <a:r>
              <a:t>dvc remote modify myremote region us-east-1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53: Remote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Local     : /path/to/storage</a:t>
            </a:r>
            <a:br/>
            <a:r>
              <a:t>AWS S3    : s3://bucket/path</a:t>
            </a:r>
            <a:br/>
            <a:r>
              <a:t>GCS       : gs://bucket/path</a:t>
            </a:r>
            <a:br/>
            <a:r>
              <a:t>Azure     : azure://container/path</a:t>
            </a:r>
            <a:br/>
            <a:r>
              <a:t>SSH       : ssh://user@host/path</a:t>
            </a:r>
            <a:br/>
            <a:r>
              <a:t>HTTP/HTTPS: https://example.com/path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54: Configuring S3 Remote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Setup AWS credentials</a:t>
            </a:r>
            <a:br/>
            <a:r>
              <a:t>aws configure</a:t>
            </a:r>
            <a:br/>
            <a:r>
              <a:t>export AWS_ACCESS_KEY_ID=...</a:t>
            </a:r>
            <a:br/>
            <a:r>
              <a:t>export AWS_SECRET_ACCESS_KEY=...</a:t>
            </a:r>
            <a:br/>
            <a:br/>
            <a:r>
              <a:t># Add S3 remote</a:t>
            </a:r>
            <a:br/>
            <a:r>
              <a:t>dvc remote add s3_remote s3://mybucket/dvc-storage</a:t>
            </a:r>
            <a:br/>
            <a:r>
              <a:t>dvc remote default s3_remote</a:t>
            </a:r>
            <a:br/>
            <a:br/>
            <a:r>
              <a:t># Configure region</a:t>
            </a:r>
            <a:br/>
            <a:r>
              <a:t>dvc remote modify s3_remote region us-east-1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55: GCS Remote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Setup GCS</a:t>
            </a:r>
            <a:br/>
            <a:r>
              <a:t>gcloud auth login</a:t>
            </a:r>
            <a:br/>
            <a:r>
              <a:t>export GOOGLE_APPLICATION_CREDENTIALS=key.json</a:t>
            </a:r>
            <a:br/>
            <a:br/>
            <a:r>
              <a:t># Add GCS remote</a:t>
            </a:r>
            <a:br/>
            <a:r>
              <a:t>dvc remote add gcs_remote gs://mybucket/dvc-storage</a:t>
            </a:r>
            <a:br/>
            <a:r>
              <a:t>dvc remote default gcs_remote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56: DVC Cache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View cache location</a:t>
            </a:r>
            <a:br/>
            <a:r>
              <a:t>dvc cache dir</a:t>
            </a:r>
            <a:br/>
            <a:br/>
            <a:r>
              <a:t># Clean cache</a:t>
            </a:r>
            <a:br/>
            <a:r>
              <a:t>dvc gc</a:t>
            </a:r>
            <a:br/>
            <a:br/>
            <a:r>
              <a:t># Force clean all</a:t>
            </a:r>
            <a:br/>
            <a:r>
              <a:t>dvc gc --force</a:t>
            </a:r>
            <a:br/>
            <a:br/>
            <a:r>
              <a:t># Check cache usage</a:t>
            </a:r>
            <a:br/>
            <a:r>
              <a:t>du -sh .dvc/cache/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57: DVC Tagging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Tag a version</a:t>
            </a:r>
            <a:br/>
            <a:r>
              <a:t>dvc tag data/raw/dataset.csv v1.0.0</a:t>
            </a:r>
            <a:br/>
            <a:br/>
            <a:r>
              <a:t># List tags</a:t>
            </a:r>
            <a:br/>
            <a:r>
              <a:t>dvc tag list</a:t>
            </a:r>
            <a:br/>
            <a:br/>
            <a:r>
              <a:t># Checkout tagged version</a:t>
            </a:r>
            <a:br/>
            <a:r>
              <a:t>dvc checkout data/raw/dataset.csv --tag v1.0.0</a:t>
            </a:r>
            <a:br/>
            <a:br/>
            <a:r>
              <a:t># Tag with message</a:t>
            </a:r>
            <a:br/>
            <a:r>
              <a:t>dvc tag data/raw/dataset.csv v1.0.0 --with-msg "Initial dataset"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58: Working with Multiple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Checkout specific version</a:t>
            </a:r>
            <a:br/>
            <a:r>
              <a:t>git checkout v1.0.0</a:t>
            </a:r>
            <a:br/>
            <a:r>
              <a:t>dvc checkout</a:t>
            </a:r>
            <a:br/>
            <a:br/>
            <a:r>
              <a:t># Compare versions</a:t>
            </a:r>
            <a:br/>
            <a:r>
              <a:t>dvc diff data/raw/dataset.csv.dvc v1.0.0 v2.0.0</a:t>
            </a:r>
            <a:br/>
            <a:br/>
            <a:r>
              <a:t># Show metrics across versions</a:t>
            </a:r>
            <a:br/>
            <a:r>
              <a:t>dvc metrics diff v1.0.0 v2.0.0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59: DVC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Define plot</a:t>
            </a:r>
            <a:br/>
            <a:r>
              <a:t>dvc plots show</a:t>
            </a:r>
            <a:br/>
            <a:br/>
            <a:r>
              <a:t># Create plot</a:t>
            </a:r>
            <a:br/>
            <a:r>
              <a:t>dvc plots show data/processed/features.csv</a:t>
            </a:r>
            <a:br/>
            <a:br/>
            <a:r>
              <a:t># Compare plots</a:t>
            </a:r>
            <a:br/>
            <a:r>
              <a:t>dvc plots diff v1.0.0 v2.0.0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60: DVC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Define metrics</a:t>
            </a:r>
            <a:br/>
            <a:r>
              <a:t>dvc metrics add metrics.json</a:t>
            </a:r>
            <a:br/>
            <a:br/>
            <a:r>
              <a:t># Show metrics</a:t>
            </a:r>
            <a:br/>
            <a:r>
              <a:t>dvc metrics show</a:t>
            </a:r>
            <a:br/>
            <a:br/>
            <a:r>
              <a:t># Compare metrics</a:t>
            </a:r>
            <a:br/>
            <a:r>
              <a:t>dvc metrics diff v1.0.0 v2.0.0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61: DVC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params.yaml</a:t>
            </a:r>
            <a:br/>
            <a:r>
              <a:t>data:</a:t>
            </a:r>
            <a:br/>
            <a:r>
              <a:t>  raw:</a:t>
            </a:r>
            <a:br/>
            <a:r>
              <a:t>    hours: 48</a:t>
            </a:r>
            <a:br/>
            <a:r>
              <a:t>    anomaly_rate: 0.05</a:t>
            </a:r>
            <a:br/>
            <a:r>
              <a:t>features:</a:t>
            </a:r>
            <a:br/>
            <a:r>
              <a:t>  windows: [5, 10, 30]</a:t>
            </a:r>
            <a:br/>
            <a:r>
              <a:t>model:</a:t>
            </a:r>
            <a:br/>
            <a:r>
              <a:t>  test_size: 0.2</a:t>
            </a:r>
            <a:br/>
            <a:r>
              <a:t>  random_state: 42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62: Using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Track parameters</a:t>
            </a:r>
            <a:br/>
            <a:r>
              <a:t>dvc params diff</a:t>
            </a:r>
            <a:br/>
            <a:br/>
            <a:r>
              <a:t># Reference in code</a:t>
            </a:r>
            <a:br/>
            <a:r>
              <a:t>import yaml</a:t>
            </a:r>
            <a:br/>
            <a:r>
              <a:t>with open('params.yaml') as f:</a:t>
            </a:r>
            <a:br/>
            <a:r>
              <a:t>    params = yaml.safe_load(f)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63: DVC Lock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dvc.lock</a:t>
            </a:r>
            <a:br/>
            <a:r>
              <a:t>schema: '2.0'</a:t>
            </a:r>
            <a:br/>
            <a:r>
              <a:t>stages:</a:t>
            </a:r>
            <a:br/>
            <a:r>
              <a:t>  generate_data:</a:t>
            </a:r>
            <a:br/>
            <a:r>
              <a:t>    cmd: python generate.py</a:t>
            </a:r>
            <a:br/>
            <a:r>
              <a:t>    deps:</a:t>
            </a:r>
            <a:br/>
            <a:r>
              <a:t>    - path: generate.py</a:t>
            </a:r>
            <a:br/>
            <a:r>
              <a:t>      md5: abc123...</a:t>
            </a:r>
            <a:br/>
            <a:r>
              <a:t>    outs:</a:t>
            </a:r>
            <a:br/>
            <a:r>
              <a:t>    - path: data/raw/data.csv</a:t>
            </a:r>
            <a:br/>
            <a:r>
              <a:t>      md5: def456...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64: DVC Pipeline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Show pipeline graph</a:t>
            </a:r>
            <a:br/>
            <a:r>
              <a:t>dvc dag</a:t>
            </a:r>
            <a:br/>
            <a:br/>
            <a:r>
              <a:t># Output:</a:t>
            </a:r>
            <a:br/>
            <a:r>
              <a:t># +----------------+      </a:t>
            </a:r>
            <a:br/>
            <a:r>
              <a:t># | generate_data  |      </a:t>
            </a:r>
            <a:br/>
            <a:r>
              <a:t># +----------------+      </a:t>
            </a:r>
            <a:br/>
            <a:r>
              <a:t>#         *            </a:t>
            </a:r>
            <a:br/>
            <a:r>
              <a:t>#         *            </a:t>
            </a:r>
            <a:br/>
            <a:r>
              <a:t># +----------------+      </a:t>
            </a:r>
            <a:br/>
            <a:r>
              <a:t># | process_data   |      </a:t>
            </a:r>
            <a:br/>
            <a:r>
              <a:t># +----------------+      </a:t>
            </a:r>
            <a:br/>
            <a:r>
              <a:t>#         *            </a:t>
            </a:r>
            <a:br/>
            <a:r>
              <a:t>#         *            </a:t>
            </a:r>
            <a:br/>
            <a:r>
              <a:t># +----------------+      </a:t>
            </a:r>
            <a:br/>
            <a:r>
              <a:t># | train_model    |      </a:t>
            </a:r>
            <a:br/>
            <a:r>
              <a:t># +----------------+     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65: DVC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Version raw data (immutable)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Track processed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meaningful tags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Push to remote regularly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Clean cache periodically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 data versions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parameters for config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Keep pipeline simple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4: Advanced DVC (Slides 66-85)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66: DVC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**What:** Reproducible data pipelines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**Why:** Automation, consistency,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**Components:**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Stages (processing steps)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Dependencies (inputs)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Outputs (artifacts)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Commands (execution)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67: Pipeline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dvc.yaml</a:t>
            </a:r>
            <a:br/>
            <a:r>
              <a:t>stages:</a:t>
            </a:r>
            <a:br/>
            <a:r>
              <a:t>  process:</a:t>
            </a:r>
            <a:br/>
            <a:r>
              <a:t>    cmd: python process.py data/raw/ output/processed/</a:t>
            </a:r>
            <a:br/>
            <a:r>
              <a:t>    deps:</a:t>
            </a:r>
            <a:br/>
            <a:r>
              <a:t>    - data/raw/</a:t>
            </a:r>
            <a:br/>
            <a:r>
              <a:t>    - process.py</a:t>
            </a:r>
            <a:br/>
            <a:r>
              <a:t>    outs:</a:t>
            </a:r>
            <a:br/>
            <a:r>
              <a:t>    - output/processed/</a:t>
            </a:r>
            <a:br/>
            <a:r>
              <a:t>    params:</a:t>
            </a:r>
            <a:br/>
            <a:r>
              <a:t>    - params.yaml#process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68: Running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Run pipeline</a:t>
            </a:r>
            <a:br/>
            <a:r>
              <a:t>dvc repro</a:t>
            </a:r>
            <a:br/>
            <a:br/>
            <a:r>
              <a:t># Run specific stage</a:t>
            </a:r>
            <a:br/>
            <a:r>
              <a:t>dvc repro process</a:t>
            </a:r>
            <a:br/>
            <a:br/>
            <a:r>
              <a:t># Force run</a:t>
            </a:r>
            <a:br/>
            <a:r>
              <a:t>dvc repro --force</a:t>
            </a:r>
            <a:br/>
            <a:br/>
            <a:r>
              <a:t># Dry run</a:t>
            </a:r>
            <a:br/>
            <a:r>
              <a:t>dvc repro --dry</a:t>
            </a:r>
            <a:br/>
            <a:br/>
            <a:r>
              <a:t># Single item</a:t>
            </a:r>
            <a:br/>
            <a:r>
              <a:t>dvc repro --single-item process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69: Pipeline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stages:</a:t>
            </a:r>
            <a:br/>
            <a:r>
              <a:t>  stage1:</a:t>
            </a:r>
            <a:br/>
            <a:r>
              <a:t>    cmd: python script1.py</a:t>
            </a:r>
            <a:br/>
            <a:r>
              <a:t>    deps:</a:t>
            </a:r>
            <a:br/>
            <a:r>
              <a:t>    - input.csv</a:t>
            </a:r>
            <a:br/>
            <a:r>
              <a:t>    - script1.py</a:t>
            </a:r>
            <a:br/>
            <a:r>
              <a:t>    outs:</a:t>
            </a:r>
            <a:br/>
            <a:r>
              <a:t>    - output1.csv</a:t>
            </a:r>
            <a:br/>
            <a:r>
              <a:t>  </a:t>
            </a:r>
            <a:br/>
            <a:r>
              <a:t>  stage2:</a:t>
            </a:r>
            <a:br/>
            <a:r>
              <a:t>    cmd: python script2.py</a:t>
            </a:r>
            <a:br/>
            <a:r>
              <a:t>    deps:</a:t>
            </a:r>
            <a:br/>
            <a:r>
              <a:t>    - output1.csv  # Depends on stage1</a:t>
            </a:r>
            <a:br/>
            <a:r>
              <a:t>    - script2.py</a:t>
            </a:r>
            <a:br/>
            <a:r>
              <a:t>    outs:</a:t>
            </a:r>
            <a:br/>
            <a:r>
              <a:t>    - final.csv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70: Conditional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DVC only runs changed stages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Detects changes via hashing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Excludes unchanged stages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Saves time and resources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71: External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stages:</a:t>
            </a:r>
            <a:br/>
            <a:r>
              <a:t>  download:</a:t>
            </a:r>
            <a:br/>
            <a:r>
              <a:t>    cmd: python download.py</a:t>
            </a:r>
            <a:br/>
            <a:r>
              <a:t>    deps:</a:t>
            </a:r>
            <a:br/>
            <a:r>
              <a:t>    - https://example.com/data.zip  # External URL</a:t>
            </a:r>
            <a:br/>
            <a:r>
              <a:t>    - download.py</a:t>
            </a:r>
            <a:br/>
            <a:r>
              <a:t>    outs:</a:t>
            </a:r>
            <a:br/>
            <a:r>
              <a:t>    - data/raw/data.csv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72: Pipelines with Multiple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stages:</a:t>
            </a:r>
            <a:br/>
            <a:r>
              <a:t>  split:</a:t>
            </a:r>
            <a:br/>
            <a:r>
              <a:t>    cmd: python split.py</a:t>
            </a:r>
            <a:br/>
            <a:r>
              <a:t>    deps:</a:t>
            </a:r>
            <a:br/>
            <a:r>
              <a:t>    - data.csv</a:t>
            </a:r>
            <a:br/>
            <a:r>
              <a:t>    outs:</a:t>
            </a:r>
            <a:br/>
            <a:r>
              <a:t>    - train.csv</a:t>
            </a:r>
            <a:br/>
            <a:r>
              <a:t>    - test.csv</a:t>
            </a:r>
            <a:br/>
            <a:r>
              <a:t>    - val.csv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73: Pipeline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params.yaml</a:t>
            </a:r>
            <a:br/>
            <a:r>
              <a:t>split:</a:t>
            </a:r>
            <a:br/>
            <a:r>
              <a:t>  test_size: 0.2</a:t>
            </a:r>
            <a:br/>
            <a:r>
              <a:t>  val_size: 0.1</a:t>
            </a:r>
            <a:br/>
            <a:r>
              <a:t>  random_state: 42</a:t>
            </a:r>
            <a:br/>
            <a:br/>
            <a:r>
              <a:t># dvc.yaml</a:t>
            </a:r>
            <a:br/>
            <a:r>
              <a:t>stages:</a:t>
            </a:r>
            <a:br/>
            <a:r>
              <a:t>  split:</a:t>
            </a:r>
            <a:br/>
            <a:r>
              <a:t>    cmd: python split.py --test ${split.test_size} --val ${split.val_size}</a:t>
            </a:r>
            <a:br/>
            <a:r>
              <a:t>    params:</a:t>
            </a:r>
            <a:br/>
            <a:r>
              <a:t>    - split.test_size</a:t>
            </a:r>
            <a:br/>
            <a:r>
              <a:t>    - split.val_size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74: Pipeline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stages:</a:t>
            </a:r>
            <a:br/>
            <a:r>
              <a:t>  evaluate:</a:t>
            </a:r>
            <a:br/>
            <a:r>
              <a:t>    cmd: python evaluate.py</a:t>
            </a:r>
            <a:br/>
            <a:r>
              <a:t>    deps:</a:t>
            </a:r>
            <a:br/>
            <a:r>
              <a:t>    - model.pkl</a:t>
            </a:r>
            <a:br/>
            <a:r>
              <a:t>    - test.csv</a:t>
            </a:r>
            <a:br/>
            <a:r>
              <a:t>    outs:</a:t>
            </a:r>
            <a:br/>
            <a:r>
              <a:t>    - metrics.json</a:t>
            </a:r>
            <a:br/>
            <a:r>
              <a:t>    metrics:</a:t>
            </a:r>
            <a:br/>
            <a:r>
              <a:t>    - metrics.json:</a:t>
            </a:r>
            <a:br/>
            <a:r>
              <a:t>        cache: false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75: Pipeline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stages:</a:t>
            </a:r>
            <a:br/>
            <a:r>
              <a:t>  analyze:</a:t>
            </a:r>
            <a:br/>
            <a:r>
              <a:t>    cmd: python analyze.py</a:t>
            </a:r>
            <a:br/>
            <a:r>
              <a:t>    outs:</a:t>
            </a:r>
            <a:br/>
            <a:r>
              <a:t>    - plots/</a:t>
            </a:r>
            <a:br/>
            <a:r>
              <a:t>    plots:</a:t>
            </a:r>
            <a:br/>
            <a:r>
              <a:t>    - plots/confusion_matrix.png</a:t>
            </a:r>
            <a:br/>
            <a:r>
              <a:t>    - plots/feature_importance.png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76: Custom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pipeline.py</a:t>
            </a:r>
            <a:br/>
            <a:r>
              <a:t>import dvc.api</a:t>
            </a:r>
            <a:br/>
            <a:br/>
            <a:r>
              <a:t>def run_pipeline():</a:t>
            </a:r>
            <a:br/>
            <a:r>
              <a:t>    # Run stages</a:t>
            </a:r>
            <a:br/>
            <a:r>
              <a:t>    dvc.repro('process')</a:t>
            </a:r>
            <a:br/>
            <a:r>
              <a:t>    dvc.repro('train')</a:t>
            </a:r>
            <a:br/>
            <a:r>
              <a:t>    dvc.repro('evaluate')</a:t>
            </a:r>
            <a:br/>
            <a:r>
              <a:t>    </a:t>
            </a:r>
            <a:br/>
            <a:r>
              <a:t>    # Get metrics</a:t>
            </a:r>
            <a:br/>
            <a:r>
              <a:t>    metrics = dvc.api.metrics_show()</a:t>
            </a:r>
            <a:br/>
            <a:r>
              <a:t>    return metrics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77: Importing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Import from remote</a:t>
            </a:r>
            <a:br/>
            <a:r>
              <a:t>dvc import s3://mybucket/data.csv</a:t>
            </a:r>
            <a:br/>
            <a:br/>
            <a:r>
              <a:t># Import specific version</a:t>
            </a:r>
            <a:br/>
            <a:r>
              <a:t>dvc import s3://mybucket/data.csv --rev v1.0.0</a:t>
            </a:r>
            <a:br/>
            <a:br/>
            <a:r>
              <a:t># Update import</a:t>
            </a:r>
            <a:br/>
            <a:r>
              <a:t>dvc update data.csv.dvc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78: Exporting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Export to remote</a:t>
            </a:r>
            <a:br/>
            <a:r>
              <a:t>dvc export data.csv s3://mybucket/export/data.csv</a:t>
            </a:r>
            <a:br/>
            <a:br/>
            <a:r>
              <a:t># Export specific version</a:t>
            </a:r>
            <a:br/>
            <a:r>
              <a:t>dvc export data.csv s3://mybucket/export/data.csv --rev v1.0.0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79: Running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Run experiment</a:t>
            </a:r>
            <a:br/>
            <a:r>
              <a:t>dvc exp run</a:t>
            </a:r>
            <a:br/>
            <a:br/>
            <a:r>
              <a:t># List experiments</a:t>
            </a:r>
            <a:br/>
            <a:r>
              <a:t>dvc exp list</a:t>
            </a:r>
            <a:br/>
            <a:br/>
            <a:r>
              <a:t># Show experiment results</a:t>
            </a:r>
            <a:br/>
            <a:r>
              <a:t>dvc exp show</a:t>
            </a:r>
            <a:br/>
            <a:br/>
            <a:r>
              <a:t># Compare experiments</a:t>
            </a:r>
            <a:br/>
            <a:r>
              <a:t>dvc exp diff</a:t>
            </a:r>
            <a:br/>
            <a:br/>
            <a:r>
              <a:t># Apply experiment</a:t>
            </a:r>
            <a:br/>
            <a:r>
              <a:t>dvc exp apply experiment-name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80: Experiment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Run with parameters</a:t>
            </a:r>
            <a:br/>
            <a:r>
              <a:t>dvc exp run --set-param train.lr=0.01</a:t>
            </a:r>
            <a:br/>
            <a:br/>
            <a:r>
              <a:t># Run multiple experiments</a:t>
            </a:r>
            <a:br/>
            <a:r>
              <a:t>dvc exp run --queue</a:t>
            </a:r>
            <a:br/>
            <a:r>
              <a:t>dvc exp run --queue --set-param train.lr=0.01</a:t>
            </a:r>
            <a:br/>
            <a:r>
              <a:t>dvc exp run --queue --set-param train.lr=0.001</a:t>
            </a:r>
            <a:br/>
            <a:r>
              <a:t>dvc exp run --run-all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81: Reproducing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Reproduce experiment</a:t>
            </a:r>
            <a:br/>
            <a:r>
              <a:t>dvc exp apply experiment-name</a:t>
            </a:r>
            <a:br/>
            <a:br/>
            <a:r>
              <a:t># Compare experiments</a:t>
            </a:r>
            <a:br/>
            <a:r>
              <a:t>dvc exp diff</a:t>
            </a:r>
            <a:br/>
            <a:br/>
            <a:r>
              <a:t># Show experiment table</a:t>
            </a:r>
            <a:br/>
            <a:r>
              <a:t>dvc exp show --only-changed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82: DVC with MLflow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dvc.api</a:t>
            </a:r>
            <a:br/>
            <a:r>
              <a:t>import mlflow</a:t>
            </a:r>
            <a:br/>
            <a:br/>
            <a:r>
              <a:t># Get data version</a:t>
            </a:r>
            <a:br/>
            <a:r>
              <a:t>with dvc.api.open('data/raw/data.csv') as f:</a:t>
            </a:r>
            <a:br/>
            <a:r>
              <a:t>    data = f.read()</a:t>
            </a:r>
            <a:br/>
            <a:br/>
            <a:r>
              <a:t># Log DVC version</a:t>
            </a:r>
            <a:br/>
            <a:r>
              <a:t>mlflow.log_param('data_version', dvc.api.get_url('data/raw/data.csv'))</a:t>
            </a:r>
            <a:br/>
            <a:br/>
            <a:r>
              <a:t># Log data hash</a:t>
            </a:r>
            <a:br/>
            <a:r>
              <a:t>import hashlib</a:t>
            </a:r>
            <a:br/>
            <a:r>
              <a:t>hash = hashlib.md5(data).hexdigest()</a:t>
            </a:r>
            <a:br/>
            <a:r>
              <a:t>mlflow.log_param('data_hash', hash)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83: DVC with Dagster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resource</a:t>
            </a:r>
            <a:br/>
            <a:br/>
            <a:r>
              <a:t>@resource</a:t>
            </a:r>
            <a:br/>
            <a:r>
              <a:t>def dvc_resource():</a:t>
            </a:r>
            <a:br/>
            <a:r>
              <a:t>    import dvc.repo</a:t>
            </a:r>
            <a:br/>
            <a:r>
              <a:t>    return dvc.repo.Repo()</a:t>
            </a:r>
            <a:br/>
            <a:br/>
            <a:r>
              <a:t>@op(required_resource_keys={'dvc'})</a:t>
            </a:r>
            <a:br/>
            <a:r>
              <a:t>def run_pipeline(context):</a:t>
            </a:r>
            <a:br/>
            <a:r>
              <a:t>    repo = context.resources.dvc</a:t>
            </a:r>
            <a:br/>
            <a:r>
              <a:t>    repo.reproduce()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84: DVC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Cache corruption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`dvc cache verify`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Remote connection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Check credentials, network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Pipeline not updating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`dvc status --checks`, `dvc repro --force`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Large cache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`dvc gc --workspace`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85: DVC Performance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`.dvcignore` for temporary files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`--single-item` for specific stages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`--force` only when needed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Clean cache regularly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appropriate batch sizes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remote upload/download speed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5: DVC in Practice (Slides 86-100)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86: Real-World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Project structure</a:t>
            </a:r>
            <a:br/>
            <a:r>
              <a:t>mlops-pipeline-series/</a:t>
            </a:r>
            <a:br/>
            <a:r>
              <a:t>├── data/</a:t>
            </a:r>
            <a:br/>
            <a:r>
              <a:t>│   ├── raw/</a:t>
            </a:r>
            <a:br/>
            <a:r>
              <a:t>│   ├── processed/</a:t>
            </a:r>
            <a:br/>
            <a:r>
              <a:t>│   └── external/</a:t>
            </a:r>
            <a:br/>
            <a:r>
              <a:t>├── models/</a:t>
            </a:r>
            <a:br/>
            <a:r>
              <a:t>├── src/</a:t>
            </a:r>
            <a:br/>
            <a:r>
              <a:t>├── dvc.yaml</a:t>
            </a:r>
            <a:br/>
            <a:r>
              <a:t>├── params.yaml</a:t>
            </a:r>
            <a:br/>
            <a:r>
              <a:t>└── .dvc/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87: Data Pipeline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dvc.yaml</a:t>
            </a:r>
            <a:br/>
            <a:r>
              <a:t>stages:</a:t>
            </a:r>
            <a:br/>
            <a:r>
              <a:t>  generate_data:</a:t>
            </a:r>
            <a:br/>
            <a:r>
              <a:t>    cmd: python src/data/generate.py --hours 48</a:t>
            </a:r>
            <a:br/>
            <a:r>
              <a:t>    deps:</a:t>
            </a:r>
            <a:br/>
            <a:r>
              <a:t>    - src/data/generate.py</a:t>
            </a:r>
            <a:br/>
            <a:r>
              <a:t>    outs:</a:t>
            </a:r>
            <a:br/>
            <a:r>
              <a:t>    - data/raw/sensor_data_48h.csv</a:t>
            </a:r>
            <a:br/>
            <a:r>
              <a:t>  </a:t>
            </a:r>
            <a:br/>
            <a:r>
              <a:t>  process_features:</a:t>
            </a:r>
            <a:br/>
            <a:r>
              <a:t>    cmd: python src/features/build.py --input data/raw/sensor_data_48h.csv</a:t>
            </a:r>
            <a:br/>
            <a:r>
              <a:t>    deps:</a:t>
            </a:r>
            <a:br/>
            <a:r>
              <a:t>    - src/features/build.py</a:t>
            </a:r>
            <a:br/>
            <a:r>
              <a:t>    - data/raw/sensor_data_48h.csv</a:t>
            </a:r>
            <a:br/>
            <a:r>
              <a:t>    outs:</a:t>
            </a:r>
            <a:br/>
            <a:r>
              <a:t>    - data/processed/features_48h.csv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88: Running the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Initial run</a:t>
            </a:r>
            <a:br/>
            <a:r>
              <a:t>dvc repro</a:t>
            </a:r>
            <a:br/>
            <a:br/>
            <a:r>
              <a:t># After code changes</a:t>
            </a:r>
            <a:br/>
            <a:r>
              <a:t>dvc status</a:t>
            </a:r>
            <a:br/>
            <a:r>
              <a:t># Changed stages identified</a:t>
            </a:r>
            <a:br/>
            <a:r>
              <a:t>dvc repro  # Only changed stages run</a:t>
            </a:r>
            <a:br/>
            <a:br/>
            <a:r>
              <a:t># Force full run</a:t>
            </a:r>
            <a:br/>
            <a:r>
              <a:t>dvc repro --force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89: Tracking Model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Track model</a:t>
            </a:r>
            <a:br/>
            <a:r>
              <a:t>dvc add models/registry/model.pkl</a:t>
            </a:r>
            <a:br/>
            <a:br/>
            <a:r>
              <a:t># Commit</a:t>
            </a:r>
            <a:br/>
            <a:r>
              <a:t>git add models/registry/model.pkl.dvc</a:t>
            </a:r>
            <a:br/>
            <a:r>
              <a:t>git commit -m "Add model v1.0"</a:t>
            </a:r>
            <a:br/>
            <a:br/>
            <a:r>
              <a:t># Push data</a:t>
            </a:r>
            <a:br/>
            <a:r>
              <a:t>dvc push</a:t>
            </a:r>
            <a:br/>
            <a:br/>
            <a:r>
              <a:t># Push code</a:t>
            </a:r>
            <a:br/>
            <a:r>
              <a:t>git push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90: Team Collaboration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1. Developer A updates data</a:t>
            </a:r>
            <a:br/>
            <a:r>
              <a:t>   dvc add data.csv</a:t>
            </a:r>
            <a:br/>
            <a:r>
              <a:t>   dvc push</a:t>
            </a:r>
            <a:br/>
            <a:r>
              <a:t>   git commit</a:t>
            </a:r>
            <a:br/>
            <a:r>
              <a:t>   git push</a:t>
            </a:r>
            <a:br/>
            <a:br/>
            <a:r>
              <a:t>2. Developer B pulls</a:t>
            </a:r>
            <a:br/>
            <a:r>
              <a:t>   git pull</a:t>
            </a:r>
            <a:br/>
            <a:r>
              <a:t>   dvc pull</a:t>
            </a:r>
            <a:br/>
            <a:r>
              <a:t>   </a:t>
            </a:r>
            <a:br/>
            <a:r>
              <a:t>3. Both work with same data version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91: Data Versioning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Raw Data:      Always versioned (immutable)</a:t>
            </a:r>
            <a:br/>
            <a:r>
              <a:t>Processed:     Versioned (reproducible)</a:t>
            </a:r>
            <a:br/>
            <a:r>
              <a:t>Model:         Versioned (track changes)</a:t>
            </a:r>
            <a:br/>
            <a:r>
              <a:t>Metrics:       Versioned (track performance)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92: Pipeline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Tag pipeline</a:t>
            </a:r>
            <a:br/>
            <a:r>
              <a:t>dvc tag data/raw/sensor_data_48h.csv v1.0.0</a:t>
            </a:r>
            <a:br/>
            <a:r>
              <a:t>git tag -a pipeline-v1.0.0 -m "Pipeline version 1.0.0"</a:t>
            </a:r>
            <a:br/>
            <a:br/>
            <a:r>
              <a:t># Reproduce old pipeline</a:t>
            </a:r>
            <a:br/>
            <a:r>
              <a:t>git checkout pipeline-v1.0.0</a:t>
            </a:r>
            <a:br/>
            <a:r>
              <a:t>dvc checkout</a:t>
            </a:r>
            <a:br/>
            <a:r>
              <a:t>dvc repro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93: Data Quality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data_validation.py</a:t>
            </a:r>
            <a:br/>
            <a:r>
              <a:t>def validate_data(df):</a:t>
            </a:r>
            <a:br/>
            <a:r>
              <a:t>    # Check schema</a:t>
            </a:r>
            <a:br/>
            <a:r>
              <a:t>    assert all(col in df.columns for col in expected_columns)</a:t>
            </a:r>
            <a:br/>
            <a:r>
              <a:t>    </a:t>
            </a:r>
            <a:br/>
            <a:r>
              <a:t>    # Check missing values</a:t>
            </a:r>
            <a:br/>
            <a:r>
              <a:t>    assert df.isnull().sum().sum() == 0</a:t>
            </a:r>
            <a:br/>
            <a:r>
              <a:t>    </a:t>
            </a:r>
            <a:br/>
            <a:r>
              <a:t>    # Check ranges</a:t>
            </a:r>
            <a:br/>
            <a:r>
              <a:t>    assert df['temperature'].between(50, 100).all()</a:t>
            </a:r>
            <a:br/>
            <a:r>
              <a:t>    </a:t>
            </a:r>
            <a:br/>
            <a:r>
              <a:t>    # Check labels</a:t>
            </a:r>
            <a:br/>
            <a:r>
              <a:t>    assert df['label'].isin([0, 1]).all()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94: Automated Data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dvc.yaml</a:t>
            </a:r>
            <a:br/>
            <a:r>
              <a:t>stages:</a:t>
            </a:r>
            <a:br/>
            <a:r>
              <a:t>  validate_data:</a:t>
            </a:r>
            <a:br/>
            <a:r>
              <a:t>    cmd: python scripts/validate_data.py data/raw/data.csv</a:t>
            </a:r>
            <a:br/>
            <a:r>
              <a:t>    deps:</a:t>
            </a:r>
            <a:br/>
            <a:r>
              <a:t>    - data/raw/data.csv</a:t>
            </a:r>
            <a:br/>
            <a:r>
              <a:t>    - scripts/validate_data.py</a:t>
            </a:r>
            <a:br/>
            <a:r>
              <a:t>    outs:</a:t>
            </a:r>
            <a:br/>
            <a:r>
              <a:t>    - validation_report.json</a:t>
            </a:r>
            <a:br/>
            <a:r>
              <a:t>    metrics:</a:t>
            </a:r>
            <a:br/>
            <a:r>
              <a:t>    - validation_report.json:</a:t>
            </a:r>
            <a:br/>
            <a:r>
              <a:t>        cache: false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95: Data Drift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drift_detection.py</a:t>
            </a:r>
            <a:br/>
            <a:r>
              <a:t>from scipy.stats import ks_2samp</a:t>
            </a:r>
            <a:br/>
            <a:br/>
            <a:r>
              <a:t>def detect_drift(old_data, new_data, threshold=0.05):</a:t>
            </a:r>
            <a:br/>
            <a:r>
              <a:t>    for col in old_data.columns:</a:t>
            </a:r>
            <a:br/>
            <a:r>
              <a:t>        stat, p_value = ks_2samp(old_data[col], new_data[col])</a:t>
            </a:r>
            <a:br/>
            <a:r>
              <a:t>        if p_value &lt; threshold:</a:t>
            </a:r>
            <a:br/>
            <a:r>
              <a:t>            print(f"Drift detected in {col}: p={p_value:.4f}")</a:t>
            </a:r>
            <a:br/>
            <a:r>
              <a:t>            return True</a:t>
            </a:r>
            <a:br/>
            <a:r>
              <a:t>    return False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96: Data Version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Identify bad version</a:t>
            </a:r>
            <a:br/>
            <a:r>
              <a:t>dvc status</a:t>
            </a:r>
            <a:br/>
            <a:r>
              <a:t>dvc metrics diff</a:t>
            </a:r>
            <a:br/>
            <a:br/>
            <a:r>
              <a:t># Rollback</a:t>
            </a:r>
            <a:br/>
            <a:r>
              <a:t>git checkout previous_commit</a:t>
            </a:r>
            <a:br/>
            <a:r>
              <a:t>dvc checkout</a:t>
            </a:r>
            <a:br/>
            <a:r>
              <a:t>dvc repro</a:t>
            </a:r>
            <a:br/>
            <a:br/>
            <a:r>
              <a:t># Or use tags</a:t>
            </a:r>
            <a:br/>
            <a:r>
              <a:t>git checkout v1.0.0</a:t>
            </a:r>
            <a:br/>
            <a:r>
              <a:t>dvc checkout</a:t>
            </a:r>
            <a:br/>
            <a:r>
              <a:t>dvc repro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97: CI/CD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.github/workflows/dvc.yaml</a:t>
            </a:r>
            <a:br/>
            <a:r>
              <a:t>name: DVC Pipeline</a:t>
            </a:r>
            <a:br/>
            <a:r>
              <a:t>on: [push]</a:t>
            </a:r>
            <a:br/>
            <a:br/>
            <a:r>
              <a:t>jobs:</a:t>
            </a:r>
            <a:br/>
            <a:r>
              <a:t>  pipeline: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- uses: actions/checkout@v3</a:t>
            </a:r>
            <a:br/>
            <a:r>
              <a:t>    - uses: actions/setup-python@v4</a:t>
            </a:r>
            <a:br/>
            <a:r>
              <a:t>    - name: Install DVC</a:t>
            </a:r>
            <a:br/>
            <a:r>
              <a:t>      run: pip install dvc</a:t>
            </a:r>
            <a:br/>
            <a:r>
              <a:t>    - name: Pull data</a:t>
            </a:r>
            <a:br/>
            <a:r>
              <a:t>      run: dvc pull</a:t>
            </a:r>
            <a:br/>
            <a:r>
              <a:t>    - name: Run pipeline</a:t>
            </a:r>
            <a:br/>
            <a:r>
              <a:t>      run: dvc repro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98: DVC Best Practices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Always version raw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meaningful commit messages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Tag important versions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Push data regularly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Clean cache periodically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pipelines for automation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Track metrics and plots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 data schemas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Test data validation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data drift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99: DVC 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Versioning large files with Git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pushing to remote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Ignoring .dvcignore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cleaning cache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Complex pipelines (too many stages)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Hard-coded paths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using parameters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Missing documentation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100: DVC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Git for code, DVC for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Remote storage for collaboration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Pipelines for automation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Reproducible experiments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Version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Data quality validation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 Light"/>
              </a:defRPr>
            </a:pPr>
            <a:r>
              <a:t>SECTION 3: EXPERIMENT TRACKING WITH MLFLOW (Slides 101-160)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6: MLflow Fundamentals (Slides 101-125)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101: MLflow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**What is MLflow?**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Open source platform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Manage ML lifecycle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Experiment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**Key Features:**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Tracking (parameters/metrics)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Projects (reproducible)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Models (packaging)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Registry (model management)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Serving (deployment)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102: MLflow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 MLflow Components  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Tracking (Experiments/Runs)        │</a:t>
            </a:r>
            <a:br/>
            <a:r>
              <a:t>│  ↓                                  │</a:t>
            </a:r>
            <a:br/>
            <a:r>
              <a:t>│  Projects (Reproducible Code)       │</a:t>
            </a:r>
            <a:br/>
            <a:r>
              <a:t>│  ↓                                  │</a:t>
            </a:r>
            <a:br/>
            <a:r>
              <a:t>│  Models (Packaging/Deployment)      │</a:t>
            </a:r>
            <a:br/>
            <a:r>
              <a:t>│  ↓                                  │</a:t>
            </a:r>
            <a:br/>
            <a:r>
              <a:t>│  Registry (Model Management) 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103: MLflow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MLflow Architecture 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Client (SDK) ←→ Tracking Server   │</a:t>
            </a:r>
            <a:br/>
            <a:r>
              <a:t>│                     ↓               │</a:t>
            </a:r>
            <a:br/>
            <a:r>
              <a:t>│               Backend Store         │</a:t>
            </a:r>
            <a:br/>
            <a:r>
              <a:t>│               (PostgreSQL)          │</a:t>
            </a:r>
            <a:br/>
            <a:r>
              <a:t>│               ↓                     │</a:t>
            </a:r>
            <a:br/>
            <a:r>
              <a:t>│               Artifact Store        │</a:t>
            </a:r>
            <a:br/>
            <a:r>
              <a:t>│               (S3/GCS)       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104: MLflow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Install MLflow</a:t>
            </a:r>
            <a:br/>
            <a:r>
              <a:t>pip install mlflow</a:t>
            </a:r>
            <a:br/>
            <a:br/>
            <a:r>
              <a:t># Install with extras</a:t>
            </a:r>
            <a:br/>
            <a:r>
              <a:t>pip install mlflow[extras]</a:t>
            </a:r>
            <a:br/>
            <a:br/>
            <a:r>
              <a:t># Verify installation</a:t>
            </a:r>
            <a:br/>
            <a:r>
              <a:t>mlflow --version</a:t>
            </a:r>
            <a:br/>
            <a:br/>
            <a:r>
              <a:t># Install specific version</a:t>
            </a:r>
            <a:br/>
            <a:r>
              <a:t>pip install mlflow==2.4.1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105: Setting Up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mlflow</a:t>
            </a:r>
            <a:br/>
            <a:br/>
            <a:r>
              <a:t># Set tracking URI</a:t>
            </a:r>
            <a:br/>
            <a:r>
              <a:t>mlflow.set_tracking_uri("file:./mlruns")</a:t>
            </a:r>
            <a:br/>
            <a:br/>
            <a:r>
              <a:t># Or remote server</a:t>
            </a:r>
            <a:br/>
            <a:r>
              <a:t>mlflow.set_tracking_uri("http://localhost:5000")</a:t>
            </a:r>
            <a:br/>
            <a:br/>
            <a:r>
              <a:t># Set experiment</a:t>
            </a:r>
            <a:br/>
            <a:r>
              <a:t>mlflow.set_experiment("my_experiment")</a:t>
            </a:r>
            <a:br/>
            <a:br/>
            <a:r>
              <a:t># Start run</a:t>
            </a:r>
            <a:br/>
            <a:r>
              <a:t>with mlflow.start_run():</a:t>
            </a:r>
            <a:br/>
            <a:r>
              <a:t>    # Your code here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106: MLflow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**Experiment:** Container for runs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**Run:** Single execution instance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**Parameters:** Input values (hyperparameters)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**Metrics:** Output values (accuracy, loss)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**Artifacts:** Files (models, plots)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**Tags:** Metadata (notes, version)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107: Starting a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Method 1: Context manager</a:t>
            </a:r>
            <a:br/>
            <a:r>
              <a:t>with mlflow.start_run(run_name="my_run"):</a:t>
            </a:r>
            <a:br/>
            <a:r>
              <a:t>    # Log parameters</a:t>
            </a:r>
            <a:br/>
            <a:r>
              <a:t>    mlflow.log_param("learning_rate", 0.01)</a:t>
            </a:r>
            <a:br/>
            <a:r>
              <a:t>    mlflow.log_param("batch_size", 32)</a:t>
            </a:r>
            <a:br/>
            <a:r>
              <a:t>    </a:t>
            </a:r>
            <a:br/>
            <a:r>
              <a:t>    # Log metrics</a:t>
            </a:r>
            <a:br/>
            <a:r>
              <a:t>    mlflow.log_metric("accuracy", 0.95)</a:t>
            </a:r>
            <a:br/>
            <a:r>
              <a:t>    mlflow.log_metric("loss", 0.12)</a:t>
            </a:r>
            <a:br/>
            <a:br/>
            <a:r>
              <a:t># Method 2: Manual start/end</a:t>
            </a:r>
            <a:br/>
            <a:r>
              <a:t>run = mlflow.start_run()</a:t>
            </a:r>
            <a:br/>
            <a:r>
              <a:t># ... code ...</a:t>
            </a:r>
            <a:br/>
            <a:r>
              <a:t>mlflow.end_run()</a:t>
            </a:r>
            <a:br/>
            <a:br/>
            <a:r>
              <a:t># Method 3: Resume run</a:t>
            </a:r>
            <a:br/>
            <a:r>
              <a:t>mlflow.start_run(run_id=existing_run_id)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108: Logging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Single parameter</a:t>
            </a:r>
            <a:br/>
            <a:r>
              <a:t>mlflow.log_param("learning_rate", 0.01)</a:t>
            </a:r>
            <a:br/>
            <a:r>
              <a:t>mlflow.log_param("model_type", "random_forest")</a:t>
            </a:r>
            <a:br/>
            <a:br/>
            <a:r>
              <a:t># Multiple parameters</a:t>
            </a:r>
            <a:br/>
            <a:r>
              <a:t>params = {</a:t>
            </a:r>
            <a:br/>
            <a:r>
              <a:t>    "learning_rate": 0.01,</a:t>
            </a:r>
            <a:br/>
            <a:r>
              <a:t>    "batch_size": 32,</a:t>
            </a:r>
            <a:br/>
            <a:r>
              <a:t>    "epochs": 100,</a:t>
            </a:r>
            <a:br/>
            <a:r>
              <a:t>    "optimizer": "adam"</a:t>
            </a:r>
            <a:br/>
            <a:r>
              <a:t>}</a:t>
            </a:r>
            <a:br/>
            <a:r>
              <a:t>mlflow.log_params(params)</a:t>
            </a:r>
            <a:br/>
            <a:br/>
            <a:r>
              <a:t># Nested parameters</a:t>
            </a:r>
            <a:br/>
            <a:r>
              <a:t>mlflow.log_param("model.random_forest.n_estimators", 100)</a:t>
            </a:r>
            <a:br/>
            <a:r>
              <a:t>mlflow.log_param("model.random_forest.max_depth", 10)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109: Logging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Single metric</a:t>
            </a:r>
            <a:br/>
            <a:r>
              <a:t>mlflow.log_metric("accuracy", 0.95)</a:t>
            </a:r>
            <a:br/>
            <a:br/>
            <a:r>
              <a:t># Multiple metrics</a:t>
            </a:r>
            <a:br/>
            <a:r>
              <a:t>metrics = {</a:t>
            </a:r>
            <a:br/>
            <a:r>
              <a:t>    "accuracy": 0.95,</a:t>
            </a:r>
            <a:br/>
            <a:r>
              <a:t>    "f1_score": 0.93,</a:t>
            </a:r>
            <a:br/>
            <a:r>
              <a:t>    "precision": 0.94,</a:t>
            </a:r>
            <a:br/>
            <a:r>
              <a:t>    "recall": 0.92</a:t>
            </a:r>
            <a:br/>
            <a:r>
              <a:t>}</a:t>
            </a:r>
            <a:br/>
            <a:r>
              <a:t>mlflow.log_metrics(metrics)</a:t>
            </a:r>
            <a:br/>
            <a:br/>
            <a:r>
              <a:t># Metrics with step (training loop)</a:t>
            </a:r>
            <a:br/>
            <a:r>
              <a:t>for epoch in range(epochs):</a:t>
            </a:r>
            <a:br/>
            <a:r>
              <a:t>    loss = train_step()</a:t>
            </a:r>
            <a:br/>
            <a:r>
              <a:t>    mlflow.log_metric("loss", loss, step=epoch)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110: Logging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Text file</a:t>
            </a:r>
            <a:br/>
            <a:r>
              <a:t>mlflow.log_text("Hello World", "hello.txt")</a:t>
            </a:r>
            <a:br/>
            <a:br/>
            <a:r>
              <a:t># JSON</a:t>
            </a:r>
            <a:br/>
            <a:r>
              <a:t>mlflow.log_dict({"key": "value"}, "data.json")</a:t>
            </a:r>
            <a:br/>
            <a:br/>
            <a:r>
              <a:t># CSV/DataFrame</a:t>
            </a:r>
            <a:br/>
            <a:r>
              <a:t>import pandas as pd</a:t>
            </a:r>
            <a:br/>
            <a:r>
              <a:t>df.to_csv("data.csv")</a:t>
            </a:r>
            <a:br/>
            <a:r>
              <a:t>mlflow.log_artifact("data.csv")</a:t>
            </a:r>
            <a:br/>
            <a:br/>
            <a:r>
              <a:t># Entire directory</a:t>
            </a:r>
            <a:br/>
            <a:r>
              <a:t>mlflow.log_artifacts("output_dir/", artifact_path="outputs")</a:t>
            </a:r>
            <a:br/>
            <a:br/>
            <a:r>
              <a:t># Figure (matplotlib)</a:t>
            </a:r>
            <a:br/>
            <a:r>
              <a:t>import matplotlib.pyplot as plt</a:t>
            </a:r>
            <a:br/>
            <a:r>
              <a:t>plt.savefig("plot.png")</a:t>
            </a:r>
            <a:br/>
            <a:r>
              <a:t>mlflow.log_artifact("plot.png")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111: Logging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Scikit-learn</a:t>
            </a:r>
            <a:br/>
            <a:r>
              <a:t>mlflow.sklearn.log_model(model, "sklearn_model")</a:t>
            </a:r>
            <a:br/>
            <a:br/>
            <a:r>
              <a:t># PyTorch</a:t>
            </a:r>
            <a:br/>
            <a:r>
              <a:t>mlflow.pytorch.log_model(model, "pytorch_model")</a:t>
            </a:r>
            <a:br/>
            <a:br/>
            <a:r>
              <a:t># TensorFlow</a:t>
            </a:r>
            <a:br/>
            <a:r>
              <a:t>mlflow.tensorflow.log_model(model, "tf_model")</a:t>
            </a:r>
            <a:br/>
            <a:br/>
            <a:r>
              <a:t># XGBoost</a:t>
            </a:r>
            <a:br/>
            <a:r>
              <a:t>mlflow.xgboost.log_model(model, "xgboost_model")</a:t>
            </a:r>
            <a:br/>
            <a:br/>
            <a:r>
              <a:t># Custom model (PyFunc)</a:t>
            </a:r>
            <a:br/>
            <a:r>
              <a:t>mlflow.pyfunc.log_model(</a:t>
            </a:r>
            <a:br/>
            <a:r>
              <a:t>    artifact_path="custom_model",</a:t>
            </a:r>
            <a:br/>
            <a:r>
              <a:t>    python_model=wrapper,</a:t>
            </a:r>
            <a:br/>
            <a:r>
              <a:t>    code_paths=["src/"]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112: Tags and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Set tags</a:t>
            </a:r>
            <a:br/>
            <a:r>
              <a:t>mlflow.set_tag("dataset_version", "v1.0.0")</a:t>
            </a:r>
            <a:br/>
            <a:r>
              <a:t>mlflow.set_tag("environment", "staging")</a:t>
            </a:r>
            <a:br/>
            <a:r>
              <a:t>mlflow.set_tag("notes", "Initial model with 100 trees")</a:t>
            </a:r>
            <a:br/>
            <a:br/>
            <a:r>
              <a:t># Multiple tags</a:t>
            </a:r>
            <a:br/>
            <a:r>
              <a:t>tags = {</a:t>
            </a:r>
            <a:br/>
            <a:r>
              <a:t>    "team": "mlops",</a:t>
            </a:r>
            <a:br/>
            <a:r>
              <a:t>    "project": "predictive_maintenance",</a:t>
            </a:r>
            <a:br/>
            <a:r>
              <a:t>    "model_version": "1.0.0"</a:t>
            </a:r>
            <a:br/>
            <a:r>
              <a:t>}</a:t>
            </a:r>
            <a:br/>
            <a:r>
              <a:t>mlflow.set_tags(tags)</a:t>
            </a:r>
            <a:br/>
            <a:br/>
            <a:r>
              <a:t># Note as tag</a:t>
            </a:r>
            <a:br/>
            <a:r>
              <a:t>mlflow.set_tag("description", """</a:t>
            </a:r>
            <a:br/>
            <a:r>
              <a:t>This model uses random forest with 100 trees.</a:t>
            </a:r>
            <a:br/>
            <a:r>
              <a:t>Trained on 48 hours of sensor data.</a:t>
            </a:r>
            <a:br/>
            <a:r>
              <a:t>Test accuracy: 0.95</a:t>
            </a:r>
            <a:br/>
            <a:r>
              <a:t>""")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113: MLflow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Start UI</a:t>
            </a:r>
            <a:br/>
            <a:r>
              <a:t>mlflow ui</a:t>
            </a:r>
            <a:br/>
            <a:br/>
            <a:r>
              <a:t># With backend store</a:t>
            </a:r>
            <a:br/>
            <a:r>
              <a:t>mlflow ui --backend-store-uri ./mlruns</a:t>
            </a:r>
            <a:br/>
            <a:br/>
            <a:r>
              <a:t># Remote server</a:t>
            </a:r>
            <a:br/>
            <a:r>
              <a:t>mlflow ui --backend-store-uri http://localhost:5000</a:t>
            </a:r>
            <a:br/>
            <a:br/>
            <a:r>
              <a:t># Port</a:t>
            </a:r>
            <a:br/>
            <a:r>
              <a:t>mlflow ui --port 5001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114: MLflow UI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Experiment list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Run details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Parameter comparison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Metric visualization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Artifact viewer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Search/filter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115: Experiment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Create experiment</a:t>
            </a:r>
            <a:br/>
            <a:r>
              <a:t>experiment_id = mlflow.create_experiment(</a:t>
            </a:r>
            <a:br/>
            <a:r>
              <a:t>    name="my_experiment",</a:t>
            </a:r>
            <a:br/>
            <a:r>
              <a:t>    artifact_location="./my_artifacts"</a:t>
            </a:r>
            <a:br/>
            <a:r>
              <a:t>)</a:t>
            </a:r>
            <a:br/>
            <a:br/>
            <a:r>
              <a:t># Get experiment</a:t>
            </a:r>
            <a:br/>
            <a:r>
              <a:t>experiment = mlflow.get_experiment(experiment_id)</a:t>
            </a:r>
            <a:br/>
            <a:br/>
            <a:r>
              <a:t># List experiments</a:t>
            </a:r>
            <a:br/>
            <a:r>
              <a:t>experiments = mlflow.list_experiments()</a:t>
            </a:r>
            <a:br/>
            <a:br/>
            <a:r>
              <a:t># Set active experiment</a:t>
            </a:r>
            <a:br/>
            <a:r>
              <a:t>mlflow.set_experiment("my_experiment")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116: Run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Search runs</a:t>
            </a:r>
            <a:br/>
            <a:r>
              <a:t>runs = mlflow.search_runs(</a:t>
            </a:r>
            <a:br/>
            <a:r>
              <a:t>    experiment_ids=["0", "1"],</a:t>
            </a:r>
            <a:br/>
            <a:r>
              <a:t>    filter_string="metrics.accuracy &gt; 0.9",</a:t>
            </a:r>
            <a:br/>
            <a:r>
              <a:t>    order_by=["metrics.accuracy DESC"],</a:t>
            </a:r>
            <a:br/>
            <a:r>
              <a:t>    max_results=10</a:t>
            </a:r>
            <a:br/>
            <a:r>
              <a:t>)</a:t>
            </a:r>
            <a:br/>
            <a:br/>
            <a:r>
              <a:t># Get specific run</a:t>
            </a:r>
            <a:br/>
            <a:r>
              <a:t>run = mlflow.get_run(run_id)</a:t>
            </a:r>
            <a:br/>
            <a:br/>
            <a:r>
              <a:t># Compare runs</a:t>
            </a:r>
            <a:br/>
            <a:r>
              <a:t>runs_df = mlflow.search_runs()</a:t>
            </a:r>
            <a:br/>
            <a:r>
              <a:t>best_run = runs_df.loc[runs_df['metrics.f1'].idxmax()]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117: MLflow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MLproject file</a:t>
            </a:r>
            <a:br/>
            <a:r>
              <a:t>name: My Project</a:t>
            </a:r>
            <a:br/>
            <a:r>
              <a:t>conda_env: conda.yaml</a:t>
            </a:r>
            <a:br/>
            <a:br/>
            <a:r>
              <a:t>entry_points:</a:t>
            </a:r>
            <a:br/>
            <a:r>
              <a:t>  main:</a:t>
            </a:r>
            <a:br/>
            <a:r>
              <a:t>    parameters:</a:t>
            </a:r>
            <a:br/>
            <a:r>
              <a:t>      learning_rate: {type: float, default: 0.01}</a:t>
            </a:r>
            <a:br/>
            <a:r>
              <a:t>      batch_size: {type: int, default: 32}</a:t>
            </a:r>
            <a:br/>
            <a:r>
              <a:t>    command: "python train.py --lr {learning_rate} --batch {batch_size}"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118: Running 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Run project</a:t>
            </a:r>
            <a:br/>
            <a:r>
              <a:t>mlflow run .</a:t>
            </a:r>
            <a:br/>
            <a:br/>
            <a:r>
              <a:t># With parameters</a:t>
            </a:r>
            <a:br/>
            <a:r>
              <a:t>mlflow run . -P learning_rate=0.001 -P batch_size=64</a:t>
            </a:r>
            <a:br/>
            <a:br/>
            <a:r>
              <a:t># Run remote project</a:t>
            </a:r>
            <a:br/>
            <a:r>
              <a:t>mlflow run git://github.com/user/project.git</a:t>
            </a:r>
            <a:br/>
            <a:br/>
            <a:r>
              <a:t># Specify entry point</a:t>
            </a:r>
            <a:br/>
            <a:r>
              <a:t>mlflow run . -e train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119: MLflow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MLmodel file</a:t>
            </a:r>
            <a:br/>
            <a:r>
              <a:t>artifact_path: model</a:t>
            </a:r>
            <a:br/>
            <a:r>
              <a:t>flavors:</a:t>
            </a:r>
            <a:br/>
            <a:r>
              <a:t>  sklearn:</a:t>
            </a:r>
            <a:br/>
            <a:r>
              <a:t>    sklearn_version: 1.3.0</a:t>
            </a:r>
            <a:br/>
            <a:r>
              <a:t>    pickled_model: model.pkl</a:t>
            </a:r>
            <a:br/>
            <a:r>
              <a:t>  python_function:</a:t>
            </a:r>
            <a:br/>
            <a:r>
              <a:t>    model_path: model.pkl</a:t>
            </a:r>
            <a:br/>
            <a:r>
              <a:t>    predict: predict</a:t>
            </a:r>
            <a:br/>
            <a:r>
              <a:t>    env: conda.yaml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120: Model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Serve model</a:t>
            </a:r>
            <a:br/>
            <a:r>
              <a:t>mlflow models serve -m models:/my_model/Production</a:t>
            </a:r>
            <a:br/>
            <a:br/>
            <a:r>
              <a:t># With specific port</a:t>
            </a:r>
            <a:br/>
            <a:r>
              <a:t>mlflow models serve -m models:/my_model/Production -p 8000</a:t>
            </a:r>
            <a:br/>
            <a:br/>
            <a:r>
              <a:t># Test prediction</a:t>
            </a:r>
            <a:br/>
            <a:r>
              <a:t>curl -X POST http://localhost:8000/invocations \</a:t>
            </a:r>
            <a:br/>
            <a:r>
              <a:t>  -H "Content-Type: application/json" \</a:t>
            </a:r>
            <a:br/>
            <a:r>
              <a:t>  -d '{"dataframe_split": {"columns": ["feature1"], "data": [[1.0]]}}'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121: Model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mlflow.tracking import MlflowClient</a:t>
            </a:r>
            <a:br/>
            <a:br/>
            <a:r>
              <a:t>client = MlflowClient()</a:t>
            </a:r>
            <a:br/>
            <a:br/>
            <a:r>
              <a:t># Register model</a:t>
            </a:r>
            <a:br/>
            <a:r>
              <a:t>version = client.create_model_version(</a:t>
            </a:r>
            <a:br/>
            <a:r>
              <a:t>    name="my_model",</a:t>
            </a:r>
            <a:br/>
            <a:r>
              <a:t>    source="runs:/run_id/model",</a:t>
            </a:r>
            <a:br/>
            <a:r>
              <a:t>    run_id="run_id"</a:t>
            </a:r>
            <a:br/>
            <a:r>
              <a:t>)</a:t>
            </a:r>
            <a:br/>
            <a:br/>
            <a:r>
              <a:t># Transition stage</a:t>
            </a:r>
            <a:br/>
            <a:r>
              <a:t>client.transition_model_version_stage(</a:t>
            </a:r>
            <a:br/>
            <a:r>
              <a:t>    name="my_model",</a:t>
            </a:r>
            <a:br/>
            <a:r>
              <a:t>    version=1,</a:t>
            </a:r>
            <a:br/>
            <a:r>
              <a:t>    stage="Production"</a:t>
            </a:r>
            <a:br/>
            <a:r>
              <a:t>)</a:t>
            </a:r>
            <a:br/>
            <a:br/>
            <a:r>
              <a:t># Get latest versions</a:t>
            </a:r>
            <a:br/>
            <a:r>
              <a:t>latest = client.get_latest_versions("my_model")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122: Registry Stages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**Staging:** Testing and validation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**Production:** Serving predictions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**Archived:** Historical record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**None:** Unstaged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123: Model 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List versions</a:t>
            </a:r>
            <a:br/>
            <a:r>
              <a:t>versions = client.search_model_versions("name='my_model'")</a:t>
            </a:r>
            <a:br/>
            <a:br/>
            <a:r>
              <a:t># Get specific version</a:t>
            </a:r>
            <a:br/>
            <a:r>
              <a:t>version = client.get_model_version("my_model", 1)</a:t>
            </a:r>
            <a:br/>
            <a:br/>
            <a:r>
              <a:t># Update description</a:t>
            </a:r>
            <a:br/>
            <a:r>
              <a:t>client.update_model_version(</a:t>
            </a:r>
            <a:br/>
            <a:r>
              <a:t>    name="my_model",</a:t>
            </a:r>
            <a:br/>
            <a:r>
              <a:t>    version=1,</a:t>
            </a:r>
            <a:br/>
            <a:r>
              <a:t>    description="Improved model with more data"</a:t>
            </a:r>
            <a:br/>
            <a:r>
              <a:t>)</a:t>
            </a:r>
            <a:br/>
            <a:br/>
            <a:r>
              <a:t># Add tags</a:t>
            </a:r>
            <a:br/>
            <a:r>
              <a:t>client.set_model_version_tag(</a:t>
            </a:r>
            <a:br/>
            <a:r>
              <a:t>    name="my_model",</a:t>
            </a:r>
            <a:br/>
            <a:r>
              <a:t>    version=1,</a:t>
            </a:r>
            <a:br/>
            <a:r>
              <a:t>    key="accuracy",</a:t>
            </a:r>
            <a:br/>
            <a:r>
              <a:t>    value="0.95"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124: MLflow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meaningful experiment names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Log all relevant parameters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Track all metrics (training, validation, test)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Store models in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tags for metadata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 runs with descriptions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Version models semantically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stages for lifecycle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Backup artifacts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registry usage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125: MLflow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Track experiments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Log parameters/metrics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Store artifacts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Manage models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Version via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Deploy with serving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7: Advanced MLflow (Slides 126-145)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126: Custom Flavor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mlflow.models import Model, ModelSignature</a:t>
            </a:r>
            <a:br/>
            <a:r>
              <a:t>from mlflow.models.model import MLModel</a:t>
            </a:r>
            <a:br/>
            <a:r>
              <a:t>import cloudpickle</a:t>
            </a:r>
            <a:br/>
            <a:br/>
            <a:r>
              <a:t>class CustomModel:</a:t>
            </a:r>
            <a:br/>
            <a:r>
              <a:t>    def __init__(self, model):</a:t>
            </a:r>
            <a:br/>
            <a:r>
              <a:t>        self.model = model</a:t>
            </a:r>
            <a:br/>
            <a:r>
              <a:t>    </a:t>
            </a:r>
            <a:br/>
            <a:r>
              <a:t>    def predict(self, data):</a:t>
            </a:r>
            <a:br/>
            <a:r>
              <a:t>        return self.model.predict(data)</a:t>
            </a:r>
            <a:br/>
            <a:br/>
            <a:r>
              <a:t>def save_custom_model(model, path):</a:t>
            </a:r>
            <a:br/>
            <a:r>
              <a:t>    import cloudpickle</a:t>
            </a:r>
            <a:br/>
            <a:r>
              <a:t>    with open(path, 'wb') as f:</a:t>
            </a:r>
            <a:br/>
            <a:r>
              <a:t>        cloudpickle.dump(model, f)</a:t>
            </a:r>
            <a:br/>
            <a:r>
              <a:t>    </a:t>
            </a:r>
            <a:br/>
            <a:r>
              <a:t>    mlflow.pyfunc.save_model(</a:t>
            </a:r>
            <a:br/>
            <a:r>
              <a:t>        path=path,</a:t>
            </a:r>
            <a:br/>
            <a:r>
              <a:t>        python_model=model,</a:t>
            </a:r>
            <a:br/>
            <a:r>
              <a:t>        code_paths=["src/"]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127: Custom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class CustomArtifact:</a:t>
            </a:r>
            <a:br/>
            <a:r>
              <a:t>    def __init__(self, data):</a:t>
            </a:r>
            <a:br/>
            <a:r>
              <a:t>        self.data = data</a:t>
            </a:r>
            <a:br/>
            <a:r>
              <a:t>    </a:t>
            </a:r>
            <a:br/>
            <a:r>
              <a:t>    def save(self, path):</a:t>
            </a:r>
            <a:br/>
            <a:r>
              <a:t>        import json</a:t>
            </a:r>
            <a:br/>
            <a:r>
              <a:t>        with open(path, 'w') as f:</a:t>
            </a:r>
            <a:br/>
            <a:r>
              <a:t>            json.dump(self.data, f)</a:t>
            </a:r>
            <a:br/>
            <a:br/>
            <a:r>
              <a:t># Log custom artifact</a:t>
            </a:r>
            <a:br/>
            <a:r>
              <a:t>mlflow.log_artifact("custom_artifact.json")</a:t>
            </a:r>
            <a:br/>
            <a:br/>
            <a:r>
              <a:t># Load custom artifact</a:t>
            </a:r>
            <a:br/>
            <a:r>
              <a:t>import json</a:t>
            </a:r>
            <a:br/>
            <a:r>
              <a:t>with open("artifacts/custom_artifact.json", 'r') as f:</a:t>
            </a:r>
            <a:br/>
            <a:r>
              <a:t>    data = json.load(f)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128: MLflow with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Dockerfile</a:t>
            </a:r>
            <a:br/>
            <a:r>
              <a:t>FROM python:3.10-slim</a:t>
            </a:r>
            <a:br/>
            <a:br/>
            <a:r>
              <a:t>WORKDIR /app</a:t>
            </a:r>
            <a:br/>
            <a:r>
              <a:t>COPY requirements.txt .</a:t>
            </a:r>
            <a:br/>
            <a:r>
              <a:t>RUN pip install -r requirements.txt</a:t>
            </a:r>
            <a:br/>
            <a:br/>
            <a:r>
              <a:t>COPY . .</a:t>
            </a:r>
            <a:br/>
            <a:br/>
            <a:r>
              <a:t>CMD ["mlflow", "models", "serve", "-m", "models:/my_model/Production"]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129: MLflow with Kubernetes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deployment.yaml</a:t>
            </a:r>
            <a:br/>
            <a:r>
              <a:t>apiVersion: apps/v1</a:t>
            </a:r>
            <a:br/>
            <a:r>
              <a:t>kind: Deployment</a:t>
            </a:r>
            <a:br/>
            <a:r>
              <a:t>metadata:</a:t>
            </a:r>
            <a:br/>
            <a:r>
              <a:t>  name: mlflow-server</a:t>
            </a:r>
            <a:br/>
            <a:r>
              <a:t>spec:</a:t>
            </a:r>
            <a:br/>
            <a:r>
              <a:t>  replicas: 1</a:t>
            </a:r>
            <a:br/>
            <a:r>
              <a:t>  selector:</a:t>
            </a:r>
            <a:br/>
            <a:r>
              <a:t>    matchLabels:</a:t>
            </a:r>
            <a:br/>
            <a:r>
              <a:t>      app: mlflow</a:t>
            </a:r>
            <a:br/>
            <a:r>
              <a:t>  template:</a:t>
            </a:r>
            <a:br/>
            <a:r>
              <a:t>    metadata:</a:t>
            </a:r>
            <a:br/>
            <a:r>
              <a:t>      labels:</a:t>
            </a:r>
            <a:br/>
            <a:r>
              <a:t>        app: mlflow</a:t>
            </a:r>
            <a:br/>
            <a:r>
              <a:t>    spec:</a:t>
            </a:r>
            <a:br/>
            <a:r>
              <a:t>      containers:</a:t>
            </a:r>
            <a:br/>
            <a:r>
              <a:t>      - name: mlflow</a:t>
            </a:r>
            <a:br/>
            <a:r>
              <a:t>        image: mlflow:latest</a:t>
            </a:r>
            <a:br/>
            <a:r>
              <a:t>        ports:</a:t>
            </a:r>
            <a:br/>
            <a:r>
              <a:t>        - containerPort: 5000</a:t>
            </a:r>
            <a:br/>
            <a:r>
              <a:t>        env:</a:t>
            </a:r>
            <a:br/>
            <a:r>
              <a:t>        - name: MLFLOW_TRACKING_URI</a:t>
            </a:r>
            <a:br/>
            <a:r>
              <a:t>          value: "postgresql://..."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130: MLflow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Basic auth</a:t>
            </a:r>
            <a:br/>
            <a:r>
              <a:t>import requests</a:t>
            </a:r>
            <a:br/>
            <a:r>
              <a:t>from requests.auth import HTTPBasicAuth</a:t>
            </a:r>
            <a:br/>
            <a:br/>
            <a:r>
              <a:t>response = requests.post(</a:t>
            </a:r>
            <a:br/>
            <a:r>
              <a:t>    "http://localhost:5000/api/2.0/mlflow/runs/search",</a:t>
            </a:r>
            <a:br/>
            <a:r>
              <a:t>    auth=HTTPBasicAuth("user", "pass"),</a:t>
            </a:r>
            <a:br/>
            <a:r>
              <a:t>    json={"experiment_ids": ["0"]}</a:t>
            </a:r>
            <a:br/>
            <a:r>
              <a:t>)</a:t>
            </a:r>
            <a:br/>
            <a:br/>
            <a:r>
              <a:t># Environment variables</a:t>
            </a:r>
            <a:br/>
            <a:r>
              <a:t>os.environ['MLFLOW_TRACKING_USERNAME'] = 'user'</a:t>
            </a:r>
            <a:br/>
            <a:r>
              <a:t>os.environ['MLFLOW_TRACKING_PASSWORD'] = 'pass'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131: MLflow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Batch logging</a:t>
            </a:r>
            <a:br/>
            <a:r>
              <a:t>import time</a:t>
            </a:r>
            <a:br/>
            <a:r>
              <a:t>class BatchLogger:</a:t>
            </a:r>
            <a:br/>
            <a:r>
              <a:t>    def __init__(self):</a:t>
            </a:r>
            <a:br/>
            <a:r>
              <a:t>        self.batch = []</a:t>
            </a:r>
            <a:br/>
            <a:r>
              <a:t>        self.batch_size = 100</a:t>
            </a:r>
            <a:br/>
            <a:r>
              <a:t>    </a:t>
            </a:r>
            <a:br/>
            <a:r>
              <a:t>    def log_metric(self, key, value):</a:t>
            </a:r>
            <a:br/>
            <a:r>
              <a:t>        self.batch.append((key, value))</a:t>
            </a:r>
            <a:br/>
            <a:r>
              <a:t>        if len(self.batch) &gt;= self.batch_size:</a:t>
            </a:r>
            <a:br/>
            <a:r>
              <a:t>            self.flush()</a:t>
            </a:r>
            <a:br/>
            <a:r>
              <a:t>    </a:t>
            </a:r>
            <a:br/>
            <a:r>
              <a:t>    def flush(self):</a:t>
            </a:r>
            <a:br/>
            <a:r>
              <a:t>        for key, value in self.batch:</a:t>
            </a:r>
            <a:br/>
            <a:r>
              <a:t>            mlflow.log_metric(key, value)</a:t>
            </a:r>
            <a:br/>
            <a:r>
              <a:t>        self.batch = []</a:t>
            </a:r>
            <a:br/>
            <a:br/>
            <a:r>
              <a:t># Connection pooling</a:t>
            </a:r>
            <a:br/>
            <a:r>
              <a:t>import requests</a:t>
            </a:r>
            <a:br/>
            <a:r>
              <a:t>from requests.adapters import HTTPAdapter</a:t>
            </a:r>
            <a:br/>
            <a:r>
              <a:t>session = requests.Session()</a:t>
            </a:r>
            <a:br/>
            <a:r>
              <a:t>adapter = HTTPAdapter(pool_connections=10, pool_maxsize=20)</a:t>
            </a:r>
            <a:br/>
            <a:r>
              <a:t>session.mount('http://', adapter)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132: MLflow with Apache 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pyspark.ml import Pipeline</a:t>
            </a:r>
            <a:br/>
            <a:r>
              <a:t>from pyspark.ml.classification import RandomForestClassifier</a:t>
            </a:r>
            <a:br/>
            <a:r>
              <a:t>import mlflow</a:t>
            </a:r>
            <a:br/>
            <a:r>
              <a:t>import mlflow.spark</a:t>
            </a:r>
            <a:br/>
            <a:br/>
            <a:r>
              <a:t># Log Spark model</a:t>
            </a:r>
            <a:br/>
            <a:r>
              <a:t>with mlflow.start_run():</a:t>
            </a:r>
            <a:br/>
            <a:r>
              <a:t>    model = RandomForestClassifier()</a:t>
            </a:r>
            <a:br/>
            <a:r>
              <a:t>    pipeline = Pipeline(stages=[model])</a:t>
            </a:r>
            <a:br/>
            <a:r>
              <a:t>    </a:t>
            </a:r>
            <a:br/>
            <a:r>
              <a:t>    mlflow.spark.log_model(</a:t>
            </a:r>
            <a:br/>
            <a:r>
              <a:t>        spark_model=pipeline,</a:t>
            </a:r>
            <a:br/>
            <a:r>
              <a:t>        artifact_path="spark_model",</a:t>
            </a:r>
            <a:br/>
            <a:r>
              <a:t>        registered_model_name="spark_model"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133: MLflow with TensorFlow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tensorflow as tf</a:t>
            </a:r>
            <a:br/>
            <a:r>
              <a:t>import mlflow.tensorflow</a:t>
            </a:r>
            <a:br/>
            <a:br/>
            <a:r>
              <a:t># Log TF model</a:t>
            </a:r>
            <a:br/>
            <a:r>
              <a:t>with mlflow.start_run():</a:t>
            </a:r>
            <a:br/>
            <a:r>
              <a:t>    model = tf.keras.Sequential([</a:t>
            </a:r>
            <a:br/>
            <a:r>
              <a:t>        tf.keras.layers.Dense(64, activation='relu'),</a:t>
            </a:r>
            <a:br/>
            <a:r>
              <a:t>        tf.keras.layers.Dense(1, activation='sigmoid')</a:t>
            </a:r>
            <a:br/>
            <a:r>
              <a:t>    ])</a:t>
            </a:r>
            <a:br/>
            <a:r>
              <a:t>    </a:t>
            </a:r>
            <a:br/>
            <a:r>
              <a:t>    # Keras callback</a:t>
            </a:r>
            <a:br/>
            <a:r>
              <a:t>    callback = mlflow.tensorflow.MlflowCallback()</a:t>
            </a:r>
            <a:br/>
            <a:r>
              <a:t>    model.fit(X, y, callbacks=[callback])</a:t>
            </a:r>
            <a:br/>
            <a:r>
              <a:t>    </a:t>
            </a:r>
            <a:br/>
            <a:r>
              <a:t>    mlflow.tensorflow.log_model(model, "tf_model")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134: MLflow with PyTorch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torch</a:t>
            </a:r>
            <a:br/>
            <a:r>
              <a:t>import torch.nn as nn</a:t>
            </a:r>
            <a:br/>
            <a:r>
              <a:t>import mlflow.pytorch</a:t>
            </a:r>
            <a:br/>
            <a:br/>
            <a:r>
              <a:t># Log PyTorch model</a:t>
            </a:r>
            <a:br/>
            <a:r>
              <a:t>with mlflow.start_run():</a:t>
            </a:r>
            <a:br/>
            <a:r>
              <a:t>    model = nn.Sequential(</a:t>
            </a:r>
            <a:br/>
            <a:r>
              <a:t>        nn.Linear(10, 64),</a:t>
            </a:r>
            <a:br/>
            <a:r>
              <a:t>        nn.ReLU(),</a:t>
            </a:r>
            <a:br/>
            <a:r>
              <a:t>        nn.Linear(64, 1),</a:t>
            </a:r>
            <a:br/>
            <a:r>
              <a:t>        nn.Sigmoid()</a:t>
            </a:r>
            <a:br/>
            <a:r>
              <a:t>    )</a:t>
            </a:r>
            <a:br/>
            <a:r>
              <a:t>    </a:t>
            </a:r>
            <a:br/>
            <a:r>
              <a:t>    mlflow.pytorch.log_model(model, "pytorch_model")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135: MLflow with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xgboost as xgb</a:t>
            </a:r>
            <a:br/>
            <a:r>
              <a:t>import mlflow.xgboost</a:t>
            </a:r>
            <a:br/>
            <a:br/>
            <a:r>
              <a:t># Log XGBoost model</a:t>
            </a:r>
            <a:br/>
            <a:r>
              <a:t>with mlflow.start_run():</a:t>
            </a:r>
            <a:br/>
            <a:r>
              <a:t>    model = xgb.XGBClassifier(</a:t>
            </a:r>
            <a:br/>
            <a:r>
              <a:t>        n_estimators=100,</a:t>
            </a:r>
            <a:br/>
            <a:r>
              <a:t>        learning_rate=0.1,</a:t>
            </a:r>
            <a:br/>
            <a:r>
              <a:t>        max_depth=5</a:t>
            </a:r>
            <a:br/>
            <a:r>
              <a:t>    )</a:t>
            </a:r>
            <a:br/>
            <a:r>
              <a:t>    </a:t>
            </a:r>
            <a:br/>
            <a:r>
              <a:t>    model.fit(X, y)</a:t>
            </a:r>
            <a:br/>
            <a:r>
              <a:t>    mlflow.xgboost.log_model(model, "xgboost_model")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136: MLflow with LightGBM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lightgbm as lgb</a:t>
            </a:r>
            <a:br/>
            <a:r>
              <a:t>import mlflow.lightgbm</a:t>
            </a:r>
            <a:br/>
            <a:br/>
            <a:r>
              <a:t># Log LightGBM model</a:t>
            </a:r>
            <a:br/>
            <a:r>
              <a:t>with mlflow.start_run():</a:t>
            </a:r>
            <a:br/>
            <a:r>
              <a:t>    model = lgb.LGBMClassifier(</a:t>
            </a:r>
            <a:br/>
            <a:r>
              <a:t>        n_estimators=100,</a:t>
            </a:r>
            <a:br/>
            <a:r>
              <a:t>        learning_rate=0.1,</a:t>
            </a:r>
            <a:br/>
            <a:r>
              <a:t>        max_depth=5</a:t>
            </a:r>
            <a:br/>
            <a:r>
              <a:t>    )</a:t>
            </a:r>
            <a:br/>
            <a:r>
              <a:t>    </a:t>
            </a:r>
            <a:br/>
            <a:r>
              <a:t>    model.fit(X, y)</a:t>
            </a:r>
            <a:br/>
            <a:r>
              <a:t>    mlflow.lightgbm.log_model(model, "lightgbm_model")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137: MLflow Integration with DVC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dvc.api</a:t>
            </a:r>
            <a:br/>
            <a:r>
              <a:t>import mlflow</a:t>
            </a:r>
            <a:br/>
            <a:br/>
            <a:r>
              <a:t>def track_data_version(data_path):</a:t>
            </a:r>
            <a:br/>
            <a:r>
              <a:t>    # Get DVC version</a:t>
            </a:r>
            <a:br/>
            <a:r>
              <a:t>    with dvc.api.open(data_path) as f:</a:t>
            </a:r>
            <a:br/>
            <a:r>
              <a:t>        import hashlib</a:t>
            </a:r>
            <a:br/>
            <a:r>
              <a:t>        hash = hashlib.md5(f.read()).hexdigest()</a:t>
            </a:r>
            <a:br/>
            <a:r>
              <a:t>    </a:t>
            </a:r>
            <a:br/>
            <a:r>
              <a:t>    # Log to MLflow</a:t>
            </a:r>
            <a:br/>
            <a:r>
              <a:t>    mlflow.log_param("data_version", hash)</a:t>
            </a:r>
            <a:br/>
            <a:r>
              <a:t>    mlflow.set_tag("data_file", data_path)</a:t>
            </a:r>
            <a:br/>
            <a:r>
              <a:t>    </a:t>
            </a:r>
            <a:br/>
            <a:r>
              <a:t>    return hash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138: MLflow Integration with Dagster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op, resource, job</a:t>
            </a:r>
            <a:br/>
            <a:r>
              <a:t>import mlflow</a:t>
            </a:r>
            <a:br/>
            <a:br/>
            <a:r>
              <a:t>@resource</a:t>
            </a:r>
            <a:br/>
            <a:r>
              <a:t>def mlflow_resource():</a:t>
            </a:r>
            <a:br/>
            <a:r>
              <a:t>    mlflow.set_tracking_uri("./mlruns")</a:t>
            </a:r>
            <a:br/>
            <a:r>
              <a:t>    return mlflow</a:t>
            </a:r>
            <a:br/>
            <a:br/>
            <a:r>
              <a:t>@op(required_resource_keys={"mlflow"})</a:t>
            </a:r>
            <a:br/>
            <a:r>
              <a:t>def train_model(context):</a:t>
            </a:r>
            <a:br/>
            <a:r>
              <a:t>    mlflow = context.resources.mlflow</a:t>
            </a:r>
            <a:br/>
            <a:r>
              <a:t>    with mlflow.start_run():</a:t>
            </a:r>
            <a:br/>
            <a:r>
              <a:t>        # Train model</a:t>
            </a:r>
            <a:br/>
            <a:r>
              <a:t>        model = train()</a:t>
            </a:r>
            <a:br/>
            <a:r>
              <a:t>        mlflow.log_metric("accuracy", 0.95)</a:t>
            </a:r>
            <a:br/>
            <a:br/>
            <a:r>
              <a:t>@job(resource_defs={"mlflow": mlflow_resource})</a:t>
            </a:r>
            <a:br/>
            <a:r>
              <a:t>def ml_pipeline():</a:t>
            </a:r>
            <a:br/>
            <a:r>
              <a:t>    train_model()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139: MLflow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Connection refused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Check tracking URI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Duplicate runs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Use unique run names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Large artifacts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Use multipart upload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Slow UI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Use PostgreSQL backend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Missing artifacts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Check artifact path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140: MLflow Performance Tips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batch logging for many metrics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connection pooling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Limit artifact size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binary formats (Parquet)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Compress artifacts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remote server for scale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Cache frequently accessed data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141: MLflow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Monitor run status</a:t>
            </a:r>
            <a:br/>
            <a:r>
              <a:t>def monitor_run(run_id, interval=10):</a:t>
            </a:r>
            <a:br/>
            <a:r>
              <a:t>    while True:</a:t>
            </a:r>
            <a:br/>
            <a:r>
              <a:t>        run = mlflow.get_run(run_id)</a:t>
            </a:r>
            <a:br/>
            <a:r>
              <a:t>        if run.info.status != "RUNNING":</a:t>
            </a:r>
            <a:br/>
            <a:r>
              <a:t>            break</a:t>
            </a:r>
            <a:br/>
            <a:r>
              <a:t>        time.sleep(interval)</a:t>
            </a:r>
            <a:br/>
            <a:br/>
            <a:r>
              <a:t># Get run metrics</a:t>
            </a:r>
            <a:br/>
            <a:r>
              <a:t>run = mlflow.get_run(run_id)</a:t>
            </a:r>
            <a:br/>
            <a:r>
              <a:t>metrics = run.data.metrics</a:t>
            </a:r>
            <a:br/>
            <a:r>
              <a:t>params = run.data.params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142: MLflow Export/Import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Export experiment</a:t>
            </a:r>
            <a:br/>
            <a:r>
              <a:t>import json</a:t>
            </a:r>
            <a:br/>
            <a:r>
              <a:t>def export_experiment(experiment_name):</a:t>
            </a:r>
            <a:br/>
            <a:r>
              <a:t>    experiment = mlflow.get_experiment_by_name(experiment_name)</a:t>
            </a:r>
            <a:br/>
            <a:r>
              <a:t>    runs = mlflow.search_runs(experiment_ids=[experiment.experiment_id])</a:t>
            </a:r>
            <a:br/>
            <a:r>
              <a:t>    </a:t>
            </a:r>
            <a:br/>
            <a:r>
              <a:t>    # Convert to JSON</a:t>
            </a:r>
            <a:br/>
            <a:r>
              <a:t>    data = {</a:t>
            </a:r>
            <a:br/>
            <a:r>
              <a:t>        "experiment": experiment.__dict__,</a:t>
            </a:r>
            <a:br/>
            <a:r>
              <a:t>        "runs": runs.to_dict()</a:t>
            </a:r>
            <a:br/>
            <a:r>
              <a:t>    }</a:t>
            </a:r>
            <a:br/>
            <a:r>
              <a:t>    </a:t>
            </a:r>
            <a:br/>
            <a:r>
              <a:t>    with open("experiment.json", 'w') as f:</a:t>
            </a:r>
            <a:br/>
            <a:r>
              <a:t>        json.dump(data, f, default=str)</a:t>
            </a:r>
            <a:br/>
            <a:br/>
            <a:r>
              <a:t># Import experiment</a:t>
            </a:r>
            <a:br/>
            <a:r>
              <a:t>def import_experiment(file_path):</a:t>
            </a:r>
            <a:br/>
            <a:r>
              <a:t>    with open(file_path, 'r') as f:</a:t>
            </a:r>
            <a:br/>
            <a:r>
              <a:t>        data = json.load(f)</a:t>
            </a:r>
            <a:br/>
            <a:r>
              <a:t>    # Recreate experiment and runs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143: MLflow Best Practices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meaningful experiment names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Log all parameters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Track relevant metrics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Store model artifacts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registry stages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Tag runs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 experiments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Version models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performance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Backup data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144: MLflow 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setting tracking URI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Hardcoding paths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Missing parameter logging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using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Too many artifacts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tagging runs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Ignoring model stages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documenting models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monitoring performance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backing up experiments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145: MLflow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Experiment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Parameter/metric logging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Artifact storage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Model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Stage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Deployment capabilities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8: Model Registry (Slides 146-160)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146: Model Registry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**What:** Centralized model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**Why:** Versioning, governance, collaboration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**Components:**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Registered Model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Version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Stages (Staging, Production, Archived)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Tags/Annotations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147: Registry vs.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Tracking                    Registry</a:t>
            </a:r>
            <a:br/>
            <a:r>
              <a:t>────────                    ────────</a:t>
            </a:r>
            <a:br/>
            <a:r>
              <a:t>Experiment runs             Model versions</a:t>
            </a:r>
            <a:br/>
            <a:r>
              <a:t>Parameters/Metrics          Model artifacts</a:t>
            </a:r>
            <a:br/>
            <a:r>
              <a:t>Temporary storage           Long-term storage</a:t>
            </a:r>
            <a:br/>
            <a:r>
              <a:t>Experiment analysis         Production management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148: Setting Up Registry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mlflow.tracking import MlflowClient</a:t>
            </a:r>
            <a:br/>
            <a:br/>
            <a:r>
              <a:t>client = MlflowClient()</a:t>
            </a:r>
            <a:br/>
            <a:br/>
            <a:r>
              <a:t># Create registered model</a:t>
            </a:r>
            <a:br/>
            <a:r>
              <a:t>registered_model = client.create_registered_model(</a:t>
            </a:r>
            <a:br/>
            <a:r>
              <a:t>    name="predictive_maintenance_model",</a:t>
            </a:r>
            <a:br/>
            <a:r>
              <a:t>    tags={"team": "mlops", "project": "maintenance"},</a:t>
            </a:r>
            <a:br/>
            <a:r>
              <a:t>    description="Model for predicting equipment failures"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149: Registering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Register from run</a:t>
            </a:r>
            <a:br/>
            <a:r>
              <a:t>model_version = client.create_model_version(</a:t>
            </a:r>
            <a:br/>
            <a:r>
              <a:t>    name="predictive_maintenance_model",</a:t>
            </a:r>
            <a:br/>
            <a:r>
              <a:t>    source="runs:/run_id/model",</a:t>
            </a:r>
            <a:br/>
            <a:r>
              <a:t>    run_id="run_id",</a:t>
            </a:r>
            <a:br/>
            <a:r>
              <a:t>    tags={"accuracy": "0.95"}</a:t>
            </a:r>
            <a:br/>
            <a:r>
              <a:t>)</a:t>
            </a:r>
            <a:br/>
            <a:br/>
            <a:r>
              <a:t># Register directly</a:t>
            </a:r>
            <a:br/>
            <a:r>
              <a:t>mlflow.sklearn.log_model(</a:t>
            </a:r>
            <a:br/>
            <a:r>
              <a:t>    sk_model=model,</a:t>
            </a:r>
            <a:br/>
            <a:r>
              <a:t>    artifact_path="model",</a:t>
            </a:r>
            <a:br/>
            <a:r>
              <a:t>    registered_model_name="predictive_maintenance_model"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150: Version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List versions</a:t>
            </a:r>
            <a:br/>
            <a:r>
              <a:t>versions = client.search_model_versions("name='predictive_maintenance_model'")</a:t>
            </a:r>
            <a:br/>
            <a:br/>
            <a:r>
              <a:t># Get version</a:t>
            </a:r>
            <a:br/>
            <a:r>
              <a:t>version = client.get_model_version(</a:t>
            </a:r>
            <a:br/>
            <a:r>
              <a:t>    name="predictive_maintenance_model",</a:t>
            </a:r>
            <a:br/>
            <a:r>
              <a:t>    version=1</a:t>
            </a:r>
            <a:br/>
            <a:r>
              <a:t>)</a:t>
            </a:r>
            <a:br/>
            <a:br/>
            <a:r>
              <a:t># Update version</a:t>
            </a:r>
            <a:br/>
            <a:r>
              <a:t>client.update_model_version(</a:t>
            </a:r>
            <a:br/>
            <a:r>
              <a:t>    name="predictive_maintenance_model",</a:t>
            </a:r>
            <a:br/>
            <a:r>
              <a:t>    version=1,</a:t>
            </a:r>
            <a:br/>
            <a:r>
              <a:t>    description="Improved with additional features"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151: Stage 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Transition to Staging</a:t>
            </a:r>
            <a:br/>
            <a:r>
              <a:t>client.transition_model_version_stage(</a:t>
            </a:r>
            <a:br/>
            <a:r>
              <a:t>    name="predictive_maintenance_model",</a:t>
            </a:r>
            <a:br/>
            <a:r>
              <a:t>    version=1,</a:t>
            </a:r>
            <a:br/>
            <a:r>
              <a:t>    stage="Staging"</a:t>
            </a:r>
            <a:br/>
            <a:r>
              <a:t>)</a:t>
            </a:r>
            <a:br/>
            <a:br/>
            <a:r>
              <a:t># Transition to Production (auto-archive)</a:t>
            </a:r>
            <a:br/>
            <a:r>
              <a:t>client.transition_model_version_stage(</a:t>
            </a:r>
            <a:br/>
            <a:r>
              <a:t>    name="predictive_maintenance_model",</a:t>
            </a:r>
            <a:br/>
            <a:r>
              <a:t>    version=1,</a:t>
            </a:r>
            <a:br/>
            <a:r>
              <a:t>    stage="Production",</a:t>
            </a:r>
            <a:br/>
            <a:r>
              <a:t>    archive_existing_versions=True</a:t>
            </a:r>
            <a:br/>
            <a:r>
              <a:t>)</a:t>
            </a:r>
            <a:br/>
            <a:br/>
            <a:r>
              <a:t># Transition to Archived</a:t>
            </a:r>
            <a:br/>
            <a:r>
              <a:t>client.transition_model_version_stage(</a:t>
            </a:r>
            <a:br/>
            <a:r>
              <a:t>    name="predictive_maintenance_model",</a:t>
            </a:r>
            <a:br/>
            <a:r>
              <a:t>    version=1,</a:t>
            </a:r>
            <a:br/>
            <a:r>
              <a:t>    stage="Archived"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152: Model Versioning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v1.0.0 → Staging → v1.0.1 → Staging → Production</a:t>
            </a:r>
            <a:br/>
            <a:r>
              <a:t>             ↓                    ↓</a:t>
            </a:r>
            <a:br/>
            <a:r>
              <a:t>v2.0.0 → Staging → Production → Archived</a:t>
            </a:r>
            <a:br/>
            <a:r>
              <a:t>             ↓                    ↓</a:t>
            </a:r>
            <a:br/>
            <a:r>
              <a:t>v2.1.0 → Staging                Archived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153: Promoting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def promote_model(model_name, version):</a:t>
            </a:r>
            <a:br/>
            <a:r>
              <a:t>    # Validate</a:t>
            </a:r>
            <a:br/>
            <a:r>
              <a:t>    version = client.get_model_version(model_name, version)</a:t>
            </a:r>
            <a:br/>
            <a:r>
              <a:t>    run = mlflow.get_run(version.run_id)</a:t>
            </a:r>
            <a:br/>
            <a:r>
              <a:t>    </a:t>
            </a:r>
            <a:br/>
            <a:r>
              <a:t>    # Check metrics</a:t>
            </a:r>
            <a:br/>
            <a:r>
              <a:t>    metrics = run.data.metrics</a:t>
            </a:r>
            <a:br/>
            <a:r>
              <a:t>    if metrics.get('f1', 0) &lt; 0.85:</a:t>
            </a:r>
            <a:br/>
            <a:r>
              <a:t>        raise ValueError("Model does not meet criteria")</a:t>
            </a:r>
            <a:br/>
            <a:r>
              <a:t>    </a:t>
            </a:r>
            <a:br/>
            <a:r>
              <a:t>    # Promote</a:t>
            </a:r>
            <a:br/>
            <a:r>
              <a:t>    client.transition_model_version_stage(</a:t>
            </a:r>
            <a:br/>
            <a:r>
              <a:t>        name=model_name,</a:t>
            </a:r>
            <a:br/>
            <a:r>
              <a:t>        version=version,</a:t>
            </a:r>
            <a:br/>
            <a:r>
              <a:t>        stage="Production",</a:t>
            </a:r>
            <a:br/>
            <a:r>
              <a:t>        archive_existing_versions=True</a:t>
            </a:r>
            <a:br/>
            <a:r>
              <a:t>    )</a:t>
            </a:r>
            <a:br/>
            <a:r>
              <a:t>    </a:t>
            </a:r>
            <a:br/>
            <a:r>
              <a:t>    # Add metadata</a:t>
            </a:r>
            <a:br/>
            <a:r>
              <a:t>    client.set_model_version_tag(</a:t>
            </a:r>
            <a:br/>
            <a:r>
              <a:t>        name=model_name,</a:t>
            </a:r>
            <a:br/>
            <a:r>
              <a:t>        version=version,</a:t>
            </a:r>
            <a:br/>
            <a:r>
              <a:t>        key="promoted_by",</a:t>
            </a:r>
            <a:br/>
            <a:r>
              <a:t>        value="validation_pipeline"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154: Model Lineage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Trace model lineage</a:t>
            </a:r>
            <a:br/>
            <a:r>
              <a:t>def trace_lineage(model_name, version):</a:t>
            </a:r>
            <a:br/>
            <a:r>
              <a:t>    version = client.get_model_version(model_name, version)</a:t>
            </a:r>
            <a:br/>
            <a:r>
              <a:t>    run = mlflow.get_run(version.run_id)</a:t>
            </a:r>
            <a:br/>
            <a:r>
              <a:t>    </a:t>
            </a:r>
            <a:br/>
            <a:r>
              <a:t>    lineage = {</a:t>
            </a:r>
            <a:br/>
            <a:r>
              <a:t>        "model": model_name,</a:t>
            </a:r>
            <a:br/>
            <a:r>
              <a:t>        "version": version.version,</a:t>
            </a:r>
            <a:br/>
            <a:r>
              <a:t>        "run_id": version.run_id,</a:t>
            </a:r>
            <a:br/>
            <a:r>
              <a:t>        "params": run.data.params,</a:t>
            </a:r>
            <a:br/>
            <a:r>
              <a:t>        "metrics": run.data.metrics,</a:t>
            </a:r>
            <a:br/>
            <a:r>
              <a:t>        "tags": run.data.tags,</a:t>
            </a:r>
            <a:br/>
            <a:r>
              <a:t>        "dataset": run.data.tags.get("dataset_version")</a:t>
            </a:r>
            <a:br/>
            <a:r>
              <a:t>    }</a:t>
            </a:r>
            <a:br/>
            <a:r>
              <a:t>    return lineage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155: Model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Development → Staging → Production → Archived</a:t>
            </a:r>
            <a:br/>
            <a:r>
              <a:t>     ↓           ↓           ↓           ↓</a:t>
            </a:r>
            <a:br/>
            <a:r>
              <a:t>  Experiment  Validation  Serving    Historical</a:t>
            </a:r>
            <a:br/>
            <a:r>
              <a:t>  Tracking    Testing     Deployment  Record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156: Model Metadata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Add metadata</a:t>
            </a:r>
            <a:br/>
            <a:r>
              <a:t>client.set_model_version_tag(</a:t>
            </a:r>
            <a:br/>
            <a:r>
              <a:t>    name="model",</a:t>
            </a:r>
            <a:br/>
            <a:r>
              <a:t>    version=1,</a:t>
            </a:r>
            <a:br/>
            <a:r>
              <a:t>    key="metadata",</a:t>
            </a:r>
            <a:br/>
            <a:r>
              <a:t>    value=json.dumps({</a:t>
            </a:r>
            <a:br/>
            <a:r>
              <a:t>        "training_date": "2024-01-01",</a:t>
            </a:r>
            <a:br/>
            <a:r>
              <a:t>        "dataset_version": "v1.0.0",</a:t>
            </a:r>
            <a:br/>
            <a:r>
              <a:t>        "test_accuracy": 0.95,</a:t>
            </a:r>
            <a:br/>
            <a:r>
              <a:t>        "feature_importance": {"feature1": 0.3, "feature2": 0.2}</a:t>
            </a:r>
            <a:br/>
            <a:r>
              <a:t>    })</a:t>
            </a:r>
            <a:br/>
            <a:r>
              <a:t>)</a:t>
            </a:r>
            <a:br/>
            <a:br/>
            <a:r>
              <a:t># Retrieve metadata</a:t>
            </a:r>
            <a:br/>
            <a:r>
              <a:t>version = client.get_model_version("model", 1)</a:t>
            </a:r>
            <a:br/>
            <a:r>
              <a:t>metadata = json.loads(version.tags.get("metadata", "{}"))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157: Model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Search by name</a:t>
            </a:r>
            <a:br/>
            <a:r>
              <a:t>models = client.search_registered_models()</a:t>
            </a:r>
            <a:br/>
            <a:br/>
            <a:r>
              <a:t># Search by filter</a:t>
            </a:r>
            <a:br/>
            <a:r>
              <a:t>models = client.search_registered_models(</a:t>
            </a:r>
            <a:br/>
            <a:r>
              <a:t>    filter_string="tags.team = 'mlops'"</a:t>
            </a:r>
            <a:br/>
            <a:r>
              <a:t>)</a:t>
            </a:r>
            <a:br/>
            <a:br/>
            <a:r>
              <a:t># Search versions</a:t>
            </a:r>
            <a:br/>
            <a:r>
              <a:t>versions = client.search_model_versions(</a:t>
            </a:r>
            <a:br/>
            <a:r>
              <a:t>    filter_string="name='model' AND current_stage='Production'"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158: Registry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CI/CD integration</a:t>
            </a:r>
            <a:br/>
            <a:r>
              <a:t>def register_model_from_ci(run_id):</a:t>
            </a:r>
            <a:br/>
            <a:r>
              <a:t>    client = MlflowClient()</a:t>
            </a:r>
            <a:br/>
            <a:r>
              <a:t>    </a:t>
            </a:r>
            <a:br/>
            <a:r>
              <a:t>    # Get run</a:t>
            </a:r>
            <a:br/>
            <a:r>
              <a:t>    run = mlflow.get_run(run_id)</a:t>
            </a:r>
            <a:br/>
            <a:r>
              <a:t>    metrics = run.data.metrics</a:t>
            </a:r>
            <a:br/>
            <a:r>
              <a:t>    </a:t>
            </a:r>
            <a:br/>
            <a:r>
              <a:t>    # Create model</a:t>
            </a:r>
            <a:br/>
            <a:r>
              <a:t>    client.create_model_version(</a:t>
            </a:r>
            <a:br/>
            <a:r>
              <a:t>        name="ci_cd_model",</a:t>
            </a:r>
            <a:br/>
            <a:r>
              <a:t>        source=f"runs:/{run_id}/model",</a:t>
            </a:r>
            <a:br/>
            <a:r>
              <a:t>        run_id=run_id</a:t>
            </a:r>
            <a:br/>
            <a:r>
              <a:t>    )</a:t>
            </a:r>
            <a:br/>
            <a:r>
              <a:t>    </a:t>
            </a:r>
            <a:br/>
            <a:r>
              <a:t>    # Stage based on metrics</a:t>
            </a:r>
            <a:br/>
            <a:r>
              <a:t>    if metrics.get('f1', 0) &gt; 0.90:</a:t>
            </a:r>
            <a:br/>
            <a:r>
              <a:t>        client.transition_model_version_stage(</a:t>
            </a:r>
            <a:br/>
            <a:r>
              <a:t>            name="ci_cd_model",</a:t>
            </a:r>
            <a:br/>
            <a:r>
              <a:t>            version=1,</a:t>
            </a:r>
            <a:br/>
            <a:r>
              <a:t>            stage="Production"</a:t>
            </a:r>
            <a:br/>
            <a:r>
              <a:t>        )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159: Registry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descriptive model names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Version models semantically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 model versions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stages for lifecycle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Add metadata/tags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production models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Archive old models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Track lineage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Validate before promotion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Automate where possible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160: Registry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Centralized model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Version control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Stage transitions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Metadata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Lineage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Integration with CI/CD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 Light"/>
              </a:defRPr>
            </a:pPr>
            <a:r>
              <a:t>SECTION 4: PIPELINE ORCHESTRATION WITH DAGSTER (Slides 161-220)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9: Dagster Fundamentals (Slides 161-185)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161: Dagster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**What is Dagster?**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orchestration platform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Modern alternative to Airflow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Type-safe and testable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Asset-aware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**Key Features:**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Assets (data lineage)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Ops (transformations)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Jobs (pipelines)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Schedules (time-based)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Sensors (event-based)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Resources (dependencies)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162: Why Dagster?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**Problems Solved:**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Complex dependencies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Pipeline failures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lineage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Testing challenges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Monitoring gaps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**Benefits:**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Type safety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Local development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Rich UI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Asset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Observability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Testing support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163: Dagster vs. Airflow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Dagster                    Airflow</a:t>
            </a:r>
            <a:br/>
            <a:r>
              <a:t>────────                   ───────</a:t>
            </a:r>
            <a:br/>
            <a:r>
              <a:t>Asset-aware                Task-based</a:t>
            </a:r>
            <a:br/>
            <a:r>
              <a:t>Type safety                Dynamic typing</a:t>
            </a:r>
            <a:br/>
            <a:r>
              <a:t>Local dev support          Limited local dev</a:t>
            </a:r>
            <a:br/>
            <a:r>
              <a:t>Rich UI                    Basic UI</a:t>
            </a:r>
            <a:br/>
            <a:r>
              <a:t>Python-centric             Python-based</a:t>
            </a:r>
            <a:br/>
            <a:r>
              <a:t>Modern design              Legacy design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164: Dagster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Dagster Architecture 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User Code (Definitions)            │</a:t>
            </a:r>
            <a:br/>
            <a:r>
              <a:t>│  ↓                                  │</a:t>
            </a:r>
            <a:br/>
            <a:r>
              <a:t>│  API (gRPC)                         │</a:t>
            </a:r>
            <a:br/>
            <a:r>
              <a:t>│  ↓                                  │</a:t>
            </a:r>
            <a:br/>
            <a:r>
              <a:t>│  Execution Engine                   │</a:t>
            </a:r>
            <a:br/>
            <a:r>
              <a:t>│  ↓                                  │</a:t>
            </a:r>
            <a:br/>
            <a:r>
              <a:t>│  Storage (PostgreSQL/SQLite)        │</a:t>
            </a:r>
            <a:br/>
            <a:r>
              <a:t>│  ↓                                  │</a:t>
            </a:r>
            <a:br/>
            <a:r>
              <a:t>│  UI/Webserver               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165: Dagster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Assets    → Data artifacts (tables, files, models)</a:t>
            </a:r>
            <a:br/>
            <a:r>
              <a:t>Ops       → Transformations (functions)</a:t>
            </a:r>
            <a:br/>
            <a:r>
              <a:t>Jobs      → Pipeline of ops</a:t>
            </a:r>
            <a:br/>
            <a:r>
              <a:t>Schedules → Time-based triggers</a:t>
            </a:r>
            <a:br/>
            <a:r>
              <a:t>Sensors   → Event-based triggers</a:t>
            </a:r>
            <a:br/>
            <a:r>
              <a:t>Resources → Shared services (DB, API)</a:t>
            </a:r>
            <a:br/>
            <a:r>
              <a:t>IOManager → Data persistence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166: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Install Dagster</a:t>
            </a:r>
            <a:br/>
            <a:r>
              <a:t>pip install dagster dagster-webserver</a:t>
            </a:r>
            <a:br/>
            <a:br/>
            <a:r>
              <a:t># Install with extras</a:t>
            </a:r>
            <a:br/>
            <a:r>
              <a:t>pip install dagster dagster-webserver dagster-docker</a:t>
            </a:r>
            <a:br/>
            <a:br/>
            <a:r>
              <a:t># Verify installation</a:t>
            </a:r>
            <a:br/>
            <a:r>
              <a:t>dagster --version</a:t>
            </a:r>
            <a:br/>
            <a:br/>
            <a:r>
              <a:t># Install specific version</a:t>
            </a:r>
            <a:br/>
            <a:r>
              <a:t>pip install dagster==1.5.3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167: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my_project/</a:t>
            </a:r>
            <a:br/>
            <a:r>
              <a:t>├── __init__.py</a:t>
            </a:r>
            <a:br/>
            <a:r>
              <a:t>├── ops.py          # Operation definitions</a:t>
            </a:r>
            <a:br/>
            <a:r>
              <a:t>├── assets.py       # Asset definitions</a:t>
            </a:r>
            <a:br/>
            <a:r>
              <a:t>├── jobs.py         # Job definitions</a:t>
            </a:r>
            <a:br/>
            <a:r>
              <a:t>├── schedules.py    # Schedule definitions</a:t>
            </a:r>
            <a:br/>
            <a:r>
              <a:t>├── sensors.py      # Sensor definitions</a:t>
            </a:r>
            <a:br/>
            <a:r>
              <a:t>├── resources.py    # Resource definitions</a:t>
            </a:r>
            <a:br/>
            <a:r>
              <a:t>└── repository.py   # Repository definition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168: Defining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op, OpExecutionContext</a:t>
            </a:r>
            <a:br/>
            <a:br/>
            <a:r>
              <a:t>@op</a:t>
            </a:r>
            <a:br/>
            <a:r>
              <a:t>def my_op(context: OpExecutionContext):</a:t>
            </a:r>
            <a:br/>
            <a:r>
              <a:t>    context.log.info("Hello from my_op")</a:t>
            </a:r>
            <a:br/>
            <a:r>
              <a:t>    return 1</a:t>
            </a:r>
            <a:br/>
            <a:br/>
            <a:r>
              <a:t>@op(</a:t>
            </a:r>
            <a:br/>
            <a:r>
              <a:t>    name="custom_name",</a:t>
            </a:r>
            <a:br/>
            <a:r>
              <a:t>    description="This op does something",</a:t>
            </a:r>
            <a:br/>
            <a:r>
              <a:t>    tags={"team": "mlops"},</a:t>
            </a:r>
            <a:br/>
            <a:r>
              <a:t>    retry_policy=RetryPolicy(max_retries=3)</a:t>
            </a:r>
            <a:br/>
            <a:r>
              <a:t>)</a:t>
            </a:r>
            <a:br/>
            <a:r>
              <a:t>def another_op(context: OpExecutionContext):</a:t>
            </a:r>
            <a:br/>
            <a:r>
              <a:t>    return "result"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169: Op Inputs/Outputs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op, In, Out</a:t>
            </a:r>
            <a:br/>
            <a:br/>
            <a:r>
              <a:t>@op(</a:t>
            </a:r>
            <a:br/>
            <a:r>
              <a:t>    ins={"input": In(dagster_type=int)},</a:t>
            </a:r>
            <a:br/>
            <a:r>
              <a:t>    out={"output": Out(dagster_type=int)}</a:t>
            </a:r>
            <a:br/>
            <a:r>
              <a:t>)</a:t>
            </a:r>
            <a:br/>
            <a:r>
              <a:t>def process_op(context, input: int):</a:t>
            </a:r>
            <a:br/>
            <a:r>
              <a:t>    result = input * 2</a:t>
            </a:r>
            <a:br/>
            <a:r>
              <a:t>    return result</a:t>
            </a:r>
            <a:br/>
            <a:br/>
            <a:r>
              <a:t>@op(</a:t>
            </a:r>
            <a:br/>
            <a:r>
              <a:t>    ins={"data": In(dagster_type=str)},</a:t>
            </a:r>
            <a:br/>
            <a:r>
              <a:t>    out=Out(dagster_type=str)</a:t>
            </a:r>
            <a:br/>
            <a:r>
              <a:t>)</a:t>
            </a:r>
            <a:br/>
            <a:r>
              <a:t>def string_op(context, data: str):</a:t>
            </a:r>
            <a:br/>
            <a:r>
              <a:t>    return data.upper()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170: Defining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job, graph</a:t>
            </a:r>
            <a:br/>
            <a:br/>
            <a:r>
              <a:t>@job</a:t>
            </a:r>
            <a:br/>
            <a:r>
              <a:t>def my_job():</a:t>
            </a:r>
            <a:br/>
            <a:r>
              <a:t>    # Define pipeline</a:t>
            </a:r>
            <a:br/>
            <a:r>
              <a:t>    result = op1()</a:t>
            </a:r>
            <a:br/>
            <a:r>
              <a:t>    final = op2(result)</a:t>
            </a:r>
            <a:br/>
            <a:r>
              <a:t>    return final</a:t>
            </a:r>
            <a:br/>
            <a:br/>
            <a:r>
              <a:t># With resources</a:t>
            </a:r>
            <a:br/>
            <a:r>
              <a:t>@job(resource_defs={"db": DatabaseResource()})</a:t>
            </a:r>
            <a:br/>
            <a:r>
              <a:t>def resource_job():</a:t>
            </a:r>
            <a:br/>
            <a:r>
              <a:t>    result = op1()</a:t>
            </a:r>
            <a:br/>
            <a:r>
              <a:t>    final = op2(result)</a:t>
            </a:r>
            <a:br/>
            <a:r>
              <a:t>    return final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171: Defining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asset, AssetExecutionContext</a:t>
            </a:r>
            <a:br/>
            <a:br/>
            <a:r>
              <a:t>@asset</a:t>
            </a:r>
            <a:br/>
            <a:r>
              <a:t>def raw_data(context: AssetExecutionContext):</a:t>
            </a:r>
            <a:br/>
            <a:r>
              <a:t>    return pd.DataFrame({"col": [1, 2, 3]})</a:t>
            </a:r>
            <a:br/>
            <a:br/>
            <a:r>
              <a:t>@asset</a:t>
            </a:r>
            <a:br/>
            <a:r>
              <a:t>def processed_data(context: AssetExecutionContext, raw_data: pd.DataFrame):</a:t>
            </a:r>
            <a:br/>
            <a:r>
              <a:t>    return raw_data * 2</a:t>
            </a:r>
            <a:br/>
            <a:br/>
            <a:r>
              <a:t>@asset(</a:t>
            </a:r>
            <a:br/>
            <a:r>
              <a:t>    name="custom_name",</a:t>
            </a:r>
            <a:br/>
            <a:r>
              <a:t>    description="Asset description",</a:t>
            </a:r>
            <a:br/>
            <a:r>
              <a:t>    tags={"team": "mlops"},</a:t>
            </a:r>
            <a:br/>
            <a:r>
              <a:t>    group_name="processing"</a:t>
            </a:r>
            <a:br/>
            <a:r>
              <a:t>)</a:t>
            </a:r>
            <a:br/>
            <a:r>
              <a:t>def my_asset():</a:t>
            </a:r>
            <a:br/>
            <a:r>
              <a:t>    return "data"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172: Asset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@asset</a:t>
            </a:r>
            <a:br/>
            <a:r>
              <a:t>def upstream_asset():</a:t>
            </a:r>
            <a:br/>
            <a:r>
              <a:t>    return "data"</a:t>
            </a:r>
            <a:br/>
            <a:br/>
            <a:r>
              <a:t>@asset(deps=[upstream_asset])</a:t>
            </a:r>
            <a:br/>
            <a:r>
              <a:t>def downstream_asset():</a:t>
            </a:r>
            <a:br/>
            <a:r>
              <a:t>    # Automatically uses upstream_asset</a:t>
            </a:r>
            <a:br/>
            <a:r>
              <a:t>    data = upstream_asset()  # Injected</a:t>
            </a:r>
            <a:br/>
            <a:r>
              <a:t>    return data + "_processed"</a:t>
            </a:r>
            <a:br/>
            <a:br/>
            <a:r>
              <a:t># Explicit dependency</a:t>
            </a:r>
            <a:br/>
            <a:r>
              <a:t>@asset(ins={"upstream": AssetKey(["upstream_asset"])})</a:t>
            </a:r>
            <a:br/>
            <a:r>
              <a:t>def explicit_asset(upstream: str):</a:t>
            </a:r>
            <a:br/>
            <a:r>
              <a:t>    return upstream + "_explicit"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173: Multi-Assets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multi_asset, AssetOut</a:t>
            </a:r>
            <a:br/>
            <a:br/>
            <a:r>
              <a:t>@multi_asset(</a:t>
            </a:r>
            <a:br/>
            <a:r>
              <a:t>    outs={</a:t>
            </a:r>
            <a:br/>
            <a:r>
              <a:t>        "train": AssetOut(),</a:t>
            </a:r>
            <a:br/>
            <a:r>
              <a:t>        "test": AssetOut()</a:t>
            </a:r>
            <a:br/>
            <a:r>
              <a:t>    }</a:t>
            </a:r>
            <a:br/>
            <a:r>
              <a:t>)</a:t>
            </a:r>
            <a:br/>
            <a:r>
              <a:t>def split_data(raw_data):</a:t>
            </a:r>
            <a:br/>
            <a:r>
              <a:t>    train, test = train_test_split(raw_data)</a:t>
            </a:r>
            <a:br/>
            <a:r>
              <a:t>    return {"train": train, "test": test}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174: Schedules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schedule</a:t>
            </a:r>
            <a:br/>
            <a:br/>
            <a:r>
              <a:t>@schedule(</a:t>
            </a:r>
            <a:br/>
            <a:r>
              <a:t>    job=my_job,</a:t>
            </a:r>
            <a:br/>
            <a:r>
              <a:t>    cron_schedule="0 0 * * *",  # Daily at midnight</a:t>
            </a:r>
            <a:br/>
            <a:r>
              <a:t>    execution_timezone="UTC"</a:t>
            </a:r>
            <a:br/>
            <a:r>
              <a:t>)</a:t>
            </a:r>
            <a:br/>
            <a:r>
              <a:t>def daily_schedule(context):</a:t>
            </a:r>
            <a:br/>
            <a:r>
              <a:t>    return {}</a:t>
            </a:r>
            <a:br/>
            <a:br/>
            <a:r>
              <a:t>@schedule(</a:t>
            </a:r>
            <a:br/>
            <a:r>
              <a:t>    job=my_job,</a:t>
            </a:r>
            <a:br/>
            <a:r>
              <a:t>    cron_schedule="0 0 * * 0",  # Weekly on Sunday</a:t>
            </a:r>
            <a:br/>
            <a:r>
              <a:t>    execution_timezone="UTC"</a:t>
            </a:r>
            <a:br/>
            <a:r>
              <a:t>)</a:t>
            </a:r>
            <a:br/>
            <a:r>
              <a:t>def weekly_schedule(context):</a:t>
            </a:r>
            <a:br/>
            <a:r>
              <a:t>    return {</a:t>
            </a:r>
            <a:br/>
            <a:r>
              <a:t>        "ops": {</a:t>
            </a:r>
            <a:br/>
            <a:r>
              <a:t>            "my_op": {</a:t>
            </a:r>
            <a:br/>
            <a:r>
              <a:t>                "config": {"batch_size": 1000}</a:t>
            </a:r>
            <a:br/>
            <a:r>
              <a:t>            }</a:t>
            </a:r>
            <a:br/>
            <a:r>
              <a:t>        }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175: Sensors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sensor, RunRequest, SkipReason</a:t>
            </a:r>
            <a:br/>
            <a:br/>
            <a:r>
              <a:t>@sensor(job=my_job)</a:t>
            </a:r>
            <a:br/>
            <a:r>
              <a:t>def file_sensor(context):</a:t>
            </a:r>
            <a:br/>
            <a:r>
              <a:t>    file_path = Path("data/new_data.csv")</a:t>
            </a:r>
            <a:br/>
            <a:r>
              <a:t>    </a:t>
            </a:r>
            <a:br/>
            <a:r>
              <a:t>    if not file_path.exists():</a:t>
            </a:r>
            <a:br/>
            <a:r>
              <a:t>        return SkipReason("No new data")</a:t>
            </a:r>
            <a:br/>
            <a:r>
              <a:t>    </a:t>
            </a:r>
            <a:br/>
            <a:r>
              <a:t>    return RunRequest(</a:t>
            </a:r>
            <a:br/>
            <a:r>
              <a:t>        run_key=f"file_{file_path.stat().st_mtime}",</a:t>
            </a:r>
            <a:br/>
            <a:r>
              <a:t>        tags={"trigger": "file_sensor"}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176: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resource, Resource</a:t>
            </a:r>
            <a:br/>
            <a:br/>
            <a:r>
              <a:t>class DatabaseResource(Resource):</a:t>
            </a:r>
            <a:br/>
            <a:r>
              <a:t>    def __init__(self, connection_string: str):</a:t>
            </a:r>
            <a:br/>
            <a:r>
              <a:t>        self.connection_string = connection_string</a:t>
            </a:r>
            <a:br/>
            <a:r>
              <a:t>    </a:t>
            </a:r>
            <a:br/>
            <a:r>
              <a:t>    def get_connection(self):</a:t>
            </a:r>
            <a:br/>
            <a:r>
              <a:t>        # Create DB connection</a:t>
            </a:r>
            <a:br/>
            <a:r>
              <a:t>        pass</a:t>
            </a:r>
            <a:br/>
            <a:br/>
            <a:r>
              <a:t>@resource(config_schema={"connection_string": str})</a:t>
            </a:r>
            <a:br/>
            <a:r>
              <a:t>def db_resource(context):</a:t>
            </a:r>
            <a:br/>
            <a:r>
              <a:t>    return DatabaseResource(context.resource_config["connection_string"])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177: I/O Managers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IOManager, OutputContext, InputContext</a:t>
            </a:r>
            <a:br/>
            <a:br/>
            <a:r>
              <a:t>class CustomIOManager(IOManager):</a:t>
            </a:r>
            <a:br/>
            <a:r>
              <a:t>    def handle_output(self, context: OutputContext, obj):</a:t>
            </a:r>
            <a:br/>
            <a:r>
              <a:t>        # Save output</a:t>
            </a:r>
            <a:br/>
            <a:r>
              <a:t>        pass</a:t>
            </a:r>
            <a:br/>
            <a:r>
              <a:t>    </a:t>
            </a:r>
            <a:br/>
            <a:r>
              <a:t>    def load_input(self, context: InputContext):</a:t>
            </a:r>
            <a:br/>
            <a:r>
              <a:t>        # Load input</a:t>
            </a:r>
            <a:br/>
            <a:r>
              <a:t>        pass</a:t>
            </a:r>
            <a:br/>
            <a:br/>
            <a:r>
              <a:t>@io_manager</a:t>
            </a:r>
            <a:br/>
            <a:r>
              <a:t>def custom_io_manager():</a:t>
            </a:r>
            <a:br/>
            <a:r>
              <a:t>    return CustomIOManager()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178: Config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Config, op</a:t>
            </a:r>
            <a:br/>
            <a:r>
              <a:t>from typing import Optional</a:t>
            </a:r>
            <a:br/>
            <a:br/>
            <a:r>
              <a:t>class MyOpConfig(Config):</a:t>
            </a:r>
            <a:br/>
            <a:r>
              <a:t>    batch_size: int = 1000</a:t>
            </a:r>
            <a:br/>
            <a:r>
              <a:t>    learning_rate: float = 0.01</a:t>
            </a:r>
            <a:br/>
            <a:r>
              <a:t>    model_type: str</a:t>
            </a:r>
            <a:br/>
            <a:r>
              <a:t>    debug: Optional[bool] = False</a:t>
            </a:r>
            <a:br/>
            <a:br/>
            <a:r>
              <a:t>@op</a:t>
            </a:r>
            <a:br/>
            <a:r>
              <a:t>def configurable_op(context):</a:t>
            </a:r>
            <a:br/>
            <a:r>
              <a:t>    config = MyOpConfig()</a:t>
            </a:r>
            <a:br/>
            <a:r>
              <a:t>    batch_size = config.batch_size</a:t>
            </a:r>
            <a:br/>
            <a:r>
              <a:t>    lr = config.learning_rate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179: Error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op, Failure, RetryPolicy</a:t>
            </a:r>
            <a:br/>
            <a:br/>
            <a:r>
              <a:t>@op(</a:t>
            </a:r>
            <a:br/>
            <a:r>
              <a:t>    retry_policy=RetryPolicy(</a:t>
            </a:r>
            <a:br/>
            <a:r>
              <a:t>        max_retries=3,</a:t>
            </a:r>
            <a:br/>
            <a:r>
              <a:t>        delay=5,</a:t>
            </a:r>
            <a:br/>
            <a:r>
              <a:t>        backoff=2</a:t>
            </a:r>
            <a:br/>
            <a:r>
              <a:t>    )</a:t>
            </a:r>
            <a:br/>
            <a:r>
              <a:t>)</a:t>
            </a:r>
            <a:br/>
            <a:r>
              <a:t>def retryable_op(context):</a:t>
            </a:r>
            <a:br/>
            <a:r>
              <a:t>    import random</a:t>
            </a:r>
            <a:br/>
            <a:r>
              <a:t>    if random.random() &lt; 0.2:</a:t>
            </a:r>
            <a:br/>
            <a:r>
              <a:t>        raise Failure("Transient error")</a:t>
            </a:r>
            <a:br/>
            <a:r>
              <a:t>    return "success"</a:t>
            </a:r>
            <a:br/>
            <a:br/>
            <a:r>
              <a:t>@op</a:t>
            </a:r>
            <a:br/>
            <a:r>
              <a:t>def error_handling_op(context):</a:t>
            </a:r>
            <a:br/>
            <a:r>
              <a:t>    try:</a:t>
            </a:r>
            <a:br/>
            <a:r>
              <a:t>        # Risky operation</a:t>
            </a:r>
            <a:br/>
            <a:r>
              <a:t>        result = risky_function()</a:t>
            </a:r>
            <a:br/>
            <a:r>
              <a:t>    except Exception as e:</a:t>
            </a:r>
            <a:br/>
            <a:r>
              <a:t>        context.log.error(f"Error: {e}")</a:t>
            </a:r>
            <a:br/>
            <a:r>
              <a:t>        return {"status": "failed", "error": str(e)}</a:t>
            </a:r>
            <a:br/>
            <a:r>
              <a:t>    return {"status": "success", "result": result}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180: Testing 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build_op_context</a:t>
            </a:r>
            <a:br/>
            <a:br/>
            <a:r>
              <a:t>def test_op():</a:t>
            </a:r>
            <a:br/>
            <a:r>
              <a:t>    context = build_op_context()</a:t>
            </a:r>
            <a:br/>
            <a:r>
              <a:t>    result = my_op(context)</a:t>
            </a:r>
            <a:br/>
            <a:r>
              <a:t>    assert result == expected</a:t>
            </a:r>
            <a:br/>
            <a:br/>
            <a:r>
              <a:t>def test_asset():</a:t>
            </a:r>
            <a:br/>
            <a:r>
              <a:t>    context = build_asset_context()</a:t>
            </a:r>
            <a:br/>
            <a:r>
              <a:t>    result = my_asset(context)</a:t>
            </a:r>
            <a:br/>
            <a:r>
              <a:t>    assert isinstance(result, pd.DataFrame)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181: Testing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execute_job</a:t>
            </a:r>
            <a:br/>
            <a:br/>
            <a:r>
              <a:t>def test_job():</a:t>
            </a:r>
            <a:br/>
            <a:r>
              <a:t>    result = execute_job(my_job)</a:t>
            </a:r>
            <a:br/>
            <a:r>
              <a:t>    assert result.success</a:t>
            </a:r>
            <a:br/>
            <a:r>
              <a:t>    </a:t>
            </a:r>
            <a:br/>
            <a:r>
              <a:t>    output_values = result.output_values()</a:t>
            </a:r>
            <a:br/>
            <a:r>
              <a:t>    assert output_values["result"] == expected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182: Running Locally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Start webserver</a:t>
            </a:r>
            <a:br/>
            <a:r>
              <a:t>dagster-webserver</a:t>
            </a:r>
            <a:br/>
            <a:br/>
            <a:r>
              <a:t># With specific file</a:t>
            </a:r>
            <a:br/>
            <a:r>
              <a:t>dagster-webserver -f my_pipeline.py</a:t>
            </a:r>
            <a:br/>
            <a:br/>
            <a:r>
              <a:t># With module</a:t>
            </a:r>
            <a:br/>
            <a:r>
              <a:t>dagster-webserver -m my_project</a:t>
            </a:r>
            <a:br/>
            <a:br/>
            <a:r>
              <a:t># Run job</a:t>
            </a:r>
            <a:br/>
            <a:r>
              <a:t>dagster job execute -f my_pipeline.py -j my_job</a:t>
            </a:r>
            <a:br/>
            <a:br/>
            <a:r>
              <a:t># Run with config</a:t>
            </a:r>
            <a:br/>
            <a:r>
              <a:t>dagster job execute -f my_pipeline.py -j my_job -c config.yaml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183: Dagster UI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Pipeline graph visualization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Run history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Asset lineage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Schedule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Sensor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Resource configuration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Log viewer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Performance metrics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184: Dagster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type annotations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Write tests for ops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resources for external services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Define clear config schemas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assets for data lineage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 ops and assets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schedules for automation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Implement error handling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runs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version control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185: Dagster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Modern orchestration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Asset awareness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Type safety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Rich UI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Testing support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Integration friendly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10: Advanced Dagster (Slides 186-205)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186: Advanced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asset, materialize, AssetKey</a:t>
            </a:r>
            <a:br/>
            <a:br/>
            <a:r>
              <a:t># Partitioned assets</a:t>
            </a:r>
            <a:br/>
            <a:r>
              <a:t>@asset(partitions_def=DailyPartitionsDefinition(start_date="2024-01-01"))</a:t>
            </a:r>
            <a:br/>
            <a:r>
              <a:t>def daily_data(context):</a:t>
            </a:r>
            <a:br/>
            <a:r>
              <a:t>    partition = context.partition_key</a:t>
            </a:r>
            <a:br/>
            <a:r>
              <a:t>    # Load data for partition</a:t>
            </a:r>
            <a:br/>
            <a:br/>
            <a:r>
              <a:t># Asset with config</a:t>
            </a:r>
            <a:br/>
            <a:r>
              <a:t>@asset(config_schema={"batch_size": int})</a:t>
            </a:r>
            <a:br/>
            <a:r>
              <a:t>def configurable_asset(context):</a:t>
            </a:r>
            <a:br/>
            <a:r>
              <a:t>    config = context.op_config</a:t>
            </a:r>
            <a:br/>
            <a:r>
              <a:t>    batch_size = config["batch_size"]</a:t>
            </a:r>
            <a:br/>
            <a:br/>
            <a:r>
              <a:t># Asset with metadata</a:t>
            </a:r>
            <a:br/>
            <a:r>
              <a:t>@asset</a:t>
            </a:r>
            <a:br/>
            <a:r>
              <a:t>def metadata_asset(context):</a:t>
            </a:r>
            <a:br/>
            <a:r>
              <a:t>    return Output(</a:t>
            </a:r>
            <a:br/>
            <a:r>
              <a:t>        data,</a:t>
            </a:r>
            <a:br/>
            <a:r>
              <a:t>        metadata={"rows": len(data), "columns": len(data.columns)}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187: Dynamic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dynamic_asset, DynamicAssetDefinition</a:t>
            </a:r>
            <a:br/>
            <a:br/>
            <a:r>
              <a:t>@dynamic_asset</a:t>
            </a:r>
            <a:br/>
            <a:r>
              <a:t>def dynamic_assets():</a:t>
            </a:r>
            <a:br/>
            <a:r>
              <a:t>    for i in range(10):</a:t>
            </a:r>
            <a:br/>
            <a:r>
              <a:t>        yield AssetOut(key=f"asset_{i}")</a:t>
            </a:r>
            <a:br/>
            <a:br/>
            <a:r>
              <a:t># Dynamic output</a:t>
            </a:r>
            <a:br/>
            <a:r>
              <a:t>from dagster import DynamicOut, DynamicOutput</a:t>
            </a:r>
            <a:br/>
            <a:br/>
            <a:r>
              <a:t>@op(out=DynamicOut())</a:t>
            </a:r>
            <a:br/>
            <a:r>
              <a:t>def dynamic_op(context):</a:t>
            </a:r>
            <a:br/>
            <a:r>
              <a:t>    for item in data:</a:t>
            </a:r>
            <a:br/>
            <a:r>
              <a:t>        yield DynamicOutput(item, mapping_key=str(item.id))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188: Complex DAGs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graph, job</a:t>
            </a:r>
            <a:br/>
            <a:br/>
            <a:r>
              <a:t>@graph</a:t>
            </a:r>
            <a:br/>
            <a:r>
              <a:t>def complex_graph():</a:t>
            </a:r>
            <a:br/>
            <a:r>
              <a:t>    # Branching</a:t>
            </a:r>
            <a:br/>
            <a:r>
              <a:t>    data = load_data()</a:t>
            </a:r>
            <a:br/>
            <a:r>
              <a:t>    branch1 = process_branch1(data)</a:t>
            </a:r>
            <a:br/>
            <a:r>
              <a:t>    branch2 = process_branch2(data)</a:t>
            </a:r>
            <a:br/>
            <a:r>
              <a:t>    </a:t>
            </a:r>
            <a:br/>
            <a:r>
              <a:t>    # Joining</a:t>
            </a:r>
            <a:br/>
            <a:r>
              <a:t>    final = combine(branch1, branch2)</a:t>
            </a:r>
            <a:br/>
            <a:r>
              <a:t>    </a:t>
            </a:r>
            <a:br/>
            <a:r>
              <a:t>    # Additional steps</a:t>
            </a:r>
            <a:br/>
            <a:r>
              <a:t>    result = finalize(final)</a:t>
            </a:r>
            <a:br/>
            <a:r>
              <a:t>    return result</a:t>
            </a:r>
            <a:br/>
            <a:br/>
            <a:r>
              <a:t># Create job from graph</a:t>
            </a:r>
            <a:br/>
            <a:r>
              <a:t>complex_job = complex_graph.to_job()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189: Conditional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op, graph, job</a:t>
            </a:r>
            <a:br/>
            <a:br/>
            <a:r>
              <a:t>@op</a:t>
            </a:r>
            <a:br/>
            <a:r>
              <a:t>def condition_op(context):</a:t>
            </a:r>
            <a:br/>
            <a:r>
              <a:t>    # Returns a boolean</a:t>
            </a:r>
            <a:br/>
            <a:r>
              <a:t>    return True</a:t>
            </a:r>
            <a:br/>
            <a:br/>
            <a:r>
              <a:t>@op</a:t>
            </a:r>
            <a:br/>
            <a:r>
              <a:t>def branch_true_op(context):</a:t>
            </a:r>
            <a:br/>
            <a:r>
              <a:t>    return "True path"</a:t>
            </a:r>
            <a:br/>
            <a:br/>
            <a:r>
              <a:t>@op</a:t>
            </a:r>
            <a:br/>
            <a:r>
              <a:t>def branch_false_op(context):</a:t>
            </a:r>
            <a:br/>
            <a:r>
              <a:t>    return "False path"</a:t>
            </a:r>
            <a:br/>
            <a:br/>
            <a:r>
              <a:t>@graph</a:t>
            </a:r>
            <a:br/>
            <a:r>
              <a:t>def conditional_graph():</a:t>
            </a:r>
            <a:br/>
            <a:r>
              <a:t>    condition = condition_op()</a:t>
            </a:r>
            <a:br/>
            <a:r>
              <a:t>    </a:t>
            </a:r>
            <a:br/>
            <a:r>
              <a:t>    # Conditional execution</a:t>
            </a:r>
            <a:br/>
            <a:r>
              <a:t>    true_result = branch_true_op(condition)</a:t>
            </a:r>
            <a:br/>
            <a:r>
              <a:t>    false_result = branch_false_op(condition)</a:t>
            </a:r>
            <a:br/>
            <a:r>
              <a:t>    </a:t>
            </a:r>
            <a:br/>
            <a:r>
              <a:t>    return true_result, false_result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190: Sub-graphs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graph</a:t>
            </a:r>
            <a:br/>
            <a:br/>
            <a:r>
              <a:t>@graph</a:t>
            </a:r>
            <a:br/>
            <a:r>
              <a:t>def sub_graph1():</a:t>
            </a:r>
            <a:br/>
            <a:r>
              <a:t>    data = load_data()</a:t>
            </a:r>
            <a:br/>
            <a:r>
              <a:t>    processed = process_data(data)</a:t>
            </a:r>
            <a:br/>
            <a:r>
              <a:t>    return processed</a:t>
            </a:r>
            <a:br/>
            <a:br/>
            <a:r>
              <a:t>@graph</a:t>
            </a:r>
            <a:br/>
            <a:r>
              <a:t>def sub_graph2(data):</a:t>
            </a:r>
            <a:br/>
            <a:r>
              <a:t>    transformed = transform_data(data)</a:t>
            </a:r>
            <a:br/>
            <a:r>
              <a:t>    return transformed</a:t>
            </a:r>
            <a:br/>
            <a:br/>
            <a:r>
              <a:t>@job</a:t>
            </a:r>
            <a:br/>
            <a:r>
              <a:t>def main_job():</a:t>
            </a:r>
            <a:br/>
            <a:r>
              <a:t>    data = sub_graph1()</a:t>
            </a:r>
            <a:br/>
            <a:r>
              <a:t>    result = sub_graph2(data)</a:t>
            </a:r>
            <a:br/>
            <a:r>
              <a:t>    return result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191: 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hook, HookContext, run_failure_hook</a:t>
            </a:r>
            <a:br/>
            <a:br/>
            <a:r>
              <a:t>@hook</a:t>
            </a:r>
            <a:br/>
            <a:r>
              <a:t>def log_metadata_hook(context: HookContext):</a:t>
            </a:r>
            <a:br/>
            <a:r>
              <a:t>    context.log.info(f"Op: {context.op.name}")</a:t>
            </a:r>
            <a:br/>
            <a:r>
              <a:t>    context.log.info(f"Run: {context.run_id}")</a:t>
            </a:r>
            <a:br/>
            <a:br/>
            <a:r>
              <a:t>@run_failure_hook</a:t>
            </a:r>
            <a:br/>
            <a:r>
              <a:t>def notify_failure_hook(context, failure):</a:t>
            </a:r>
            <a:br/>
            <a:r>
              <a:t>    # Send notification</a:t>
            </a:r>
            <a:br/>
            <a:r>
              <a:t>    send_alert(f"Pipeline failed: {failure}")</a:t>
            </a:r>
            <a:br/>
            <a:br/>
            <a:r>
              <a:t># Apply hook</a:t>
            </a:r>
            <a:br/>
            <a:r>
              <a:t>@op(hooks={log_metadata_hook})</a:t>
            </a:r>
            <a:br/>
            <a:r>
              <a:t>def logged_op(context):</a:t>
            </a:r>
            <a:br/>
            <a:r>
              <a:t>    return "result"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192: Custom I/O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IOManager, OutputContext, InputContext</a:t>
            </a:r>
            <a:br/>
            <a:r>
              <a:t>import pandas as pd</a:t>
            </a:r>
            <a:br/>
            <a:br/>
            <a:r>
              <a:t>class PandasParquetIOManager(IOManager):</a:t>
            </a:r>
            <a:br/>
            <a:r>
              <a:t>    def __init__(self, base_path: str):</a:t>
            </a:r>
            <a:br/>
            <a:r>
              <a:t>        self.base_path = Path(base_path)</a:t>
            </a:r>
            <a:br/>
            <a:r>
              <a:t>    </a:t>
            </a:r>
            <a:br/>
            <a:r>
              <a:t>    def handle_output(self, context: OutputContext, obj: pd.DataFrame):</a:t>
            </a:r>
            <a:br/>
            <a:r>
              <a:t>        path = self.base_path / f"{context.step_key}.parquet"</a:t>
            </a:r>
            <a:br/>
            <a:r>
              <a:t>        obj.to_parquet(path)</a:t>
            </a:r>
            <a:br/>
            <a:r>
              <a:t>        context.add_output_metadata({"path": str(path)})</a:t>
            </a:r>
            <a:br/>
            <a:r>
              <a:t>    </a:t>
            </a:r>
            <a:br/>
            <a:r>
              <a:t>    def load_input(self, context: InputContext) -&gt; pd.DataFrame:</a:t>
            </a:r>
            <a:br/>
            <a:r>
              <a:t>        path = self.base_path / f"{context.upstream_output.step_key}.parquet"</a:t>
            </a:r>
            <a:br/>
            <a:r>
              <a:t>        return pd.read_parquet(path)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193: External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resource</a:t>
            </a:r>
            <a:br/>
            <a:br/>
            <a:r>
              <a:t>@resource</a:t>
            </a:r>
            <a:br/>
            <a:r>
              <a:t>def slack_resource(context):</a:t>
            </a:r>
            <a:br/>
            <a:r>
              <a:t>    import slack_sdk</a:t>
            </a:r>
            <a:br/>
            <a:r>
              <a:t>    webhook = context.resource_config["webhook_url"]</a:t>
            </a:r>
            <a:br/>
            <a:r>
              <a:t>    return slack_sdk.WebhookClient(webhook)</a:t>
            </a:r>
            <a:br/>
            <a:br/>
            <a:r>
              <a:t>@op(required_resource_keys={"slack"})</a:t>
            </a:r>
            <a:br/>
            <a:r>
              <a:t>def notify_slack(context):</a:t>
            </a:r>
            <a:br/>
            <a:r>
              <a:t>    client = context.resources.slack</a:t>
            </a:r>
            <a:br/>
            <a:r>
              <a:t>    client.send(text="Pipeline completed!")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194: Docker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job, op</a:t>
            </a:r>
            <a:br/>
            <a:r>
              <a:t>from dagster_docker import docker_executor</a:t>
            </a:r>
            <a:br/>
            <a:br/>
            <a:r>
              <a:t>@job(executor_def=docker_executor)</a:t>
            </a:r>
            <a:br/>
            <a:r>
              <a:t>def docker_job():</a:t>
            </a:r>
            <a:br/>
            <a:r>
              <a:t>    # Runs in Docker containers</a:t>
            </a:r>
            <a:br/>
            <a:r>
              <a:t>    result = my_op()</a:t>
            </a:r>
            <a:br/>
            <a:r>
              <a:t>    return result</a:t>
            </a:r>
            <a:br/>
            <a:br/>
            <a:r>
              <a:t># Docker image</a:t>
            </a:r>
            <a:br/>
            <a:r>
              <a:t>@job(</a:t>
            </a:r>
            <a:br/>
            <a:r>
              <a:t>    executor_def=docker_executor,</a:t>
            </a:r>
            <a:br/>
            <a:r>
              <a:t>    executor_config={</a:t>
            </a:r>
            <a:br/>
            <a:r>
              <a:t>        "docker": {</a:t>
            </a:r>
            <a:br/>
            <a:r>
              <a:t>            "image": "my_image:latest"</a:t>
            </a:r>
            <a:br/>
            <a:r>
              <a:t>        }</a:t>
            </a:r>
            <a:br/>
            <a:r>
              <a:t>    }</a:t>
            </a:r>
            <a:br/>
            <a:r>
              <a:t>)</a:t>
            </a:r>
            <a:br/>
            <a:r>
              <a:t>def custom_docker_job():</a:t>
            </a:r>
            <a:br/>
            <a:r>
              <a:t>    result = my_op()</a:t>
            </a:r>
            <a:br/>
            <a:r>
              <a:t>    return result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195: Kubernetes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job, op</a:t>
            </a:r>
            <a:br/>
            <a:r>
              <a:t>from dagster_k8s import k8s_executor</a:t>
            </a:r>
            <a:br/>
            <a:br/>
            <a:r>
              <a:t>@job(</a:t>
            </a:r>
            <a:br/>
            <a:r>
              <a:t>    executor_def=k8s_executor,</a:t>
            </a:r>
            <a:br/>
            <a:r>
              <a:t>    executor_config={</a:t>
            </a:r>
            <a:br/>
            <a:r>
              <a:t>        "k8s": {</a:t>
            </a:r>
            <a:br/>
            <a:r>
              <a:t>            "job_namespace": "dagster",</a:t>
            </a:r>
            <a:br/>
            <a:r>
              <a:t>            "image": "my_image:latest"</a:t>
            </a:r>
            <a:br/>
            <a:r>
              <a:t>        }</a:t>
            </a:r>
            <a:br/>
            <a:r>
              <a:t>    }</a:t>
            </a:r>
            <a:br/>
            <a:r>
              <a:t>)</a:t>
            </a:r>
            <a:br/>
            <a:r>
              <a:t>def k8s_job():</a:t>
            </a:r>
            <a:br/>
            <a:r>
              <a:t>    result = my_op()</a:t>
            </a:r>
            <a:br/>
            <a:r>
              <a:t>    return result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196: Run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config.yaml</a:t>
            </a:r>
            <a:br/>
            <a:r>
              <a:t>ops:</a:t>
            </a:r>
            <a:br/>
            <a:r>
              <a:t>  my_op:</a:t>
            </a:r>
            <a:br/>
            <a:r>
              <a:t>    config:</a:t>
            </a:r>
            <a:br/>
            <a:r>
              <a:t>      batch_size: 1000</a:t>
            </a:r>
            <a:br/>
            <a:r>
              <a:t>      learning_rate: 0.01</a:t>
            </a:r>
            <a:br/>
            <a:r>
              <a:t>resources:</a:t>
            </a:r>
            <a:br/>
            <a:r>
              <a:t>  db:</a:t>
            </a:r>
            <a:br/>
            <a:r>
              <a:t>    config:</a:t>
            </a:r>
            <a:br/>
            <a:r>
              <a:t>      connection_string: postgresql://user:pass@host/db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197: Partitioned Pipelines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DailyPartitionsDefinition, asset, materialize_partition</a:t>
            </a:r>
            <a:br/>
            <a:br/>
            <a:r>
              <a:t>@asset(partitions_def=DailyPartitionsDefinition(start_date="2024-01-01"))</a:t>
            </a:r>
            <a:br/>
            <a:r>
              <a:t>def daily_data(context):</a:t>
            </a:r>
            <a:br/>
            <a:r>
              <a:t>    date = context.partition_key</a:t>
            </a:r>
            <a:br/>
            <a:r>
              <a:t>    return load_data_for_date(date)</a:t>
            </a:r>
            <a:br/>
            <a:br/>
            <a:r>
              <a:t># Materialize partition</a:t>
            </a:r>
            <a:br/>
            <a:r>
              <a:t>materialize_partition(daily_data, partition_key="2024-01-01")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198: Scheduled Jobs with Config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@schedule(</a:t>
            </a:r>
            <a:br/>
            <a:r>
              <a:t>    job=my_job,</a:t>
            </a:r>
            <a:br/>
            <a:r>
              <a:t>    cron_schedule="0 0 * * *"</a:t>
            </a:r>
            <a:br/>
            <a:r>
              <a:t>)</a:t>
            </a:r>
            <a:br/>
            <a:r>
              <a:t>def configurable_schedule(context):</a:t>
            </a:r>
            <a:br/>
            <a:r>
              <a:t>    return {</a:t>
            </a:r>
            <a:br/>
            <a:r>
              <a:t>        "ops": {</a:t>
            </a:r>
            <a:br/>
            <a:r>
              <a:t>            "my_op": {</a:t>
            </a:r>
            <a:br/>
            <a:r>
              <a:t>                "config": {</a:t>
            </a:r>
            <a:br/>
            <a:r>
              <a:t>                    "batch_size": 1000,</a:t>
            </a:r>
            <a:br/>
            <a:r>
              <a:t>                    "env": "production"</a:t>
            </a:r>
            <a:br/>
            <a:r>
              <a:t>                }</a:t>
            </a:r>
            <a:br/>
            <a:r>
              <a:t>            }</a:t>
            </a:r>
            <a:br/>
            <a:r>
              <a:t>        },</a:t>
            </a:r>
            <a:br/>
            <a:r>
              <a:t>        "tags": {</a:t>
            </a:r>
            <a:br/>
            <a:r>
              <a:t>            "schedule": "daily",</a:t>
            </a:r>
            <a:br/>
            <a:r>
              <a:t>            "environment": "prod"</a:t>
            </a:r>
            <a:br/>
            <a:r>
              <a:t>        }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199: Monitoring with Dagster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DagsterInstance</a:t>
            </a:r>
            <a:br/>
            <a:br/>
            <a:r>
              <a:t>instance = DagsterInstance.get()</a:t>
            </a:r>
            <a:br/>
            <a:br/>
            <a:r>
              <a:t># Get runs</a:t>
            </a:r>
            <a:br/>
            <a:r>
              <a:t>runs = instance.get_runs(limit=10)</a:t>
            </a:r>
            <a:br/>
            <a:br/>
            <a:r>
              <a:t># Get run status</a:t>
            </a:r>
            <a:br/>
            <a:r>
              <a:t>run = instance.get_run_by_id(run_id)</a:t>
            </a:r>
            <a:br/>
            <a:r>
              <a:t>status = run.status</a:t>
            </a:r>
            <a:br/>
            <a:br/>
            <a:r>
              <a:t># Get logs</a:t>
            </a:r>
            <a:br/>
            <a:r>
              <a:t>events = instance.get_events(run_id)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200: Dagster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I/O managers for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resources for connections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Batch operations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appropriate concurrency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memory usage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partitioned assets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Optimize Docker images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database indexes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Clean up old runs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proper logging levels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201: Dagster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Connection errors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Check resources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Op failures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Use retry policies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Slow execution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Optimize ops, use parallelism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Schedule not running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Check daemon status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**Issue:** Sensor not triggering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Solution: Check cursor, conditions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202: Dagster Best Practices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type annotations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Write tests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resources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Define config schemas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assets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 everything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schedules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Handle errors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runs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Version control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203: Dagster Common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using type hints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Hardcoding configurations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Ignoring dependencies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testing ops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Missing error handling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 resource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Poor logging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monitoring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Overly complex graphs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using I/O managers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204: Dagster with DVC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op, resource</a:t>
            </a:r>
            <a:br/>
            <a:r>
              <a:t>import dvc.api</a:t>
            </a:r>
            <a:br/>
            <a:br/>
            <a:r>
              <a:t>@resource</a:t>
            </a:r>
            <a:br/>
            <a:r>
              <a:t>def dvc_resource():</a:t>
            </a:r>
            <a:br/>
            <a:r>
              <a:t>    import dvc.repo</a:t>
            </a:r>
            <a:br/>
            <a:r>
              <a:t>    return dvc.repo.Repo()</a:t>
            </a:r>
            <a:br/>
            <a:br/>
            <a:r>
              <a:t>@op(required_resource_keys={"dvc"})</a:t>
            </a:r>
            <a:br/>
            <a:r>
              <a:t>def dvc_op(context):</a:t>
            </a:r>
            <a:br/>
            <a:r>
              <a:t>    repo = context.resources.dvc</a:t>
            </a:r>
            <a:br/>
            <a:r>
              <a:t>    repo.pull()</a:t>
            </a:r>
            <a:br/>
            <a:r>
              <a:t>    repo.reproduce()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205: Dagster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Modern orchestration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Asset awareness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Type safety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Rich UI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Testing support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Integration friendly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Production ready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11: Integration (Slides 206-220)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206: Complete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DVC (Data Version) → MLflow (Track) → Dagster (Orchestrate)</a:t>
            </a:r>
            <a:br/>
            <a:r>
              <a:t>         ↓                  ↓                  ↓</a:t>
            </a:r>
            <a:br/>
            <a:r>
              <a:t>    Data Version      Experiment        Pipeline</a:t>
            </a:r>
            <a:br/>
            <a:r>
              <a:t>         ↓                  ↓                  ↓</a:t>
            </a:r>
            <a:br/>
            <a:r>
              <a:t>    Raw Data           Model             Deployment</a:t>
            </a:r>
            <a:br/>
            <a:r>
              <a:t>         ↓                  ↓                  ↓</a:t>
            </a:r>
            <a:br/>
            <a:r>
              <a:t>    Processed          Registry          Production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207: End-to-End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1. Data Ingestion (DVC)</a:t>
            </a:r>
            <a:br/>
            <a:r>
              <a:t>2. Data Versioning (DVC)</a:t>
            </a:r>
            <a:br/>
            <a:r>
              <a:t>3. Feature Engineering (DVC)</a:t>
            </a:r>
            <a:br/>
            <a:r>
              <a:t>4. Experiment Tracking (MLflow)</a:t>
            </a:r>
            <a:br/>
            <a:r>
              <a:t>5. Model Training (MLflow)</a:t>
            </a:r>
            <a:br/>
            <a:r>
              <a:t>6. Model Registry (MLflow)</a:t>
            </a:r>
            <a:br/>
            <a:r>
              <a:t>7. Pipeline Orchestration (Dagster)</a:t>
            </a:r>
            <a:br/>
            <a:r>
              <a:t>8. Deployment (CI/CD)</a:t>
            </a:r>
            <a:br/>
            <a:r>
              <a:t>9. Monitoring (MLflow + Dagster)</a:t>
            </a:r>
            <a:br/>
            <a:r>
              <a:t>10. Alerting (Monitoring)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208: Unified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  <a:br/>
            <a:r>
              <a:t>│              Complete MLOps Architecture            │</a:t>
            </a:r>
            <a:br/>
            <a:r>
              <a:t>├─────────────────────────────────────────────────────┤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┌──────────────────────────────────────────────┐  │</a:t>
            </a:r>
            <a:br/>
            <a:r>
              <a:t>│  │          Dagster Orchestration              │  │</a:t>
            </a:r>
            <a:br/>
            <a:r>
              <a:t>│  │  ┌──────────┐  ┌──────────┐  ┌──────────┐  │  │</a:t>
            </a:r>
            <a:br/>
            <a:r>
              <a:t>│  │  │Schedule  │  │ Sensors  │  │   Jobs   │  │  │</a:t>
            </a:r>
            <a:br/>
            <a:r>
              <a:t>│  │  └──────────┘  └──────────┘  └──────────┘  │  │</a:t>
            </a:r>
            <a:br/>
            <a:r>
              <a:t>│  └──────────────────────────────────────────────┘  │</a:t>
            </a:r>
            <a:br/>
            <a:r>
              <a:t>│              ↓                   ↓                 │</a:t>
            </a:r>
            <a:br/>
            <a:r>
              <a:t>│  ┌──────────────────────────────────────────────┐  │</a:t>
            </a:r>
            <a:br/>
            <a:r>
              <a:t>│  │      DVC + MLflow + Registry               │  │</a:t>
            </a:r>
            <a:br/>
            <a:r>
              <a:t>│  │  ┌──────────┐  ┌──────────┐  ┌──────────┐  │  │</a:t>
            </a:r>
            <a:br/>
            <a:r>
              <a:t>│  │  │  DVC     │  │ MLflow   │  │Registry  │  │  │</a:t>
            </a:r>
            <a:br/>
            <a:r>
              <a:t>│  │  │ Version  │  │ Tracking │  │  Models  │  │  │</a:t>
            </a:r>
            <a:br/>
            <a:r>
              <a:t>│  │  └──────────┘  └──────────┘  └──────────┘  │  │</a:t>
            </a:r>
            <a:br/>
            <a:r>
              <a:t>│  └──────────────────────────────────────────────┘  │</a:t>
            </a:r>
            <a:br/>
            <a:r>
              <a:t>│              ↓                                     │</a:t>
            </a:r>
            <a:br/>
            <a:r>
              <a:t>│  ┌──────────────────────────────────────────────┐  │</a:t>
            </a:r>
            <a:br/>
            <a:r>
              <a:t>│  │         Deployment &amp; Monitoring             │  │</a:t>
            </a:r>
            <a:br/>
            <a:r>
              <a:t>│  │  ┌──────────┐  ┌──────────┐  ┌──────────┐  │  │</a:t>
            </a:r>
            <a:br/>
            <a:r>
              <a:t>│  │  │  API     │  │  Batch   │  │  Alerts  │  │  │</a:t>
            </a:r>
            <a:br/>
            <a:r>
              <a:t>│  │  └──────────┘  └──────────┘  └──────────┘  │  │</a:t>
            </a:r>
            <a:br/>
            <a:r>
              <a:t>│  └──────────────────────────────────────────────┘  │</a:t>
            </a:r>
            <a:br/>
            <a:r>
              <a:t>└─────────────────────────────────────────────────────┘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209: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Complete data pipeline</a:t>
            </a:r>
            <a:br/>
            <a:r>
              <a:t>data:</a:t>
            </a:r>
            <a:br/>
            <a:r>
              <a:t>  sources:</a:t>
            </a:r>
            <a:br/>
            <a:r>
              <a:t>    - type: "synthetic"</a:t>
            </a:r>
            <a:br/>
            <a:r>
              <a:t>      parameters:</a:t>
            </a:r>
            <a:br/>
            <a:r>
              <a:t>        hours: 48</a:t>
            </a:r>
            <a:br/>
            <a:r>
              <a:t>        anomaly_rate: 0.05</a:t>
            </a:r>
            <a:br/>
            <a:r>
              <a:t>  validation:</a:t>
            </a:r>
            <a:br/>
            <a:r>
              <a:t>    schema: "configs/schema.json"</a:t>
            </a:r>
            <a:br/>
            <a:r>
              <a:t>    quality: ["no_missing", "no_duplicates"]</a:t>
            </a:r>
            <a:br/>
            <a:r>
              <a:t>  features:</a:t>
            </a:r>
            <a:br/>
            <a:r>
              <a:t>    windows: [5, 10, 30]</a:t>
            </a:r>
            <a:br/>
            <a:r>
              <a:t>    interactions: true</a:t>
            </a:r>
            <a:br/>
            <a:r>
              <a:t>    selection: "feature_importance"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210: Training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Model training pipeline</a:t>
            </a:r>
            <a:br/>
            <a:r>
              <a:t>model:</a:t>
            </a:r>
            <a:br/>
            <a:r>
              <a:t>  algorithms:</a:t>
            </a:r>
            <a:br/>
            <a:r>
              <a:t>    - random_forest</a:t>
            </a:r>
            <a:br/>
            <a:r>
              <a:t>    - gradient_boosting</a:t>
            </a:r>
            <a:br/>
            <a:r>
              <a:t>    - logistic_regression</a:t>
            </a:r>
            <a:br/>
            <a:r>
              <a:t>  hyperparameters:</a:t>
            </a:r>
            <a:br/>
            <a:r>
              <a:t>    random_forest:</a:t>
            </a:r>
            <a:br/>
            <a:r>
              <a:t>      n_estimators: [50, 100, 200]</a:t>
            </a:r>
            <a:br/>
            <a:r>
              <a:t>      max_depth: [5, 10, 20]</a:t>
            </a:r>
            <a:br/>
            <a:r>
              <a:t>  evaluation:</a:t>
            </a:r>
            <a:br/>
            <a:r>
              <a:t>    metrics: ["accuracy", "f1", "precision", "recall"]</a:t>
            </a:r>
            <a:br/>
            <a:r>
              <a:t>    cv: 5</a:t>
            </a:r>
            <a:br/>
            <a:r>
              <a:t>  selection:</a:t>
            </a:r>
            <a:br/>
            <a:r>
              <a:t>    metric: "f1"</a:t>
            </a:r>
            <a:br/>
            <a:r>
              <a:t>    minimize: false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211: Deployment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Deployment pipeline</a:t>
            </a:r>
            <a:br/>
            <a:r>
              <a:t>deployment:</a:t>
            </a:r>
            <a:br/>
            <a:r>
              <a:t>  stages:</a:t>
            </a:r>
            <a:br/>
            <a:r>
              <a:t>    - staging</a:t>
            </a:r>
            <a:br/>
            <a:r>
              <a:t>    - production</a:t>
            </a:r>
            <a:br/>
            <a:r>
              <a:t>  strategy: "blue-green"</a:t>
            </a:r>
            <a:br/>
            <a:r>
              <a:t>  validation:</a:t>
            </a:r>
            <a:br/>
            <a:r>
              <a:t>    tests: ["smoke", "performance", "integration"]</a:t>
            </a:r>
            <a:br/>
            <a:r>
              <a:t>    threshold: 0.85</a:t>
            </a:r>
            <a:br/>
            <a:r>
              <a:t>  rollback:</a:t>
            </a:r>
            <a:br/>
            <a:r>
              <a:t>    enabled: true</a:t>
            </a:r>
            <a:br/>
            <a:r>
              <a:t>    max_attempts: 3</a:t>
            </a:r>
            <a:br/>
            <a:r>
              <a:t>  monitoring:</a:t>
            </a:r>
            <a:br/>
            <a:r>
              <a:t>    metrics: ["latency", "throughput", "error_rate"]</a:t>
            </a:r>
            <a:br/>
            <a:r>
              <a:t>    alerts: ["Slack", "Email"]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212: CI/CD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CI/CD pipeline</a:t>
            </a:r>
            <a:br/>
            <a:r>
              <a:t>name: MLOps CI/CD</a:t>
            </a:r>
            <a:br/>
            <a:r>
              <a:t>on: [push, schedule]</a:t>
            </a:r>
            <a:br/>
            <a:br/>
            <a:r>
              <a:t>jobs:</a:t>
            </a:r>
            <a:br/>
            <a:r>
              <a:t>  test: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uses: actions/checkout@v3</a:t>
            </a:r>
            <a:br/>
            <a:r>
              <a:t>      - name: Run tests</a:t>
            </a:r>
            <a:br/>
            <a:r>
              <a:t>        run: pytest tests/</a:t>
            </a:r>
            <a:br/>
            <a:r>
              <a:t>  </a:t>
            </a:r>
            <a:br/>
            <a:r>
              <a:t>  train:</a:t>
            </a:r>
            <a:br/>
            <a:r>
              <a:t>    needs: test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name: Pull data</a:t>
            </a:r>
            <a:br/>
            <a:r>
              <a:t>        run: dvc pull</a:t>
            </a:r>
            <a:br/>
            <a:r>
              <a:t>      - name: Train model</a:t>
            </a:r>
            <a:br/>
            <a:r>
              <a:t>        run: python train.py</a:t>
            </a:r>
            <a:br/>
            <a:r>
              <a:t>      - name: Register model</a:t>
            </a:r>
            <a:br/>
            <a:r>
              <a:t>        run: python register.py</a:t>
            </a:r>
            <a:br/>
            <a:r>
              <a:t>  </a:t>
            </a:r>
            <a:br/>
            <a:r>
              <a:t>  deploy:</a:t>
            </a:r>
            <a:br/>
            <a:r>
              <a:t>    needs: train</a:t>
            </a:r>
            <a:br/>
            <a:r>
              <a:t>    runs-on: ubuntu-latest</a:t>
            </a:r>
            <a:br/>
            <a:r>
              <a:t>    steps:</a:t>
            </a:r>
            <a:br/>
            <a:r>
              <a:t>      - name: Deploy to staging</a:t>
            </a:r>
            <a:br/>
            <a:r>
              <a:t>        run: python deploy.py --env staging</a:t>
            </a:r>
            <a:br/>
            <a:r>
              <a:t>      - name: Promote to production</a:t>
            </a:r>
            <a:br/>
            <a:r>
              <a:t>        run: python promote.py --env production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213: Complete Flow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Complete MLOps pipeline</a:t>
            </a:r>
            <a:br/>
            <a:r>
              <a:t>@job</a:t>
            </a:r>
            <a:br/>
            <a:r>
              <a:t>def full_mlops_pipeline():</a:t>
            </a:r>
            <a:br/>
            <a:r>
              <a:t>    # 1. Data ingestion</a:t>
            </a:r>
            <a:br/>
            <a:r>
              <a:t>    raw = ingest_data()</a:t>
            </a:r>
            <a:br/>
            <a:r>
              <a:t>    </a:t>
            </a:r>
            <a:br/>
            <a:r>
              <a:t>    # 2. Validation</a:t>
            </a:r>
            <a:br/>
            <a:r>
              <a:t>    validated = validate_data(raw)</a:t>
            </a:r>
            <a:br/>
            <a:r>
              <a:t>    </a:t>
            </a:r>
            <a:br/>
            <a:r>
              <a:t>    # 3. Feature engineering</a:t>
            </a:r>
            <a:br/>
            <a:r>
              <a:t>    features = engineer_features(validated)</a:t>
            </a:r>
            <a:br/>
            <a:r>
              <a:t>    </a:t>
            </a:r>
            <a:br/>
            <a:r>
              <a:t>    # 4. Model training</a:t>
            </a:r>
            <a:br/>
            <a:r>
              <a:t>    model = train_model(features)</a:t>
            </a:r>
            <a:br/>
            <a:r>
              <a:t>    </a:t>
            </a:r>
            <a:br/>
            <a:r>
              <a:t>    # 5. Evaluation</a:t>
            </a:r>
            <a:br/>
            <a:r>
              <a:t>    metrics = evaluate_model(model, features)</a:t>
            </a:r>
            <a:br/>
            <a:r>
              <a:t>    </a:t>
            </a:r>
            <a:br/>
            <a:r>
              <a:t>    # 6. Registry</a:t>
            </a:r>
            <a:br/>
            <a:r>
              <a:t>    registered = register_model(model, metrics)</a:t>
            </a:r>
            <a:br/>
            <a:r>
              <a:t>    </a:t>
            </a:r>
            <a:br/>
            <a:r>
              <a:t>    # 7. Deployment</a:t>
            </a:r>
            <a:br/>
            <a:r>
              <a:t>    deploy_model(registered)</a:t>
            </a:r>
            <a:br/>
            <a:r>
              <a:t>    </a:t>
            </a:r>
            <a:br/>
            <a:r>
              <a:t>    # 8. Monitoring</a:t>
            </a:r>
            <a:br/>
            <a:r>
              <a:t>    monitor_deployment(registered)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214: Integration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**End-to-end traceability**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**Automated workflows**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**Reproducibility**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**Governance**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**Scalability**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**Reduced time to production**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**Improved collaboration**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**Better quality**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**Cost savings**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215: Common Integration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 consistency:** DVC + MLflow + Dagster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**Version management:** Code + Data + Models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**State management:** Pipeline state + Model state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**Error handling:** Multiple failure points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**Performance:** Resource intensive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**Complexity:** Multiple tools to manage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216: Integration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Start simple, add complexity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consistent naming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Implement idempotency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Add robust error handling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everything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Use version control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 integration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Test end-to-end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Automate where possible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Plan for rollback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217: Integration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 not updating:** Check DVC push/pull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**Experiments not tracking:** Check MLflow URI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**Pipeline not running:** Check Dagster daemon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**Models not deploying:** Check registry status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**Monitoring not working:** Check configuration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218: Integration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**Access Control:** RBAC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**Secrets Management:** Environment variables, Vault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 Encryption:** At rest, in transit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**Audit Logging:** All operations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**Network Security:** Firewalls, VPN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**Authentication:** OAuth, JWT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219: Production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Data versioned (DVC)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Experiments tracked (MLflow)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Models registered (Registry)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Pipeline automated (Dagster)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Deployment automated (CI/CD)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Monitoring enabled (Monitoring)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Alerts configured (Alerting)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Security implemented (Security)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Documentation complete (Docs)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Team trained (Training)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220: Recap: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DVC: Data versioning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MLflow: Experiment tracking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Dagster: Pipeline orchestration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Registry: Model management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CI/CD: Automated deployment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Monitoring: Observability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 Light"/>
              </a:defRPr>
            </a:pPr>
            <a:r>
              <a:t>SECTION 5: PRODUCTION &amp; DEPLOYMENT (Slides 221-260)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12: Production Considerations (Slides 221-240)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221: Production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**Reliability:** Always available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**Performance:** Fast enough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**Scalability:** Handles load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**Security:** Protected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**Observability:** Monitored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**Maintainability:** Easy to update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**Cost-effective:** Efficient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222: Production vs.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Development                Production</a:t>
            </a:r>
            <a:br/>
            <a:r>
              <a:t>───────────                ──────────</a:t>
            </a:r>
            <a:br/>
            <a:r>
              <a:t>Experiment                Stability</a:t>
            </a:r>
            <a:br/>
            <a:r>
              <a:t>Speed                     Reliability</a:t>
            </a:r>
            <a:br/>
            <a:r>
              <a:t>Flexibility               Consistency</a:t>
            </a:r>
            <a:br/>
            <a:r>
              <a:t>Debugging                Observability</a:t>
            </a:r>
            <a:br/>
            <a:r>
              <a:t>Bleeding edge            Battle-tested</a:t>
            </a:r>
            <a:br/>
            <a:r>
              <a:t>Quick iteration          Careful validation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223: Production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**Uptime:** 99.9%+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**Latency:** &lt;100ms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**Throughput:** 1000+ req/s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**Error Rate:** &lt;1%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 Freshness:** &lt;1 hour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**Model Accuracy:** &gt;90%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**Recovery Time:** &lt;5 minutes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224: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Horizontal scaling</a:t>
            </a:r>
            <a:br/>
            <a:r>
              <a:t>app = FastAPI()</a:t>
            </a:r>
            <a:br/>
            <a:r>
              <a:t>workers = 4</a:t>
            </a:r>
            <a:br/>
            <a:r>
              <a:t>uvicorn.run(app, host="0.0.0.0", port=8000, workers=workers)</a:t>
            </a:r>
            <a:br/>
            <a:br/>
            <a:r>
              <a:t># Vertical scaling</a:t>
            </a:r>
            <a:br/>
            <a:r>
              <a:t># Increase memory, CPU, disk</a:t>
            </a:r>
            <a:br/>
            <a:br/>
            <a:r>
              <a:t># Auto-scaling</a:t>
            </a:r>
            <a:br/>
            <a:r>
              <a:t>from kubernetes import client, autoscaling</a:t>
            </a:r>
            <a:br/>
            <a:r>
              <a:t>autoscaling.v1.HorizontalPodAutoscaler(</a:t>
            </a:r>
            <a:br/>
            <a:r>
              <a:t>    min_replicas=2,</a:t>
            </a:r>
            <a:br/>
            <a:r>
              <a:t>    max_replicas=10,</a:t>
            </a:r>
            <a:br/>
            <a:r>
              <a:t>    target_cpu_utilization_percentage=70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225: High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High Availability   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Load Balancer                      │</a:t>
            </a:r>
            <a:br/>
            <a:r>
              <a:t>│      ↓                              │</a:t>
            </a:r>
            <a:br/>
            <a:r>
              <a:t>│  ┌─────┐  ┌─────┐  ┌─────┐       │</a:t>
            </a:r>
            <a:br/>
            <a:r>
              <a:t>│  │ Pod1 │  │ Pod2 │  │ Pod3 │       │</a:t>
            </a:r>
            <a:br/>
            <a:r>
              <a:t>│  └─────┘  └─────┘  └─────┘       │</a:t>
            </a:r>
            <a:br/>
            <a:r>
              <a:t>│      ↓        ↓        ↓          │</a:t>
            </a:r>
            <a:br/>
            <a:r>
              <a:t>│  Shared Storage (S3/PostgreSQL)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226: 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**Backups:** Regular automated backups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**Replication:** Multiple copies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**Failover:** Automatic switching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**Testing:** Regular DR tests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**RPO:** Recovery point objective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**RTO:** Recovery time objective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227: Security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Layer 1: Network (Firewall, VPC)</a:t>
            </a:r>
            <a:br/>
            <a:r>
              <a:t>Layer 2: Authentication (OAuth, JWT)</a:t>
            </a:r>
            <a:br/>
            <a:r>
              <a:t>Layer 3: Authorization (RBAC)</a:t>
            </a:r>
            <a:br/>
            <a:r>
              <a:t>Layer 4: Data (Encryption)</a:t>
            </a:r>
            <a:br/>
            <a:r>
              <a:t>Layer 5: Application (Input validation)</a:t>
            </a:r>
            <a:br/>
            <a:r>
              <a:t>Layer 6: Monitoring (Audit logs)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228: Secrets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Never hardcode secrets</a:t>
            </a:r>
            <a:br/>
            <a:r>
              <a:t># Use environment variables</a:t>
            </a:r>
            <a:br/>
            <a:r>
              <a:t>DB_PASSWORD = os.environ.get('DB_PASSWORD')</a:t>
            </a:r>
            <a:br/>
            <a:br/>
            <a:r>
              <a:t># Use secret management tools</a:t>
            </a:r>
            <a:br/>
            <a:r>
              <a:t>import boto3</a:t>
            </a:r>
            <a:br/>
            <a:r>
              <a:t>client = boto3.client('secretsmanager')</a:t>
            </a:r>
            <a:br/>
            <a:r>
              <a:t>secret = client.get_secret_value(SecretId='db_password')</a:t>
            </a:r>
            <a:br/>
            <a:br/>
            <a:r>
              <a:t># Use HashiCorp Vault</a:t>
            </a:r>
            <a:br/>
            <a:r>
              <a:t>import hvac</a:t>
            </a:r>
            <a:br/>
            <a:r>
              <a:t>client = hvac.Client(url='http://vault:8200')</a:t>
            </a:r>
            <a:br/>
            <a:r>
              <a:t>secret = client.secrets.kv.v2.read_secret_version(path='db_password')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229: Monitoring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Prometheus → Metrics Collection</a:t>
            </a:r>
            <a:br/>
            <a:r>
              <a:t>Grafana → Visualization</a:t>
            </a:r>
            <a:br/>
            <a:r>
              <a:t>ELK Stack → Logs (Elasticsearch, Logstash, Kibana)</a:t>
            </a:r>
            <a:br/>
            <a:r>
              <a:t>Jaeger → Distributed Tracing</a:t>
            </a:r>
            <a:br/>
            <a:r>
              <a:t>Alertmanager → Alerting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230: Logging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Structured logging</a:t>
            </a:r>
            <a:br/>
            <a:r>
              <a:t>import structlog</a:t>
            </a:r>
            <a:br/>
            <a:r>
              <a:t>logger = structlog.get_logger()</a:t>
            </a:r>
            <a:br/>
            <a:br/>
            <a:r>
              <a:t>logger.info(</a:t>
            </a:r>
            <a:br/>
            <a:r>
              <a:t>    "Request processed",</a:t>
            </a:r>
            <a:br/>
            <a:r>
              <a:t>    request_id=request_id,</a:t>
            </a:r>
            <a:br/>
            <a:r>
              <a:t>    latency_ms=latency,</a:t>
            </a:r>
            <a:br/>
            <a:r>
              <a:t>    status_code=200,</a:t>
            </a:r>
            <a:br/>
            <a:r>
              <a:t>    model_version="v1.0.0"</a:t>
            </a:r>
            <a:br/>
            <a:r>
              <a:t>)</a:t>
            </a:r>
            <a:br/>
            <a:br/>
            <a:r>
              <a:t># Log levels</a:t>
            </a:r>
            <a:br/>
            <a:r>
              <a:t>DEBUG: Development debugging</a:t>
            </a:r>
            <a:br/>
            <a:r>
              <a:t>INFO: General information</a:t>
            </a:r>
            <a:br/>
            <a:r>
              <a:t>WARNING: Warning conditions</a:t>
            </a:r>
            <a:br/>
            <a:r>
              <a:t>ERROR: Error conditions</a:t>
            </a:r>
            <a:br/>
            <a:r>
              <a:t>CRITICAL: Critical failures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231: Metrics to 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System Metrics:</a:t>
            </a:r>
            <a:br/>
            <a:r>
              <a:t>- CPU usage</a:t>
            </a:r>
            <a:br/>
            <a:r>
              <a:t>- Memory usage</a:t>
            </a:r>
            <a:br/>
            <a:r>
              <a:t>- Disk usage</a:t>
            </a:r>
            <a:br/>
            <a:r>
              <a:t>- Network I/O</a:t>
            </a:r>
            <a:br/>
            <a:br/>
            <a:r>
              <a:t>Application Metrics:</a:t>
            </a:r>
            <a:br/>
            <a:r>
              <a:t>- Request count</a:t>
            </a:r>
            <a:br/>
            <a:r>
              <a:t>- Response time</a:t>
            </a:r>
            <a:br/>
            <a:r>
              <a:t>- Error rate</a:t>
            </a:r>
            <a:br/>
            <a:r>
              <a:t>- Throughput</a:t>
            </a:r>
            <a:br/>
            <a:br/>
            <a:r>
              <a:t>Model Metrics:</a:t>
            </a:r>
            <a:br/>
            <a:r>
              <a:t>- Prediction accuracy</a:t>
            </a:r>
            <a:br/>
            <a:r>
              <a:t>- Latency</a:t>
            </a:r>
            <a:br/>
            <a:r>
              <a:t>- Drift score</a:t>
            </a:r>
            <a:br/>
            <a:r>
              <a:t>- Confidence scores</a:t>
            </a:r>
            <a:br/>
            <a:br/>
            <a:r>
              <a:t>Business Metrics:</a:t>
            </a:r>
            <a:br/>
            <a:r>
              <a:t>- Predictions per day</a:t>
            </a:r>
            <a:br/>
            <a:r>
              <a:t>- Prediction distribution</a:t>
            </a:r>
            <a:br/>
            <a:r>
              <a:t>- Business impact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232: Alerting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Define alert rules</a:t>
            </a:r>
            <a:br/>
            <a:r>
              <a:t>alerts = {</a:t>
            </a:r>
            <a:br/>
            <a:r>
              <a:t>    "high_latency": {</a:t>
            </a:r>
            <a:br/>
            <a:r>
              <a:t>        "condition": "latency_p95 &gt; 100ms",</a:t>
            </a:r>
            <a:br/>
            <a:r>
              <a:t>        "severity": "warning",</a:t>
            </a:r>
            <a:br/>
            <a:r>
              <a:t>        "action": "Slack notification"</a:t>
            </a:r>
            <a:br/>
            <a:r>
              <a:t>    },</a:t>
            </a:r>
            <a:br/>
            <a:r>
              <a:t>    "model_drift": {</a:t>
            </a:r>
            <a:br/>
            <a:r>
              <a:t>        "condition": "drift_score &gt; 0.5",</a:t>
            </a:r>
            <a:br/>
            <a:r>
              <a:t>        "severity": "critical",</a:t>
            </a:r>
            <a:br/>
            <a:r>
              <a:t>        "action": "PagerDuty"</a:t>
            </a:r>
            <a:br/>
            <a:r>
              <a:t>    },</a:t>
            </a:r>
            <a:br/>
            <a:r>
              <a:t>    "pipeline_failure": {</a:t>
            </a:r>
            <a:br/>
            <a:r>
              <a:t>        "condition": "pipeline_status == 'failed'",</a:t>
            </a:r>
            <a:br/>
            <a:r>
              <a:t>        "severity": "critical",</a:t>
            </a:r>
            <a:br/>
            <a:r>
              <a:t>        "action": "Email + Slack"</a:t>
            </a:r>
            <a:br/>
            <a:r>
              <a:t>  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233: 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1. Detection: Alert triggered</a:t>
            </a:r>
            <a:br/>
            <a:r>
              <a:t>2. Triage: Assess severity</a:t>
            </a:r>
            <a:br/>
            <a:r>
              <a:t>3. Investigation: Find root cause</a:t>
            </a:r>
            <a:br/>
            <a:r>
              <a:t>4. Mitigation: Stop the bleeding</a:t>
            </a:r>
            <a:br/>
            <a:r>
              <a:t>5. Resolution: Fix the issue</a:t>
            </a:r>
            <a:br/>
            <a:r>
              <a:t>6. Post-mortem: Document and learn</a:t>
            </a:r>
            <a:br/>
            <a:r>
              <a:t>7. Prevention: Implement fixes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234: Model Drift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def detect_drift(old_data, new_data, threshold=0.05):</a:t>
            </a:r>
            <a:br/>
            <a:r>
              <a:t>    for col in old_data.columns:</a:t>
            </a:r>
            <a:br/>
            <a:r>
              <a:t>        stat, p_value = ks_2samp(old_data[col], new_data[col])</a:t>
            </a:r>
            <a:br/>
            <a:r>
              <a:t>        if p_value &lt; threshold:</a:t>
            </a:r>
            <a:br/>
            <a:r>
              <a:t>            return True, col, p_value</a:t>
            </a:r>
            <a:br/>
            <a:r>
              <a:t>    return False, None, None</a:t>
            </a:r>
            <a:br/>
            <a:br/>
            <a:r>
              <a:t>def detect_concept_drift(old_predictions, new_predictions):</a:t>
            </a:r>
            <a:br/>
            <a:r>
              <a:t>    old_dist = old_predictions.value_counts(normalize=True)</a:t>
            </a:r>
            <a:br/>
            <a:r>
              <a:t>    new_dist = new_predictions.value_counts(normalize=True)</a:t>
            </a:r>
            <a:br/>
            <a:r>
              <a:t>    return old_dist != new_dist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235: Model Retraining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Trigger Types:</a:t>
            </a:r>
            <a:br/>
            <a:r>
              <a:t>- Scheduled (Daily/Weekly)</a:t>
            </a:r>
            <a:br/>
            <a:r>
              <a:t>- Data-based (New data available)</a:t>
            </a:r>
            <a:br/>
            <a:r>
              <a:t>- Performance-based (Accuracy drops)</a:t>
            </a:r>
            <a:br/>
            <a:r>
              <a:t>- Business-based (New requirements)</a:t>
            </a:r>
            <a:br/>
            <a:br/>
            <a:r>
              <a:t>Strategies:</a:t>
            </a:r>
            <a:br/>
            <a:r>
              <a:t>- Incremental: Update existing model</a:t>
            </a:r>
            <a:br/>
            <a:r>
              <a:t>- Full: Retrain from scratch</a:t>
            </a:r>
            <a:br/>
            <a:r>
              <a:t>- Ensemble: Combine old + new</a:t>
            </a:r>
            <a:br/>
            <a:r>
              <a:t>- Hybrid: Partial retraining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236: A/B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  A/B Testing       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50% → Model A (Current)           │</a:t>
            </a:r>
            <a:br/>
            <a:r>
              <a:t>│  50% → Model B (New)               │</a:t>
            </a:r>
            <a:br/>
            <a:r>
              <a:t>│       ↓                            │</a:t>
            </a:r>
            <a:br/>
            <a:r>
              <a:t>│  Collect metrics for both          │</a:t>
            </a:r>
            <a:br/>
            <a:r>
              <a:t>│       ↓                            │</a:t>
            </a:r>
            <a:br/>
            <a:r>
              <a:t>│  Compare performance               │</a:t>
            </a:r>
            <a:br/>
            <a:r>
              <a:t>│       ↓                            │</a:t>
            </a:r>
            <a:br/>
            <a:r>
              <a:t>│  If B better: Rollout fully        │</a:t>
            </a:r>
            <a:br/>
            <a:r>
              <a:t>│  If B worse: Rollback       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237: Canary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Canary Deployment   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Step 1: 1% traffic to new model   │</a:t>
            </a:r>
            <a:br/>
            <a:r>
              <a:t>│  Step 2: Monitor metrics           │</a:t>
            </a:r>
            <a:br/>
            <a:r>
              <a:t>│  Step 3: 10% traffic               │</a:t>
            </a:r>
            <a:br/>
            <a:r>
              <a:t>│  Step 4: Monitor metrics           │</a:t>
            </a:r>
            <a:br/>
            <a:r>
              <a:t>│  Step 5: 50% traffic               │</a:t>
            </a:r>
            <a:br/>
            <a:r>
              <a:t>│  Step 6: Monitor metrics           │</a:t>
            </a:r>
            <a:br/>
            <a:r>
              <a:t>│  Step 7: 100% traffic              │</a:t>
            </a:r>
            <a:br/>
            <a:r>
              <a:t>│  Step 8: Old model retired  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238: Blue-Green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Blue-Green Deployment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Blue: Production (Active)         │</a:t>
            </a:r>
            <a:br/>
            <a:r>
              <a:t>│  Green: New version (Inactive)     │</a:t>
            </a:r>
            <a:br/>
            <a:r>
              <a:t>│         ↓                          │</a:t>
            </a:r>
            <a:br/>
            <a:r>
              <a:t>│  1. Deploy to Green                │</a:t>
            </a:r>
            <a:br/>
            <a:r>
              <a:t>│  2. Test Green                     │</a:t>
            </a:r>
            <a:br/>
            <a:r>
              <a:t>│  3. Switch traffic to Green        │</a:t>
            </a:r>
            <a:br/>
            <a:r>
              <a:t>│  4. Blue becomes inactive          │</a:t>
            </a:r>
            <a:br/>
            <a:r>
              <a:t>│  5. Rollback: Switch to Blue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239: Cost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**Compute:** Right-size instances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**Storage:** Use appropriate tiers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**Data:** Compress where possible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**Network:** Minimize data transfer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**Monitoring:** Collect what's needed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**Automation:** Reduce manual work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**Spot instances:** For training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**Serverless:** For variable workloads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240: Production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Requirements defined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Architecture designed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Security implemented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Monitoring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Alerts set up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Testing complete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Documentation ready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Team trained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Rollback plan ready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Go/No-go decision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13: Deployment Strategies (Slides 241-260)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241: Deployment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**REST API:** HTTP endpoints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**Batch:** Scheduled jobs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**Streaming:** Real-time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**Edge:** IoT devices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**Mobile:** Apps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**Serverless:** Functions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**Containerized:** Docker/Kubernetes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242: REST API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fastapi import FastAPI</a:t>
            </a:r>
            <a:br/>
            <a:r>
              <a:t>import mlflow</a:t>
            </a:r>
            <a:br/>
            <a:br/>
            <a:r>
              <a:t>app = FastAPI()</a:t>
            </a:r>
            <a:br/>
            <a:br/>
            <a:r>
              <a:t># Load model</a:t>
            </a:r>
            <a:br/>
            <a:r>
              <a:t>model = mlflow.sklearn.load_model("models:/model/Production")</a:t>
            </a:r>
            <a:br/>
            <a:br/>
            <a:r>
              <a:t>@app.post("/predict")</a:t>
            </a:r>
            <a:br/>
            <a:r>
              <a:t>def predict(features: list):</a:t>
            </a:r>
            <a:br/>
            <a:r>
              <a:t>    prediction = model.predict([features])</a:t>
            </a:r>
            <a:br/>
            <a:r>
              <a:t>    return {"prediction": prediction.tolist()}</a:t>
            </a:r>
            <a:br/>
            <a:br/>
            <a:r>
              <a:t># Serve</a:t>
            </a:r>
            <a:br/>
            <a:r>
              <a:t># uvicorn app:app --host 0.0.0.0 --port 8000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243: Batch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pandas as pd</a:t>
            </a:r>
            <a:br/>
            <a:r>
              <a:t>import mlflow</a:t>
            </a:r>
            <a:br/>
            <a:br/>
            <a:r>
              <a:t>def run_batch_prediction():</a:t>
            </a:r>
            <a:br/>
            <a:r>
              <a:t>    # Load model</a:t>
            </a:r>
            <a:br/>
            <a:r>
              <a:t>    model = mlflow.sklearn.load_model("models:/model/Production")</a:t>
            </a:r>
            <a:br/>
            <a:r>
              <a:t>    </a:t>
            </a:r>
            <a:br/>
            <a:r>
              <a:t>    # Load data</a:t>
            </a:r>
            <a:br/>
            <a:r>
              <a:t>    df = pd.read_csv("data/batch_input.csv")</a:t>
            </a:r>
            <a:br/>
            <a:r>
              <a:t>    </a:t>
            </a:r>
            <a:br/>
            <a:r>
              <a:t>    # Predict</a:t>
            </a:r>
            <a:br/>
            <a:r>
              <a:t>    predictions = model.predict(df)</a:t>
            </a:r>
            <a:br/>
            <a:r>
              <a:t>    </a:t>
            </a:r>
            <a:br/>
            <a:r>
              <a:t>    # Save results</a:t>
            </a:r>
            <a:br/>
            <a:r>
              <a:t>    df['prediction'] = predictions</a:t>
            </a:r>
            <a:br/>
            <a:r>
              <a:t>    df.to_csv("data/batch_output.csv", index=False)</a:t>
            </a:r>
            <a:br/>
            <a:br/>
            <a:r>
              <a:t># Schedule with Dagster</a:t>
            </a:r>
            <a:br/>
            <a:r>
              <a:t>@schedule(job=batch_job, cron_schedule="0 0 * * *")</a:t>
            </a:r>
            <a:br/>
            <a:r>
              <a:t>def batch_schedule(context):</a:t>
            </a:r>
            <a:br/>
            <a:r>
              <a:t>    return {}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244: Serverless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AWS Lambda</a:t>
            </a:r>
            <a:br/>
            <a:r>
              <a:t>import mlflow</a:t>
            </a:r>
            <a:br/>
            <a:r>
              <a:t>import boto3</a:t>
            </a:r>
            <a:br/>
            <a:br/>
            <a:r>
              <a:t>def handler(event, context):</a:t>
            </a:r>
            <a:br/>
            <a:r>
              <a:t>    # Load model from S3</a:t>
            </a:r>
            <a:br/>
            <a:r>
              <a:t>    model = mlflow.sklearn.load_model("s3://bucket/model")</a:t>
            </a:r>
            <a:br/>
            <a:r>
              <a:t>    </a:t>
            </a:r>
            <a:br/>
            <a:r>
              <a:t>    # Predict</a:t>
            </a:r>
            <a:br/>
            <a:r>
              <a:t>    features = event['features']</a:t>
            </a:r>
            <a:br/>
            <a:r>
              <a:t>    prediction = model.predict([features])</a:t>
            </a:r>
            <a:br/>
            <a:r>
              <a:t>    </a:t>
            </a:r>
            <a:br/>
            <a:r>
              <a:t>    return {</a:t>
            </a:r>
            <a:br/>
            <a:r>
              <a:t>        'statusCode': 200,</a:t>
            </a:r>
            <a:br/>
            <a:r>
              <a:t>        'body': {'prediction': prediction.tolist()}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245: Containerized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Dockerfile</a:t>
            </a:r>
            <a:br/>
            <a:r>
              <a:t>FROM python:3.10-slim</a:t>
            </a:r>
            <a:br/>
            <a:br/>
            <a:r>
              <a:t>WORKDIR /app</a:t>
            </a:r>
            <a:br/>
            <a:r>
              <a:t>COPY requirements.txt .</a:t>
            </a:r>
            <a:br/>
            <a:r>
              <a:t>RUN pip install -r requirements.txt</a:t>
            </a:r>
            <a:br/>
            <a:br/>
            <a:r>
              <a:t>COPY . .</a:t>
            </a:r>
            <a:br/>
            <a:br/>
            <a:r>
              <a:t>CMD ["uvicorn", "app:app", "--host", "0.0.0.0", "--port", "8000"]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246: Kubernetes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deployment.yaml</a:t>
            </a:r>
            <a:br/>
            <a:r>
              <a:t>apiVersion: apps/v1</a:t>
            </a:r>
            <a:br/>
            <a:r>
              <a:t>kind: Deployment</a:t>
            </a:r>
            <a:br/>
            <a:r>
              <a:t>metadata:</a:t>
            </a:r>
            <a:br/>
            <a:r>
              <a:t>  name: model-api</a:t>
            </a:r>
            <a:br/>
            <a:r>
              <a:t>spec:</a:t>
            </a:r>
            <a:br/>
            <a:r>
              <a:t>  replicas: 3</a:t>
            </a:r>
            <a:br/>
            <a:r>
              <a:t>  selector:</a:t>
            </a:r>
            <a:br/>
            <a:r>
              <a:t>    matchLabels:</a:t>
            </a:r>
            <a:br/>
            <a:r>
              <a:t>      app: model-api</a:t>
            </a:r>
            <a:br/>
            <a:r>
              <a:t>  template:</a:t>
            </a:r>
            <a:br/>
            <a:r>
              <a:t>    metadata:</a:t>
            </a:r>
            <a:br/>
            <a:r>
              <a:t>      labels:</a:t>
            </a:r>
            <a:br/>
            <a:r>
              <a:t>        app: model-api</a:t>
            </a:r>
            <a:br/>
            <a:r>
              <a:t>    spec:</a:t>
            </a:r>
            <a:br/>
            <a:r>
              <a:t>      containers:</a:t>
            </a:r>
            <a:br/>
            <a:r>
              <a:t>      - name: model-api</a:t>
            </a:r>
            <a:br/>
            <a:r>
              <a:t>        image: model-api:latest</a:t>
            </a:r>
            <a:br/>
            <a:r>
              <a:t>        ports:</a:t>
            </a:r>
            <a:br/>
            <a:r>
              <a:t>        - containerPort: 8000</a:t>
            </a:r>
            <a:br/>
            <a:r>
              <a:t>        env:</a:t>
            </a:r>
            <a:br/>
            <a:r>
              <a:t>        - name: MLFLOW_TRACKING_URI</a:t>
            </a:r>
            <a:br/>
            <a:r>
              <a:t>          value: "http://mlflow:5000"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247: Model Serving Platforms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**Seldon Core:** Kubernetes-native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**KFServing:** Serverless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**BentoML:** Framework agnostic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**Triton:** NVIDIA inference server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**TorchServe:** PyTorch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**TensorFlow Serving:** TensorFlow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**MLflow:** General purpose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248: 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Complete CI/CD pipeline</a:t>
            </a:r>
            <a:br/>
            <a:r>
              <a:t>stages:</a:t>
            </a:r>
            <a:br/>
            <a:r>
              <a:t>  - test</a:t>
            </a:r>
            <a:br/>
            <a:r>
              <a:t>  - build</a:t>
            </a:r>
            <a:br/>
            <a:r>
              <a:t>  - deploy-staging</a:t>
            </a:r>
            <a:br/>
            <a:r>
              <a:t>  - test-staging</a:t>
            </a:r>
            <a:br/>
            <a:r>
              <a:t>  - deploy-production</a:t>
            </a:r>
            <a:br/>
            <a:r>
              <a:t>  - monitor</a:t>
            </a:r>
            <a:br/>
            <a:br/>
            <a:r>
              <a:t>variables:</a:t>
            </a:r>
            <a:br/>
            <a:r>
              <a:t>  DOCKER_IMAGE: registry/model-api</a:t>
            </a:r>
            <a:br/>
            <a:r>
              <a:t>  MLFLOW_TRACKING_URI: http://mlflow:5000</a:t>
            </a:r>
            <a:br/>
            <a:br/>
            <a:r>
              <a:t>test:</a:t>
            </a:r>
            <a:br/>
            <a:r>
              <a:t>  stage: test</a:t>
            </a:r>
            <a:br/>
            <a:r>
              <a:t>  script:</a:t>
            </a:r>
            <a:br/>
            <a:r>
              <a:t>    - pytest tests/</a:t>
            </a:r>
            <a:br/>
            <a:br/>
            <a:r>
              <a:t>build:</a:t>
            </a:r>
            <a:br/>
            <a:r>
              <a:t>  stage: build</a:t>
            </a:r>
            <a:br/>
            <a:r>
              <a:t>  script:</a:t>
            </a:r>
            <a:br/>
            <a:r>
              <a:t>    - docker build -t $DOCKER_IMAGE:$CI_COMMIT_SHA .</a:t>
            </a:r>
            <a:br/>
            <a:r>
              <a:t>    - docker push $DOCKER_IMAGE:$CI_COMMIT_SHA</a:t>
            </a:r>
            <a:br/>
            <a:br/>
            <a:r>
              <a:t>deploy-staging:</a:t>
            </a:r>
            <a:br/>
            <a:r>
              <a:t>  stage: deploy-staging</a:t>
            </a:r>
            <a:br/>
            <a:r>
              <a:t>  script:</a:t>
            </a:r>
            <a:br/>
            <a:r>
              <a:t>    - kubectl set image deployment/model-api model-api=$DOCKER_IMAGE:$CI_COMMIT_SHA -n staging</a:t>
            </a:r>
            <a:br/>
            <a:br/>
            <a:r>
              <a:t>test-staging:</a:t>
            </a:r>
            <a:br/>
            <a:r>
              <a:t>  stage: test-staging</a:t>
            </a:r>
            <a:br/>
            <a:r>
              <a:t>  script:</a:t>
            </a:r>
            <a:br/>
            <a:r>
              <a:t>    - python scripts/test_api.py --env staging</a:t>
            </a:r>
            <a:br/>
            <a:br/>
            <a:r>
              <a:t>deploy-production:</a:t>
            </a:r>
            <a:br/>
            <a:r>
              <a:t>  stage: deploy-production</a:t>
            </a:r>
            <a:br/>
            <a:r>
              <a:t>  script:</a:t>
            </a:r>
            <a:br/>
            <a:r>
              <a:t>    - kubectl set image deployment/model-api model-api=$DOCKER_IMAGE:$CI_COMMIT_SHA -n production</a:t>
            </a:r>
            <a:br/>
            <a:br/>
            <a:r>
              <a:t>monitor:</a:t>
            </a:r>
            <a:br/>
            <a:r>
              <a:t>  stage: monitor</a:t>
            </a:r>
            <a:br/>
            <a:r>
              <a:t>  script:</a:t>
            </a:r>
            <a:br/>
            <a:r>
              <a:t>    - python scripts/monitor.py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249: Rollback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Kubernetes rollback</a:t>
            </a:r>
            <a:br/>
            <a:r>
              <a:t>kubectl rollout undo deployment/model-api</a:t>
            </a:r>
            <a:br/>
            <a:br/>
            <a:r>
              <a:t># Docker rollback</a:t>
            </a:r>
            <a:br/>
            <a:r>
              <a:t>docker run -d --name model-api-old $DOCKER_IMAGE:$OLD_VERSION</a:t>
            </a:r>
            <a:br/>
            <a:r>
              <a:t>docker stop model-api</a:t>
            </a:r>
            <a:br/>
            <a:r>
              <a:t>docker start model-api-old</a:t>
            </a:r>
            <a:br/>
            <a:br/>
            <a:r>
              <a:t># Model registry rollback</a:t>
            </a:r>
            <a:br/>
            <a:r>
              <a:t>mlflow models serve -m models:/model/v0.9.0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250: Traffic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Traffic splitting</a:t>
            </a:r>
            <a:br/>
            <a:r>
              <a:t>def route_traffic(request):</a:t>
            </a:r>
            <a:br/>
            <a:r>
              <a:t>    import random</a:t>
            </a:r>
            <a:br/>
            <a:r>
              <a:t>    if random.random() &lt; 0.9:</a:t>
            </a:r>
            <a:br/>
            <a:r>
              <a:t>        return predict_v1(request)</a:t>
            </a:r>
            <a:br/>
            <a:r>
              <a:t>    else:</a:t>
            </a:r>
            <a:br/>
            <a:r>
              <a:t>        return predict_v2(request)</a:t>
            </a:r>
            <a:br/>
            <a:br/>
            <a:r>
              <a:t># Weighted routing</a:t>
            </a:r>
            <a:br/>
            <a:r>
              <a:t>weights = {</a:t>
            </a:r>
            <a:br/>
            <a:r>
              <a:t>    "model_v1": 0.9,</a:t>
            </a:r>
            <a:br/>
            <a:r>
              <a:t>    "model_v2": 0.1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251: Performance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time</a:t>
            </a:r>
            <a:br/>
            <a:r>
              <a:t>import requests</a:t>
            </a:r>
            <a:br/>
            <a:r>
              <a:t>from concurrent.futures import ThreadPoolExecutor</a:t>
            </a:r>
            <a:br/>
            <a:br/>
            <a:r>
              <a:t>def test_performance(endpoint, requests=1000, concurrency=10):</a:t>
            </a:r>
            <a:br/>
            <a:r>
              <a:t>    def make_request():</a:t>
            </a:r>
            <a:br/>
            <a:r>
              <a:t>        start = time.time()</a:t>
            </a:r>
            <a:br/>
            <a:r>
              <a:t>        response = requests.post(endpoint, json={"features": [1, 2, 3]})</a:t>
            </a:r>
            <a:br/>
            <a:r>
              <a:t>        return time.time() - start</a:t>
            </a:r>
            <a:br/>
            <a:r>
              <a:t>    </a:t>
            </a:r>
            <a:br/>
            <a:r>
              <a:t>    with ThreadPoolExecutor(max_workers=concurrency) as executor:</a:t>
            </a:r>
            <a:br/>
            <a:r>
              <a:t>        latencies = list(executor.map(make_request, range(requests)))</a:t>
            </a:r>
            <a:br/>
            <a:r>
              <a:t>    </a:t>
            </a:r>
            <a:br/>
            <a:r>
              <a:t>    return {</a:t>
            </a:r>
            <a:br/>
            <a:r>
              <a:t>        "p50": np.percentile(latencies, 50),</a:t>
            </a:r>
            <a:br/>
            <a:r>
              <a:t>        "p95": np.percentile(latencies, 95),</a:t>
            </a:r>
            <a:br/>
            <a:r>
              <a:t>        "p99": np.percentile(latencies, 99),</a:t>
            </a:r>
            <a:br/>
            <a:r>
              <a:t>        "mean": np.mean(latencies),</a:t>
            </a:r>
            <a:br/>
            <a:r>
              <a:t>        "max": np.max(latencies)</a:t>
            </a:r>
            <a:br/>
            <a:r>
              <a:t>    }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252: Load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Locust</a:t>
            </a:r>
            <a:br/>
            <a:r>
              <a:t>locust -f locustfile.py --host http://api:8000</a:t>
            </a:r>
            <a:br/>
            <a:br/>
            <a:r>
              <a:t># Vegeta</a:t>
            </a:r>
            <a:br/>
            <a:r>
              <a:t>echo "POST http://api:8000/predict" | vegeta attack -duration=60s -rate=100 | vegeta report</a:t>
            </a:r>
            <a:br/>
            <a:br/>
            <a:r>
              <a:t># Apache Bench</a:t>
            </a:r>
            <a:br/>
            <a:r>
              <a:t>ab -n 1000 -c 10 -p payload.json -T application/json http://api:8000/predict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253: Monitoring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class DeploymentMonitor:</a:t>
            </a:r>
            <a:br/>
            <a:r>
              <a:t>    def __init__(self):</a:t>
            </a:r>
            <a:br/>
            <a:r>
              <a:t>        self.metrics = {</a:t>
            </a:r>
            <a:br/>
            <a:r>
              <a:t>            "requests": 0,</a:t>
            </a:r>
            <a:br/>
            <a:r>
              <a:t>            "errors": 0,</a:t>
            </a:r>
            <a:br/>
            <a:r>
              <a:t>            "latencies": []</a:t>
            </a:r>
            <a:br/>
            <a:r>
              <a:t>        }</a:t>
            </a:r>
            <a:br/>
            <a:r>
              <a:t>    </a:t>
            </a:r>
            <a:br/>
            <a:r>
              <a:t>    def record_request(self, latency, error=False):</a:t>
            </a:r>
            <a:br/>
            <a:r>
              <a:t>        self.metrics["requests"] += 1</a:t>
            </a:r>
            <a:br/>
            <a:r>
              <a:t>        if error:</a:t>
            </a:r>
            <a:br/>
            <a:r>
              <a:t>            self.metrics["errors"] += 1</a:t>
            </a:r>
            <a:br/>
            <a:r>
              <a:t>        self.metrics["latencies"].append(latency)</a:t>
            </a:r>
            <a:br/>
            <a:r>
              <a:t>    </a:t>
            </a:r>
            <a:br/>
            <a:r>
              <a:t>    def get_metrics(self):</a:t>
            </a:r>
            <a:br/>
            <a:r>
              <a:t>        return {</a:t>
            </a:r>
            <a:br/>
            <a:r>
              <a:t>            "total_requests": self.metrics["requests"],</a:t>
            </a:r>
            <a:br/>
            <a:r>
              <a:t>            "error_rate": self.metrics["errors"] / self.metrics["requests"],</a:t>
            </a:r>
            <a:br/>
            <a:r>
              <a:t>            "avg_latency": np.mean(self.metrics["latencies"]),</a:t>
            </a:r>
            <a:br/>
            <a:r>
              <a:t>            "p95_latency": np.percentile(self.metrics["latencies"], 95)</a:t>
            </a:r>
            <a:br/>
            <a:r>
              <a:t>        }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254: Logging in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import logging</a:t>
            </a:r>
            <a:br/>
            <a:r>
              <a:t>from pythonjsonlogger import jsonlogger</a:t>
            </a:r>
            <a:br/>
            <a:br/>
            <a:r>
              <a:t># JSON logging</a:t>
            </a:r>
            <a:br/>
            <a:r>
              <a:t>logger = logging.getLogger()</a:t>
            </a:r>
            <a:br/>
            <a:r>
              <a:t>handler = logging.StreamHandler()</a:t>
            </a:r>
            <a:br/>
            <a:r>
              <a:t>formatter = jsonlogger.JsonFormatter()</a:t>
            </a:r>
            <a:br/>
            <a:r>
              <a:t>handler.setFormatter(formatter)</a:t>
            </a:r>
            <a:br/>
            <a:r>
              <a:t>logger.addHandler(handler)</a:t>
            </a:r>
            <a:br/>
            <a:br/>
            <a:r>
              <a:t># Log structured data</a:t>
            </a:r>
            <a:br/>
            <a:r>
              <a:t>logger.info(</a:t>
            </a:r>
            <a:br/>
            <a:r>
              <a:t>    "Prediction made",</a:t>
            </a:r>
            <a:br/>
            <a:r>
              <a:t>    extra={</a:t>
            </a:r>
            <a:br/>
            <a:r>
              <a:t>        "request_id": request_id,</a:t>
            </a:r>
            <a:br/>
            <a:r>
              <a:t>        "model_version": model_version,</a:t>
            </a:r>
            <a:br/>
            <a:r>
              <a:t>        "latency_ms": latency,</a:t>
            </a:r>
            <a:br/>
            <a:r>
              <a:t>        "features": features,</a:t>
            </a:r>
            <a:br/>
            <a:r>
              <a:t>        "prediction": prediction</a:t>
            </a:r>
            <a:br/>
            <a:r>
              <a:t>    }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255: Production Dashboards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       Production Dashboard        │</a:t>
            </a:r>
            <a:br/>
            <a:r>
              <a:t>├─────────────────────────────────────┤</a:t>
            </a:r>
            <a:br/>
            <a:r>
              <a:t>│                                     │</a:t>
            </a:r>
            <a:br/>
            <a:r>
              <a:t>│  Model Performance                  │</a:t>
            </a:r>
            <a:br/>
            <a:r>
              <a:t>│  ─────────────────                │</a:t>
            </a:r>
            <a:br/>
            <a:r>
              <a:t>│  Accuracy: 0.95 ↑                  │</a:t>
            </a:r>
            <a:br/>
            <a:r>
              <a:t>│  F1: 0.93 →                        │</a:t>
            </a:r>
            <a:br/>
            <a:r>
              <a:t>│  Latency: 45ms ↓                   │</a:t>
            </a:r>
            <a:br/>
            <a:r>
              <a:t>│                                     │</a:t>
            </a:r>
            <a:br/>
            <a:r>
              <a:t>│  System Health                      │</a:t>
            </a:r>
            <a:br/>
            <a:r>
              <a:t>│  ─────────────────                │</a:t>
            </a:r>
            <a:br/>
            <a:r>
              <a:t>│  CPU: 45%                          │</a:t>
            </a:r>
            <a:br/>
            <a:r>
              <a:t>│  Memory: 60%                       │</a:t>
            </a:r>
            <a:br/>
            <a:r>
              <a:t>│  Disk: 30%                         │</a:t>
            </a:r>
            <a:br/>
            <a:r>
              <a:t>│                                     │</a:t>
            </a:r>
            <a:br/>
            <a:r>
              <a:t>│  Alerts                            │</a:t>
            </a:r>
            <a:br/>
            <a:r>
              <a:t>│  ─────────────────                │</a:t>
            </a:r>
            <a:br/>
            <a:r>
              <a:t>│  ⚠️ Latency spike detected         │</a:t>
            </a:r>
            <a:br/>
            <a:r>
              <a:t>│  ✅ All systems normal             │</a:t>
            </a:r>
            <a:br/>
            <a:r>
              <a:t>│                                     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256: Post-Deployment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logs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Check metrics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Validate predictions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Test edge cases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Verify performance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Update documentation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Notify stakeholders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Review alerts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Plan next iteration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Celebrate success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257: 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Code reviewed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Tests passed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Model validated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Performance tested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Security reviewed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Documentation updated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Rollback plan ready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Monitoring configured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Alerts set up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Stakeholders notified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258: Common Deployment 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 rollback plan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Insufficient testing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Missing monitoring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Poor error handling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Hardcoded values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 versioning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documenting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Skipping staging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Forgetting security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scaling properly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259: Deployment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Multiple strategies available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Choose based on needs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Always have rollback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Monitor everything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Test thoroughly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Document clearly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Automate where possible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Plan for failure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260: Production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Reliability matters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Performance matters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Security matters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Monitoring matters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Scalability matters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Documentation matters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Testing matters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Team matters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 Light"/>
              </a:defRPr>
            </a:pPr>
            <a:r>
              <a:t>SECTION 6: CONCLUSION &amp; NEXT STEPS (Slides 261-280)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56032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Calibri Light"/>
              </a:defRPr>
            </a:pPr>
            <a:r>
              <a:t>Module 14: Course Summary (Slides 261-280)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261: Journey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Phase 1: Data Versioning (DVC)</a:t>
            </a:r>
            <a:br/>
            <a:r>
              <a:t>   ↓</a:t>
            </a:r>
            <a:br/>
            <a:r>
              <a:t>Phase 2: Experiment Tracking (MLflow)</a:t>
            </a:r>
            <a:br/>
            <a:r>
              <a:t>   ↓</a:t>
            </a:r>
            <a:br/>
            <a:r>
              <a:t>Phase 3: Pipeline Orchestration (Dagster)</a:t>
            </a:r>
            <a:br/>
            <a:r>
              <a:t>   ↓</a:t>
            </a:r>
            <a:br/>
            <a:r>
              <a:t>Phase 4: Integration &amp; Deployment</a:t>
            </a:r>
            <a:br/>
            <a:r>
              <a:t>   ↓</a:t>
            </a:r>
            <a:br/>
            <a:r>
              <a:t>Production MLOps System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262: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Data versioning with DVC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Experiment tracking with MLflow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Model registry with MLflow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Pipeline orchestration with Dagster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End-to-end automation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Production deployment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Monitoring and alerting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CI/CD pipeline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263: Key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 Versioning:** Track everything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**Experiment Tracking:** Log everything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**Pipeline Orchestration:** Automate everything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**Production:** Monitor everything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**Security:** Protect everything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**Documentation:** Document everything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264: The MLOps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Think production-first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Plan for failure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Automate everything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 continuously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Document thoroughly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Test rigorously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Iterate constantly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265: Common Mistakes We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Ignoring data versioning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tracking experiments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Manual pipeline execution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 model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 monitoring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Poor security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 documentation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❌ Not testing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266: Success Factors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**Reproducibility:** Every run reproducible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**Automation:** Everything automated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**Monitoring:** Everything monitored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**Documentation:** Everything documented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**Security:** Everything secured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**Testing:** Everything tested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267: Best Practices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DVC:</a:t>
            </a:r>
            <a:br/>
            <a:r>
              <a:t>- Version raw data</a:t>
            </a:r>
            <a:br/>
            <a:r>
              <a:t>- Use remote storage</a:t>
            </a:r>
            <a:br/>
            <a:r>
              <a:t>- Automate pipelines</a:t>
            </a:r>
            <a:br/>
            <a:r>
              <a:t>- Track metrics</a:t>
            </a:r>
            <a:br/>
            <a:br/>
            <a:r>
              <a:t>MLflow:</a:t>
            </a:r>
            <a:br/>
            <a:r>
              <a:t>- Track all experiments</a:t>
            </a:r>
            <a:br/>
            <a:r>
              <a:t>- Log parameters/metrics</a:t>
            </a:r>
            <a:br/>
            <a:r>
              <a:t>- Use model registry</a:t>
            </a:r>
            <a:br/>
            <a:r>
              <a:t>- Stage models</a:t>
            </a:r>
            <a:br/>
            <a:br/>
            <a:r>
              <a:t>Dagster:</a:t>
            </a:r>
            <a:br/>
            <a:r>
              <a:t>- Define assets</a:t>
            </a:r>
            <a:br/>
            <a:r>
              <a:t>- Orchestrate pipelines</a:t>
            </a:r>
            <a:br/>
            <a:r>
              <a:t>- Handle errors</a:t>
            </a:r>
            <a:br/>
            <a:r>
              <a:t>- Monitor runs</a:t>
            </a:r>
            <a:br/>
            <a:br/>
            <a:r>
              <a:t>Deployment:</a:t>
            </a:r>
            <a:br/>
            <a:r>
              <a:t>- Automate deployments</a:t>
            </a:r>
            <a:br/>
            <a:r>
              <a:t>- Use blue-green</a:t>
            </a:r>
            <a:br/>
            <a:r>
              <a:t>- Monitor continuously</a:t>
            </a:r>
            <a:br/>
            <a:r>
              <a:t>- Have rollback plan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268: Tools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DVC        → Data Versioning</a:t>
            </a:r>
            <a:br/>
            <a:r>
              <a:t>MLflow     → Experiment Tracking</a:t>
            </a:r>
            <a:br/>
            <a:r>
              <a:t>Model Registry → Model Management</a:t>
            </a:r>
            <a:br/>
            <a:r>
              <a:t>Dagster    → Pipeline Orchestration</a:t>
            </a:r>
            <a:br/>
            <a:r>
              <a:t>Git        → Code Versioning</a:t>
            </a:r>
            <a:br/>
            <a:r>
              <a:t>Docker     → Containerization</a:t>
            </a:r>
            <a:br/>
            <a:r>
              <a:t>Kubernetes → Orchestration</a:t>
            </a:r>
            <a:br/>
            <a:r>
              <a:t>Prometheus → Monitoring</a:t>
            </a:r>
            <a:br/>
            <a:r>
              <a:t>Grafana    → Visualization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269: Architecture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Development:    Jupyter Notebooks</a:t>
            </a:r>
            <a:br/>
            <a:r>
              <a:t>                ↓</a:t>
            </a:r>
            <a:br/>
            <a:r>
              <a:t>Staging:        Scripts + Git</a:t>
            </a:r>
            <a:br/>
            <a:r>
              <a:t>                ↓</a:t>
            </a:r>
            <a:br/>
            <a:r>
              <a:t>Production:     DVC + MLflow + Dagster</a:t>
            </a:r>
            <a:br/>
            <a:r>
              <a:t>                ↓</a:t>
            </a:r>
            <a:br/>
            <a:r>
              <a:t>Enterprise:     Full MLOps Platform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270: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**Practice:** Apply to your 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**Extend:** Add more features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**Optimize:** Improve performance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**Scale:** Handle more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**Automate:** Reduce manual steps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**Monitor:** Add more metrics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**Secure:** Enhance security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**Document:** Create docs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**Share:** Help others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**Iterate:** Keep improving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271: Advanced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**Feature Stores:** Feast, Tecton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 Quality:** Great Expectations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**Workflow:** Kubeflow, Airflow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**Monitoring:** Prometheus, Grafana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**Logging:** ELK Stack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**Tracing:** Jaeger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**Security:** Vault, OAuth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**Cost:** Optimizations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272: Continuous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**Books:**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"Machine Learning Engineering"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"Designing Data-Intensive Applications"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"The DevOps Handbook"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**Courses:**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Coursera MLOps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DataCamp MLOps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DeepLearning.AI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**Resources:**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MLflow Documentation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DVC Documentation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Dagster Documentation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273: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**Slack:** MLflow, DVC, Dagster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**Discord:** Data Science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**Reddit:** r/mlops, r/datascience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**GitHub:** Open source projects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**Meetups:** Local MLOps groups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**Conferences:** MLflow Summit, DVC Summit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274: Contribution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**Documentation:** Improve docs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**Bug Reports:** Report issues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**Feature Requests:** Suggest features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**Code Contributions:** Submit PRs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**Tutorials:** Create content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**Talks:** Present at events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275: Career Paths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**ML Engineer:** Build pipelines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 Engineer:** Manage data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**MLOps Engineer:** Infrastructure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**DevOps Engineer:** Operations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**Data Scientist:** Models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**Platform Engineer:** Platform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276: Skills for the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Python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Docker/Kubernetes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Cloud platforms (AWS, GCP, Azure)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versioning (DVC)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Experiment tracking (MLflow)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Pipeline orchestration (Dagster)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Monitoring (Prometheus/Grafana)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Security (Best practices)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277: Project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Predictive maintenance system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End-to-end MLOps pipeline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Model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Automated deployment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Monitoring dashboard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CI/CD pipeline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278: Interview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Explain MLOps concepts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Demonstrate tool knowledge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Show system design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Discuss best practices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Share real experience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Prepare architecture diagrams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Practice coding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279: Final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**Start simple:** Add complexity gradually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**Iterate:** Keep improving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**Learn:** Always learning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**Share:** Help others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**Automate:** Reduce manual work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**Monitor:** Stay aware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**Document:** Write everything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280: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Questions?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Feedback?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Resources available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Stay in touch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Happy MLOps!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 Light"/>
              </a:defRPr>
            </a:pPr>
            <a:r>
              <a:t>SECTION 7: APPENDICES (Slides 281-300+)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281: DVC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Common DVC commands</a:t>
            </a:r>
            <a:br/>
            <a:r>
              <a:t>dvc init</a:t>
            </a:r>
            <a:br/>
            <a:r>
              <a:t>dvc add &lt;file&gt;</a:t>
            </a:r>
            <a:br/>
            <a:r>
              <a:t>dvc push</a:t>
            </a:r>
            <a:br/>
            <a:r>
              <a:t>dvc pull</a:t>
            </a:r>
            <a:br/>
            <a:r>
              <a:t>dvc checkout</a:t>
            </a:r>
            <a:br/>
            <a:r>
              <a:t>dvc status</a:t>
            </a:r>
            <a:br/>
            <a:r>
              <a:t>dvc remote add</a:t>
            </a:r>
            <a:br/>
            <a:r>
              <a:t>dvc repro</a:t>
            </a:r>
            <a:br/>
            <a:r>
              <a:t>dvc dag</a:t>
            </a:r>
            <a:br/>
            <a:r>
              <a:t>dvc metrics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282: DVC Pipeline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dvc.yaml</a:t>
            </a:r>
            <a:br/>
            <a:r>
              <a:t>stages:</a:t>
            </a:r>
            <a:br/>
            <a:r>
              <a:t>  generate:</a:t>
            </a:r>
            <a:br/>
            <a:r>
              <a:t>    cmd: python generate.py</a:t>
            </a:r>
            <a:br/>
            <a:r>
              <a:t>    deps: [generate.py]</a:t>
            </a:r>
            <a:br/>
            <a:r>
              <a:t>    outs: [data/raw/data.csv]</a:t>
            </a:r>
            <a:br/>
            <a:r>
              <a:t>  </a:t>
            </a:r>
            <a:br/>
            <a:r>
              <a:t>  process:</a:t>
            </a:r>
            <a:br/>
            <a:r>
              <a:t>    cmd: python process.py</a:t>
            </a:r>
            <a:br/>
            <a:r>
              <a:t>    deps: [process.py, data/raw/data.csv]</a:t>
            </a:r>
            <a:br/>
            <a:r>
              <a:t>    outs: [data/processed/data.csv]</a:t>
            </a:r>
            <a:br/>
            <a:r>
              <a:t>  </a:t>
            </a:r>
            <a:br/>
            <a:r>
              <a:t>  train:</a:t>
            </a:r>
            <a:br/>
            <a:r>
              <a:t>    cmd: python train.py</a:t>
            </a:r>
            <a:br/>
            <a:r>
              <a:t>    deps: [train.py, data/processed/data.csv]</a:t>
            </a:r>
            <a:br/>
            <a:r>
              <a:t>    outs: [models/model.pkl]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283: MLflow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Common MLflow commands</a:t>
            </a:r>
            <a:br/>
            <a:r>
              <a:t>import mlflow</a:t>
            </a:r>
            <a:br/>
            <a:br/>
            <a:r>
              <a:t>mlflow.set_tracking_uri()</a:t>
            </a:r>
            <a:br/>
            <a:r>
              <a:t>mlflow.set_experiment()</a:t>
            </a:r>
            <a:br/>
            <a:r>
              <a:t>mlflow.start_run()</a:t>
            </a:r>
            <a:br/>
            <a:r>
              <a:t>mlflow.log_param()</a:t>
            </a:r>
            <a:br/>
            <a:r>
              <a:t>mlflow.log_metric()</a:t>
            </a:r>
            <a:br/>
            <a:r>
              <a:t>mlflow.log_artifact()</a:t>
            </a:r>
            <a:br/>
            <a:r>
              <a:t>mlflow.sklearn.log_model()</a:t>
            </a:r>
            <a:br/>
            <a:r>
              <a:t>mlflow.sklearn.load_model()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284: MLflow Registry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mlflow.tracking import MlflowClient</a:t>
            </a:r>
            <a:br/>
            <a:br/>
            <a:r>
              <a:t>client = MlflowClient()</a:t>
            </a:r>
            <a:br/>
            <a:br/>
            <a:r>
              <a:t># Register model</a:t>
            </a:r>
            <a:br/>
            <a:r>
              <a:t>client.create_model_version(</a:t>
            </a:r>
            <a:br/>
            <a:r>
              <a:t>    name="model",</a:t>
            </a:r>
            <a:br/>
            <a:r>
              <a:t>    source="runs:/run_id/model",</a:t>
            </a:r>
            <a:br/>
            <a:r>
              <a:t>    run_id="run_id"</a:t>
            </a:r>
            <a:br/>
            <a:r>
              <a:t>)</a:t>
            </a:r>
            <a:br/>
            <a:br/>
            <a:r>
              <a:t># Transition stage</a:t>
            </a:r>
            <a:br/>
            <a:r>
              <a:t>client.transition_model_version_stage(</a:t>
            </a:r>
            <a:br/>
            <a:r>
              <a:t>    name="model",</a:t>
            </a:r>
            <a:br/>
            <a:r>
              <a:t>    version=1,</a:t>
            </a:r>
            <a:br/>
            <a:r>
              <a:t>    stage="Production"</a:t>
            </a:r>
            <a:br/>
            <a:r>
              <a:t>)</a:t>
            </a:r>
            <a:br/>
            <a:br/>
            <a:r>
              <a:t># Get latest</a:t>
            </a:r>
            <a:br/>
            <a:r>
              <a:t>latest = client.get_latest_versions("model")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285: Dagster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dagster import op, asset, job, schedule</a:t>
            </a:r>
            <a:br/>
            <a:br/>
            <a:r>
              <a:t>@op</a:t>
            </a:r>
            <a:br/>
            <a:r>
              <a:t>def my_op():</a:t>
            </a:r>
            <a:br/>
            <a:r>
              <a:t>    return "result"</a:t>
            </a:r>
            <a:br/>
            <a:br/>
            <a:r>
              <a:t>@asset</a:t>
            </a:r>
            <a:br/>
            <a:r>
              <a:t>def my_asset():</a:t>
            </a:r>
            <a:br/>
            <a:r>
              <a:t>    return "data"</a:t>
            </a:r>
            <a:br/>
            <a:br/>
            <a:r>
              <a:t>@job</a:t>
            </a:r>
            <a:br/>
            <a:r>
              <a:t>def my_job():</a:t>
            </a:r>
            <a:br/>
            <a:r>
              <a:t>    result = my_op()</a:t>
            </a:r>
            <a:br/>
            <a:r>
              <a:t>    return result</a:t>
            </a:r>
            <a:br/>
            <a:br/>
            <a:r>
              <a:t>@schedule(job=my_job, cron_schedule="0 0 * * *")</a:t>
            </a:r>
            <a:br/>
            <a:r>
              <a:t>def my_schedule():</a:t>
            </a:r>
            <a:br/>
            <a:r>
              <a:t>    return {}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286: Dagster Pipeline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@op</a:t>
            </a:r>
            <a:br/>
            <a:r>
              <a:t>def load_data():</a:t>
            </a:r>
            <a:br/>
            <a:r>
              <a:t>    return pd.read_csv("data.csv")</a:t>
            </a:r>
            <a:br/>
            <a:br/>
            <a:r>
              <a:t>@op</a:t>
            </a:r>
            <a:br/>
            <a:r>
              <a:t>def process_data(data):</a:t>
            </a:r>
            <a:br/>
            <a:r>
              <a:t>    return data * 2</a:t>
            </a:r>
            <a:br/>
            <a:br/>
            <a:r>
              <a:t>@op</a:t>
            </a:r>
            <a:br/>
            <a:r>
              <a:t>def train_model(data):</a:t>
            </a:r>
            <a:br/>
            <a:r>
              <a:t>    model = RandomForestClassifier()</a:t>
            </a:r>
            <a:br/>
            <a:r>
              <a:t>    model.fit(data)</a:t>
            </a:r>
            <a:br/>
            <a:r>
              <a:t>    return model</a:t>
            </a:r>
            <a:br/>
            <a:br/>
            <a:r>
              <a:t>@job</a:t>
            </a:r>
            <a:br/>
            <a:r>
              <a:t>def ml_pipeline():</a:t>
            </a:r>
            <a:br/>
            <a:r>
              <a:t>    data = load_data()</a:t>
            </a:r>
            <a:br/>
            <a:r>
              <a:t>    processed = process_data(data)</a:t>
            </a:r>
            <a:br/>
            <a:r>
              <a:t>    model = train_model(processed)</a:t>
            </a:r>
            <a:br/>
            <a:r>
              <a:t>    return model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287: FastAPI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from fastapi import FastAPI</a:t>
            </a:r>
            <a:br/>
            <a:r>
              <a:t>from pydantic import BaseModel</a:t>
            </a:r>
            <a:br/>
            <a:br/>
            <a:r>
              <a:t>app = FastAPI()</a:t>
            </a:r>
            <a:br/>
            <a:br/>
            <a:r>
              <a:t>class PredictRequest(BaseModel):</a:t>
            </a:r>
            <a:br/>
            <a:r>
              <a:t>    features: list</a:t>
            </a:r>
            <a:br/>
            <a:br/>
            <a:r>
              <a:t>@app.post("/predict")</a:t>
            </a:r>
            <a:br/>
            <a:r>
              <a:t>def predict(request: PredictRequest):</a:t>
            </a:r>
            <a:br/>
            <a:r>
              <a:t>    prediction = model.predict([request.features])</a:t>
            </a:r>
            <a:br/>
            <a:r>
              <a:t>    return {"prediction": prediction.tolist()}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288: Testing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pytest example</a:t>
            </a:r>
            <a:br/>
            <a:r>
              <a:t>def test_op():</a:t>
            </a:r>
            <a:br/>
            <a:r>
              <a:t>    context = build_op_context()</a:t>
            </a:r>
            <a:br/>
            <a:r>
              <a:t>    result = my_op(context)</a:t>
            </a:r>
            <a:br/>
            <a:r>
              <a:t>    assert result == expected</a:t>
            </a:r>
            <a:br/>
            <a:br/>
            <a:r>
              <a:t>def test_job():</a:t>
            </a:r>
            <a:br/>
            <a:r>
              <a:t>    result = execute_job(my_job)</a:t>
            </a:r>
            <a:br/>
            <a:r>
              <a:t>    assert result.success</a:t>
            </a:r>
            <a:br/>
            <a:br/>
            <a:r>
              <a:t>def test_model():</a:t>
            </a:r>
            <a:br/>
            <a:r>
              <a:t>    model = load_model()</a:t>
            </a:r>
            <a:br/>
            <a:r>
              <a:t>    predictions = model.predict(test_data)</a:t>
            </a:r>
            <a:br/>
            <a:r>
              <a:t>    assert accuracy(predictions, labels) &gt; 0.85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289: Deployment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Deploy model</a:t>
            </a:r>
            <a:br/>
            <a:r>
              <a:t>python scripts/deploy_model.py --model model.pkl --env production</a:t>
            </a:r>
            <a:br/>
            <a:br/>
            <a:r>
              <a:t># Blue-green deploy</a:t>
            </a:r>
            <a:br/>
            <a:r>
              <a:t>python scripts/blue_green_deploy.py --model model.pkl</a:t>
            </a:r>
            <a:br/>
            <a:br/>
            <a:r>
              <a:t># Verify deployment</a:t>
            </a:r>
            <a:br/>
            <a:r>
              <a:t>python scripts/verify_deployment.py --endpoint https://api.example.com</a:t>
            </a:r>
            <a:br/>
            <a:br/>
            <a:r>
              <a:t># Promote model</a:t>
            </a:r>
            <a:br/>
            <a:r>
              <a:t>python scripts/promote_model.py promote --model my_model --version 1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290: Monitoring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Monitor metrics</a:t>
            </a:r>
            <a:br/>
            <a:r>
              <a:t>monitor = PipelineMonitor()</a:t>
            </a:r>
            <a:br/>
            <a:r>
              <a:t>monitor.add_metric("accuracy", 0.95)</a:t>
            </a:r>
            <a:br/>
            <a:r>
              <a:t>monitor.add_metric("latency", 45)</a:t>
            </a:r>
            <a:br/>
            <a:br/>
            <a:r>
              <a:t># Set alerts</a:t>
            </a:r>
            <a:br/>
            <a:r>
              <a:t>monitor.register_alert_rule(</a:t>
            </a:r>
            <a:br/>
            <a:r>
              <a:t>    name="high_latency",</a:t>
            </a:r>
            <a:br/>
            <a:r>
              <a:t>    condition=lambda m: m.value &gt; 100,</a:t>
            </a:r>
            <a:br/>
            <a:r>
              <a:t>    severity="warning"</a:t>
            </a:r>
            <a:br/>
            <a:r>
              <a:t>)</a:t>
            </a:r>
            <a:br/>
            <a:br/>
            <a:r>
              <a:t># Send alert</a:t>
            </a:r>
            <a:br/>
            <a:r>
              <a:t>monitor.send_alert(alert)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## Appendix B: Troubleshooting (Slides 291-295)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291: DVC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Issue: Cache corruption</a:t>
            </a:r>
            <a:br/>
            <a:r>
              <a:t>Solution: dvc cache verify; dvc gc --force</a:t>
            </a:r>
            <a:br/>
            <a:br/>
            <a:r>
              <a:t>Issue: Remote connection failed</a:t>
            </a:r>
            <a:br/>
            <a:r>
              <a:t>Solution: Check credentials; Check network</a:t>
            </a:r>
            <a:br/>
            <a:br/>
            <a:r>
              <a:t>Issue: Pipeline not updating</a:t>
            </a:r>
            <a:br/>
            <a:r>
              <a:t>Solution: dvc status --checks; dvc repro --force</a:t>
            </a:r>
            <a:br/>
            <a:br/>
            <a:r>
              <a:t>Issue: Large cache</a:t>
            </a:r>
            <a:br/>
            <a:r>
              <a:t>Solution: dvc gc --workspace</a:t>
            </a:r>
            <a:br/>
            <a:br/>
            <a:r>
              <a:t>Issue: Lock conflicts</a:t>
            </a:r>
            <a:br/>
            <a:r>
              <a:t>Solution: git pull; dvc pull; dvc repro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292: MLflow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Issue: Connection refused</a:t>
            </a:r>
            <a:br/>
            <a:r>
              <a:t>Solution: Check tracking URI; Start server</a:t>
            </a:r>
            <a:br/>
            <a:br/>
            <a:r>
              <a:t>Issue: Duplicate runs</a:t>
            </a:r>
            <a:br/>
            <a:r>
              <a:t>Solution: Use unique run names</a:t>
            </a:r>
            <a:br/>
            <a:br/>
            <a:r>
              <a:t>Issue: Large artifacts</a:t>
            </a:r>
            <a:br/>
            <a:r>
              <a:t>Solution: Use multipart upload</a:t>
            </a:r>
            <a:br/>
            <a:br/>
            <a:r>
              <a:t>Issue: Slow UI</a:t>
            </a:r>
            <a:br/>
            <a:r>
              <a:t>Solution: Use PostgreSQL backend</a:t>
            </a:r>
            <a:br/>
            <a:br/>
            <a:r>
              <a:t>Issue: Missing artifacts</a:t>
            </a:r>
            <a:br/>
            <a:r>
              <a:t>Solution: Check artifact path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293: Dagster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Issue: Connection errors</a:t>
            </a:r>
            <a:br/>
            <a:r>
              <a:t>Solution: Check resources</a:t>
            </a:r>
            <a:br/>
            <a:br/>
            <a:r>
              <a:t>Issue: Op failures</a:t>
            </a:r>
            <a:br/>
            <a:r>
              <a:t>Solution: Use retry policies</a:t>
            </a:r>
            <a:br/>
            <a:br/>
            <a:r>
              <a:t>Issue: Slow execution</a:t>
            </a:r>
            <a:br/>
            <a:r>
              <a:t>Solution: Optimize ops; Use parallelism</a:t>
            </a:r>
            <a:br/>
            <a:br/>
            <a:r>
              <a:t>Issue: Schedule not running</a:t>
            </a:r>
            <a:br/>
            <a:r>
              <a:t>Solution: Check daemon status</a:t>
            </a:r>
            <a:br/>
            <a:br/>
            <a:r>
              <a:t>Issue: Sensor not triggering</a:t>
            </a:r>
            <a:br/>
            <a:r>
              <a:t>Solution: Check cursor; Check conditions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294: Deployment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Issue: Model not loading</a:t>
            </a:r>
            <a:br/>
            <a:r>
              <a:t>Solution: Check path; Check dependencies</a:t>
            </a:r>
            <a:br/>
            <a:br/>
            <a:r>
              <a:t>Issue: API not responding</a:t>
            </a:r>
            <a:br/>
            <a:r>
              <a:t>Solution: Check port; Check service</a:t>
            </a:r>
            <a:br/>
            <a:br/>
            <a:r>
              <a:t>Issue: Performance issues</a:t>
            </a:r>
            <a:br/>
            <a:r>
              <a:t>Solution: Scale horizontally; Optimize code</a:t>
            </a:r>
            <a:br/>
            <a:br/>
            <a:r>
              <a:t>Issue: Deployment failure</a:t>
            </a:r>
            <a:br/>
            <a:r>
              <a:t>Solution: Rollback; Check logs</a:t>
            </a:r>
            <a:br/>
            <a:br/>
            <a:r>
              <a:t>Issue: Monitoring not working</a:t>
            </a:r>
            <a:br/>
            <a:r>
              <a:t>Solution: Check configuration; Check permissions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295: General 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1. Check logs</a:t>
            </a:r>
            <a:br/>
            <a:r>
              <a:t>2. Check configuration</a:t>
            </a:r>
            <a:br/>
            <a:r>
              <a:t>3. Check permissions</a:t>
            </a:r>
            <a:br/>
            <a:r>
              <a:t>4. Check network</a:t>
            </a:r>
            <a:br/>
            <a:r>
              <a:t>5. Check dependencies</a:t>
            </a:r>
            <a:br/>
            <a:r>
              <a:t>6. Check versions</a:t>
            </a:r>
            <a:br/>
            <a:r>
              <a:t>7. Check environment</a:t>
            </a:r>
            <a:br/>
            <a:r>
              <a:t>8. Check resources</a:t>
            </a:r>
            <a:br/>
            <a:r>
              <a:t>9. Check code</a:t>
            </a:r>
            <a:br/>
            <a:r>
              <a:t>10. Check documentation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## Appendix C: Resources (Slides 296-300)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296: Official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**DVC:** https://dvc.org/doc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**MLflow:** https://mlflow.org/docs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**Dagster:** https://docs.dagster.io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**FastAPI:** https://fastapi.tiangolo.com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**Kubernetes:** https://kubernetes.io/docs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**Docker:** https://docs.docker.com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297: Learning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**Books:**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"Machine Learning Engineering"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"Designing Data-Intensive Applications"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"The DevOps Handbook"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**Courses:**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Coursera: MLOps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DeepLearning.AI: ML Engineering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DataCamp: MLOps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**Blogs:**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MLOps Community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Towards Data Science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Analytics Vidhya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298: Community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**Slack Communities:**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MLflow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DVC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Dagster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**Discord:**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Data Science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Machine Learning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**Reddit:**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r/mlops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r/datascience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**GitHub:**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Open source contributions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Issue tracking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299: Tools and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**Cloud Platforms:**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AWS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Google Cloud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Azure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**CI/CD:**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GitHub Actions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GitLab CI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Jenkins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**Monitoring:**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Prometheus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Grafana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ELK Stack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**Security:**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Vault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OAuth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JWT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300: Series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Data Versioning with DVC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Experiment Tracking with MLflow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Model Registry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Pipeline Orchestration with Dagster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End-to-End Integration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Production Deployment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Monitoring and Alerting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CI/CD Pipeline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Best Practices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Real-World Examples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286000"/>
            <a:ext cx="108200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  <a:latin typeface="Calibri Light"/>
              </a:defRPr>
            </a:pPr>
            <a:r>
              <a:t>SECTION 8: APPENDICES CONTINUED (Slides 301-320)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301: Complete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COMPLETE MLOPS SYSTEM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┌──────────────────────────────────────────────────────────┐  │</a:t>
            </a:r>
            <a:br/>
            <a:r>
              <a:t>│  │              DATA SOURCES                                │  │</a:t>
            </a:r>
            <a:br/>
            <a:r>
              <a:t>│  │  ┌──────┐  ┌──────┐  ┌──────┐  ┌──────┐              │  │</a:t>
            </a:r>
            <a:br/>
            <a:r>
              <a:t>│  │  │Sensors│  │Files │  │API   │  │DB    │              │  │</a:t>
            </a:r>
            <a:br/>
            <a:r>
              <a:t>│  │  └──────┘  └──────┘  └──────┘  └──────┘              │  │</a:t>
            </a:r>
            <a:br/>
            <a:r>
              <a:t>│  └──────────────────────────────────────────────────────────┘  │</a:t>
            </a:r>
            <a:br/>
            <a:r>
              <a:t>│                           │                                    │</a:t>
            </a:r>
            <a:br/>
            <a:r>
              <a:t>│                           ▼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┌──────────────────────────────────────────────────────────┐  │</a:t>
            </a:r>
            <a:br/>
            <a:r>
              <a:t>│  │              DAGSTER ORCHESTRATION                       │  │</a:t>
            </a:r>
            <a:br/>
            <a:r>
              <a:t>│  │  ┌────────────┐  ┌────────────┐  ┌────────────┐       │  │</a:t>
            </a:r>
            <a:br/>
            <a:r>
              <a:t>│  │  │  Schedules │  │  Sensors   │  │   Jobs     │       │  │</a:t>
            </a:r>
            <a:br/>
            <a:r>
              <a:t>│  │  └────────────┘  └────────────┘  └────────────┘       │  │</a:t>
            </a:r>
            <a:br/>
            <a:r>
              <a:t>│  └──────────────────────────────────────────────────────────┘  │</a:t>
            </a:r>
            <a:br/>
            <a:r>
              <a:t>│                           │                                    │</a:t>
            </a:r>
            <a:br/>
            <a:r>
              <a:t>│                           ▼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┌──────────────────────────────────────────────────────────┐  │</a:t>
            </a:r>
            <a:br/>
            <a:r>
              <a:t>│  │              DVC + MLflow + REGISTRY                    │  │</a:t>
            </a:r>
            <a:br/>
            <a:r>
              <a:t>│  │  ┌────────────┐  ┌────────────┐  ┌────────────┐       │  │</a:t>
            </a:r>
            <a:br/>
            <a:r>
              <a:t>│  │  │ Data       │  │ Experiment │  │ Model      │       │  │</a:t>
            </a:r>
            <a:br/>
            <a:r>
              <a:t>│  │  │ Versioning │  │ Tracking   │  │ Registry   │       │  │</a:t>
            </a:r>
            <a:br/>
            <a:r>
              <a:t>│  │  └────────────┘  └────────────┘  └────────────┘       │  │</a:t>
            </a:r>
            <a:br/>
            <a:r>
              <a:t>│  └──────────────────────────────────────────────────────────┘  │</a:t>
            </a:r>
            <a:br/>
            <a:r>
              <a:t>│                           │                                    │</a:t>
            </a:r>
            <a:br/>
            <a:r>
              <a:t>│                           ▼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┌──────────────────────────────────────────────────────────┐  │</a:t>
            </a:r>
            <a:br/>
            <a:r>
              <a:t>│  │              DEPLOYMENT TARGETS                          │  │</a:t>
            </a:r>
            <a:br/>
            <a:r>
              <a:t>│  │  ┌────────────┐  ┌────────────┐  ┌────────────┐       │  │</a:t>
            </a:r>
            <a:br/>
            <a:r>
              <a:t>│  │  │ REST API   │  │ Batch Jobs │  │ Edge       │       │  │</a:t>
            </a:r>
            <a:br/>
            <a:r>
              <a:t>│  │  └────────────┘  └────────────┘  └────────────┘       │  │</a:t>
            </a:r>
            <a:br/>
            <a:r>
              <a:t>│  └──────────────────────────────────────────────────────────┘  │</a:t>
            </a:r>
            <a:br/>
            <a:r>
              <a:t>│                           │                                    │</a:t>
            </a:r>
            <a:br/>
            <a:r>
              <a:t>│                           ▼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┌──────────────────────────────────────────────────────────┐  │</a:t>
            </a:r>
            <a:br/>
            <a:r>
              <a:t>│  │              MONITORING + ALERTING                       │  │</a:t>
            </a:r>
            <a:br/>
            <a:r>
              <a:t>│  │  ┌────────────┐  ┌────────────┐  ┌────────────┐       │  │</a:t>
            </a:r>
            <a:br/>
            <a:r>
              <a:t>│  │  │ Metrics    │  │ Logs       │  │ Alerts     │       │  │</a:t>
            </a:r>
            <a:br/>
            <a:r>
              <a:t>│  │  └────────────┘  └────────────┘  └────────────┘       │  │</a:t>
            </a:r>
            <a:br/>
            <a:r>
              <a:t>│  └──────────────────────────────────────────────────────────┘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302: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 DATA FLOW DIAGRAM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│</a:t>
            </a:r>
            <a:br/>
            <a:r>
              <a:t>│  Raw Data ──→ Validation ──→ Feature Engineering              │</a:t>
            </a:r>
            <a:br/>
            <a:r>
              <a:t>│    ↓              ↓               ↓                            │</a:t>
            </a:r>
            <a:br/>
            <a:r>
              <a:t>│  DVC Add      Check Schema    DVC Version                     │</a:t>
            </a:r>
            <a:br/>
            <a:r>
              <a:t>│    ↓              ↓               ↓                            │</a:t>
            </a:r>
            <a:br/>
            <a:r>
              <a:t>│  ──────────────────────────────────────                       │</a:t>
            </a:r>
            <a:br/>
            <a:r>
              <a:t>│  ↓                                                             │</a:t>
            </a:r>
            <a:br/>
            <a:r>
              <a:t>│  Training Data ──→ Model Training ──→ Model Evaluation        │</a:t>
            </a:r>
            <a:br/>
            <a:r>
              <a:t>│    ↓                   ↓                   ↓                   │</a:t>
            </a:r>
            <a:br/>
            <a:r>
              <a:t>│  MLflow Track      MLflow Log        Registry Stage           │</a:t>
            </a:r>
            <a:br/>
            <a:r>
              <a:t>│    ↓                   ↓                   ↓                   │</a:t>
            </a:r>
            <a:br/>
            <a:r>
              <a:t>│  ──────────────────────────────────────                       │</a:t>
            </a:r>
            <a:br/>
            <a:r>
              <a:t>│  ↓                                                             │</a:t>
            </a:r>
            <a:br/>
            <a:r>
              <a:t>│  Model Registry ──→ Deployment ──→ Monitoring                │</a:t>
            </a:r>
            <a:br/>
            <a:r>
              <a:t>│    ↓                  ↓               ↓                        │</a:t>
            </a:r>
            <a:br/>
            <a:r>
              <a:t>│  Version          Blue-Green        Metrics/Alerts            │</a:t>
            </a:r>
            <a:br/>
            <a:r>
              <a:t>│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303: CI/CD Pipeline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CI/CD PIPELINE FLOW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│</a:t>
            </a:r>
            <a:br/>
            <a:r>
              <a:t>│  Code Push                                                      │</a:t>
            </a:r>
            <a:br/>
            <a:r>
              <a:t>│  ↓                                                             │</a:t>
            </a:r>
            <a:br/>
            <a:r>
              <a:t>│  Unit Tests ──→ Integration Tests ──→ Data Validation         │</a:t>
            </a:r>
            <a:br/>
            <a:r>
              <a:t>│    ↓                    ↓                    ↓                  │</a:t>
            </a:r>
            <a:br/>
            <a:r>
              <a:t>│  ──────────────────────────────────────                       │</a:t>
            </a:r>
            <a:br/>
            <a:r>
              <a:t>│  ↓                                                             │</a:t>
            </a:r>
            <a:br/>
            <a:r>
              <a:t>│  Build ──→ Model Training ──→ Model Evaluation               │</a:t>
            </a:r>
            <a:br/>
            <a:r>
              <a:t>│    ↓              ↓                   ↓                        │</a:t>
            </a:r>
            <a:br/>
            <a:r>
              <a:t>│  ──────────────────────────────────────                       │</a:t>
            </a:r>
            <a:br/>
            <a:r>
              <a:t>│  ↓                                                             │</a:t>
            </a:r>
            <a:br/>
            <a:r>
              <a:t>│  Staging Deploy ──→ Smoke Tests ──→ Performance Tests         │</a:t>
            </a:r>
            <a:br/>
            <a:r>
              <a:t>│    ↓                    ↓                    ↓                  │</a:t>
            </a:r>
            <a:br/>
            <a:r>
              <a:t>│  ──────────────────────────────────────                       │</a:t>
            </a:r>
            <a:br/>
            <a:r>
              <a:t>│  ↓                                                             │</a:t>
            </a:r>
            <a:br/>
            <a:r>
              <a:t>│  Production Deploy ──→ Health Check ──→ Monitor              │</a:t>
            </a:r>
            <a:br/>
            <a:r>
              <a:t>│    ↓                    ↓                    ↓                  │</a:t>
            </a:r>
            <a:br/>
            <a:r>
              <a:t>│  ──────────────────────────────────────                       │</a:t>
            </a:r>
            <a:br/>
            <a:r>
              <a:t>│  ↓                                                             │</a:t>
            </a:r>
            <a:br/>
            <a:r>
              <a:t>│  Completed                                                     │</a:t>
            </a:r>
            <a:br/>
            <a:r>
              <a:t>│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304: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 TECHNOLOGY STACK      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│</a:t>
            </a:r>
            <a:br/>
            <a:r>
              <a:t>│  LANGUAGES &amp; FRAMEWORKS                                        │</a:t>
            </a:r>
            <a:br/>
            <a:r>
              <a:t>│  ────────────────────                                         │</a:t>
            </a:r>
            <a:br/>
            <a:r>
              <a:t>│  Python 3.10+                                                  │</a:t>
            </a:r>
            <a:br/>
            <a:r>
              <a:t>│  FastAPI                                                       │</a:t>
            </a:r>
            <a:br/>
            <a:r>
              <a:t>│  Pandas/Numpy                                                  │</a:t>
            </a:r>
            <a:br/>
            <a:r>
              <a:t>│  Scikit-learn                                                  │</a:t>
            </a:r>
            <a:br/>
            <a:r>
              <a:t>│                                                                 │</a:t>
            </a:r>
            <a:br/>
            <a:r>
              <a:t>│  VERSIONING &amp; TRACKING                                         │</a:t>
            </a:r>
            <a:br/>
            <a:r>
              <a:t>│  ────────────────────                                         │</a:t>
            </a:r>
            <a:br/>
            <a:r>
              <a:t>│  Git                                                           │</a:t>
            </a:r>
            <a:br/>
            <a:r>
              <a:t>│  DVC                                                           │</a:t>
            </a:r>
            <a:br/>
            <a:r>
              <a:t>│  MLflow                                                        │</a:t>
            </a:r>
            <a:br/>
            <a:r>
              <a:t>│                                                                 │</a:t>
            </a:r>
            <a:br/>
            <a:r>
              <a:t>│  ORCHESTRATION                                                 │</a:t>
            </a:r>
            <a:br/>
            <a:r>
              <a:t>│  ─────────────                                                 │</a:t>
            </a:r>
            <a:br/>
            <a:r>
              <a:t>│  Dagster                                                       │</a:t>
            </a:r>
            <a:br/>
            <a:r>
              <a:t>│  Schedules                                                     │</a:t>
            </a:r>
            <a:br/>
            <a:r>
              <a:t>│  Sensors                                                       │</a:t>
            </a:r>
            <a:br/>
            <a:r>
              <a:t>│                                                                 │</a:t>
            </a:r>
            <a:br/>
            <a:r>
              <a:t>│  DEPLOYMENT                                                    │</a:t>
            </a:r>
            <a:br/>
            <a:r>
              <a:t>│  ──────────                                                    │</a:t>
            </a:r>
            <a:br/>
            <a:r>
              <a:t>│  Docker                                                        │</a:t>
            </a:r>
            <a:br/>
            <a:r>
              <a:t>│  Kubernetes                                                    │</a:t>
            </a:r>
            <a:br/>
            <a:r>
              <a:t>│  GitHub Actions                                                │</a:t>
            </a:r>
            <a:br/>
            <a:r>
              <a:t>│                                                                 │</a:t>
            </a:r>
            <a:br/>
            <a:r>
              <a:t>│  MONITORING                                                    │</a:t>
            </a:r>
            <a:br/>
            <a:r>
              <a:t>│  ──────────                                                    │</a:t>
            </a:r>
            <a:br/>
            <a:r>
              <a:t>│  Prometheus                                                    │</a:t>
            </a:r>
            <a:br/>
            <a:r>
              <a:t>│  Grafana                                                       │</a:t>
            </a:r>
            <a:br/>
            <a:r>
              <a:t>│  ELK Stack                                                     │</a:t>
            </a:r>
            <a:br/>
            <a:r>
              <a:t>│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305: 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DEPLOYMENT ARCHITECTURE                     │</a:t>
            </a:r>
            <a:br/>
            <a:r>
              <a:t>├─────────────────────────────────────────────────────────────────┤</a:t>
            </a:r>
            <a:br/>
            <a:r>
              <a:t>│                                                                 │</a:t>
            </a:r>
            <a:br/>
            <a:r>
              <a:t>│  ┌────────────────────────────────────────────────────────┐   │</a:t>
            </a:r>
            <a:br/>
            <a:r>
              <a:t>│  │                    Load Balancer                       │   │</a:t>
            </a:r>
            <a:br/>
            <a:r>
              <a:t>│  └────────────────────────────────────────────────────────┘   │</a:t>
            </a:r>
            <a:br/>
            <a:r>
              <a:t>│                           │                                    │</a:t>
            </a:r>
            <a:br/>
            <a:r>
              <a:t>│  ┌─────────────┬─────────┼─────────┬─────────────┐          │</a:t>
            </a:r>
            <a:br/>
            <a:r>
              <a:t>│  ↓             ↓         ↓         ↓             ↓          │</a:t>
            </a:r>
            <a:br/>
            <a:r>
              <a:t>│  ┌──────┐  ┌──────┐  ┌──────┐  ┌──────┐  ┌──────┐          │</a:t>
            </a:r>
            <a:br/>
            <a:r>
              <a:t>│  │Pod 1 │  │Pod 2 │  │Pod 3 │  │Pod 4 │  │Pod 5 │          │</a:t>
            </a:r>
            <a:br/>
            <a:r>
              <a:t>│  │Model │  │Model │  │Model │  │Model │  │Model │          │</a:t>
            </a:r>
            <a:br/>
            <a:r>
              <a:t>│  │API   │  │API   │  │API   │  │API   │  │API   │          │</a:t>
            </a:r>
            <a:br/>
            <a:r>
              <a:t>│  └──────┘  └──────┘  └──────┘  └──────┘  └──────┘          │</a:t>
            </a:r>
            <a:br/>
            <a:r>
              <a:t>│                           │                                    │</a:t>
            </a:r>
            <a:br/>
            <a:r>
              <a:t>│  ┌────────────────────────┼────────────────────────┐          │</a:t>
            </a:r>
            <a:br/>
            <a:r>
              <a:t>│  │                        │                        │          │</a:t>
            </a:r>
            <a:br/>
            <a:r>
              <a:t>│  ↓                        ↓                        ↓          │</a:t>
            </a:r>
            <a:br/>
            <a:r>
              <a:t>│  ┌──────────┐    ┌──────────────┐    ┌──────────┐         │</a:t>
            </a:r>
            <a:br/>
            <a:r>
              <a:t>│  │  MLflow  │    │  PostgreSQL  │    │   S3     │         │</a:t>
            </a:r>
            <a:br/>
            <a:r>
              <a:t>│  │  Server  │    │  (Metadata)  │    │(Artifacts)│         │</a:t>
            </a:r>
            <a:br/>
            <a:r>
              <a:t>│  └──────────┘    └──────────────┘    └──────────┘         │</a:t>
            </a:r>
            <a:br/>
            <a:r>
              <a:t>│                                                                 │</a:t>
            </a:r>
            <a:br/>
            <a:r>
              <a:t>└─────────────────────────────────────────────────────────────────┘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## Appendix E: Course Materials (Slides 306-310)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306: Code Repository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mlops-pipeline-series/</a:t>
            </a:r>
            <a:br/>
            <a:r>
              <a:t>├── .dvc/</a:t>
            </a:r>
            <a:br/>
            <a:r>
              <a:t>├── .github/</a:t>
            </a:r>
            <a:br/>
            <a:r>
              <a:t>├── configs/</a:t>
            </a:r>
            <a:br/>
            <a:r>
              <a:t>├── data/</a:t>
            </a:r>
            <a:br/>
            <a:r>
              <a:t>├── logs/</a:t>
            </a:r>
            <a:br/>
            <a:r>
              <a:t>├── models/</a:t>
            </a:r>
            <a:br/>
            <a:r>
              <a:t>├── notebooks/</a:t>
            </a:r>
            <a:br/>
            <a:r>
              <a:t>├── pipelines/</a:t>
            </a:r>
            <a:br/>
            <a:r>
              <a:t>├── reports/</a:t>
            </a:r>
            <a:br/>
            <a:r>
              <a:t>├── scripts/</a:t>
            </a:r>
            <a:br/>
            <a:r>
              <a:t>├── src/</a:t>
            </a:r>
            <a:br/>
            <a:r>
              <a:t>├── tests/</a:t>
            </a:r>
            <a:br/>
            <a:r>
              <a:t>├── dagster_home/</a:t>
            </a:r>
            <a:br/>
            <a:r>
              <a:t>├── mlruns/</a:t>
            </a:r>
            <a:br/>
            <a:r>
              <a:t>├── .env</a:t>
            </a:r>
            <a:br/>
            <a:r>
              <a:t>├── .gitignore</a:t>
            </a:r>
            <a:br/>
            <a:r>
              <a:t>├── dvc.yaml</a:t>
            </a:r>
            <a:br/>
            <a:r>
              <a:t>├── mlflow_config.yaml</a:t>
            </a:r>
            <a:br/>
            <a:r>
              <a:t>├── params.yaml</a:t>
            </a:r>
            <a:br/>
            <a:r>
              <a:t>├── requirements.txt</a:t>
            </a:r>
            <a:br/>
            <a:r>
              <a:t>└── README.md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307: Key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Configuration:         dvc.yaml, mlflow_config.yaml, params.yaml</a:t>
            </a:r>
            <a:br/>
            <a:r>
              <a:t>Data Processing:       src/data/, src/features/</a:t>
            </a:r>
            <a:br/>
            <a:r>
              <a:t>Model Training:        models/training/</a:t>
            </a:r>
            <a:br/>
            <a:r>
              <a:t>Pipeline Definitions:  pipelines/</a:t>
            </a:r>
            <a:br/>
            <a:r>
              <a:t>Scripts:               scripts/</a:t>
            </a:r>
            <a:br/>
            <a:r>
              <a:t>Tests:                 tests/</a:t>
            </a:r>
            <a:br/>
            <a:r>
              <a:t>Documentation:         README.md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308: 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Clone repository</a:t>
            </a:r>
            <a:br/>
            <a:r>
              <a:t>git clone https://github.com/yourusername/mlops-pipeline-series</a:t>
            </a:r>
            <a:br/>
            <a:br/>
            <a:r>
              <a:t># Create virtual environment</a:t>
            </a:r>
            <a:br/>
            <a:r>
              <a:t>python3 -m venv venv</a:t>
            </a:r>
            <a:br/>
            <a:r>
              <a:t>source venv/bin/activate</a:t>
            </a:r>
            <a:br/>
            <a:br/>
            <a:r>
              <a:t># Install dependencies</a:t>
            </a:r>
            <a:br/>
            <a:r>
              <a:t>pip install -r requirements.txt</a:t>
            </a:r>
            <a:br/>
            <a:br/>
            <a:r>
              <a:t># Setup DVC</a:t>
            </a:r>
            <a:br/>
            <a:r>
              <a:t>dvc init</a:t>
            </a:r>
            <a:br/>
            <a:br/>
            <a:r>
              <a:t># Setup MLflow</a:t>
            </a:r>
            <a:br/>
            <a:r>
              <a:t>export MLFLOW_TRACKING_URI=./mlruns</a:t>
            </a:r>
            <a:br/>
            <a:br/>
            <a:r>
              <a:t># Setup Dagster</a:t>
            </a:r>
            <a:br/>
            <a:r>
              <a:t>export DAGSTER_HOME=$(pwd)/dagster_home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309: Quick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Run full pipeline</a:t>
            </a:r>
            <a:br/>
            <a:r>
              <a:t>python scripts/run_master_pipeline.py</a:t>
            </a:r>
            <a:br/>
            <a:br/>
            <a:r>
              <a:t># Start MLflow UI</a:t>
            </a:r>
            <a:br/>
            <a:r>
              <a:t>mlflow ui</a:t>
            </a:r>
            <a:br/>
            <a:br/>
            <a:r>
              <a:t># Start Dagster UI</a:t>
            </a:r>
            <a:br/>
            <a:r>
              <a:t>dagster-webserver</a:t>
            </a:r>
            <a:br/>
            <a:br/>
            <a:r>
              <a:t># Start monitoring dashboard</a:t>
            </a:r>
            <a:br/>
            <a:r>
              <a:t>streamlit run scripts/monitoring_dashboard.py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310: Testing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Run tests</a:t>
            </a:r>
            <a:br/>
            <a:r>
              <a:t>pytest tests/</a:t>
            </a:r>
            <a:br/>
            <a:br/>
            <a:r>
              <a:t># Run with coverage</a:t>
            </a:r>
            <a:br/>
            <a:r>
              <a:t>pytest --cov=src tests/</a:t>
            </a:r>
            <a:br/>
            <a:br/>
            <a:r>
              <a:t># Run specific test</a:t>
            </a:r>
            <a:br/>
            <a:r>
              <a:t>pytest tests/test_mlflow.py</a:t>
            </a:r>
            <a:br/>
            <a:br/>
            <a:r>
              <a:t># Run integration test</a:t>
            </a:r>
            <a:br/>
            <a:r>
              <a:t>python scripts/test_advanced_pipeline.py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## Appendix F: Glossary (Slides 311-315)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311: A-M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Artifact: File or object stored in MLflow</a:t>
            </a:r>
            <a:br/>
            <a:r>
              <a:t>Asset: Data artifact in Dagster</a:t>
            </a:r>
            <a:br/>
            <a:r>
              <a:t>Backend Store: Database storing MLflow metadata</a:t>
            </a:r>
            <a:br/>
            <a:r>
              <a:t>Blue-Green: Deployment strategy with zero downtime</a:t>
            </a:r>
            <a:br/>
            <a:r>
              <a:t>Canary: Gradual deployment strategy</a:t>
            </a:r>
            <a:br/>
            <a:r>
              <a:t>CI/CD: Continuous Integration/Continuous Deployment</a:t>
            </a:r>
            <a:br/>
            <a:r>
              <a:t>DAG: Directed Acyclic Graph (pipeline)</a:t>
            </a:r>
            <a:br/>
            <a:r>
              <a:t>Drift: Model performance degradation over time</a:t>
            </a:r>
            <a:br/>
            <a:r>
              <a:t>Experiment: Container for MLflow runs</a:t>
            </a:r>
            <a:br/>
            <a:r>
              <a:t>Feature: Input variable for model</a:t>
            </a:r>
            <a:br/>
            <a:r>
              <a:t>F1 Score: Harmonic mean of precision and recall</a:t>
            </a:r>
            <a:br/>
            <a:r>
              <a:t>Git: Version control system</a:t>
            </a:r>
            <a:br/>
            <a:r>
              <a:t>Grafana: Visualization tool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312: N-Z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Op: Operation in Dagster (transformation)</a:t>
            </a:r>
            <a:br/>
            <a:r>
              <a:t>Pipeline: Sequence of data processing steps</a:t>
            </a:r>
            <a:br/>
            <a:r>
              <a:t>Precision: True positives / (True positives + False positives)</a:t>
            </a:r>
            <a:br/>
            <a:r>
              <a:t>Recall: True positives / (True positives + False negatives)</a:t>
            </a:r>
            <a:br/>
            <a:r>
              <a:t>Registry: Centralized model repository</a:t>
            </a:r>
            <a:br/>
            <a:r>
              <a:t>Reproducibility: Ability to reproduce results</a:t>
            </a:r>
            <a:br/>
            <a:r>
              <a:t>Resource: Shared service in Dagster</a:t>
            </a:r>
            <a:br/>
            <a:r>
              <a:t>ROC-AUC: Area under ROC curve</a:t>
            </a:r>
            <a:br/>
            <a:r>
              <a:t>Run: Single execution in MLflow</a:t>
            </a:r>
            <a:br/>
            <a:r>
              <a:t>Schedule: Time-based trigger</a:t>
            </a:r>
            <a:br/>
            <a:r>
              <a:t>Sensor: Event-based trigger</a:t>
            </a:r>
            <a:br/>
            <a:r>
              <a:t>Stage: Model lifecycle state</a:t>
            </a:r>
            <a:br/>
            <a:r>
              <a:t>Tracking: Experiment logging in MLflow</a:t>
            </a:r>
            <a:br/>
            <a:r>
              <a:t>Version: Specific snapshot of data/model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313: DVC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Cache: Local storage of versioned data</a:t>
            </a:r>
            <a:br/>
            <a:r>
              <a:t>Remote: External storage for data</a:t>
            </a:r>
            <a:br/>
            <a:r>
              <a:t>Pipeline: Series of processing stages</a:t>
            </a:r>
            <a:br/>
            <a:r>
              <a:t>Stage: Individual processing step</a:t>
            </a:r>
            <a:br/>
            <a:r>
              <a:t>State: Database tracking pipeline status</a:t>
            </a:r>
            <a:br/>
            <a:r>
              <a:t>Tag: Named version</a:t>
            </a:r>
            <a:br/>
            <a:r>
              <a:t>Workspace: Current working directory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314: MLflow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Artifact: File or object stored with run</a:t>
            </a:r>
            <a:br/>
            <a:r>
              <a:t>Experiment: Collection of runs</a:t>
            </a:r>
            <a:br/>
            <a:r>
              <a:t>Metric: Numeric value tracked over runs</a:t>
            </a:r>
            <a:br/>
            <a:r>
              <a:t>Model: Machine learning model</a:t>
            </a:r>
            <a:br/>
            <a:r>
              <a:t>Parameter: Input value for model</a:t>
            </a:r>
            <a:br/>
            <a:r>
              <a:t>Run: Single execution</a:t>
            </a:r>
            <a:br/>
            <a:r>
              <a:t>Tag: Key-value metadata</a:t>
            </a:r>
            <a:br/>
            <a:r>
              <a:t>Tracking: System for logging experiments</a:t>
            </a:r>
            <a:br/>
            <a:r>
              <a:t>Registry: Centralized model store</a:t>
            </a:r>
            <a:br/>
            <a:r>
              <a:t>Stage: Model lifecycle state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315: Dagster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Asset: Data artifact</a:t>
            </a:r>
            <a:br/>
            <a:r>
              <a:t>Graph: Collection of ops</a:t>
            </a:r>
            <a:br/>
            <a:r>
              <a:t>Hook: Lifecycle event handler</a:t>
            </a:r>
            <a:br/>
            <a:r>
              <a:t>IOManager: Data persistence</a:t>
            </a:r>
            <a:br/>
            <a:r>
              <a:t>Job: Collection of ops to execute</a:t>
            </a:r>
            <a:br/>
            <a:r>
              <a:t>Op: Single transformation</a:t>
            </a:r>
            <a:br/>
            <a:r>
              <a:t>Resource: Shared service</a:t>
            </a:r>
            <a:br/>
            <a:r>
              <a:t>Schedule: Time-based trigger</a:t>
            </a:r>
            <a:br/>
            <a:r>
              <a:t>Sensor: Event-based trigger</a:t>
            </a:r>
            <a:br/>
            <a:r>
              <a:t>Step: Individual execution unit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## Appendix G: Cheat Sheets (Slides 316-320)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316: DVC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Version control</a:t>
            </a:r>
            <a:br/>
            <a:r>
              <a:t>dvc add &lt;file&gt;              # Track file</a:t>
            </a:r>
            <a:br/>
            <a:r>
              <a:t>dvc status                  # Check status</a:t>
            </a:r>
            <a:br/>
            <a:r>
              <a:t>dvc push/pull               # Sync with remote</a:t>
            </a:r>
            <a:br/>
            <a:br/>
            <a:r>
              <a:t># Pipelines</a:t>
            </a:r>
            <a:br/>
            <a:r>
              <a:t>dvc repro                   # Run pipeline</a:t>
            </a:r>
            <a:br/>
            <a:r>
              <a:t>dvc dag                     # Show graph</a:t>
            </a:r>
            <a:br/>
            <a:r>
              <a:t>dvc status --checks         # Detailed status</a:t>
            </a:r>
            <a:br/>
            <a:br/>
            <a:r>
              <a:t># Remote</a:t>
            </a:r>
            <a:br/>
            <a:r>
              <a:t>dvc remote add -d &lt;name&gt; &lt;url&gt;</a:t>
            </a:r>
            <a:br/>
            <a:r>
              <a:t>dvc remote list</a:t>
            </a:r>
            <a:br/>
            <a:r>
              <a:t>dvc remote modify &lt;name&gt; &lt;option&gt; &lt;value&gt;</a:t>
            </a:r>
            <a:br/>
            <a:br/>
            <a:r>
              <a:t># Maintenance</a:t>
            </a:r>
            <a:br/>
            <a:r>
              <a:t>dvc gc                      # Clean cache</a:t>
            </a:r>
            <a:br/>
            <a:r>
              <a:t>dvc cache dir               # Show cache location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317: MLflow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Setup</a:t>
            </a:r>
            <a:br/>
            <a:r>
              <a:t>import mlflow</a:t>
            </a:r>
            <a:br/>
            <a:r>
              <a:t>mlflow.set_tracking_uri("file:./mlruns")</a:t>
            </a:r>
            <a:br/>
            <a:r>
              <a:t>mlflow.set_experiment("my_experiment")</a:t>
            </a:r>
            <a:br/>
            <a:br/>
            <a:r>
              <a:t># Run</a:t>
            </a:r>
            <a:br/>
            <a:r>
              <a:t>with mlflow.start_run():</a:t>
            </a:r>
            <a:br/>
            <a:r>
              <a:t>    mlflow.log_param("param", value)</a:t>
            </a:r>
            <a:br/>
            <a:r>
              <a:t>    mlflow.log_metric("metric", value)</a:t>
            </a:r>
            <a:br/>
            <a:r>
              <a:t>    mlflow.log_artifact("file.txt")</a:t>
            </a:r>
            <a:br/>
            <a:br/>
            <a:r>
              <a:t># Models</a:t>
            </a:r>
            <a:br/>
            <a:r>
              <a:t>mlflow.sklearn.log_model(model, "model")</a:t>
            </a:r>
            <a:br/>
            <a:r>
              <a:t>mlflow.sklearn.load_model("models:/model/Production")</a:t>
            </a:r>
            <a:br/>
            <a:br/>
            <a:r>
              <a:t># Registry</a:t>
            </a:r>
            <a:br/>
            <a:r>
              <a:t>from mlflow.tracking import MlflowClient</a:t>
            </a:r>
            <a:br/>
            <a:r>
              <a:t>client = MlflowClient()</a:t>
            </a:r>
            <a:br/>
            <a:r>
              <a:t>client.create_model_version(...)</a:t>
            </a:r>
            <a:br/>
            <a:r>
              <a:t>client.transition_model_version_stage(...)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318: Dagster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Ops</a:t>
            </a:r>
            <a:br/>
            <a:r>
              <a:t>@op</a:t>
            </a:r>
            <a:br/>
            <a:r>
              <a:t>def my_op():</a:t>
            </a:r>
            <a:br/>
            <a:r>
              <a:t>    return "result"</a:t>
            </a:r>
            <a:br/>
            <a:br/>
            <a:r>
              <a:t># Assets</a:t>
            </a:r>
            <a:br/>
            <a:r>
              <a:t>@asset</a:t>
            </a:r>
            <a:br/>
            <a:r>
              <a:t>def my_asset():</a:t>
            </a:r>
            <a:br/>
            <a:r>
              <a:t>    return "data"</a:t>
            </a:r>
            <a:br/>
            <a:br/>
            <a:r>
              <a:t># Jobs</a:t>
            </a:r>
            <a:br/>
            <a:r>
              <a:t>@job</a:t>
            </a:r>
            <a:br/>
            <a:r>
              <a:t>def my_job():</a:t>
            </a:r>
            <a:br/>
            <a:r>
              <a:t>    result = my_op()</a:t>
            </a:r>
            <a:br/>
            <a:r>
              <a:t>    return result</a:t>
            </a:r>
            <a:br/>
            <a:br/>
            <a:r>
              <a:t># Schedules</a:t>
            </a:r>
            <a:br/>
            <a:r>
              <a:t>@schedule(job=my_job, cron_schedule="0 0 * * *")</a:t>
            </a:r>
            <a:br/>
            <a:r>
              <a:t>def my_schedule():</a:t>
            </a:r>
            <a:br/>
            <a:r>
              <a:t>    return {}</a:t>
            </a:r>
            <a:br/>
            <a:br/>
            <a:r>
              <a:t># Sensors</a:t>
            </a:r>
            <a:br/>
            <a:r>
              <a:t>@sensor(job=my_job)</a:t>
            </a:r>
            <a:br/>
            <a:r>
              <a:t>def my_sensor():</a:t>
            </a:r>
            <a:br/>
            <a:r>
              <a:t>    return RunRequest(...)</a:t>
            </a:r>
            <a:br/>
            <a:br/>
            <a:r>
              <a:t># Resources</a:t>
            </a:r>
            <a:br/>
            <a:r>
              <a:t>@resource</a:t>
            </a:r>
            <a:br/>
            <a:r>
              <a:t>def my_resource():</a:t>
            </a:r>
            <a:br/>
            <a:r>
              <a:t>    return connection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319: Deployment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Build</a:t>
            </a:r>
            <a:br/>
            <a:r>
              <a:t>docker build -t model-api .</a:t>
            </a:r>
            <a:br/>
            <a:br/>
            <a:r>
              <a:t># Deploy</a:t>
            </a:r>
            <a:br/>
            <a:r>
              <a:t>kubectl apply -f deployment.yaml</a:t>
            </a:r>
            <a:br/>
            <a:r>
              <a:t>kubectl rollout status deployment/model-api</a:t>
            </a:r>
            <a:br/>
            <a:br/>
            <a:r>
              <a:t># Scale</a:t>
            </a:r>
            <a:br/>
            <a:r>
              <a:t>kubectl scale deployment model-api --replicas=5</a:t>
            </a:r>
            <a:br/>
            <a:br/>
            <a:r>
              <a:t># Update</a:t>
            </a:r>
            <a:br/>
            <a:r>
              <a:t>kubectl set image deployment/model-api model-api=model-api:v2</a:t>
            </a:r>
            <a:br/>
            <a:br/>
            <a:r>
              <a:t># Rollback</a:t>
            </a:r>
            <a:br/>
            <a:r>
              <a:t>kubectl rollout undo deployment/model-api</a:t>
            </a:r>
            <a:br/>
            <a:br/>
            <a:r>
              <a:t># Monitor</a:t>
            </a:r>
            <a:br/>
            <a:r>
              <a:t>kubectl logs deployment/model-api</a:t>
            </a:r>
            <a:br/>
            <a:r>
              <a:t>kubectl get pods</a:t>
            </a:r>
            <a:br/>
            <a:r>
              <a:t>kubectl describe deployment/model-api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Calibri Light"/>
              </a:defRPr>
            </a:pPr>
            <a:r>
              <a:t>Slide 320: Monitoring Cheat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80160"/>
            <a:ext cx="108200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  <a:defRPr sz="1400">
                <a:solidFill>
                  <a:srgbClr val="282828"/>
                </a:solidFill>
                <a:latin typeface="Courier New"/>
              </a:defRPr>
            </a:pPr>
            <a:r>
              <a:t># Metrics collection</a:t>
            </a:r>
            <a:br/>
            <a:r>
              <a:t>prometheus_client.start_http_server(8000)</a:t>
            </a:r>
            <a:br/>
            <a:r>
              <a:t>counter = Counter('requests', 'Total requests')</a:t>
            </a:r>
            <a:br/>
            <a:r>
              <a:t>counter.inc()</a:t>
            </a:r>
            <a:br/>
            <a:br/>
            <a:r>
              <a:t># Alerting</a:t>
            </a:r>
            <a:br/>
            <a:r>
              <a:t>from prometheus_client import Gauge</a:t>
            </a:r>
            <a:br/>
            <a:r>
              <a:t>latency = Gauge('latency_ms', 'Request latency')</a:t>
            </a:r>
            <a:br/>
            <a:r>
              <a:t>latency.set(latency_ms)</a:t>
            </a:r>
            <a:br/>
            <a:br/>
            <a:r>
              <a:t># Logging</a:t>
            </a:r>
            <a:br/>
            <a:r>
              <a:t>import logging</a:t>
            </a:r>
            <a:br/>
            <a:r>
              <a:t>logging.info("Request processed", extra={"request_id": id})</a:t>
            </a:r>
            <a:br/>
            <a:br/>
            <a:r>
              <a:t># Dashboard</a:t>
            </a:r>
            <a:br/>
            <a:r>
              <a:t># Grafana: Create dashboards from metrics</a:t>
            </a:r>
            <a:br/>
            <a:r>
              <a:t># Prometheus: Query language (PromQL)</a:t>
            </a:r>
            <a:br/>
            <a:br/>
            <a:r>
              <a:t># Alerts</a:t>
            </a:r>
            <a:br/>
            <a:r>
              <a:t># Alertmanager: Configure alert rules</a:t>
            </a:r>
            <a:br/>
            <a:r>
              <a:t># Slack/Email/PagerDuty: Send notifications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# END OF SLIDE OUTLINE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---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Total Slides: 320+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This comprehensive slide outline covers: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8 major sections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20+ modules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320+ slides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All tools and concepts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Practical examples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Architecture diagrams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Cheat sheets and references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2000">
                <a:solidFill>
                  <a:srgbClr val="000000"/>
                </a:solidFill>
                <a:latin typeface="Calibri"/>
              </a:defRPr>
            </a:pPr>
            <a:r>
              <a:t>✅ Best practices and troubleshooting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