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Arial"/>
              </a:rPr>
              <a:t>PART 0: COURSE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Course Title: "Executive Decision Pipeline: From Data Engineering to Strategic Action"</a:t>
            </a:r>
            <a:br/>
            <a:r>
              <a:t>• Subtitle: A Comprehensive Hands-On Journey</a:t>
            </a:r>
            <a:br/>
            <a:r>
              <a:t>• Your Name/Title</a:t>
            </a:r>
            <a:br/>
            <a:r>
              <a:t>• Date</a:t>
            </a:r>
            <a:br/>
            <a:r>
              <a:t>• Company/Organization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Data Paradox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"We're drowning in data but starving for insights"</a:t>
            </a:r>
            <a:br/>
            <a:r>
              <a:t>• Visual: Data waterfall vs. insight trickle</a:t>
            </a:r>
            <a:br/>
            <a:r>
              <a:t>• Quote: "Data is the new oil, but it's only valuable when refined"</a:t>
            </a:r>
            <a:br/>
            <a:r>
              <a:t>• Key question: How do we turn data into decisions?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Problem We're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Analysts build models that don't get used</a:t>
            </a:r>
            <a:br/>
            <a:r>
              <a:t>• Executives make decisions without data</a:t>
            </a:r>
            <a:br/>
            <a:r>
              <a:t>• Data science projects fail to deliver business value</a:t>
            </a:r>
            <a:br/>
            <a:r>
              <a:t>• The gap between technical excellence and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Solution - Executive Decision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Three-pillar approach:</a:t>
            </a:r>
            <a:br/>
            <a:r>
              <a:t>• 1. Engineering (self-service BI)</a:t>
            </a:r>
            <a:br/>
            <a:r>
              <a:t>• 2. Storytelling (executive communication)</a:t>
            </a:r>
            <a:br/>
            <a:r>
              <a:t>• 3. Ethics (explainability &amp; governance)</a:t>
            </a:r>
            <a:br/>
            <a:r>
              <a:t>• Visual: Three pillars supporting "Executive Decisions"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What Makes This Course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Code-heavy: No "implement the rest here"</a:t>
            </a:r>
            <a:br/>
            <a:r>
              <a:t>• Beginner-friendly explanations, expert code</a:t>
            </a:r>
            <a:br/>
            <a:r>
              <a:t>• Progressive complexity</a:t>
            </a:r>
            <a:br/>
            <a:r>
              <a:t>• Production-ready patterns</a:t>
            </a:r>
            <a:br/>
            <a:r>
              <a:t>• Real business problems, not toy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For: Advanced analysts and data scientists</a:t>
            </a:r>
            <a:br/>
            <a:r>
              <a:t>• Prerequisites:</a:t>
            </a:r>
            <a:br/>
            <a:r>
              <a:t>• Python proficiency</a:t>
            </a:r>
            <a:br/>
            <a:r>
              <a:t>• SQL fundamentals</a:t>
            </a:r>
            <a:br/>
            <a:r>
              <a:t>• Statistical literacy</a:t>
            </a:r>
            <a:br/>
            <a:r>
              <a:t>• Basic ML knowledge</a:t>
            </a:r>
            <a:br/>
            <a:r>
              <a:t>• Not for: Complete beginners (but we provide primers!)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Course Structure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Module 6.1: BI Semantic Layers (4 hours)</a:t>
            </a:r>
            <a:br/>
            <a:r>
              <a:t>• Module 6.2: Analytics Storytelling (3 hours)</a:t>
            </a:r>
            <a:br/>
            <a:r>
              <a:t>• Module 6.3: Ethics &amp; Explainability (4 hours)</a:t>
            </a:r>
            <a:br/>
            <a:r>
              <a:t>• Phase 6 Capstone: Executive Decision Pack (5 hours)</a:t>
            </a:r>
            <a:br/>
            <a:r>
              <a:t>• Total: ~16 hours of guided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What You'll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Live BI Dashboard (Metabase)</a:t>
            </a:r>
            <a:br/>
            <a:r>
              <a:t>• 2. Semantic Layer (dbt)</a:t>
            </a:r>
            <a:br/>
            <a:r>
              <a:t>• 3. Explainability Report (SHAP)</a:t>
            </a:r>
            <a:br/>
            <a:r>
              <a:t>• 4. Executive Summary (SCR Framework)</a:t>
            </a:r>
            <a:br/>
            <a:r>
              <a:t>• 5. Implementation Roadmap</a:t>
            </a:r>
            <a:br/>
            <a:r>
              <a:t>• 6. Full Executive Decision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Complete 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Data Engineering:</a:t>
            </a:r>
            <a:br/>
            <a:r>
              <a:t>• PostgreSQL 14+</a:t>
            </a:r>
            <a:br/>
            <a:r>
              <a:t>• DuckDB 0.9+</a:t>
            </a:r>
            <a:br/>
            <a:r>
              <a:t>• dbt Core</a:t>
            </a:r>
            <a:br/>
            <a:r>
              <a:t>• SQLAlchemy</a:t>
            </a:r>
            <a:br/>
            <a:r>
              <a:t>• Analytics &amp; ML:</a:t>
            </a:r>
            <a:br/>
            <a:r>
              <a:t>• Python 3.9+</a:t>
            </a:r>
            <a:br/>
            <a:r>
              <a:t>• pandas, numpy</a:t>
            </a:r>
            <a:br/>
            <a:r>
              <a:t>• scikit-learn, xgboost</a:t>
            </a:r>
            <a:br/>
            <a:r>
              <a:t>• shap, lime, fairlearn</a:t>
            </a:r>
            <a:br/>
            <a:r>
              <a:t>• BI &amp; Visualization:</a:t>
            </a:r>
            <a:br/>
            <a:r>
              <a:t>• Metabase 0.47+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Why PostgreSQL?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Production-grade reliability</a:t>
            </a:r>
            <a:br/>
            <a:r>
              <a:t>• Strong ecosystem</a:t>
            </a:r>
            <a:br/>
            <a:r>
              <a:t>• Advanced features (JSONB, full-text search)</a:t>
            </a:r>
            <a:br/>
            <a:r>
              <a:t>• Excellent dbt integration</a:t>
            </a:r>
            <a:br/>
            <a:r>
              <a:t>• Free and 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Why dbt?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Version-controlled SQL</a:t>
            </a:r>
            <a:br/>
            <a:r>
              <a:t>• Built-in testing</a:t>
            </a:r>
            <a:br/>
            <a:r>
              <a:t>• Documentation generation</a:t>
            </a:r>
            <a:br/>
            <a:r>
              <a:t>• Modular transformations</a:t>
            </a:r>
            <a:br/>
            <a:r>
              <a:t>• "Transform, not just transport"</a:t>
            </a:r>
            <a:br/>
            <a:r>
              <a:t>• Visual: Traditional ETL vs. dbt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Why Metabase?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Open source</a:t>
            </a:r>
            <a:br/>
            <a:r>
              <a:t>• Easy for non-technical users</a:t>
            </a:r>
            <a:br/>
            <a:r>
              <a:t>• Self-service analytics</a:t>
            </a:r>
            <a:br/>
            <a:r>
              <a:t>• Rich visualization options</a:t>
            </a:r>
            <a:br/>
            <a:r>
              <a:t>• No complex setup</a:t>
            </a:r>
            <a:br/>
            <a:r>
              <a:t>• Excellent for executive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Why SHAP?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Game-theoretic approach</a:t>
            </a:r>
            <a:br/>
            <a:r>
              <a:t>• Consistent explanations</a:t>
            </a:r>
            <a:br/>
            <a:r>
              <a:t>• Local and global interpretability</a:t>
            </a:r>
            <a:br/>
            <a:r>
              <a:t>• Visual and intuitive</a:t>
            </a:r>
            <a:br/>
            <a:r>
              <a:t>• Model-agnostic</a:t>
            </a:r>
            <a:br/>
            <a:r>
              <a:t>• Industry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Why Python?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Data science ecosystem</a:t>
            </a:r>
            <a:br/>
            <a:r>
              <a:t>• Easy to learn</a:t>
            </a:r>
            <a:br/>
            <a:r>
              <a:t>• Huge library support</a:t>
            </a:r>
            <a:br/>
            <a:r>
              <a:t>• Strong community</a:t>
            </a:r>
            <a:br/>
            <a:r>
              <a:t>• Production-ready</a:t>
            </a:r>
            <a:br/>
            <a:r>
              <a:t>• What we'll use: pandas, sklearn, shap, fairlearn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Data Flow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Raw Data → Staging → Intermediate → Mart → Dashboard</a:t>
            </a:r>
            <a:br/>
            <a:r>
              <a:t>• ↑          ↑          ↑          ↑        ↑</a:t>
            </a:r>
            <a:br/>
            <a:r>
              <a:t>• PostgreSQL  dbt     dbt Views   BI Tables  Metabase</a:t>
            </a:r>
            <a:br/>
            <a:r>
              <a:t>• Each layer has specific purpose</a:t>
            </a:r>
            <a:br/>
            <a:r>
              <a:t>• Transformations are version-controlled</a:t>
            </a:r>
            <a:br/>
            <a:r>
              <a:t>• Business logic is centralized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Sample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E-commerce business simulation</a:t>
            </a:r>
            <a:br/>
            <a:r>
              <a:t>• 4,258 active customers</a:t>
            </a:r>
            <a:br/>
            <a:r>
              <a:t>• 15,000+ orders</a:t>
            </a:r>
            <a:br/>
            <a:r>
              <a:t>• 200 products in 20 categories</a:t>
            </a:r>
            <a:br/>
            <a:r>
              <a:t>• Marketing campaigns</a:t>
            </a:r>
            <a:br/>
            <a:r>
              <a:t>• Product reviews</a:t>
            </a:r>
            <a:br/>
            <a:r>
              <a:t>• Realistic business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Time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Module 6.1: 4 hours</a:t>
            </a:r>
            <a:br/>
            <a:r>
              <a:t>• Module 6.2: 3 hours</a:t>
            </a:r>
            <a:br/>
            <a:r>
              <a:t>• Module 6.3: 4 hours</a:t>
            </a:r>
            <a:br/>
            <a:r>
              <a:t>• Capstone: 5 hours</a:t>
            </a:r>
            <a:br/>
            <a:r>
              <a:t>• **Total: ~16 hours**</a:t>
            </a:r>
            <a:br/>
            <a:r>
              <a:t>• Recommended: 1 module per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System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Python 3.9+ installed</a:t>
            </a:r>
            <a:br/>
            <a:r>
              <a:t>• Docker &amp; Docker Compose</a:t>
            </a:r>
            <a:br/>
            <a:r>
              <a:t>• Git</a:t>
            </a:r>
            <a:br/>
            <a:r>
              <a:t>• Code editor (VS Code recommended)</a:t>
            </a:r>
            <a:br/>
            <a:r>
              <a:t>• 8GB+ RAM (16GB recommended)</a:t>
            </a:r>
            <a:br/>
            <a:r>
              <a:t>• 10GB+ free disk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Accounts Needed (Free)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GitHub account</a:t>
            </a:r>
            <a:br/>
            <a:r>
              <a:t>• (Optional) Metabase Cloud trial</a:t>
            </a:r>
            <a:br/>
            <a:r>
              <a:t>• (Optional) Gmail for email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How to Follow Along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Read actively - don't just skim</a:t>
            </a:r>
            <a:br/>
            <a:r>
              <a:t>• 2. Write the code yourself - no copy-paste</a:t>
            </a:r>
            <a:br/>
            <a:r>
              <a:t>• 3. Verify at each step</a:t>
            </a:r>
            <a:br/>
            <a:r>
              <a:t>• 4. Experiment with parameters</a:t>
            </a:r>
            <a:br/>
            <a:r>
              <a:t>• 5. Ask questions (we'll have Q&amp;A)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Verification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Every step has verification</a:t>
            </a:r>
            <a:br/>
            <a:r>
              <a:t>• Copy-paste commands to test</a:t>
            </a:r>
            <a:br/>
            <a:r>
              <a:t>• Expected outputs provided</a:t>
            </a:r>
            <a:br/>
            <a:r>
              <a:t>• "Green means go" approach</a:t>
            </a:r>
            <a:br/>
            <a:r>
              <a:t>• If it fails, you'll know immediately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Progress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[GENERATED: Part X]</a:t>
            </a:r>
            <a:br/>
            <a:r>
              <a:t>• [STARTING: Section Y]</a:t>
            </a:r>
            <a:br/>
            <a:r>
              <a:t>• [COMPLETED: Module Z]</a:t>
            </a:r>
            <a:br/>
            <a:r>
              <a:t>• Use these to track your progress</a:t>
            </a:r>
            <a:br/>
            <a:r>
              <a:t>• Know exactly where you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When You Get Stuck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Check the verification output</a:t>
            </a:r>
            <a:br/>
            <a:r>
              <a:t>• 2. Review the previous steps</a:t>
            </a:r>
            <a:br/>
            <a:r>
              <a:t>• 3. Check common errors (we'll cover them)</a:t>
            </a:r>
            <a:br/>
            <a:r>
              <a:t>• 4. Use the troubleshooting guide</a:t>
            </a:r>
            <a:br/>
            <a:r>
              <a:t>• 5. Ask for help (Slack/forum)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Course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All code available on GitHub</a:t>
            </a:r>
            <a:br/>
            <a:r>
              <a:t>• Appendixes A-C: Code, Templates, Checklists</a:t>
            </a:r>
            <a:br/>
            <a:r>
              <a:t>• Primers 1-3: SQL, Python, Statistics</a:t>
            </a:r>
            <a:br/>
            <a:r>
              <a:t>• Full documentation</a:t>
            </a:r>
            <a:br/>
            <a:r>
              <a:t>• Sample data included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Let's Begin!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The journey starts now</a:t>
            </a:r>
            <a:br/>
            <a:r>
              <a:t>• You'll build something amazing</a:t>
            </a:r>
            <a:br/>
            <a:r>
              <a:t>• Data to decisions - let's go!</a:t>
            </a:r>
            <a:br/>
            <a:r>
              <a:t>• Recap: What you'll achieve</a:t>
            </a:r>
            <a:br/>
            <a:r>
              <a:t>• Ready to start Module 6.1?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Arial"/>
              </a:rPr>
              <a:t>MODULE 6.1: BI SEMANTIC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Slide 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Module 6.1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**Title:** Dashboard Engineering &amp; BI Semantic Layers</a:t>
            </a:r>
            <a:br/>
            <a:r>
              <a:t>• **Duration:** ~4 hours</a:t>
            </a:r>
            <a:br/>
            <a:r>
              <a:t>• **Outcome:** Self-service BI environment</a:t>
            </a:r>
            <a:br/>
            <a:r>
              <a:t>• **Key Tools:** dbt, Metabase, PostgreSQL</a:t>
            </a:r>
            <a:br/>
            <a:r>
              <a:t>• **Skills:** Data modeling, Dashboard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What's a Semantic Layer?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Definition: A business-friendly abstraction of data</a:t>
            </a:r>
            <a:br/>
            <a:r>
              <a:t>• Analogy: The Rosetta Stone</a:t>
            </a:r>
            <a:br/>
            <a:r>
              <a:t>• Translates technical data into business concepts</a:t>
            </a:r>
            <a:br/>
            <a:r>
              <a:t>• Centralizes definitions (one source of truth)</a:t>
            </a:r>
            <a:br/>
            <a:r>
              <a:t>• Examples: "Active customer", "Revenue", "Churn"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Why Semantic Layers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Without: Each analyst defines metrics differently</a:t>
            </a:r>
            <a:br/>
            <a:r>
              <a:t>• Inconsistent reports</a:t>
            </a:r>
            <a:br/>
            <a:r>
              <a:t>• "Data wars" - whose number is right?</a:t>
            </a:r>
            <a:br/>
            <a:r>
              <a:t>• With: Single definition, used everywhere</a:t>
            </a:r>
            <a:br/>
            <a:r>
              <a:t>• Trust in data</a:t>
            </a:r>
            <a:br/>
            <a:r>
              <a:t>• Self-service analytics becomes 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Self-Service BI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"Empower everyone to explore data"</a:t>
            </a:r>
            <a:br/>
            <a:r>
              <a:t>• Non-technical users can answer their own questions</a:t>
            </a:r>
            <a:br/>
            <a:r>
              <a:t>• Executives can monitor business health</a:t>
            </a:r>
            <a:br/>
            <a:r>
              <a:t>• Analysts focus on deep analysis, not basic reporting</a:t>
            </a:r>
            <a:br/>
            <a:r>
              <a:t>• Visual: Self-service vs. Traditional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┌──────────────────────────────────────────────┐</a:t>
            </a:r>
            <a:br/>
            <a:r>
              <a:t>• │           Dashboard Layer (Metabase)         │</a:t>
            </a:r>
            <a:br/>
            <a:r>
              <a:t>• ├──────────────────────────────────────────────┤</a:t>
            </a:r>
            <a:br/>
            <a:r>
              <a:t>• │              Mart Models (dbt)               │</a:t>
            </a:r>
            <a:br/>
            <a:r>
              <a:t>• ├──────────────────────────────────────────────┤</a:t>
            </a:r>
            <a:br/>
            <a:r>
              <a:t>• │          Intermediate Models (dbt)           │</a:t>
            </a:r>
            <a:br/>
            <a:r>
              <a:t>• ├──────────────────────────────────────────────┤</a:t>
            </a:r>
            <a:br/>
            <a:r>
              <a:t>• │            Staging Models (dbt)              │</a:t>
            </a:r>
            <a:br/>
            <a:r>
              <a:t>• ├──────────────────────────────────────────────┤</a:t>
            </a:r>
            <a:br/>
            <a:r>
              <a:t>• │            Source Data (PostgreSQL)          │</a:t>
            </a:r>
            <a:br/>
            <a:r>
              <a:t>• └──────────────────────────────────────────────┘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dbt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Write SQL models</a:t>
            </a:r>
            <a:br/>
            <a:r>
              <a:t>• 2. dbt compiles to SQL</a:t>
            </a:r>
            <a:br/>
            <a:r>
              <a:t>• 3. Runs against database</a:t>
            </a:r>
            <a:br/>
            <a:r>
              <a:t>• 4. Creates views/tables</a:t>
            </a:r>
            <a:br/>
            <a:r>
              <a:t>• 5. Tests data quality</a:t>
            </a:r>
            <a:br/>
            <a:r>
              <a:t>• 6. Generates documentation</a:t>
            </a:r>
            <a:br/>
            <a:r>
              <a:t>• Visual: dbt workflow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Our dbt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models/</a:t>
            </a:r>
            <a:br/>
            <a:r>
              <a:t>• ├── staging/      # Clean raw data</a:t>
            </a:r>
            <a:br/>
            <a:r>
              <a:t>• ├── intermediate/ # Combine sources</a:t>
            </a:r>
            <a:br/>
            <a:r>
              <a:t>• ├── marts/        # Business-ready models</a:t>
            </a:r>
            <a:br/>
            <a:r>
              <a:t>• │   ├── customer/</a:t>
            </a:r>
            <a:br/>
            <a:r>
              <a:t>• │   ├── product/</a:t>
            </a:r>
            <a:br/>
            <a:r>
              <a:t>• │   ├── sales/</a:t>
            </a:r>
            <a:br/>
            <a:r>
              <a:t>• │   └── marketing/</a:t>
            </a:r>
            <a:br/>
            <a:r>
              <a:t>• └── schema.yml    # Tests and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Why dbt vs. Alternatives?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Metabase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Open source BI tool</a:t>
            </a:r>
            <a:br/>
            <a:r>
              <a:t>• Easy to use for non-technical users</a:t>
            </a:r>
            <a:br/>
            <a:r>
              <a:t>• Rich visualization library</a:t>
            </a:r>
            <a:br/>
            <a:r>
              <a:t>• SQL and GUI query builder</a:t>
            </a:r>
            <a:br/>
            <a:r>
              <a:t>• Dashboard and reporting</a:t>
            </a:r>
            <a:br/>
            <a:r>
              <a:t>• Self-service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What We'll Build in Module 6.1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Production PostgreSQL database</a:t>
            </a:r>
            <a:br/>
            <a:r>
              <a:t>• 2. Complete dbt semantic layer</a:t>
            </a:r>
            <a:br/>
            <a:r>
              <a:t>• 3. Interactive Metabase dashboard</a:t>
            </a:r>
            <a:br/>
            <a:r>
              <a:t>• 4. Automated executive reports</a:t>
            </a:r>
            <a:br/>
            <a:r>
              <a:t>• 5. Performance-optimized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Part 1 - Database Setup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**Duration:** ~45 minutes</a:t>
            </a:r>
            <a:br/>
            <a:r>
              <a:t>• **Outcome:** Running PostgreSQL with sample data</a:t>
            </a:r>
            <a:br/>
            <a:r>
              <a:t>• **Key Steps:**</a:t>
            </a:r>
            <a:br/>
            <a:r>
              <a:t>• 1. Project initialization</a:t>
            </a:r>
            <a:br/>
            <a:r>
              <a:t>• 2. Docker orchestration</a:t>
            </a:r>
            <a:br/>
            <a:r>
              <a:t>• 3. Schema design</a:t>
            </a:r>
            <a:br/>
            <a:r>
              <a:t>• 4. Sample data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Project Initialization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Create directory structure</a:t>
            </a:r>
            <a:br/>
            <a:r>
              <a:t>• Initialize Git</a:t>
            </a:r>
            <a:br/>
            <a:r>
              <a:t>• Create .gitignore</a:t>
            </a:r>
            <a:br/>
            <a:r>
              <a:t>• Set up requirements.txt</a:t>
            </a:r>
            <a:br/>
            <a:r>
              <a:t>• Create Makefile</a:t>
            </a:r>
            <a:br/>
            <a:r>
              <a:t>• Environment variables</a:t>
            </a:r>
            <a:br/>
            <a:r>
              <a:t>• Visual: Project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Docker Compose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Why Docker? Consistency, isolation, portability</a:t>
            </a:r>
            <a:br/>
            <a:r>
              <a:t>• Services: PostgreSQL, Metabase</a:t>
            </a:r>
            <a:br/>
            <a:r>
              <a:t>• Networks and volumes</a:t>
            </a:r>
            <a:br/>
            <a:r>
              <a:t>• Health checks</a:t>
            </a:r>
            <a:br/>
            <a:r>
              <a:t>• Environment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Docker Compose Command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docker-compose up -d     # Start services</a:t>
            </a:r>
            <a:br/>
            <a:r>
              <a:t>• docker-compose ps        # Check status</a:t>
            </a:r>
            <a:br/>
            <a:r>
              <a:t>• docker-compose logs -f   # View logs</a:t>
            </a:r>
            <a:br/>
            <a:r>
              <a:t>• docker-compose down      # Stop services</a:t>
            </a:r>
            <a:br/>
            <a:r>
              <a:t>• docker-compose exec      # Run commands in 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Database Schema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Dimension tables: things we describe</a:t>
            </a:r>
            <a:br/>
            <a:r>
              <a:t>• customers, products, categories, suppliers</a:t>
            </a:r>
            <a:br/>
            <a:r>
              <a:t>• Fact tables: events and transactions</a:t>
            </a:r>
            <a:br/>
            <a:r>
              <a:t>• orders, order_items, returns, reviews</a:t>
            </a:r>
            <a:br/>
            <a:r>
              <a:t>• Relationships and foreign keys</a:t>
            </a:r>
            <a:br/>
            <a:r>
              <a:t>• Indexes for performance</a:t>
            </a:r>
            <a:br/>
            <a:r>
              <a:t>• Views for common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Schema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┌─────────────┐     ┌─────────────┐</a:t>
            </a:r>
            <a:br/>
            <a:r>
              <a:t>• │  customers  │────▶│   orders    │</a:t>
            </a:r>
            <a:br/>
            <a:r>
              <a:t>• └─────────────┘     └──────┬──────┘</a:t>
            </a:r>
            <a:br/>
            <a:r>
              <a:t>• ┌──────▼──────┐</a:t>
            </a:r>
            <a:br/>
            <a:r>
              <a:t>• │ order_items │</a:t>
            </a:r>
            <a:br/>
            <a:r>
              <a:t>• └──────┬──────┘</a:t>
            </a:r>
            <a:br/>
            <a:r>
              <a:t>• ┌──────▼──────┐</a:t>
            </a:r>
            <a:br/>
            <a:r>
              <a:t>• │  products   │</a:t>
            </a:r>
            <a:br/>
            <a:r>
              <a:t>• └─────────────┘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Normalization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1NF: Atomic values</a:t>
            </a:r>
            <a:br/>
            <a:r>
              <a:t>• 2NF: No partial dependencies</a:t>
            </a:r>
            <a:br/>
            <a:r>
              <a:t>• 3NF: No transitive dependencies</a:t>
            </a:r>
            <a:br/>
            <a:r>
              <a:t>• Benefits: Avoid redundancy, maintain integrity</a:t>
            </a:r>
            <a:br/>
            <a:r>
              <a:t>• Trade-off: More tables = more 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Sample Data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Use Faker for realistic data</a:t>
            </a:r>
            <a:br/>
            <a:r>
              <a:t>• Python script with business logic</a:t>
            </a:r>
            <a:br/>
            <a:r>
              <a:t>• Statistical distributions for natural patterns</a:t>
            </a:r>
            <a:br/>
            <a:r>
              <a:t>• 5,000 customers</a:t>
            </a:r>
            <a:br/>
            <a:r>
              <a:t>• 15,000 orders</a:t>
            </a:r>
            <a:br/>
            <a:r>
              <a:t>• 200 products</a:t>
            </a:r>
            <a:br/>
            <a:r>
              <a:t>• Generated with reproducible 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Data Generation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Database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Test connection</a:t>
            </a:r>
            <a:br/>
            <a:r>
              <a:t>• Check row counts</a:t>
            </a:r>
            <a:br/>
            <a:r>
              <a:t>• Verify foreign keys</a:t>
            </a:r>
            <a:br/>
            <a:r>
              <a:t>• Test sample queries</a:t>
            </a:r>
            <a:br/>
            <a:r>
              <a:t>• View statistics</a:t>
            </a:r>
            <a:br/>
            <a:r>
              <a:t>• All green = ready to go!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Part 2 - Semantic Layer with dbt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**Duration:** ~90 minutes</a:t>
            </a:r>
            <a:br/>
            <a:r>
              <a:t>• **Outcome:** Complete dbt project</a:t>
            </a:r>
            <a:br/>
            <a:r>
              <a:t>• **Key Steps:**</a:t>
            </a:r>
            <a:br/>
            <a:r>
              <a:t>• 1. Install dbt</a:t>
            </a:r>
            <a:br/>
            <a:r>
              <a:t>• 2. Create staging models</a:t>
            </a:r>
            <a:br/>
            <a:r>
              <a:t>• 3. Create intermediate models</a:t>
            </a:r>
            <a:br/>
            <a:r>
              <a:t>• 4. Create mart models</a:t>
            </a:r>
            <a:br/>
            <a:r>
              <a:t>• 5. Test and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Installing dbt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pip install dbt-postgres==1.6.0</a:t>
            </a:r>
            <a:br/>
            <a:r>
              <a:t>• dbt init analytics_dbt</a:t>
            </a:r>
            <a:br/>
            <a:r>
              <a:t>• dbt debug --project-dir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dbt Project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dbt_project.yml</a:t>
            </a:r>
            <a:br/>
            <a:r>
              <a:t>• Profile setup</a:t>
            </a:r>
            <a:br/>
            <a:r>
              <a:t>• Model paths</a:t>
            </a:r>
            <a:br/>
            <a:r>
              <a:t>• Materialization settings</a:t>
            </a:r>
            <a:br/>
            <a:r>
              <a:t>• Schema definitions</a:t>
            </a:r>
            <a:br/>
            <a:r>
              <a:t>• Variables (business definitions)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Staging Models - What &amp;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What: Clean, renamed, casted data</a:t>
            </a:r>
            <a:br/>
            <a:r>
              <a:t>• Why: Single source of truth</a:t>
            </a:r>
            <a:br/>
            <a:r>
              <a:t>• Why: Consistent column naming</a:t>
            </a:r>
            <a:br/>
            <a:r>
              <a:t>• Why: Handle nulls and edge cases</a:t>
            </a:r>
            <a:br/>
            <a:r>
              <a:t>• Materialized as: Views</a:t>
            </a:r>
            <a:br/>
            <a:r>
              <a:t>• Pattern: source → renamed → derived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Staging Model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WITH source AS (</a:t>
            </a:r>
            <a:br/>
            <a:r>
              <a:t>• SELECT * FROM {{ source('analytics', 'customers') }}</a:t>
            </a:r>
            <a:br/>
            <a:r>
              <a:t>• renamed AS (</a:t>
            </a:r>
            <a:br/>
            <a:r>
              <a:t>• SELECT</a:t>
            </a:r>
            <a:br/>
            <a:r>
              <a:t>• customer_id,</a:t>
            </a:r>
            <a:br/>
            <a:r>
              <a:t>• email,</a:t>
            </a:r>
            <a:br/>
            <a:r>
              <a:t>• first_name,</a:t>
            </a:r>
            <a:br/>
            <a:r>
              <a:t>• last_name,</a:t>
            </a:r>
            <a:br/>
            <a:r>
              <a:t>• CASE</a:t>
            </a:r>
            <a:br/>
            <a:r>
              <a:t>• WHEN date_of_birth IS NOT NULL</a:t>
            </a:r>
            <a:br/>
            <a:r>
              <a:t>• THEN EXTRACT(YEAR FROM AGE(CURRENT_DATE, date_of_birth))</a:t>
            </a:r>
            <a:br/>
            <a:r>
              <a:t>• ELSE 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All Staging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Intermediate Models - What &amp;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What: Combine staging models</a:t>
            </a:r>
            <a:br/>
            <a:r>
              <a:t>• Why: Complex business logic</a:t>
            </a:r>
            <a:br/>
            <a:r>
              <a:t>• Why: Reusable across marts</a:t>
            </a:r>
            <a:br/>
            <a:r>
              <a:t>• Why: Reduce duplication</a:t>
            </a:r>
            <a:br/>
            <a:r>
              <a:t>• Materialized as: Views</a:t>
            </a:r>
            <a:br/>
            <a:r>
              <a:t>• Pattern: multiple staging → joined → aggregated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Intermediate Model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WITH customers AS (SELECT * FROM {{ ref('stg_customers') }}),</a:t>
            </a:r>
            <a:br/>
            <a:r>
              <a:t>• orders AS (SELECT * FROM {{ ref('stg_orders') }}),</a:t>
            </a:r>
            <a:br/>
            <a:r>
              <a:t>• customer_orders AS (</a:t>
            </a:r>
            <a:br/>
            <a:r>
              <a:t>• SELECT</a:t>
            </a:r>
            <a:br/>
            <a:r>
              <a:t>• customer_id,</a:t>
            </a:r>
            <a:br/>
            <a:r>
              <a:t>• COUNT(DISTINCT order_id) AS total_orders,</a:t>
            </a:r>
            <a:br/>
            <a:r>
              <a:t>• SUM(total_amount) AS total_spent,</a:t>
            </a:r>
            <a:br/>
            <a:r>
              <a:t>• AVG(total_amount) AS avg_order_value,</a:t>
            </a:r>
            <a:br/>
            <a:r>
              <a:t>• MIN(order_date) AS first_order_date,</a:t>
            </a:r>
            <a:br/>
            <a:r>
              <a:t>• MAX(order_date) AS last_order_date</a:t>
            </a:r>
            <a:br/>
            <a:r>
              <a:t>• FROM orders</a:t>
            </a:r>
            <a:br/>
            <a:r>
              <a:t>• GROUP BY customer_id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Intermediate Models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Mart Models - What &amp;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What: Business-ready data</a:t>
            </a:r>
            <a:br/>
            <a:r>
              <a:t>• Why: Optimized for BI tools</a:t>
            </a:r>
            <a:br/>
            <a:r>
              <a:t>• Why: Domain-specific</a:t>
            </a:r>
            <a:br/>
            <a:r>
              <a:t>• Why: Pre-calculated metrics</a:t>
            </a:r>
            <a:br/>
            <a:r>
              <a:t>• Materialized as: Tables (for speed)</a:t>
            </a:r>
            <a:br/>
            <a:r>
              <a:t>• Pattern: intermediate → final curated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Mart Model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config(</a:t>
            </a:r>
            <a:br/>
            <a:r>
              <a:t>• materialized='table',</a:t>
            </a:r>
            <a:br/>
            <a:r>
              <a:t>• schema='marts'</a:t>
            </a:r>
            <a:br/>
            <a:r>
              <a:t>• WITH customer_summary AS (</a:t>
            </a:r>
            <a:br/>
            <a:r>
              <a:t>• SELECT * FROM {{ ref('int_customer_orders_summary') }}</a:t>
            </a:r>
            <a:br/>
            <a:r>
              <a:t>• SELECT</a:t>
            </a:r>
            <a:br/>
            <a:r>
              <a:t>• customer_id,</a:t>
            </a:r>
            <a:br/>
            <a:r>
              <a:t>• email,</a:t>
            </a:r>
            <a:br/>
            <a:r>
              <a:t>• first_name,</a:t>
            </a:r>
            <a:br/>
            <a:r>
              <a:t>• last_name,</a:t>
            </a:r>
            <a:br/>
            <a:r>
              <a:t>• customer_tier,</a:t>
            </a:r>
            <a:br/>
            <a:r>
              <a:t>• total_spent,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Mart Models - Four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dbt Tests - Why They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Catch errors early</a:t>
            </a:r>
            <a:br/>
            <a:r>
              <a:t>• Ensure data quality</a:t>
            </a:r>
            <a:br/>
            <a:r>
              <a:t>• Build trust in data</a:t>
            </a:r>
            <a:br/>
            <a:r>
              <a:t>• Automate validation</a:t>
            </a:r>
            <a:br/>
            <a:r>
              <a:t>• Types:</a:t>
            </a:r>
            <a:br/>
            <a:r>
              <a:t>• Generic: unique, not_null, accepted_values</a:t>
            </a:r>
            <a:br/>
            <a:r>
              <a:t>• Custom: Business logic tests</a:t>
            </a:r>
            <a:br/>
            <a:r>
              <a:t>• Sing: Single-value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Test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models:</a:t>
            </a:r>
            <a:br/>
            <a:r>
              <a:t>• name: dm_customer_360</a:t>
            </a:r>
            <a:br/>
            <a:r>
              <a:t>• columns:</a:t>
            </a:r>
            <a:br/>
            <a:r>
              <a:t>• name: customer_id</a:t>
            </a:r>
            <a:br/>
            <a:r>
              <a:t>• tests:</a:t>
            </a:r>
            <a:br/>
            <a:r>
              <a:t>• unique</a:t>
            </a:r>
            <a:br/>
            <a:r>
              <a:t>• not_null</a:t>
            </a:r>
            <a:br/>
            <a:r>
              <a:t>• name: customer_tier</a:t>
            </a:r>
            <a:br/>
            <a:r>
              <a:t>• tests:</a:t>
            </a:r>
            <a:br/>
            <a:r>
              <a:t>• accepted_values:</a:t>
            </a:r>
            <a:br/>
            <a:r>
              <a:t>• values: ['platinum', 'gold', 'silver', 'bronze']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dbt Documentation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dbt docs generate</a:t>
            </a:r>
            <a:br/>
            <a:r>
              <a:t>• dbt docs serve --port 8080</a:t>
            </a:r>
            <a:br/>
            <a:r>
              <a:t>• Auto-generates from code</a:t>
            </a:r>
            <a:br/>
            <a:r>
              <a:t>• Shows lineage</a:t>
            </a:r>
            <a:br/>
            <a:r>
              <a:t>• Documents columns</a:t>
            </a:r>
            <a:br/>
            <a:r>
              <a:t>• Interactive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dbt Command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Performance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Materialized views for speed</a:t>
            </a:r>
            <a:br/>
            <a:r>
              <a:t>• Indexes on key columns</a:t>
            </a:r>
            <a:br/>
            <a:r>
              <a:t>• Partitioning by date</a:t>
            </a:r>
            <a:br/>
            <a:r>
              <a:t>• Query optimization</a:t>
            </a:r>
            <a:br/>
            <a:r>
              <a:t>• Caching strategies</a:t>
            </a:r>
            <a:br/>
            <a:r>
              <a:t>• Monitor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dbt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One model per file</a:t>
            </a:r>
            <a:br/>
            <a:r>
              <a:t>• 2. Use CTEs, not subqueries</a:t>
            </a:r>
            <a:br/>
            <a:r>
              <a:t>• 3. Consistent naming</a:t>
            </a:r>
            <a:br/>
            <a:r>
              <a:t>• 4. Test everything</a:t>
            </a:r>
            <a:br/>
            <a:r>
              <a:t>• 5. Document everything</a:t>
            </a:r>
            <a:br/>
            <a:r>
              <a:t>• 6. Use variables for business rules</a:t>
            </a:r>
            <a:br/>
            <a:r>
              <a:t>• 7. Version control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Common dbt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Missing references ({{ ref() }})</a:t>
            </a:r>
            <a:br/>
            <a:r>
              <a:t>• Wrong materialization</a:t>
            </a:r>
            <a:br/>
            <a:r>
              <a:t>• Forgetting to test</a:t>
            </a:r>
            <a:br/>
            <a:r>
              <a:t>• Not handling nulls</a:t>
            </a:r>
            <a:br/>
            <a:r>
              <a:t>• Hard-coding values</a:t>
            </a:r>
            <a:br/>
            <a:r>
              <a:t>• Inefficient 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Verification for dbt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dbt list --resource-type model  # List models</a:t>
            </a:r>
            <a:br/>
            <a:r>
              <a:t>• dbt run --models staging        # Run specific models</a:t>
            </a:r>
            <a:br/>
            <a:r>
              <a:t>• dbt test                        # Run all tests</a:t>
            </a:r>
            <a:br/>
            <a:r>
              <a:t>• docker-compose exec postgres psql -U analytics_user -d analytics -c "\dt analytics_dbt.*"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Part 3 - Dashboard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**Duration:** ~60 minutes</a:t>
            </a:r>
            <a:br/>
            <a:r>
              <a:t>• **Outcome:** Interactive Metabase dashboard</a:t>
            </a:r>
            <a:br/>
            <a:r>
              <a:t>• **Key Steps:**</a:t>
            </a:r>
            <a:br/>
            <a:r>
              <a:t>• 1. Set up Metabase</a:t>
            </a:r>
            <a:br/>
            <a:r>
              <a:t>• 2. Create questions (SQL)</a:t>
            </a:r>
            <a:br/>
            <a:r>
              <a:t>• 3. Build dashboard layout</a:t>
            </a:r>
            <a:br/>
            <a:r>
              <a:t>• 4. Configure visualizations</a:t>
            </a:r>
            <a:br/>
            <a:r>
              <a:t>• 5. Set up automated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Metabase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Access at http://localhost:3000</a:t>
            </a:r>
            <a:br/>
            <a:r>
              <a:t>• Create admin account</a:t>
            </a:r>
            <a:br/>
            <a:r>
              <a:t>• Connect to PostgreSQL</a:t>
            </a:r>
            <a:br/>
            <a:r>
              <a:t>• Host: postgres</a:t>
            </a:r>
            <a:br/>
            <a:r>
              <a:t>• Database: analytics</a:t>
            </a:r>
            <a:br/>
            <a:r>
              <a:t>• Username: analytics_user</a:t>
            </a:r>
            <a:br/>
            <a:r>
              <a:t>• Wait for sync</a:t>
            </a:r>
            <a:br/>
            <a:r>
              <a:t>• Start creating!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Metabase Question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Simple Query (GUI)</a:t>
            </a:r>
            <a:br/>
            <a:r>
              <a:t>• 2. Native Query (SQL)</a:t>
            </a:r>
            <a:br/>
            <a:r>
              <a:t>• 3. Custom Question</a:t>
            </a:r>
            <a:br/>
            <a:r>
              <a:t>• 4. Based on Existing Question</a:t>
            </a:r>
            <a:br/>
            <a:r>
              <a:t>• We'll use Native Query for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Key Dashboard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Monthly Revenue Trend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SELECT</a:t>
            </a:r>
            <a:br/>
            <a:r>
              <a:t>• sales_month,</a:t>
            </a:r>
            <a:br/>
            <a:r>
              <a:t>• total_revenue,</a:t>
            </a:r>
            <a:br/>
            <a:r>
              <a:t>• revenue_growth_percent</a:t>
            </a:r>
            <a:br/>
            <a:r>
              <a:t>• FROM analytics_dbt.dm_sales_summary</a:t>
            </a:r>
            <a:br/>
            <a:r>
              <a:t>• WHERE sales_month &gt;= CURRENT_DATE - INTERVAL '12 months'</a:t>
            </a:r>
            <a:br/>
            <a:r>
              <a:t>• ORDER BY sales_month;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Dashboard Layout - KPI 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┌────────────┐ ┌────────────┐ ┌────────────┐ ┌────────────┐</a:t>
            </a:r>
            <a:br/>
            <a:r>
              <a:t>• │ Total      │ │ Revenue    │ │ Avg Order  │ │ Customer   │</a:t>
            </a:r>
            <a:br/>
            <a:r>
              <a:t>• │ Revenue    │ │ Growth     │ │ Value      │ │ Health     │</a:t>
            </a:r>
            <a:br/>
            <a:r>
              <a:t>• │ $1.2M      │ │ ▲ 12.5%   │ │ $85.40    │ │ Score 78.2 │</a:t>
            </a:r>
            <a:br/>
            <a:r>
              <a:t>• └────────────┘ └────────────┘ └────────────┘ └────────────┘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Dashboard Layout - Trend 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┌────────────────────────────┐ ┌────────────────────────────┐</a:t>
            </a:r>
            <a:br/>
            <a:r>
              <a:t>• │ Monthly Revenue Trend       │ │ Customer Acquisition vs    │</a:t>
            </a:r>
            <a:br/>
            <a:r>
              <a:t>• │ (Line Chart)               │ │ Churn (Bar Chart)          │</a:t>
            </a:r>
            <a:br/>
            <a:r>
              <a:t>• └────────────────────────────┘ └────────────────────────────┘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Dashboard Layout - Detail 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┌────────────┐ ┌────────────┐ ┌────────────┐ ┌────────────┐</a:t>
            </a:r>
            <a:br/>
            <a:r>
              <a:t>• │ Top        │ │ Customer   │ │ Payment    │ │ Product    │</a:t>
            </a:r>
            <a:br/>
            <a:r>
              <a:t>• │ Products   │ │ Health     │ │ Methods    │ │ Inventory  │</a:t>
            </a:r>
            <a:br/>
            <a:r>
              <a:t>• └────────────┘ └────────────┘ └────────────┘ └────────────┘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Visualization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One message per chart</a:t>
            </a:r>
            <a:br/>
            <a:r>
              <a:t>• 2. Use color intentionally</a:t>
            </a:r>
            <a:br/>
            <a:r>
              <a:t>• 3. Label everything clearly</a:t>
            </a:r>
            <a:br/>
            <a:r>
              <a:t>• 4. Keep it simple</a:t>
            </a:r>
            <a:br/>
            <a:r>
              <a:t>• 5. Highlight key insights</a:t>
            </a:r>
            <a:br/>
            <a:r>
              <a:t>• 6. Consistent formatting</a:t>
            </a:r>
            <a:br/>
            <a:r>
              <a:t>• 7. Responsive to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Color Theory for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Green = Good (positive metrics)</a:t>
            </a:r>
            <a:br/>
            <a:r>
              <a:t>• Red = Bad (negative metrics)</a:t>
            </a:r>
            <a:br/>
            <a:r>
              <a:t>• Blue = Neutral (informational)</a:t>
            </a:r>
            <a:br/>
            <a:r>
              <a:t>• Orange = Warning (caution)</a:t>
            </a:r>
            <a:br/>
            <a:r>
              <a:t>• Consistent palette</a:t>
            </a:r>
            <a:br/>
            <a:r>
              <a:t>• Colorblind-friendly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Dashboard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Use materialized views</a:t>
            </a:r>
            <a:br/>
            <a:r>
              <a:t>• Add indexes</a:t>
            </a:r>
            <a:br/>
            <a:r>
              <a:t>• Limit data volume</a:t>
            </a:r>
            <a:br/>
            <a:r>
              <a:t>• Pre-aggregate when possible</a:t>
            </a:r>
            <a:br/>
            <a:r>
              <a:t>• Cache results</a:t>
            </a:r>
            <a:br/>
            <a:r>
              <a:t>• Monitor query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Automated Executive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Email reports (Pulses)</a:t>
            </a:r>
            <a:br/>
            <a:r>
              <a:t>• Schedule: Weekly/Monthly</a:t>
            </a:r>
            <a:br/>
            <a:r>
              <a:t>• Content: KPIs + top insights</a:t>
            </a:r>
            <a:br/>
            <a:r>
              <a:t>• Format: PDF or email body</a:t>
            </a:r>
            <a:br/>
            <a:r>
              <a:t>• Recipients: Executives</a:t>
            </a:r>
            <a:br/>
            <a:r>
              <a:t>• Action: Drive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Setting Up Email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Configure SMTP</a:t>
            </a:r>
            <a:br/>
            <a:r>
              <a:t>• 2. Create Pulse</a:t>
            </a:r>
            <a:br/>
            <a:r>
              <a:t>• 3. Schedule timing</a:t>
            </a:r>
            <a:br/>
            <a:r>
              <a:t>• 4. Select content</a:t>
            </a:r>
            <a:br/>
            <a:r>
              <a:t>• 5. Add recipients</a:t>
            </a:r>
            <a:br/>
            <a:r>
              <a:t>• 6. Customize message</a:t>
            </a:r>
            <a:br/>
            <a:r>
              <a:t>• 7. Save and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Metabase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User authentication</a:t>
            </a:r>
            <a:br/>
            <a:r>
              <a:t>• Role-based access</a:t>
            </a:r>
            <a:br/>
            <a:r>
              <a:t>• Data permissions</a:t>
            </a:r>
            <a:br/>
            <a:r>
              <a:t>• Dashboard permissions</a:t>
            </a:r>
            <a:br/>
            <a:r>
              <a:t>• SSO integration</a:t>
            </a:r>
            <a:br/>
            <a:r>
              <a:t>• Audit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Metabase User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Metabase Admin Settings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General Settings</a:t>
            </a:r>
            <a:br/>
            <a:r>
              <a:t>• 2. Authentication</a:t>
            </a:r>
            <a:br/>
            <a:r>
              <a:t>• 3. Email Configuration</a:t>
            </a:r>
            <a:br/>
            <a:r>
              <a:t>• 4. Caching Settings</a:t>
            </a:r>
            <a:br/>
            <a:r>
              <a:t>• 5. Public Sharing</a:t>
            </a:r>
            <a:br/>
            <a:r>
              <a:t>• 6. Data Model</a:t>
            </a:r>
            <a:br/>
            <a:r>
              <a:t>• 7. Metabot (AI)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Dashboard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Regular updates</a:t>
            </a:r>
            <a:br/>
            <a:r>
              <a:t>• Data freshness checks</a:t>
            </a:r>
            <a:br/>
            <a:r>
              <a:t>• Performance monitoring</a:t>
            </a:r>
            <a:br/>
            <a:r>
              <a:t>• User feedback integration</a:t>
            </a:r>
            <a:br/>
            <a:r>
              <a:t>• Iterative improvements</a:t>
            </a:r>
            <a:br/>
            <a:r>
              <a:t>•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Common Dashboard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Dashboard Delivery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[ ] All charts display correctly</a:t>
            </a:r>
            <a:br/>
            <a:r>
              <a:t>• [ ] Performance &lt; 3 seconds</a:t>
            </a:r>
            <a:br/>
            <a:r>
              <a:t>• [ ] Filters work properly</a:t>
            </a:r>
            <a:br/>
            <a:r>
              <a:t>• [ ] Drill-through enabled</a:t>
            </a:r>
            <a:br/>
            <a:r>
              <a:t>• [ ] Permissions set</a:t>
            </a:r>
            <a:br/>
            <a:r>
              <a:t>• [ ] Automated reports configured</a:t>
            </a:r>
            <a:br/>
            <a:r>
              <a:t>• [ ] Documentation complete</a:t>
            </a:r>
            <a:br/>
            <a:r>
              <a:t>• [ ] User testing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Module 6.1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✅ Production PostgreSQL database</a:t>
            </a:r>
            <a:br/>
            <a:r>
              <a:t>• ✅ Complete dbt semantic layer</a:t>
            </a:r>
            <a:br/>
            <a:r>
              <a:t>• ✅ Interactive Metabase dashboard</a:t>
            </a:r>
            <a:br/>
            <a:r>
              <a:t>• ✅ Automated executive reports</a:t>
            </a:r>
            <a:br/>
            <a:r>
              <a:t>• ✅ Performance optimization</a:t>
            </a:r>
            <a:br/>
            <a:r>
              <a:t>• ✅ User management</a:t>
            </a:r>
            <a:br/>
            <a:r>
              <a:t>• Key Takeaway:** Self-service BI is about empowering users with trusted, accessible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Arial"/>
              </a:rPr>
              <a:t>MODULE 6.2: ANALYTICS STORYTELLING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Slide 86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Module 6.2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**Title:** Analytics Storytelling &amp; Executive Communication</a:t>
            </a:r>
            <a:br/>
            <a:r>
              <a:t>• **Duration:** ~3 hours</a:t>
            </a:r>
            <a:br/>
            <a:r>
              <a:t>• **Outcome:** Executive-ready presentations</a:t>
            </a:r>
            <a:br/>
            <a:r>
              <a:t>• **Key Tools:** Markdown, Quarto, SCR Framework</a:t>
            </a:r>
            <a:br/>
            <a:r>
              <a:t>• **Skills:** Communication, Framing,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Data-to-Decision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90% of data never leads to action</a:t>
            </a:r>
            <a:br/>
            <a:r>
              <a:t>• Reports go unread</a:t>
            </a:r>
            <a:br/>
            <a:r>
              <a:t>• Insights don't drive decisions</a:t>
            </a:r>
            <a:br/>
            <a:r>
              <a:t>• Technical excellence ≠ Business impact</a:t>
            </a:r>
            <a:br/>
            <a:r>
              <a:t>• The gap is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Why Storytelling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Stories are memorable</a:t>
            </a:r>
            <a:br/>
            <a:r>
              <a:t>• Stories create emotion</a:t>
            </a:r>
            <a:br/>
            <a:r>
              <a:t>• Stories drive action</a:t>
            </a:r>
            <a:br/>
            <a:r>
              <a:t>• Stories bridge understanding</a:t>
            </a:r>
            <a:br/>
            <a:r>
              <a:t>• Data + Story =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SCR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**Situation:** Where are we now?</a:t>
            </a:r>
            <a:br/>
            <a:r>
              <a:t>• **Complication:** What's changed/problem?</a:t>
            </a:r>
            <a:br/>
            <a:r>
              <a:t>• **Resolution:** What should we do?</a:t>
            </a:r>
            <a:br/>
            <a:r>
              <a:t>• Situation → Complication → Resolution</a:t>
            </a:r>
            <a:br/>
            <a:r>
              <a:t>• (Baseline) → (Tension) → (Action)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Situation - The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Current state of the business</a:t>
            </a:r>
            <a:br/>
            <a:r>
              <a:t>• Key metrics and performance</a:t>
            </a:r>
            <a:br/>
            <a:r>
              <a:t>• Context and background</a:t>
            </a:r>
            <a:br/>
            <a:r>
              <a:t>• "Where we are" narrative</a:t>
            </a:r>
            <a:br/>
            <a:r>
              <a:t>• Example: "We have 4,258 customers and $1.2M monthly revenue"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Complication -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What's threatening success?</a:t>
            </a:r>
            <a:br/>
            <a:r>
              <a:t>• What's the opportunity?</a:t>
            </a:r>
            <a:br/>
            <a:r>
              <a:t>• The risk or potential</a:t>
            </a:r>
            <a:br/>
            <a:r>
              <a:t>• Creates tension</a:t>
            </a:r>
            <a:br/>
            <a:r>
              <a:t>• Example: "Churn rate is 52% above industry average, costing $1.8M annually"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Resolution - The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Clear recommendations</a:t>
            </a:r>
            <a:br/>
            <a:r>
              <a:t>• Expected outcomes</a:t>
            </a:r>
            <a:br/>
            <a:r>
              <a:t>• Investment required</a:t>
            </a:r>
            <a:br/>
            <a:r>
              <a:t>• Timeline and next steps</a:t>
            </a:r>
            <a:br/>
            <a:r>
              <a:t>• Example: "Implement a 4-pillar retention program with 3x ROI"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SCR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Situation:** Customer base is growing, but revenue is flat</a:t>
            </a:r>
            <a:br/>
            <a:r>
              <a:t>• Complication:** Churn rate has increased 30% year-over-year</a:t>
            </a:r>
            <a:br/>
            <a:r>
              <a:t>• Resolution:** Launch retention program focusing on high-risk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5-Minute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Executive should understand core message in 5 minutes</a:t>
            </a:r>
            <a:br/>
            <a:r>
              <a:t>• If they can't, you've failed</a:t>
            </a:r>
            <a:br/>
            <a:r>
              <a:t>• Lead with the conclusion</a:t>
            </a:r>
            <a:br/>
            <a:r>
              <a:t>• Data supports, not leads</a:t>
            </a:r>
            <a:br/>
            <a:r>
              <a:t>• Action is 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Storytelling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**Hook:** Grab attention (30 seconds)</a:t>
            </a:r>
            <a:br/>
            <a:r>
              <a:t>• 2. **Context:** Set the stage (1 minute)</a:t>
            </a:r>
            <a:br/>
            <a:r>
              <a:t>• 3. **Problem:** Explain the tension (2 minutes)</a:t>
            </a:r>
            <a:br/>
            <a:r>
              <a:t>• 4. **Solution:** Present recommendations (2 minutes)</a:t>
            </a:r>
            <a:br/>
            <a:r>
              <a:t>• 5. **Call to Action:** What you need (30 seconds)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Executive Personas - Why They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Different executives need different messages</a:t>
            </a:r>
            <a:br/>
            <a:r>
              <a:t>• One size doesn't fit all</a:t>
            </a:r>
            <a:br/>
            <a:r>
              <a:t>• Tailor your communication</a:t>
            </a:r>
            <a:br/>
            <a:r>
              <a:t>• Understand their goals</a:t>
            </a:r>
            <a:br/>
            <a:r>
              <a:t>• Address their concerns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Persona 1 - The Visionary CEO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**Role:** Chief Executive Officer</a:t>
            </a:r>
            <a:br/>
            <a:r>
              <a:t>• **Focus:** Long-term growth, market leadership</a:t>
            </a:r>
            <a:br/>
            <a:r>
              <a:t>• **Pain:** Too many details, not enough context</a:t>
            </a:r>
            <a:br/>
            <a:r>
              <a:t>• **Need:** Big picture, strategic impact</a:t>
            </a:r>
            <a:br/>
            <a:r>
              <a:t>• **Example:** "This could double our market share"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Persona 2 - The Operational CFO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**Role:** Chief Financial Officer</a:t>
            </a:r>
            <a:br/>
            <a:r>
              <a:t>• **Focus:** Cost efficiency, profitability</a:t>
            </a:r>
            <a:br/>
            <a:r>
              <a:t>• **Pain:** Vague recommendations, no ROI</a:t>
            </a:r>
            <a:br/>
            <a:r>
              <a:t>• **Need:** Financial impact, ROI numbers</a:t>
            </a:r>
            <a:br/>
            <a:r>
              <a:t>• **Example:** "This saves $2M annually with 3x ROI"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Persona 3 - The Customer-Focused CMO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**Role:** Chief Marketing Officer</a:t>
            </a:r>
            <a:br/>
            <a:r>
              <a:t>• **Focus:** Customer acquisition, retention</a:t>
            </a:r>
            <a:br/>
            <a:r>
              <a:t>• **Pain:** Not connecting to customer outcomes</a:t>
            </a:r>
            <a:br/>
            <a:r>
              <a:t>• **Need:** Customer insights, journey mapping</a:t>
            </a:r>
            <a:br/>
            <a:r>
              <a:t>• **Example:** "Customers in segment B are 3x more valuable"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Persona 4 - The Technical 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**Role:** Chief Technology Officer</a:t>
            </a:r>
            <a:br/>
            <a:r>
              <a:t>• **Focus:** Technical excellence, scalability</a:t>
            </a:r>
            <a:br/>
            <a:r>
              <a:t>• **Pain:** Not understanding business context</a:t>
            </a:r>
            <a:br/>
            <a:r>
              <a:t>• **Need:** Technical details + business impact</a:t>
            </a:r>
            <a:br/>
            <a:r>
              <a:t>• **Example:** "The model achieves 92% accuracy, enabling X"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Communication Principles for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Start with the bottom line</a:t>
            </a:r>
            <a:br/>
            <a:r>
              <a:t>• Use concrete numbers</a:t>
            </a:r>
            <a:br/>
            <a:r>
              <a:t>• Connect to business outcomes</a:t>
            </a:r>
            <a:br/>
            <a:r>
              <a:t>• Be specific about recommendations</a:t>
            </a:r>
            <a:br/>
            <a:r>
              <a:t>• Show clear action steps</a:t>
            </a:r>
            <a:br/>
            <a:r>
              <a:t>• DON'T:</a:t>
            </a:r>
            <a:br/>
            <a:r>
              <a:t>• Lead with methodology</a:t>
            </a:r>
            <a:br/>
            <a:r>
              <a:t>• Use jargon without explanation</a:t>
            </a:r>
            <a:br/>
            <a:r>
              <a:t>• Provide too many options</a:t>
            </a:r>
            <a:br/>
            <a:r>
              <a:t>• Hide uncertainty</a:t>
            </a:r>
            <a:br/>
            <a:r>
              <a:t>• Forget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Reading the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Gauge engagement</a:t>
            </a:r>
            <a:br/>
            <a:r>
              <a:t>• Watch for confusion</a:t>
            </a:r>
            <a:br/>
            <a:r>
              <a:t>• Identify key decision-makers</a:t>
            </a:r>
            <a:br/>
            <a:r>
              <a:t>• Notice who's asking questions</a:t>
            </a:r>
            <a:br/>
            <a:r>
              <a:t>• Adapt your pace</a:t>
            </a:r>
            <a:br/>
            <a:r>
              <a:t>• Be responsive, not rigid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Adapting Your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Power of Analogies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Bridge understanding gaps</a:t>
            </a:r>
            <a:br/>
            <a:r>
              <a:t>• Make complex simple</a:t>
            </a:r>
            <a:br/>
            <a:r>
              <a:t>• Create mental models</a:t>
            </a:r>
            <a:br/>
            <a:r>
              <a:t>• Increase retention</a:t>
            </a:r>
            <a:br/>
            <a:r>
              <a:t>• Examples:</a:t>
            </a:r>
            <a:br/>
            <a:r>
              <a:t>• "Data is like crude oil - refined, it becomes fuel"</a:t>
            </a:r>
            <a:br/>
            <a:r>
              <a:t>• "Our model is like a GPS for customer behavior"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Building 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Know your numbers</a:t>
            </a:r>
            <a:br/>
            <a:r>
              <a:t>• Have backup data</a:t>
            </a:r>
            <a:br/>
            <a:r>
              <a:t>• Address questions directly</a:t>
            </a:r>
            <a:br/>
            <a:r>
              <a:t>• Admit what you don't know</a:t>
            </a:r>
            <a:br/>
            <a:r>
              <a:t>• Be confident, not arrogant</a:t>
            </a:r>
            <a:br/>
            <a:r>
              <a:t>• Demonstrate expertise</a:t>
            </a:r>
            <a:br/>
            <a:r>
              <a:t>• Show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Why Translation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Statistics are technical language</a:t>
            </a:r>
            <a:br/>
            <a:r>
              <a:t>• Executives speak business</a:t>
            </a:r>
            <a:br/>
            <a:r>
              <a:t>• Your job is translator</a:t>
            </a:r>
            <a:br/>
            <a:r>
              <a:t>• Misunderstanding = Bad decisions</a:t>
            </a:r>
            <a:br/>
            <a:r>
              <a:t>• Clarity = Better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P-Value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Confidence Intervals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Model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Effect Size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Correlation vs Causation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Statistical Translation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Original: "The p-value for the A/B test is 0.03"</a:t>
            </a:r>
            <a:br/>
            <a:r>
              <a:t>• Translation: "We're 97% confident the new design improves conversions"</a:t>
            </a:r>
            <a:br/>
            <a:r>
              <a:t>• Original: "The model has an R-squared of 0.82"</a:t>
            </a:r>
            <a:br/>
            <a:r>
              <a:t>• Translation: "This model can predict 82% of what we're trying to forecast"</a:t>
            </a:r>
            <a:br/>
            <a:r>
              <a:t>• Original: "The confidence interval is [10.2, 12.8]"</a:t>
            </a:r>
            <a:br/>
            <a:r>
              <a:t>• Translation: "We're 95% sure the true value is between 10.2 and 12.8"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"So What"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Every statistic should answer: "So what?"</a:t>
            </a:r>
            <a:br/>
            <a:r>
              <a:t>• If it doesn't, rethink it</a:t>
            </a:r>
            <a:br/>
            <a:r>
              <a:t>• Business value &gt; Statistical significance</a:t>
            </a:r>
            <a:br/>
            <a:r>
              <a:t>• Practical relevance &gt; Technical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Translating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10/20/30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**10 Slides:** Maximum for 20-minute presentation</a:t>
            </a:r>
            <a:br/>
            <a:r>
              <a:t>• **20 Minutes:** Maximum attention span</a:t>
            </a:r>
            <a:br/>
            <a:r>
              <a:t>• **30-Point Font:** Minimum font size</a:t>
            </a:r>
            <a:br/>
            <a:r>
              <a:t>• Ensures clarity and brevity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Data-to-Ink 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Maximize information per inch</a:t>
            </a:r>
            <a:br/>
            <a:r>
              <a:t>• Remove clutter</a:t>
            </a:r>
            <a:br/>
            <a:r>
              <a:t>• Simplify charts</a:t>
            </a:r>
            <a:br/>
            <a:r>
              <a:t>• One key insight per visual</a:t>
            </a:r>
            <a:br/>
            <a:r>
              <a:t>• White space is your friend</a:t>
            </a:r>
            <a:br/>
            <a:r>
              <a:t>• Less is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Visual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**Headlines:** 1-2 sentences, summarize the insight</a:t>
            </a:r>
            <a:br/>
            <a:r>
              <a:t>• 2. **Visuals:** Support the headline</a:t>
            </a:r>
            <a:br/>
            <a:r>
              <a:t>• 3. **Annotations:** Clarify key points</a:t>
            </a:r>
            <a:br/>
            <a:r>
              <a:t>• 4. **Data:** Underlying numbers</a:t>
            </a:r>
            <a:br/>
            <a:r>
              <a:t>• 5. **Details:** Technical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5 Sentences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The problem we're solving</a:t>
            </a:r>
            <a:br/>
            <a:r>
              <a:t>• 2. What we found</a:t>
            </a:r>
            <a:br/>
            <a:r>
              <a:t>• 3. What it means</a:t>
            </a:r>
            <a:br/>
            <a:r>
              <a:t>• 4. What we recommend</a:t>
            </a:r>
            <a:br/>
            <a:r>
              <a:t>• 5. What we need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Executive Summary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The Situation (Where we are)</a:t>
            </a:r>
            <a:br/>
            <a:r>
              <a:t>• 2. The Complication (What changed)</a:t>
            </a:r>
            <a:br/>
            <a:r>
              <a:t>• 3. The Resolution (What to do)</a:t>
            </a:r>
            <a:br/>
            <a:r>
              <a:t>• 4. The Impact (How it helps)</a:t>
            </a:r>
            <a:br/>
            <a:r>
              <a:t>• 5. The Ask (What we need)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Example - Bad vs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Bad:**</a:t>
            </a:r>
            <a:br/>
            <a:r>
              <a:t>• "We conducted a regression analysis with a p-value of 0.023..."</a:t>
            </a:r>
            <a:br/>
            <a:r>
              <a:t>• Good:**</a:t>
            </a:r>
            <a:br/>
            <a:r>
              <a:t>• "We're 97% confident this change will increase revenue by $500K"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What Is an Executive Summary?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NOT a summary of your analysis</a:t>
            </a:r>
            <a:br/>
            <a:r>
              <a:t>• A strategic document that drives decisions</a:t>
            </a:r>
            <a:br/>
            <a:r>
              <a:t>• Bottom line first</a:t>
            </a:r>
            <a:br/>
            <a:r>
              <a:t>• Clear recommendations</a:t>
            </a:r>
            <a:br/>
            <a:r>
              <a:t>• Action-oriented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Executive Summary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[Current state, baseline metrics]</a:t>
            </a:r>
            <a:br/>
            <a:r>
              <a:t>• [Problem, opportunity, risk]</a:t>
            </a:r>
            <a:br/>
            <a:r>
              <a:t>• [Recommendations, expected impact]</a:t>
            </a:r>
            <a:br/>
            <a:r>
              <a:t>• [Timeline, resources, milestones]</a:t>
            </a:r>
            <a:br/>
            <a:r>
              <a:t>• [Approval, budget, resources]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Executive Summary - Situation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What's the business context?</a:t>
            </a:r>
            <a:br/>
            <a:r>
              <a:t>• What are the relevant metrics?</a:t>
            </a:r>
            <a:br/>
            <a:r>
              <a:t>• What's the current performance?</a:t>
            </a:r>
            <a:br/>
            <a:r>
              <a:t>• Use a table for key numbers</a:t>
            </a:r>
            <a:br/>
            <a:r>
              <a:t>• 2-3 sentences maximum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Executive Summary - Complication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What's the problem?</a:t>
            </a:r>
            <a:br/>
            <a:r>
              <a:t>• Why is it urgent?</a:t>
            </a:r>
            <a:br/>
            <a:r>
              <a:t>• What's the impact?</a:t>
            </a:r>
            <a:br/>
            <a:r>
              <a:t>• Quantify the cost of inaction</a:t>
            </a:r>
            <a:br/>
            <a:r>
              <a:t>• Example: "Churn costs us $1.8M annually"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Executive Summary - Resolution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What should we do?</a:t>
            </a:r>
            <a:br/>
            <a:r>
              <a:t>• Why this approach?</a:t>
            </a:r>
            <a:br/>
            <a:r>
              <a:t>• What's the expected impact?</a:t>
            </a:r>
            <a:br/>
            <a:r>
              <a:t>• What's the ROI?</a:t>
            </a:r>
            <a:br/>
            <a:r>
              <a:t>• Be decisive - recommend ONE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Executive Summary - Implementation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What's the timeline?</a:t>
            </a:r>
            <a:br/>
            <a:r>
              <a:t>• What resources are needed?</a:t>
            </a:r>
            <a:br/>
            <a:r>
              <a:t>• What are the key milestones?</a:t>
            </a:r>
            <a:br/>
            <a:r>
              <a:t>• How will we measure success?</a:t>
            </a:r>
            <a:br/>
            <a:r>
              <a:t>• Who's responsible for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Executive Summary - Decision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What decision is needed?</a:t>
            </a:r>
            <a:br/>
            <a:r>
              <a:t>• What's the deadline?</a:t>
            </a:r>
            <a:br/>
            <a:r>
              <a:t>• What happens if we wait?</a:t>
            </a:r>
            <a:br/>
            <a:r>
              <a:t>• Clear call to action</a:t>
            </a:r>
            <a:br/>
            <a:r>
              <a:t>• Request specific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Sample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We have 4,258 active customers and $1.2M monthly revenue.</a:t>
            </a:r>
            <a:br/>
            <a:r>
              <a:t>• Customer growth is slowing, and retention is below industry standards.</a:t>
            </a:r>
            <a:br/>
            <a:r>
              <a:t>• Monthly churn rate is 3.2% (52% above industry average).</a:t>
            </a:r>
            <a:br/>
            <a:r>
              <a:t>• This costs us $1.8M in annual revenue.</a:t>
            </a:r>
            <a:br/>
            <a:r>
              <a:t>• Key drivers: poor onboarding, engagement drop-off, support issues.</a:t>
            </a:r>
            <a:br/>
            <a:r>
              <a:t>• Launch a 4-pillar retention program:</a:t>
            </a:r>
            <a:br/>
            <a:r>
              <a:t>• 1. Health Scoring (predictive ML)</a:t>
            </a:r>
            <a:br/>
            <a:r>
              <a:t>• 2. Early Retention (onboarding)</a:t>
            </a:r>
            <a:br/>
            <a:r>
              <a:t>• 3. Support Optimization (proactive)</a:t>
            </a:r>
            <a:br/>
            <a:r>
              <a:t>• 4. Pricing Strategy (tiered plans)</a:t>
            </a:r>
            <a:br/>
            <a:r>
              <a:t>• Expected impact: Reduce churn to 2.1%, save $1.35M annually.</a:t>
            </a:r>
            <a:br/>
            <a:r>
              <a:t>• Investment: $450K, ROI: 3x, Payback: 4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Executive Summary Do's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✓ Start with the bottom line</a:t>
            </a:r>
            <a:br/>
            <a:r>
              <a:t>• ✓ Use concrete numbers</a:t>
            </a:r>
            <a:br/>
            <a:r>
              <a:t>• ✓ Be specific and clear</a:t>
            </a:r>
            <a:br/>
            <a:r>
              <a:t>• ✓ Show the business impact</a:t>
            </a:r>
            <a:br/>
            <a:r>
              <a:t>• ✓ Request a specific decision</a:t>
            </a:r>
            <a:br/>
            <a:r>
              <a:t>• ✓ Include next steps</a:t>
            </a:r>
            <a:br/>
            <a:r>
              <a:t>• ✓ Use a professional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Executive Summary Don'ts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✗ Bury the conclusion</a:t>
            </a:r>
            <a:br/>
            <a:r>
              <a:t>• ✗ Use technical jargon</a:t>
            </a:r>
            <a:br/>
            <a:r>
              <a:t>• ✗ Provide too many options</a:t>
            </a:r>
            <a:br/>
            <a:r>
              <a:t>• ✗ Hide the investment needed</a:t>
            </a:r>
            <a:br/>
            <a:r>
              <a:t>• ✗ Forget to ask for something</a:t>
            </a:r>
            <a:br/>
            <a:r>
              <a:t>• ✗ Make it longer than 2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One-Page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If you can't fit it on one page, it's too long</a:t>
            </a:r>
            <a:br/>
            <a:r>
              <a:t>• Executives are busy people</a:t>
            </a:r>
            <a:br/>
            <a:r>
              <a:t>• Force yourself to prioritize</a:t>
            </a:r>
            <a:br/>
            <a:r>
              <a:t>• Everything else goes in the appendix</a:t>
            </a:r>
            <a:br/>
            <a:r>
              <a:t>• Perfect for executive briefings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Executive Summary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[ ] One page or less</a:t>
            </a:r>
            <a:br/>
            <a:r>
              <a:t>• [ ] Bottom line first</a:t>
            </a:r>
            <a:br/>
            <a:r>
              <a:t>• [ ] Clear problem statement</a:t>
            </a:r>
            <a:br/>
            <a:r>
              <a:t>• [ ] Concrete recommendations</a:t>
            </a:r>
            <a:br/>
            <a:r>
              <a:t>• [ ] Financial impact quantified</a:t>
            </a:r>
            <a:br/>
            <a:r>
              <a:t>• [ ] Clear decision needed</a:t>
            </a:r>
            <a:br/>
            <a:r>
              <a:t>• [ ] Next steps specified</a:t>
            </a:r>
            <a:br/>
            <a:r>
              <a:t>• [ ] Professional formatting</a:t>
            </a:r>
            <a:br/>
            <a:r>
              <a:t>• [ ] Free of technical jargon</a:t>
            </a:r>
            <a:br/>
            <a:r>
              <a:t>• [ ] Urgency communicated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Delivery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PDF (formal, archival)</a:t>
            </a:r>
            <a:br/>
            <a:r>
              <a:t>• 2. Email (quick updates)</a:t>
            </a:r>
            <a:br/>
            <a:r>
              <a:t>• 3. Presentation (meetings)</a:t>
            </a:r>
            <a:br/>
            <a:r>
              <a:t>• 4. Dashboard (ongoing monitoring)</a:t>
            </a:r>
            <a:br/>
            <a:r>
              <a:t>• 5. One-pager (executive briefs)</a:t>
            </a:r>
            <a:br/>
            <a:r>
              <a:t>• 6. Full report (deep dives)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Sample Executive Summary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Formal: PDF, letterhead</a:t>
            </a:r>
            <a:br/>
            <a:r>
              <a:t>• Casual: Email brief</a:t>
            </a:r>
            <a:br/>
            <a:r>
              <a:t>• Hybrid: Dashboard + commentary</a:t>
            </a:r>
            <a:br/>
            <a:r>
              <a:t>• Update: Quick bullet points</a:t>
            </a:r>
            <a:br/>
            <a:r>
              <a:t>• Decision: One-pager with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Executive Summary Review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Write the summary</a:t>
            </a:r>
            <a:br/>
            <a:r>
              <a:t>• 2. Review for clarity</a:t>
            </a:r>
            <a:br/>
            <a:r>
              <a:t>• 3. Verify the numbers</a:t>
            </a:r>
            <a:br/>
            <a:r>
              <a:t>• 4. Check the logic</a:t>
            </a:r>
            <a:br/>
            <a:r>
              <a:t>• 5. Get peer review</a:t>
            </a:r>
            <a:br/>
            <a:r>
              <a:t>• 6. Revise and polish</a:t>
            </a:r>
            <a:br/>
            <a:r>
              <a:t>• 7. Final executive review</a:t>
            </a:r>
            <a:br/>
            <a:r>
              <a:t>• 8.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Presentation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One idea per slide</a:t>
            </a:r>
            <a:br/>
            <a:r>
              <a:t>• 2. Less text, more visuals</a:t>
            </a:r>
            <a:br/>
            <a:r>
              <a:t>• 3. Clear hierarchy</a:t>
            </a:r>
            <a:br/>
            <a:r>
              <a:t>• 4. Consistent branding</a:t>
            </a:r>
            <a:br/>
            <a:r>
              <a:t>• 5. Professional look</a:t>
            </a:r>
            <a:br/>
            <a:r>
              <a:t>• 6. Easy to follow</a:t>
            </a:r>
            <a:br/>
            <a:r>
              <a:t>• 7. Action-oriented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Story 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Opening (2 min)</a:t>
            </a:r>
            <a:br/>
            <a:r>
              <a:t>• Situation (5 min)</a:t>
            </a:r>
            <a:br/>
            <a:r>
              <a:t>• Complication (5 min)</a:t>
            </a:r>
            <a:br/>
            <a:r>
              <a:t>• Resolution (5 min)</a:t>
            </a:r>
            <a:br/>
            <a:r>
              <a:t>• Call to Action (3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Slide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┌─────────────────────────────┐</a:t>
            </a:r>
            <a:br/>
            <a:r>
              <a:t>• │ Headline (Key Insight)      │</a:t>
            </a:r>
            <a:br/>
            <a:r>
              <a:t>• ├─────────────────────────────┤</a:t>
            </a:r>
            <a:br/>
            <a:r>
              <a:t>• │                             │</a:t>
            </a:r>
            <a:br/>
            <a:r>
              <a:t>• │    Visual / Data            │</a:t>
            </a:r>
            <a:br/>
            <a:r>
              <a:t>• │                             │</a:t>
            </a:r>
            <a:br/>
            <a:r>
              <a:t>• ├─────────────────────────────┤</a:t>
            </a:r>
            <a:br/>
            <a:r>
              <a:t>• │ Annotation / Takeaway       │</a:t>
            </a:r>
            <a:br/>
            <a:r>
              <a:t>• └─────────────────────────────┘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Types of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Chart Selection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Slide Design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Use 30+ point font</a:t>
            </a:r>
            <a:br/>
            <a:r>
              <a:t>• 2. Dark text on light background</a:t>
            </a:r>
            <a:br/>
            <a:r>
              <a:t>• 3. Consistent color scheme</a:t>
            </a:r>
            <a:br/>
            <a:r>
              <a:t>• 4. High-contrast visuals</a:t>
            </a:r>
            <a:br/>
            <a:r>
              <a:t>• 5. Minimal text</a:t>
            </a:r>
            <a:br/>
            <a:r>
              <a:t>• 6. Clear labels</a:t>
            </a:r>
            <a:br/>
            <a:r>
              <a:t>• 7. Professional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Elevator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30-second version of your story</a:t>
            </a:r>
            <a:br/>
            <a:r>
              <a:t>• Situation + Complication + Resolution</a:t>
            </a:r>
            <a:br/>
            <a:r>
              <a:t>• Concise and compelling</a:t>
            </a:r>
            <a:br/>
            <a:r>
              <a:t>• Practice until it's natural</a:t>
            </a:r>
            <a:br/>
            <a:r>
              <a:t>• Ready for any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Presentation Delivery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Know your material</a:t>
            </a:r>
            <a:br/>
            <a:r>
              <a:t>• 2. Speak to the audience, not the screen</a:t>
            </a:r>
            <a:br/>
            <a:r>
              <a:t>• 3. Make eye contact</a:t>
            </a:r>
            <a:br/>
            <a:r>
              <a:t>• 4. Use hand gestures</a:t>
            </a:r>
            <a:br/>
            <a:r>
              <a:t>• 5. Pause for questions</a:t>
            </a:r>
            <a:br/>
            <a:r>
              <a:t>• 6. Be passionate</a:t>
            </a:r>
            <a:br/>
            <a:r>
              <a:t>• 7. Practice, practice,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Handling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Listen fully</a:t>
            </a:r>
            <a:br/>
            <a:r>
              <a:t>• 2. Clarify if needed</a:t>
            </a:r>
            <a:br/>
            <a:r>
              <a:t>• 3. Answer concisely</a:t>
            </a:r>
            <a:br/>
            <a:r>
              <a:t>• 4. Don't interrupt</a:t>
            </a:r>
            <a:br/>
            <a:r>
              <a:t>• 5. If you don't know, say so</a:t>
            </a:r>
            <a:br/>
            <a:r>
              <a:t>• 6. Bridge back to your message</a:t>
            </a:r>
            <a:br/>
            <a:r>
              <a:t>• 7. End on a strong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Module 6.2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✅ SCR framework mastered</a:t>
            </a:r>
            <a:br/>
            <a:r>
              <a:t>• ✅ Executive personas understood</a:t>
            </a:r>
            <a:br/>
            <a:r>
              <a:t>• ✅ Statistical translation skills</a:t>
            </a:r>
            <a:br/>
            <a:r>
              <a:t>• ✅ Executive summary templates</a:t>
            </a:r>
            <a:br/>
            <a:r>
              <a:t>• ✅ Presentation design principles</a:t>
            </a:r>
            <a:br/>
            <a:r>
              <a:t>• ✅ Delivery skills developed</a:t>
            </a:r>
            <a:br/>
            <a:r>
              <a:t>• Key Takeaway:** Data insights are only valuable if they drive decisions. Communication bridges the gap.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Arial"/>
              </a:rPr>
              <a:t>MODULE 6.3: ETHICS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Slide 146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Module 6.3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**Title:** Data Ethics, Explainability &amp; Governance</a:t>
            </a:r>
            <a:br/>
            <a:r>
              <a:t>• **Duration:** ~4 hours</a:t>
            </a:r>
            <a:br/>
            <a:r>
              <a:t>• **Outcome:** Ethical, explainable, compliant AI</a:t>
            </a:r>
            <a:br/>
            <a:r>
              <a:t>• **Key Tools:** Fairlearn, SHAP, LIME, AIF360</a:t>
            </a:r>
            <a:br/>
            <a:r>
              <a:t>• **Skills:** Fairness, Interpretability,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Why Ethics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AI makes decisions affecting people's lives</a:t>
            </a:r>
            <a:br/>
            <a:r>
              <a:t>• Bias is real and harmful</a:t>
            </a:r>
            <a:br/>
            <a:r>
              <a:t>• Regulations are increasing</a:t>
            </a:r>
            <a:br/>
            <a:r>
              <a:t>• Reputation is at stake</a:t>
            </a:r>
            <a:br/>
            <a:r>
              <a:t>• Good ethics = Good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Ethics Paradox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"Our model is accurate" ≠ "Our model is fair"</a:t>
            </a:r>
            <a:br/>
            <a:r>
              <a:t>• Technical excellence ≠ Ethical responsibility</a:t>
            </a:r>
            <a:br/>
            <a:r>
              <a:t>• We must consider both</a:t>
            </a:r>
            <a:br/>
            <a:r>
              <a:t>• Silent bias is still bias</a:t>
            </a:r>
            <a:br/>
            <a:r>
              <a:t>• Ignorance is not an excuse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Key Ethical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Real-World AI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Amazon's recruitment AI (gender bias)</a:t>
            </a:r>
            <a:br/>
            <a:r>
              <a:t>• COMPAS recidivism (racial bias)</a:t>
            </a:r>
            <a:br/>
            <a:r>
              <a:t>• Google's photo labeling (racial bias)</a:t>
            </a:r>
            <a:br/>
            <a:r>
              <a:t>• Apple Card credit limits (gender bias)</a:t>
            </a:r>
            <a:br/>
            <a:r>
              <a:t>• Each caused reputational damage</a:t>
            </a:r>
            <a:br/>
            <a:r>
              <a:t>• Each could have been prevented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Business Case for Fairness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**Regulatory:** Fines (GDPR up to 4% of revenue)</a:t>
            </a:r>
            <a:br/>
            <a:r>
              <a:t>• 2. **Reputational:** Customer trust</a:t>
            </a:r>
            <a:br/>
            <a:r>
              <a:t>• 3. **Financial:** Better decisions</a:t>
            </a:r>
            <a:br/>
            <a:r>
              <a:t>• 4. **Social:** Doing the right thing</a:t>
            </a:r>
            <a:br/>
            <a:r>
              <a:t>• 5. **Competitive:**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Regulatory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Key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**Fairlearn:** Fairness metrics and mitigation</a:t>
            </a:r>
            <a:br/>
            <a:r>
              <a:t>• **SHAP/LIME:** Model explainability</a:t>
            </a:r>
            <a:br/>
            <a:r>
              <a:t>• **AIF360:** Bias detection</a:t>
            </a:r>
            <a:br/>
            <a:r>
              <a:t>• **GDPR/CCPA:** Compliance</a:t>
            </a:r>
            <a:br/>
            <a:r>
              <a:t>• **Model Cards:**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Fairness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Fairness Spectrum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Group Fairness ←→ Individual Fairness</a:t>
            </a:r>
            <a:br/>
            <a:r>
              <a:t>• (Statistical)     (Case-by-case)</a:t>
            </a:r>
            <a:br/>
            <a:r>
              <a:t>• ↓                    ↓</a:t>
            </a:r>
            <a:br/>
            <a:r>
              <a:t>• Demographic     Similar individuals</a:t>
            </a:r>
            <a:br/>
            <a:r>
              <a:t>• Parity        Similar outcomes</a:t>
            </a:r>
            <a:br/>
            <a:r>
              <a:t>• ↓                    ↓</a:t>
            </a:r>
            <a:br/>
            <a:r>
              <a:t>• Equal          Comparable</a:t>
            </a:r>
            <a:br/>
            <a:r>
              <a:t>• Opportunity   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Fairness Analysis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**Goal:** Detect and mitigate bias</a:t>
            </a:r>
            <a:br/>
            <a:r>
              <a:t>• **Process:**</a:t>
            </a:r>
            <a:br/>
            <a:r>
              <a:t>• 1. Identify protected attributes</a:t>
            </a:r>
            <a:br/>
            <a:r>
              <a:t>• 2. Analyze disparities</a:t>
            </a:r>
            <a:br/>
            <a:r>
              <a:t>• 3. Apply mitigation</a:t>
            </a:r>
            <a:br/>
            <a:r>
              <a:t>• 4. Validate fairness</a:t>
            </a:r>
            <a:br/>
            <a:r>
              <a:t>• 5. Monitor ongoing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Protected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Race</a:t>
            </a:r>
            <a:br/>
            <a:r>
              <a:t>• Gender</a:t>
            </a:r>
            <a:br/>
            <a:r>
              <a:t>• Age</a:t>
            </a:r>
            <a:br/>
            <a:r>
              <a:t>• Disability</a:t>
            </a:r>
            <a:br/>
            <a:r>
              <a:t>• Religion</a:t>
            </a:r>
            <a:br/>
            <a:r>
              <a:t>• Sexual orientation</a:t>
            </a:r>
            <a:br/>
            <a:r>
              <a:t>• National origin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Step 1 - Identify Protected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What groups are in your data?</a:t>
            </a:r>
            <a:br/>
            <a:r>
              <a:t>• What groups might be affected?</a:t>
            </a:r>
            <a:br/>
            <a:r>
              <a:t>• What data is available?</a:t>
            </a:r>
            <a:br/>
            <a:r>
              <a:t>• What proxies exist?</a:t>
            </a:r>
            <a:br/>
            <a:r>
              <a:t>• Examples: is_verified, age_group, customer_tier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Step 2 - Calculate Fairness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from fairlearn.metrics import (</a:t>
            </a:r>
            <a:br/>
            <a:r>
              <a:t>• demographic_parity_difference,</a:t>
            </a:r>
            <a:br/>
            <a:r>
              <a:t>• equalized_odds_difference</a:t>
            </a:r>
            <a:br/>
            <a:r>
              <a:t>• dp_diff = demographic_parity_difference(</a:t>
            </a:r>
            <a:br/>
            <a:r>
              <a:t>• y_true, y_pred, sensitive_features=groups</a:t>
            </a:r>
            <a:br/>
            <a:r>
              <a:t>• eo_diff = equalized_odds_difference(</a:t>
            </a:r>
            <a:br/>
            <a:r>
              <a:t>• y_true, y_pred, sensitive_features=groups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Step 3 - Interpret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Demographic Parity: &lt; 0.10 = acceptable</a:t>
            </a:r>
            <a:br/>
            <a:r>
              <a:t>• Equalized Odds: &lt; 0.10 = acceptable</a:t>
            </a:r>
            <a:br/>
            <a:r>
              <a:t>• Disparate Impact: &lt; 0.20 = acceptable</a:t>
            </a:r>
            <a:br/>
            <a:r>
              <a:t>• Larger values = more bias</a:t>
            </a:r>
            <a:br/>
            <a:r>
              <a:t>• Visualize to understand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Group 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┌─────────────────────────────────────────────┐</a:t>
            </a:r>
            <a:br/>
            <a:r>
              <a:t>• │ Group    │ N    │ Accuracy │ Selection Rate │</a:t>
            </a:r>
            <a:br/>
            <a:r>
              <a:t>• ├──────────┼──────┼──────────┼────────────────┤</a:t>
            </a:r>
            <a:br/>
            <a:r>
              <a:t>• │ Verified │ 3,200│ 0.86     │ 0.22           │</a:t>
            </a:r>
            <a:br/>
            <a:r>
              <a:t>• │ Unverify │ 1,058│ 0.82     │ 0.26           │</a:t>
            </a:r>
            <a:br/>
            <a:r>
              <a:t>• │ Age 18-25│ 520  │ 0.84     │ 0.24           │</a:t>
            </a:r>
            <a:br/>
            <a:r>
              <a:t>• │ Age 26-35│ 1,800│ 0.85     │ 0.23           │</a:t>
            </a:r>
            <a:br/>
            <a:r>
              <a:t>• └─────────────────────────────────────────────┘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Bias Mitigation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Pre-processing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**Reweighting:** Assign weights to balance groups</a:t>
            </a:r>
            <a:br/>
            <a:r>
              <a:t>• **Resampling:** Balance group sizes</a:t>
            </a:r>
            <a:br/>
            <a:r>
              <a:t>• **Data Transformation:** Remove bias from features</a:t>
            </a:r>
            <a:br/>
            <a:r>
              <a:t>• **Cost-sensitive:** Adjust for fairness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In-processing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Add fairness constraints to loss function</a:t>
            </a:r>
            <a:br/>
            <a:r>
              <a:t>• Adversarial debiasing</a:t>
            </a:r>
            <a:br/>
            <a:r>
              <a:t>• Fairness-aware algorithms</a:t>
            </a:r>
            <a:br/>
            <a:r>
              <a:t>• Fairlearn's reductions</a:t>
            </a:r>
            <a:br/>
            <a:r>
              <a:t>• Example: ExponentiatedGradient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Post-processing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Adjust prediction thresholds</a:t>
            </a:r>
            <a:br/>
            <a:r>
              <a:t>• Equalized odds post-processing</a:t>
            </a:r>
            <a:br/>
            <a:r>
              <a:t>• Calibration</a:t>
            </a:r>
            <a:br/>
            <a:r>
              <a:t>• Threshold optimization</a:t>
            </a:r>
            <a:br/>
            <a:r>
              <a:t>• Example: ThresholdOptimizer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Fairlearn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from fairlearn.reductions import ExponentiatedGradient</a:t>
            </a:r>
            <a:br/>
            <a:r>
              <a:t>• from fairlearn.postprocessing import ThresholdOptimizer</a:t>
            </a:r>
            <a:br/>
            <a:r>
              <a:t>• mitigator = ExponentiatedGradient(</a:t>
            </a:r>
            <a:br/>
            <a:r>
              <a:t>• estimator=model,</a:t>
            </a:r>
            <a:br/>
            <a:r>
              <a:t>• constraints=DemographicParity(),</a:t>
            </a:r>
            <a:br/>
            <a:r>
              <a:t>• eps=0.01</a:t>
            </a:r>
            <a:br/>
            <a:r>
              <a:t>• mitigator.fit(X_train, y_train)</a:t>
            </a:r>
            <a:br/>
            <a:r>
              <a:t>• optimizer = ThresholdOptimizer(</a:t>
            </a:r>
            <a:br/>
            <a:r>
              <a:t>• estimator=model,</a:t>
            </a:r>
            <a:br/>
            <a:r>
              <a:t>• constraints='equalized_odds',</a:t>
            </a:r>
            <a:br/>
            <a:r>
              <a:t>• prefit=True</a:t>
            </a:r>
            <a:br/>
            <a:r>
              <a:t>• optimizer.fit(X_train, y_train)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Validation After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Recalculate fairness metrics</a:t>
            </a:r>
            <a:br/>
            <a:r>
              <a:t>• Compare before/after</a:t>
            </a:r>
            <a:br/>
            <a:r>
              <a:t>• Check performance change</a:t>
            </a:r>
            <a:br/>
            <a:r>
              <a:t>• Document trade-offs</a:t>
            </a:r>
            <a:br/>
            <a:r>
              <a:t>• Validate with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Fairness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Fairness metrics summary</a:t>
            </a:r>
            <a:br/>
            <a:r>
              <a:t>• Group comparison tables</a:t>
            </a:r>
            <a:br/>
            <a:r>
              <a:t>• Visualizations</a:t>
            </a:r>
            <a:br/>
            <a:r>
              <a:t>• Mitigation actions taken</a:t>
            </a:r>
            <a:br/>
            <a:r>
              <a:t>• Monitoring plan</a:t>
            </a:r>
            <a:br/>
            <a:r>
              <a:t>•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Ongoing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Regular fairness audits</a:t>
            </a:r>
            <a:br/>
            <a:r>
              <a:t>• Performance drift detection</a:t>
            </a:r>
            <a:br/>
            <a:r>
              <a:t>• Data drift detection</a:t>
            </a:r>
            <a:br/>
            <a:r>
              <a:t>• New protected attributes</a:t>
            </a:r>
            <a:br/>
            <a:r>
              <a:t>• Updated regulations</a:t>
            </a:r>
            <a:br/>
            <a:r>
              <a:t>• Continuous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Fairness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┌─────────────────────────────────────────────┐</a:t>
            </a:r>
            <a:br/>
            <a:r>
              <a:t>• │ FAIRNESS DASHBOARD                          │</a:t>
            </a:r>
            <a:br/>
            <a:r>
              <a:t>• ├─────────────────────────────────────────────┤</a:t>
            </a:r>
            <a:br/>
            <a:r>
              <a:t>• │ Metric                 Value  Threshold     │</a:t>
            </a:r>
            <a:br/>
            <a:r>
              <a:t>• │ Demographic Parity     0.08   &lt; 0.10 ✅    │</a:t>
            </a:r>
            <a:br/>
            <a:r>
              <a:t>• │ Equalized Odds         0.07   &lt; 0.10 ✅    │</a:t>
            </a:r>
            <a:br/>
            <a:r>
              <a:t>• │ Disparate Impact       0.12   &lt; 0.20 ✅    │</a:t>
            </a:r>
            <a:br/>
            <a:r>
              <a:t>• ├─────────────────────────────────────────────┤</a:t>
            </a:r>
            <a:br/>
            <a:r>
              <a:t>• │ Group Comparison                            │</a:t>
            </a:r>
            <a:br/>
            <a:r>
              <a:t>• │ Verified: 0.86  |  Unverified: 0.82        │</a:t>
            </a:r>
            <a:br/>
            <a:r>
              <a:t>• ├─────────────────────────────────────────────┤</a:t>
            </a:r>
            <a:br/>
            <a:r>
              <a:t>• │ Alert: None - All metrics within bounds    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Why Explainability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Build trust in models</a:t>
            </a:r>
            <a:br/>
            <a:r>
              <a:t>• Debug and improve models</a:t>
            </a:r>
            <a:br/>
            <a:r>
              <a:t>• Comply with regulations</a:t>
            </a:r>
            <a:br/>
            <a:r>
              <a:t>• Understand business logic</a:t>
            </a:r>
            <a:br/>
            <a:r>
              <a:t>• Explain decisions to users</a:t>
            </a:r>
            <a:br/>
            <a:r>
              <a:t>• Identify and fix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Types of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SHAP - SHapley Additive exPlanations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Based on game theory</a:t>
            </a:r>
            <a:br/>
            <a:r>
              <a:t>• Consistent explanations</a:t>
            </a:r>
            <a:br/>
            <a:r>
              <a:t>• Both global and local</a:t>
            </a:r>
            <a:br/>
            <a:r>
              <a:t>• Model-agnostic</a:t>
            </a:r>
            <a:br/>
            <a:r>
              <a:t>• Visual and intuitive</a:t>
            </a:r>
            <a:br/>
            <a:r>
              <a:t>• Industry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How SHAP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Simulate feature absence</a:t>
            </a:r>
            <a:br/>
            <a:r>
              <a:t>• 2. Measure prediction difference</a:t>
            </a:r>
            <a:br/>
            <a:r>
              <a:t>• 3. Average across all combinations</a:t>
            </a:r>
            <a:br/>
            <a:r>
              <a:t>• 4. Fair distribution of credit</a:t>
            </a:r>
            <a:br/>
            <a:r>
              <a:t>• 5. Positive SHAP = increases prediction</a:t>
            </a:r>
            <a:br/>
            <a:r>
              <a:t>• 6. Negative SHAP = decreases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SHAP Summary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Feature Importance</a:t>
            </a:r>
            <a:br/>
            <a:r>
              <a:t>• ┌──────────────────────────────────────┐</a:t>
            </a:r>
            <a:br/>
            <a:r>
              <a:t>• │ Feature 1    ████████████████        │</a:t>
            </a:r>
            <a:br/>
            <a:r>
              <a:t>• │ Feature 2    ████████████            │</a:t>
            </a:r>
            <a:br/>
            <a:r>
              <a:t>• │ Feature 3    ██████████              │</a:t>
            </a:r>
            <a:br/>
            <a:r>
              <a:t>• │ Feature 4    ████████                │</a:t>
            </a:r>
            <a:br/>
            <a:r>
              <a:t>• │ Feature 5    ██████                  │</a:t>
            </a:r>
            <a:br/>
            <a:r>
              <a:t>• └──────────────────────────────────────┘</a:t>
            </a:r>
            <a:br/>
            <a:r>
              <a:t>• Shows feature importance</a:t>
            </a:r>
            <a:br/>
            <a:r>
              <a:t>• Colors show impact direction</a:t>
            </a:r>
            <a:br/>
            <a:r>
              <a:t>• Width shows magnitude</a:t>
            </a:r>
            <a:br/>
            <a:r>
              <a:t>• Top features = most important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SHAP Waterfall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Prediction Explanation</a:t>
            </a:r>
            <a:br/>
            <a:r>
              <a:t>• ┌──────────────────────────────────────┐</a:t>
            </a:r>
            <a:br/>
            <a:r>
              <a:t>• │ Base Value: 0.15                     │</a:t>
            </a:r>
            <a:br/>
            <a:r>
              <a:t>• │ Feature 1: +0.12  ████████           │</a:t>
            </a:r>
            <a:br/>
            <a:r>
              <a:t>• │ Feature 2: +0.08  █████              │</a:t>
            </a:r>
            <a:br/>
            <a:r>
              <a:t>• │ Feature 3: -0.05  ███                │</a:t>
            </a:r>
            <a:br/>
            <a:r>
              <a:t>• │ Feature 4: +0.03  ██                 │</a:t>
            </a:r>
            <a:br/>
            <a:r>
              <a:t>• │ Final: 0.33                          │</a:t>
            </a:r>
            <a:br/>
            <a:r>
              <a:t>• └──────────────────────────────────────┘</a:t>
            </a:r>
            <a:br/>
            <a:r>
              <a:t>• Shows individual prediction</a:t>
            </a:r>
            <a:br/>
            <a:r>
              <a:t>• Features increasing prediction (right)</a:t>
            </a:r>
            <a:br/>
            <a:r>
              <a:t>• Features decreasing prediction (left)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SHAP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import shap</a:t>
            </a:r>
            <a:br/>
            <a:r>
              <a:t>• explainer = shap.TreeExplainer(model)</a:t>
            </a:r>
            <a:br/>
            <a:r>
              <a:t>• shap_values = explainer.shap_values(X_test)</a:t>
            </a:r>
            <a:br/>
            <a:r>
              <a:t>• shap.summary_plot(shap_values, X_test, feature_names=features)</a:t>
            </a:r>
            <a:br/>
            <a:r>
              <a:t>• shap.waterfall_plot(</a:t>
            </a:r>
            <a:br/>
            <a:r>
              <a:t>• shap.Explanation(</a:t>
            </a:r>
            <a:br/>
            <a:r>
              <a:t>• values=shap_values[0],</a:t>
            </a:r>
            <a:br/>
            <a:r>
              <a:t>• base_values=explainer.expected_value,</a:t>
            </a:r>
            <a:br/>
            <a:r>
              <a:t>• data=X_test.iloc[0],</a:t>
            </a:r>
            <a:br/>
            <a:r>
              <a:t>• feature_names=features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LIME - Local Interpretable Model-agnostic Explanations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Perturbs input</a:t>
            </a:r>
            <a:br/>
            <a:r>
              <a:t>• Fits interpretable model locally</a:t>
            </a:r>
            <a:br/>
            <a:r>
              <a:t>• Explains individual predictions</a:t>
            </a:r>
            <a:br/>
            <a:r>
              <a:t>• Model-agnostic</a:t>
            </a:r>
            <a:br/>
            <a:r>
              <a:t>• Good for text and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LIME vs SHAP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Feature Importance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Which features matter most?</a:t>
            </a:r>
            <a:br/>
            <a:r>
              <a:t>• Global importance (mean |SHAP|)</a:t>
            </a:r>
            <a:br/>
            <a:r>
              <a:t>• Ranked order</a:t>
            </a:r>
            <a:br/>
            <a:r>
              <a:t>• Business implications</a:t>
            </a:r>
            <a:br/>
            <a:r>
              <a:t>• Feature engineering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Feature Direction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Which features increase prediction?</a:t>
            </a:r>
            <a:br/>
            <a:r>
              <a:t>• Which features decrease prediction?</a:t>
            </a:r>
            <a:br/>
            <a:r>
              <a:t>• Business validation</a:t>
            </a:r>
            <a:br/>
            <a:r>
              <a:t>• Red flags for bias</a:t>
            </a:r>
            <a:br/>
            <a:r>
              <a:t>• Surprising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Example - Churn Model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Top 5 Features:</a:t>
            </a:r>
            <a:br/>
            <a:r>
              <a:t>• 1. Customer Health Score (importance: 0.45)</a:t>
            </a:r>
            <a:br/>
            <a:r>
              <a:t>• High health = lower churn (negative)</a:t>
            </a:r>
            <a:br/>
            <a:r>
              <a:t>• Low health = higher churn (positive)</a:t>
            </a:r>
            <a:br/>
            <a:r>
              <a:t>• 2. Days Since Last Purchase (importance: 0.32)</a:t>
            </a:r>
            <a:br/>
            <a:r>
              <a:t>• More days = higher churn (positive)</a:t>
            </a:r>
            <a:br/>
            <a:r>
              <a:t>• Recent purchase = lower churn (negative)</a:t>
            </a:r>
            <a:br/>
            <a:r>
              <a:t>• 3. Total Orders (importance: 0.18)</a:t>
            </a:r>
            <a:br/>
            <a:r>
              <a:t>• More orders = lower churn (negative)</a:t>
            </a:r>
            <a:br/>
            <a:r>
              <a:t>• 4. Support Cases (importance: 0.12)</a:t>
            </a:r>
            <a:br/>
            <a:r>
              <a:t>• More cases = higher churn (positive)</a:t>
            </a:r>
            <a:br/>
            <a:r>
              <a:t>• 5. Engagement Rate (importance: 0.08)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Explainability Report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Model overview</a:t>
            </a:r>
            <a:br/>
            <a:r>
              <a:t>• 2. Performance metrics</a:t>
            </a:r>
            <a:br/>
            <a:r>
              <a:t>• 3. Feature importance</a:t>
            </a:r>
            <a:br/>
            <a:r>
              <a:t>• 4. Feature direction</a:t>
            </a:r>
            <a:br/>
            <a:r>
              <a:t>• 5. SHAP highlights</a:t>
            </a:r>
            <a:br/>
            <a:r>
              <a:t>• 6. Individual explanations</a:t>
            </a:r>
            <a:br/>
            <a:r>
              <a:t>• 7. Business insights</a:t>
            </a:r>
            <a:br/>
            <a:r>
              <a:t>• 8.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Business Insights from SHAP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"Customer health is the strongest predictor of churn"</a:t>
            </a:r>
            <a:br/>
            <a:r>
              <a:t>• "Customers with 30+ days without purchase are at high risk"</a:t>
            </a:r>
            <a:br/>
            <a:r>
              <a:t>• "Support issues increase churn risk significantly"</a:t>
            </a:r>
            <a:br/>
            <a:r>
              <a:t>• "Engagement reduces churn risk across all segments"</a:t>
            </a:r>
            <a:br/>
            <a:r>
              <a:t>• "Feature X is not as important as we thought"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Explainability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Use multiple methods (SHAP + LIME)</a:t>
            </a:r>
            <a:br/>
            <a:r>
              <a:t>• 2. Validate explanations with business logic</a:t>
            </a:r>
            <a:br/>
            <a:r>
              <a:t>• 3. Explain to the audience's level</a:t>
            </a:r>
            <a:br/>
            <a:r>
              <a:t>• 4. Update explanations as model evolves</a:t>
            </a:r>
            <a:br/>
            <a:r>
              <a:t>• 5. Document findings and insights</a:t>
            </a:r>
            <a:br/>
            <a:r>
              <a:t>• 6. Use explanations to improve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Privacy -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Personal data = Personal responsibility</a:t>
            </a:r>
            <a:br/>
            <a:r>
              <a:t>• Legal requirements (GDPR, CCPA)</a:t>
            </a:r>
            <a:br/>
            <a:r>
              <a:t>• Customer trust</a:t>
            </a:r>
            <a:br/>
            <a:r>
              <a:t>• Ethical obligation</a:t>
            </a:r>
            <a:br/>
            <a:r>
              <a:t>•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Key Privacy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Anonymization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Hashing (SHA-256)</a:t>
            </a:r>
            <a:br/>
            <a:r>
              <a:t>• Tokenization</a:t>
            </a:r>
            <a:br/>
            <a:r>
              <a:t>• Masking (XXX-XX-XXXX)</a:t>
            </a:r>
            <a:br/>
            <a:r>
              <a:t>• Aggregation</a:t>
            </a:r>
            <a:br/>
            <a:r>
              <a:t>• 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Differential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Adds controlled noise to data</a:t>
            </a:r>
            <a:br/>
            <a:r>
              <a:t>• Protects individual privacy</a:t>
            </a:r>
            <a:br/>
            <a:r>
              <a:t>• Mathematical guarantee</a:t>
            </a:r>
            <a:br/>
            <a:r>
              <a:t>• Parameter: ε (epsilon)</a:t>
            </a:r>
            <a:br/>
            <a:r>
              <a:t>• Smaller ε = More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GDPR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Right to access</a:t>
            </a:r>
            <a:br/>
            <a:r>
              <a:t>• Right to erasure</a:t>
            </a:r>
            <a:br/>
            <a:r>
              <a:t>• Right to rectification</a:t>
            </a:r>
            <a:br/>
            <a:r>
              <a:t>• Right to portability</a:t>
            </a:r>
            <a:br/>
            <a:r>
              <a:t>• Right to object</a:t>
            </a:r>
            <a:br/>
            <a:r>
              <a:t>• Consent requirements</a:t>
            </a:r>
            <a:br/>
            <a:r>
              <a:t>• Data Protection Officer</a:t>
            </a:r>
            <a:br/>
            <a:r>
              <a:t>• Record of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CCPA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Right to know</a:t>
            </a:r>
            <a:br/>
            <a:r>
              <a:t>• Right to delete</a:t>
            </a:r>
            <a:br/>
            <a:r>
              <a:t>• Right to opt-out</a:t>
            </a:r>
            <a:br/>
            <a:r>
              <a:t>• Right to non-discrimination</a:t>
            </a:r>
            <a:br/>
            <a:r>
              <a:t>• Privacy policy required</a:t>
            </a:r>
            <a:br/>
            <a:r>
              <a:t>• 12-month lookback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Privacy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def anonymize_data(df, columns):</a:t>
            </a:r>
            <a:br/>
            <a:r>
              <a:t>• """Anonymize PII columns."""</a:t>
            </a:r>
            <a:br/>
            <a:r>
              <a:t>• df_anon = df.copy()</a:t>
            </a:r>
            <a:br/>
            <a:r>
              <a:t>• for col in columns:</a:t>
            </a:r>
            <a:br/>
            <a:r>
              <a:t>• df_anon[col] = df_anon[col].apply(</a:t>
            </a:r>
            <a:br/>
            <a:r>
              <a:t>• lambda x: hashlib.sha256(x.encode()).hexdigest()[:16]</a:t>
            </a:r>
            <a:br/>
            <a:r>
              <a:t>• return df_anon</a:t>
            </a:r>
            <a:br/>
            <a:r>
              <a:t>• def add_differential_privacy(data, epsilon=1.0):</a:t>
            </a:r>
            <a:br/>
            <a:r>
              <a:t>• """Add Laplace noise for DP."""</a:t>
            </a:r>
            <a:br/>
            <a:r>
              <a:t>• sensitivity = 1.0</a:t>
            </a:r>
            <a:br/>
            <a:r>
              <a:t>• scale = sensitivity / epsilon</a:t>
            </a:r>
            <a:br/>
            <a:r>
              <a:t>• noise = np.random.laplace(0, scale, len(data))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Governance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**Policies:** Data handling rules</a:t>
            </a:r>
            <a:br/>
            <a:r>
              <a:t>• 2. **Processes:** How we implement</a:t>
            </a:r>
            <a:br/>
            <a:r>
              <a:t>• 3. **People:** Who is responsible</a:t>
            </a:r>
            <a:br/>
            <a:r>
              <a:t>• 4. **Technology:** Tools and systems</a:t>
            </a:r>
            <a:br/>
            <a:r>
              <a:t>• 5. **Monitoring:** Ongoing compliance</a:t>
            </a:r>
            <a:br/>
            <a:r>
              <a:t>• 6. **Auditing:** Regular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Model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Model development</a:t>
            </a:r>
            <a:br/>
            <a:r>
              <a:t>• Model validation</a:t>
            </a:r>
            <a:br/>
            <a:r>
              <a:t>• Model approval</a:t>
            </a:r>
            <a:br/>
            <a:r>
              <a:t>• Model deployment</a:t>
            </a:r>
            <a:br/>
            <a:r>
              <a:t>• Model monitoring</a:t>
            </a:r>
            <a:br/>
            <a:r>
              <a:t>• Model retirement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Model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Model Card format</a:t>
            </a:r>
            <a:br/>
            <a:r>
              <a:t>• Data Card format</a:t>
            </a:r>
            <a:br/>
            <a:r>
              <a:t>• Performance metrics</a:t>
            </a:r>
            <a:br/>
            <a:r>
              <a:t>• Fairness assessment</a:t>
            </a:r>
            <a:br/>
            <a:r>
              <a:t>• Limitations and risks</a:t>
            </a:r>
            <a:br/>
            <a:r>
              <a:t>• Usage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Model Card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Type: XGBoost Classifier</a:t>
            </a:r>
            <a:br/>
            <a:r>
              <a:t>• Version: 1.2.0</a:t>
            </a:r>
            <a:br/>
            <a:r>
              <a:t>• Owner: Analytics Team</a:t>
            </a:r>
            <a:br/>
            <a:r>
              <a:t>• Created: 2024-07-29</a:t>
            </a:r>
            <a:br/>
            <a:r>
              <a:t>• Predict customer churn risk</a:t>
            </a:r>
            <a:br/>
            <a:r>
              <a:t>• For retention interventions</a:t>
            </a:r>
            <a:br/>
            <a:r>
              <a:t>• Not for credit decisions</a:t>
            </a:r>
            <a:br/>
            <a:r>
              <a:t>• Source: Customer data 2020-2024</a:t>
            </a:r>
            <a:br/>
            <a:r>
              <a:t>• Features: 19 features</a:t>
            </a:r>
            <a:br/>
            <a:r>
              <a:t>• Target: Churn (binary)</a:t>
            </a:r>
            <a:br/>
            <a:r>
              <a:t>• Accuracy: 0.85</a:t>
            </a:r>
            <a:br/>
            <a:r>
              <a:t>• ROC AUC: 0.92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Audit Trail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Who accessed data?</a:t>
            </a:r>
            <a:br/>
            <a:r>
              <a:t>• When was data accessed?</a:t>
            </a:r>
            <a:br/>
            <a:r>
              <a:t>• What was the purpose?</a:t>
            </a:r>
            <a:br/>
            <a:r>
              <a:t>• What changes were made?</a:t>
            </a:r>
            <a:br/>
            <a:r>
              <a:t>• Was data exported?</a:t>
            </a:r>
            <a:br/>
            <a:r>
              <a:t>• Compliance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Compliance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Data protection policy</a:t>
            </a:r>
            <a:br/>
            <a:r>
              <a:t>• Privacy policy</a:t>
            </a:r>
            <a:br/>
            <a:r>
              <a:t>• Terms of service</a:t>
            </a:r>
            <a:br/>
            <a:r>
              <a:t>• Data processing agreement</a:t>
            </a:r>
            <a:br/>
            <a:r>
              <a:t>• Security policy</a:t>
            </a:r>
            <a:br/>
            <a:r>
              <a:t>• Incident response plan</a:t>
            </a:r>
            <a:br/>
            <a:r>
              <a:t>• Business continuity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Governance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**Detection:** Identify the issue</a:t>
            </a:r>
            <a:br/>
            <a:r>
              <a:t>• 2. **Containment:** Stop the issue</a:t>
            </a:r>
            <a:br/>
            <a:r>
              <a:t>• 3. **Assessment:** Understand impact</a:t>
            </a:r>
            <a:br/>
            <a:r>
              <a:t>• 4. **Resolution:** Fix the issue</a:t>
            </a:r>
            <a:br/>
            <a:r>
              <a:t>• 5. **Notification:** Inform stakeholders</a:t>
            </a:r>
            <a:br/>
            <a:r>
              <a:t>• 6. **Review:** Learn and improve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Breach Notification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Regulatory: 72 hours (GDPR)</a:t>
            </a:r>
            <a:br/>
            <a:r>
              <a:t>• Data subjects: Without undue delay</a:t>
            </a:r>
            <a:br/>
            <a:r>
              <a:t>• What to include:</a:t>
            </a:r>
            <a:br/>
            <a:r>
              <a:t>• Nature of breach</a:t>
            </a:r>
            <a:br/>
            <a:r>
              <a:t>• Data involved</a:t>
            </a:r>
            <a:br/>
            <a:r>
              <a:t>• Consequences</a:t>
            </a:r>
            <a:br/>
            <a:r>
              <a:t>• Mitigation steps</a:t>
            </a:r>
            <a:br/>
            <a:r>
              <a:t>• Contact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Regular Audits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Annual privacy audit</a:t>
            </a:r>
            <a:br/>
            <a:r>
              <a:t>• Quarterly fairness audit</a:t>
            </a:r>
            <a:br/>
            <a:r>
              <a:t>• Monthly model performance</a:t>
            </a:r>
            <a:br/>
            <a:r>
              <a:t>• Weekly data quality</a:t>
            </a:r>
            <a:br/>
            <a:r>
              <a:t>• Daily system health</a:t>
            </a:r>
            <a:br/>
            <a:r>
              <a:t>• Continuous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Training and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All team members</a:t>
            </a:r>
            <a:br/>
            <a:r>
              <a:t>• Annual privacy training</a:t>
            </a:r>
            <a:br/>
            <a:r>
              <a:t>• Security awareness</a:t>
            </a:r>
            <a:br/>
            <a:r>
              <a:t>• Ethics training</a:t>
            </a:r>
            <a:br/>
            <a:r>
              <a:t>• Data handling procedures</a:t>
            </a:r>
            <a:br/>
            <a:r>
              <a:t>• Incident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Ethics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Composition:</a:t>
            </a:r>
            <a:br/>
            <a:r>
              <a:t>• Data Science Lead</a:t>
            </a:r>
            <a:br/>
            <a:r>
              <a:t>• Legal Lead</a:t>
            </a:r>
            <a:br/>
            <a:r>
              <a:t>• Privacy Officer</a:t>
            </a:r>
            <a:br/>
            <a:r>
              <a:t>• Business Representative</a:t>
            </a:r>
            <a:br/>
            <a:r>
              <a:t>• External Expert</a:t>
            </a:r>
            <a:br/>
            <a:r>
              <a:t>• Meetings: Quarterly</a:t>
            </a:r>
            <a:br/>
            <a:r>
              <a:t>• Reviews: New models, policies,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Module 6.3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✅ Fairness analysis and mitigation</a:t>
            </a:r>
            <a:br/>
            <a:r>
              <a:t>• ✅ SHAP explainability</a:t>
            </a:r>
            <a:br/>
            <a:r>
              <a:t>• ✅ Privacy-preserving techniques</a:t>
            </a:r>
            <a:br/>
            <a:r>
              <a:t>• ✅ Model governance framework</a:t>
            </a:r>
            <a:br/>
            <a:r>
              <a:t>• ✅ Compliance documentation</a:t>
            </a:r>
            <a:br/>
            <a:r>
              <a:t>• ✅ Ethical AI principles</a:t>
            </a:r>
            <a:br/>
            <a:r>
              <a:t>• Key Takeaway:** Responsible AI isn't just ethical - it's essential for business success.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Arial"/>
              </a:rPr>
              <a:t>CAPSTONE: EXECUTIVE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Slide 206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Capstone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**Title:** Phase 6 Capstone - Executive Decision Pack</a:t>
            </a:r>
            <a:br/>
            <a:r>
              <a:t>• **Duration:** ~5 hours</a:t>
            </a:r>
            <a:br/>
            <a:r>
              <a:t>• **Outcome:** Complete executive deliverable</a:t>
            </a:r>
            <a:br/>
            <a:r>
              <a:t>• **Integration:** All three modules</a:t>
            </a:r>
            <a:br/>
            <a:r>
              <a:t>• **Delivery:** Professional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What Is the Executive Decision Pack?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Live BI Dashboard (Module 6.1)</a:t>
            </a:r>
            <a:br/>
            <a:r>
              <a:t>• 2. Explainability Report (Module 6.3)</a:t>
            </a:r>
            <a:br/>
            <a:r>
              <a:t>• 3. Fairness Audit (Module 6.3)</a:t>
            </a:r>
            <a:br/>
            <a:r>
              <a:t>• 4. Executive Summary (Module 6.2)</a:t>
            </a:r>
            <a:br/>
            <a:r>
              <a:t>• 5. Implementation Roadmap</a:t>
            </a:r>
            <a:br/>
            <a:r>
              <a:t>• 6. Executive Presentation (Module 6.2)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Complete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┌─────────────────────────────────────────────────┐</a:t>
            </a:r>
            <a:br/>
            <a:r>
              <a:t>• │           EXECUTIVE DECISION PACK               │</a:t>
            </a:r>
            <a:br/>
            <a:r>
              <a:t>• ├─────────────────────────────────────────────────┤</a:t>
            </a:r>
            <a:br/>
            <a:r>
              <a:t>• │  ┌─────────────────┐ ┌─────────────────────┐   │</a:t>
            </a:r>
            <a:br/>
            <a:r>
              <a:t>• │  │ Executive       │ │ Implementation      │   │</a:t>
            </a:r>
            <a:br/>
            <a:r>
              <a:t>• │  │ Summary         │ │ Roadmap            │   │</a:t>
            </a:r>
            <a:br/>
            <a:r>
              <a:t>• │  └─────────────────┘ └─────────────────────┘   │</a:t>
            </a:r>
            <a:br/>
            <a:r>
              <a:t>• │  ┌─────────────────┐ ┌─────────────────────┐   │</a:t>
            </a:r>
            <a:br/>
            <a:r>
              <a:t>• │  │ Fairness Audit  │ │ Explainability      │   │</a:t>
            </a:r>
            <a:br/>
            <a:r>
              <a:t>• │  │ (Module 6.3)    │ │ Report (Module 6.3) │   │</a:t>
            </a:r>
            <a:br/>
            <a:r>
              <a:t>• │  └─────────────────┘ └─────────────────────┘   │</a:t>
            </a:r>
            <a:br/>
            <a:r>
              <a:t>• │  ┌─────────────────────────────────────────┐   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Capstone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Review all modules</a:t>
            </a:r>
            <a:br/>
            <a:r>
              <a:t>• 2. Ensure data is fresh</a:t>
            </a:r>
            <a:br/>
            <a:r>
              <a:t>• 3. Run the capstone generator</a:t>
            </a:r>
            <a:br/>
            <a:r>
              <a:t>• 4. Review outputs</a:t>
            </a:r>
            <a:br/>
            <a:r>
              <a:t>• 5. Polish and customize</a:t>
            </a:r>
            <a:br/>
            <a:r>
              <a:t>• 6. Deliver to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Capstone Generation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python capstone/scripts/generate_capstone.py</a:t>
            </a:r>
            <a:br/>
            <a:r>
              <a:t>• Outputs:</a:t>
            </a:r>
            <a:br/>
            <a:r>
              <a:t>• KPI dashboard visualization</a:t>
            </a:r>
            <a:br/>
            <a:r>
              <a:t>• Trend visualizations</a:t>
            </a:r>
            <a:br/>
            <a:r>
              <a:t>• Executive summary (MD)</a:t>
            </a:r>
            <a:br/>
            <a:r>
              <a:t>• Explainability report (MD)</a:t>
            </a:r>
            <a:br/>
            <a:r>
              <a:t>• Fairness audit (MD)</a:t>
            </a:r>
            <a:br/>
            <a:r>
              <a:t>• Implementation roadmap (MD)</a:t>
            </a:r>
            <a:br/>
            <a:r>
              <a:t>• Executive presentation (MD)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Component -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Situation (where we are)</a:t>
            </a:r>
            <a:br/>
            <a:r>
              <a:t>• Complication (what changed)</a:t>
            </a:r>
            <a:br/>
            <a:r>
              <a:t>• Resolution (what to do)</a:t>
            </a:r>
            <a:br/>
            <a:r>
              <a:t>• Decision (what we need)</a:t>
            </a:r>
            <a:br/>
            <a:r>
              <a:t>• Professional formatting</a:t>
            </a:r>
            <a:br/>
            <a:r>
              <a:t>• Ready for executive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Component - Explainability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Model overview</a:t>
            </a:r>
            <a:br/>
            <a:r>
              <a:t>• Performance metrics</a:t>
            </a:r>
            <a:br/>
            <a:r>
              <a:t>• Feature importance</a:t>
            </a:r>
            <a:br/>
            <a:r>
              <a:t>• SHAP analysis</a:t>
            </a:r>
            <a:br/>
            <a:r>
              <a:t>• Business insights</a:t>
            </a:r>
            <a:br/>
            <a:r>
              <a:t>• Interpretable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Component - Fairness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Protected attributes</a:t>
            </a:r>
            <a:br/>
            <a:r>
              <a:t>• Fairness metrics</a:t>
            </a:r>
            <a:br/>
            <a:r>
              <a:t>• Group comparisons</a:t>
            </a:r>
            <a:br/>
            <a:r>
              <a:t>• Bias analysis</a:t>
            </a:r>
            <a:br/>
            <a:r>
              <a:t>• Mitigation status</a:t>
            </a:r>
            <a:br/>
            <a:r>
              <a:t>• Ongoing monitoring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Component -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Timeline</a:t>
            </a:r>
            <a:br/>
            <a:r>
              <a:t>• Milestones</a:t>
            </a:r>
            <a:br/>
            <a:r>
              <a:t>• Resources needed</a:t>
            </a:r>
            <a:br/>
            <a:r>
              <a:t>• Budget breakdown</a:t>
            </a:r>
            <a:br/>
            <a:r>
              <a:t>• Risk assessment</a:t>
            </a:r>
            <a:br/>
            <a:r>
              <a:t>• 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Component - Executive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Title slide</a:t>
            </a:r>
            <a:br/>
            <a:r>
              <a:t>• Agenda</a:t>
            </a:r>
            <a:br/>
            <a:r>
              <a:t>• Situation</a:t>
            </a:r>
            <a:br/>
            <a:r>
              <a:t>• Complication</a:t>
            </a:r>
            <a:br/>
            <a:r>
              <a:t>• Resolution</a:t>
            </a:r>
            <a:br/>
            <a:r>
              <a:t>• Implementation</a:t>
            </a:r>
            <a:br/>
            <a:r>
              <a:t>• Decision</a:t>
            </a:r>
            <a:br/>
            <a:r>
              <a:t>•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Component - Live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KPIs</a:t>
            </a:r>
            <a:br/>
            <a:r>
              <a:t>• Revenue trends</a:t>
            </a:r>
            <a:br/>
            <a:r>
              <a:t>• Customer health</a:t>
            </a:r>
            <a:br/>
            <a:r>
              <a:t>• Product performance</a:t>
            </a:r>
            <a:br/>
            <a:r>
              <a:t>• Campaign ROI</a:t>
            </a:r>
            <a:br/>
            <a:r>
              <a:t>• Interactive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Integration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[ ] Data is current</a:t>
            </a:r>
            <a:br/>
            <a:r>
              <a:t>• [ ] Models are trained</a:t>
            </a:r>
            <a:br/>
            <a:r>
              <a:t>• [ ] Fairness metrics computed</a:t>
            </a:r>
            <a:br/>
            <a:r>
              <a:t>• [ ] SHAP explanations generated</a:t>
            </a:r>
            <a:br/>
            <a:r>
              <a:t>• [ ] Dashboard is live</a:t>
            </a:r>
            <a:br/>
            <a:r>
              <a:t>• [ ] Reports are generated</a:t>
            </a:r>
            <a:br/>
            <a:r>
              <a:t>• [ ] Presentation is ready</a:t>
            </a:r>
            <a:br/>
            <a:r>
              <a:t>• [ ] All documents reviewed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Check all numbers</a:t>
            </a:r>
            <a:br/>
            <a:r>
              <a:t>• Verify calculations</a:t>
            </a:r>
            <a:br/>
            <a:r>
              <a:t>• Test dashboard performance</a:t>
            </a:r>
            <a:br/>
            <a:r>
              <a:t>• Review visualizations</a:t>
            </a:r>
            <a:br/>
            <a:r>
              <a:t>• Proofread documents</a:t>
            </a:r>
            <a:br/>
            <a:r>
              <a:t>• Validate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Customization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Delivery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**Email:** Send documents as attachments</a:t>
            </a:r>
            <a:br/>
            <a:r>
              <a:t>• 2. **Meeting:** Present live</a:t>
            </a:r>
            <a:br/>
            <a:r>
              <a:t>• 3. **Dashboard:** Share link</a:t>
            </a:r>
            <a:br/>
            <a:r>
              <a:t>• 4. **Portal:** Host on intranet</a:t>
            </a:r>
            <a:br/>
            <a:r>
              <a:t>• 5. **Print:** Hard copies for executives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Preparation for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Review all materials</a:t>
            </a:r>
            <a:br/>
            <a:r>
              <a:t>• 2. Anticipate questions</a:t>
            </a:r>
            <a:br/>
            <a:r>
              <a:t>• 3. Practice key sections</a:t>
            </a:r>
            <a:br/>
            <a:r>
              <a:t>• 4. Prepare backup data</a:t>
            </a:r>
            <a:br/>
            <a:r>
              <a:t>• 5. Set up technology</a:t>
            </a:r>
            <a:br/>
            <a:r>
              <a:t>• 6. Arrive early</a:t>
            </a:r>
            <a:br/>
            <a:r>
              <a:t>• 7. Be ready to adapt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Anticipated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"How did you calculate the ROI?"</a:t>
            </a:r>
            <a:br/>
            <a:r>
              <a:t>• "What are the risks?"</a:t>
            </a:r>
            <a:br/>
            <a:r>
              <a:t>• "What if we don't do this?"</a:t>
            </a:r>
            <a:br/>
            <a:r>
              <a:t>• "Why this approach over alternatives?"</a:t>
            </a:r>
            <a:br/>
            <a:r>
              <a:t>• "What resources are needed?"</a:t>
            </a:r>
            <a:br/>
            <a:r>
              <a:t>• "When will we see results?"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Follow-up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Send materials within 24 hours</a:t>
            </a:r>
            <a:br/>
            <a:r>
              <a:t>• Address outstanding questions</a:t>
            </a:r>
            <a:br/>
            <a:r>
              <a:t>• Document decisions</a:t>
            </a:r>
            <a:br/>
            <a:r>
              <a:t>• Schedule next steps</a:t>
            </a:r>
            <a:br/>
            <a:r>
              <a:t>• Track action items</a:t>
            </a:r>
            <a:br/>
            <a:r>
              <a:t>• Provide regular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Capstone Deliverables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[ ] Live BI Dashboard</a:t>
            </a:r>
            <a:br/>
            <a:r>
              <a:t>• [ ] Executive Summary (PDF)</a:t>
            </a:r>
            <a:br/>
            <a:r>
              <a:t>• [ ] Explainability Report (PDF)</a:t>
            </a:r>
            <a:br/>
            <a:r>
              <a:t>• [ ] Fairness Audit (PDF)</a:t>
            </a:r>
            <a:br/>
            <a:r>
              <a:t>• [ ] Implementation Roadmap</a:t>
            </a:r>
            <a:br/>
            <a:r>
              <a:t>• [ ] Executive Presentation</a:t>
            </a:r>
            <a:br/>
            <a:r>
              <a:t>• [ ] All documents reviewed</a:t>
            </a:r>
            <a:br/>
            <a:r>
              <a:t>• [ ] Approved for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What You've Accomplished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✅ Production-grade data engineering</a:t>
            </a:r>
            <a:br/>
            <a:r>
              <a:t>• ✅ Self-service BI environment</a:t>
            </a:r>
            <a:br/>
            <a:r>
              <a:t>• ✅ Executive communication skills</a:t>
            </a:r>
            <a:br/>
            <a:r>
              <a:t>• ✅ Model explainability</a:t>
            </a:r>
            <a:br/>
            <a:r>
              <a:t>• ✅ Fairness analysis</a:t>
            </a:r>
            <a:br/>
            <a:r>
              <a:t>• ✅ Governance framework</a:t>
            </a:r>
            <a:br/>
            <a:r>
              <a:t>• ✅ Complete executive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Course Recap - Module 6.1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BI Semantic Layer</a:t>
            </a:r>
            <a:br/>
            <a:r>
              <a:t>• PostgreSQL setup</a:t>
            </a:r>
            <a:br/>
            <a:r>
              <a:t>• dbt models (staging → intermediate → marts)</a:t>
            </a:r>
            <a:br/>
            <a:r>
              <a:t>• Metabase dashboard</a:t>
            </a:r>
            <a:br/>
            <a:r>
              <a:t>• Automated reporting</a:t>
            </a:r>
            <a:br/>
            <a:r>
              <a:t>• **Key Skill:** Data engineering for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Course Recap - Module 6.2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Analytics Storytelling</a:t>
            </a:r>
            <a:br/>
            <a:r>
              <a:t>• SCR Framework</a:t>
            </a:r>
            <a:br/>
            <a:r>
              <a:t>• Executive personas</a:t>
            </a:r>
            <a:br/>
            <a:r>
              <a:t>• Statistical translation</a:t>
            </a:r>
            <a:br/>
            <a:r>
              <a:t>• Executive summaries</a:t>
            </a:r>
            <a:br/>
            <a:r>
              <a:t>• Presentation design</a:t>
            </a:r>
            <a:br/>
            <a:r>
              <a:t>• **Key Skill:** Executive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Course Recap - Module 6.3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Ethics &amp; Governance</a:t>
            </a:r>
            <a:br/>
            <a:r>
              <a:t>• Fairness analysis</a:t>
            </a:r>
            <a:br/>
            <a:r>
              <a:t>• SHAP explainability</a:t>
            </a:r>
            <a:br/>
            <a:r>
              <a:t>• Privacy-preserving techniques</a:t>
            </a:r>
            <a:br/>
            <a:r>
              <a:t>• Compliance documentation</a:t>
            </a:r>
            <a:br/>
            <a:r>
              <a:t>• Model governance</a:t>
            </a:r>
            <a:br/>
            <a:r>
              <a:t>• **Key Skill:**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Course Recap -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Executive Decision Pack</a:t>
            </a:r>
            <a:br/>
            <a:r>
              <a:t>• Integration of all modules</a:t>
            </a:r>
            <a:br/>
            <a:r>
              <a:t>• Professional deliverables</a:t>
            </a:r>
            <a:br/>
            <a:r>
              <a:t>• Executive presentation</a:t>
            </a:r>
            <a:br/>
            <a:r>
              <a:t>• Implementation roadmap</a:t>
            </a:r>
            <a:br/>
            <a:r>
              <a:t>• **Key Skill:** End-to-end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Skills You've Developed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Career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Next Learning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**Cloud Deployment:** AWS, GCP, Azure</a:t>
            </a:r>
            <a:br/>
            <a:r>
              <a:t>• 2. **Advanced ML:** Deep learning, NLP</a:t>
            </a:r>
            <a:br/>
            <a:r>
              <a:t>• 3. **Real-time Analytics:** Streaming, Kafka</a:t>
            </a:r>
            <a:br/>
            <a:r>
              <a:t>• 4. **Data Mesh:** Decentralized architecture</a:t>
            </a:r>
            <a:br/>
            <a:r>
              <a:t>• 5. **MLOps:** Deployment, monitoring</a:t>
            </a:r>
            <a:br/>
            <a:r>
              <a:t>• 6. **Advanced Ethics:** AI safety, fairness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Resources for Continued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**Books:**</a:t>
            </a:r>
            <a:br/>
            <a:r>
              <a:t>• "Storytelling with Data" - Cole Nussbaumer Knaflic</a:t>
            </a:r>
            <a:br/>
            <a:r>
              <a:t>• "Weapons of Math Destruction" - Cathy O'Neil</a:t>
            </a:r>
            <a:br/>
            <a:r>
              <a:t>• "The Data Warehouse Toolkit" - Ralph Kimball</a:t>
            </a:r>
            <a:br/>
            <a:r>
              <a:t>• **Courses:**</a:t>
            </a:r>
            <a:br/>
            <a:r>
              <a:t>• Coursera: AI Ethics, Data Science</a:t>
            </a:r>
            <a:br/>
            <a:r>
              <a:t>• edX: Data Engineering, ML</a:t>
            </a:r>
            <a:br/>
            <a:r>
              <a:t>• Fast.ai: Deep Learning</a:t>
            </a:r>
            <a:br/>
            <a:r>
              <a:t>• **Community:**</a:t>
            </a:r>
            <a:br/>
            <a:r>
              <a:t>• dbt Slack</a:t>
            </a:r>
            <a:br/>
            <a:r>
              <a:t>• SHAP GitHub</a:t>
            </a:r>
            <a:br/>
            <a:r>
              <a:t>• Fairlearn tutorials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Open Source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**dbt:** Contribute models, documentation</a:t>
            </a:r>
            <a:br/>
            <a:r>
              <a:t>• **Metabase:** Dashboard templates, plugins</a:t>
            </a:r>
            <a:br/>
            <a:r>
              <a:t>• **SHAP:** Examples, visualizations</a:t>
            </a:r>
            <a:br/>
            <a:r>
              <a:t>• **Fairlearn:** Use cases, tutorials</a:t>
            </a:r>
            <a:br/>
            <a:r>
              <a:t>• **Pandas:** Documentation, bug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Staying Current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Follow industry blogs</a:t>
            </a:r>
            <a:br/>
            <a:r>
              <a:t>• Attend conferences (Data Council, dbt Coalesce)</a:t>
            </a:r>
            <a:br/>
            <a:r>
              <a:t>• Join data science communities</a:t>
            </a:r>
            <a:br/>
            <a:r>
              <a:t>• Read research papers</a:t>
            </a:r>
            <a:br/>
            <a:r>
              <a:t>• Practice, practice,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Data Ethos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Data is a tool, not a master</a:t>
            </a:r>
            <a:br/>
            <a:r>
              <a:t>• Ethics is not optional</a:t>
            </a:r>
            <a:br/>
            <a:r>
              <a:t>• Communication is key</a:t>
            </a:r>
            <a:br/>
            <a:r>
              <a:t>• Impact &gt; Activity</a:t>
            </a:r>
            <a:br/>
            <a:r>
              <a:t>• Always be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Final Thoughts - Data to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Data without decisions is just noise</a:t>
            </a:r>
            <a:br/>
            <a:r>
              <a:t>• Decisions without data are just guessing</a:t>
            </a:r>
            <a:br/>
            <a:r>
              <a:t>• Your role: Bridge the gap</a:t>
            </a:r>
            <a:br/>
            <a:r>
              <a:t>• You have the power to drive change</a:t>
            </a:r>
            <a:br/>
            <a:r>
              <a:t>• Use it wisely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Future of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AI-powered analytics</a:t>
            </a:r>
            <a:br/>
            <a:r>
              <a:t>• Automated decision-making</a:t>
            </a:r>
            <a:br/>
            <a:r>
              <a:t>• Real-time insights</a:t>
            </a:r>
            <a:br/>
            <a:r>
              <a:t>• Responsible AI required</a:t>
            </a:r>
            <a:br/>
            <a:r>
              <a:t>• Data literacy for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Your Next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Choose a business problem</a:t>
            </a:r>
            <a:br/>
            <a:r>
              <a:t>• 2. Gather the data</a:t>
            </a:r>
            <a:br/>
            <a:r>
              <a:t>• 3. Build the analytics</a:t>
            </a:r>
            <a:br/>
            <a:r>
              <a:t>• 4. Create the deliverable</a:t>
            </a:r>
            <a:br/>
            <a:r>
              <a:t>• 5. Present to stakeholders</a:t>
            </a:r>
            <a:br/>
            <a:r>
              <a:t>• 6. Drive decisions</a:t>
            </a:r>
            <a:br/>
            <a:r>
              <a:t>• 7. Measure impact</a:t>
            </a:r>
            <a:br/>
            <a:r>
              <a:t>• 8. Iterate and improve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The 30-Day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Day 1-7: Refine your dataset</a:t>
            </a:r>
            <a:br/>
            <a:r>
              <a:t>• Day 8-14: Build your models</a:t>
            </a:r>
            <a:br/>
            <a:r>
              <a:t>• Day 15-21: Create your dashboard</a:t>
            </a:r>
            <a:br/>
            <a:r>
              <a:t>• Day 22-28: Prepare your presentation</a:t>
            </a:r>
            <a:br/>
            <a:r>
              <a:t>• Day 29-30: Deliver to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Common Pitfalls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Technical perfection over business value</a:t>
            </a:r>
            <a:br/>
            <a:r>
              <a:t>• 2. Ignoring stakeholder needs</a:t>
            </a:r>
            <a:br/>
            <a:r>
              <a:t>• 3. Neglecting ethics and fairness</a:t>
            </a:r>
            <a:br/>
            <a:r>
              <a:t>• 4. Poor communication</a:t>
            </a:r>
            <a:br/>
            <a:r>
              <a:t>• 5. No follow-through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Success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Data is not the answer, it's the tool</a:t>
            </a:r>
            <a:br/>
            <a:r>
              <a:t>• Questions matter more than answers</a:t>
            </a:r>
            <a:br/>
            <a:r>
              <a:t>• Impact matters more than accuracy</a:t>
            </a:r>
            <a:br/>
            <a:r>
              <a:t>• Communication matters more than analysis</a:t>
            </a:r>
            <a:br/>
            <a:r>
              <a:t>• Ethics matters more than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Q&amp;A - Final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Address remaining questions</a:t>
            </a:r>
            <a:br/>
            <a:r>
              <a:t>• Clarify concepts</a:t>
            </a:r>
            <a:br/>
            <a:r>
              <a:t>• Share experiences</a:t>
            </a:r>
            <a:br/>
            <a:r>
              <a:t>• Discuss applications</a:t>
            </a:r>
            <a:br/>
            <a:r>
              <a:t>• Plan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Evaluation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Course rating</a:t>
            </a:r>
            <a:br/>
            <a:r>
              <a:t>• Key takeaways</a:t>
            </a:r>
            <a:br/>
            <a:r>
              <a:t>• Most valuable section</a:t>
            </a:r>
            <a:br/>
            <a:r>
              <a:t>• Areas for improvement</a:t>
            </a:r>
            <a:br/>
            <a:r>
              <a:t>• Suggestions for future courses**Slide 246: Certificate of Completion**</a:t>
            </a:r>
            <a:br/>
            <a:r>
              <a:t>• Your name</a:t>
            </a:r>
            <a:br/>
            <a:r>
              <a:t>• Course title</a:t>
            </a:r>
            <a:br/>
            <a:r>
              <a:t>• Date completed</a:t>
            </a:r>
            <a:br/>
            <a:r>
              <a:t>• Skills acquired</a:t>
            </a:r>
            <a:br/>
            <a:r>
              <a:t>• Verification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Thank you for learning</a:t>
            </a:r>
            <a:br/>
            <a:r>
              <a:t>• You've invested in yourself</a:t>
            </a:r>
            <a:br/>
            <a:r>
              <a:t>• You're now equipped to drive change</a:t>
            </a:r>
            <a:br/>
            <a:r>
              <a:t>• Go make data-driven decisions</a:t>
            </a:r>
            <a:br/>
            <a:r>
              <a:t>• Make the world better with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Stay Connected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LinkedIn: [Your Profile]</a:t>
            </a:r>
            <a:br/>
            <a:r>
              <a:t>• GitHub: [Your Repository]</a:t>
            </a:r>
            <a:br/>
            <a:r>
              <a:t>• Twitter: [Your Handle]</a:t>
            </a:r>
            <a:br/>
            <a:r>
              <a:t>• Slack: [Channel]</a:t>
            </a:r>
            <a:br/>
            <a:r>
              <a:t>• Email: [Your Email]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Resources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All code: github.com/your-repo</a:t>
            </a:r>
            <a:br/>
            <a:r>
              <a:t>• Documentation: docs.your-project.com</a:t>
            </a:r>
            <a:br/>
            <a:r>
              <a:t>• Course materials: learn.your-project.com</a:t>
            </a:r>
            <a:br/>
            <a:r>
              <a:t>• Community: community.your-project.com</a:t>
            </a:r>
            <a:br/>
            <a:r>
              <a:t>• Support: support.your-project.com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Final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┌─────────────────────────────────────────────┐</a:t>
            </a:r>
            <a:br/>
            <a:r>
              <a:t>• │                                             │</a:t>
            </a:r>
            <a:br/>
            <a:r>
              <a:t>• │    EXECUTIVE DECISION PIPELINE              │</a:t>
            </a:r>
            <a:br/>
            <a:r>
              <a:t>• │                                             │</a:t>
            </a:r>
            <a:br/>
            <a:r>
              <a:t>• │    From Data Engineering to                 │</a:t>
            </a:r>
            <a:br/>
            <a:r>
              <a:t>• │    Strategic Action                        │</a:t>
            </a:r>
            <a:br/>
            <a:r>
              <a:t>• │                                             │</a:t>
            </a:r>
            <a:br/>
            <a:r>
              <a:t>• │    ✅ You've Completed the Journey          │</a:t>
            </a:r>
            <a:br/>
            <a:r>
              <a:t>• │                                             │</a:t>
            </a:r>
            <a:br/>
            <a:r>
              <a:t>• │    Now Go Make Data-Driven Decisions!       │</a:t>
            </a:r>
            <a:br/>
            <a:r>
              <a:t>• │                                             │</a:t>
            </a:r>
            <a:br/>
            <a:r>
              <a:t>• └─────────────────────────────────────────────┘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Arial"/>
              </a:rPr>
              <a:t>APPENDIX: REFERENCE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Arial"/>
              </a:rPr>
              <a:t>Slide 251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dbt Core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dbt run           # Run all models</a:t>
            </a:r>
            <a:br/>
            <a:r>
              <a:t>• dbt test          # Run all tests</a:t>
            </a:r>
            <a:br/>
            <a:r>
              <a:t>• dbt docs generate # Generate docs</a:t>
            </a:r>
            <a:br/>
            <a:r>
              <a:t>• dbt docs serve    # Serve docs</a:t>
            </a:r>
            <a:br/>
            <a:r>
              <a:t>• dbt compile       # Compile SQL</a:t>
            </a:r>
            <a:br/>
            <a:r>
              <a:t>• dbt debug         # Debug connection</a:t>
            </a:r>
            <a:br/>
            <a:r>
              <a:t>• dbt deps          # Install packages</a:t>
            </a:r>
            <a:br/>
            <a:r>
              <a:t>• dbt clean         # Clean target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dbt Model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dbt run --models tag:staging      # Run staging only</a:t>
            </a:r>
            <a:br/>
            <a:r>
              <a:t>• dbt run --models +dm_customer_360 # Run with dependencies</a:t>
            </a:r>
            <a:br/>
            <a:r>
              <a:t>• dbt run --models customer_360+    # Run downstream</a:t>
            </a:r>
            <a:br/>
            <a:r>
              <a:t>• dbt test --select tag:core        # Test core models</a:t>
            </a:r>
            <a:br/>
            <a:r>
              <a:t>• dbt build --full-refresh          # Full rebuild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dbt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models:</a:t>
            </a:r>
            <a:br/>
            <a:r>
              <a:t>• analytics_dbt:</a:t>
            </a:r>
            <a:br/>
            <a:r>
              <a:t>• staging:</a:t>
            </a:r>
            <a:br/>
            <a:r>
              <a:t>• +materialized: view</a:t>
            </a:r>
            <a:br/>
            <a:r>
              <a:t>• +schema: staging</a:t>
            </a:r>
            <a:br/>
            <a:r>
              <a:t>• marts:</a:t>
            </a:r>
            <a:br/>
            <a:r>
              <a:t>• +materialized: table</a:t>
            </a:r>
            <a:br/>
            <a:r>
              <a:t>• +schema: marts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dbt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models:</a:t>
            </a:r>
            <a:br/>
            <a:r>
              <a:t>• name: dm_customer_360</a:t>
            </a:r>
            <a:br/>
            <a:r>
              <a:t>• columns:</a:t>
            </a:r>
            <a:br/>
            <a:r>
              <a:t>• name: customer_id</a:t>
            </a:r>
            <a:br/>
            <a:r>
              <a:t>• tests:</a:t>
            </a:r>
            <a:br/>
            <a:r>
              <a:t>• unique</a:t>
            </a:r>
            <a:br/>
            <a:r>
              <a:t>• not_null</a:t>
            </a:r>
            <a:br/>
            <a:r>
              <a:t>• name: customer_tier</a:t>
            </a:r>
            <a:br/>
            <a:r>
              <a:t>• tests:</a:t>
            </a:r>
            <a:br/>
            <a:r>
              <a:t>• accepted_values:</a:t>
            </a:r>
            <a:br/>
            <a:r>
              <a:t>• values: ['platinum', 'gold', 'silver', 'bronze']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dbt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dbt docs generate --project-dir .</a:t>
            </a:r>
            <a:br/>
            <a:r>
              <a:t>• dbt docs serve --project-dir . --port 8080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Metabase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docker-compose up -d metabase</a:t>
            </a:r>
            <a:br/>
            <a:r>
              <a:t>• curl http://localhost:3000/api/health</a:t>
            </a:r>
            <a:br/>
            <a:r>
              <a:t>• docker-compose logs metabase</a:t>
            </a:r>
            <a:br/>
            <a:r>
              <a:t>• docker-compose down -v</a:t>
            </a:r>
            <a:br/>
            <a:r>
              <a:t>• docker-compose up -d metabase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Metabase Environment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environment:</a:t>
            </a:r>
            <a:br/>
            <a:r>
              <a:t>• MB_DB_TYPE: postgres</a:t>
            </a:r>
            <a:br/>
            <a:r>
              <a:t>• MB_DB_DBNAME: metabase</a:t>
            </a:r>
            <a:br/>
            <a:r>
              <a:t>• MB_DB_PORT: 5432</a:t>
            </a:r>
            <a:br/>
            <a:r>
              <a:t>• MB_DB_USER: analytics_user</a:t>
            </a:r>
            <a:br/>
            <a:r>
              <a:t>• MB_DB_PASS: secure_password</a:t>
            </a:r>
            <a:br/>
            <a:r>
              <a:t>• MB_DB_HOST: postgres</a:t>
            </a:r>
            <a:br/>
            <a:r>
              <a:t>• MB_EMAIL_SMTP_HOST: smtp.gmail.com</a:t>
            </a:r>
            <a:br/>
            <a:r>
              <a:t>• MB_EMAIL_SMTP_PORT: 587</a:t>
            </a:r>
            <a:br/>
            <a:r>
              <a:t>• MB_EMAIL_SMTP_USERNAME: your_email@gmail.com</a:t>
            </a:r>
            <a:br/>
            <a:r>
              <a:t>• MB_EMAIL_SMTP_PASSWORD: your_password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Metabase API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Metabase Dashboard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Row 1: KPI Cards (6 cards)</a:t>
            </a:r>
            <a:br/>
            <a:r>
              <a:t>• Row 2: Trend Charts (2 charts, double height)</a:t>
            </a:r>
            <a:br/>
            <a:r>
              <a:t>• Row 3: Detail Charts (4 charts)</a:t>
            </a:r>
            <a:br/>
            <a:r>
              <a:t>• Row 4: Campaign Performance (full width)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Metabase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Use native SQL for complex queries</a:t>
            </a:r>
            <a:br/>
            <a:r>
              <a:t>• 2. Cache frequent queries</a:t>
            </a:r>
            <a:br/>
            <a:r>
              <a:t>• 3. Index database columns</a:t>
            </a:r>
            <a:br/>
            <a:r>
              <a:t>• 4. Limit dashboard data</a:t>
            </a:r>
            <a:br/>
            <a:r>
              <a:t>• 5. Use materialized views</a:t>
            </a:r>
            <a:br/>
            <a:r>
              <a:t>• 6. Monitor performance</a:t>
            </a:r>
            <a:br/>
            <a:r>
              <a:t>• 7. Regular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SHAP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pip install 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SHAP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explainer = shap.TreeExplainer(model)</a:t>
            </a:r>
            <a:br/>
            <a:r>
              <a:t>• shap_values = explainer.shap_values(X)</a:t>
            </a:r>
            <a:br/>
            <a:r>
              <a:t>• def predict_fn(X):</a:t>
            </a:r>
            <a:br/>
            <a:r>
              <a:t>• return model.predict_proba(X)</a:t>
            </a:r>
            <a:br/>
            <a:r>
              <a:t>• explainer = shap.KernelExplainer(predict_fn, background)</a:t>
            </a:r>
            <a:br/>
            <a:r>
              <a:t>• shap_values = explainer.shap_values(X, nsamples=100)</a:t>
            </a:r>
            <a:br/>
            <a:r>
              <a:t>• shap.summary_plot(shap_values, X, feature_names=features)</a:t>
            </a:r>
            <a:br/>
            <a:r>
              <a:t>• shap.waterfall_plot(</a:t>
            </a:r>
            <a:br/>
            <a:r>
              <a:t>• shap.Explanation(</a:t>
            </a:r>
            <a:br/>
            <a:r>
              <a:t>• values=shap_values[0],</a:t>
            </a:r>
            <a:br/>
            <a:r>
              <a:t>• base_values=explainer.expected_value,</a:t>
            </a:r>
            <a:br/>
            <a:r>
              <a:t>• data=X.iloc[0],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SHAP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SHAP Key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SHAP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Use TreeExplainer for tree models</a:t>
            </a:r>
            <a:br/>
            <a:r>
              <a:t>• 2. Use KernelExplainer for other models</a:t>
            </a:r>
            <a:br/>
            <a:r>
              <a:t>• 3. Sample background data for speed</a:t>
            </a:r>
            <a:br/>
            <a:r>
              <a:t>• 4. Explain test data, not training</a:t>
            </a:r>
            <a:br/>
            <a:r>
              <a:t>• 5. Use consistent feature names</a:t>
            </a:r>
            <a:br/>
            <a:r>
              <a:t>• 6. Validate with business logic</a:t>
            </a:r>
            <a:br/>
            <a:r>
              <a:t>• 7. Update explanations with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Fairlearn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pip install fairlearn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Fairlearn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from fairlearn.metrics import (</a:t>
            </a:r>
            <a:br/>
            <a:r>
              <a:t>• demographic_parity_difference,</a:t>
            </a:r>
            <a:br/>
            <a:r>
              <a:t>• equalized_odds_difference</a:t>
            </a:r>
            <a:br/>
            <a:r>
              <a:t>• dp_diff = demographic_parity_difference(</a:t>
            </a:r>
            <a:br/>
            <a:r>
              <a:t>• y_true, y_pred, sensitive_features=groups</a:t>
            </a:r>
            <a:br/>
            <a:r>
              <a:t>• eo_diff = equalized_odds_difference(</a:t>
            </a:r>
            <a:br/>
            <a:r>
              <a:t>• y_true, y_pred, sensitive_features=groups</a:t>
            </a:r>
            <a:br/>
            <a:r>
              <a:t>• from fairlearn.reductions import ExponentiatedGradient, DemographicParity</a:t>
            </a:r>
            <a:br/>
            <a:r>
              <a:t>• mitigator = ExponentiatedGradient(</a:t>
            </a:r>
            <a:br/>
            <a:r>
              <a:t>• estimator=model,</a:t>
            </a:r>
            <a:br/>
            <a:r>
              <a:t>• constraints=DemographicParity(),</a:t>
            </a:r>
            <a:br/>
            <a:r>
              <a:t>• eps=0.01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Fairlearn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Fairlearn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1. Identify protected groups</a:t>
            </a:r>
            <a:br/>
            <a:r>
              <a:t>• 2. Calculate multiple metrics</a:t>
            </a:r>
            <a:br/>
            <a:r>
              <a:t>• 3. Visualize group performance</a:t>
            </a:r>
            <a:br/>
            <a:r>
              <a:t>• 4. Apply appropriate mitigation</a:t>
            </a:r>
            <a:br/>
            <a:r>
              <a:t>• 5. Validate fairness after mitigation</a:t>
            </a:r>
            <a:br/>
            <a:r>
              <a:t>• 6. Monitor ongoing fairness</a:t>
            </a:r>
            <a:br/>
            <a:r>
              <a:t>• 7. Document all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Arial"/>
              </a:rPr>
              <a:t>Fairlearn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• from fairlearn.metrics import MetricFrame</a:t>
            </a:r>
            <a:br/>
            <a:r>
              <a:t>• metric_frame = MetricFrame(</a:t>
            </a:r>
            <a:br/>
            <a:r>
              <a:t>• metrics=['accuracy', 'selection_rate'],</a:t>
            </a:r>
            <a:br/>
            <a:r>
              <a:t>• y_true=y_true,</a:t>
            </a:r>
            <a:br/>
            <a:r>
              <a:t>• y_pred=y_pred,</a:t>
            </a:r>
            <a:br/>
            <a:r>
              <a:t>• sensitive_features=groups</a:t>
            </a:r>
            <a:br/>
            <a:r>
              <a:t>• metric_frame.by_group.plot.bar()</a:t>
            </a:r>
            <a:br/>
            <a:r>
              <a:t>• Total: 270+ comprehensive slides**</a:t>
            </a:r>
            <a:br/>
            <a:r>
              <a:t>• This slide deck provides a complete teaching framework for the Executive Decision Pipeline series. Use it as-is or customize for your specific audience and context.*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