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PHASE 3: APPLIED STATISTICS &amp;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Complete Tutorial Series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Part 0: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Series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- 3 Core Modules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- 1 Capstone Project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- 6 Reference Appendices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- 4 Primers for Beginners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3.1: Descriptive &amp; Inferential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Probability distributions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Sampling &amp; estimation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Central Limit Theorem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Confidence intervals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3.2: Hypothesis Testing &amp;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 analysis &amp; sample sizing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Parametric tests (t-tests, ANOVA)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Non-parametric tests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Multiple testing corrections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3.3: Statistical Modeling &amp; Diagnostic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OLS regression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Logistic regression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Model diagnostics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&amp; multicollinearity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Phase 3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End-to-End A/B Test &amp; Diagnostic Modeling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Data generation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 analysis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Hypothesis testing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Regression modeling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Interactive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Why Statistics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Statistics provides a framework for: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Making decisions under uncertainty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Quantifying confidence in results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Designing experiments properly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Avoiding common pitfalls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The Two Branches of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Descriptive Statistics: Summarizing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Inferential Statistics: Drawing conclusions from samples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Central tendency (mean, median, mode)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Dispersion (variance, standard deviation)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Shape (skewness, kurtosis)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Distribution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Inferential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Hypothesis testing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Confidence intervals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Regression modeling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Prediction &amp;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Data scientists &amp; analysts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Software engineers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Product managers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Students &amp; career changers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Python 3.8+ installed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Basic familiarity with variables and functions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Pandas &amp; NumPy basics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Basic algebra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Technical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numpy 1.24.3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pandas 2.0.3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scipy 1.10.1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statsmodels 0.14.0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matplotlib 3.7.1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seaborn 0.12.2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streamlit 1.25.0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Descriptive &amp; Inferential Foundations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Part 1: Probability Distributions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a Probability Distribution?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A mathematical function that describes the likelihood of different outcomes.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Parametric: Assumes a specific form (Normal, Binomial)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Non-parametric: Makes fewer assumptions (Uniform, Empirical)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Normal (Gaussian)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The "bell curve"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Symmetric around the mean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- 68-95-99.7 rule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Parameters: μ (mean), σ (standard deviation)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68-95-99.7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- 68% within ±1σ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- 95% within ±2σ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- 99.7% within ±3σ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Fixed number of trials (n)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Binary outcomes (success/failure)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Constant probability (p)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= np, Variance = np(1-p)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Poisson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Rare events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Constant rate (λ)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Independent events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= λ, Variance = 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Exponential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Time between events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Memoryless property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= 1/λ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Used in waiting time models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Uniform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All outcomes equally likely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Range: a to b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= (a+b)/2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 = (b-a)²/12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Distribution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Center of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Spread of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Skewness: Asymmetry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Kurtosis: Tailedness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3.1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Sampling &amp; Estimation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Population vs.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Population: Entire group of interest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Sample: Subset measured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Parameter: Population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Statistic: Sample value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Point 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mean estimates population mean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proportion estimates population proportion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variance estimates population variance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Best single guess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Standard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Standard deviation of sampling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SE = σ/√n (when σ is known)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SE = s/√n (when σ is unknown)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Measures precision of estimate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Range likely containing true parameter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- 95% CI: ±1.96 × SE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Wider = more confidence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Narrower = more precision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Confidence Interval for Mean (σ known)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x̄ ± z(α/2) × σ/√n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Confidence Interval for Mean (σ unknown)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x̄ ± t(α/2, n-1) × s/√n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Margin of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Half the width of CI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MOE = z × SE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Smaller MOE = more precise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Determined by sample size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for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n = (z × σ / MOE)²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Larger MOE → smaller 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Larger σ → larger 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Higher confidence → larger 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for Proportion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n = z² × p(1-p) / MOE²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p=0.5 is most conservative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Larger MOE → smaller 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Higher confidence → larger 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3.1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The Central Limit Theorem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the Central Limit Theorem?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means approach normal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Regardless of population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As sample size increases (n ≥ 30)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of sample means = population mean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CLT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Population: mean = μ, variance = σ²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mean distribution: mean = μ, variance = σ²/n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Standard error = σ/√n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Why the CLT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Enables inference without normality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Justifies t-tests and confidence intervals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Works for most distributions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Foundation of modern statistics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 ≥ 30: CLT applies generally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 ≥ 50: Safe for skewed distributions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 ≥ 100: Nearly perfect normality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Larger samples = better approximation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CLT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Start with any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Take many samples of size 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Calculate each sample mean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Plot distribution of means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Observe normal shape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Bootstrap Resampling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Resample with replacement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Estimate sampling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assumptions needed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Works for any statistic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Bootstrap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1. Draw B bootstrap samples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2. Calculate statistic for each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3. Distribution approximates sampling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4. Use percentiles for CI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Hypothesis Testing &amp; Experimental Design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Part 1: A/B Testing &amp; Power Analysis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A/B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Controlled experiment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Random assignment to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outcomes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Make data-driven decisions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The A/B Testing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1. Formulate hypothesis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2. Assign users randomly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3. Run the experiment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4. Collect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5. Analyze results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6. Make decision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Null Hypothesis (H₀)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Default assumption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effect or difference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Innocent until proven guilty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"Button color doesn't affect conversions"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Alternative Hypothesis (H₁)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What you're trying to prove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Effect or difference exists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"Green button increases conversions"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Significance Level (α)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Threshold for rejecting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α = 0.05 is standard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Risk of false positive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Type I error rate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Probability under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 &lt; α → Reject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 ≥ α → Fail to reject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Not probability H₀ is true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Type I Error (α)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False positive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Reject H₀ when true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α = 5% means 5% risk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"Fire alarm when no fire"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Type II Error (β)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False negative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Fail to reject H₀ when false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β = 20% typical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"Fire when no alarm"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Statistical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Probability of detecting real effect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 = 1 - 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Target: 0.80 (80%)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Affected by sample size, effect size, 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Effect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Magnitude of difference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Cohen's d: Mean difference / pooled SD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Small: 0.2, Medium: 0.5, Large: 0.8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Practical significance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Power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Calculate sample size needed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Given: α, power, effect size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Essential for experiment design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Prevents underpowered studies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for Two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n = 2(z(α/2) + z(β))² / d²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Equal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Based on Cohen's 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d=0.5, 80% power → 64 per group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for Two Proportions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n = (z(α/2) + z(β))² × [p₁(1-p₁) + p₂(1-p₂)] / (p₂-p₁)²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Based on baseline and expected improvement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10% → 12%, 80% power → 1,068 per group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One-Tailed vs. Two-Tailed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Two-tailed: Test for any difference (more conservative)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One-tailed: Test for increase or decrease (more powerful)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Pre-register choice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3.2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Parametric &amp; Non-Parametric Tests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Parametric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Assumes normal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More powerful when assumptions met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Examples: t-tests, ANOVA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Requires continuous data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One-Sample t-Test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sample mean to known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μ = μ₀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 = (x̄ - μ₀) / (s/√n)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df = n-1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Two-Sample t-Test (Independent)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two independent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μ₁ = μ₂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Types: Student's (equal variance), Welch's (unequal)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Welch's is more robust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Paired t-Test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two related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Before/after designs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μ_d = 0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 = d̄ / (s_d/√n)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ANOVA (Analysis of Variance)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3+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All means equal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F-statistic = MS_between / MS_within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Post-hoc tests if significant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Post-Hoc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Conducted after significant ANOVA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Identify which groups differ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Tukey's HSD (most common)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Multiple testing correction applied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Non-Parametric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normality assumption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ranks instead of values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Robust to outliers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Work with ordinal data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Mann-Whitney U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Alternative to two-sample t-test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two independent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Ranks all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U-statistic based on ranks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Wilcoxon Signed-Rank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Alternative to paired t-test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Paired observations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Ranks absolute differences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More robust than paired t-test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Kruskal-Wallis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Alternative to ANOVA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3+ independent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Ranks all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H-statistic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Spearman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Non-parametric correlation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Uses ranks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Monotonic relationships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ρ (rho) statistic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Chi-Square Test of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Categorical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Variables independent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χ² = Σ(O-E)²/E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Expected frequencies ≥ 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Fisher's Exact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- 2x2 tables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 sample sizes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Exact p-value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expected frequency requirement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Multiple Testing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Problem: Multiple tests = false positives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FWER: Family-wise error rate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FDR: False discovery rate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Methods: Bonferroni, Holm, Benjamini-Hochberg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Bonferroni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α' = α / 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Most conservative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Guarantees FWER ≤ α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100 tests → α' = 0.0005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Holm-Bonferroni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Step-down procedure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Less conservative than Bonferroni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Still controls FWER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More powerful than Bonferroni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Benjamini-Hochberg (FDR)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Controls FDR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More power than FWER methods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Good for exploratory research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Genomics studies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Statistical Modeling &amp; Diagnostic Analysis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Part 1: Regression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Regression?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Quantifies relationships between variables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Predicts outcomes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Controls for confounders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Y = β₀ + β₁X₁ + ... + βₖXₖ + 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Simple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One predictor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Y = β₀ + β₁X + ε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β₀: Intercept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β₁: Slope (effect of X)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Interpretation of β₁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For each 1-unit increase in X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Y changes by β₁ units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β₁ = 0.15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Each additional sq ft adds $150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Multiple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Multiple predictors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Y = β₀ + β₁X₁ + ... + βₖXₖ + ε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Each βᵢ: Effect of Xᵢ holding others constant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Controls for confounding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R-Squared (R²)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Proportion of variance explained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Range: 0 to 1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R² = SSR / SST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Higher = better fit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Adjusted R-Squared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Penalizes model complexity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R²adj = 1 - (1-R²)(n-1)/(n-k-1)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for comparing models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Prevents overfitting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Coefficient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Positive β: Increases 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Negative β: Decreases 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Magnitude: Size of effect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P-value: Significance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Confidence Intervals for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βⱼ ± t(α/2, n-k-1) × SE(βⱼ)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Width indicates precision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Contains 0 → not significant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- 95% CI standard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Prediction with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fitted model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Predict Y for new X values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Point estimate: Ŷ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Prediction interval: Range for individual prediction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3.3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Model Diagnostics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Why Diagnostics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Models require assumptions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Violations invalidate results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Diagnostics check assumptions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Ensure reliable conclusions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LINE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L: Linearity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I: Independence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N: Normality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E: Equal variance (Homoscedasticity)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Linearity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Relationship between X and Y is linear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Check: Residual vs Fitted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pattern = good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Curved pattern = violation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Independence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Observations are independent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Check: Durbin-Watson 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 ≈ 2 = no autocorrelation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Violation: Time series data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Normality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Residuals are normally distributed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Check: Q-Q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Points on diagonal = good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Shapiro-Wilk test: p &gt; 0.05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Q-Q Plot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Points on line: Normal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S-curve: Heavy tails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Concave: Right skew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Convex: Left skew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Homoscedasticity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Constant variance of residuals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Check: Residual vs Fitted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Constant spread = good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Fanning out = violation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Breusch-Pagan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Formal test for heteroscedasticity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Homoscedastic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 &lt; 0.05 → violation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robust SE if violated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Multicollinearity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Predictors are correlated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Unstable coefficients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&gt; 10 → problematic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&gt; 5 → concerning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Variance Inflation Factor (VIF)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VIF = 1 / (1 - R²ⱼ)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R²ⱼ: R² from regressing Xⱼ on other X's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= 1: No correlation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= 10: High correlation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Outliers and Influence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Outlier: Extreme Y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Leverage: Extreme X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Influence: Combined effect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Cook's D: Influence measure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Cook's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Dᵢ = (eᵢ² / (k+1)MSE) × (hᵢᵢ / (1-hᵢᵢ)²)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 &gt; 1: Influential point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Investigate these observations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Consider robust methods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Leverage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hᵢᵢ = Xᵢ(X'X)⁻¹Xᵢ'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- 0 &lt; hᵢᵢ &lt; 1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Average = (k+1)/n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&gt; 2(k+1)/n: High leverage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Indicates extreme 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Studentized Residuals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Residual divided by its SE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|t| &gt; 2: Potential outlier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|t| &gt; 3: Probable outlier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for outlier detection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DFFITS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Change in fitted values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|DFFITS| &gt; 2√((k+1)/n)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Influential observation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Consider removal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Binary outcome (0/1)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Models probability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Logit: ln(p/(1-p))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OR: Odds ratio interpretation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Logistic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P(Y=1) = 1 / (1 + e^-(β₀ + β₁X₁ + ... + βₖXₖ))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Output: Probability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Range: 0 to 1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S-shaped curve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Odds Ratio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OR = e^β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OR &gt; 1: Increased odds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OR &lt; 1: Decreased odds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OR = 1: No effect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OR = 1.5 → 50% increase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Logistic Regression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Deviance: Fit measure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AIC: Model selection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Hosmer-Lemeshow: Goodness-of-fit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Classification accuracy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Variable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Forward: Start empty, add best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Backward: Start full, remove worst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Stepwise: Combination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Uses p-values or AIC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Prevents overfitting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Ridge (L₂): Shrinks coefficients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Lasso (L₁): Variable selection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Elastic Net: Combines both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PHASE 3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End-to-End A/B Test &amp; Diagnostic Modeling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Capstone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Design experiment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Generate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Run analysis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Build model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Create dashboard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Present results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1: 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Define hypothesis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Calculate sample size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Set significance level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Determine duration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2: Data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Simulate realistic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Known ground truth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 and treatment groups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Include confounders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3: Descriptive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Summary statistics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Distribution checks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Visualizations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Group comparisons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4: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Parametric tests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Non-parametric tests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Multiple testing corrections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Effect size calculation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5: Regression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Build OLS model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Include all predictors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Interpret coefficients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Assess significance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6: Model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 all assumptions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calculation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Residual analysis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Influence metrics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7: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Interpret results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Calculate business impact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Make recommendation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Plan next steps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8: Dashboard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Interactive visualization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Key metrics displayed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Filter by segment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Export capabilities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Step 9: 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Executive summary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Detailed analysis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Recommendations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Technical appendix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Final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src/data_generation/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src/descriptive/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src/hypothesis/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src/modeling/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src/visualization/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capstone/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notebooks/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tests/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Statistical Distributions Reference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Normal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Parameters: μ, σ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PDF: (1/(σ√2π)) × e^(-(x-μ)²/(2σ²))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μ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σ²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Skewness: 0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Kurtosis: 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Parameters: n, p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PMF: C(n,k) p^k (1-p)^(n-k)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np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np(1-p)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Conditions: Fixed trials, binary, independent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Poisson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Parameter: λ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PMF: e^(-λ) λ^k / k!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λ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λ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Use: Rare events, constant rate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Exponential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Parameter: λ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PDF: λ e^(-λx)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1/λ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1/λ²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Memoryless property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Uniform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Parameters: a, b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PDF: 1/(b-a)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(a+b)/2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(b-a)²/12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All outcomes equally likely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t-Distribution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Parameter: ν (df)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0 (ν &gt; 1)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ν/(ν-2) (ν &gt; 2)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Heavier tails than normal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Approaches normal as ν → ∞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Chi-Square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Parameter: k (df)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k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2k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Sum of squared normals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Used in goodness-of-fit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F-Distribution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Parameters: d₁, d₂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d₂/(d₂-2) (d₂ &gt; 2)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 ratio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Used in ANOVA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Ratio of chi-squares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Hypothesis Testing Reference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Test Selection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- 1 sample vs known: One-sample t-test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- 2 independent groups: t-test or Mann-Whitney U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- 2 paired groups: Paired t-test or Wilcoxon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- 3+ groups: ANOVA or Kruskal-Wallis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Categorical: Chi-square or Fisher's exact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Parametric vs. Non-Parametric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Parametric: Assumes normality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Non-parametric: No distribution assumption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Parametric: More powerful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Non-parametric: More robust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When to Use Parametric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Data is normal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size ≥ 30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Continuous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outliers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When to Use Non-Parametric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Data is not normal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 sample size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Ordinal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Outliers present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Safety first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Effect Size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Cohen's d: 0.2=small, 0.5=medium, 0.8=large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Correlation r: 0.1=small, 0.3=medium, 0.5=large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Cramer's V: 0.1=small, 0.3=medium, 0.5=large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Odds ratio: 1.5=small, 2.5=medium, 4=large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Confidence Level vs.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- 90% confidence → α = 0.10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- 95% confidence → α = 0.05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- 99% confidence → α = 0.01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- 99.9% confidence → α = 0.001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Regression &amp; Diagnostics Reference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Regression Assumptions (LINE)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1. Linearity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2. Independence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3. Normality of residuals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4. Equal variance (Homoscedasticity)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Checking 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Residual vs Fitted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 pattern = good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Pattern = violation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transformations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Checking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Durbin-Watson 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 ≈ 2 = good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 &lt; 1 or &gt; 3 = violation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time series models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Checking Normality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Q-Q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Shapiro-Wilk 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 &gt; 0.05 = normal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Transform if violated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Checking Homoscedasticity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Residual vs Fitted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Constant spread = good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Fanning = violation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Breusch-Pagan test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VIF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 = 1: No correlation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- 1-5: Moderate, acceptable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- 5-10: High, concerning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&gt;10: Severe, problematic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Cook's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 &gt; 1: Influential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Investigate these points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Consider robust methods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Might remove if problematic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Leverage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Average: (k+1)/n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High: &gt; 2(k+1)/n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Extreme X values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Can affect coefficients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Studentized Residuals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|t| &gt; 2: Potential outlier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|t| &gt; 3: Probable outlier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with caution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Investigate cause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Python Library API Reference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NumPy 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np.array(): Create array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np.mean(): Mean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np.std(): Standard deviation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np.random.normal(): Generate normal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np.random.binomial(): Generate binomial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Pandas 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pd.read_csv(): Load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df.head(): Preview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df.describe(): Summary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df.groupby(): Group operations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df.merge(): Join dataframes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SciPy Statistical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stats.norm(): Normal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stats.ttest_ind(): Two-sample t-test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stats.mannwhitneyu(): Mann-Whitney U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stats.chi2_contingency(): Chi-square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stats.shapiro(): Normality test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Statsmodels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sm.OLS(): OLS regression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smf.ols(): Formula interface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results.summary(): Output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results.params: Coefficients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results.pvalues: P-values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Matplotlib Plotting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plt.plot(): Line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plt.scatter(): Scatter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plt.hist(): Histogram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plt.boxplot(): Box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plt.savefig(): Save figure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Seaborn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sns.histplot():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sns.boxplot(): Box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sns.regplot(): Regression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sns.heatmap(): Correlation heatmap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sns.pairplot(): Pairwise relationships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st.title(): Title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st.write(): Text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st.dataframe(): Display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st.pyplot(): Show plot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st.slider(): Interactive slider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Common Formulas &amp; Cheat Sheets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Descriptive Statistics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Σx/n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Σ(x-x̄)²/(n-1)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Standard deviation: √variance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Skewness: E[(x-μ)³]/σ³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Kurtosis: E[(x-μ)⁴]/σ⁴ - 3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Confidence Interval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(σ known): x̄ ± z(α/2) × σ/√n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 (σ unknown): x̄ ± t(α/2, n-1) × s/√n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Proportion: p̂ ± z(α/2) × √(p̂(1-p̂)/n)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Difference in means: (x̄₁-x̄₂) ± t × √(s₁²/n₁ + s₂²/n₂)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n = (zσ/MOE)²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Proportion: n = z²p(1-p)/MOE²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Two means: n = 2(zα/2 + zβ)²/d²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Two proportions: n = (zα/2 + zβ)²[p₁(1-p₁)+p₂(1-p₂)]/(p₂-p₁)²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Effect Size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Cohen's d: (x̄₁-x̄₂)/s_pooled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Pearson r: Σ(x-x̄)(y-ȳ)/√(Σ(x-x̄)²Σ(y-ȳ)²)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Cramer's V: √(χ²/(n × min(r-1,c-1)))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Odds ratio: (a×d)/(b×c)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Regression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Simple: Y = β₀ + β₁X + ε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Multiple: Y = β₀ + ΣβᵢXᵢ + ε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OLS: β = (X'X)⁻¹X'Y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R²: 1 - SSE/SST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VIF: 1/(1-R²ⱼ)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Power and Sample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 = 1 - 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Target power: 0.80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 size increases with: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Smaller effect size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Higher power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Lower α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Higher variability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Glossary of Statistical Terms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A - C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A/B Testing: Controlled experiment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Alternative Hypothesis: H₁, effect exists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ANOVA: Analysis of Variance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Chi-Square: Categorical 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Confidence Interval: Range containing parameter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Correlation: Association between variables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D - F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Degrees of Freedom: Independent information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Descriptive Statistics: Summarizing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Effect Size: Magnitude of effect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F-Statistic: Test statistic for ANOVA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Family-Wise Error Rate: False positive rate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H - M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Hypothesis: Statement to test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Inference: Drawing conclusions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Average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Median: Middle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Mode: Most common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Multicollinearity: Correlated predictors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 - P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Normal Distribution: Bell curve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Null Hypothesis: H₀, no effect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Outlier: Extreme observation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P-Value: Probability under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Parametric: Assumes distribution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Power: Probability of detecting effect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 - S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R-Squared: Explained variance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Regression: Modeling relationships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Residual: Prediction error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Sample: Subset of population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Standard Deviation: Spread measure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Standard Error: Precision of estimate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 - V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t-Test: Compare means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Type I Error: False positive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Type II Error: False negative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Squared spread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VIF: Variance Inflation Factor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Statistical Foundations for Absolute Beginners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Statistics?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Making decisions with incomplete information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Descriptive: Summarizing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Inferential: Drawing conclusions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Real-world: Weather forecasts, elections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Quantitative: Numbers (height, age)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Categorical: Categories (color, gender)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Continuous: Any number (temperature)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Discrete: Whole numbers (children count)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Population vs.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Population: Everyone of interest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Sample: Measured subset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Parameter: Population value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Statistic: Sample value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Mean, Median,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Mean: Average (sum/n)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Median: Middle value (sorted)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Mode: Most frequent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median for skewed data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Variance and Standard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Variance: Average squared deviation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Standard deviation: √variance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 SD: Consistent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Large SD: Spread out data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68-95-99.7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- 68% within ±1σ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- 95% within ±2σ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- 99.7% within ±3σ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Only for normal data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Correlation vs.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Correlation: Association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Causation: One causes other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Correlation ≠ Causation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Need experiments for causation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Hypothesis Testing for Beginners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The Courtroom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H₀: Innocent (no effect)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H₁: Guilty (effect exists)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Evidence: Data from experiment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Verdict: Reject or fail to reject H₀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Probability of data if H₀ true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 p = evidence against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 &lt; α → Reject H₀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Not probability H₀ is true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Type I and Type II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Type I: False positive (α)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Type II: False negative (β)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Trade-off: α vs. β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 = 1 - β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Statistical vs. Practical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Statistical: p &lt; α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Practical: Effect size matters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Large sample = small p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 effect may not matter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Regression for Beginners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Regression?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Quantifies relationships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Predicts outcomes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Controls for confounders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"How much does X affect Y?"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Simple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Y = β₀ + β₁X + ε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β₀: Intercept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β₁: Slope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ε: Error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Example: Price = 50 + 0.15 × SqFt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Multiple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Y = β₀ + β₁X₁ + ... + βₖXₖ + ε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Each β: Effect of one variable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Holding others constant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Controls for confounding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R-Squared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- 0: No explanation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- 1: Perfect explanation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- 0.75: 75% explained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Use adjusted R² for comparison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A/B Testing for Product Managers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What is A/B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Compare two versions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Random assignment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Measure outcomes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Data-driven decisions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Choosing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Primary: Most important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Secondary: Supporting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Guardrail: Shouldn't worsen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Pre-register metrics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Sample Size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Smaller effects = more users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Higher power = more users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Lower α = more users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- 80% power standard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Running the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Randomize properly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Run for full duration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Don't peek at results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 guardrails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Interpreting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 confidence interval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Look at effect size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Assess practical significance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Consider business impact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Making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Significant &amp; Important → Roll out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Significant &amp; Tiny → Consider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Not Significant &amp; Important → More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Not Significant &amp; Not Important → Stop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Ending tests early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Testing too many things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Ignoring segments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Not running long enough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Over-optimizing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Communicating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Start with bottom line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Add evidence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Include confidence interval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Recommend action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Plan next steps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The 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Statistical significance: Real vs. random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Practical significance: Important vs. trivial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Business impact: Worth vs. not worth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Cost vs. benefit analysis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What You've Learned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3.1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Generate distributions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Calculate confidence intervals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Apply CLT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Bootstrap resampling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3.2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Design A/B tests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Calculate power and sample size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Run parametric tests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Run non-parametric tests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Apply multiple testing corrections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Module 3.3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Fit OLS regression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Fit logistic regression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 model assumptions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Diagnose problems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Interpret coefficients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Capstone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Generate experiment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Run complete analysis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Build interactive dashboard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Generate professional reports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Make business recommendations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Code Written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- 15+ production files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- 4,650+ lines of code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Complete toolkit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Reusable functions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Production quality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Product analytics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Marketing effectiveness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Financial modeling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Healthcare research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Operations optimization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Practice on real data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Build portfolio projects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Apply at work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Share with others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Continue learning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Key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Question assumptions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Check diagnostics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Report effect sizes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Communicate clearly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Make data-driven decisions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Statistical significance ≠ Practical significance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Correlation ≠ Causation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Always check assumptions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Power matters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Report everything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Final Quote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"In God we trust; all others must bring data."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— W. Edwards Deming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Phase 3: Applied Statistics &amp; Hypothesis Testing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Complete Tutorial Series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## How to Use This Presentation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1. Copy all slide content into PowerPoint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2. Each line between "---" is one slide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3. Use white background, black text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4. Font: Arial or Calibri, 24-32pt for body, 36-44pt for titles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5. No colors, no images per your request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6. Professional, clean, minimalist design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The presentation covers: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- 3 main modules (Slides 14-105)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- 1 capstone (Slides 106-117)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- 6 appendices (Slides 118-165)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- 4 primers (Slides 166-193)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- Summary &amp; conclusions (Slides 194-205)</a:t>
            </a:r>
          </a:p>
          <a:p>
            <a:pPr algn="ctr">
              <a:spcBef>
                <a:spcPts val="1200"/>
              </a:spcBef>
              <a:defRPr sz="2800">
                <a:solidFill>
                  <a:srgbClr val="000000"/>
                </a:solidFill>
                <a:latin typeface="Calibri"/>
              </a:defRPr>
            </a:pPr>
            <a:r>
              <a:t>All content is designed to be readable, educational, and professional for teaching this comprehensive statistical series.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