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600" b="1">
                <a:solidFill>
                  <a:srgbClr val="000000"/>
                </a:solidFill>
                <a:latin typeface="Arial"/>
              </a:defRPr>
            </a:pPr>
            <a:r>
              <a:t>MASTERING HIGH-PERFORMANCE NUMPY</a:t>
            </a:r>
          </a:p>
          <a:p>
            <a:pPr>
              <a:defRPr sz="2000">
                <a:solidFill>
                  <a:srgbClr val="666666"/>
                </a:solidFill>
                <a:latin typeface="Arial"/>
              </a:defRPr>
            </a:pPr>
            <a:r>
              <a:t>System Architecture, Memory Mechanics, Vectorization &amp; Zero-Copy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CURRICULUM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Course Overview &amp; Module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Primer 1 &amp; 2: Architectural Foundations &amp; Diagnostic Environment Setup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Module 1: Memory Architecture &amp; Stride Mechanics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Module 2: Broadcasting Mechanics &amp; High-Throughput Vectorization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Module 3: Advanced Optimization, Einstein Summation &amp; Numba JIT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Module 4: Memory-Mapped Files &amp; Out-of-Core Processing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Capstone Project &amp; Technical Appendices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PRIMER 1: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Why Python Need NumPy: The Overhead of Pure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Pure Python lists store pointers to heap-allocated PyObject structs.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Every integer element incurs 28 bytes of object overhead (type tag, reference count, value).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Cache invalidation occurs frequently due to non-contiguous pointer chasing in RAM.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NumPy unifies homogenous primitives into flat, contiguous C byte arrays.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Reduces memory footprint by 75-90% and enables SIMD CPU instruction pipelining.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PRIMER 1: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The BLAS / LAPACK Engine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NumPy delegates heavy linear algebra to underlying optimized C/Fortran libraries.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OpenBLAS: Open-source multi-threaded BLAS shipping with standard wheel builds.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Intel MKL: Intel-optimized library targeting AVX-512 and AMX instruction sets.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Apple Accelerate / vecLib: Native hardware acceleration for Apple Silicon (NEON engine).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Standard ufuncs execute in C loops; Matrix operations (@) invoke BLAS kernels.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PRIMER 2: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Environment Diagnostics &amp; Hardware Inspection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Always verify the active BLAS/LAPACK linking backend prior to benchmarking.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np.show_config() inspects linked dependencies and SIMD CPU vector extensions.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Unmanaged multi-threading across worker processes causes CPU context-switching overhead.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Use environment variables (OMP_NUM_THREADS) or threadpoolctl to manage thread pools.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PRIMER 2: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Diagnostic Script: Inspecting Hardware &amp; BLAS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41414"/>
                </a:solidFill>
                <a:latin typeface="Courier New"/>
              </a:defRPr>
            </a:pPr>
            <a:r>
              <a:t>import numpy as np</a:t>
            </a:r>
            <a:br/>
            <a:r>
              <a:t>import sys</a:t>
            </a:r>
            <a:br/>
            <a:br/>
            <a:r>
              <a:t>print(f"NumPy Version: {np.__version__}")</a:t>
            </a:r>
            <a:br/>
            <a:r>
              <a:t>print(f"Python Executable: {sys.executable}")</a:t>
            </a:r>
            <a:br/>
            <a:br/>
            <a:r>
              <a:t># Audit BLAS Backend Configuration</a:t>
            </a:r>
            <a:br/>
            <a:r>
              <a:t>np.show_config()</a:t>
            </a:r>
            <a:br/>
            <a:br/>
            <a:r>
              <a:t># Inspect Floating-Point Hardware Limits</a:t>
            </a:r>
            <a:br/>
            <a:r>
              <a:t>float_info = np.finfo(np.float64)</a:t>
            </a:r>
            <a:br/>
            <a:r>
              <a:t>print(f"Float64 Resolution: {float_info.precision} digits")</a:t>
            </a:r>
            <a:br/>
            <a:r>
              <a:t>print(f"Float64 Max Value : {float_info.max:.2e}")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Arial"/>
              </a:defRPr>
            </a:pPr>
            <a:r>
              <a:t>Execute prior to deployment to verify hardware instruction dispatch.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PRIMER 2: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Thread Control &amp; Profiling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Threadpoolctl allows explicit, programmatic thread limits inside Python runtime.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Execution Profiling: cProfile tracks cumulative time per function call.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Memory Profiling: memory_profiler tracks line-by-line RAM allocation spikes.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Key Goal: Identify temporary array copies before moving to production.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MODULE 1: MEMORY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Anatomy of an ndarray: Dual-Layer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A NumPy array strictly separates metadata from raw binary payloads.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1. Array Header (PyArrayObject Metadata):</a:t>
            </a:r>
          </a:p>
          <a:p>
            <a:pPr lvl="2">
              <a:spcAft>
                <a:spcPts val="1200"/>
              </a:spcAft>
              <a:defRPr sz="1200">
                <a:solidFill>
                  <a:srgbClr val="666666"/>
                </a:solidFill>
                <a:latin typeface="Arial"/>
              </a:defRPr>
            </a:pPr>
            <a:r>
              <a:t>   Stores shape, strides, data pointer, dtype, and flag bitmasks.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2. Raw Data Buffer:</a:t>
            </a:r>
          </a:p>
          <a:p>
            <a:pPr lvl="2">
              <a:spcAft>
                <a:spcPts val="1200"/>
              </a:spcAft>
              <a:defRPr sz="1200">
                <a:solidFill>
                  <a:srgbClr val="666666"/>
                </a:solidFill>
                <a:latin typeface="Arial"/>
              </a:defRPr>
            </a:pPr>
            <a:r>
              <a:t>   A flat, block of contiguous binary RAM containing the raw numerical bytes.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Separation enables instant structural transformations without modifying bytes.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MODULE 1: MEMORY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Understanding Stride Mechanics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Strides define the number of bytes required to advance one element along an axis.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Formally, strides S = (S_0, S_1, ..., S_k) dictate the byte offset in memory.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Offset Formula for multi-dimensional index (i_0, i_1, ..., i_k):</a:t>
            </a:r>
          </a:p>
          <a:p>
            <a:pPr lvl="2">
              <a:spcAft>
                <a:spcPts val="1200"/>
              </a:spcAft>
              <a:defRPr sz="1200">
                <a:solidFill>
                  <a:srgbClr val="666666"/>
                </a:solidFill>
                <a:latin typeface="Arial"/>
              </a:defRPr>
            </a:pPr>
            <a:r>
              <a:t>   Byte Offset = Sum_j (i_j * S_j)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Understanding strides is the key to zero-copy data manipulation.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MODULE 1: MEMORY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C-Contiguous vs. Fortran-Contiguous Memory Layouts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C-Contiguous (Row-Major):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   Last dimension index changes fastest in RAM. Default standard in C and Python.</a:t>
            </a:r>
          </a:p>
          <a:p>
            <a:pPr lvl="2">
              <a:spcAft>
                <a:spcPts val="1200"/>
              </a:spcAft>
              <a:defRPr sz="1200">
                <a:solidFill>
                  <a:srgbClr val="666666"/>
                </a:solidFill>
                <a:latin typeface="Arial"/>
              </a:defRPr>
            </a:pPr>
            <a:r>
              <a:t>   Best for row-wise iterations and horizontal slicing.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Fortran-Contiguous (Column-Major):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   First dimension index changes fastest in RAM. Standard in R, MATLAB, and Fortran.</a:t>
            </a:r>
          </a:p>
          <a:p>
            <a:pPr lvl="2">
              <a:spcAft>
                <a:spcPts val="1200"/>
              </a:spcAft>
              <a:defRPr sz="1200">
                <a:solidFill>
                  <a:srgbClr val="666666"/>
                </a:solidFill>
                <a:latin typeface="Arial"/>
              </a:defRPr>
            </a:pPr>
            <a:r>
              <a:t>   Best for column-wise operations.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Mismatched memory access patterns induce L1/L2 CPU cache misses.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MODULE 1: MEMORY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Inspecting Array Metadata and Strides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41414"/>
                </a:solidFill>
                <a:latin typeface="Courier New"/>
              </a:defRPr>
            </a:pPr>
            <a:r>
              <a:t>import numpy as np</a:t>
            </a:r>
            <a:br/>
            <a:br/>
            <a:r>
              <a:t># Create a 2D array of int32 (4 bytes per item)</a:t>
            </a:r>
            <a:br/>
            <a:r>
              <a:t>arr = np.arange(12, dtype=np.int32).reshape(3, 4)</a:t>
            </a:r>
            <a:br/>
            <a:br/>
            <a:r>
              <a:t>print("Shape   :", arr.shape)      # Output: (3, 4)</a:t>
            </a:r>
            <a:br/>
            <a:r>
              <a:t>print("Dtype   :", arr.dtype)      # Output: int32</a:t>
            </a:r>
            <a:br/>
            <a:r>
              <a:t>print("Strides :", arr.strides)    # Output: (16, 4) -&gt; 16 bytes/row, 4 bytes/col</a:t>
            </a:r>
            <a:br/>
            <a:r>
              <a:t>print("Address :", hex(arr.ctypes.data))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Arial"/>
              </a:defRPr>
            </a:pPr>
            <a:r>
              <a:t>Strides reveal exact byte traversal rules applied by the C runtime.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MODULE 1: MEMORY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Views vs. Copies: The Zero-Copy Golden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View (0 Bytes Allocated):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   Creates a new array metadata header sharing the exact same underlying buffer.</a:t>
            </a:r>
          </a:p>
          <a:p>
            <a:pPr lvl="2">
              <a:spcAft>
                <a:spcPts val="1200"/>
              </a:spcAft>
              <a:defRPr sz="1200">
                <a:solidFill>
                  <a:srgbClr val="666666"/>
                </a:solidFill>
                <a:latin typeface="Arial"/>
              </a:defRPr>
            </a:pPr>
            <a:r>
              <a:t>   Slicing with step sizes, reshape, and transposing ALWAYS create views.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Copy (RAM Allocation &amp; Byte Duplication):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   Allocates a completely new memory buffer and duplicates data.</a:t>
            </a:r>
          </a:p>
          <a:p>
            <a:pPr lvl="2">
              <a:spcAft>
                <a:spcPts val="1200"/>
              </a:spcAft>
              <a:defRPr sz="1200">
                <a:solidFill>
                  <a:srgbClr val="666666"/>
                </a:solidFill>
                <a:latin typeface="Arial"/>
              </a:defRPr>
            </a:pPr>
            <a:r>
              <a:t>   Fancy indexing (integer array / boolean masking) ALWAYS creates copies.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MODULE 1: MEMORY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Verifying View vs. Copy Behavior in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41414"/>
                </a:solidFill>
                <a:latin typeface="Courier New"/>
              </a:defRPr>
            </a:pPr>
            <a:r>
              <a:t>import numpy as np</a:t>
            </a:r>
            <a:br/>
            <a:br/>
            <a:r>
              <a:t>X = np.ones((100, 100))</a:t>
            </a:r>
            <a:br/>
            <a:br/>
            <a:r>
              <a:t># Basic slicing creates a VIEW (shares buffer)</a:t>
            </a:r>
            <a:br/>
            <a:r>
              <a:t>view_arr = X[::2, ::2]</a:t>
            </a:r>
            <a:br/>
            <a:r>
              <a:t>print("View shares memory:", view_arr.base is X)  # True</a:t>
            </a:r>
            <a:br/>
            <a:br/>
            <a:r>
              <a:t># Fancy indexing creates a COPY (allocates RAM)</a:t>
            </a:r>
            <a:br/>
            <a:r>
              <a:t>copy_arr = X[[0, 1, 2], :]</a:t>
            </a:r>
            <a:br/>
            <a:r>
              <a:t>print("Copy shares memory:", copy_arr.base is X)  # False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Arial"/>
              </a:defRPr>
            </a:pPr>
            <a:r>
              <a:t>Use .base attribute or ctypes.data address comparison to verify buffer sharing.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MODULE 1: MEMORY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Advanced Slicing and Strided View Manipulation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Basic Slicing Syntax: start:stop:step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Negative steps reverse stride directions without copying bytes.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Transposing (arr.T) swaps stride values across dimensions instantly.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Overlapping memory views can lead to unintended side effects during in-place mutation.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MODULE 1: MEMORY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Transposing as Zero-Copy Stride Reversal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41414"/>
                </a:solidFill>
                <a:latin typeface="Courier New"/>
              </a:defRPr>
            </a:pPr>
            <a:r>
              <a:t>import numpy as np</a:t>
            </a:r>
            <a:br/>
            <a:br/>
            <a:r>
              <a:t>A = np.arange(6, dtype=np.int64).reshape(2, 3)</a:t>
            </a:r>
            <a:br/>
            <a:r>
              <a:t>print("Original Strides:", A.strides)  # (24, 8)</a:t>
            </a:r>
            <a:br/>
            <a:br/>
            <a:r>
              <a:t># Transpose matrix</a:t>
            </a:r>
            <a:br/>
            <a:r>
              <a:t>A_T = A.T</a:t>
            </a:r>
            <a:br/>
            <a:r>
              <a:t>print("Transposed Strides:", A_T.strides)  # (8, 24)</a:t>
            </a:r>
            <a:br/>
            <a:r>
              <a:t>print("Shares Memory:", A_T.base is A)     #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Arial"/>
              </a:defRPr>
            </a:pPr>
            <a:r>
              <a:t>Transposing modifies stride order in metadata without touching the underlying payload.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MODULE 1: MEMORY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Data Types, Precision, and Memory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Dtype selection dictates raw memory footprint and execution speed.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Float64 (Double Precision): 8 bytes per element (Standard IEEE 754).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Float32 (Single Precision): 4 bytes per element (2x RAM reduction, optimal for GPUs).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Int8/Int16/Int32/Int64: Integer precision options.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Unaligned memory addresses reduce SIMD vectorization efficiency.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MODULE 1: MEMORY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Memory Footprint Reduction via Downcasting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41414"/>
                </a:solidFill>
                <a:latin typeface="Courier New"/>
              </a:defRPr>
            </a:pPr>
            <a:r>
              <a:t>import numpy as np</a:t>
            </a:r>
            <a:br/>
            <a:br/>
            <a:r>
              <a:t># Large dataset initialized as float64 (800 MB)</a:t>
            </a:r>
            <a:br/>
            <a:r>
              <a:t>data_64 = np.ones((10000, 10000), dtype=np.float64)</a:t>
            </a:r>
            <a:br/>
            <a:r>
              <a:t>print("Float64 Memory Usage:", data_64.nbytes / (1024**2), "MB")</a:t>
            </a:r>
            <a:br/>
            <a:br/>
            <a:r>
              <a:t># Downcast to float32 (400 MB)</a:t>
            </a:r>
            <a:br/>
            <a:r>
              <a:t>data_32 = data_64.astype(np.float32)</a:t>
            </a:r>
            <a:br/>
            <a:r>
              <a:t>print("Float32 Memory Usage:", data_32.nbytes / (1024**2), "MB")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Arial"/>
              </a:defRPr>
            </a:pPr>
            <a:r>
              <a:t>Downcasting cuts RAM usage in half and doubles cache capacity.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MODULE 1: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Summary &amp; Best Practices: Memory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Always verify if an operation creates a View or a Copy.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Design pipelines to maintain contiguous memory layouts (C_CONTIGUOUS).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Leverage downcasting (float32) for massive numerical scale.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Avoid fancy indexing inside high-frequency loops.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MODULE 2: BROADCASTING &amp; VECTORIZATION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Broadcasting Mechanics: Fundamental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Broadcasting allows arithmetic operations on arrays of differing shapes.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Right-to-Left Alignment Rule: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   Dimensions are compared element-wise starting from trailing (rightmost) dimensions.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Two dimensions are compatible if: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   1. They are equal in size.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   2. One of the dimensions is exactly 1.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MODULE 2: BROADCASTING &amp; VECTORIZATION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The Zero-Stride Trick Behind Broadcasting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How does NumPy broadcast without allocating extra memory?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When an axis has size 1 and expands to size N, NumPy sets its stride to 0 bytes.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A stride of 0 bytes means the CPU re-reads the exact same byte address repeatedly.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Virtual data replication occurs entirely inside metadata.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MODULE 2: BROADCASTING &amp; VECTORIZATION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Inspecting Zero-Stride Virtual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41414"/>
                </a:solidFill>
                <a:latin typeface="Courier New"/>
              </a:defRPr>
            </a:pPr>
            <a:r>
              <a:t>import numpy as np</a:t>
            </a:r>
            <a:br/>
            <a:br/>
            <a:r>
              <a:t># Column vector (3, 1)</a:t>
            </a:r>
            <a:br/>
            <a:r>
              <a:t>col = np.array([[10], [20], [30]])</a:t>
            </a:r>
            <a:br/>
            <a:r>
              <a:t>print("Original Shape/Strides:", col.shape, col.strides) # (3, 1), (8, 8)</a:t>
            </a:r>
            <a:br/>
            <a:br/>
            <a:r>
              <a:t># Broadcast to (3, 4) using broadcast_to</a:t>
            </a:r>
            <a:br/>
            <a:r>
              <a:t>bcast = np.broadcast_to(col, (3, 4))</a:t>
            </a:r>
            <a:br/>
            <a:r>
              <a:t>print("Broadcast Shape        :", bcast.shape)            # (3, 4)</a:t>
            </a:r>
            <a:br/>
            <a:r>
              <a:t>print("Broadcast Strides      :", bcast.strides)          # (8, 0) -&gt; Stride is 0 bytes on Axis 1!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Arial"/>
              </a:defRPr>
            </a:pPr>
            <a:r>
              <a:t>Stride 0 on Axis 1 duplicates value virtually across columns with 0 added bytes.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MODULE 2: BROADCASTING &amp; VECTORIZATION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Shape Compatibility Audit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Example 1: (8, 1, 6, 1) and (7, 1, 5) -&gt; VALID -&gt; Output: (8, 7, 6, 5)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Example 2: (5, 4) and (1, 4) -&gt; VALID -&gt; Output: (5, 4)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Example 3: (15, 3, 5) and (15, 1, 2) -&gt; INVALID (Axis 2 mismatch: 5 vs 2)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Missing dimensions are implicitly left-padded with 1s.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MODULE 2: BROADCASTING &amp; VECTORIZATION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Vectorized Matrix Centering via Broadcasting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41414"/>
                </a:solidFill>
                <a:latin typeface="Courier New"/>
              </a:defRPr>
            </a:pPr>
            <a:r>
              <a:t>import numpy as np</a:t>
            </a:r>
            <a:br/>
            <a:br/>
            <a:r>
              <a:t># Dataset of 1000 samples across 10 features</a:t>
            </a:r>
            <a:br/>
            <a:r>
              <a:t>X = np.random.randn(1000, 10)</a:t>
            </a:r>
            <a:br/>
            <a:br/>
            <a:r>
              <a:t># Compute mean feature vector across rows (Shape: (10,))</a:t>
            </a:r>
            <a:br/>
            <a:r>
              <a:t>mean_vec = np.mean(X, axis=0)</a:t>
            </a:r>
            <a:br/>
            <a:br/>
            <a:r>
              <a:t># Subtract mean from every row using broadcasting</a:t>
            </a:r>
            <a:br/>
            <a:r>
              <a:t>X_centered = X - mean_vec  # (1000, 10) - (10,) -&gt; Broadcasts automatically!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Arial"/>
              </a:defRPr>
            </a:pPr>
            <a:r>
              <a:t>Eliminates explicit Python loops across 1000 rows.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MODULE 2: BROADCASTING &amp; VECTORIZATION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Universal Functions (ufuncs) Mechanics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Ufuncs are compiled C loops operating element-wise over ndarrays.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Support type casting, error handling, and reduction methods.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Built-in Ufunc Methods: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   .reduce()       : Combines elements along an axis.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   .accumulate()   : Computes running running operations along an axis.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   .outer()        : Applies operation to all pairs of elements.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MODULE 2: BROADCASTING &amp; VECTORIZATION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Leveraging Ufunc Methods: Outer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41414"/>
                </a:solidFill>
                <a:latin typeface="Courier New"/>
              </a:defRPr>
            </a:pPr>
            <a:r>
              <a:t>import numpy as np</a:t>
            </a:r>
            <a:br/>
            <a:br/>
            <a:r>
              <a:t>a = np.array([1, 2, 3])</a:t>
            </a:r>
            <a:br/>
            <a:r>
              <a:t>b = np.array([10, 20, 30, 40])</a:t>
            </a:r>
            <a:br/>
            <a:br/>
            <a:r>
              <a:t># Compute pairwise addition table using ufunc outer method</a:t>
            </a:r>
            <a:br/>
            <a:r>
              <a:t>table = np.add.outer(a, b)</a:t>
            </a:r>
            <a:br/>
            <a:r>
              <a:t>print("Outer Addition Table Shape:", table.shape) # (3, 4)</a:t>
            </a:r>
            <a:br/>
            <a:r>
              <a:t>print(table)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Arial"/>
              </a:defRPr>
            </a:pPr>
            <a:r>
              <a:t>Ufunc outer methods build full N-D interaction matrices instantly.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MODULE 2: BROADCASTING &amp; VECTORIZATION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Vectorized Pairwise Distance Computation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Problem: Compute Euclidean distance between all pairs of N vectors.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Naive Python approach: Nested double loops O(N^2) (Extremely slow).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Vectorized approach: Expand dimensions to (N, 1, D) and (1, N, D).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Broadcasting computes all pairwise differences in a single parallelized pass.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MODULE 2: BROADCASTING &amp; VECTORIZATION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Vectorized Pairwise Squared Distance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41414"/>
                </a:solidFill>
                <a:latin typeface="Courier New"/>
              </a:defRPr>
            </a:pPr>
            <a:r>
              <a:t>import numpy as np</a:t>
            </a:r>
            <a:br/>
            <a:br/>
            <a:r>
              <a:t>N, D = 500, 10</a:t>
            </a:r>
            <a:br/>
            <a:r>
              <a:t>X = np.random.randn(N, D)</a:t>
            </a:r>
            <a:br/>
            <a:br/>
            <a:r>
              <a:t># Expand dimensions for pairwise 3D broadcasting</a:t>
            </a:r>
            <a:br/>
            <a:r>
              <a:t># (N, 1, D) - (1, N, D) -&gt; (N, N, D)</a:t>
            </a:r>
            <a:br/>
            <a:r>
              <a:t>diffs = X[:, np.newaxis, :] - X[np.newaxis, :, :]</a:t>
            </a:r>
            <a:br/>
            <a:r>
              <a:t>dist_matrix = np.sum(diffs ** 2, axis=-1)</a:t>
            </a:r>
            <a:br/>
            <a:br/>
            <a:r>
              <a:t>print("Distance Matrix Shape:", dist_matrix.shape) # (500, 500)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Arial"/>
              </a:defRPr>
            </a:pPr>
            <a:r>
              <a:t>Computes 250,000 pairwise vector distance combinations without a single Python loop.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MODULE 2: BROADCASTING &amp; VECTORIZATION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Avoid Heavy Intermediate Memory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3D broadcasting creates temporary array buffers in memory.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For N=10,000, a (10000, 10000, 10) float64 array requires 8 GB RAM!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Alternative: Use algebraic expansion ||a - b||^2 = ||a||^2 + ||b||^2 - 2(a . b)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Reduces memory requirement from O(N^2 * D) to O(N^2).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MODULE 2: BROADCASTING &amp; VECTORIZATION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Algebraic Vectorized Distance (Memory Efficient)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41414"/>
                </a:solidFill>
                <a:latin typeface="Courier New"/>
              </a:defRPr>
            </a:pPr>
            <a:r>
              <a:t>import numpy as np</a:t>
            </a:r>
            <a:br/>
            <a:br/>
            <a:r>
              <a:t>X = np.random.randn(500, 10)</a:t>
            </a:r>
            <a:br/>
            <a:br/>
            <a:r>
              <a:t># Compute Gram matrix G = X @ X.T</a:t>
            </a:r>
            <a:br/>
            <a:r>
              <a:t>G = X @ X.T</a:t>
            </a:r>
            <a:br/>
            <a:r>
              <a:t>sq_norms = np.diag(G)</a:t>
            </a:r>
            <a:br/>
            <a:br/>
            <a:r>
              <a:t># Broadcast 1D norms into 2D matrix</a:t>
            </a:r>
            <a:br/>
            <a:r>
              <a:t>dist_matrix = sq_norms[:, np.newaxis] + sq_norms[np.newaxis, :] - 2 * G</a:t>
            </a:r>
            <a:br/>
            <a:r>
              <a:t>dist_matrix = np.maximum(dist_matrix, 0.0) # Numerical stability clip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Arial"/>
              </a:defRPr>
            </a:pPr>
            <a:r>
              <a:t>Uses optimized BLAS GEMM matrix multiplication for speed and low memory.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MODULE 2: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Summary &amp; Best Practices: Vectorization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Align dimension shapes carefully to leverage automatic broadcasting.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Exploit 0-stride metadata expansion for memory-free replication.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Watch out for massive memory spikes when broadcasting along 3D+ axes.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Prefer algebraic matrix formulations over high-dimensional tensor expansions.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MODULE 3: ADVANCED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Eliminating Temporary Allocations with In-Place Ufuncs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Standard arithmetic expressions generate intermediate temporary arrays.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Expression: result = (a * 2.5 + b) - c creates 2 extra temp arrays.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In-Place Allocation Strategy: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   Use pre-allocated buffers and the out= parameter in ufuncs.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   Significantly improves throughput and eliminates garbage collection lag.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MODULE 3: ADVANCED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Refactoring Anti-Patterns to In-Place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41414"/>
                </a:solidFill>
                <a:latin typeface="Courier New"/>
              </a:defRPr>
            </a:pPr>
            <a:r>
              <a:t>import numpy as np</a:t>
            </a:r>
            <a:br/>
            <a:br/>
            <a:r>
              <a:t>a = np.ones((1000, 1000))</a:t>
            </a:r>
            <a:br/>
            <a:r>
              <a:t>b = np.ones((1000, 1000)) * 2</a:t>
            </a:r>
            <a:br/>
            <a:r>
              <a:t>c = np.ones((1000, 1000)) * 0.5</a:t>
            </a:r>
            <a:br/>
            <a:br/>
            <a:r>
              <a:t># OPTIMIZED: Zero temporary allocations</a:t>
            </a:r>
            <a:br/>
            <a:r>
              <a:t>res = np.empty_like(a)</a:t>
            </a:r>
            <a:br/>
            <a:r>
              <a:t>np.multiply(a, 2.5, out=res)</a:t>
            </a:r>
            <a:br/>
            <a:r>
              <a:t>np.add(res, b, out=res)</a:t>
            </a:r>
            <a:br/>
            <a:r>
              <a:t>np.subtract(res, c, out=res)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Arial"/>
              </a:defRPr>
            </a:pPr>
            <a:r>
              <a:t>Reuses the exact same destination memory buffer across operations.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MODULE 3: ADVANCED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Einstein Summation Notation (np.einsum)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np.einsum provides a unified, expressive syntax for multidimensional tensors.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Subscript rules: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   Repeated indices across input tensors imply multiplication.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   Indices omitted from output string imply summation (contraction).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Eliminates unnecessary transpose and reshape operations.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MODULE 3: ADVANCED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Common Matrix Operations in np.einsum Syntax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41414"/>
                </a:solidFill>
                <a:latin typeface="Courier New"/>
              </a:defRPr>
            </a:pPr>
            <a:r>
              <a:t>import numpy as np</a:t>
            </a:r>
            <a:br/>
            <a:br/>
            <a:r>
              <a:t>A = np.random.randn(5, 4)</a:t>
            </a:r>
            <a:br/>
            <a:r>
              <a:t>B = np.random.randn(4, 3)</a:t>
            </a:r>
            <a:br/>
            <a:br/>
            <a:r>
              <a:t># 1. Standard Matrix Multiplication (A @ B)</a:t>
            </a:r>
            <a:br/>
            <a:r>
              <a:t>C = np.einsum('ij,jk-&gt;ik', A, B)</a:t>
            </a:r>
            <a:br/>
            <a:br/>
            <a:r>
              <a:t># 2. Row-wise sum</a:t>
            </a:r>
            <a:br/>
            <a:r>
              <a:t>row_sums = np.einsum('ij-&gt;i', A)</a:t>
            </a:r>
            <a:br/>
            <a:br/>
            <a:r>
              <a:t># 3. Matrix Trace</a:t>
            </a:r>
            <a:br/>
            <a:r>
              <a:t>sq = np.random.randn(4, 4)</a:t>
            </a:r>
            <a:br/>
            <a:r>
              <a:t>trace_val = np.einsum('ii-&gt;', sq)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Arial"/>
              </a:defRPr>
            </a:pPr>
            <a:r>
              <a:t>Concise, explicit, and highly performant tensor operation syntax.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MODULE 3: ADVANCED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Batched Tensor Operations with np.einsum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Computing batched operations across feature dimensions can be awkward in standard API.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Einsum cleanly represents batch dimensions explicitly.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Batched Matrix Multiplication: 'bij,bjk-&gt;bik'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Batched Dot Product: 'bi,bi-&gt;b'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Avoids complex reshaping and loop orchestration.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MODULE 3: ADVANCED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Batched Matrix Multiplication with einsum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41414"/>
                </a:solidFill>
                <a:latin typeface="Courier New"/>
              </a:defRPr>
            </a:pPr>
            <a:r>
              <a:t>import numpy as np</a:t>
            </a:r>
            <a:br/>
            <a:br/>
            <a:r>
              <a:t># Batch size 32, Matrices (10, 20) and (20, 15)</a:t>
            </a:r>
            <a:br/>
            <a:r>
              <a:t>batch_A = np.random.randn(32, 10, 20)</a:t>
            </a:r>
            <a:br/>
            <a:r>
              <a:t>batch_B = np.random.randn(32, 20, 15)</a:t>
            </a:r>
            <a:br/>
            <a:br/>
            <a:r>
              <a:t># Batched MatMul via einsum</a:t>
            </a:r>
            <a:br/>
            <a:r>
              <a:t>batch_C = np.einsum('bij,bjk-&gt;bik', batch_A, batch_B)</a:t>
            </a:r>
            <a:br/>
            <a:br/>
            <a:r>
              <a:t>print("Output Batch Shape:", batch_C.shape) # (32, 10, 15)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Arial"/>
              </a:defRPr>
            </a:pPr>
            <a:r>
              <a:t>Executes 32 matrix multiplications across batch dimensions seamlessly.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MODULE 3: ADVANCED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Accelerating NumPy with Numba JIT Compilation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Numba compiles Python/NumPy functions into LLVM machine code at runtime.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Ideal for custom algorithms that cannot be easily vectorized with ufuncs.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@njit (No-Python Mode): Compiles code without Python C-API overhead.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Supports automatic loop parallelization and SIMD vectorization.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MODULE 3: ADVANCED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Compiling Custom Loops with Numba @njit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41414"/>
                </a:solidFill>
                <a:latin typeface="Courier New"/>
              </a:defRPr>
            </a:pPr>
            <a:r>
              <a:t>import numpy as np</a:t>
            </a:r>
            <a:br/>
            <a:r>
              <a:t>from numba import njit</a:t>
            </a:r>
            <a:br/>
            <a:br/>
            <a:r>
              <a:t>@njit(parallel=True)</a:t>
            </a:r>
            <a:br/>
            <a:r>
              <a:t>def custom_kernel(arr):</a:t>
            </a:r>
            <a:br/>
            <a:r>
              <a:t>    N, M = arr.shape</a:t>
            </a:r>
            <a:br/>
            <a:r>
              <a:t>    result = np.empty((N, M), dtype=np.float64)</a:t>
            </a:r>
            <a:br/>
            <a:r>
              <a:t>    # Numba compiles explicit nested loops into native machine code</a:t>
            </a:r>
            <a:br/>
            <a:r>
              <a:t>    for i in range(N):</a:t>
            </a:r>
            <a:br/>
            <a:r>
              <a:t>        for j in range(M):</a:t>
            </a:r>
            <a:br/>
            <a:r>
              <a:t>            result[i, j] = np.sin(arr[i, j]) + np.cos(arr[i, j])</a:t>
            </a:r>
            <a:br/>
            <a:r>
              <a:t>    return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Arial"/>
              </a:defRPr>
            </a:pPr>
            <a:r>
              <a:t>Runs custom element-wise algorithms at C speed while writing native Python loops.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MODULE 3: ADVANCED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Multi-Threaded Evaluation with NumExpr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NumExpr parses mathematical string expressions and executes them on VM kernels.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Key Advantage: Breaks large array operations into L1/L2 cache-friendly chunks.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Bypasses Python GIL and avoids intermediate buffer allocations automatically.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Especially effective for large arrays exceeding CPU cache capacity (&gt;10 MB).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MODULE 3: ADVANCED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Accelerating Compound Expressions with NumExpr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41414"/>
                </a:solidFill>
                <a:latin typeface="Courier New"/>
              </a:defRPr>
            </a:pPr>
            <a:r>
              <a:t>import numpy as np</a:t>
            </a:r>
            <a:br/>
            <a:r>
              <a:t>import numexpr as ne</a:t>
            </a:r>
            <a:br/>
            <a:br/>
            <a:r>
              <a:t>a = np.random.randn(10000, 10000)</a:t>
            </a:r>
            <a:br/>
            <a:r>
              <a:t>b = np.random.randn(10000, 10000)</a:t>
            </a:r>
            <a:br/>
            <a:br/>
            <a:r>
              <a:t># Standard NumPy (Allocates large intermediate temporary arrays)</a:t>
            </a:r>
            <a:br/>
            <a:r>
              <a:t># res = a**2 + b**2 + 2*a*b</a:t>
            </a:r>
            <a:br/>
            <a:br/>
            <a:r>
              <a:t># NumExpr optimized evaluation (Chunked execution in CPU cache)</a:t>
            </a:r>
            <a:br/>
            <a:r>
              <a:t>res = ne.evaluate("a**2 + b**2 + 2*a*b")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Arial"/>
              </a:defRPr>
            </a:pPr>
            <a:r>
              <a:t>Reduces memory bus traffic by computing compound formulas inside CPU cache.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MODULE 3: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Summary &amp; Best Practices: Advanced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Use in-place ufuncs (out=) to eliminate intermediate allocations.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Express complex tensor operations cleanly with np.einsum.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Apply Numba @njit for custom algorithms requiring explicit nested loops.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Leverage NumExpr for large compound arithmetic expressions.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MODULE 4: MEMORY-MAPPED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Memory-Mapped Files (np.memmap) for Out-of-Core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Problem: Processing datasets that exceed physical system RAM capacity.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Solution: Map disk binary files directly into the virtual address space.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np.memmap allows viewing on-disk files as standard NumPy arrays.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Operating System handles page faulting and caching transparently.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Enables low-memory batch processing over terabyte-scale datasets.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MODULE 4: MEMORY-MAPPED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Creating and Writing to a Binary Memory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41414"/>
                </a:solidFill>
                <a:latin typeface="Courier New"/>
              </a:defRPr>
            </a:pPr>
            <a:r>
              <a:t>import numpy as np</a:t>
            </a:r>
            <a:br/>
            <a:br/>
            <a:r>
              <a:t>filename = "large_dataset.dat"</a:t>
            </a:r>
            <a:br/>
            <a:r>
              <a:t>shape = (100000, 100) # 10 Million float64 items (~80 MB)</a:t>
            </a:r>
            <a:br/>
            <a:br/>
            <a:r>
              <a:t># Initialize writable binary file on disk</a:t>
            </a:r>
            <a:br/>
            <a:r>
              <a:t>fp = np.memmap(filename, dtype=np.float64, mode='w+', shape=shape)</a:t>
            </a:r>
            <a:br/>
            <a:br/>
            <a:r>
              <a:t># Populate data in chunked slices</a:t>
            </a:r>
            <a:br/>
            <a:r>
              <a:t>fp[0:50000] = np.random.randn(50000, 100)</a:t>
            </a:r>
            <a:br/>
            <a:br/>
            <a:r>
              <a:t># Flush changes back to disk drive</a:t>
            </a:r>
            <a:br/>
            <a:r>
              <a:t>fp.flush()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Arial"/>
              </a:defRPr>
            </a:pPr>
            <a:r>
              <a:t>Allocates space on disk and writes data lazily via OS virtual memory.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MODULE 4: MEMORY-MAPPED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Out-of-Core Batch Processing with Chunked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41414"/>
                </a:solidFill>
                <a:latin typeface="Courier New"/>
              </a:defRPr>
            </a:pPr>
            <a:r>
              <a:t>import numpy as np</a:t>
            </a:r>
            <a:br/>
            <a:br/>
            <a:r>
              <a:t># Open existing disk file in read-only mode</a:t>
            </a:r>
            <a:br/>
            <a:r>
              <a:t>mmap_data = np.memmap("large_dataset.dat", dtype=np.float64, mode='r', shape=(100000, 100))</a:t>
            </a:r>
            <a:br/>
            <a:br/>
            <a:r>
              <a:t>chunk_size = 10000</a:t>
            </a:r>
            <a:br/>
            <a:r>
              <a:t>total_sum = 0.0</a:t>
            </a:r>
            <a:br/>
            <a:br/>
            <a:r>
              <a:t># Process dataset in memory-friendly chunks</a:t>
            </a:r>
            <a:br/>
            <a:r>
              <a:t>for i in range(0, mmap_data.shape[0], chunk_size):</a:t>
            </a:r>
            <a:br/>
            <a:r>
              <a:t>    chunk = mmap_data[i:i+chunk_size] # Only loads this chunk into RAM</a:t>
            </a:r>
            <a:br/>
            <a:r>
              <a:t>    total_sum += np.sum(chunk)</a:t>
            </a:r>
            <a:br/>
            <a:br/>
            <a:r>
              <a:t>print("Total Computed Sum:", total_sum)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Arial"/>
              </a:defRPr>
            </a:pPr>
            <a:r>
              <a:t>Processes huge datasets with minimal RAM consumption.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MODULE 4: MEMORY-MAPPED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Structured Arrays and Record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Structured arrays allow defining C-style structs inside NumPy data buffers.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Combine heterogeneous dtypes (integers, floats, strings) within one array.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Maintains contiguous memory layout for efficient disk/network serialization.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Allows zero-copy view casting into tabular record formats.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MODULE 4: MEMORY-MAPPED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Defining and Querying a Structured Array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41414"/>
                </a:solidFill>
                <a:latin typeface="Courier New"/>
              </a:defRPr>
            </a:pPr>
            <a:r>
              <a:t>import numpy as np</a:t>
            </a:r>
            <a:br/>
            <a:br/>
            <a:r>
              <a:t># Define heterogeneous compound record data type</a:t>
            </a:r>
            <a:br/>
            <a:r>
              <a:t>dt = np.dtype([('sensor_id', np.int32), ('val', np.float64), ('flag', bool)])</a:t>
            </a:r>
            <a:br/>
            <a:br/>
            <a:r>
              <a:t># Allocate array of records</a:t>
            </a:r>
            <a:br/>
            <a:r>
              <a:t>data = np.zeros(3, dtype=dt)</a:t>
            </a:r>
            <a:br/>
            <a:r>
              <a:t>data[0] = (101, 23.45, True)</a:t>
            </a:r>
            <a:br/>
            <a:r>
              <a:t>data[1] = (102, 19.12, False)</a:t>
            </a:r>
            <a:br/>
            <a:br/>
            <a:r>
              <a:t>print("Sensor IDs:", data['sensor_id']) # Extract single struct field</a:t>
            </a:r>
            <a:br/>
            <a:r>
              <a:t>print("Memory Footprint per Item:", dt.itemsize, "bytes")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Arial"/>
              </a:defRPr>
            </a:pPr>
            <a:r>
              <a:t>Encapsulates multi-field binary structures with contiguous RAM storage.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MODULE 4: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Summary &amp; Best Practices: Out-of-Core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Use np.memmap for datasets exceeding available RAM.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Process memory-mapped files in chunked iterations.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Always flush dirty memory maps explicitly after write operations.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Use structured arrays for contiguous low-level records.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Capstone Architecture: High-Throughput Batch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Objective: Build an out-of-core streaming analytics engine.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Project Requirements: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   1. Generate a 1 GB on-disk binary dataset using np.memmap.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   2. Stream chunked data batches without exceeding 10 MB RAM footprint.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   3. Compute running mean and variance across columns.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   4. Utilize zero-allocation in-place arithmetic routines.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Capstone Implementation: Out-of-Core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41414"/>
                </a:solidFill>
                <a:latin typeface="Courier New"/>
              </a:defRPr>
            </a:pPr>
            <a:r>
              <a:t>import numpy as np, os</a:t>
            </a:r>
            <a:br/>
            <a:br/>
            <a:r>
              <a:t>filename = "capstone_data.dat"</a:t>
            </a:r>
            <a:br/>
            <a:r>
              <a:t>n_rows, n_cols = 10_000_000, 10 # 800 MB on disk</a:t>
            </a:r>
            <a:br/>
            <a:br/>
            <a:r>
              <a:t># 1. Initialize File</a:t>
            </a:r>
            <a:br/>
            <a:r>
              <a:t>fp = np.memmap(filename, dtype=np.float64, mode='w+', shape=(n_rows, n_cols))</a:t>
            </a:r>
            <a:br/>
            <a:r>
              <a:t>fp[0:1000] = np.random.randn(1000, n_cols)</a:t>
            </a:r>
            <a:br/>
            <a:r>
              <a:t>fp.flush(); del fp</a:t>
            </a:r>
            <a:br/>
            <a:br/>
            <a:r>
              <a:t># 2. Out-of-Core Processing</a:t>
            </a:r>
            <a:br/>
            <a:r>
              <a:t>mmap = np.memmap(filename, dtype=np.float64, mode='r', shape=(n_rows, n_cols))</a:t>
            </a:r>
            <a:br/>
            <a:r>
              <a:t>chunk_size = 100_000</a:t>
            </a:r>
            <a:br/>
            <a:r>
              <a:t>col_sum = np.zeros(n_cols)</a:t>
            </a:r>
            <a:br/>
            <a:br/>
            <a:r>
              <a:t>for i in range(0, n_rows, chunk_size):</a:t>
            </a:r>
            <a:br/>
            <a:r>
              <a:t>    chunk = mmap[i:i+chunk_size]</a:t>
            </a:r>
            <a:br/>
            <a:r>
              <a:t>    col_sum += chunk.sum(axis=0)</a:t>
            </a:r>
            <a:br/>
            <a:br/>
            <a:r>
              <a:t>col_mean = col_sum / n_rows</a:t>
            </a:r>
            <a:br/>
            <a:r>
              <a:t>print("Computed Column Means:", np.round(col_mean, 4))</a:t>
            </a:r>
            <a:br/>
            <a:r>
              <a:t>del mmap; os.remove(filename)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Arial"/>
              </a:defRPr>
            </a:pPr>
            <a:r>
              <a:t>Complete production architecture for streaming massive dataset processing.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APPENDIX A: CHEAT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Appendix A: Memory Architecture &amp; Stride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Memory Offset Equation: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   Byte Offset = Sum (Index_j * Stride_j)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Contiguity Flags: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   C_CONTIGUOUS: Row-major layout (Last axis changes fastest).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   F_CONTIGUOUS: Column-major layout (First axis changes fastest).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Zero-Copy Rule: Slicing, reshaping, and transposing create Views.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APPENDIX B: CHEAT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Appendix B: Broadcasting Alignment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Right-to-Left Matching Rule: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   Align shapes starting at the trailing rightmost dimension.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   Dimension sizes are compatible if equal OR one is size 1.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Zero-Stride Expansion: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   Size 1 axes broadcast by setting their stride to 0 bytes.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Arial"/>
              </a:defRPr>
            </a:pPr>
            <a:r>
              <a:t>   Avoid high-dimensional (3D+) broadcasting over large axes.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APPENDIX C: CHEAT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Appendix C: Advanced Optimization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In-Place Arithmetic: Use ufunc out= parameters to avoid intermediate arrays.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Einstein Summation: Use np.einsum for clean, fast tensor contractions.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Numba JIT: Apply @njit(parallel=True) to compile Python loops.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NumExpr: Use ne.evaluate() for multi-threaded cache-friendly evaluation.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APPENDIX D: CHEAT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Appendix D: Profiling and Environment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BLAS Audit: np.show_config()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Execution Profiling: python -m cProfile -s cumulative script.py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Memory Profiling: python -m memory_profiler script.py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Thread Pool Limit: threadpool_limits(limits=1, user_api='blas')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66666"/>
                </a:solidFill>
                <a:latin typeface="Arial"/>
              </a:defRPr>
            </a:pPr>
            <a:r>
              <a:t>APPENDIX E: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Appendix E: References &amp; Recommended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Official NumPy C-API Documentation (numpy.org/doc/stable/reference/c-api)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Guide to NumPy (2nd Edition) - Travis E. Oliphant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Python High Performance (3rd Edition) - Gabriele Lanaro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What Every Computer Scientist Should Know About Floating-Point Arithmetic - David Goldberg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Arial"/>
              </a:defRPr>
            </a:pPr>
            <a:r>
              <a:t>MASTERING HIGH-PERFORMANCE NUMPY</a:t>
            </a:r>
          </a:p>
          <a:p>
            <a:pPr>
              <a:defRPr sz="2000">
                <a:solidFill>
                  <a:srgbClr val="666666"/>
                </a:solidFill>
                <a:latin typeface="Arial"/>
              </a:defRPr>
            </a:pPr>
            <a:r>
              <a:t>Complete 52-Slide Master Course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