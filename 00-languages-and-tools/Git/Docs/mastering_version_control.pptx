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02870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000000"/>
                </a:solidFill>
                <a:latin typeface="Aptos"/>
              </a:rPr>
              <a:t>Mastering Version Control
from Local to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60520" y="2907792"/>
            <a:ext cx="38862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900" b="0" i="0">
                <a:solidFill>
                  <a:srgbClr val="787878"/>
                </a:solidFill>
                <a:latin typeface="Aptos"/>
              </a:rPr>
              <a:t>A beginner-friendly Git and GitHub tutorial series
with professional collaboration, automation, releases, and recovery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Series Purpose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Build a practical mental model for Git and GitHub.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Move from local file history to professional team workflows.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safe, reviewable, production-oriented change management.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Learn recovery techniques before needing them in an emergency.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automation to make quality checks repeatable.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The Final Development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Plan work with issues, labels, milestones, and project boards.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Create a focused branch from an updated main branch.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Write code, tests, and documentation.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Review local diffs, create focused commits, and push the branch.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Open a pull request, run CI, receive review, and merge safely.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Tag, release, monitor, recover, and improve.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Issue → Branch → Code + Tests → Commit → Pull Request → CI + Review
     → Merge → Release Tag → GitHub Release → Monitor + Recover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87878"/>
                </a:solidFill>
                <a:latin typeface="Aptos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87878"/>
                </a:solidFill>
                <a:latin typeface="Aptos"/>
              </a:rPr>
              <a:t>Scope, audience, architecture, and expectations for the hands-on journey.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572000"/>
            <a:ext cx="6583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What Readers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A local Git repository with understandable history.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Feature branches, merges, rebases, and conflict-resolution skills.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A GitHub-hosted repository with secure authentication and ignore rules.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A pull-request workflow with issues, reviews, code ownership, and CI.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A tested JavaScript release-note formatter.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A release process using tags, Semantic Versioning, and GitHub Releases.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Core Mental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Working Directory: files currently being edited.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Staging Area: selected changes for the next commit.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Local Repository: committed project history stored in .git.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Remote Repository: shared history hosted on GitHub.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Working Directory
      │ git add
      ▼
Staging Area
      │ git commit
      ▼
Local Repository
      │ git push
      ▼
GitHub Remote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87878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ptos"/>
              </a:rPr>
              <a:t>Foundations of Local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87878"/>
                </a:solidFill>
                <a:latin typeface="Aptos"/>
              </a:rPr>
              <a:t>Track meaningful history locally before introducing remote repositories.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572000"/>
            <a:ext cx="6583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Why Version Control Exists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Avoid duplicated files such as final_v2_final_really_final.zip.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Record meaningful snapshots rather than copying folders manually.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Compare changes, recover earlier versions, and understand why work changed.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Separate backup concerns from structured project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First Repository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Configure Git author identity before creating commits.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Create a project directory and initialize Git.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Create documentation, inspect status, stage only intended files.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Commit a meaningful snapshot with an action-oriented message.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git config --global user.name "Your Name"
git config --global user.email "you@example.com"
git init
git status
git add README.md
git commit -m "Add initial project documentation"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Inspecting Local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git status before unfamiliar operations.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git diff to inspect unstaged working-directory changes.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git diff --staged to inspect the next commit.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git log and git show to inspect commit history.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git status
git diff
git diff --staged
git log --oneline
git show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Safe Local Undo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git restore &lt;file&gt; discards unwanted unstaged file edits.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git restore --staged &lt;file&gt; unstages while preserving working edits.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Inspect a diff before discarding anything.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Prefer recovery and inspection over guessing.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git diff -- README.md
git restore README.md
git restore --staged 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87878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ptos"/>
              </a:rPr>
              <a:t>Branching and Merging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87878"/>
                </a:solidFill>
                <a:latin typeface="Aptos"/>
              </a:rPr>
              <a:t>Work in parallel without destabilizing main.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572000"/>
            <a:ext cx="6583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Branches Are Lightweight Pointers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A branch is a named pointer to a commit, not a full project copy.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main usually identifies the stable shared line of development.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Feature branches isolate one focused piece of work.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Switching branches changes the checked-out project snapshot.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main → Commit E
feature/add-export → Commit E
After a feature commit:
main → Commit E
feature/add-export → Commit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Branch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Start from an updated main branch.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Create one branch for one work item.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Commit focused changes and run tests.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Merge only after the branch is ready.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Delete completed local branches.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git switch main
git pull --ff-only
git switch -c feature/add-release-checklist
git add RELEASE_CHECKLIST.md
git commit -m "Add release checklist"
git switch main
git merge feature/add-release-checklist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Merging and Conflicts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Fast-forward merge: main simply moves forward when no divergence exists.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Three-way merge: Git combines independent branch histories.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Conflict: Git cannot safely choose between competing edits.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Resolve conflicts by editing final content, removing markers, staging, testing, and committing.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&lt;&lt;&lt;&lt;&lt;&lt;&lt; HEAD
Current branch content
=======
Incoming branch content
&gt;&gt;&gt;&gt;&gt;&gt;&gt; feature/branch-name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Rebase Basics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Rebase replays personal branch commits on top of a newer base.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Rebasing creates new commit hashes because parent relationships change.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rebase mainly for branches you own and control.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Avoid rewriting shared history without coordination.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git switch feature/short-description
git fetch origin
git rebase origin/main
npm test
git push --force-with-lease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87878"/>
                </a:solidFill>
                <a:latin typeface="Apto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ptos"/>
              </a:rPr>
              <a:t>Going Remote with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87878"/>
                </a:solidFill>
                <a:latin typeface="Aptos"/>
              </a:rPr>
              <a:t>Connect local work to a secure, shared collaboration hub.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572000"/>
            <a:ext cx="6583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Authentication Choices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SSH: recommended for regular development on a trusted machine.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HTTPS with Personal Access Token: useful in restricted environments.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Never use a GitHub account password for command-line Git authentication.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Treat private keys and tokens as secrets.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SSH test:
ssh -T git@github.com
Inspect remote URLs:
git remote 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Publish a Local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Create an empty GitHub repository when local history already exists.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Add GitHub as the origin remote.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Push main and set the upstream relationship.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origin/main as the local record of the remote branch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git remote add origin git@github.com:OWNER/release-notes-manager.git
git push -u origin main
git branch --all
git remote show origin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Fetch Versus Pull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git fetch downloads remote history without changing local working files.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git pull performs fetch plus integration into the current branch.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Inspect incoming commits before integrating when uncertainty exists.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git pull --ff-only on main when a fast-forward-only update is desired.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git fetch origin
git log --oneline main..origin/main
git diff main..origin/main
git pull --ff-only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Ignore Rules and Secret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.gitignore prevents accidental staging of common local-only files.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Ignore environment files, dependencies, logs, generated output, and editor settings.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.gitignore does not remove files already tracked by Git.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If a real secret is committed, revoke or rotate it immediately.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.env
.env.*
!.env.example
node_modules/
coverage/
*.log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87878"/>
                </a:solidFill>
                <a:latin typeface="Apto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ptos"/>
              </a:rPr>
              <a:t>Professional Collaboration and 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87878"/>
                </a:solidFill>
                <a:latin typeface="Aptos"/>
              </a:rPr>
              <a:t>Use GitHub Flow, pull requests, code review, issues, and planning.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572000"/>
            <a:ext cx="6583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GitHub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Keep main stable, protected, and releasable.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Create a feature branch for each focused work item.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Open a pull request rather than merging unfinished work directly.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review and CI to verify changes before merge.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Delete completed branches after merge.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main
  │
  ├── feature/add-release-formatter
  │       ├── implementation
  │       ├── tests
  │       └── documentation
  │
  └── reviewed pull request → merge into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Issue-Driven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Issues explain the problem, why it matters, and acceptance criteria.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Branches can include issue numbers for traceability.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Pull requests can close issues automatically using Closes #NUMBER.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Labels, milestones, and Projects organize work across a release.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Issue title:
Add a release note formatter
Branch:
feature/12-add-release-formatter
Pull request body:
Closes 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Release Notes Formatter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formatReleaseNotes receives structured release data.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Validation rejects invalid version values, dates, and sections.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Optional Added, Changed, and Fixed sections are rendered only when populated.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Tests define expected behavior and failure cases.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README documentation explains use and verification.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formatReleaseNotes({
  version: "1.0.0",
  releaseDate: "2026-07-25",
  added: ["Create formatted release notes."],
  fixed: ["Correct release date validation."]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Pull Request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Authors self-review diff, tests, documentation, and scope before requesting review.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Reviewers prioritize correctness, security, tests, maintainability, then style.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clear feedback labels: blocking, question, suggestion, nit, praise.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Resolve conversations only after the underlying concern is addressed.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blocking: This accepts whitespace-only version values, which
creates an invalid release heading. Please validate trimmed
versions and add a regression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Branch Protection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Require pull requests before merging into main.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Require approvals and dismiss stale approvals after new commits.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Require CI status checks and resolved conversations.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Block force pushes and branch deletion.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CODEOWNERS for sensitive paths such as workflows and security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87878"/>
                </a:solidFill>
                <a:latin typeface="Aptos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ptos"/>
              </a:rPr>
              <a:t>Advanced Git and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87878"/>
                </a:solidFill>
                <a:latin typeface="Aptos"/>
              </a:rPr>
              <a:t>Clean history, recover work, automate tests, and operate safely.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572000"/>
            <a:ext cx="6583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Amend and Interactive Rebase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git commit --amend replaces the latest local commit.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amend for local, unshared corrections that belong in the same logical change.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Interactive rebase can reword, squash, fixup, edit, reorder, or drop local commits.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Do not casually rewrite history that others already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git commit --amend -m "Correct commit message"
git add forgotten-file.md
git commit --amend --no-edit
git rebase -i HEAD~3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Stash, Reflog, and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stash for short-term unfinished work, not permanent storage.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reflog to locate commits after resets, rebases, amendments, or branch deletion.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Create a recovery branch immediately when valuable work is found.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Preserve work before risky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git stash push --include-untracked -m "Safety snapshot"
git stash list
git reflog --date=local -20
git switch -c recovery/lost-work &lt;commit-hash&gt;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Cherry-Pick and Reset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Cherry-pick applies one selected commit onto the current branch.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Soft reset keeps changes staged.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Mixed reset keeps changes in the working directory but unstaged.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Hard reset overwrites working files and must be used only with deliberate intent.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git cherry-pick &lt;commit-hash&gt;
git reset --soft HEAD~1
git reset --mixed HEAD~1
git reset --hard HEAD~1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Continuous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CI runs independent checks in a clean hosted environment.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Tests should run locally and in GitHub Actions using the same command.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least-privilege workflow permissions.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Require passing checks before merging pull requests.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name: Continuous Integration
on:
  push:
    branches: [main]
  pull_request:
    branches: [main]
permissions:
  contents: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87878"/>
                </a:solidFill>
                <a:latin typeface="Aptos"/>
              </a:rPr>
              <a:t>Primers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ptos"/>
              </a:rPr>
              <a:t>Prerequisite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87878"/>
                </a:solidFill>
                <a:latin typeface="Aptos"/>
              </a:rPr>
              <a:t>Optional preparation modules for beginners and cross-functional contributors.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572000"/>
            <a:ext cx="6583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Primer Collection: Development 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Terminal, files, folders, paths, and safe navigation.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Markdown, documentation, README structure, tables, code blocks, and checklists.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Node.js, npm, modules, package.json, and automated tests.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Command reading, placeholders, quotes, help systems, and dry-run safety.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GitHub accounts, SSH, PATs, remotes, and authentication hygiene.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Primer Collection: Team and Delivery 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Collaboration vocabulary: issues, branches, pull requests, reviews, labels, milestones, Projects.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History graphs, commit references, HEAD, detached HEAD, and safe time travel.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Secret safety, environment variables, .env.example, and protected configuration.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YAML, GitHub Actions, exit codes, shell scripts, and CI behavior.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Semantic Versioning, releases, licenses, dependency management, and safe reuse.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Primer Collection: Operational Thinking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Debugging mindset: stop, inspect, preserve, decide.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Backups, synchronization, mirror clones, and data-loss prevention.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Branch naming, commit scope, small pull requests, and focused-change discipline.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Constructive code review and review readiness.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APIs, HTTP, JSON, webhooks, authentication, and rate limits.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Repository search, navigation, and investigation routines.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87878"/>
                </a:solidFill>
                <a:latin typeface="Aptos"/>
              </a:rPr>
              <a:t>Appendices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ptos"/>
              </a:rPr>
              <a:t>Reference Material and Operational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87878"/>
                </a:solidFill>
                <a:latin typeface="Aptos"/>
              </a:rPr>
              <a:t>Deep dives and reusable guidance for real-world Git and GitHub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572000"/>
            <a:ext cx="6583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Appendices A–D: Daily Work and Troubleshooting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A: Git state diagnostics and everyday command reference.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B: GitHub authentication, secret safety, and repository hygiene.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C: Pull request, issue, and code review templates.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D: Troubleshooting playbook for conflicts, rejected pushes, detached HEAD, and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Appendices E–H: Internals and Advanced Local 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E: Git internals: blobs, trees, commits, refs, index, HEAD, and tags.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F: Release management, Semantic Versioning, tags, GitHub Releases, and hotfixes.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G: Command glossary and workflow cheat sheets.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H: Git worktrees for multiple parallel working directories.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Appendices I–L: Automation, Dependencies, and Investigation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I: Git hooks, local quality gates, commit-message checks, and secret detection.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J: Git LFS and large binary asset management.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K: Git submodules and repository composition.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L: Git bisect, blame, file history, and regression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Appendices M–P: Identity, Releases, Scale, and CI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M: Multiple Git identities, conditional configuration, SSH keys, and signed commits.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N: Conventional Commits, changelogs, and release-preview automation.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O: Sparse checkout, partial clones, and shallow clones for large repositories.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P: GitHub Actions security, permission minimization, dependency review, and protected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Appendices Q–T: Governance and Reusable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Q: Repository governance, CODEOWNERS, team access, and access-review routines.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R: Cross-platform Git, line endings, file modes, and .gitattributes.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S: GitHub CLI for terminal-based issues, pull requests, Actions, and releases.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T: Template repositories, bootstrap scripts, and repeatable project setup.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Appendices U–X: Migration, Maintenance, Incidents, and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U: Repository migration, branch renaming, transfers, and history preservation.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V: Repository health, storage diagnostics, Git maintenance, and mirror backups.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W: Incident response, rollbacks, emergency recovery, and post-incident reviews.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X: Final production readiness audit and operating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87878"/>
                </a:solidFill>
                <a:latin typeface="Aptos"/>
              </a:rPr>
              <a:t>Production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ptos"/>
              </a:rPr>
              <a:t>Security, Governance, Releases, and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87878"/>
                </a:solidFill>
                <a:latin typeface="Aptos"/>
              </a:rPr>
              <a:t>The practices that make version control dependable beyond individual development.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572000"/>
            <a:ext cx="6583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Security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Never commit passwords, tokens, API keys, private keys, or real .env files.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.env.example for safe configuration documentation.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Rotate or revoke exposed secrets before attempting history cleanup.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least privilege for repository roles, GitHub Actions tokens, and deployment credentials.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Review workflow changes as executable production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Release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Semantic Versioning to communicate compatibility impact.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Prepare release notes from meaningful user-facing changes.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Create annotated tags for stable release commits.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Create GitHub Releases from tags, not arbitrary branch state.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focused hotfix branches when urgent production fixes are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git switch main
git pull --ff-only
npm test
git tag -a v1.0.0 -m "Release version 1.0.0"
git push origin v1.0.0
gh release create v1.0.0 --generate-notes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Recovery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git revert for bad shared commits instead of rewriting shared history.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reflog to locate apparently lost local commits.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Create recovery branches before experimenting further.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Create mirror backups before migrations, history rewrites, or major maintenance.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incident records, containment, verification, and follow-up 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git status
git log --oneline --decorate --graph --all -20
git reflog --date=local -20
git revert &lt;bad-commit-hash&gt;
git switch -c recovery/lost-work &lt;commit-hash&gt;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Final Operating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Plan: issues, acceptance criteria, labels, milestones, and Projects.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Build: focused branches, small commits, tests, and documentation.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Review: pull requests, CI, CODEOWNERS, constructive feedback, and protected main.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Release: versioning, release notes, annotated tags, GitHub Releases, and environments.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Recover: reverts, reflog, backups, incident response, and blameless learning.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10469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urier New"/>
              </a:rPr>
              <a:t>Plan → Build → Review → Merge → Release → Monitor → Recover → 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4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00000"/>
                </a:solidFill>
                <a:latin typeface="Aptos"/>
              </a:rPr>
              <a:t>Final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4420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4800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Understand working directory, staging area, commits, branches, remotes, and pull requests.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Use GitHub Flow: protected main, focused branches, CI, reviews, and safe merges.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Protect secrets, use least privilege, and review automation carefully.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Release intentionally with tested main, tags, notes, and reproducible source.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</a:defRPr>
            </a:pPr>
            <a:r>
              <a:rPr sz="1900" b="0" i="0">
                <a:solidFill>
                  <a:srgbClr val="000000"/>
                </a:solidFill>
                <a:latin typeface="Aptos"/>
              </a:rPr>
              <a:t>Recover calmly: inspect first, preserve work, revert shared mistakes, and document incidents.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02870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000000"/>
                </a:solidFill>
                <a:latin typeface="Aptos"/>
              </a:rPr>
              <a:t>Version Control Is a Deliberate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60520" y="2907792"/>
            <a:ext cx="38862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900" b="0" i="0">
                <a:solidFill>
                  <a:srgbClr val="787878"/>
                </a:solidFill>
                <a:latin typeface="Aptos"/>
              </a:rPr>
              <a:t>Record meaningful changes.
Review before sharing.
Release intentionally.
Recover calmly.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87878"/>
                </a:solidFill>
                <a:latin typeface="Aptos"/>
              </a:rPr>
              <a:t>Mastering Version Control from Local to Production</a:t>
            </a:r>
            <a:r>
              <a:rPr sz="800" b="0" i="0">
                <a:solidFill>
                  <a:srgbClr val="787878"/>
                </a:solidFill>
                <a:latin typeface="Aptos"/>
              </a:rPr>
              <a:t>                                                    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