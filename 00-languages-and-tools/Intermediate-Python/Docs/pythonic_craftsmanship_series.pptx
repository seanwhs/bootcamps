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Writing clean, idiomatic, maintainable Python.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beginner-friendly journey with production-grade engineering practices.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Coverage: primers, OOP, Pythonic mechanics, decorators, testing, typing, and a complete API-client capstone.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Series Introduction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Series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classes with clear responsibilities and safe object state.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comprehensions, generators, iterators, and context managers appropriately.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Build packages with pytest, mypy, environment configuration, and release checks.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modular, tested, typed HTTP API client with safe retry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Series Introduction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How to Use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the deck as a teaching outline, review guide, or workshop presentation.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Pair each section with the corresponding tutorial implementation and verification commands.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examples text-first: explain the design, write the code, verify behavior, then extend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Series Introduction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a Supported Python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is both a language and an interpreter that executes Python files.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a Supported Python Version: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Install Python 3.11 or newer and use python --version to confirm it.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a Supported Python Version: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Install a Supported Python Version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Install Python 3.11 or newer and use python --version to confirm it.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install_a_supported_python_version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a Supported Python Version: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terminal prints Python 3.11, 3.12, or a newer supported version.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a Supported Python Version: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Project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project directory keeps source code, tests, documentation, and configuration together.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Project Directory: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pythonic-craftsmanship folder and enter it with cd.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Project Directory: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Create a Project Directory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a pythonic-craftsmanship folder and enter it with cd.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create_a_project_directory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Project Directory: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Your terminal working directory ends with pythonic-craftsmanship.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Project Directory: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Virtual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virtual environment isolates this project's Python packages from other projects.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Virtual Environment: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python -m venv .venv from the project root.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Virtual Environment: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Create a Virtual Environment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python -m venv .venv from the project root.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create_a_virtual_environment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Virtual Environment: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.venv folder appears in the project directory.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a Virtual Environment: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Activate the Virtual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Activation makes python and pip resolve to the project-specific environment.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Activate the Virtual Environment: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operating-system-specific activation command for .venv.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Activate the Virtual Environment: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Activate the Virtual Environment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the operating-system-specific activation command for .venv.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activate_the_virtual_environment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Activate the Virtual Environment: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terminal prompt normally displays (.venv), and the Python path includes .venv.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Activate the Virtual Environment: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Development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pytest runs automated tests and mypy checks type contracts before runtime.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Development Tools: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python -m pip install pytest mypy.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Development Tools: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Install Development Tools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python -m pip install pytest mypy.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install_development_tools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Development Tools: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-m pytest --version and python -m mypy --version both succeed.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Install Development Tools: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1: Development Environment  | 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Current Working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current working directory controls how relative file paths are resolved.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Current Working Directory: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pwd on macOS or Linux, or Get-Location in PowerShell.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Current Working Directory: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Current Working Directory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pwd on macOS or Linux, or Get-Location in PowerShell.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current_working_directory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Current Working Directory: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displayed location matches the project directory you expect.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Current Working Directory: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Files and Hidden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Directory listing confirms what files are actually present before you debug a path.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Files and Hidden Files: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ls -la on macOS or Linux, or Get-ChildItem -Force in PowerShell.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Files and Hidden Files: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List Files and Hidden Files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ls -la on macOS or Linux, or Get-ChildItem -Force in PowerShell.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list_files_and_hidden_files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Files and Hidden Files: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see .gitignore, .venv, and project source files.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Files and Hidden Files: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Relative and Absolute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 absolute path starts at the file-system root; a relative path starts at the current folder.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Relative and Absolute Paths: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hello_python.py from the root, then run ../hello_python.py from a subfolder.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Relative and Absolute Paths: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Relative and Absolute Paths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hello_python.py from the root, then run ../hello_python.py from a subfolder.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relative_and_absolute_paths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Relative and Absolute Paths: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Both commands work when the correct relative path is used.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Relative and Absolute Paths: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Files and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Directories organize related files, while text files hold source code and configuration.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Files and Directories: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notes and scripts folders, then add a small text file.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Files and Directories: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Create Files and Directories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notes and scripts folders, then add a small text file.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create_files_and_directories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Files and Directories: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listing shows notes/, scripts/, and the new text file.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Files and Directories: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Run a Python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Python source file is executed by passing its path to the active interpreter.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Run a Python Script: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python scripts/path_demo.py from the project root.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Run a Python Script: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Run a Python Script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python scripts/path_demo.py from the project root.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run_a_python_script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Run a Python Script: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script prints its working directory and physical script location.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Run a Python Script: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2: Terminal and File Navigation  | 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Core Python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commonly uses str, int, float, bool, and None to represent application data.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Core Python Values: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variables for a project name, count, timeout, active flag, and optional description.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Core Python Values: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Core Python Values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variables for a project name, count, timeout, active flag, and optional description.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core_python_values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Core Python Values: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type(value).__name__ to inspect each runtime type.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Core Python Values: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Strings and F-Strings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Strings represent text, and f-strings insert expressions into readable messages.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Strings and F-Strings: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strip(), casefold(), len(), and f'Project: {name}'.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Strings and F-Strings: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Strings and F-Strings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strip(), casefold(), len(), and f'Project: {name}'.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strings_and_f_strings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Strings and F-Strings: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Whitespace is removed correctly and formatted output contains expected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Strings and F-Strings: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Lists, Dictionaries, Tuples, and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Collections store related values with different guarantees about order, uniqueness, and mutation.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Lists, Dictionaries, Tuples, and Sets: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list of names, dictionary by ID, tuple of statuses, and set of tags.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Lists, Dictionaries, Tuples, and Sets: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Lists, Dictionaries, Tuples, and Sets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a list of names, dictionary by ID, tuple of statuses, and set of tags.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lists,_dictionaries,_tuples,_and_sets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Lists, Dictionaries, Tuples, and Sets: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Index, lookup, membership, and uniqueness behave as expected.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Lists, Dictionaries, Tuples, and Sets: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Conditionals and Truthiness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if, elif, and else choose behavior based on conditions and truthy or false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Conditionals and Truthiness: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Compare a project status and check whether an optional description is present.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Conditionals and Truthiness: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Conditionals and Truthiness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Compare a project status and check whether an optional description is present.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conditionals_and_truthiness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Conditionals and Truthiness: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correct branch runs for active status and an empty description.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Conditionals and Truthiness: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and Return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Functions package one focused behavior behind a meaningful name and interface.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and Return Values: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Write normalize_project_name(name: str) -&gt; str with runtime validation.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and Return Values: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Functions and Return Values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Write normalize_project_name(name: str) -&gt; str with runtime validation.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functions_and_return_values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and Return Values: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valid name is normalized and blank input raises ValueError.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and Return Values: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3: Python Syntax Refresh  | 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Initialize a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Git repository records project history through commits and branches.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Initialize a Repository: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git init, then rename the primary branch with git branch -M main.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Initialize a Repository: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Initialize a Repository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git init, then rename the primary branch with git branch -M main.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initialize_a_repository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Initialize a Repository: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git status reports that you are on branch main.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Initialize a Repository: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.gitignore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.gitignore file prevents local environments, caches, and secrets from entering version history.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.gitignore: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Ignore .venv, __pycache__, .pytest_cache, .mypy_cache, and .env files.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.gitignore: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Use .gitignore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Ignore .venv, __pycache__, .pytest_cache, .mypy_cache, and .env files.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use_.gitignore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.gitignore: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git status does not list .venv as an untracked file.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.gitignore: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Stage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staging area is the deliberate set of changes included in the next commit.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Stage Changes: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Inspect git status, then use git add for the intended files.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Stage Changes: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Stage Changes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Inspect git status, then use git add for the intended files.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stage_changes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Stage Changes: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git status lists files under Changes to be committed.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Stage Changes: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Meaningful Commits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commit is a named checkpoint that describes one completed logical change.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Meaningful Commits: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git commit -m 'Set up Python learning project'.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Meaningful Commits: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Create Meaningful Commits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git commit -m 'Set up Python learning project'.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create_meaningful_commits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Meaningful Commits: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git log --oneline shows the new commit message.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Meaningful Commits: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Work with Feature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branch creates an isolated line of work before changes are merged into main.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Work with Feature Branches: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git switch -c feature/add-project-note, commit a note, then merge it into main.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Work with Feature Branches: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Work with Feature Branches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git switch -c feature/add-project-note, commit a note, then merge it into main.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work_with_feature_branches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Work with Feature Branches: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git log --graph shows the feature commit in main history.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Work with Feature Branches: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4: Git and Source Control  | 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Read a Traceback Bottom-Up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final traceback line names the exception and message; earlier lines show the call path.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Read a Traceback Bottom-Up: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Start with the final exception, then inspect the nearest source line above it.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Read a Traceback Bottom-Up: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Read a Traceback Bottom-Up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Start with the final exception, then inspect the nearest source line above it.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read_a_traceback_bottom_up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Read a Traceback Bottom-Up: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explain what failed, where it failed, and which function called it.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Read a Traceback Bottom-Up: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Recognize Common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Exception types distinguish missing values, invalid values, wrong types, missing keys, and missing attributes.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Recognize Common Exceptions: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Trigger controlled ValueError, KeyError, TypeError, and AttributeError examples.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Recognize Common Exceptions: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Recognize Common Exceptions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Trigger controlled ValueError, KeyError, TypeError, and AttributeError examples.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recognize_common_exceptions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Recognize Common Exceptions: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Each exception type and message can be matched to its cause.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Recognize Common Exceptions: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Inspect Runtime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type() reveals runtime type and repr() reveals exact developer-facing representation.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Inspect Runtime Values: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Print type(value).__name__ and repr(value) for strings, None, and collections.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Inspect Runtime Values: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Inspect Runtime Values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Print type(value).__name__ and repr(value) for strings, None, and collections.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inspect_runtime_values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Inspect Runtime Values: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Whitespace and unexpected types become visible.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Inspect Runtime Values: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the Interactive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Python REPL supports small experiments without creating a script file.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the Interactive Interpreter: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python, evaluate string methods, inspect types, then exit().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the Interactive Interpreter: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Use the Interactive Interpreter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python, evaluate string methods, inspect types, then exit().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use_the_interactive_interpreter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the Interactive Interpreter: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&gt;&gt;&gt; prompt evaluates expressions and prints their results.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Use the Interactive Interpreter: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Build a Minimal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minimal reproducible example isolates the smallest code that still demonstrates a bug.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Build a Minimal Reproduction: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Reduce a failing validation case to one function and one invalid input.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Build a Minimal Reproduction: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Build a Minimal Reproduction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Reduce a failing validation case to one function and one invalid input.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build_a_minimal_reproduction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Build a Minimal Reproduction: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small program fails predictably and supports a focused fix.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Build a Minimal Reproduction: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Primer 5: Debugging and Documentation  | 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series moves from scripts that work to packages that are readable, testable, typed, and maintainable.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 Scope: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Identify the difference between a one-file script and a structured package.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 Scope: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Pythonic Craftsmanship Scope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Identify the difference between a one-file script and a structured package.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pythonic_craftsmanship_scope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 Scope: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name the benefits of modularity, tests, validation, and clear interfaces.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Pythonic Craftsmanship Scope: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intended reader knows Python basics and wants stronger engineering habits.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Target Audience: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Review prerequisite knowledge: variables, loops, functions, imports, and terminal basics.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Target Audience: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Target Audience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Review prerequisite knowledge: variables, loops, functions, imports, and terminal basics.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target_audience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Target Audience: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identify which unfamiliar topics the series will teach.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Target Audience: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Capstone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capstone is a typed API client with configuration, models, transport, exceptions, tests, and packaging.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Capstone Architecture: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Review the craftapi source tree and responsibility map.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Capstone Architecture: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Capstone Architecture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Review the craftapi source tree and responsibility map.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capstone_architecture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Capstone Architecture: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describe what each capstone module owns.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Capstone Architecture: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Production-Ready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Production-ready code validates inputs, handles errors, protects secrets, and supports maintenance.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Production-Ready Meaning: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List project qualities: clear boundaries, tests, types, documentation, and safe defaults.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Production-Ready Meaning: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Production-Ready Meaning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List project qualities: clear boundaries, tests, types, documentation, and safe defaults.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production_ready_meaning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Production-Ready Meaning: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explain why code that runs once is not automatically production-ready.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Production-Ready Meaning: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Hands-On Learning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Each build step follows Target, Concept, Implementation, and Verification.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Hands-On Learning Pattern: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small commands and tests after each change rather than waiting until the end.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Hands-On Learning Pattern: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Hands-On Learning Pattern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small commands and tests after each change rather than waiting until the end.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hands_on_learning_pattern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Hands-On Learning Pattern: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You can verify a feature before using it as a dependency for the next feature.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Hands-On Learning Pattern: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0: Introduction and Architecture  | 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Classes and Instances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class is a blueprint; an instance is one concrete object created from that blueprint.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Classes and Instances: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Book instances with title, author, ISBN, and checkout state.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Classes and Instances: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Classes and Instances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Book instances with title, author, ISBN, and checkout state.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classes_and_instances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Classes and Instances: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Changing one Book instance does not change another instance.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Classes and Instances: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__init__ Constructor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__init__ initializes a new object's valid starting state.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__init__ Constructor: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title, author, and ISBN before assigning instance attributes.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__init__ Constructor: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The __init__ Constructor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Validate title, author, and ISBN before assigning instance attributes.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the___init___constructor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__init__ Constructor: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Blank values raise ValueError during object creation.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__init__ Constructor: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Instance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Instance attributes belong to one object and represent that object's current data.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Instance State: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Store title, author, ISBN, and internal checkout state on self.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Instance State: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Instance State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Store title, author, ISBN, and internal checkout state on self.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instance_state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Instance State: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Two Book objects retain independent titles and availability.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Instance State: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Encapsulation with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Properties expose controlled access to internal state while protecting invariants.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Encapsulation with Properties: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_is_checked_out internally and a read-only is_checked_out property publicly.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Encapsulation with Properties: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Encapsulation with Properties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_is_checked_out internally and a read-only is_checked_out property publicly.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encapsulation_with_properties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Encapsulation with Properties: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Direct assignment to is_checked_out raises AttributeError.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Encapsulation with Properties: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 Attributes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Class attributes represent state shared by a class, while class methods operate on the class itself.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 Attributes and Methods: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Track total_books_created and expose created_count().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 Attributes and Methods: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Class Attributes and Methods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Track total_books_created and expose created_count().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class_attributes_and_methods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 Attributes and Methods: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count increases as Book instances are created.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Class Attributes and Methods: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1: OOP Foundations  | 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Base Classes and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Inheritance models a genuine is-a relationship and centralizes shared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Base Classes and Inheritance: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LendingItem as a base class for lendable resources.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Base Classes and Inheritance: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Base Classes and Inheritance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LendingItem as a base class for lendable resources.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base_classes_and_inheritance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Base Classes and Inheritance: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Book and DigitalBook can be recognized as LendingItem instances.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Base Classes and Inheritance: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super() and Shared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super() lets a subclass reuse base-class initialization and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super() and Shared Initialization: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 super().__init__(identifier=..., title=...) from Book and DigitalBook.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super() and Shared Initialization: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super() and Shared Initialization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Call super().__init__(identifier=..., title=...) from Book and DigitalBook.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super()_and_shared_initialization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super() and Shared Initialization: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Shared identifier, title, and lending state are initialized once.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super() and Shared Initialization: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Polymorphism lets different classes respond to the same method call according to their own rules.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Polymorphism: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 item.check_out() through the LendingItem interface.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Polymorphism: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Polymorphism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Call item.check_out() through the LendingItem interface.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Polymorphism: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Physical books and digital books apply different checkout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Polymorphism: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__repr__ and __str__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__repr__ supports debugging while __str__ supports concise human-facing display.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__repr__ and __str__: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detailed representations and readable item labels.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__repr__ and __str__: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__repr__ and __str__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detailed representations and readable item labels.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__repr___and___str__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__repr__ and __str__: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print(item) and repr(item) produce distinct useful output.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__repr__ and __str__: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Collection Dunder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__len__, __iter__, and __contains__ let custom classes behave naturally in Python syntax.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Collection Dunder Methods: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len(library), iteration over library, and identifier membership checks.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Collection Dunder Methods: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Collection Dunder Methods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len(library), iteration over library, and identifier membership checks.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collection_dunder_methods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Collection Dunder Methods: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len(library), for item in library, and 'ID' in library work.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Collection Dunder Methods: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2: Inheritance, Polymorphism, and Dunder Methods  | 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list comprehension expresses a simple transform-and-filter operation clearly.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Comprehensions: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descriptions for currently available catalog items.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Comprehensions: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List Comprehensions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descriptions for currently available catalog items.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list_comprehensions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Comprehensions: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resulting list contains only items that can be borrowed.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List Comprehensions: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Dictionary Comprehensions and Lookups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Dictionaries provide efficient lookup by a stable key such as an identifier.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Dictionary Comprehensions and Lookups: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Build an item lookup mapping and validate duplicate keys explicitly.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Dictionary Comprehensions and Lookups: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Dictionary Comprehensions and Lookups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Build an item lookup mapping and validate duplicate keys explicitly.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dictionary_comprehensions_and_lookups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Dictionary Comprehensions and Lookups: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known identifier returns its object and duplicates raise a useful 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Dictionary Comprehensions and Lookups: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Set 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Sets retain unique values and support efficient membership checks.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Set Comprehensions: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Collect distinct author names or project statuses into a set.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Set Comprehensions: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Set Comprehensions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Collect distinct author names or project statuses into a set.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set_comprehensions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Set Comprehensions: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Duplicate values appear only once in the resulting collection.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Set Comprehensions: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Counter and defaultdict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Counter counts repeated values and defaultdict simplifies grouping values by a key.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Counter and defaultdict: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Count item types and group catalog items by author.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Counter and defaultdict: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Counter and defaultdict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Count item types and group catalog items by author.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counter_and_defaultdict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Counter and defaultdict: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reports show correct counts and groups without manual initialization logic.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Counter and defaultdict: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deque and Recent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deque(maxlen=N) stores a bounded event history and drops the oldest entry automatically.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deque and Recent Activity: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Record add, checkout, and return events in a bounded deque.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deque and Recent Activity: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deque and Recent Activity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Record add, checkout, and return events in a bounded deque.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deque_and_recent_activity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deque and Recent Activity: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Only the configured number of newest events remains.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deque and Recent Activity: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3: Pythonic Collections  | 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Iterable versus Iterator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 iterable can create an iterator; an iterator yields values one at a time with next().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Iterable versus Iterator: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 iter(library) and next(iterator) manually.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Iterable versus Iterator: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Iterable versus Iterator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Call iter(library) and next(iterator) manually.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iterable_versus_iterator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Iterable versus Iterator: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After the last item, next() raises StopIteration.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Iterable versus Iterator: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Custom Page Iterator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 iterator class can retain explicit state such as current page position.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Custom Page Iterator: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CatalogPageIterator with __iter__ and __next__.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Custom Page Iterator: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Custom Page Iterator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CatalogPageIterator with __iter__ and __next__.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custom_page_iterator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Custom Page Iterator: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Catalog items are returned in immutable fixed-size pages.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Custom Page Iterator: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Generator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generator uses yield to delay work until the caller requests another value.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Generator Functions: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iter_available_items() and iter_items_matching_title().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Generator Functions: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Generator Functions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iter_available_items() and iter_items_matching_title().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generator_functions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Generator Functions: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Results are produced lazily and can be consumed by a for loop.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Generator Functions: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itertools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itertools composes iterator behavior without eagerly building unnecessary lists.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itertools Composition: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chain, islice, and filterfalse for catalog streams.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itertools Composition: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itertools Composition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chain, islice, and filterfalse for catalog streams.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itertools_composition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itertools Composition: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Combined, limited, and filtered streams produce expected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itertools Composition: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Context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context manager guarantees setup and cleanup around a with block.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Context Managers: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CatalogSnapshotWriter with __enter__ and __exit__.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Context Managers: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Context Managers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CatalogSnapshotWriter with __enter__ and __exit__.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context_managers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Context Managers: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snapshot file closes even when code inside the with block raises.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Context Managers: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4: Iterators, Generators, and Context Managers  |  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as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functions can be assigned, passed, stored, and called later.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as Values: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Assign a notification function to a variable and pass it to another function.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as Values: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Functions as Values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Assign a notification function to a variable and pass it to another function.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functions_as_values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as Values: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receiving function invokes the supplied callback successfully.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Functions as Values: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Callbacks and Event Handlers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callback lets a component notify optional observers after an event occurs.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Callbacks and Event Handlers: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Subscribe functions that receive LibraryEvent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Callbacks and Event Handlers: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Callbacks and Event Handlers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Subscribe functions that receive LibraryEvent values.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callbacks_and_event_handlers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Callbacks and Event Handlers: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Handlers receive item_added, item_checked_out, and item_returned events.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Callbacks and Event Handlers: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closure remembers values from the scope where the nested function was created.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Closures: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configurable event recorder that captures a destination list.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Closures: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Closures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a configurable event recorder that captures a destination list.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Closures: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Multiple closures retain separate configuration and state.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Closures: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*args and **kwargs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*args collects extra positional values and **kwargs collects extra named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*args and **kwargs: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helper that accepts multiple Book objects and validated metadata.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*args and **kwargs: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*args and **kwargs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a helper that accepts multiple Book objects and validated metadata.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*args_and_**kwargs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*args and **kwargs: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 flexible calls work while unsupported keyword data raises TypeError.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*args and **kwargs: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 Error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Optional observers should not undo completed core operations when they fail.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 Error Boundaries: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Record callback failures while allowing a completed catalog action to remain successful.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 Error Boundaries: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Callback Error Boundaries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Record callback failures while allowing a completed catalog action to remain successful.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callback_error_boundaries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 Error Boundaries: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item is added and the handler failure is available for inspection.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Callback Error Boundaries: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5: First-Class Functions and Closures  |  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Decorator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decorator accepts a function and returns a wrapper with additional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Decorator Mechanics: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an announce_call decorator around a greeting function.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Decorator Mechanics: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Decorator Mechanics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an announce_call decorator around a greeting function.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decorator_mechanics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Decorator Mechanics: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wrapper runs before and after the original function.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Decorator Mechanics: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functools.wraps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wraps preserves function metadata such as name, docstring, and annotations.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functools.wraps: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Apply @wraps(function) to every conventional wrapper.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functools.wraps: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functools.wraps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Apply @wraps(function) to every conventional wrapper.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functools.wraps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functools.wraps: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decorated function still reports its original name and documentation.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functools.wraps: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Validation Decorators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decorator factory can enforce repeated rules such as non-blank string input.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Validation Decorators: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require_non_blank_string(parameter_name).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Validation Decorators: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Validation Decorators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require_non_blank_string(parameter_name).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validation_decorators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Validation Decorators: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Blank and non-string values raise meaningful validation errors.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Validation Decorators: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Logging and Timing Decorators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Cross-cutting behavior such as logging and timing belongs around business functions, not inside each one.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Logging and Timing Decorators: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log_calls and measure_duration decorators using monotonic time.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Logging and Timing Decorators: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Logging and Timing Decorators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log_calls and measure_duration decorators using monotonic time.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logging_and_timing_decorators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Logging and Timing Decorators: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Success and failure records include safe metadata and elapsed duration.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Logging and Timing Decorators: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Decorators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Retries should target narrow temporary errors and only operations safe to repeat.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Decorators: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retry(attempts=..., retry_on=(TemporaryError,)).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Decorators: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Retry Decorators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retry(attempts=..., retry_on=(TemporaryError,)).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retry_decorators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Decorators: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Temporary failures recover when attempts remain and final failures re-raise.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Decorators: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6: Decorators  |  Slide 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src Package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src layout avoids accidental imports from the project root and better matches installed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src Package Layout: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Place importable package code under src/library or src/craftapi.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src Package Layout: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The src Package Layout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Place importable package code under src/library or src/craftapi.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the_src_package_layout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src Package Layout: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Imports work after editable installation rather than by accidental path leakage.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The src Package Layout: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pyproject.toml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pyproject.toml centralizes package metadata, build settings, dependencies, and tool configuration.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pyproject.toml: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Define build-system, project metadata, dev dependencies, pytest, and mypy settings.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pyproject.toml: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pyproject.toml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Define build-system, project metadata, dev dependencies, pytest, and mypy settings.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pyproject.toml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pyproject.toml: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-m pip install --editable '.[dev]' succeeds.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pyproject.toml: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pytest Fixtures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Fixtures create reusable, isolated test setup for test functions.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pytest Fixtures: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Define Book, DigitalBook, and populated Library fixtures in conftest.py.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pytest Fixtures: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pytest Fixtures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Define Book, DigitalBook, and populated Library fixtures in conftest.py.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pytest_fixtures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pytest Fixtures: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Multiple tests receive fresh objects without duplicated setup.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pytest Fixtures: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Unit Tests and Expected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Unit tests verify one focused behavior, including expected validation failures.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Unit Tests and Expected Errors: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assert and pytest.raises to test model and catalog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Unit Tests and Expected Errors: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Unit Tests and Expected Errors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assert and pytest.raises to test model and catalog behavior.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unit_tests_and_expected_errors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Unit Tests and Expected Errors: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python -m pytest reports passing tests for expected success and failure cases.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322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Unit Tests and Expected Errors: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323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Test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Tests should avoid real networks, shared mutable state, and project-directory file writes.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324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Test Isolation: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fake transports, function-scoped fixtures, and tmp_path.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325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Test Isolation: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Test Isolation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fake transports, function-scoped fixtures, and tmp_path.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test_isolation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Test Isolation: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Tests are fast, repeatable, and independent of execution order.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327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Test Isolation: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7: Package Architecture and pytest  |  Slide 328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Type Hints as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Annotations describe expected inputs, outputs, and optional values for people and static tools.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329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Type Hints as Contracts: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Annotate public functions, collection contents, and return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Type Hints as Contracts: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Type Hints as Contracts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Annotate public functions, collection contents, and return values.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type_hints_as_contracts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Type Hints as Contracts: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mypy identifies incompatible calls before runtime.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332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Type Hints as Contracts: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mypy 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mypy analyzes declared interfaces without running the program.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mypy Static Analysis: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python -m mypy src tests after implementation changes.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335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mypy Static Analysis: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mypy Static Analysis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python -m mypy src tests after implementation changes.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mypy_static_analysis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mypy Static Analysis: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command reports no issues or points to precise source locations.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337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mypy Static Analysis: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338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Protocol defines required behavior without forcing inheritance.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339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Protocols: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Define a Transport protocol with request() and close().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Protocols: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Protocols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Define a Transport protocol with request() and close().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Protocols: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fake transport satisfies the contract without subclassing production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Protocols: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343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Domain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Custom exceptions expose application-level failures instead of leaking low-level implementation details.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344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Domain Exceptions: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LibraryError and ItemNotFoundError or CraftApiError subclasses.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345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Domain Exceptions: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Domain Exceptions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LibraryError and ItemNotFoundError or CraftApiError subclasses.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domain_exceptions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346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Domain Exceptions: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Callers can catch a precise domain exception.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347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Domain Exceptions: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348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Exception chaining preserves the original cause while raising a clearer public 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349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Chaining: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raise ItemNotFoundError(...) from original_key_error.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350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Chaining: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Exception Chaining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raise ItemNotFoundError(...) from original_key_error.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exception_chaining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351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Chaining: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Tracebacks show both the internal cause and domain-level 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352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Chaining: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Part 8: Type Hints and Error Boundaries  |  Slide 353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the craftapi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capstone is a standalone installable package with its own source, tests, and metadata.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354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the craftapi Package: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src/craftapi, tests, README.md, pyproject.toml, and .gitignore.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355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the craftapi Package: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Create the craftapi Package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src/craftapi, tests, README.md, pyproject.toml, and .gitignore.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create_the_craftapi_package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356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the craftapi Package: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Editable installation exposes importable craftapi modules.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357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Create the craftapi Package: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358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Immutable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Configuration should validate URL, token, and timeout before any network request occurs.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359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Immutable Configuration: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frozen CraftApiConfig with base_url, api_token, and timeout_seconds.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Immutable Configuration: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Immutable Configuration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frozen CraftApiConfig with base_url, api_token, and timeout_seconds.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immutable_configuration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361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Immutable Configuration: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Blank token, invalid URL, and non-positive timeout raise configuration errors.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362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Immutable Configuration: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363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Environment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Environment variables keep secrets out of source files and Git history.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364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Environment Configuration: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CraftApiConfig.from_environment() using CRAFTAPI_* variables.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365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Environment Configuration: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Environment Configuration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CraftApiConfig.from_environment() using CRAFTAPI_* variables.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environment_configuration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366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Environment Configuration: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 explicit environment mapping produces deterministic test configuration.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367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Environment Configuration: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368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Project API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Models convert untrusted JSON payloads into validated immutable Python objects.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369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Project API Model: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Project.from_api_payload() with required string and timestamp validation.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Project API Model: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Project API Model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Project.from_api_payload() with required string and timestamp validation.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project_api_model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371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Project API Model: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Malformed fields raise CraftApiValidationError close to the API boundary.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372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Project API Model: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373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typed exception hierarchy distinguishes configuration, transport, response, authentication, and validation failures.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374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Hierarchy: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Define CraftApiError and specialized exception subclasses.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375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Hierarchy: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Exception Hierarchy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Define CraftApiError and specialized exception subclasses.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exception_hierarchy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376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Hierarchy: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Callers can handle 404, 401, 5xx, and network errors precisely.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377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Exception Hierarchy: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9: craftapi Foundation  |  Slide 378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Transport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client depends on a stable HTTP contract rather than directly on a library implementation.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379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Transport Protocol: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Define Transport.request(...) -&gt; HttpResponse and close().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Transport Protocol: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Transport Protocol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Define Transport.request(...) -&gt; HttpResponse and close().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transport_protocol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381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Transport Protocol: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Production and fake transports can be supplied interchangeably.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382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Transport Protocol: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383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HttpResponse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package-owned response model prevents urllib-specific objects from leaking into higher layers.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384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HttpResponse Model: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immutable HttpResponse with status_code, URL, headers, body, and JSON helpers.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385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HttpResponse Model: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HttpResponse Model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immutable HttpResponse with status_code, URL, headers, body, and JSON helpers.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httpresponse_model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386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HttpResponse Model: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Tests construct responses without real network calls.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387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HttpResponse Model: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388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JSON Encoding and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HTTP JSON requests must encode stable UTF-8 bytes and responses must validate JSON shape.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389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JSON Encoding and Parsing: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encode_json_body() and HttpResponse.json_object().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390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JSON Encoding and Parsing: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JSON Encoding and Parsing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encode_json_body() and HttpResponse.json_object().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json_encoding_and_parsing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391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JSON Encoding and Parsing: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Invalid JSON and non-object JSON roots raise validation errors.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392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JSON Encoding and Parsing: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393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 Error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HTTP statuses should become domain exceptions with structured request context.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394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 Error Translation: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Translate 401/403, 404, 5xx, and other failures in raise_for_response_error().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395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 Error Translation: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HTTP Error Translation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Translate 401/403, 404, 5xx, and other failures in raise_for_response_error().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http_error_translation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396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 Error Translation: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Callers receive CraftApiAuthenticationError, NotFoundError, or ServerError.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397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HTTP Error Translation: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398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UrllibTransport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urllib.request provides a standard-library HTTP implementation behind the transport interface.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399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UrllibTransport: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Build Request objects, call urlopen, and translate URLError and HTTPError.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400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UrllibTransport: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UrllibTransport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Build Request objects, call urlopen, and translate URLError and HTTPError.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urllibtransport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401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UrllibTransport: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mocked urlopen test confirms requests and failure translations.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402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UrllibTransport: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10: HTTP Transport  |  Slide 403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CraftApiClient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high-level client coordinates configuration, transport, headers, URLs, models, and lifecycle.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404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CraftApiClient Construction: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CraftApiClient(config=..., transport=...) and from_environment().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405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CraftApiClient Construction: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CraftApiClient Construction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CraftApiClient(config=..., transport=...) and from_environment().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craftapiclient_construction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406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CraftApiClient Construction: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fake transport can be injected for offline tests.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407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CraftApiClient Construction: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408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Authorization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Every protected request needs consistent headers while secrets remain hidden from logs.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409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Authorization Headers: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Build Authorization, Accept, User-Agent, and JSON Content-Type headers centrally.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410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Authorization Headers: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Authorization Headers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Build Authorization, Accept, User-Agent, and JSON Content-Type headers centrally.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authorization_headers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411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Authorization Headers: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Recorded fake requests contain expected headers and JSON behavior.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412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Authorization Headers: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413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Get and Create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Public methods should express domain operations instead of raw HTTP details.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414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Get and Create Project: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get_project(project_id) and create_project(name=..., description=...).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415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Get and Create Project: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Get and Create Project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get_project(project_id) and create_project(name=..., description=...).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get_and_create_project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416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Get and Create Project: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Responses become validated Project models and blank input fails before transport use.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417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Get and Create Project: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418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User-controlled identifiers must be encoded so reserved characters do not alter the URL path.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419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 Encoding: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urllib.parse.quote(identifier, safe='') for project IDs.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420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 Encoding: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URL Encoding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urllib.parse.quote(identifier, safe='') for project IDs.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url_encoding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421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 Encoding: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An ID containing spaces and slashes becomes correctly percent-encoded.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422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URL Encoding: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423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Lazy Pagination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Generators fetch project pages only when the caller consumes more values.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424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Lazy Pagination: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Implement iter_projects(page_size=...) using ProjectPage and visited page tracking.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425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Lazy Pagination: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Lazy Pagination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Implement iter_projects(page_size=...) using ProjectPage and visited page tracking.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lazy_pagination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426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Lazy Pagination: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first network request occurs at next() or loop consumption, not generator creation.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427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Lazy Pagination: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11: Public Client and Pagination  |  Slide 428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retry policy formalizes maximum attempts, delays, and retryable status codes.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429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Policy: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RetryPolicy with validated max_attempts and exponential delay calculation.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430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Policy: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Retry Policy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Create RetryPolicy with validated max_attempts and exponential delay calculation.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retry_policy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431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Policy: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Delay values grow predictably and remain capped at the configured maximum.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432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Retry Policy: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433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Safe Idempotent 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Retries should default to idempotent methods because repeated writes can create duplicates.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434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Safe Idempotent Retries: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Retry GET, HEAD, OPTIONS, PUT, and DELETE for temporary network and selected HTTP failures.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435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Safe Idempotent Retries: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Safe Idempotent Retries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Retry GET, HEAD, OPTIONS, PUT, and DELETE for temporary network and selected HTTP failures.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safe_idempotent_retries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436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Safe Idempotent Retries: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GET retries after a temporary failure while POST fails after one attempt.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437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Safe Idempotent Retries: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438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Observability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Logs should include safe operational context without tokens, authorization headers, or sensitive bodies.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439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Observability and Logging: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a module logger for method, URL, status code, retry attempt, and delay.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440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Observability and Logging: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Observability and Logging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Use a module logger for method, URL, status code, retry attempt, and delay.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observability_and_logging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441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Observability and Logging: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Retry and success logs are useful while secret values remain absent.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442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Observability and Logging: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443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Package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release artifact should be tested as users install it, not only as an editable checkout.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444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Package Builds: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Install build, run python -m build, and inspect dist artifacts.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445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Package Builds: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Package Builds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Install build, run python -m build, and inspect dist artifacts.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package_builds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446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Package Builds: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wheel and source distribution are generated successfully.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447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Package Builds: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448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Release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A release pipeline repeats installation, tests, type checks, build, and clean-wheel installation.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Why it matters: clear interfaces reduce future confusion and maintenance cost.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Series connection: this concept supports a later package, test, or API-client design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449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Release Verification: Build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pip install, pytest, mypy, build, and a separate wheel smoke test.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Keep the implementation focused on one responsibility.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Prefer explicit validation and descriptive names over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450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Release Verification: Implementation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Focused implementation pattern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Topic: Release Verification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def verify_feature() -&gt; None: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# Run pip install, pytest, mypy, build, and a separate wheel smoke test.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result = True</a:t>
            </a: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    assert result is True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>
                <a:latin typeface="Courier New"/>
              </a:rPr>
              <a:t># Reference key: release_verification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451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Release Verification: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The package passes checks and imports from an isolated environment.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Run the smallest focused command or test before moving to the next step.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When behavior fails, inspect the exception type, message, input value, and boundary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452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Release Verification: Engineering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Design for readers: the next developer should understand intent without reverse-engineering clever code.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Validate external or user-controlled values close to the boundary where they enter the system.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tests and type checks as complementary safeguards for future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Capstone Part 12: Production Hardening  |  Slide 453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latin typeface="Aptos"/>
              </a:rPr>
              <a:t>Final Review: The Pythonic Craftsmanship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Create a focused package structure with src/, tests/, configuration, and documentation.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Model domain concepts clearly, validate boundaries, and expose stable public interfaces.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Use pytest for behavior, mypy for contracts, and Git for safe incremental change.</a:t>
            </a:r>
          </a:p>
          <a:p>
            <a:pPr algn="l">
              <a:spcAft>
                <a:spcPts val="1300"/>
              </a:spcAft>
            </a:pPr>
            <a:r>
              <a:rPr sz="1800">
                <a:latin typeface="Aptos"/>
              </a:rPr>
              <a:t>• Build, test, type-check, package, and inspect release artifacts before shipping.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latin typeface="Aptos"/>
              </a:rPr>
              <a:t>Series Conclusion  |  Slide 454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