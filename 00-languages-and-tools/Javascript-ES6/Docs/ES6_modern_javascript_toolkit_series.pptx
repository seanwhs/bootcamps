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10149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000000"/>
                </a:solidFill>
                <a:latin typeface="Aptos Display"/>
              </a:defRPr>
            </a:pPr>
            <a:r>
              <a:t>ES6+ Modern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The Contemporary Developer Kit</a:t>
            </a:r>
            <a:br/>
            <a:r>
              <a:t>A beginner-friendly, code-heavy tutorial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Series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Master modern ECMAScript features from ES6 through ES2024+.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Write clean, idiomatic, readable, and defensive JavaScript.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modern language features in realistic Node.js modules.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Build confidence through runnable examples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What the Reader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 Modern JavaScript Toolkit workspace.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Runnable Node.js ES module examples for every feature.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 final integrated project-dashboard pipeline.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Reference appendices, compatibility checks, exercises, and primers.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Learning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Primers establish runtime, data, function, module, and debugging foundations.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Part 0 introduces the journey and final architecture.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Parts 1–4 build modern JavaScript skills progressively.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Appendices provide long-term reference material and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Primer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Prepare the learning environment before the main technical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Primer 0: Learning Setup and How to Use This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Install and verify Node.js and npm.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the project folder and initial package.json.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Learn the terminal workflow and npm scripts.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Practice console output, verification, and error reading.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Primer 1: JavaScript Runtime and Tooling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Node.js as a JavaScript runtime.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Compare Node.js and browser capabilities.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Read command-line arguments with process.argv.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Read environment variables with process.env.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the Node.js REPL and runtime inspection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Primer 2: Values, Types, Objects, and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Work with strings, numbers, booleans, null, and undefined.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objects and read properties safely.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arrays as ordered collections.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primitive copying versus object references.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structuredClone() and recognize shallow-copy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Primer 3: Functions, Control Flow, and Basic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functions with parameters and return values.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if, else if, and else for decisions.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for...of for clear iteration.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map(), filter(), find(), and reduce().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Build a small immutable task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Primer 4: Modules, Files, and Debugging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ES module import and export syntax.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relative import paths such as ./ and ../.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Read stack traces and inspect runtime errors.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structured debug logging.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node --watch and the built-in Node.js debugger.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Part 0: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Establish the scope, architecture, audience, and expectations.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0: Scope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Modern JavaScript is standardized as ECMAScript.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The series uses a Node.js 22+ ES module workspace.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Each implementation step includes a target, concept, code, and verification.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The final toolkit combines data normalization, collections, async iteration, and immutable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Part 1: Syntax Ergonomics and Destructuring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Safer declarations and concise data extraction.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1: Modern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const by default for stable variable bindings.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let only when reassignment is intentional.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Avoid var in modern application code.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block scope and why it prevents accidental leakage.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1: Destructuring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Extract values from arrays by position.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Extract values from objects by property name.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defaults, renaming, and nested extraction.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Destructure function parameters for focused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1: Rest and Spread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rest syntax to gather remaining values.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spread syntax to copy and merge arrays.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object spread for immutable object updates.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that spread syntax creates shallow copies.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Part 2: Arrow Functions, Templates, and Expressive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Write concise functions, readable strings, and flexible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2: Arrow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concise arrow syntax for transformations and callbacks.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implicit returns for one-expression functions.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lexical this behavior.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Avoid arrow functions for object methods that need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2: Template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Build readable dynamic strings with backticks.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Insert values and expressions with ${...}.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multiline strings without manual newline concatenation.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tagged templates for formatting, diagnostics, and controlled escaping.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2: Enhanced Object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shorthand properties when names match.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computed property names for runtime-selected keys.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concise method definitions.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Compose objects with spread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Part 3: Collections and Iteration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Choose the right collection and process values incrementally.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3: Set and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Set when values must be unique.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Map for intentional key-value relationships.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object reference identity in Sets and Maps.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Convert Maps to plain objects with Object.fromEntries().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3: WeakSet and WeakMap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Associate metadata with object lifetimes.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Avoid preventing garbage collection of unused object keys.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why weak collections are not iterable.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Choose Map or Set when entries must be counted or enumerated.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3: Iterators and Generators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iterable and iterator protocols.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lazy sequences with function* and yield.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Process values one at a time with for...of.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async generators and for await...of for arriving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Part 4: Modern Utility APIs and Defensive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Handle missing data safely and avoid accidental mutation.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4: Safe Data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optional chaining with ?.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nullish coalescing with ??.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why ?? differs from ||.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&amp;&amp;=, ||=, and ??= for conditional 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4: Structured Cloning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Compare shallow copies with deep copies.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structuredClone() for compatible independent data graphs.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Preserve Dates, Sets, Maps, typed arrays, and circular references.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Prefer targeted immutable updates for known small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Part 4: Immutable Array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at() for expressive positive and negative indexing.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toSorted() instead of mutating sort().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toSpliced() instead of mutating splice().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with() to replace one array item without mutation.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Final Integrated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Read potentially incomplete project configuration safely.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Process asynchronous task pages with for await...of.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Deduplicate tags with Set.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Count work by owner with Map.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a draft with structuredClone().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Update one task immutably with Array.prototype.with().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Appendix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Reference material, operational guidance, and deliberate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A: ECMAScript Feature 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Distinguish syntax support from runtime API support.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Check Node.js and browser compatibility.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Understand transpilers versus polyfills.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feature detection instead of user-agent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B: Common Mistakes and Debugging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Avoid var scope mistakes and const mutation assumptions.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Handle nested destructuring safely.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Avoid incorrect arrow-function this behavior.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Recognize shallow copies, mutation, reference identity, and async mistakes.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C: Modern JavaScript 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descriptive names and const by default.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Keep functions small and focused.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Validate public inputs and provide useful errors.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immutable updates for shared application state.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ESLint and Prettier for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D: Feature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Quick reference for destructuring, rest, spread, and arrows.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Quick reference for Sets, Maps, generators, and async iteration.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Quick reference for optional chaining and nullish coalescing.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Quick reference for structuredClone() and immutable arrays.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E: Exercises and Complete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Practice public-profile sanitization.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expressive task summaries.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Group unique task IDs with Set and Map.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Build generators, async streams, immutable updates, and dashboards.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Verify every exercise with Node.js assert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F: Modern JavaScript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Reference language, function, collection, and iteration terms.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Review defensive coding and immutable array terminology.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Clarify runtime, module, Promise, and async concepts.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Appendix G: Migration Guide for Older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Migrate var to const and let.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Replace manual null checks with ?. and ??.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Replace mutation-prone array patterns with modern APIs.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Move from JSON cloning to structuredClone() where appropriate.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Modernize callbacks and CommonJS modules incrementally.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Recommended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Read the concept before copying code.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Create the exact file path shown in each step.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Run the verification command immediately.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Change one value and rerun to observe behavior.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the appendices as a reference while building real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000000"/>
                </a:solidFill>
                <a:latin typeface="Aptos Display"/>
              </a:defRPr>
            </a:pPr>
            <a:r>
              <a:t>Final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Prefer clear intent over clever syntax.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const, safe access, and immutable updates to reduce bugs.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Choose collections based on data rules.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Use generators and async iteration for incremental processing.</a:t>
            </a:r>
          </a:p>
          <a:p>
            <a:pPr>
              <a:spcAft>
                <a:spcPts val="1100"/>
              </a:spcAft>
              <a:defRPr sz="2000">
                <a:solidFill>
                  <a:srgbClr val="464646"/>
                </a:solidFill>
                <a:latin typeface="Aptos"/>
              </a:defRPr>
            </a:pPr>
            <a:r>
              <a:t>Treat testing, compatibility, linting, and debugging as part of development.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10149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000000"/>
                </a:solidFill>
                <a:latin typeface="Aptos Display"/>
              </a:defRPr>
            </a:pPr>
            <a:r>
              <a:t>Modern JavaScript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54680"/>
            <a:ext cx="9418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464646"/>
                </a:solidFill>
                <a:latin typeface="Aptos"/>
              </a:defRPr>
            </a:pPr>
            <a:r>
              <a:t>Build clearly. Verify continuously. Modernize deliberately.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828282"/>
                </a:solidFill>
                <a:latin typeface="Aptos"/>
              </a:defRPr>
            </a:pPr>
            <a:r>
              <a:t>ES6+ Modern JavaScript: The Contemporary Developer Kit    |   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