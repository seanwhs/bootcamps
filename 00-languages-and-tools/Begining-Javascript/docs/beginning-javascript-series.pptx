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0: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Scope, audience, architecture, tools, and the hands-on journey.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Series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0: Introduction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Series goal.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0: Introduction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Target audience.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Final task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0: Introduction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Final task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HTML, CSS, and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0: Introduction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HTML, CSS, and JavaScript.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Browser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0: Introduction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Browser runtime.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Application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0: Introduction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Application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Application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0: Introduction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Application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DOM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0: Introduction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DOM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Learning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0: Introduction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Learning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Primer 1: How the Web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The browser, web documents, resources, and the DOM.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HTML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1: How the Web Works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HTML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1: How the Web Works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CSS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JavaScript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1: How the Web Works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JavaScript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Browser loading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1: How the Web Works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Browser loading.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Local development servers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1: How the Web Works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Local development servers.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JavaScript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1: How the Web Works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JavaScript runtime.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Browser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1: How the Web Works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Browser APIs.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DOM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1: How the Web Works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DOM tree.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HTML, CSS, and JavaScript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1: How the Web Works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HTML, CSS, and JavaScript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Primer 2: Programming Mental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Instructions, values, state, control flow, and rendering.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Programs as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2: Programming Mental Models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Programs as instructions.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Values as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2: Programming Mental Models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Values as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Variables as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2: Programming Mental Models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Variables as 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Expressions and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2: Programming Mental Models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Expressions and statements.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Input, processing,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2: Programming Mental Models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Input, processing,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Decision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2: Programming Mental Models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Decision 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Repeated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2: Programming Mental Models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Repeated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Functions as recipes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2: Programming Mental Models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Functions as recipes.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State and 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2: Programming Mental Models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State and rendering.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Primer 3: How to Read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A systematic method for understanding unfamiliar code.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Declarations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3: How to Read JavaScript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Declarations.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Expressions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3: How to Read JavaScript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Expressions.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3: How to Read JavaScript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 calls.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3: How to Read JavaScript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 definitions.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Conditional 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3: How to Read JavaScript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Conditional branches.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Loop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3: How to Read JavaScript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Loop tracing.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Nested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3: How to Read JavaScript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Nested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Array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3: How to Read JavaScript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Array methods.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DOM and event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3: How to Read JavaScript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DOM and event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Primer 4: Browser Development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Edit, run, observe, debug, and verify.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Plan and edit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4: Browser Development Loop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Plan and edit.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Save and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4: Browser Development Loop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Save and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Console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4: Browser Development Loop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Console feedback.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Syntax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4: Browser Development Loop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Syntax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Runtime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4: Browser Development Loop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Runtime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Logic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4: Browser Development Loop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Logic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Debugging checkpoints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4: Browser Development Loop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Debugging checkpoints.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Breakpoints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4: Browser Development Loop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Breakpoints.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Incremental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Primer 4: Browser Development Loop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Incremental development.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1: Variables and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The basic information units used by JavaScript.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Variables and Values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const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Variables and Values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const.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Variables and Values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Variables and Values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Strings.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Variables and Values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Booleans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Variables and Values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Booleans.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undefined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Variables and Values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undefined.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null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Variables and Values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null.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typeof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Variables and Values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typeof.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1: Memory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Primitive values, objects, arrays, copying, and mutation.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Primitive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Memory and References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Primitive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Reference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Memory and References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Reference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Variable bindings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Memory and References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Variable bindings.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Object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Memory and References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Object identity.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Array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Memory and References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Array identity.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Shared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Memory and References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Shared references.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Object mutation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Memory and References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Object mutation.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Array mutation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Memory and References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Array mutation.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Shallow copies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Memory and References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Shallow copies.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1: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Arithmetic, assignment, comparison, and logical operations.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Addition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Operators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Addition.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Subtraction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Operators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Subtraction.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Multiplication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Operators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Multiplication.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Division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Operators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Division.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Remainder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Operators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Remainder.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Compound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Operators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Compound assignment.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Strict equality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Operators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Strict equality.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Relational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Operators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Relational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Logical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Operators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Logical operators.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1: Conditional Control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How programs choose different paths.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if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Conditional Control Flow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if statements.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else 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Conditional Control Flow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else branches.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else if 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Conditional Control Flow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else if branches.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Boolean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Conditional Control Flow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Boolean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Input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Conditional Control Flow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Input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Truthiness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Conditional Control Flow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Truthiness.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Falsy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Conditional Control Flow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Falsy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Nested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Conditional Control Flow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Nested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Early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Conditional Control Flow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Early returns.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1: switch and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Multiple-choice branching and repeated operations.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switch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switch and Loops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switch statements.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case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switch and Loops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case labels.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default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switch and Loops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default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break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switch and Loops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break statements.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for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switch and Loops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for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while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switch and Loops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while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for...of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switch and Loops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for...of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Loop counters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switch and Loops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Loop counters.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Infinite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1: switch and Loops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Infinite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2: Function Declarations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Reusable groups of instructions.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Declarations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 syntax.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Declarations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 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 bodies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Declarations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 bodies.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Calling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Declarations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Calling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Declarations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Parameters.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Declarations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Arguments.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Default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Declarations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Default parameters.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Return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Declarations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Return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Single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Declarations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Single responsibility.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2: Function Expressions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Functions as values stored in variables.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 expressions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Expressions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 expressions.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Anonymous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Expressions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Anonymous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Expressions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Declaration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Expressions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Declaration differences.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Expression initialization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Expressions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Expression initialization.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Arrow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Expressions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Arrow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Implicit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Expressions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Implicit returns.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Explicit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Expressions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Explicit returns.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 readability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Function Expressions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 readability.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2: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Where variables are available and why that matters.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Global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Scope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Global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Scope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Block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Scope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Block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Outer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Scope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Outer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Inner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Scope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Inner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Variable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Scope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Variable visibility.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Temporal dead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Scope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Temporal dead zone.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Hoisting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Scope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Hoisting.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Scope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Scope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Scope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2: var, let, and const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Declaration behavior and modern usage guidelines.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var declarations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var, let, and const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var declarations.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let reassignment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var, let, and const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let reassignment.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const bindings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var, let, and const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const bindings.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Block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var, let, and const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Block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var, let, and const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Reassignment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var, let, and const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Reassignment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Accidental globals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var, let, and const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Accidental globals.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Modern defaults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var, let, and const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Modern defaults.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Declaration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var, let, and const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Declaration strategy.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2: Callbacks and Closures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Functions passed as values and functions that remember scope.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Functions as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Callbacks and Closures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Functions as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Callback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Callbacks and Closures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Callback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Callback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Callbacks and Closures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Callback parameters.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Custom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Callbacks and Closures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Custom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Array callbacks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Callbacks and Closures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Array callbacks.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Closure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Callbacks and Closures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Closure definition.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Private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Callbacks and Closures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Private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Counter closures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Callbacks and Closures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Counter closures.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Closure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Callbacks and Closures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Closure use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2: Task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Reusable functions for the task application.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Cleaning titles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Task Functions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Cleaning titles.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Validating titles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Task Functions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Validating titles.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Creating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Task Functions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Creating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Finding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Task Functions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Finding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Describing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Task Functions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Describing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Completing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Task Functions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Completing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Removing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Task Functions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Removing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Task Functions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Error handling.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2: Task Functions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 composition.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3: Array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Ordered collections, indexes, lengths, and traversal.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Array literals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Array literals.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Zero-based indexes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Zero-based indexes.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Array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Array length.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Reading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Reading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Updating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Updating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Traversing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Traversing arrays.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for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for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for...of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for...of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Missing indexes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Missing indexes.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3: Array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Common operations for modifying and inspecting arrays.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Methods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push.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Methods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Methods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shift.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unshift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Methods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unshift.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Methods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slice.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indexOf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Methods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indexOf.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Methods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findIndex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Methods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findIndex.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splice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 Methods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splice.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3: Object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Named properties and records.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Object literals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Object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Object literals.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Object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Keys.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Object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Dot 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Object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Dot notation.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Bracket 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Object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Bracket notation.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Property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Object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Property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Adding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Object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Adding properties.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Removing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Object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Removing properties.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Object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Object Fundamentals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Object inspection.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3: Dynamic Object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Dynamic keys, computed properties, and flexible data.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Property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Dynamic Object Data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Property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Computed 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Dynamic Object Data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Computed keys.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Bracket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Dynamic Object Data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Bracket access.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Dynamic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Dynamic Object Data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Dynamic categories.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Settings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Dynamic Object Data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Settings objects.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Dynamic Object Data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Metadata.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Optional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Dynamic Object Data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Optional properties.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Consistent object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Dynamic Object Data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Consistent object shapes.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Data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Dynamic Object Data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Data contracts.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3: Arrays of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The main data structure for the task application.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Task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Arrays of Objects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Task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Task 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Arrays of Objects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Task IDs.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Task titles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Arrays of Objects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Task titles.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Completion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Arrays of Objects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Completion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Task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Arrays of Objects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Task collections.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Looping through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Arrays of Objects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Looping through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Finding task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Arrays of Objects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Finding task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Updating task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Arrays of Objects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Updating task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Removing task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Arrays of Objects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Removing task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3: Data Management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Functions that create and manage task data.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createTask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Data Management Layer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createTask.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findTaskById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Data Management Layer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findTaskById.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completeTask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Data Management Layer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completeTask.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removeTaskById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Data Management Layer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removeTaskById.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describeTask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Data Management Layer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describeTask.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Input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Data Management Layer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Input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Safe 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Data Management Layer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Safe IDs.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Consistent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Data Management Layer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Consistent shapes.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Data-layer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3: Data Management Layer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Data-layer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4: DOM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Finding HTML elements from JavaScript.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Selection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document.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querySelector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Selection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querySelector.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ID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Selection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ID selectors.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Class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Selection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Class selectors.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Tag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Selection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Tag selectors.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Attribute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Selection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Attribute selectors.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querySelectorAll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Selection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querySelectorAll.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null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Selection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null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Selection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Selection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Selection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4: DOM Text and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Reading, changing, creating, and removing page content.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textContent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Text and Elements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textContent.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createElement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Text and Elements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createElement.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append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Text and Elements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append.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prepend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Text and Elements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prepend.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Text and Elements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remove.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replaceChildren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Text and Elements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replaceChildren.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Element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Text and Elements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Element references.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Safe text 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Text and Elements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Safe text rendering.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DOM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DOM Text and Elements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DOM construction.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4: Classes and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Representing application state in the DOM.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className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Classes and Attributes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className.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classList.add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Classes and Attributes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classList.add.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classList.remove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Classes and Attributes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classList.remove.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classList.toggle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Classes and Attributes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classList.toggle.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classList.contains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Classes and Attributes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classList.contains.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setAttribute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Classes and Attributes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setAttribute.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getAttribute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Classes and Attributes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getAttribute.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Classes and Attributes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data-task-id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Classes and Attributes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data-task-id.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4: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Responding to user interaction.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Event listeners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Event listeners.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Click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Click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Submit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Submit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Input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Input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Change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Change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Keyboard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Keyboard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Event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Event objects.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event.target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event.target.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event.currentTarget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event.currentTarget.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4: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Reading input, validating values, and handling submission.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Form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Forms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Form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Forms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Labels.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Input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Forms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Input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Required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Forms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Required fields.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trim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Forms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trim.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preventDefault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Forms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preventDefault.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Form reset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Forms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Form reset.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Input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Forms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Input focus.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Validation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Forms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Validation messages.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4: Event Bubbling and Delegation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Handling dynamically created controls efficiently.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Event propagation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 Bubbling and Delegation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Event propagation.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Event bubbling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 Bubbling and Delegation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Event bubbling.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Parent listeners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 Bubbling and Delegation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Parent listeners.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closest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 Bubbling and Delegation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closest.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matches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 Bubbling and Delegation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matches.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Delegated clicks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 Bubbling and Delegation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Delegated clicks.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Dynamic buttons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 Bubbling and Delegation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Dynamic buttons.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Action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 Bubbling and Delegation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Action attributes.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Delegation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Event Bubbling and Delegation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Delegation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4: Rendering the Task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Converting task state into visible DOM content.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Render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Rendering the Task List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Render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Task list clearing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Rendering the Task List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Task list clearing.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Task element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Rendering the Task List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Task element creation.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Title 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Rendering the Task List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Title rendering.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Completion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Rendering the Task List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Completion classes.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Action buttons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Rendering the Task List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Action buttons.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Task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Rendering the Task List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Task counts.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Empty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Rendering the Task List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Empty states.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289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State synchronization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Rendering the Task List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State synchronization.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290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4: Complete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The finished browser-based task application.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291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Initial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Complete Application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Initial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292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Adding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Complete Application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Adding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293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Completing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Complete Application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Completing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294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Undoing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Complete Application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Undoing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295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Removing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Complete Application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Removing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296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Empty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Complete Application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Empty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297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Success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Complete Application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Success messages.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298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Error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Complete Application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Error messages.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299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Final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Part 4: Complete Application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Final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300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Appendix A: Installation and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Browsers, editors, terminals, servers, and project setup.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301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Modern browsers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A: Installation and Tooling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Modern browsers.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302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Visual Studio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A: Installation and Tooling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Visual Studio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303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Developer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A: Installation and Tooling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Developer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304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Terminal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A: Installation and Tooling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Terminal basics.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305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Project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A: Installation and Tooling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Project directories.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306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Live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A: Installation and Tooling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Live Server.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307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Python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A: Installation and Tooling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Python server.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308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Local URLs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A: Installation and Tooling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Local URLs.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309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Tooling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A: Installation and Tooling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Tooling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310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Appendix B: Syntax 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A compact reference for frequently used JavaScript syntax.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311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B: Syntax Quick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Comments.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312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Strict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B: Syntax Quick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Strict mode.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313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B: Syntax Quick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314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B: Syntax Quick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Strings.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315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B: Syntax Quick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316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Booleans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B: Syntax Quick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Booleans.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317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B: Syntax Quick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318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B: Syntax Quick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Arrays.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319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B: Syntax Quick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Objects.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320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Appendix C: DOM API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A practical reference for browser DOM APIs.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321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querySelector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C: DOM API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querySelector.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322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querySelectorAll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C: DOM API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querySelectorAll.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323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textContent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C: DOM API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textContent.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324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createElement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C: DOM API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createElement.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325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append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C: DOM API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append.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326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C: DOM API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remove.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327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classList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C: DOM API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classList.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328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C: DOM API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329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addEventListener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C: DOM API Reference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addEventListener.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330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Appendix D: Debugging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A systematic approach to diagnosing errors.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331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Syntax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D: Debugging Guide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Syntax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332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Runtime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D: Debugging Guide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Runtime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333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Logic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D: Debugging Guide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Logic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334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ReferenceError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D: Debugging Guide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ReferenceError.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335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TypeError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D: Debugging Guide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TypeError.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336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SyntaxError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D: Debugging Guide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SyntaxError.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337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Console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D: Debugging Guide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Console logging.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338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Breakpoints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D: Debugging Guide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Breakpoints.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339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Assertions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D: Debugging Guide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Assertions.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340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Appendix E: Accessibility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Practical guidance for safer and more inclusive interfaces.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341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Semantic 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E: Accessibility and Security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Semantic HTML.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342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E: Accessibility and Security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Labels.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343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Keyboard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E: Accessibility and Security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Keyboard access.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344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Focus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E: Accessibility and Security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Focus indicators.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345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Accessible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E: Accessibility and Security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Accessible 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346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aria-live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E: Accessibility and Security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aria-live.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347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Input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E: Accessibility and Security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Input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348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textContent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E: Accessibility and Security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textContent safety.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349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Content Security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E: Accessibility and Security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Content Security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350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Appendix F: Naming and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Conventions for readable and maintainable JavaScript.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351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camelCase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F: Naming and Style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camelCase.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352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Boolean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F: Naming and Style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Boolean 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353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F: Naming and Style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 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354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DOM element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F: Naming and Style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DOM element 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355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Named constants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F: Naming and Style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Named constants.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356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F: Naming and Style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 responsibility.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357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Mutation conventions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F: Naming and Style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Mutation conventions.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358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Useful 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F: Naming and Style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Useful comments.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359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File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F: Naming and Style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File organization.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360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Appendix G: Exercises and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Practice features that extend the task application.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361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Completed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G: Exercises and Challenges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Completed counts.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362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Clear completed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G: Exercises and Challenges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Clear completed.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363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Task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G: Exercises and Challenges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Task filters.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364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Task editing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G: Exercises and Challenges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Task editing.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365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Escape cancellation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G: Exercises and Challenges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Escape cancellation.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366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localStorage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G: Exercises and Challenges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localStorage.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367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Stored-data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G: Exercises and Challenges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Stored-data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368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G: Exercises and Challenges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369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Priority and due 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G: Exercises and Challenges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Priority and due 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370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Appendix H: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Plain-language definitions of important terms.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371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Argument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H: Glossary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Argument.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372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H: Glossary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Array.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373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H: Glossary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Callback.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374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H: Glossary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Closure.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375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H: Glossary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376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H: Glossary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Event.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377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H: Glossary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Function.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378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H: Glossary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379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Appendix H: Glossary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380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Student Workbook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Predictions, exercises, verification notes, and reflections.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Use the accompanying tutorial, code, and verification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381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Setup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Student Workbook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Setup checklist.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382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Prediction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Student Workbook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Prediction notes.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383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1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Student Workbook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Part 1 exercises.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384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2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Student Workbook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Part 2 exercises.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385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3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Student Workbook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Part 3 exercises.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386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Part 4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Student Workbook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Part 4 exercises.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387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Debugging worksheet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Student Workbook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Debugging worksheet.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388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Final project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Student Workbook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Final project checklist.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389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44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Arial"/>
              </a:defRPr>
            </a:pPr>
            <a:r>
              <a:t>Reflection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Module: Student Workbook</a:t>
            </a:r>
          </a:p>
          <a:p>
            <a:pPr>
              <a:spcAft>
                <a:spcPts val="1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Focus: Reflection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rial"/>
              </a:defRPr>
            </a:pPr>
            <a:r>
              <a:t>390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