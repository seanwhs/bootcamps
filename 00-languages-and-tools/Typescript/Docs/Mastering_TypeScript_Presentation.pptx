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000000"/>
                </a:solidFill>
                <a:latin typeface="Calibri"/>
              </a:defRPr>
            </a:pPr>
            <a:r>
              <a:t>MASTERING TYPESCRIPT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400" b="0">
                <a:solidFill>
                  <a:srgbClr val="505050"/>
                </a:solidFill>
                <a:latin typeface="Calibri"/>
              </a:defRPr>
            </a:pPr>
            <a:r>
              <a:t>From JavaScript Habits to Production-Grade React and Next.js Architecture</a:t>
            </a:r>
            <a:br/>
            <a:r>
              <a:t>A 6-Part Series for Modern Web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SERIES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Part 1: Core Mental Model and Foundations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What TypeScript is (and isn't)  |  Basic types, inference, unions, intersections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Narrowing, any vs. unknown vs. never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Part 2: Objects, Reuse, and Utility Types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Interfaces vs. type aliases  |  Generics  |  Built-in utility types  |  tsconfig.json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Part 3: Advanced Types and Type-Level Programming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Conditional types  |  Mapped types  |  Template literal types  |  The infer keyword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Part 4: TypeScript in React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Typing props, state, events  |  Custom hooks  |  Context and reducers  |  Forms with Zod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Part 5: TypeScript in Next.js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App Router  |  Server/Client components  |  Server actions  |  API routes  |  Env vars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Part 6: Architecture, Testing, and Debugging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Type-safe testing with Vitest  |  Debugging strategies  |  Clean architecture  |  Production readiness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TYPESCRIPT REALLY IS (AND ISN'T)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TypeScript IS: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A compile-time type checker  |  A superset of JavaScript  |  A development tool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A way to catch errors before runtime  |  Types are stripped away during compilation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TypeScript is NOT: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A runtime type system  |  A different language  |  Faster or more efficient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A replacement for JavaScript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The Mental Shift: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JavaScript:  Write  -&gt;  Run  -&gt;  Hit Error  -&gt;  Fix  -&gt;  Repeat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TypeScript:  Write  -&gt;  Type Check  -&gt;  Fix  -&gt;  Run  -&gt;  Fewer Errors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Core Truths: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1. TypeScript prevents many bugs, but not all (logic errors still happen)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2. TypeScript types are compile-time only  |  3. TypeScript doesn't change how code runs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4. TypeScript is optional - you can gradually adopt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BASIC TYPES AND TYPE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Primitive Types: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string  |  number  |  boolean  |  null  |  undefined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Type Inference (TypeScript figures it out):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let name = "TaskFlow";        // inferred: string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let version = 1.0;            // inferred: number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let isActive = true;          // inferred: boolean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Explicit Type Annotations: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let projectId: string = "proj_123";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let taskCount: number = 0;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const isPublic: boolean = true;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Arrays: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let taskNames: string[] = ["Write docs", "Review code"];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let projectIds: Array&lt;string&gt; = ["proj_123", "proj_456"];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Functions: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function greet(name: string): string { return `Hello, ${name}`;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// Parameter type: name: string  |  Return type: : string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OBJECTS, TYPE ALIASES, AND UNIONS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Inline Object Type: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let task: { id: string; title: string; completed: boolean } = { ... };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Type Alias: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Task = { id: string; title: string; description?: string; completed: boolean;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     priority: 'low' | 'medium' | 'high'; };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Union Types: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let projectId: string | number = "PROJ-123";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projectId = 12345;  // Also valid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Type Narrowing: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function formatId(id: string | number): string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if (typeof id === 'string') { return id.toUpperCase(); }  // TS knows: string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else { return id.toString(); }                           // TS knows: number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Key Narrowing Techniques: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typeof  |  Equality  |  Truthiness  |  in operator  |  instanceof  |  Discriminated unions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ANY vs. UNKNOWN vs. NEVER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any     - Disables type checking. Use as last resort, gradual migration only.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unknown - Safe alternative to any. Must narrow before use. Type-safe by default.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never   - Values that never occur. Used for exhaustive checking and error functions.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unknown Example: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let userInput: unknown = "Hello";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// userInput.toUpperCase();     // Error! Must narrow first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if (typeof userInput === 'string')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console.log(userInput.toUpperCase());  // Safe after narrowing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never Example (Exhaustive Checking):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function handlePriority(p: 'low' | 'medium' | 'high'): string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switch (p)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case 'low': return 'Low';  case 'medium': return 'Medium';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case 'high': return 'High';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default: const exhaustiveCheck: never = p; return exhaustiveCheck;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}  // If a new priority is added, TS will error here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Discriminated Unions: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TaskEvent = { type: 'created'; taskId: string; timestamp: Date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       | { type: 'completed'; taskId: string; completedAt: Date };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INTERFACES vs. TYPE ALIASES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Interface - Contract that can be extended. Supports declaration merging.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interface Task { id: string; title: string; completed: boolean;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interface PriorityTask extends Task { priority: 'low' | 'medium' | 'high';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interface Task { createdAt: Date; }  // Declaration merge: adds to existing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Type Alias - Can name any type. No declaration merging.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TaskId = string;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TaskStatus = 'todo' | 'in-progress' | 'done';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TaskHandler = (task: Task) =&gt; void;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DetailedTask = Task &amp; { description: string; dueDate: Date; };  // Intersection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When to Use Which: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Use INTERFACE when: extending objects, declaration merging, classes implementing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Use TYPE ALIAS when: union types, mapped types, conditional types, primitive types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Both work for object shapes. Both can describe functions. Choose based on need.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GENERICS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Generics are templates that work with any type while maintaining type safety.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Generic Function: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function identity&lt;T&gt;(value: T): T { return value;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const id = identity&lt;string&gt;("TaskFlow");  // Returns string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Generic with Constraints: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function getName&lt;T extends { name: string }&gt;(item: T): string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return item.name;  // Only accepts types with a 'name' property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Generic Class: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class Box&lt;T&gt; { private contents: T; constructor(initial: T) { this.contents = initial;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     getContents(): T { return this.contents; }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const stringBox = new Box&lt;string&gt;("Hello");  const numberBox = new Box(42);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Generic Repository Pattern: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class Repository&lt;T extends { id: string }&gt;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private items: T[] = [];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add(item: T): void { this.items.push(item);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findById(id: string): T | undefined { return this.items.find(i =&gt; i.id === id);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UTILITY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Built-in type transforms for common patterns: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Partial&lt;T&gt;      - All properties optional          Pick&lt;T, K&gt;     - Select specific properties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Required&lt;T&gt;     - All properties required          Omit&lt;T, K&gt;     - Exclude specific properties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Readonly&lt;T&gt;     - All properties read-only         Record&lt;K, T&gt;   - Key-value map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Exclude&lt;T, U&gt;   - Remove union members             Extract&lt;T, U&gt;  - Keep union members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NonNullable&lt;T&gt;  - Remove null/undefined            ReturnType&lt;T&gt;  - Function return type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Parameters&lt;T&gt;   - Function parameters              InstanceType&lt;T&gt; - Class instance type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Examples: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Task = { id: string; title: string; description?: string; completed: boolean; };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PartialTask = Partial&lt;Task&gt;;          // All fields optional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TaskSummary = Pick&lt;Task, 'id' | 'title'&gt;;    // Only id and title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CreateTask = Omit&lt;Task, 'id'&gt;;       // Everything except id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PriorityColors = Record&lt;'low'|'medium'|'high', string&gt;;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TaskResult = ReturnType&lt;typeof createTask&gt;;  // Extract return type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CONDITIONAL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Basic Syntax:  T extends U ? X : Y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Type Filtering: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ExtractStrings&lt;T&gt; = T extends string ? T : never;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// Only keeps string types from a union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Type Name Mapping: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TypeName&lt;T&gt; =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T extends string ? 'string' 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T extends number ? 'number' 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T extends boolean ? 'boolean' : 'unknown';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The infer Keyword (pattern matching):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ElementType&lt;T&gt; = T extends (infer U)[] ? U : never;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// Extracts element type from an array: ElementType&lt;string[]&gt; = string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ReturnType&lt;T&gt; = T extends (...args: any[]) =&gt; infer R ? R : never;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// Extracts function return type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Distribution Over Unions: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ToArray&lt;T&gt; = T extends any ? T[] : never;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Result = ToArray&lt;string | number&gt;;  // string[] | number[]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MAPPED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Transform object properties at the type level: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Basic Syntax:  { [P in keyof T]: T[P]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Make All Optional:     type MakeOptional&lt;T&gt; = { [P in keyof T]?: T[P]; };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Make All Readonly:     type MakeReadonly&lt;T&gt; = { readonly [P in keyof T]: T[P]; };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Filtering Properties: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KeepStringProperties&lt;T&gt; =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[P in keyof T as T[P] extends string ? P : never]: T[P];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};  // Only keeps properties where value is string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Transforming Properties: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Nullable&lt;T&gt; = { [P in keyof T]: T[P] | null; };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UppercaseProps&lt;T&gt; = { [P in keyof T]: T[P] extends string ? Uppercase&lt;T[P]&gt; : T[P]; };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Deep Partial (recursive):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DeepPartial&lt;T&gt; =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[P in keyof T]?: T[P] extends object ? DeepPartial&lt;T[P]&gt; : T[P];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TEMPLATE LITERAL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Build types from string templates: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Basic Usage: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ApiEndpoint = `/api/${string}`;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ApiRoute = `${'GET' | 'POST'} /${string}`;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String Manipulation (type-level):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ToCamelCase&lt;S extends string&gt; =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S extends `${infer First}_${infer Rest}`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? `${Lowercase&lt;First&gt;}${Capitalize&lt;ToCamelCase&lt;Rest&gt;&gt;}`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: Lowercase&lt;S&gt;;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// Example: "user_first_name" -&gt; "userFirstName"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URL Parameter Extraction: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UrlParams&lt;T extends string&gt; =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T extends `${string}:${infer Param}/${infer Rest}`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? { [K in Param | keyof UrlParams&lt;Rest&gt;]: string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: T extends `${string}:${infer Param}`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    ? { [K in Param]: string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    : {};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// Example: "/api/users/:id/posts/:postId"  -&gt;  { id: string, postId: string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TYPING REACT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Props Interface (extending native element props):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interface ButtonProps extends ButtonHTMLAttributes&lt;HTMLButtonElement&gt;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children: ReactNode;  variant?: 'primary' | 'secondary' | 'danger';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size?: 'sm' | 'md' | 'lg';  isLoading?: boolean;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ForwardRef: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export const Input = forwardRef&lt;HTMLInputElement, InputProps&gt;(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({ label, error, ...props }, ref) =&gt; { return &lt;input ref={ref} {...props} /&gt;;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Generic Components: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interface ListProps&lt;T&gt; { items: T[]; renderItem: (item: T) =&gt; ReactNode;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               keyExtractor: (item: T) =&gt; string;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export function List&lt;T&gt;({ items, renderItem, keyExtractor }: ListProps&lt;T&gt;) { ...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Event Handlers: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const handleClick = (event: MouseEvent&lt;HTMLButtonElement&gt;) =&gt; { ... };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const handleChange = (event: ChangeEvent&lt;HTMLInputElement&gt;) =&gt; { ... };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CUSTOM HOOKS AND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useState with Type Inference: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const [tasks, setTasks] = useState&lt;Task[]&gt;([]);  // Infers Task[] from generic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useReducer with Discriminated Actions: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TaskAction = { type: 'ADD_TASK'; payload: Task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        | { type: 'DELETE_TASK'; payload: string };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function taskReducer(state: Task[], action: TaskAction): Task[] { ...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const [tasks, dispatch] = useReducer(taskReducer, []);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Generic Custom Hook: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function useLocalStorage&lt;T&gt;(key: string, initialValue: T): [T, (value: T) =&gt; void] { ...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const [user, setUser] = useLocalStorage&lt;User&gt;('user', null);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Type-Safe Context: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const TaskContext = createContext&lt;TaskContextType | undefined&gt;(undefined);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export function useTasks(): TaskContextType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const context = useContext(TaskContext);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if (context === undefined) { throw new Error('useTasks must be used within TaskProvider');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return context;  // Guaranteed non-null after check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FORMS WITH REACT HOOK FORM + ZOD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Zod Schema (runtime + compile-time validation):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const TaskSchema = z.object({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title: z.string().min(3).max(100),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description: z.string().max(500).optional(),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priority: z.enum(['low', 'medium', 'high']),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dueDate: z.coerce.date().optional(),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TaskFormData = z.infer&lt;typeof TaskSchema&gt;;  // Infer TS type from schema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Form Component: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const { register, handleSubmit, formState: { errors, isSubmitting } } =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useForm&lt;TaskFormData&gt;({ resolver: zodResolver(TaskSchema), defaultValues: { ... } });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const onSubmit = async (data: TaskFormData) =&gt; { await createTask(data); };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&lt;input type="text" {...register('title')} className={errors.title ? 'error' : ''} /&gt;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{errors.title &amp;&amp; &lt;p&gt;{errors.title.message}&lt;/p&gt;}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NEXT.JS APP ROUTER WITH TYPESCRIPT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Server Component (runs on server, no 'use client' needed):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export default async function TasksPage()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const tasks = await prisma.task.findMany();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return &lt;TaskList initialTasks={tasks} /&gt;;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Client Component (interactive, requires directive):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'use client';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export function TaskList({ initialTasks }: { initialTasks: Task[] })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const [tasks, setTasks] = useState(initialTasks);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// Interactive functionality here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Page Props: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interface PageProps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params: { id: string };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searchParams: { [key: string]: string | string[] | undefined };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export default async function TaskPage({ params }: PageProps) { ... 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SERVER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Define Server Action (must be async, top-level 'use server'):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'use server';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export async function createTask(data: unknown)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const validation = TaskSchema.safeParse(data);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if (!validation.success) { return { success: false, error: validation.error };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const task = await prisma.task.create({ data: validation.data });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revalidatePath('/tasks');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return { success: true, data: task };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Using in Client Component: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const handleSubmit = async (data: TaskFormData) =&gt;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const result = await createTask(data);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if (result.success) { router.refresh();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else { setError(result.error.message);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Key Rule: Server actions can be called directly from components. No API route needed.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TYPED API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GET Route with Search Params: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export async function GET(request: Request)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const { searchParams } = new URL(request.url);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const id = searchParams.get('id');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const task = await prisma.task.findUnique({ where: { id } });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return NextResponse.json({ success: true, data: task });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POST Route with Validation: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export async function POST(request: Request)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const body = await request.json();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const validation = TaskSchema.safeParse(body);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if (!validation.success)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return NextResponse.json({ success: false, error: 'Validation failed' }, { status: 400 });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const task = await prisma.task.create({ data: validation.data });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return NextResponse.json({ success: true, data: task });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Route with Parameters: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export async function GET(request: Request, { params }: { params: { id: string } })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const task = await prisma.task.findUnique({ where: { id: params.id } });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if (!task) { return NextResponse.json({ error: 'Not found' }, { status: 404 });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return NextResponse.json({ data: task });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TYPE-SAFE ENVIRONMENT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Define Schema with Zod (validates at startup):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const envSchema = z.object({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NODE_ENV: z.enum(['development', 'production', 'test']),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DATABASE_URL: z.string().min(1),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JWT_SECRET: z.string().min(32),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NEXT_PUBLIC_API_URL: z.string().url().optional(),  // Client-side accessible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Validate on Import: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const env = envSchema.safeParse(process.env);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if (!env.success)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console.error('Invalid environment variables:', env.error.format());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throw new Error('Invalid environment variables');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export const env = env.data;  // Type-safe access everywhere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Usage: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// Server-side (always available)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const dbUrl = env.DATABASE_URL;  const secret = env.JWT_SECRET;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// Client-side (must start with NEXT_PUBLIC_)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const apiUrl = env.NEXT_PUBLIC_API_URL;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TESTING WITH VITEST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Unit Test (schema validation):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describe('TaskSchema', () =&gt;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it('should validate a valid task', () =&gt;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const result = TaskSchema.safeParse(validTask);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expect(result.success).toBe(true);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it('should reject short title', () =&gt;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const invalid = { ...validTask, title: 'Hi' };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const result = TaskSchema.safeParse(invalid);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expect(result.success).toBe(false);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Component Test: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it('should render tasks', () =&gt;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render(&lt;TaskList initialTasks={mockTasks} /&gt;);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expect(screen.getByText('Task 1')).toBeInTheDocument();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Integration Test (API route):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it('should return tasks', async () =&gt;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(prisma.task.findMany as any).mockResolvedValue(mockTasks);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const response = await GET(request);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const data = await response.json();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expect(response.status).toBe(200);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expect(data.data).toEqual(mockTasks);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DEBUGGING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1. Read the Error Message Carefully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TS2322: Type 'string' is not assignable to type 'number'  -&gt; Check value vs expected type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2. Reveal the Actual Type: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Debug&lt;T&gt; = T extends any ? { [K in keyof T]: T[K] } : never;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// Hover in VS Code to see expanded type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3. Use Type Guards for Runtime Safety: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function assertNonNull&lt;T&gt;(value: T | null | undefined): asserts value is T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if (value == null) throw new Error('Value is null or undefined');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4. Performance Measurement: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function measurePerformance&lt;T&gt;(fn: () =&gt; T, label: string): T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console.time(label);  try { return fn(); } finally { console.timeEnd(label);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5. Logger Utility: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class Logger { log(level: string, message: string, meta?: any) {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console.log(`[${new Date().toISOString()}] ${level}:`, { message, meta }); }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6. TypeScript Playground:  https://www.typescriptlang.org/play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ARCHITECTURE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Clean Architecture Layers: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1. Domain Layer (Entities) - Pure TypeScript, no framework dependencies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interface DomainTask { id: string; title: string; status: 'todo' | 'in-progress' | 'done';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2. Application Layer (Use Cases) - Business logic, orchestrates domain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interface ITaskUseCases { createTask(dto: CreateTaskDTO): Promise&lt;DomainTask&gt;;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3. Infrastructure Layer (Repositories) - Data access, external services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interface ITaskRepository { create(task: Omit&lt;DomainTask, 'id'&gt;): Promise&lt;DomainTask&gt;;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                    findById(id: string): Promise&lt;DomainTask | null&gt;;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Dependency Injection: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class Container { private services = new Map&lt;string, any&gt;();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register&lt;T&gt;(key: string, instance: T): void { this.services.set(key, instance);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get&lt;T&gt;(key: string): T { return this.services.get(key); }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Repository Pattern: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class Repository&lt;T extends { id: string }&gt; { private items: T[] = [];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add(item: T): void { this.items.push(item);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findById(id: string): T | undefined { return this.items.find(i =&gt; i.id === id); } 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PRODUCTION READINESS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Type Safety: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[ ] strict: true in tsconfig.json        [ ] No 'any' usage (use unknown instead)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[ ] All API boundaries typed             [ ] Environment variables validated with Zod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Testing: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[ ] Unit tests for utilities             [ ] Component tests with React Testing Library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[ ] Integration tests for API routes     [ ] Test coverage &gt; 80%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Performance: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[ ] Bundle optimization (tree shaking)   [ ] Code splitting (dynamic imports)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[ ] Image optimization                   [ ] Caching strategy (React Query / SWR)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Monitoring: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[ ] Error tracking (Sentry)              [ ] Performance metrics (Web Vitals)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[ ] Health checks                        [ ] Structured logging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Security: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[ ] Input validation (Zod schemas)       [ ] CSRF protection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[ ] Rate limiting                        [ ] Security headers (Helmet / Next.js headers)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COMMON TYPESCRIPT ERRORS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TS2322: Type 'X' is not assignable to type 'Y'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-&gt; Check value type vs expected type. Fix assignment or update type definition.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TS2339: Property 'X' does not exist on type 'Y'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-&gt; Add property to type, use type guard, or use optional chaining (obj?.prop).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TS2345: Argument of type 'X' is not assignable to parameter of type 'Y'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-&gt; Convert value, cast carefully, or update function signature.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TS2531: Object is possibly 'null' or 'undefined'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-&gt; Use optional chaining (user?.name), nullish coalescing (??), or explicit check.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TS7006: Parameter 'X' implicitly has 'any' type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-&gt; Add explicit type annotation to parameter. Enable noImplicitAny.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TS2554: Expected X arguments, but got Y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-&gt; Make parameter optional (?), provide default value, or use rest parameters.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MORE COMMON ERRORS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TS2454: Variable 'X' is used before being assigned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-&gt; Initialize when declaring, ensure all code paths assign, or use definite assignment assertion (!).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TS7030: Not all code paths return a value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-&gt; Add return for all branches, use throw for invalid paths, or return default value.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TS2307: Cannot find module 'X' or its corresponding type declarations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-&gt; npm install module + @types, check import path, create .d.ts declaration file.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TS2724: Module 'X' has no exported member 'Y'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-&gt; Check export syntax, verify member name, use correct import (default vs named).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TS7016: Could not find a declaration file for module 'X'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-&gt; npm install --save-dev @types/X, or create src/types/X.d.ts with declare module.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TS5023: Unknown compiler option 'X'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-&gt; Check for typos in tsconfig.json, verify option exists in current TS version.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TSCONFIG.JSON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Strict Mode (enable all):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"strict": true,           // Master switch for all strict options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"noImplicitAny": true,     // Error on implied any type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"strictNullChecks": true,  // Require handling of null/undefined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"strictFunctionTypes": true,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"strictPropertyInitialization": true,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"noImplicitThis": true,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"useUnknownInCatchVariables": true,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Module &amp; Output: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"target": "ES2022",      "module": "NodeNext",     "moduleResolution": "NodeNext",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"outDir": "./dist",      "rootDir": "./src",       "sourceMap": true,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Path Aliases: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"baseUrl": ".",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"paths": { "@/*": ["./src/*"], "@types/*": ["./src/types/*"], "@utils/*": ["./src/utils/*"]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Other Essentials: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"esModuleInterop": true,   "skipLibCheck": true,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"resolveJsonModule": true,  "isolatedModules": true,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"forceConsistentCasingInFileNames": true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QUICK REFERENCE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Types:        string | number | boolean | null | undefined | Array&lt;T&gt; | T[] | [T, U] (tuple)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  { prop: T } (object)  |  T | U (union)  |  T &amp; U (intersection)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Utility Types: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Partial&lt;T&gt;    All optional       Pick&lt;T, K&gt;    Select properties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Required&lt;T&gt;   All required       Omit&lt;T, K&gt;    Exclude properties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Readonly&lt;T&gt;   All read-only      Record&lt;K, T&gt;  Key-value map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Exclude&lt;T, U&gt; Remove members     Extract&lt;T, U&gt; Keep members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ReturnType&lt;T&gt; Function return     Parameters&lt;T&gt; Function params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Generic Syntax: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function identity&lt;T&gt;(value: T): T        interface Box&lt;T&gt; { contents: T;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class Repository&lt;T extends { id: string }&gt;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React Hooks: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useState&lt;T&gt;   -&gt; [T, (value: T) =&gt; void]        useContext    -&gt; 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useReducer    -&gt; [T, (action: Action) =&gt; void]   useRef&lt;T&gt;     -&gt; { current: T | null }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Next.js:     'use client' (client component)    'use server' (server action)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         async function Page({ params, searchParams }: PageProps)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1. TypeScript is a Development Tool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Catches errors before runtime. Improves developer experience. Makes code self-documenting.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2. Types Don't Exist at Runtime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 checking is compile-time only. Use Zod for runtime validation. Keep types and validation in sync.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3. Start with Strict Mode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Enable all strict options in tsconfig.json. Avoid 'any' at all costs. Let inference do the work.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4. Design Types, Don't Just Write Them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Types communicate intent. Use generics for reusability. Utility types for transformations.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5. End-to-End Type Safety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Database to UI. Server to client. API contracts. Environment variables. Zod bridges runtime and compile-time.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RESOURCES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Official Documentation: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TypeScript Handbook:  typescriptlang.org/docs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React TypeScript:     react.dev/learn/typescript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Next.js TypeScript:   nextjs.org/docs/app/building-your-application/configuring/typescript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Zod Validation:       zod.dev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Advanced Topics to Explore: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TypeScript Compiler API  |  Advanced type inference patterns  |  Type-level programming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Monorepo with TypeScript  |  TypeScript with GraphQL  |  tRPC for end-to-end types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Next Steps: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1. Build a small project from scratch using strict TypeScript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2. Convert an existing JavaScript project to TypeScript gradually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3. Set up Zod schemas for all API boundaries and forms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4. Implement clean architecture with typed repositories and use cases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5. Share your knowledge - teach others to solidify your understanding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000000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400" b="0">
                <a:solidFill>
                  <a:srgbClr val="505050"/>
                </a:solidFill>
                <a:latin typeface="Calibri"/>
              </a:defRPr>
            </a:pPr>
            <a:r>
              <a:t>Mastering TypeScript: From JavaScript Habits to Production-Grade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