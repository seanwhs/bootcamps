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Welcome to the most comprehensive training series on AI integration. Over the next X hours/days, we'll transform you from an AI integration novice into an architect of intelligent, collaborative AI systems. This isn't just theory—we're building real, working systems that you can deploy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This isn't a toy project. We're building a complete enterprise-grade platform. Each component is production-ready with proper error handling, logging, and security. By the end, you'll have a system that could actually be deployed in a real organization.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This is the final architecture you'll build. Notice the clear separation of concerns: MCP handles tool access, A2A handles agent communication, and the external systems are the real-world services your AI will interact with.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The series follows a carefully designed progression. Each stage builds on the previous one. By Stage 4, you'll have working enterprise integrations. By Stage 5, you'll have agents that can think and act autonomously.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The final stages focus on production engineering and real-world applications. This ensures you don't just understand the concepts—you can actually deploy and use these systems in production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This series is designed for developers who build things. You don't need to be an AI researcher. You need to be comfortable writing code, debugging, and learning new concepts. All the AI-specific knowledge will be taught.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This isn't a "watch me code" series where you're left with unfinished examples. Every single line of code is provided. Every concept is explained with analogies that make it accessible. And everything you build solves actual problems you'll encounter professionally.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Take a moment now to ensure your environment is set up correctly. The verification commands will confirm you have the right versions. The entire series assumes this base setup, so it's worth getting it right from the start.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This is the complete project structure you'll build. Each directory corresponds to a major stage of the series. By the end, this will be a fully functional monorepo with multiple servers, clients, agents, and production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Consistency matters. These conventions ensure all our code looks and feels the same. It also prepares you for working in real production codebases where coding standards are essential.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The AI landscape has evolved rapidly. In the early days, chatbots could only respond based on their training data. Then function calling allowed AI to interact with APIs, but every integration was custom. MCP standardized this process. Now A2A is taking it further by enabling multi-agent collaboration.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Before MCP, every integration was a one-off. The Slack integration had its own code, its own authentication, its own error handling. The GitHub integration had the same. Adding a new integration meant starting from scratch. This was costly, brittle, and unscalable.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With MCP, all tools use the same interface. The AI application only knows MCP. Any tool that supports MCP can be integrated. This is the power of standardization—it turns bespoke integrations into plug-and-play components.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The USB-C analogy is key here. Before USB-C, every device had its own charger. You needed a drawer full of different cables. USB-C standardized everything. MCP does the same for AI—one protocol that works with any tool and any LLM.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This architecture diagram shows the complete MCP stack. At the top, you have your AI application with its MCP client. The client communicates over a transport layer using JSON-RPC. The MCP server receives these requests, executes the appropriate tools, resources, or prompts, and interacts with external systems as needed.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These three pillars are the foundation of MCP. Tools are what the AI can do. Resources are what the AI can know. Prompts are how the AI is guided. Together, they give AI applications the capabilities they need to be truly useful.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Tools are the most important part of MCP for enabling AI to take action. Each tool is self-describing—the AI knows what it does, what parameters it takes, and what it returns. This is what enables autonomous AI to use tools without human guidance.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Resources are different from tools—they're read-only. The AI can access data through resources, but it can't modify them. This is important for security. Resources use URIs, similar to URLs on the web, which makes them discoverable and linkable.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Prompts are one of the most powerful features of MCP because they encode best practices and expertise. Instead of relying on the AI to figure out how to do a code review, you provide a template that guides it step by step. This ensures consistency and quality.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The MCP ecosystem is growing rapidly. Many popular AI tools already support MCP, and new servers are being created all the time. This means your MCP server can be used by any of these hosts—you write it once, and it works everywhere.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JSON-RPC is the language that MCP speaks. It's a simple, well-defined protocol that uses JSON for all messages. This makes it easy to implement in any programming language and easy to debug since the messages are human-readable.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These methods form the complete API of MCP. Discovery methods allow the client to understand what the server can do. Invocation methods execute operations. Lifecycle methods manage the connection. This is everything you need to build a fully functional MCP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MCP supports multiple transport mechanisms because different use cases require different approaches. stdio is great for local development, WebSocket is ideal for real-time web applications, and HTTP works well for stateless production APIs. Choose the transport that fits your deployment scenario.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Error handling is critical in production systems. JSON-RPC provides a standard error format with well-defined error codes. MCP extends this with its own specific error codes for MCP-related issues. This makes debugging and error handling consistent across all MCP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Notice how error responses provide not just an error code and message, but also contextual data. In the "Tool Not Found" example, the server returns the list of available tools. In the "Invalid Parameters" example, it returns detailed validation errors. This makes debugging much easier.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The initialize handshake is the first thing that happens when a client connects to a server. It negotiates the protocol version and exchanges information about both parties. The server's response includes its capabilities, which tells the client what features are available.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This is the complete sequence of messages between a client and server. After the initialize handshake, the client discovers all capabilities (tools, resources, prompts) before making any actual calls. This is why MCP clients are so flexible—they discover everything at runtime.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Function calling is a great feature, but it's limited to specific providers and doesn't provide discovery. MCP builds on the concept of function calling but standardizes it and makes it work with any provider. It also adds resources and prompts, which function calling doesn't support.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Both MCP and function calling have their place. If you're building a production system that needs to be flexible and support multiple AI providers, MCP is the way to go. If you're building a quick prototype with a single provider, function calling might be simpler.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We've covered the fundamentals of MCP—what it is, how it works, and why it matters. Now it's time to get hands-on. In the next section, we'll build our first MCP server from scratch. Make sure your development environment is ready!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Our first server will be a calculator and file server. It demonstrates all three MCP pillars: tools for arithmetic, resources for system information, and prompts for guiding the AI. This is the "Hello World" of MCP.</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We're using the official MCP SDK from npm. Zod provides schema validation for our tool inputs. dotenv manages environment variables. TypeScript and tsx give us type safety and direct execution. This is the standard stack for MCP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The tsconfig.json is crucial for TypeScript projects. We're using ESM modules (import/export) rather than CommonJS (require/module.exports). The strict settings catch many potential bugs at compile time. This is the same configuration used in production-grade TypeScript projects.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The scripts make development and deployment straightforward. `npm run build` compiles the TypeScript. `npm start` runs the production build. `npm run start:dev` runs TypeScript directly with tsx, which is great for development since it doesn't require a build step.</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We're using pino because it's the fastest JSON logger for Node.js. The pino-pretty transport makes logs human-readable during development. Each log entry includes a unique request ID, which helps trace requests across the system. This is the same logging pattern used in production systems.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This is the template for defining MCP tools. Each tool has a name, description, input schema (using Zod for validation), and a handler function. The handler returns a ToolResult with content that will be displayed to the user. Notice how the schema is self-describing—the AI knows what parameters to provide.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Our arithmetic tools are simple but demonstrate the pattern perfectly. Notice the divide tool includes error handling for division by zero. When an error occurs, we return `isError: true` along with the error message. This allows the AI to understand that the tool call failed.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The file system tool demonstrates important security considerations. We prevent path traversal attacks by ensuring the file path stays within the project directory. This is critical when allowing AI to access the filesystem. We also handle errors gracefully when files don't exist.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Resources are structured similarly to tools but serve a different purpose—they provide data that the AI can read. Each resource has a URI that uniquely identifies it, similar to a URL on the web. The handler returns the resource content, which can be text, JSON, or binary data.</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Our resources provide useful system information. The system://info resource gives hardware and OS information. The server://status resource gives application status. Both return JSON, which makes them easy for the AI to parse and understand.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Prompts are reusable templates that guide AI behavior. Unlike tools (which perform actions) and resources (which provide data), prompts shape the AI's response. The welcome prompt includes a list of capabilities, helping the AI understand what it can do.</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The welcome prompt provides a friendly introduction and lists all available capabilities. The help prompt can provide specific help based on a topic. Notice how prompts use the same Zod schema validation as tools—this ensures the AI provides the right arguments.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The server class is the heart of our MCP server. It creates a McpServer instance, registers all tools, resources, and prompts, and manages the server lifecycle. Notice how we use environment variables for configuration—this makes the server portable across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Registration is straightforward—we simply call `server.tool()` with the tool's name, schema, and handler. The SDK handles everything else: making the tool discoverable via `tools/list`, validating inputs, and calling the handler when the tool is invoked.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Resources and prompts are registered similarly to tools. For resources, we provide the URI and metadata. For prompts, we provide the schema and handler. Once registered, they become discoverable via `resources/list` and `prompts/list`.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The start method creates a stdio transport and connects the server to it. The stdio transport uses standard input/output for communication—this is the most common transport for MCP servers. We use `console.error` for status messages because stdout is used for JSON-RPC communication.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The entry point is responsible for loading environment variables, creating the server instance, and handling graceful shutdown. We handle SIGINT and SIGTERM signals (Ctrl+C and system shutdown) to ensure the server stops cleanly. The `#!/usr/bin/env node` shebang makes the file executable.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The test client demonstrates how to connect to our server. It spawns the server process using stdio, connects to it, lists tools, and calls a tool. This is the same pattern that AI applications use to interact with MCP servers.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This slide shows the complete workflow—building, running the server, and testing with the client. The expected output demonstrates that the server is working correctly. The pino-pretty logs make it easy to see what's happening under the hood.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We've successfully built our first MCP server. It's a complete implementation with all three MCP pillars. The code is production-quality with proper error handling and security. This is the foundation for everything that follows in the series.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Now that we have a basic server, it's time to make it production-ready. These features transform a prototype into an enterprise-grade system. Each feature addresses a real production concern: caching for performance, retry logic for reliability, authentication for security.</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The HTTP client uses exponential backoff for retries. This means we wait 1s, then 2s, then 4s between retries. This prevents overwhelming a struggling service. The retry logic also distinguishes between retryable errors (5xx, 429) and non-retryable errors (4xx client errors).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The circuit breaker pattern prevents cascading failures. When a service is failing, the circuit breaker "opens" and all requests fail fast without attempting retries. After a timeout, it allows limited requests (half-open) to test if the service has recovered. This prevents your system from being overwhelmed by retry storms.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Data transformation utilities are essential for enterprise MCP servers. Many AI tasks involve converting data between formats (JSON↔CSV) or handling pagination. These utilities make it easy to build tools that process structured data.</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Caching significantly improves performance by storing frequently accessed data. The three eviction policies handle different use cases. LRU is the most common—it keeps recently accessed items. FIFO is simpler and works for time-series data. LFU keeps frequently accessed items, which is good when some data is much more popular than others.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Authentication is essential for production MCP servers. The auth manager validates API keys from request headers. We use a simple bearer token approach where the key is sent in the Authorization header. API keys are generated using cryptographically secure random bytes.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JWT authentication offers more features than simple API keys. JWTs can contain user information (claims), support expiration, and are self-contained. However, they're harder to revoke than API keys. For most MCP servers, API keys are sufficient. JWT is useful when you need user-specific permissions.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Zod validation ensures that tools receive correct inputs. The validation happens before the handler executes, so the handler can assume inputs are valid. The validation errors are detailed, making it easy for clients (including AI) to understand what went wrong.</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A systematic error handling strategy is essential for production systems. Each error type has an appropriate HTTP status code and handling strategy. The key principles are: be specific about what went wrong, don't expose sensitive information, and log everything.</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Security guardrails are non-negotiable in production systems. This checklist covers the essential security measures for MCP servers. The key is defense in depth—multiple layers of security rather than relying on any single measure.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The MCP client is the counterpart to the server. It manages connections, discovers capabilities, and invokes operations. The client library abstracts away the complexity of JSON-RPC, making it easy for AI applications to interact with MCP servers.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The Server Manager handles the lifecycle of a single server connection. It manages connection state, handles reconnection with exponential backoff, and provides a clean interface for sending and receiving messages. This component ensures reliable communication with the server.</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The Tool Executor handles all tool invocations. It manages caching, timeouts, and retries. This component is what makes the client intelligent—it can execute tools efficiently and recover from failures. The caching feature is particularly important for performance, as many AI operations involve repeated calls to the same tools.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One of the most powerful features of MCP clients is orchestrating multiple servers. The client can discover capabilities across all connected servers and present them as a unified interface to the AI. This enables the AI to seamlessly access multiple data sources and tools without needing to know which server provides which capability.</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The client configuration allows fine-tuning of all behaviors: server connections, timeouts, caching, retries, and logging. This makes the client flexible enough for different deployment scenarios—from development to high-performance production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The SQLite database server provides enterprise-grade database access through MCP. It includes connection pooling, timeout protection, automatic backups, and security controls. This server demonstrates how MCP can be used to access production databases safely.</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The Connection Manager is the heart of the database server. It handles connection pooling, query validation, timeout protection, and proper resource cleanup. The validation function prevents dangerous queries (DROP, TRUNCATE) from being executed.</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The database tools provide comprehensive database access. The execute_query tool is parameterized to prevent SQL injection. The schema tools allow the AI to understand the database structure. The create_table tool enables schema modifications with appropriate controls.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Autonomous agents represent the next level of AI integration. Unlike simple AI applications that respond to prompts, agents can plan, reason, execute, and reflect. They use MCP to access tools and maintain context through memory systems.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The agent loop is the core of autonomous agents. It's a continuous cycle of planning, executing, observing, and reflecting. This is similar to how humans approach complex tasks—we plan, take action, evaluate results, and adjust our approach.</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The Planner creates a structured plan from a goal. It breaks down the goal into steps with dependencies. Each step has an action that will be executed. The plan is stored in memory so the agent can track progress and adapt.</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The Memory System manages what the agent remembers. It has both short-term and long-term memory. Important information (high importance score) moves from short-term to long-term memory. The context method provides relevant memories for the agent to use in decision making.</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A2A (Agent-to-Agent) is the protocol that enables agents to communicate and collaborate. Each agent has its own expertise but can communicate with other agents through the A2A layer. The agents still use MCP to access external systems.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Each agent has a specific role in the system. The Coordinator orchestrates, the Researcher gathers information, the Coder writes code, and the Database agent manages data. This specialization makes the system more efficient and capable.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The A2A message flow shows how agents communicate. When Agent A needs something done, it delegates to the Coordinator. The Coordinator finds the best agent for the task (Agent C), delegates the work, and returns the result. This pattern enables efficient multi-agent collaboration.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Hierarchical architecture mirrors human organizations. The Coordinator sets the vision, the Supervisor manages execution, and Workers do the actual work. This structure scales well because new agents can be added at any level without disrupting the overall system.</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Shared memory is a centralized system that all agents can read from and write to. It stores project context, artifacts (code, tests, docs), decisions, and state. This enables agents to work on the same project without duplicating effort.</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Production architecture requires multiple layers. The load balancer handles traffic distribution and SSL termination. Kubernetes manages container orchestration. The observability stack monitors metrics, logs, and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Docker containerization ensures consistency across environments. The multi-stage build keeps production images small. Running as a non-root user improves security. Layer caching speeds up builds.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Kubernetes manages container orchestration in production. The deployment defines replicas (3 instances for high availability), resource limits, and environment variables. Kubernetes handles scaling, rolling updates, and self-healing.</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Horizontal Pod Autoscaling automatically adjusts the number of pods based on resource usage. This ensures your system can handle traffic spikes without wasting resources during quiet periods. The HPA monitors CPU and memory usage and scales accordingly.</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The GitHub Coding Assistant is a practical application that demonstrates how MCP can connect to real-world development workflows. It can read code, write code, review code, and suggest improvements. This is a tool that could be used in actual software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The Documentation Assistant demonstrates how MCP can unify access to multiple data sources. It provides a single interface for searching across Confluence, SharePoint, and Markdown files. This is common in enterprise environments where documentation is spread across multiple platforms.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The AI DevOps Engineer automates infrastructure management. It can deploy services, scale them, check health, and rollback if needed. This demonstrates how AI can take on complex operational tasks, reducing the burden on human DevOps teams.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The AI Data Analyst makes data accessible through natural language. Users can ask questions in plain English, and the AI translates them into SQL queries, analyzes the results, and provides insights. This democratizes data access in organizations.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You've completed the entire journey from AI integration fundamentals to production multi-agent systems. You now have the skills to build production-grade AI systems that integrate with enterprise systems, operate autonomously, and collaborate across agent teams.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Your journey doesn't end here. The skills you've learned are the foundation for building increasingly sophisticated AI systems. Extend, experiment, and contribute to the growing MCP and A2A ecosystem.</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solidFill>
                  <a:srgbClr val="000000"/>
                </a:solidFill>
                <a:latin typeface="Calibri"/>
              </a:defRPr>
            </a:pPr>
            <a:r>
              <a:t>Thank you for completing this comprehensive journey. You've built the skills to build the future of AI. Keep experimenting, keep building, and keep contributing to the community. The best way to predict the future is to build it yourself.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S0.1  Title Slide</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MASTERING AI INTEGRATION WITH MCP AND A2A              │</a:t>
            </a:r>
          </a:p>
          <a:p>
            <a:pPr>
              <a:lnSpc>
                <a:spcPct val="100000"/>
              </a:lnSpc>
              <a:spcBef>
                <a:spcPts val="0"/>
              </a:spcBef>
              <a:spcAft>
                <a:spcPts val="100"/>
              </a:spcAft>
              <a:defRPr sz="800">
                <a:solidFill>
                  <a:srgbClr val="000000"/>
                </a:solidFill>
                <a:latin typeface="Courier New"/>
              </a:defRPr>
            </a:pPr>
            <a:r>
              <a:t>│                     USING JAVASCRIPT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A 9-Stage, 36-Part Journey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From AI Integration Fundamentals to                    │</a:t>
            </a:r>
          </a:p>
          <a:p>
            <a:pPr>
              <a:lnSpc>
                <a:spcPct val="100000"/>
              </a:lnSpc>
              <a:spcBef>
                <a:spcPts val="0"/>
              </a:spcBef>
              <a:spcAft>
                <a:spcPts val="100"/>
              </a:spcAft>
              <a:defRPr sz="800">
                <a:solidFill>
                  <a:srgbClr val="000000"/>
                </a:solidFill>
                <a:latin typeface="Courier New"/>
              </a:defRPr>
            </a:pPr>
            <a:r>
              <a:t>│              Production Multi-Agent Systems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[Presenter Name]                             │</a:t>
            </a:r>
          </a:p>
          <a:p>
            <a:pPr>
              <a:lnSpc>
                <a:spcPct val="100000"/>
              </a:lnSpc>
              <a:spcBef>
                <a:spcPts val="0"/>
              </a:spcBef>
              <a:spcAft>
                <a:spcPts val="100"/>
              </a:spcAft>
              <a:defRPr sz="800">
                <a:solidFill>
                  <a:srgbClr val="000000"/>
                </a:solidFill>
                <a:latin typeface="Courier New"/>
              </a:defRPr>
            </a:pPr>
            <a:r>
              <a:t>│                       [Date/Event]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S0.2  What This Series Will Build</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THE ULTIMATE ARCHITECTURE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By the end of this journey, you will have built: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1. MULTIPLE MCP SERVERS                           │   │</a:t>
            </a:r>
          </a:p>
          <a:p>
            <a:pPr>
              <a:lnSpc>
                <a:spcPct val="100000"/>
              </a:lnSpc>
              <a:spcBef>
                <a:spcPts val="0"/>
              </a:spcBef>
              <a:spcAft>
                <a:spcPts val="100"/>
              </a:spcAft>
              <a:defRPr sz="800">
                <a:solidFill>
                  <a:srgbClr val="000000"/>
                </a:solidFill>
                <a:latin typeface="Courier New"/>
              </a:defRPr>
            </a:pPr>
            <a:r>
              <a:t>│  │   • Filesystem operations                                   │   │</a:t>
            </a:r>
          </a:p>
          <a:p>
            <a:pPr>
              <a:lnSpc>
                <a:spcPct val="100000"/>
              </a:lnSpc>
              <a:spcBef>
                <a:spcPts val="0"/>
              </a:spcBef>
              <a:spcAft>
                <a:spcPts val="100"/>
              </a:spcAft>
              <a:defRPr sz="800">
                <a:solidFill>
                  <a:srgbClr val="000000"/>
                </a:solidFill>
                <a:latin typeface="Courier New"/>
              </a:defRPr>
            </a:pPr>
            <a:r>
              <a:t>│  │   • Database queries (SQLite, PostgreSQL)                  │   │</a:t>
            </a:r>
          </a:p>
          <a:p>
            <a:pPr>
              <a:lnSpc>
                <a:spcPct val="100000"/>
              </a:lnSpc>
              <a:spcBef>
                <a:spcPts val="0"/>
              </a:spcBef>
              <a:spcAft>
                <a:spcPts val="100"/>
              </a:spcAft>
              <a:defRPr sz="800">
                <a:solidFill>
                  <a:srgbClr val="000000"/>
                </a:solidFill>
                <a:latin typeface="Courier New"/>
              </a:defRPr>
            </a:pPr>
            <a:r>
              <a:t>│  │   • API integrations (GitHub, REST)                        │   │</a:t>
            </a:r>
          </a:p>
          <a:p>
            <a:pPr>
              <a:lnSpc>
                <a:spcPct val="100000"/>
              </a:lnSpc>
              <a:spcBef>
                <a:spcPts val="0"/>
              </a:spcBef>
              <a:spcAft>
                <a:spcPts val="100"/>
              </a:spcAft>
              <a:defRPr sz="800">
                <a:solidFill>
                  <a:srgbClr val="000000"/>
                </a:solidFill>
                <a:latin typeface="Courier New"/>
              </a:defRPr>
            </a:pPr>
            <a:r>
              <a:t>│  │   • Development tools (Docker, Kubernetes)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2. REUSABLE MCP CLIENT LIBRARY                    │   │</a:t>
            </a:r>
          </a:p>
          <a:p>
            <a:pPr>
              <a:lnSpc>
                <a:spcPct val="100000"/>
              </a:lnSpc>
              <a:spcBef>
                <a:spcPts val="0"/>
              </a:spcBef>
              <a:spcAft>
                <a:spcPts val="100"/>
              </a:spcAft>
              <a:defRPr sz="800">
                <a:solidFill>
                  <a:srgbClr val="000000"/>
                </a:solidFill>
                <a:latin typeface="Courier New"/>
              </a:defRPr>
            </a:pPr>
            <a:r>
              <a:t>│  │   • Dynamic capability discovery                            │   │</a:t>
            </a:r>
          </a:p>
          <a:p>
            <a:pPr>
              <a:lnSpc>
                <a:spcPct val="100000"/>
              </a:lnSpc>
              <a:spcBef>
                <a:spcPts val="0"/>
              </a:spcBef>
              <a:spcAft>
                <a:spcPts val="100"/>
              </a:spcAft>
              <a:defRPr sz="800">
                <a:solidFill>
                  <a:srgbClr val="000000"/>
                </a:solidFill>
                <a:latin typeface="Courier New"/>
              </a:defRPr>
            </a:pPr>
            <a:r>
              <a:t>│  │   • Multi-server orchestration                              │   │</a:t>
            </a:r>
          </a:p>
          <a:p>
            <a:pPr>
              <a:lnSpc>
                <a:spcPct val="100000"/>
              </a:lnSpc>
              <a:spcBef>
                <a:spcPts val="0"/>
              </a:spcBef>
              <a:spcAft>
                <a:spcPts val="100"/>
              </a:spcAft>
              <a:defRPr sz="800">
                <a:solidFill>
                  <a:srgbClr val="000000"/>
                </a:solidFill>
                <a:latin typeface="Courier New"/>
              </a:defRPr>
            </a:pPr>
            <a:r>
              <a:t>│  │   • Error recovery and retry logic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3. ENTERPRISE KNOWLEDGE SERVER                    │   │</a:t>
            </a:r>
          </a:p>
          <a:p>
            <a:pPr>
              <a:lnSpc>
                <a:spcPct val="100000"/>
              </a:lnSpc>
              <a:spcBef>
                <a:spcPts val="0"/>
              </a:spcBef>
              <a:spcAft>
                <a:spcPts val="100"/>
              </a:spcAft>
              <a:defRPr sz="800">
                <a:solidFill>
                  <a:srgbClr val="000000"/>
                </a:solidFill>
                <a:latin typeface="Courier New"/>
              </a:defRPr>
            </a:pPr>
            <a:r>
              <a:t>│  │   • Aggregates multiple data sources                        │   │</a:t>
            </a:r>
          </a:p>
          <a:p>
            <a:pPr>
              <a:lnSpc>
                <a:spcPct val="100000"/>
              </a:lnSpc>
              <a:spcBef>
                <a:spcPts val="0"/>
              </a:spcBef>
              <a:spcAft>
                <a:spcPts val="100"/>
              </a:spcAft>
              <a:defRPr sz="800">
                <a:solidFill>
                  <a:srgbClr val="000000"/>
                </a:solidFill>
                <a:latin typeface="Courier New"/>
              </a:defRPr>
            </a:pPr>
            <a:r>
              <a:t>│  │   • Unified interface for AI agents                         │   │</a:t>
            </a:r>
          </a:p>
          <a:p>
            <a:pPr>
              <a:lnSpc>
                <a:spcPct val="100000"/>
              </a:lnSpc>
              <a:spcBef>
                <a:spcPts val="0"/>
              </a:spcBef>
              <a:spcAft>
                <a:spcPts val="100"/>
              </a:spcAft>
              <a:defRPr sz="800">
                <a:solidFill>
                  <a:srgbClr val="000000"/>
                </a:solidFill>
                <a:latin typeface="Courier New"/>
              </a:defRPr>
            </a:pPr>
            <a:r>
              <a:t>│  │   • Cross-source search and analysis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S0.3  The System in Action</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THE SYSTEM IN ACTION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AI APPLICATION LAYER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Research  │  │   Coding   │  │  Database  │           │   │</a:t>
            </a:r>
          </a:p>
          <a:p>
            <a:pPr>
              <a:lnSpc>
                <a:spcPct val="100000"/>
              </a:lnSpc>
              <a:spcBef>
                <a:spcPts val="0"/>
              </a:spcBef>
              <a:spcAft>
                <a:spcPts val="100"/>
              </a:spcAft>
              <a:defRPr sz="800">
                <a:solidFill>
                  <a:srgbClr val="000000"/>
                </a:solidFill>
                <a:latin typeface="Courier New"/>
              </a:defRPr>
            </a:pPr>
            <a:r>
              <a:t>│  │  │   Agent    │◄─┼──► Agent   │◄─┼──► Agent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A2A PROTOCOL LAYER                          │   │</a:t>
            </a:r>
          </a:p>
          <a:p>
            <a:pPr>
              <a:lnSpc>
                <a:spcPct val="100000"/>
              </a:lnSpc>
              <a:spcBef>
                <a:spcPts val="0"/>
              </a:spcBef>
              <a:spcAft>
                <a:spcPts val="100"/>
              </a:spcAft>
              <a:defRPr sz="800">
                <a:solidFill>
                  <a:srgbClr val="000000"/>
                </a:solidFill>
                <a:latin typeface="Courier New"/>
              </a:defRPr>
            </a:pPr>
            <a:r>
              <a:t>│  │     Agent-to-Agent Communication &amp; Collaboration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MCP PROTOCOL LAYER                          │   │</a:t>
            </a:r>
          </a:p>
          <a:p>
            <a:pPr>
              <a:lnSpc>
                <a:spcPct val="100000"/>
              </a:lnSpc>
              <a:spcBef>
                <a:spcPts val="0"/>
              </a:spcBef>
              <a:spcAft>
                <a:spcPts val="100"/>
              </a:spcAft>
              <a:defRPr sz="800">
                <a:solidFill>
                  <a:srgbClr val="000000"/>
                </a:solidFill>
                <a:latin typeface="Courier New"/>
              </a:defRPr>
            </a:pPr>
            <a:r>
              <a:t>│  │        AI-to-Tool Communication &amp; Discovery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EXTERNAL SYSTEMS                              │   │</a:t>
            </a:r>
          </a:p>
          <a:p>
            <a:pPr>
              <a:lnSpc>
                <a:spcPct val="100000"/>
              </a:lnSpc>
              <a:spcBef>
                <a:spcPts val="0"/>
              </a:spcBef>
              <a:spcAft>
                <a:spcPts val="100"/>
              </a:spcAft>
              <a:defRPr sz="800">
                <a:solidFill>
                  <a:srgbClr val="000000"/>
                </a:solidFill>
                <a:latin typeface="Courier New"/>
              </a:defRPr>
            </a:pPr>
            <a:r>
              <a:t>│  │  ┌────────┐  ┌────────┐  ┌────────┐  ┌────────┐           │   │</a:t>
            </a:r>
          </a:p>
          <a:p>
            <a:pPr>
              <a:lnSpc>
                <a:spcPct val="100000"/>
              </a:lnSpc>
              <a:spcBef>
                <a:spcPts val="0"/>
              </a:spcBef>
              <a:spcAft>
                <a:spcPts val="100"/>
              </a:spcAft>
              <a:defRPr sz="800">
                <a:solidFill>
                  <a:srgbClr val="000000"/>
                </a:solidFill>
                <a:latin typeface="Courier New"/>
              </a:defRPr>
            </a:pPr>
            <a:r>
              <a:t>│  │  │Database│  │ GitHub │  │ Docker │  │  APIs  │           │   │</a:t>
            </a:r>
          </a:p>
          <a:p>
            <a:pPr>
              <a:lnSpc>
                <a:spcPct val="100000"/>
              </a:lnSpc>
              <a:spcBef>
                <a:spcPts val="0"/>
              </a:spcBef>
              <a:spcAft>
                <a:spcPts val="100"/>
              </a:spcAft>
              <a:defRPr sz="800">
                <a:solidFill>
                  <a:srgbClr val="000000"/>
                </a:solidFill>
                <a:latin typeface="Courier New"/>
              </a:defRPr>
            </a:pPr>
            <a:r>
              <a:t>│  │  └────────┘  └────────┘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S0.4  The Learning Journey (9 Stages)</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THE LEARNING JOURNEY                             │</a:t>
            </a:r>
          </a:p>
          <a:p>
            <a:pPr>
              <a:lnSpc>
                <a:spcPct val="100000"/>
              </a:lnSpc>
              <a:spcBef>
                <a:spcPts val="0"/>
              </a:spcBef>
              <a:spcAft>
                <a:spcPts val="100"/>
              </a:spcAft>
              <a:defRPr sz="800">
                <a:solidFill>
                  <a:srgbClr val="000000"/>
                </a:solidFill>
                <a:latin typeface="Courier New"/>
              </a:defRPr>
            </a:pPr>
            <a:r>
              <a:t>│                    9 Stages, 36+ Parts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STAGE 1: UNDERSTANDING AI INTEGRATION                       │   │</a:t>
            </a:r>
          </a:p>
          <a:p>
            <a:pPr>
              <a:lnSpc>
                <a:spcPct val="100000"/>
              </a:lnSpc>
              <a:spcBef>
                <a:spcPts val="0"/>
              </a:spcBef>
              <a:spcAft>
                <a:spcPts val="100"/>
              </a:spcAft>
              <a:defRPr sz="800">
                <a:solidFill>
                  <a:srgbClr val="000000"/>
                </a:solidFill>
                <a:latin typeface="Courier New"/>
              </a:defRPr>
            </a:pPr>
            <a:r>
              <a:t>│  │ Parts 1-3: MCP fundamentals, architecture, first server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STAGE 2: BUILDING REUSABLE MCP SERVERS                     │   │</a:t>
            </a:r>
          </a:p>
          <a:p>
            <a:pPr>
              <a:lnSpc>
                <a:spcPct val="100000"/>
              </a:lnSpc>
              <a:spcBef>
                <a:spcPts val="0"/>
              </a:spcBef>
              <a:spcAft>
                <a:spcPts val="100"/>
              </a:spcAft>
              <a:defRPr sz="800">
                <a:solidFill>
                  <a:srgbClr val="000000"/>
                </a:solidFill>
                <a:latin typeface="Courier New"/>
              </a:defRPr>
            </a:pPr>
            <a:r>
              <a:t>│  │ Parts 4-7: Tools, resources, prompts, advanced features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STAGE 3: BUILDING INTELLIGENT MCP CLIENTS                  │   │</a:t>
            </a:r>
          </a:p>
          <a:p>
            <a:pPr>
              <a:lnSpc>
                <a:spcPct val="100000"/>
              </a:lnSpc>
              <a:spcBef>
                <a:spcPts val="0"/>
              </a:spcBef>
              <a:spcAft>
                <a:spcPts val="100"/>
              </a:spcAft>
              <a:defRPr sz="800">
                <a:solidFill>
                  <a:srgbClr val="000000"/>
                </a:solidFill>
                <a:latin typeface="Courier New"/>
              </a:defRPr>
            </a:pPr>
            <a:r>
              <a:t>│  │ Parts 8-10: Discovery, invocation, multi-server orchestration│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STAGE 4: CONNECTING ENTERPRISE SYSTEMS                      │   │</a:t>
            </a:r>
          </a:p>
          <a:p>
            <a:pPr>
              <a:lnSpc>
                <a:spcPct val="100000"/>
              </a:lnSpc>
              <a:spcBef>
                <a:spcPts val="0"/>
              </a:spcBef>
              <a:spcAft>
                <a:spcPts val="100"/>
              </a:spcAft>
              <a:defRPr sz="800">
                <a:solidFill>
                  <a:srgbClr val="000000"/>
                </a:solidFill>
                <a:latin typeface="Courier New"/>
              </a:defRPr>
            </a:pPr>
            <a:r>
              <a:t>│  │ Parts 11-14: SQLite, PostgreSQL, REST APIs, GitHub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STAGE 5: BUILDING AUTONOMOUS AI AGENTS                      │   │</a:t>
            </a:r>
          </a:p>
          <a:p>
            <a:pPr>
              <a:lnSpc>
                <a:spcPct val="100000"/>
              </a:lnSpc>
              <a:spcBef>
                <a:spcPts val="0"/>
              </a:spcBef>
              <a:spcAft>
                <a:spcPts val="100"/>
              </a:spcAft>
              <a:defRPr sz="800">
                <a:solidFill>
                  <a:srgbClr val="000000"/>
                </a:solidFill>
                <a:latin typeface="Courier New"/>
              </a:defRPr>
            </a:pPr>
            <a:r>
              <a:t>│  │ Parts 15-18: Planning, reasoning, memory, reflection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S0.5  The Learning Journey (Continued)</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THE LEARNING JOURNEY (CONT.)                     │</a:t>
            </a:r>
          </a:p>
          <a:p>
            <a:pPr>
              <a:lnSpc>
                <a:spcPct val="100000"/>
              </a:lnSpc>
              <a:spcBef>
                <a:spcPts val="0"/>
              </a:spcBef>
              <a:spcAft>
                <a:spcPts val="100"/>
              </a:spcAft>
              <a:defRPr sz="800">
                <a:solidFill>
                  <a:srgbClr val="000000"/>
                </a:solidFill>
                <a:latin typeface="Courier New"/>
              </a:defRPr>
            </a:pPr>
            <a:r>
              <a:t>│                    9 Stages, 36+ Parts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STAGE 6: AGENT-TO-AGENT (A2A) COLLABORATION                │   │</a:t>
            </a:r>
          </a:p>
          <a:p>
            <a:pPr>
              <a:lnSpc>
                <a:spcPct val="100000"/>
              </a:lnSpc>
              <a:spcBef>
                <a:spcPts val="0"/>
              </a:spcBef>
              <a:spcAft>
                <a:spcPts val="100"/>
              </a:spcAft>
              <a:defRPr sz="800">
                <a:solidFill>
                  <a:srgbClr val="000000"/>
                </a:solidFill>
                <a:latin typeface="Courier New"/>
              </a:defRPr>
            </a:pPr>
            <a:r>
              <a:t>│  │ Parts 19-22: Discovery, delegation, multi-agent teams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STAGE 7: MULTI-AGENT ARCHITECTURES                         │   │</a:t>
            </a:r>
          </a:p>
          <a:p>
            <a:pPr>
              <a:lnSpc>
                <a:spcPct val="100000"/>
              </a:lnSpc>
              <a:spcBef>
                <a:spcPts val="0"/>
              </a:spcBef>
              <a:spcAft>
                <a:spcPts val="100"/>
              </a:spcAft>
              <a:defRPr sz="800">
                <a:solidFill>
                  <a:srgbClr val="000000"/>
                </a:solidFill>
                <a:latin typeface="Courier New"/>
              </a:defRPr>
            </a:pPr>
            <a:r>
              <a:t>│  │ Parts 23-26: Coordinator, supervisor, planner-worker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STAGE 8: PRODUCTION ENGINEERING                             │   │</a:t>
            </a:r>
          </a:p>
          <a:p>
            <a:pPr>
              <a:lnSpc>
                <a:spcPct val="100000"/>
              </a:lnSpc>
              <a:spcBef>
                <a:spcPts val="0"/>
              </a:spcBef>
              <a:spcAft>
                <a:spcPts val="100"/>
              </a:spcAft>
              <a:defRPr sz="800">
                <a:solidFill>
                  <a:srgbClr val="000000"/>
                </a:solidFill>
                <a:latin typeface="Courier New"/>
              </a:defRPr>
            </a:pPr>
            <a:r>
              <a:t>│  │ Parts 27-30: Docker, Kubernetes, monitoring, CI/CD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STAGE 9: REAL-WORLD AI PROJECTS                            │   │</a:t>
            </a:r>
          </a:p>
          <a:p>
            <a:pPr>
              <a:lnSpc>
                <a:spcPct val="100000"/>
              </a:lnSpc>
              <a:spcBef>
                <a:spcPts val="0"/>
              </a:spcBef>
              <a:spcAft>
                <a:spcPts val="100"/>
              </a:spcAft>
              <a:defRPr sz="800">
                <a:solidFill>
                  <a:srgbClr val="000000"/>
                </a:solidFill>
                <a:latin typeface="Courier New"/>
              </a:defRPr>
            </a:pPr>
            <a:r>
              <a:t>│  │ Parts 31-36: GitHub Assistant, DevOps Engineer, Data Analyst│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S0.6  Who This Is For</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TARGET AUDIENCE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JavaScript/Node.js developers (intermediate level)           │</a:t>
            </a:r>
          </a:p>
          <a:p>
            <a:pPr>
              <a:lnSpc>
                <a:spcPct val="100000"/>
              </a:lnSpc>
              <a:spcBef>
                <a:spcPts val="0"/>
              </a:spcBef>
              <a:spcAft>
                <a:spcPts val="100"/>
              </a:spcAft>
              <a:defRPr sz="800">
                <a:solidFill>
                  <a:srgbClr val="000000"/>
                </a:solidFill>
                <a:latin typeface="Courier New"/>
              </a:defRPr>
            </a:pPr>
            <a:r>
              <a:t>│  │  ✅ Familiar with async/await, promises, callbacks              │</a:t>
            </a:r>
          </a:p>
          <a:p>
            <a:pPr>
              <a:lnSpc>
                <a:spcPct val="100000"/>
              </a:lnSpc>
              <a:spcBef>
                <a:spcPts val="0"/>
              </a:spcBef>
              <a:spcAft>
                <a:spcPts val="100"/>
              </a:spcAft>
              <a:defRPr sz="800">
                <a:solidFill>
                  <a:srgbClr val="000000"/>
                </a:solidFill>
                <a:latin typeface="Courier New"/>
              </a:defRPr>
            </a:pPr>
            <a:r>
              <a:t>│  │  ✅ Built REST APIs or CLI tools before                         │</a:t>
            </a:r>
          </a:p>
          <a:p>
            <a:pPr>
              <a:lnSpc>
                <a:spcPct val="100000"/>
              </a:lnSpc>
              <a:spcBef>
                <a:spcPts val="0"/>
              </a:spcBef>
              <a:spcAft>
                <a:spcPts val="100"/>
              </a:spcAft>
              <a:defRPr sz="800">
                <a:solidFill>
                  <a:srgbClr val="000000"/>
                </a:solidFill>
                <a:latin typeface="Courier New"/>
              </a:defRPr>
            </a:pPr>
            <a:r>
              <a:t>│  │  ✅ Basic understanding of AI/LLM concepts                      │</a:t>
            </a:r>
          </a:p>
          <a:p>
            <a:pPr>
              <a:lnSpc>
                <a:spcPct val="100000"/>
              </a:lnSpc>
              <a:spcBef>
                <a:spcPts val="0"/>
              </a:spcBef>
              <a:spcAft>
                <a:spcPts val="100"/>
              </a:spcAft>
              <a:defRPr sz="800">
                <a:solidFill>
                  <a:srgbClr val="000000"/>
                </a:solidFill>
                <a:latin typeface="Courier New"/>
              </a:defRPr>
            </a:pPr>
            <a:r>
              <a:t>│  │  ✅ Comfortable with terminal/command line                       │</a:t>
            </a:r>
          </a:p>
          <a:p>
            <a:pPr>
              <a:lnSpc>
                <a:spcPct val="100000"/>
              </a:lnSpc>
              <a:spcBef>
                <a:spcPts val="0"/>
              </a:spcBef>
              <a:spcAft>
                <a:spcPts val="100"/>
              </a:spcAft>
              <a:defRPr sz="800">
                <a:solidFill>
                  <a:srgbClr val="000000"/>
                </a:solidFill>
                <a:latin typeface="Courier New"/>
              </a:defRPr>
            </a:pPr>
            <a:r>
              <a:t>│  │  ✅ Want to build real AI systems, not just consume them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NOT required: AI/ML degree                                   │</a:t>
            </a:r>
          </a:p>
          <a:p>
            <a:pPr>
              <a:lnSpc>
                <a:spcPct val="100000"/>
              </a:lnSpc>
              <a:spcBef>
                <a:spcPts val="0"/>
              </a:spcBef>
              <a:spcAft>
                <a:spcPts val="100"/>
              </a:spcAft>
              <a:defRPr sz="800">
                <a:solidFill>
                  <a:srgbClr val="000000"/>
                </a:solidFill>
                <a:latin typeface="Courier New"/>
              </a:defRPr>
            </a:pPr>
            <a:r>
              <a:t>│  │  ❌ NOT required: Understanding neural networks                 │</a:t>
            </a:r>
          </a:p>
          <a:p>
            <a:pPr>
              <a:lnSpc>
                <a:spcPct val="100000"/>
              </a:lnSpc>
              <a:spcBef>
                <a:spcPts val="0"/>
              </a:spcBef>
              <a:spcAft>
                <a:spcPts val="100"/>
              </a:spcAft>
              <a:defRPr sz="800">
                <a:solidFill>
                  <a:srgbClr val="000000"/>
                </a:solidFill>
                <a:latin typeface="Courier New"/>
              </a:defRPr>
            </a:pPr>
            <a:r>
              <a:t>│  │  ❌ NOT required: Prior MCP/A2A experience                     │</a:t>
            </a:r>
          </a:p>
          <a:p>
            <a:pPr>
              <a:lnSpc>
                <a:spcPct val="100000"/>
              </a:lnSpc>
              <a:spcBef>
                <a:spcPts val="0"/>
              </a:spcBef>
              <a:spcAft>
                <a:spcPts val="100"/>
              </a:spcAft>
              <a:defRPr sz="800">
                <a:solidFill>
                  <a:srgbClr val="000000"/>
                </a:solidFill>
                <a:latin typeface="Courier New"/>
              </a:defRPr>
            </a:pPr>
            <a:r>
              <a:t>│  │  ❌ NOT required: TypeScript expertise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S0.7  What Makes This Series Different</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WHAT MAKES THIS SERIES DIFFERENT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1. CODE-FIRST, NOT THEORY-FIRST                             │   │</a:t>
            </a:r>
          </a:p>
          <a:p>
            <a:pPr>
              <a:lnSpc>
                <a:spcPct val="100000"/>
              </a:lnSpc>
              <a:spcBef>
                <a:spcPts val="0"/>
              </a:spcBef>
              <a:spcAft>
                <a:spcPts val="100"/>
              </a:spcAft>
              <a:defRPr sz="800">
                <a:solidFill>
                  <a:srgbClr val="000000"/>
                </a:solidFill>
                <a:latin typeface="Courier New"/>
              </a:defRPr>
            </a:pPr>
            <a:r>
              <a:t>│  │    Aggressively code-heavy. Complete, runnable code.        │   │</a:t>
            </a:r>
          </a:p>
          <a:p>
            <a:pPr>
              <a:lnSpc>
                <a:spcPct val="100000"/>
              </a:lnSpc>
              <a:spcBef>
                <a:spcPts val="0"/>
              </a:spcBef>
              <a:spcAft>
                <a:spcPts val="100"/>
              </a:spcAft>
              <a:defRPr sz="800">
                <a:solidFill>
                  <a:srgbClr val="000000"/>
                </a:solidFill>
                <a:latin typeface="Courier New"/>
              </a:defRPr>
            </a:pPr>
            <a:r>
              <a:t>│  │    No placeholders like "// implement here"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2. BEGINNER-FRIENDLY PROSE, EXPERT-LEVEL CODE               │   │</a:t>
            </a:r>
          </a:p>
          <a:p>
            <a:pPr>
              <a:lnSpc>
                <a:spcPct val="100000"/>
              </a:lnSpc>
              <a:spcBef>
                <a:spcPts val="0"/>
              </a:spcBef>
              <a:spcAft>
                <a:spcPts val="100"/>
              </a:spcAft>
              <a:defRPr sz="800">
                <a:solidFill>
                  <a:srgbClr val="000000"/>
                </a:solidFill>
                <a:latin typeface="Courier New"/>
              </a:defRPr>
            </a:pPr>
            <a:r>
              <a:t>│  │    Explanations use simple analogies.                       │   │</a:t>
            </a:r>
          </a:p>
          <a:p>
            <a:pPr>
              <a:lnSpc>
                <a:spcPct val="100000"/>
              </a:lnSpc>
              <a:spcBef>
                <a:spcPts val="0"/>
              </a:spcBef>
              <a:spcAft>
                <a:spcPts val="100"/>
              </a:spcAft>
              <a:defRPr sz="800">
                <a:solidFill>
                  <a:srgbClr val="000000"/>
                </a:solidFill>
                <a:latin typeface="Courier New"/>
              </a:defRPr>
            </a:pPr>
            <a:r>
              <a:t>│  │    Code is production-quality (error handling, security)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3. PROGRESSIVE COMPLEXITY                                   │   │</a:t>
            </a:r>
          </a:p>
          <a:p>
            <a:pPr>
              <a:lnSpc>
                <a:spcPct val="100000"/>
              </a:lnSpc>
              <a:spcBef>
                <a:spcPts val="0"/>
              </a:spcBef>
              <a:spcAft>
                <a:spcPts val="100"/>
              </a:spcAft>
              <a:defRPr sz="800">
                <a:solidFill>
                  <a:srgbClr val="000000"/>
                </a:solidFill>
                <a:latin typeface="Courier New"/>
              </a:defRPr>
            </a:pPr>
            <a:r>
              <a:t>│  │    Each part builds directly on the previous one.           │   │</a:t>
            </a:r>
          </a:p>
          <a:p>
            <a:pPr>
              <a:lnSpc>
                <a:spcPct val="100000"/>
              </a:lnSpc>
              <a:spcBef>
                <a:spcPts val="0"/>
              </a:spcBef>
              <a:spcAft>
                <a:spcPts val="100"/>
              </a:spcAft>
              <a:defRPr sz="800">
                <a:solidFill>
                  <a:srgbClr val="000000"/>
                </a:solidFill>
                <a:latin typeface="Courier New"/>
              </a:defRPr>
            </a:pPr>
            <a:r>
              <a:t>│  │    No unexplained jumps.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4. REAL-WORLD APPLICATIONS                                  │   │</a:t>
            </a:r>
          </a:p>
          <a:p>
            <a:pPr>
              <a:lnSpc>
                <a:spcPct val="100000"/>
              </a:lnSpc>
              <a:spcBef>
                <a:spcPts val="0"/>
              </a:spcBef>
              <a:spcAft>
                <a:spcPts val="100"/>
              </a:spcAft>
              <a:defRPr sz="800">
                <a:solidFill>
                  <a:srgbClr val="000000"/>
                </a:solidFill>
                <a:latin typeface="Courier New"/>
              </a:defRPr>
            </a:pPr>
            <a:r>
              <a:t>│  │    Not toy examples. Solutions to real problems.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S0.8  Prerequisites &amp; Setup</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PREREQUISITES &amp; SETUP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REQUIRED TOOLS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Node.js      │ 20.x or higher │ https://nodejs.org         │   │</a:t>
            </a:r>
          </a:p>
          <a:p>
            <a:pPr>
              <a:lnSpc>
                <a:spcPct val="100000"/>
              </a:lnSpc>
              <a:spcBef>
                <a:spcPts val="0"/>
              </a:spcBef>
              <a:spcAft>
                <a:spcPts val="100"/>
              </a:spcAft>
              <a:defRPr sz="800">
                <a:solidFill>
                  <a:srgbClr val="000000"/>
                </a:solidFill>
                <a:latin typeface="Courier New"/>
              </a:defRPr>
            </a:pPr>
            <a:r>
              <a:t>│  │  npm          │ 9.x or higher  │ Included with Node.js     │   │</a:t>
            </a:r>
          </a:p>
          <a:p>
            <a:pPr>
              <a:lnSpc>
                <a:spcPct val="100000"/>
              </a:lnSpc>
              <a:spcBef>
                <a:spcPts val="0"/>
              </a:spcBef>
              <a:spcAft>
                <a:spcPts val="100"/>
              </a:spcAft>
              <a:defRPr sz="800">
                <a:solidFill>
                  <a:srgbClr val="000000"/>
                </a:solidFill>
                <a:latin typeface="Courier New"/>
              </a:defRPr>
            </a:pPr>
            <a:r>
              <a:t>│  │  Git          │ 2.40+          │ https://git-scm.com       │   │</a:t>
            </a:r>
          </a:p>
          <a:p>
            <a:pPr>
              <a:lnSpc>
                <a:spcPct val="100000"/>
              </a:lnSpc>
              <a:spcBef>
                <a:spcPts val="0"/>
              </a:spcBef>
              <a:spcAft>
                <a:spcPts val="100"/>
              </a:spcAft>
              <a:defRPr sz="800">
                <a:solidFill>
                  <a:srgbClr val="000000"/>
                </a:solidFill>
                <a:latin typeface="Courier New"/>
              </a:defRPr>
            </a:pPr>
            <a:r>
              <a:t>│  │  Code Editor  │ Any            │ VS Code, WebStorm, etc.   │   │</a:t>
            </a:r>
          </a:p>
          <a:p>
            <a:pPr>
              <a:lnSpc>
                <a:spcPct val="100000"/>
              </a:lnSpc>
              <a:spcBef>
                <a:spcPts val="0"/>
              </a:spcBef>
              <a:spcAft>
                <a:spcPts val="100"/>
              </a:spcAft>
              <a:defRPr sz="800">
                <a:solidFill>
                  <a:srgbClr val="000000"/>
                </a:solidFill>
                <a:latin typeface="Courier New"/>
              </a:defRPr>
            </a:pPr>
            <a:r>
              <a:t>│  │  Terminal     │ Any            │ Built-in to OS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VERIFICATION COMMANDS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node --version    # Should be v20.x or higher                   │</a:t>
            </a:r>
          </a:p>
          <a:p>
            <a:pPr>
              <a:lnSpc>
                <a:spcPct val="100000"/>
              </a:lnSpc>
              <a:spcBef>
                <a:spcPts val="0"/>
              </a:spcBef>
              <a:spcAft>
                <a:spcPts val="100"/>
              </a:spcAft>
              <a:defRPr sz="800">
                <a:solidFill>
                  <a:srgbClr val="000000"/>
                </a:solidFill>
                <a:latin typeface="Courier New"/>
              </a:defRPr>
            </a:pPr>
            <a:r>
              <a:t>│  $ npm --version     # Should be 9.x or higher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CREATE PROJECT DIRECTORY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mkdir ai-integration-javascript                                 │</a:t>
            </a:r>
          </a:p>
          <a:p>
            <a:pPr>
              <a:lnSpc>
                <a:spcPct val="100000"/>
              </a:lnSpc>
              <a:spcBef>
                <a:spcPts val="0"/>
              </a:spcBef>
              <a:spcAft>
                <a:spcPts val="100"/>
              </a:spcAft>
              <a:defRPr sz="800">
                <a:solidFill>
                  <a:srgbClr val="000000"/>
                </a:solidFill>
                <a:latin typeface="Courier New"/>
              </a:defRPr>
            </a:pPr>
            <a:r>
              <a:t>│  $ cd ai-integration-javascript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S0.9  Project Structure Overview</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PROJECT STRUCTURE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ai-integration-javascript/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mcp-protocol/              # Stage 1-3                        │</a:t>
            </a:r>
          </a:p>
          <a:p>
            <a:pPr>
              <a:lnSpc>
                <a:spcPct val="100000"/>
              </a:lnSpc>
              <a:spcBef>
                <a:spcPts val="0"/>
              </a:spcBef>
              <a:spcAft>
                <a:spcPts val="100"/>
              </a:spcAft>
              <a:defRPr sz="800">
                <a:solidFill>
                  <a:srgbClr val="000000"/>
                </a:solidFill>
                <a:latin typeface="Courier New"/>
              </a:defRPr>
            </a:pPr>
            <a:r>
              <a:t>│  │   ├── servers/                                                  │</a:t>
            </a:r>
          </a:p>
          <a:p>
            <a:pPr>
              <a:lnSpc>
                <a:spcPct val="100000"/>
              </a:lnSpc>
              <a:spcBef>
                <a:spcPts val="0"/>
              </a:spcBef>
              <a:spcAft>
                <a:spcPts val="100"/>
              </a:spcAft>
              <a:defRPr sz="800">
                <a:solidFill>
                  <a:srgbClr val="000000"/>
                </a:solidFill>
                <a:latin typeface="Courier New"/>
              </a:defRPr>
            </a:pPr>
            <a:r>
              <a:t>│  │   │   ├── first-server/                                         │</a:t>
            </a:r>
          </a:p>
          <a:p>
            <a:pPr>
              <a:lnSpc>
                <a:spcPct val="100000"/>
              </a:lnSpc>
              <a:spcBef>
                <a:spcPts val="0"/>
              </a:spcBef>
              <a:spcAft>
                <a:spcPts val="100"/>
              </a:spcAft>
              <a:defRPr sz="800">
                <a:solidFill>
                  <a:srgbClr val="000000"/>
                </a:solidFill>
                <a:latin typeface="Courier New"/>
              </a:defRPr>
            </a:pPr>
            <a:r>
              <a:t>│  │   │   ├── database-server/                                      │</a:t>
            </a:r>
          </a:p>
          <a:p>
            <a:pPr>
              <a:lnSpc>
                <a:spcPct val="100000"/>
              </a:lnSpc>
              <a:spcBef>
                <a:spcPts val="0"/>
              </a:spcBef>
              <a:spcAft>
                <a:spcPts val="100"/>
              </a:spcAft>
              <a:defRPr sz="800">
                <a:solidFill>
                  <a:srgbClr val="000000"/>
                </a:solidFill>
                <a:latin typeface="Courier New"/>
              </a:defRPr>
            </a:pPr>
            <a:r>
              <a:t>│  │   │   ├── postgres-server/                                      │</a:t>
            </a:r>
          </a:p>
          <a:p>
            <a:pPr>
              <a:lnSpc>
                <a:spcPct val="100000"/>
              </a:lnSpc>
              <a:spcBef>
                <a:spcPts val="0"/>
              </a:spcBef>
              <a:spcAft>
                <a:spcPts val="100"/>
              </a:spcAft>
              <a:defRPr sz="800">
                <a:solidFill>
                  <a:srgbClr val="000000"/>
                </a:solidFill>
                <a:latin typeface="Courier New"/>
              </a:defRPr>
            </a:pPr>
            <a:r>
              <a:t>│  │   │   └── knowledge-server/                                     │</a:t>
            </a:r>
          </a:p>
          <a:p>
            <a:pPr>
              <a:lnSpc>
                <a:spcPct val="100000"/>
              </a:lnSpc>
              <a:spcBef>
                <a:spcPts val="0"/>
              </a:spcBef>
              <a:spcAft>
                <a:spcPts val="100"/>
              </a:spcAft>
              <a:defRPr sz="800">
                <a:solidFill>
                  <a:srgbClr val="000000"/>
                </a:solidFill>
                <a:latin typeface="Courier New"/>
              </a:defRPr>
            </a:pPr>
            <a:r>
              <a:t>│  │   └── clients/                                                   │</a:t>
            </a:r>
          </a:p>
          <a:p>
            <a:pPr>
              <a:lnSpc>
                <a:spcPct val="100000"/>
              </a:lnSpc>
              <a:spcBef>
                <a:spcPts val="0"/>
              </a:spcBef>
              <a:spcAft>
                <a:spcPts val="100"/>
              </a:spcAft>
              <a:defRPr sz="800">
                <a:solidFill>
                  <a:srgbClr val="000000"/>
                </a:solidFill>
                <a:latin typeface="Courier New"/>
              </a:defRPr>
            </a:pPr>
            <a:r>
              <a:t>│  │       └── mcp-client-lib/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enterprise-integration/    # Stage 4                         │</a:t>
            </a:r>
          </a:p>
          <a:p>
            <a:pPr>
              <a:lnSpc>
                <a:spcPct val="100000"/>
              </a:lnSpc>
              <a:spcBef>
                <a:spcPts val="0"/>
              </a:spcBef>
              <a:spcAft>
                <a:spcPts val="100"/>
              </a:spcAft>
              <a:defRPr sz="800">
                <a:solidFill>
                  <a:srgbClr val="000000"/>
                </a:solidFill>
                <a:latin typeface="Courier New"/>
              </a:defRPr>
            </a:pPr>
            <a:r>
              <a:t>│  │   ├── knowledge-server/                                         │</a:t>
            </a:r>
          </a:p>
          <a:p>
            <a:pPr>
              <a:lnSpc>
                <a:spcPct val="100000"/>
              </a:lnSpc>
              <a:spcBef>
                <a:spcPts val="0"/>
              </a:spcBef>
              <a:spcAft>
                <a:spcPts val="100"/>
              </a:spcAft>
              <a:defRPr sz="800">
                <a:solidFill>
                  <a:srgbClr val="000000"/>
                </a:solidFill>
                <a:latin typeface="Courier New"/>
              </a:defRPr>
            </a:pPr>
            <a:r>
              <a:t>│  │   ├── data-aggregator/                                          │</a:t>
            </a:r>
          </a:p>
          <a:p>
            <a:pPr>
              <a:lnSpc>
                <a:spcPct val="100000"/>
              </a:lnSpc>
              <a:spcBef>
                <a:spcPts val="0"/>
              </a:spcBef>
              <a:spcAft>
                <a:spcPts val="100"/>
              </a:spcAft>
              <a:defRPr sz="800">
                <a:solidFill>
                  <a:srgbClr val="000000"/>
                </a:solidFill>
                <a:latin typeface="Courier New"/>
              </a:defRPr>
            </a:pPr>
            <a:r>
              <a:t>│  │   └── integrations/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ai-agents/                 # Stage 5                         │</a:t>
            </a:r>
          </a:p>
          <a:p>
            <a:pPr>
              <a:lnSpc>
                <a:spcPct val="100000"/>
              </a:lnSpc>
              <a:spcBef>
                <a:spcPts val="0"/>
              </a:spcBef>
              <a:spcAft>
                <a:spcPts val="100"/>
              </a:spcAft>
              <a:defRPr sz="800">
                <a:solidFill>
                  <a:srgbClr val="000000"/>
                </a:solidFill>
                <a:latin typeface="Courier New"/>
              </a:defRPr>
            </a:pPr>
            <a:r>
              <a:t>│  │   └── research-assistant/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a2a-protocol/             # Stage 6                          │</a:t>
            </a:r>
          </a:p>
          <a:p>
            <a:pPr>
              <a:lnSpc>
                <a:spcPct val="100000"/>
              </a:lnSpc>
              <a:spcBef>
                <a:spcPts val="0"/>
              </a:spcBef>
              <a:spcAft>
                <a:spcPts val="100"/>
              </a:spcAft>
              <a:defRPr sz="800">
                <a:solidFill>
                  <a:srgbClr val="000000"/>
                </a:solidFill>
                <a:latin typeface="Courier New"/>
              </a:defRPr>
            </a:pPr>
            <a:r>
              <a:t>│  │   └── a2a-library/                                              │</a:t>
            </a:r>
          </a:p>
          <a:p>
            <a:pPr>
              <a:lnSpc>
                <a:spcPct val="100000"/>
              </a:lnSpc>
              <a:spcBef>
                <a:spcPts val="0"/>
              </a:spcBef>
              <a:spcAft>
                <a:spcPts val="100"/>
              </a:spcAft>
              <a:defRPr sz="800">
                <a:solidFill>
                  <a:srgbClr val="000000"/>
                </a:solidFill>
                <a:latin typeface="Courier New"/>
              </a:defRPr>
            </a:pPr>
            <a:r>
              <a:t>│  │       ├── registry/                                             │</a:t>
            </a:r>
          </a:p>
          <a:p>
            <a:pPr>
              <a:lnSpc>
                <a:spcPct val="100000"/>
              </a:lnSpc>
              <a:spcBef>
                <a:spcPts val="0"/>
              </a:spcBef>
              <a:spcAft>
                <a:spcPts val="100"/>
              </a:spcAft>
              <a:defRPr sz="800">
                <a:solidFill>
                  <a:srgbClr val="000000"/>
                </a:solidFill>
                <a:latin typeface="Courier New"/>
              </a:defRPr>
            </a:pPr>
            <a:r>
              <a:t>│  │       ├── router/                                               │</a:t>
            </a:r>
          </a:p>
          <a:p>
            <a:pPr>
              <a:lnSpc>
                <a:spcPct val="100000"/>
              </a:lnSpc>
              <a:spcBef>
                <a:spcPts val="0"/>
              </a:spcBef>
              <a:spcAft>
                <a:spcPts val="100"/>
              </a:spcAft>
              <a:defRPr sz="800">
                <a:solidFill>
                  <a:srgbClr val="000000"/>
                </a:solidFill>
                <a:latin typeface="Courier New"/>
              </a:defRPr>
            </a:pPr>
            <a:r>
              <a:t>│  │       └── agents/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multi-agent/              # Stage 7                          │</a:t>
            </a:r>
          </a:p>
          <a:p>
            <a:pPr>
              <a:lnSpc>
                <a:spcPct val="100000"/>
              </a:lnSpc>
              <a:spcBef>
                <a:spcPts val="0"/>
              </a:spcBef>
              <a:spcAft>
                <a:spcPts val="100"/>
              </a:spcAft>
              <a:defRPr sz="800">
                <a:solidFill>
                  <a:srgbClr val="000000"/>
                </a:solidFill>
                <a:latin typeface="Courier New"/>
              </a:defRPr>
            </a:pPr>
            <a:r>
              <a:t>│  │   └── advanced-architecture/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production/               # Stage 8                          │</a:t>
            </a:r>
          </a:p>
          <a:p>
            <a:pPr>
              <a:lnSpc>
                <a:spcPct val="100000"/>
              </a:lnSpc>
              <a:spcBef>
                <a:spcPts val="0"/>
              </a:spcBef>
              <a:spcAft>
                <a:spcPts val="100"/>
              </a:spcAft>
              <a:defRPr sz="800">
                <a:solidFill>
                  <a:srgbClr val="000000"/>
                </a:solidFill>
                <a:latin typeface="Courier New"/>
              </a:defRPr>
            </a:pPr>
            <a:r>
              <a:t>│      ├── docker/                                                   │</a:t>
            </a:r>
          </a:p>
          <a:p>
            <a:pPr>
              <a:lnSpc>
                <a:spcPct val="100000"/>
              </a:lnSpc>
              <a:spcBef>
                <a:spcPts val="0"/>
              </a:spcBef>
              <a:spcAft>
                <a:spcPts val="100"/>
              </a:spcAft>
              <a:defRPr sz="800">
                <a:solidFill>
                  <a:srgbClr val="000000"/>
                </a:solidFill>
                <a:latin typeface="Courier New"/>
              </a:defRPr>
            </a:pPr>
            <a:r>
              <a:t>│      ├── kubernetes/                                               │</a:t>
            </a:r>
          </a:p>
          <a:p>
            <a:pPr>
              <a:lnSpc>
                <a:spcPct val="100000"/>
              </a:lnSpc>
              <a:spcBef>
                <a:spcPts val="0"/>
              </a:spcBef>
              <a:spcAft>
                <a:spcPts val="100"/>
              </a:spcAft>
              <a:defRPr sz="800">
                <a:solidFill>
                  <a:srgbClr val="000000"/>
                </a:solidFill>
                <a:latin typeface="Courier New"/>
              </a:defRPr>
            </a:pPr>
            <a:r>
              <a:t>│      ├── monitoring/                                               │</a:t>
            </a:r>
          </a:p>
          <a:p>
            <a:pPr>
              <a:lnSpc>
                <a:spcPct val="100000"/>
              </a:lnSpc>
              <a:spcBef>
                <a:spcPts val="0"/>
              </a:spcBef>
              <a:spcAft>
                <a:spcPts val="100"/>
              </a:spcAft>
              <a:defRPr sz="800">
                <a:solidFill>
                  <a:srgbClr val="000000"/>
                </a:solidFill>
                <a:latin typeface="Courier New"/>
              </a:defRPr>
            </a:pPr>
            <a:r>
              <a:t>│      └── ci-cd/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S0.10  Series Rules &amp; Style Guide</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SERIES RULES &amp; STYLE GUIDE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CODING CONVENTIONS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Files: kebab-case.ts                                     │   │</a:t>
            </a:r>
          </a:p>
          <a:p>
            <a:pPr>
              <a:lnSpc>
                <a:spcPct val="100000"/>
              </a:lnSpc>
              <a:spcBef>
                <a:spcPts val="0"/>
              </a:spcBef>
              <a:spcAft>
                <a:spcPts val="100"/>
              </a:spcAft>
              <a:defRPr sz="800">
                <a:solidFill>
                  <a:srgbClr val="000000"/>
                </a:solidFill>
                <a:latin typeface="Courier New"/>
              </a:defRPr>
            </a:pPr>
            <a:r>
              <a:t>│  │  • Classes: PascalCase                                      │   │</a:t>
            </a:r>
          </a:p>
          <a:p>
            <a:pPr>
              <a:lnSpc>
                <a:spcPct val="100000"/>
              </a:lnSpc>
              <a:spcBef>
                <a:spcPts val="0"/>
              </a:spcBef>
              <a:spcAft>
                <a:spcPts val="100"/>
              </a:spcAft>
              <a:defRPr sz="800">
                <a:solidFill>
                  <a:srgbClr val="000000"/>
                </a:solidFill>
                <a:latin typeface="Courier New"/>
              </a:defRPr>
            </a:pPr>
            <a:r>
              <a:t>│  │  • Functions/Variables: camelCase                          │   │</a:t>
            </a:r>
          </a:p>
          <a:p>
            <a:pPr>
              <a:lnSpc>
                <a:spcPct val="100000"/>
              </a:lnSpc>
              <a:spcBef>
                <a:spcPts val="0"/>
              </a:spcBef>
              <a:spcAft>
                <a:spcPts val="100"/>
              </a:spcAft>
              <a:defRPr sz="800">
                <a:solidFill>
                  <a:srgbClr val="000000"/>
                </a:solidFill>
                <a:latin typeface="Courier New"/>
              </a:defRPr>
            </a:pPr>
            <a:r>
              <a:t>│  │  • Constants: UPPER_SNAKE_CASE                             │   │</a:t>
            </a:r>
          </a:p>
          <a:p>
            <a:pPr>
              <a:lnSpc>
                <a:spcPct val="100000"/>
              </a:lnSpc>
              <a:spcBef>
                <a:spcPts val="0"/>
              </a:spcBef>
              <a:spcAft>
                <a:spcPts val="100"/>
              </a:spcAft>
              <a:defRPr sz="800">
                <a:solidFill>
                  <a:srgbClr val="000000"/>
                </a:solidFill>
                <a:latin typeface="Courier New"/>
              </a:defRPr>
            </a:pPr>
            <a:r>
              <a:t>│  │  • Types/Interfaces: PascalCase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FOLLOW-ALONG RULES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1. Type every line. Don't copy-paste blindly.              │   │</a:t>
            </a:r>
          </a:p>
          <a:p>
            <a:pPr>
              <a:lnSpc>
                <a:spcPct val="100000"/>
              </a:lnSpc>
              <a:spcBef>
                <a:spcPts val="0"/>
              </a:spcBef>
              <a:spcAft>
                <a:spcPts val="100"/>
              </a:spcAft>
              <a:defRPr sz="800">
                <a:solidFill>
                  <a:srgbClr val="000000"/>
                </a:solidFill>
                <a:latin typeface="Courier New"/>
              </a:defRPr>
            </a:pPr>
            <a:r>
              <a:t>│  │  2. Run every verification step.                            │   │</a:t>
            </a:r>
          </a:p>
          <a:p>
            <a:pPr>
              <a:lnSpc>
                <a:spcPct val="100000"/>
              </a:lnSpc>
              <a:spcBef>
                <a:spcPts val="0"/>
              </a:spcBef>
              <a:spcAft>
                <a:spcPts val="100"/>
              </a:spcAft>
              <a:defRPr sz="800">
                <a:solidFill>
                  <a:srgbClr val="000000"/>
                </a:solidFill>
                <a:latin typeface="Courier New"/>
              </a:defRPr>
            </a:pPr>
            <a:r>
              <a:t>│  │  3. Keep a learning log of errors and solutions.            │   │</a:t>
            </a:r>
          </a:p>
          <a:p>
            <a:pPr>
              <a:lnSpc>
                <a:spcPct val="100000"/>
              </a:lnSpc>
              <a:spcBef>
                <a:spcPts val="0"/>
              </a:spcBef>
              <a:spcAft>
                <a:spcPts val="100"/>
              </a:spcAft>
              <a:defRPr sz="800">
                <a:solidFill>
                  <a:srgbClr val="000000"/>
                </a:solidFill>
                <a:latin typeface="Courier New"/>
              </a:defRPr>
            </a:pPr>
            <a:r>
              <a:t>│  │  4. Experiment. Extend. Break things. Fix them.             │   │</a:t>
            </a:r>
          </a:p>
          <a:p>
            <a:pPr>
              <a:lnSpc>
                <a:spcPct val="100000"/>
              </a:lnSpc>
              <a:spcBef>
                <a:spcPts val="0"/>
              </a:spcBef>
              <a:spcAft>
                <a:spcPts val="100"/>
              </a:spcAft>
              <a:defRPr sz="800">
                <a:solidFill>
                  <a:srgbClr val="000000"/>
                </a:solidFill>
                <a:latin typeface="Courier New"/>
              </a:defRPr>
            </a:pPr>
            <a:r>
              <a:t>│  │  5. Ask questions. There are no stupid questions.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CODE BLOCK LABELS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File paths shown at top of code blocks                   │   │</a:t>
            </a:r>
          </a:p>
          <a:p>
            <a:pPr>
              <a:lnSpc>
                <a:spcPct val="100000"/>
              </a:lnSpc>
              <a:spcBef>
                <a:spcPts val="0"/>
              </a:spcBef>
              <a:spcAft>
                <a:spcPts val="100"/>
              </a:spcAft>
              <a:defRPr sz="800">
                <a:solidFill>
                  <a:srgbClr val="000000"/>
                </a:solidFill>
                <a:latin typeface="Courier New"/>
              </a:defRPr>
            </a:pPr>
            <a:r>
              <a:t>│  │  • Verification steps highlighted                          │   │</a:t>
            </a:r>
          </a:p>
          <a:p>
            <a:pPr>
              <a:lnSpc>
                <a:spcPct val="100000"/>
              </a:lnSpc>
              <a:spcBef>
                <a:spcPts val="0"/>
              </a:spcBef>
              <a:spcAft>
                <a:spcPts val="100"/>
              </a:spcAft>
              <a:defRPr sz="800">
                <a:solidFill>
                  <a:srgbClr val="000000"/>
                </a:solidFill>
                <a:latin typeface="Courier New"/>
              </a:defRPr>
            </a:pPr>
            <a:r>
              <a:t>│  │  • Terminal commands prefixed with $                        │   │</a:t>
            </a:r>
          </a:p>
          <a:p>
            <a:pPr>
              <a:lnSpc>
                <a:spcPct val="100000"/>
              </a:lnSpc>
              <a:spcBef>
                <a:spcPts val="0"/>
              </a:spcBef>
              <a:spcAft>
                <a:spcPts val="100"/>
              </a:spcAft>
              <a:defRPr sz="800">
                <a:solidFill>
                  <a:srgbClr val="000000"/>
                </a:solidFill>
                <a:latin typeface="Courier New"/>
              </a:defRPr>
            </a:pPr>
            <a:r>
              <a:t>│  │  • Expected output shown for each verification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S1.1  The Evolution of AI-Powered Software</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THE EVOLUTION OF AI-POWERED SOFTWARE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TIMELINE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2018-2020        2020-2022        2022-2024      2024+    │   │</a:t>
            </a:r>
          </a:p>
          <a:p>
            <a:pPr>
              <a:lnSpc>
                <a:spcPct val="100000"/>
              </a:lnSpc>
              <a:spcBef>
                <a:spcPts val="0"/>
              </a:spcBef>
              <a:spcAft>
                <a:spcPts val="100"/>
              </a:spcAft>
              <a:defRPr sz="800">
                <a:solidFill>
                  <a:srgbClr val="000000"/>
                </a:solidFill>
                <a:latin typeface="Courier New"/>
              </a:defRPr>
            </a:pPr>
            <a:r>
              <a:t>│  │     │                │                │             │       │   │</a:t>
            </a:r>
          </a:p>
          <a:p>
            <a:pPr>
              <a:lnSpc>
                <a:spcPct val="100000"/>
              </a:lnSpc>
              <a:spcBef>
                <a:spcPts val="0"/>
              </a:spcBef>
              <a:spcAft>
                <a:spcPts val="100"/>
              </a:spcAft>
              <a:defRPr sz="800">
                <a:solidFill>
                  <a:srgbClr val="000000"/>
                </a:solidFill>
                <a:latin typeface="Courier New"/>
              </a:defRPr>
            </a:pPr>
            <a:r>
              <a:t>│  │     ▼                ▼                ▼             ▼       │   │</a:t>
            </a:r>
          </a:p>
          <a:p>
            <a:pPr>
              <a:lnSpc>
                <a:spcPct val="100000"/>
              </a:lnSpc>
              <a:spcBef>
                <a:spcPts val="0"/>
              </a:spcBef>
              <a:spcAft>
                <a:spcPts val="100"/>
              </a:spcAft>
              <a:defRPr sz="800">
                <a:solidFill>
                  <a:srgbClr val="000000"/>
                </a:solidFill>
                <a:latin typeface="Courier New"/>
              </a:defRPr>
            </a:pPr>
            <a:r>
              <a:t>│  │  ┌──────┐       ┌──────────┐    ┌─────────┐  ┌──────────┐ │   │</a:t>
            </a:r>
          </a:p>
          <a:p>
            <a:pPr>
              <a:lnSpc>
                <a:spcPct val="100000"/>
              </a:lnSpc>
              <a:spcBef>
                <a:spcPts val="0"/>
              </a:spcBef>
              <a:spcAft>
                <a:spcPts val="100"/>
              </a:spcAft>
              <a:defRPr sz="800">
                <a:solidFill>
                  <a:srgbClr val="000000"/>
                </a:solidFill>
                <a:latin typeface="Courier New"/>
              </a:defRPr>
            </a:pPr>
            <a:r>
              <a:t>│  │  │ Chat │──────►│ Function │───►│   MCP   │─►│   A2A    │ │   │</a:t>
            </a:r>
          </a:p>
          <a:p>
            <a:pPr>
              <a:lnSpc>
                <a:spcPct val="100000"/>
              </a:lnSpc>
              <a:spcBef>
                <a:spcPts val="0"/>
              </a:spcBef>
              <a:spcAft>
                <a:spcPts val="100"/>
              </a:spcAft>
              <a:defRPr sz="800">
                <a:solidFill>
                  <a:srgbClr val="000000"/>
                </a:solidFill>
                <a:latin typeface="Courier New"/>
              </a:defRPr>
            </a:pPr>
            <a:r>
              <a:t>│  │  │ Bots │       │  Calling │    │Protocol │  │Protocol  │ │   │</a:t>
            </a:r>
          </a:p>
          <a:p>
            <a:pPr>
              <a:lnSpc>
                <a:spcPct val="100000"/>
              </a:lnSpc>
              <a:spcBef>
                <a:spcPts val="0"/>
              </a:spcBef>
              <a:spcAft>
                <a:spcPts val="100"/>
              </a:spcAft>
              <a:defRPr sz="800">
                <a:solidFill>
                  <a:srgbClr val="000000"/>
                </a:solidFill>
                <a:latin typeface="Courier New"/>
              </a:defRPr>
            </a:pPr>
            <a:r>
              <a:t>│  │  └──────┘       └──────────┘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PHASE DESCRIPTIONS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Phase 1: Simple Chatbots                                    │   │</a:t>
            </a:r>
          </a:p>
          <a:p>
            <a:pPr>
              <a:lnSpc>
                <a:spcPct val="100000"/>
              </a:lnSpc>
              <a:spcBef>
                <a:spcPts val="0"/>
              </a:spcBef>
              <a:spcAft>
                <a:spcPts val="100"/>
              </a:spcAft>
              <a:defRPr sz="800">
                <a:solidFill>
                  <a:srgbClr val="000000"/>
                </a:solidFill>
                <a:latin typeface="Courier New"/>
              </a:defRPr>
            </a:pPr>
            <a:r>
              <a:t>│  │  • Single prompt-response                                   │   │</a:t>
            </a:r>
          </a:p>
          <a:p>
            <a:pPr>
              <a:lnSpc>
                <a:spcPct val="100000"/>
              </a:lnSpc>
              <a:spcBef>
                <a:spcPts val="0"/>
              </a:spcBef>
              <a:spcAft>
                <a:spcPts val="100"/>
              </a:spcAft>
              <a:defRPr sz="800">
                <a:solidFill>
                  <a:srgbClr val="000000"/>
                </a:solidFill>
                <a:latin typeface="Courier New"/>
              </a:defRPr>
            </a:pPr>
            <a:r>
              <a:t>│  │  • No external interactions                                 │   │</a:t>
            </a:r>
          </a:p>
          <a:p>
            <a:pPr>
              <a:lnSpc>
                <a:spcPct val="100000"/>
              </a:lnSpc>
              <a:spcBef>
                <a:spcPts val="0"/>
              </a:spcBef>
              <a:spcAft>
                <a:spcPts val="100"/>
              </a:spcAft>
              <a:defRPr sz="800">
                <a:solidFill>
                  <a:srgbClr val="000000"/>
                </a:solidFill>
                <a:latin typeface="Courier New"/>
              </a:defRPr>
            </a:pPr>
            <a:r>
              <a:t>│  │  • Limited to training data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Phase 2: Function Calling                                  │   │</a:t>
            </a:r>
          </a:p>
          <a:p>
            <a:pPr>
              <a:lnSpc>
                <a:spcPct val="100000"/>
              </a:lnSpc>
              <a:spcBef>
                <a:spcPts val="0"/>
              </a:spcBef>
              <a:spcAft>
                <a:spcPts val="100"/>
              </a:spcAft>
              <a:defRPr sz="800">
                <a:solidFill>
                  <a:srgbClr val="000000"/>
                </a:solidFill>
                <a:latin typeface="Courier New"/>
              </a:defRPr>
            </a:pPr>
            <a:r>
              <a:t>│  │  • Custom integrations per service                         │   │</a:t>
            </a:r>
          </a:p>
          <a:p>
            <a:pPr>
              <a:lnSpc>
                <a:spcPct val="100000"/>
              </a:lnSpc>
              <a:spcBef>
                <a:spcPts val="0"/>
              </a:spcBef>
              <a:spcAft>
                <a:spcPts val="100"/>
              </a:spcAft>
              <a:defRPr sz="800">
                <a:solidFill>
                  <a:srgbClr val="000000"/>
                </a:solidFill>
                <a:latin typeface="Courier New"/>
              </a:defRPr>
            </a:pPr>
            <a:r>
              <a:t>│  │  • Proprietary formats                                     │   │</a:t>
            </a:r>
          </a:p>
          <a:p>
            <a:pPr>
              <a:lnSpc>
                <a:spcPct val="100000"/>
              </a:lnSpc>
              <a:spcBef>
                <a:spcPts val="0"/>
              </a:spcBef>
              <a:spcAft>
                <a:spcPts val="100"/>
              </a:spcAft>
              <a:defRPr sz="800">
                <a:solidFill>
                  <a:srgbClr val="000000"/>
                </a:solidFill>
                <a:latin typeface="Courier New"/>
              </a:defRPr>
            </a:pPr>
            <a:r>
              <a:t>│  │  • No standardization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Phase 3: MCP Protocol                                     │   │</a:t>
            </a:r>
          </a:p>
          <a:p>
            <a:pPr>
              <a:lnSpc>
                <a:spcPct val="100000"/>
              </a:lnSpc>
              <a:spcBef>
                <a:spcPts val="0"/>
              </a:spcBef>
              <a:spcAft>
                <a:spcPts val="100"/>
              </a:spcAft>
              <a:defRPr sz="800">
                <a:solidFill>
                  <a:srgbClr val="000000"/>
                </a:solidFill>
                <a:latin typeface="Courier New"/>
              </a:defRPr>
            </a:pPr>
            <a:r>
              <a:t>│  │  • Standardized tool access                                │   │</a:t>
            </a:r>
          </a:p>
          <a:p>
            <a:pPr>
              <a:lnSpc>
                <a:spcPct val="100000"/>
              </a:lnSpc>
              <a:spcBef>
                <a:spcPts val="0"/>
              </a:spcBef>
              <a:spcAft>
                <a:spcPts val="100"/>
              </a:spcAft>
              <a:defRPr sz="800">
                <a:solidFill>
                  <a:srgbClr val="000000"/>
                </a:solidFill>
                <a:latin typeface="Courier New"/>
              </a:defRPr>
            </a:pPr>
            <a:r>
              <a:t>│  │  • Universal compatibility                                 │   │</a:t>
            </a:r>
          </a:p>
          <a:p>
            <a:pPr>
              <a:lnSpc>
                <a:spcPct val="100000"/>
              </a:lnSpc>
              <a:spcBef>
                <a:spcPts val="0"/>
              </a:spcBef>
              <a:spcAft>
                <a:spcPts val="100"/>
              </a:spcAft>
              <a:defRPr sz="800">
                <a:solidFill>
                  <a:srgbClr val="000000"/>
                </a:solidFill>
                <a:latin typeface="Courier New"/>
              </a:defRPr>
            </a:pPr>
            <a:r>
              <a:t>│  │  • Dynamic discovery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Phase 4: A2A Protocol                                     │   │</a:t>
            </a:r>
          </a:p>
          <a:p>
            <a:pPr>
              <a:lnSpc>
                <a:spcPct val="100000"/>
              </a:lnSpc>
              <a:spcBef>
                <a:spcPts val="0"/>
              </a:spcBef>
              <a:spcAft>
                <a:spcPts val="100"/>
              </a:spcAft>
              <a:defRPr sz="800">
                <a:solidFill>
                  <a:srgbClr val="000000"/>
                </a:solidFill>
                <a:latin typeface="Courier New"/>
              </a:defRPr>
            </a:pPr>
            <a:r>
              <a:t>│  │  • Multi-agent collaboration                               │   │</a:t>
            </a:r>
          </a:p>
          <a:p>
            <a:pPr>
              <a:lnSpc>
                <a:spcPct val="100000"/>
              </a:lnSpc>
              <a:spcBef>
                <a:spcPts val="0"/>
              </a:spcBef>
              <a:spcAft>
                <a:spcPts val="100"/>
              </a:spcAft>
              <a:defRPr sz="800">
                <a:solidFill>
                  <a:srgbClr val="000000"/>
                </a:solidFill>
                <a:latin typeface="Courier New"/>
              </a:defRPr>
            </a:pPr>
            <a:r>
              <a:t>│  │  • Task delegation                                         │   │</a:t>
            </a:r>
          </a:p>
          <a:p>
            <a:pPr>
              <a:lnSpc>
                <a:spcPct val="100000"/>
              </a:lnSpc>
              <a:spcBef>
                <a:spcPts val="0"/>
              </a:spcBef>
              <a:spcAft>
                <a:spcPts val="100"/>
              </a:spcAft>
              <a:defRPr sz="800">
                <a:solidFill>
                  <a:srgbClr val="000000"/>
                </a:solidFill>
                <a:latin typeface="Courier New"/>
              </a:defRPr>
            </a:pPr>
            <a:r>
              <a:t>│  │  • Autonomous workflows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S1.2  The Problem MCP Solves</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THE PROBLEM MCP SOLVES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BEFORE MCP: CUSTOM INTEGRATIONS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  ┌──────────┐  ┌──────────┐          │</a:t>
            </a:r>
          </a:p>
          <a:p>
            <a:pPr>
              <a:lnSpc>
                <a:spcPct val="100000"/>
              </a:lnSpc>
              <a:spcBef>
                <a:spcPts val="0"/>
              </a:spcBef>
              <a:spcAft>
                <a:spcPts val="100"/>
              </a:spcAft>
              <a:defRPr sz="800">
                <a:solidFill>
                  <a:srgbClr val="000000"/>
                </a:solidFill>
                <a:latin typeface="Courier New"/>
              </a:defRPr>
            </a:pPr>
            <a:r>
              <a:t>│  │   Slack  │  │  GitHub  │  │Database  │  │   API   │          │</a:t>
            </a:r>
          </a:p>
          <a:p>
            <a:pPr>
              <a:lnSpc>
                <a:spcPct val="100000"/>
              </a:lnSpc>
              <a:spcBef>
                <a:spcPts val="0"/>
              </a:spcBef>
              <a:spcAft>
                <a:spcPts val="100"/>
              </a:spcAft>
              <a:defRPr sz="800">
                <a:solidFill>
                  <a:srgbClr val="000000"/>
                </a:solidFill>
                <a:latin typeface="Courier New"/>
              </a:defRPr>
            </a:pPr>
            <a:r>
              <a:t>│  │  ┌──────┐│  │ ┌──────┐ │  │ ┌──────┐ │  │ ┌──────┐│          │</a:t>
            </a:r>
          </a:p>
          <a:p>
            <a:pPr>
              <a:lnSpc>
                <a:spcPct val="100000"/>
              </a:lnSpc>
              <a:spcBef>
                <a:spcPts val="0"/>
              </a:spcBef>
              <a:spcAft>
                <a:spcPts val="100"/>
              </a:spcAft>
              <a:defRPr sz="800">
                <a:solidFill>
                  <a:srgbClr val="000000"/>
                </a:solidFill>
                <a:latin typeface="Courier New"/>
              </a:defRPr>
            </a:pPr>
            <a:r>
              <a:t>│  │  │Custom││  │ │Custom│ │  │ │Custom│ │  │ │Custom││          │</a:t>
            </a:r>
          </a:p>
          <a:p>
            <a:pPr>
              <a:lnSpc>
                <a:spcPct val="100000"/>
              </a:lnSpc>
              <a:spcBef>
                <a:spcPts val="0"/>
              </a:spcBef>
              <a:spcAft>
                <a:spcPts val="100"/>
              </a:spcAft>
              <a:defRPr sz="800">
                <a:solidFill>
                  <a:srgbClr val="000000"/>
                </a:solidFill>
                <a:latin typeface="Courier New"/>
              </a:defRPr>
            </a:pPr>
            <a:r>
              <a:t>│  │  │Code  ││  │ │Code  │ │  │ │Code  │ │  │ │Code  ││          │</a:t>
            </a:r>
          </a:p>
          <a:p>
            <a:pPr>
              <a:lnSpc>
                <a:spcPct val="100000"/>
              </a:lnSpc>
              <a:spcBef>
                <a:spcPts val="0"/>
              </a:spcBef>
              <a:spcAft>
                <a:spcPts val="100"/>
              </a:spcAft>
              <a:defRPr sz="800">
                <a:solidFill>
                  <a:srgbClr val="000000"/>
                </a:solidFill>
                <a:latin typeface="Courier New"/>
              </a:defRPr>
            </a:pPr>
            <a:r>
              <a:t>│  │  └──────┘│  │ └──────┘ │  │ └──────┘ │  │ └──────┘│          │</a:t>
            </a:r>
          </a:p>
          <a:p>
            <a:pPr>
              <a:lnSpc>
                <a:spcPct val="100000"/>
              </a:lnSpc>
              <a:spcBef>
                <a:spcPts val="0"/>
              </a:spcBef>
              <a:spcAft>
                <a:spcPts val="100"/>
              </a:spcAft>
              <a:defRPr sz="800">
                <a:solidFill>
                  <a:srgbClr val="000000"/>
                </a:solidFill>
                <a:latin typeface="Courier New"/>
              </a:defRPr>
            </a:pPr>
            <a:r>
              <a:t>│  └──────────┘  └──────────┘  └──────────┘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PROBLEMS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Every integration required custom code                   │   │</a:t>
            </a:r>
          </a:p>
          <a:p>
            <a:pPr>
              <a:lnSpc>
                <a:spcPct val="100000"/>
              </a:lnSpc>
              <a:spcBef>
                <a:spcPts val="0"/>
              </a:spcBef>
              <a:spcAft>
                <a:spcPts val="100"/>
              </a:spcAft>
              <a:defRPr sz="800">
                <a:solidFill>
                  <a:srgbClr val="000000"/>
                </a:solidFill>
                <a:latin typeface="Courier New"/>
              </a:defRPr>
            </a:pPr>
            <a:r>
              <a:t>│  │  ❌ No standardization of capabilities                      │   │</a:t>
            </a:r>
          </a:p>
          <a:p>
            <a:pPr>
              <a:lnSpc>
                <a:spcPct val="100000"/>
              </a:lnSpc>
              <a:spcBef>
                <a:spcPts val="0"/>
              </a:spcBef>
              <a:spcAft>
                <a:spcPts val="100"/>
              </a:spcAft>
              <a:defRPr sz="800">
                <a:solidFill>
                  <a:srgbClr val="000000"/>
                </a:solidFill>
                <a:latin typeface="Courier New"/>
              </a:defRPr>
            </a:pPr>
            <a:r>
              <a:t>│  │  ❌ Security handled differently per service                │   │</a:t>
            </a:r>
          </a:p>
          <a:p>
            <a:pPr>
              <a:lnSpc>
                <a:spcPct val="100000"/>
              </a:lnSpc>
              <a:spcBef>
                <a:spcPts val="0"/>
              </a:spcBef>
              <a:spcAft>
                <a:spcPts val="100"/>
              </a:spcAft>
              <a:defRPr sz="800">
                <a:solidFill>
                  <a:srgbClr val="000000"/>
                </a:solidFill>
                <a:latin typeface="Courier New"/>
              </a:defRPr>
            </a:pPr>
            <a:r>
              <a:t>│  │  ❌ Hard to add new integrations                            │   │</a:t>
            </a:r>
          </a:p>
          <a:p>
            <a:pPr>
              <a:lnSpc>
                <a:spcPct val="100000"/>
              </a:lnSpc>
              <a:spcBef>
                <a:spcPts val="0"/>
              </a:spcBef>
              <a:spcAft>
                <a:spcPts val="100"/>
              </a:spcAft>
              <a:defRPr sz="800">
                <a:solidFill>
                  <a:srgbClr val="000000"/>
                </a:solidFill>
                <a:latin typeface="Courier New"/>
              </a:defRPr>
            </a:pPr>
            <a:r>
              <a:t>│  │  ❌ No discovery mechanism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S1.3  The Solution MCP Provides</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THE SOLUTION MCP PROVIDES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WITH MCP: STANDARDIZED INTERFACE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AI Application    │                        │</a:t>
            </a:r>
          </a:p>
          <a:p>
            <a:pPr>
              <a:lnSpc>
                <a:spcPct val="100000"/>
              </a:lnSpc>
              <a:spcBef>
                <a:spcPts val="0"/>
              </a:spcBef>
              <a:spcAft>
                <a:spcPts val="100"/>
              </a:spcAft>
              <a:defRPr sz="800">
                <a:solidFill>
                  <a:srgbClr val="000000"/>
                </a:solidFill>
                <a:latin typeface="Courier New"/>
              </a:defRPr>
            </a:pPr>
            <a:r>
              <a:t>│                    │    (MCP Client)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JSON-RPC Messages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MCP Server        │                        │</a:t>
            </a:r>
          </a:p>
          <a:p>
            <a:pPr>
              <a:lnSpc>
                <a:spcPct val="100000"/>
              </a:lnSpc>
              <a:spcBef>
                <a:spcPts val="0"/>
              </a:spcBef>
              <a:spcAft>
                <a:spcPts val="100"/>
              </a:spcAft>
              <a:defRPr sz="800">
                <a:solidFill>
                  <a:srgbClr val="000000"/>
                </a:solidFill>
                <a:latin typeface="Courier New"/>
              </a:defRPr>
            </a:pPr>
            <a:r>
              <a:t>│                    │ (Standard Protocol)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Slack   │          │  GitHub  │          │Database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BENEFITS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Single protocol for all integrations                    │   │</a:t>
            </a:r>
          </a:p>
          <a:p>
            <a:pPr>
              <a:lnSpc>
                <a:spcPct val="100000"/>
              </a:lnSpc>
              <a:spcBef>
                <a:spcPts val="0"/>
              </a:spcBef>
              <a:spcAft>
                <a:spcPts val="100"/>
              </a:spcAft>
              <a:defRPr sz="800">
                <a:solidFill>
                  <a:srgbClr val="000000"/>
                </a:solidFill>
                <a:latin typeface="Courier New"/>
              </a:defRPr>
            </a:pPr>
            <a:r>
              <a:t>│  │  ✅ Dynamic capability discovery                            │   │</a:t>
            </a:r>
          </a:p>
          <a:p>
            <a:pPr>
              <a:lnSpc>
                <a:spcPct val="100000"/>
              </a:lnSpc>
              <a:spcBef>
                <a:spcPts val="0"/>
              </a:spcBef>
              <a:spcAft>
                <a:spcPts val="100"/>
              </a:spcAft>
              <a:defRPr sz="800">
                <a:solidFill>
                  <a:srgbClr val="000000"/>
                </a:solidFill>
                <a:latin typeface="Courier New"/>
              </a:defRPr>
            </a:pPr>
            <a:r>
              <a:t>│  │  ✅ Consistent security model                               │   │</a:t>
            </a:r>
          </a:p>
          <a:p>
            <a:pPr>
              <a:lnSpc>
                <a:spcPct val="100000"/>
              </a:lnSpc>
              <a:spcBef>
                <a:spcPts val="0"/>
              </a:spcBef>
              <a:spcAft>
                <a:spcPts val="100"/>
              </a:spcAft>
              <a:defRPr sz="800">
                <a:solidFill>
                  <a:srgbClr val="000000"/>
                </a:solidFill>
                <a:latin typeface="Courier New"/>
              </a:defRPr>
            </a:pPr>
            <a:r>
              <a:t>│  │  ✅ Easy to add new servers                                 │   │</a:t>
            </a:r>
          </a:p>
          <a:p>
            <a:pPr>
              <a:lnSpc>
                <a:spcPct val="100000"/>
              </a:lnSpc>
              <a:spcBef>
                <a:spcPts val="0"/>
              </a:spcBef>
              <a:spcAft>
                <a:spcPts val="100"/>
              </a:spcAft>
              <a:defRPr sz="800">
                <a:solidFill>
                  <a:srgbClr val="000000"/>
                </a:solidFill>
                <a:latin typeface="Courier New"/>
              </a:defRPr>
            </a:pPr>
            <a:r>
              <a:t>│  │  ✅ Standardized error handling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S1.4  MCP Definition &amp; Official Description</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MCP DEFINITION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OFFICIAL DEFINITION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"MCP is an open protocol that standardizes how             │   │</a:t>
            </a:r>
          </a:p>
          <a:p>
            <a:pPr>
              <a:lnSpc>
                <a:spcPct val="100000"/>
              </a:lnSpc>
              <a:spcBef>
                <a:spcPts val="0"/>
              </a:spcBef>
              <a:spcAft>
                <a:spcPts val="100"/>
              </a:spcAft>
              <a:defRPr sz="800">
                <a:solidFill>
                  <a:srgbClr val="000000"/>
                </a:solidFill>
                <a:latin typeface="Courier New"/>
              </a:defRPr>
            </a:pPr>
            <a:r>
              <a:t>│  │   applications provide context to LLMs. Think of MCP        │   │</a:t>
            </a:r>
          </a:p>
          <a:p>
            <a:pPr>
              <a:lnSpc>
                <a:spcPct val="100000"/>
              </a:lnSpc>
              <a:spcBef>
                <a:spcPts val="0"/>
              </a:spcBef>
              <a:spcAft>
                <a:spcPts val="100"/>
              </a:spcAft>
              <a:defRPr sz="800">
                <a:solidFill>
                  <a:srgbClr val="000000"/>
                </a:solidFill>
                <a:latin typeface="Courier New"/>
              </a:defRPr>
            </a:pPr>
            <a:r>
              <a:t>│  │   like a USB-C port for AI applications. Just as            │   │</a:t>
            </a:r>
          </a:p>
          <a:p>
            <a:pPr>
              <a:lnSpc>
                <a:spcPct val="100000"/>
              </a:lnSpc>
              <a:spcBef>
                <a:spcPts val="0"/>
              </a:spcBef>
              <a:spcAft>
                <a:spcPts val="100"/>
              </a:spcAft>
              <a:defRPr sz="800">
                <a:solidFill>
                  <a:srgbClr val="000000"/>
                </a:solidFill>
                <a:latin typeface="Courier New"/>
              </a:defRPr>
            </a:pPr>
            <a:r>
              <a:t>│  │   USB-C provides a standardized way to connect your         │   │</a:t>
            </a:r>
          </a:p>
          <a:p>
            <a:pPr>
              <a:lnSpc>
                <a:spcPct val="100000"/>
              </a:lnSpc>
              <a:spcBef>
                <a:spcPts val="0"/>
              </a:spcBef>
              <a:spcAft>
                <a:spcPts val="100"/>
              </a:spcAft>
              <a:defRPr sz="800">
                <a:solidFill>
                  <a:srgbClr val="000000"/>
                </a:solidFill>
                <a:latin typeface="Courier New"/>
              </a:defRPr>
            </a:pPr>
            <a:r>
              <a:t>│  │   devices to various peripherals and accessories,           │   │</a:t>
            </a:r>
          </a:p>
          <a:p>
            <a:pPr>
              <a:lnSpc>
                <a:spcPct val="100000"/>
              </a:lnSpc>
              <a:spcBef>
                <a:spcPts val="0"/>
              </a:spcBef>
              <a:spcAft>
                <a:spcPts val="100"/>
              </a:spcAft>
              <a:defRPr sz="800">
                <a:solidFill>
                  <a:srgbClr val="000000"/>
                </a:solidFill>
                <a:latin typeface="Courier New"/>
              </a:defRPr>
            </a:pPr>
            <a:r>
              <a:t>│  │   MCP provides a standardized way to connect AI             │   │</a:t>
            </a:r>
          </a:p>
          <a:p>
            <a:pPr>
              <a:lnSpc>
                <a:spcPct val="100000"/>
              </a:lnSpc>
              <a:spcBef>
                <a:spcPts val="0"/>
              </a:spcBef>
              <a:spcAft>
                <a:spcPts val="100"/>
              </a:spcAft>
              <a:defRPr sz="800">
                <a:solidFill>
                  <a:srgbClr val="000000"/>
                </a:solidFill>
                <a:latin typeface="Courier New"/>
              </a:defRPr>
            </a:pPr>
            <a:r>
              <a:t>│  │   models to different data sources and tools."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KEY TAKEAWAYS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1. It's an OPEN PROTOCOL (not proprietary)                 │   │</a:t>
            </a:r>
          </a:p>
          <a:p>
            <a:pPr>
              <a:lnSpc>
                <a:spcPct val="100000"/>
              </a:lnSpc>
              <a:spcBef>
                <a:spcPts val="0"/>
              </a:spcBef>
              <a:spcAft>
                <a:spcPts val="100"/>
              </a:spcAft>
              <a:defRPr sz="800">
                <a:solidFill>
                  <a:srgbClr val="000000"/>
                </a:solidFill>
                <a:latin typeface="Courier New"/>
              </a:defRPr>
            </a:pPr>
            <a:r>
              <a:t>│  │  2. It STANDARDIZES how AI connects to tools               │   │</a:t>
            </a:r>
          </a:p>
          <a:p>
            <a:pPr>
              <a:lnSpc>
                <a:spcPct val="100000"/>
              </a:lnSpc>
              <a:spcBef>
                <a:spcPts val="0"/>
              </a:spcBef>
              <a:spcAft>
                <a:spcPts val="100"/>
              </a:spcAft>
              <a:defRPr sz="800">
                <a:solidFill>
                  <a:srgbClr val="000000"/>
                </a:solidFill>
                <a:latin typeface="Courier New"/>
              </a:defRPr>
            </a:pPr>
            <a:r>
              <a:t>│  │  3. It's like USB-C for AI                                 │   │</a:t>
            </a:r>
          </a:p>
          <a:p>
            <a:pPr>
              <a:lnSpc>
                <a:spcPct val="100000"/>
              </a:lnSpc>
              <a:spcBef>
                <a:spcPts val="0"/>
              </a:spcBef>
              <a:spcAft>
                <a:spcPts val="100"/>
              </a:spcAft>
              <a:defRPr sz="800">
                <a:solidFill>
                  <a:srgbClr val="000000"/>
                </a:solidFill>
                <a:latin typeface="Courier New"/>
              </a:defRPr>
            </a:pPr>
            <a:r>
              <a:t>│  │  4. It supports ANY data source or tool                    │   │</a:t>
            </a:r>
          </a:p>
          <a:p>
            <a:pPr>
              <a:lnSpc>
                <a:spcPct val="100000"/>
              </a:lnSpc>
              <a:spcBef>
                <a:spcPts val="0"/>
              </a:spcBef>
              <a:spcAft>
                <a:spcPts val="100"/>
              </a:spcAft>
              <a:defRPr sz="800">
                <a:solidFill>
                  <a:srgbClr val="000000"/>
                </a:solidFill>
                <a:latin typeface="Courier New"/>
              </a:defRPr>
            </a:pPr>
            <a:r>
              <a:t>│  │  5. It works with ANY LLM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S1.5  MCP Architecture Diagram</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MCP ARCHITECTURE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AI APPLICATION LAYER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MCP Client                         │ │   │</a:t>
            </a:r>
          </a:p>
          <a:p>
            <a:pPr>
              <a:lnSpc>
                <a:spcPct val="100000"/>
              </a:lnSpc>
              <a:spcBef>
                <a:spcPts val="0"/>
              </a:spcBef>
              <a:spcAft>
                <a:spcPts val="100"/>
              </a:spcAft>
              <a:defRPr sz="800">
                <a:solidFill>
                  <a:srgbClr val="000000"/>
                </a:solidFill>
                <a:latin typeface="Courier New"/>
              </a:defRPr>
            </a:pPr>
            <a:r>
              <a:t>│  │  │  ┌──────────┐  ┌──────────┐  ┌──────────┐           │ │   │</a:t>
            </a:r>
          </a:p>
          <a:p>
            <a:pPr>
              <a:lnSpc>
                <a:spcPct val="100000"/>
              </a:lnSpc>
              <a:spcBef>
                <a:spcPts val="0"/>
              </a:spcBef>
              <a:spcAft>
                <a:spcPts val="100"/>
              </a:spcAft>
              <a:defRPr sz="800">
                <a:solidFill>
                  <a:srgbClr val="000000"/>
                </a:solidFill>
                <a:latin typeface="Courier New"/>
              </a:defRPr>
            </a:pPr>
            <a:r>
              <a:t>│  │  │  │Discovery │  │Invocation│  │Resources │           │ │   │</a:t>
            </a:r>
          </a:p>
          <a:p>
            <a:pPr>
              <a:lnSpc>
                <a:spcPct val="100000"/>
              </a:lnSpc>
              <a:spcBef>
                <a:spcPts val="0"/>
              </a:spcBef>
              <a:spcAft>
                <a:spcPts val="100"/>
              </a:spcAft>
              <a:defRPr sz="800">
                <a:solidFill>
                  <a:srgbClr val="000000"/>
                </a:solidFill>
                <a:latin typeface="Courier New"/>
              </a:defRPr>
            </a:pPr>
            <a:r>
              <a:t>│  │  │  └──────────┘  └──────────┘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TRANSPORT LAYER                           │   │</a:t>
            </a:r>
          </a:p>
          <a:p>
            <a:pPr>
              <a:lnSpc>
                <a:spcPct val="100000"/>
              </a:lnSpc>
              <a:spcBef>
                <a:spcPts val="0"/>
              </a:spcBef>
              <a:spcAft>
                <a:spcPts val="100"/>
              </a:spcAft>
              <a:defRPr sz="800">
                <a:solidFill>
                  <a:srgbClr val="000000"/>
                </a:solidFill>
                <a:latin typeface="Courier New"/>
              </a:defRPr>
            </a:pPr>
            <a:r>
              <a:t>│  │  ┌──────────┐  ┌──────────┐  ┌──────────┐  ┌──────────┐  │   │</a:t>
            </a:r>
          </a:p>
          <a:p>
            <a:pPr>
              <a:lnSpc>
                <a:spcPct val="100000"/>
              </a:lnSpc>
              <a:spcBef>
                <a:spcPts val="0"/>
              </a:spcBef>
              <a:spcAft>
                <a:spcPts val="100"/>
              </a:spcAft>
              <a:defRPr sz="800">
                <a:solidFill>
                  <a:srgbClr val="000000"/>
                </a:solidFill>
                <a:latin typeface="Courier New"/>
              </a:defRPr>
            </a:pPr>
            <a:r>
              <a:t>│  │  │  stdio   │  │WebSocket │  │   HTTP   │  │   SSE    │  │   │</a:t>
            </a:r>
          </a:p>
          <a:p>
            <a:pPr>
              <a:lnSpc>
                <a:spcPct val="100000"/>
              </a:lnSpc>
              <a:spcBef>
                <a:spcPts val="0"/>
              </a:spcBef>
              <a:spcAft>
                <a:spcPts val="100"/>
              </a:spcAft>
              <a:defRPr sz="800">
                <a:solidFill>
                  <a:srgbClr val="000000"/>
                </a:solidFill>
                <a:latin typeface="Courier New"/>
              </a:defRPr>
            </a:pPr>
            <a:r>
              <a:t>│  │  └──────────┘  └──────────┘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JSON-RPC 2.0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Request │ Response │ Error │ Notification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MCP SERVER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Tools   │  │Resources │  │ Prompts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EXTERNAL SYSTEMS                          │   │</a:t>
            </a:r>
          </a:p>
          <a:p>
            <a:pPr>
              <a:lnSpc>
                <a:spcPct val="100000"/>
              </a:lnSpc>
              <a:spcBef>
                <a:spcPts val="0"/>
              </a:spcBef>
              <a:spcAft>
                <a:spcPts val="100"/>
              </a:spcAft>
              <a:defRPr sz="800">
                <a:solidFill>
                  <a:srgbClr val="000000"/>
                </a:solidFill>
                <a:latin typeface="Courier New"/>
              </a:defRPr>
            </a:pPr>
            <a:r>
              <a:t>│  │  APIs  │  Databases  │  Filesystems  │  Services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S1.6  The Three Pillars of MCP</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THE THREE PILLARS OF MCP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TOOLS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Executable functions that the AI can call      │   │   │</a:t>
            </a:r>
          </a:p>
          <a:p>
            <a:pPr>
              <a:lnSpc>
                <a:spcPct val="100000"/>
              </a:lnSpc>
              <a:spcBef>
                <a:spcPts val="0"/>
              </a:spcBef>
              <a:spcAft>
                <a:spcPts val="100"/>
              </a:spcAft>
              <a:defRPr sz="800">
                <a:solidFill>
                  <a:srgbClr val="000000"/>
                </a:solidFill>
                <a:latin typeface="Courier New"/>
              </a:defRPr>
            </a:pPr>
            <a:r>
              <a:t>│  │  │  • Represent ACTIONS the AI can take              │   │   │</a:t>
            </a:r>
          </a:p>
          <a:p>
            <a:pPr>
              <a:lnSpc>
                <a:spcPct val="100000"/>
              </a:lnSpc>
              <a:spcBef>
                <a:spcPts val="0"/>
              </a:spcBef>
              <a:spcAft>
                <a:spcPts val="100"/>
              </a:spcAft>
              <a:defRPr sz="800">
                <a:solidFill>
                  <a:srgbClr val="000000"/>
                </a:solidFill>
                <a:latin typeface="Courier New"/>
              </a:defRPr>
            </a:pPr>
            <a:r>
              <a:t>│  │  │  • Example: send_email(to, subject, body)         │   │   │</a:t>
            </a:r>
          </a:p>
          <a:p>
            <a:pPr>
              <a:lnSpc>
                <a:spcPct val="100000"/>
              </a:lnSpc>
              <a:spcBef>
                <a:spcPts val="0"/>
              </a:spcBef>
              <a:spcAft>
                <a:spcPts val="100"/>
              </a:spcAft>
              <a:defRPr sz="800">
                <a:solidFill>
                  <a:srgbClr val="000000"/>
                </a:solidFill>
                <a:latin typeface="Courier New"/>
              </a:defRPr>
            </a:pPr>
            <a:r>
              <a:t>│  │  │  • Input schema validation                        │   │   │</a:t>
            </a:r>
          </a:p>
          <a:p>
            <a:pPr>
              <a:lnSpc>
                <a:spcPct val="100000"/>
              </a:lnSpc>
              <a:spcBef>
                <a:spcPts val="0"/>
              </a:spcBef>
              <a:spcAft>
                <a:spcPts val="100"/>
              </a:spcAft>
              <a:defRPr sz="800">
                <a:solidFill>
                  <a:srgbClr val="000000"/>
                </a:solidFill>
                <a:latin typeface="Courier New"/>
              </a:defRPr>
            </a:pPr>
            <a:r>
              <a:t>│  │  │  • Can have side effects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RESOURCES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Data that the AI can READ                       │   │   │</a:t>
            </a:r>
          </a:p>
          <a:p>
            <a:pPr>
              <a:lnSpc>
                <a:spcPct val="100000"/>
              </a:lnSpc>
              <a:spcBef>
                <a:spcPts val="0"/>
              </a:spcBef>
              <a:spcAft>
                <a:spcPts val="100"/>
              </a:spcAft>
              <a:defRPr sz="800">
                <a:solidFill>
                  <a:srgbClr val="000000"/>
                </a:solidFill>
                <a:latin typeface="Courier New"/>
              </a:defRPr>
            </a:pPr>
            <a:r>
              <a:t>│  │  │  • Represent INFORMATION the AI can access         │   │   │</a:t>
            </a:r>
          </a:p>
          <a:p>
            <a:pPr>
              <a:lnSpc>
                <a:spcPct val="100000"/>
              </a:lnSpc>
              <a:spcBef>
                <a:spcPts val="0"/>
              </a:spcBef>
              <a:spcAft>
                <a:spcPts val="100"/>
              </a:spcAft>
              <a:defRPr sz="800">
                <a:solidFill>
                  <a:srgbClr val="000000"/>
                </a:solidFill>
                <a:latin typeface="Courier New"/>
              </a:defRPr>
            </a:pPr>
            <a:r>
              <a:t>│  │  │  • URI-based identification                        │   │   │</a:t>
            </a:r>
          </a:p>
          <a:p>
            <a:pPr>
              <a:lnSpc>
                <a:spcPct val="100000"/>
              </a:lnSpc>
              <a:spcBef>
                <a:spcPts val="0"/>
              </a:spcBef>
              <a:spcAft>
                <a:spcPts val="100"/>
              </a:spcAft>
              <a:defRPr sz="800">
                <a:solidFill>
                  <a:srgbClr val="000000"/>
                </a:solidFill>
                <a:latin typeface="Courier New"/>
              </a:defRPr>
            </a:pPr>
            <a:r>
              <a:t>│  │  │  • Example: system://info                          │   │   │</a:t>
            </a:r>
          </a:p>
          <a:p>
            <a:pPr>
              <a:lnSpc>
                <a:spcPct val="100000"/>
              </a:lnSpc>
              <a:spcBef>
                <a:spcPts val="0"/>
              </a:spcBef>
              <a:spcAft>
                <a:spcPts val="100"/>
              </a:spcAft>
              <a:defRPr sz="800">
                <a:solidFill>
                  <a:srgbClr val="000000"/>
                </a:solidFill>
                <a:latin typeface="Courier New"/>
              </a:defRPr>
            </a:pPr>
            <a:r>
              <a:t>│  │  │  • MIME type specified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PROMPTS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Templates that guide AI behavior                │   │   │</a:t>
            </a:r>
          </a:p>
          <a:p>
            <a:pPr>
              <a:lnSpc>
                <a:spcPct val="100000"/>
              </a:lnSpc>
              <a:spcBef>
                <a:spcPts val="0"/>
              </a:spcBef>
              <a:spcAft>
                <a:spcPts val="100"/>
              </a:spcAft>
              <a:defRPr sz="800">
                <a:solidFill>
                  <a:srgbClr val="000000"/>
                </a:solidFill>
                <a:latin typeface="Courier New"/>
              </a:defRPr>
            </a:pPr>
            <a:r>
              <a:t>│  │  │  • Represent STRUCTURE for AI interactions         │   │   │</a:t>
            </a:r>
          </a:p>
          <a:p>
            <a:pPr>
              <a:lnSpc>
                <a:spcPct val="100000"/>
              </a:lnSpc>
              <a:spcBef>
                <a:spcPts val="0"/>
              </a:spcBef>
              <a:spcAft>
                <a:spcPts val="100"/>
              </a:spcAft>
              <a:defRPr sz="800">
                <a:solidFill>
                  <a:srgbClr val="000000"/>
                </a:solidFill>
                <a:latin typeface="Courier New"/>
              </a:defRPr>
            </a:pPr>
            <a:r>
              <a:t>│  │  │  • Variables for customization                     │   │   │</a:t>
            </a:r>
          </a:p>
          <a:p>
            <a:pPr>
              <a:lnSpc>
                <a:spcPct val="100000"/>
              </a:lnSpc>
              <a:spcBef>
                <a:spcPts val="0"/>
              </a:spcBef>
              <a:spcAft>
                <a:spcPts val="100"/>
              </a:spcAft>
              <a:defRPr sz="800">
                <a:solidFill>
                  <a:srgbClr val="000000"/>
                </a:solidFill>
                <a:latin typeface="Courier New"/>
              </a:defRPr>
            </a:pPr>
            <a:r>
              <a:t>│  │  │  • Example: code_review_prompt                     │   │   │</a:t>
            </a:r>
          </a:p>
          <a:p>
            <a:pPr>
              <a:lnSpc>
                <a:spcPct val="100000"/>
              </a:lnSpc>
              <a:spcBef>
                <a:spcPts val="0"/>
              </a:spcBef>
              <a:spcAft>
                <a:spcPts val="100"/>
              </a:spcAft>
              <a:defRPr sz="800">
                <a:solidFill>
                  <a:srgbClr val="000000"/>
                </a:solidFill>
                <a:latin typeface="Courier New"/>
              </a:defRPr>
            </a:pPr>
            <a:r>
              <a:t>│  │  │  • Reusable across sessions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S1.7  Tools Deep Dive</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TOOLS DEEP DIVE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TOOL DEFINITION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"name": "send_email",                                    │   │</a:t>
            </a:r>
          </a:p>
          <a:p>
            <a:pPr>
              <a:lnSpc>
                <a:spcPct val="100000"/>
              </a:lnSpc>
              <a:spcBef>
                <a:spcPts val="0"/>
              </a:spcBef>
              <a:spcAft>
                <a:spcPts val="100"/>
              </a:spcAft>
              <a:defRPr sz="800">
                <a:solidFill>
                  <a:srgbClr val="000000"/>
                </a:solidFill>
                <a:latin typeface="Courier New"/>
              </a:defRPr>
            </a:pPr>
            <a:r>
              <a:t>│  │    "description": "Send an email to a recipient",           │   │</a:t>
            </a:r>
          </a:p>
          <a:p>
            <a:pPr>
              <a:lnSpc>
                <a:spcPct val="100000"/>
              </a:lnSpc>
              <a:spcBef>
                <a:spcPts val="0"/>
              </a:spcBef>
              <a:spcAft>
                <a:spcPts val="100"/>
              </a:spcAft>
              <a:defRPr sz="800">
                <a:solidFill>
                  <a:srgbClr val="000000"/>
                </a:solidFill>
                <a:latin typeface="Courier New"/>
              </a:defRPr>
            </a:pPr>
            <a:r>
              <a:t>│  │    "inputSchema": {                                         │   │</a:t>
            </a:r>
          </a:p>
          <a:p>
            <a:pPr>
              <a:lnSpc>
                <a:spcPct val="100000"/>
              </a:lnSpc>
              <a:spcBef>
                <a:spcPts val="0"/>
              </a:spcBef>
              <a:spcAft>
                <a:spcPts val="100"/>
              </a:spcAft>
              <a:defRPr sz="800">
                <a:solidFill>
                  <a:srgbClr val="000000"/>
                </a:solidFill>
                <a:latin typeface="Courier New"/>
              </a:defRPr>
            </a:pPr>
            <a:r>
              <a:t>│  │      "type": "object",                                      │   │</a:t>
            </a:r>
          </a:p>
          <a:p>
            <a:pPr>
              <a:lnSpc>
                <a:spcPct val="100000"/>
              </a:lnSpc>
              <a:spcBef>
                <a:spcPts val="0"/>
              </a:spcBef>
              <a:spcAft>
                <a:spcPts val="100"/>
              </a:spcAft>
              <a:defRPr sz="800">
                <a:solidFill>
                  <a:srgbClr val="000000"/>
                </a:solidFill>
                <a:latin typeface="Courier New"/>
              </a:defRPr>
            </a:pPr>
            <a:r>
              <a:t>│  │      "properties": {                                        │   │</a:t>
            </a:r>
          </a:p>
          <a:p>
            <a:pPr>
              <a:lnSpc>
                <a:spcPct val="100000"/>
              </a:lnSpc>
              <a:spcBef>
                <a:spcPts val="0"/>
              </a:spcBef>
              <a:spcAft>
                <a:spcPts val="100"/>
              </a:spcAft>
              <a:defRPr sz="800">
                <a:solidFill>
                  <a:srgbClr val="000000"/>
                </a:solidFill>
                <a:latin typeface="Courier New"/>
              </a:defRPr>
            </a:pPr>
            <a:r>
              <a:t>│  │        "to": { "type": "string", "description": "..." },   │   │</a:t>
            </a:r>
          </a:p>
          <a:p>
            <a:pPr>
              <a:lnSpc>
                <a:spcPct val="100000"/>
              </a:lnSpc>
              <a:spcBef>
                <a:spcPts val="0"/>
              </a:spcBef>
              <a:spcAft>
                <a:spcPts val="100"/>
              </a:spcAft>
              <a:defRPr sz="800">
                <a:solidFill>
                  <a:srgbClr val="000000"/>
                </a:solidFill>
                <a:latin typeface="Courier New"/>
              </a:defRPr>
            </a:pPr>
            <a:r>
              <a:t>│  │        "subject": { "type": "string" },                    │   │</a:t>
            </a:r>
          </a:p>
          <a:p>
            <a:pPr>
              <a:lnSpc>
                <a:spcPct val="100000"/>
              </a:lnSpc>
              <a:spcBef>
                <a:spcPts val="0"/>
              </a:spcBef>
              <a:spcAft>
                <a:spcPts val="100"/>
              </a:spcAft>
              <a:defRPr sz="800">
                <a:solidFill>
                  <a:srgbClr val="000000"/>
                </a:solidFill>
                <a:latin typeface="Courier New"/>
              </a:defRPr>
            </a:pPr>
            <a:r>
              <a:t>│  │        "body": { "type": "string"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"required": ["to", "subject", "body"]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TOOL CHARACTERISTICS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Named operations with descriptions              │   │   │</a:t>
            </a:r>
          </a:p>
          <a:p>
            <a:pPr>
              <a:lnSpc>
                <a:spcPct val="100000"/>
              </a:lnSpc>
              <a:spcBef>
                <a:spcPts val="0"/>
              </a:spcBef>
              <a:spcAft>
                <a:spcPts val="100"/>
              </a:spcAft>
              <a:defRPr sz="800">
                <a:solidFill>
                  <a:srgbClr val="000000"/>
                </a:solidFill>
                <a:latin typeface="Courier New"/>
              </a:defRPr>
            </a:pPr>
            <a:r>
              <a:t>│  │  │  🔹 Input schema (JSON Schema) for validation       │   │   │</a:t>
            </a:r>
          </a:p>
          <a:p>
            <a:pPr>
              <a:lnSpc>
                <a:spcPct val="100000"/>
              </a:lnSpc>
              <a:spcBef>
                <a:spcPts val="0"/>
              </a:spcBef>
              <a:spcAft>
                <a:spcPts val="100"/>
              </a:spcAft>
              <a:defRPr sz="800">
                <a:solidFill>
                  <a:srgbClr val="000000"/>
                </a:solidFill>
                <a:latin typeface="Courier New"/>
              </a:defRPr>
            </a:pPr>
            <a:r>
              <a:t>│  │  │  🔹 Output format (text, JSON, binary)              │   │   │</a:t>
            </a:r>
          </a:p>
          <a:p>
            <a:pPr>
              <a:lnSpc>
                <a:spcPct val="100000"/>
              </a:lnSpc>
              <a:spcBef>
                <a:spcPts val="0"/>
              </a:spcBef>
              <a:spcAft>
                <a:spcPts val="100"/>
              </a:spcAft>
              <a:defRPr sz="800">
                <a:solidFill>
                  <a:srgbClr val="000000"/>
                </a:solidFill>
                <a:latin typeface="Courier New"/>
              </a:defRPr>
            </a:pPr>
            <a:r>
              <a:t>│  │  │  🔹 Can have side effects                           │   │   │</a:t>
            </a:r>
          </a:p>
          <a:p>
            <a:pPr>
              <a:lnSpc>
                <a:spcPct val="100000"/>
              </a:lnSpc>
              <a:spcBef>
                <a:spcPts val="0"/>
              </a:spcBef>
              <a:spcAft>
                <a:spcPts val="100"/>
              </a:spcAft>
              <a:defRPr sz="800">
                <a:solidFill>
                  <a:srgbClr val="000000"/>
                </a:solidFill>
                <a:latin typeface="Courier New"/>
              </a:defRPr>
            </a:pPr>
            <a:r>
              <a:t>│  │  │  🔹 Error handling built in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COMMON TOOL EXAMPLES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Database operations (query, insert, update)              │   │</a:t>
            </a:r>
          </a:p>
          <a:p>
            <a:pPr>
              <a:lnSpc>
                <a:spcPct val="100000"/>
              </a:lnSpc>
              <a:spcBef>
                <a:spcPts val="0"/>
              </a:spcBef>
              <a:spcAft>
                <a:spcPts val="100"/>
              </a:spcAft>
              <a:defRPr sz="800">
                <a:solidFill>
                  <a:srgbClr val="000000"/>
                </a:solidFill>
                <a:latin typeface="Courier New"/>
              </a:defRPr>
            </a:pPr>
            <a:r>
              <a:t>│  │  • API calls (fetch data, send requests)                    │   │</a:t>
            </a:r>
          </a:p>
          <a:p>
            <a:pPr>
              <a:lnSpc>
                <a:spcPct val="100000"/>
              </a:lnSpc>
              <a:spcBef>
                <a:spcPts val="0"/>
              </a:spcBef>
              <a:spcAft>
                <a:spcPts val="100"/>
              </a:spcAft>
              <a:defRPr sz="800">
                <a:solidFill>
                  <a:srgbClr val="000000"/>
                </a:solidFill>
                <a:latin typeface="Courier New"/>
              </a:defRPr>
            </a:pPr>
            <a:r>
              <a:t>│  │  • File operations (read, write, delete)                    │   │</a:t>
            </a:r>
          </a:p>
          <a:p>
            <a:pPr>
              <a:lnSpc>
                <a:spcPct val="100000"/>
              </a:lnSpc>
              <a:spcBef>
                <a:spcPts val="0"/>
              </a:spcBef>
              <a:spcAft>
                <a:spcPts val="100"/>
              </a:spcAft>
              <a:defRPr sz="800">
                <a:solidFill>
                  <a:srgbClr val="000000"/>
                </a:solidFill>
                <a:latin typeface="Courier New"/>
              </a:defRPr>
            </a:pPr>
            <a:r>
              <a:t>│  │  • Communication (send email, post to Slack)               │   │</a:t>
            </a:r>
          </a:p>
          <a:p>
            <a:pPr>
              <a:lnSpc>
                <a:spcPct val="100000"/>
              </a:lnSpc>
              <a:spcBef>
                <a:spcPts val="0"/>
              </a:spcBef>
              <a:spcAft>
                <a:spcPts val="100"/>
              </a:spcAft>
              <a:defRPr sz="800">
                <a:solidFill>
                  <a:srgbClr val="000000"/>
                </a:solidFill>
                <a:latin typeface="Courier New"/>
              </a:defRPr>
            </a:pPr>
            <a:r>
              <a:t>│  │  • Development (build, deploy, test)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S1.8  Resources Deep Dive</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RESOURCES DEEP DIVE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RESOURCE URI SCHEMES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File Resources                                      │   │   │</a:t>
            </a:r>
          </a:p>
          <a:p>
            <a:pPr>
              <a:lnSpc>
                <a:spcPct val="100000"/>
              </a:lnSpc>
              <a:spcBef>
                <a:spcPts val="0"/>
              </a:spcBef>
              <a:spcAft>
                <a:spcPts val="100"/>
              </a:spcAft>
              <a:defRPr sz="800">
                <a:solidFill>
                  <a:srgbClr val="000000"/>
                </a:solidFill>
                <a:latin typeface="Courier New"/>
              </a:defRPr>
            </a:pPr>
            <a:r>
              <a:t>│  │  │  file:///path/to/document.txt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Database Resources                                  │   │   │</a:t>
            </a:r>
          </a:p>
          <a:p>
            <a:pPr>
              <a:lnSpc>
                <a:spcPct val="100000"/>
              </a:lnSpc>
              <a:spcBef>
                <a:spcPts val="0"/>
              </a:spcBef>
              <a:spcAft>
                <a:spcPts val="100"/>
              </a:spcAft>
              <a:defRPr sz="800">
                <a:solidFill>
                  <a:srgbClr val="000000"/>
                </a:solidFill>
                <a:latin typeface="Courier New"/>
              </a:defRPr>
            </a:pPr>
            <a:r>
              <a:t>│  │  │  database://table/users/row/123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API Resources                                       │   │   │</a:t>
            </a:r>
          </a:p>
          <a:p>
            <a:pPr>
              <a:lnSpc>
                <a:spcPct val="100000"/>
              </a:lnSpc>
              <a:spcBef>
                <a:spcPts val="0"/>
              </a:spcBef>
              <a:spcAft>
                <a:spcPts val="100"/>
              </a:spcAft>
              <a:defRPr sz="800">
                <a:solidFill>
                  <a:srgbClr val="000000"/>
                </a:solidFill>
                <a:latin typeface="Courier New"/>
              </a:defRPr>
            </a:pPr>
            <a:r>
              <a:t>│  │  │  api://users/current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System Resources                                    │   │   │</a:t>
            </a:r>
          </a:p>
          <a:p>
            <a:pPr>
              <a:lnSpc>
                <a:spcPct val="100000"/>
              </a:lnSpc>
              <a:spcBef>
                <a:spcPts val="0"/>
              </a:spcBef>
              <a:spcAft>
                <a:spcPts val="100"/>
              </a:spcAft>
              <a:defRPr sz="800">
                <a:solidFill>
                  <a:srgbClr val="000000"/>
                </a:solidFill>
                <a:latin typeface="Courier New"/>
              </a:defRPr>
            </a:pPr>
            <a:r>
              <a:t>│  │  │  system://info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Knowledge Resources                                 │   │   │</a:t>
            </a:r>
          </a:p>
          <a:p>
            <a:pPr>
              <a:lnSpc>
                <a:spcPct val="100000"/>
              </a:lnSpc>
              <a:spcBef>
                <a:spcPts val="0"/>
              </a:spcBef>
              <a:spcAft>
                <a:spcPts val="100"/>
              </a:spcAft>
              <a:defRPr sz="800">
                <a:solidFill>
                  <a:srgbClr val="000000"/>
                </a:solidFill>
                <a:latin typeface="Courier New"/>
              </a:defRPr>
            </a:pPr>
            <a:r>
              <a:t>│  │  │  knowledge://search?q=artificial+intelligence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RESOURCE CHARACTERISTICS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URI-based identification                        │   │   │</a:t>
            </a:r>
          </a:p>
          <a:p>
            <a:pPr>
              <a:lnSpc>
                <a:spcPct val="100000"/>
              </a:lnSpc>
              <a:spcBef>
                <a:spcPts val="0"/>
              </a:spcBef>
              <a:spcAft>
                <a:spcPts val="100"/>
              </a:spcAft>
              <a:defRPr sz="800">
                <a:solidFill>
                  <a:srgbClr val="000000"/>
                </a:solidFill>
                <a:latin typeface="Courier New"/>
              </a:defRPr>
            </a:pPr>
            <a:r>
              <a:t>│  │  │  🔹 Content can be text, binary, or structured    │   │   │</a:t>
            </a:r>
          </a:p>
          <a:p>
            <a:pPr>
              <a:lnSpc>
                <a:spcPct val="100000"/>
              </a:lnSpc>
              <a:spcBef>
                <a:spcPts val="0"/>
              </a:spcBef>
              <a:spcAft>
                <a:spcPts val="100"/>
              </a:spcAft>
              <a:defRPr sz="800">
                <a:solidFill>
                  <a:srgbClr val="000000"/>
                </a:solidFill>
                <a:latin typeface="Courier New"/>
              </a:defRPr>
            </a:pPr>
            <a:r>
              <a:t>│  │  │  🔹 MIME type specified for content type            │   │   │</a:t>
            </a:r>
          </a:p>
          <a:p>
            <a:pPr>
              <a:lnSpc>
                <a:spcPct val="100000"/>
              </a:lnSpc>
              <a:spcBef>
                <a:spcPts val="0"/>
              </a:spcBef>
              <a:spcAft>
                <a:spcPts val="100"/>
              </a:spcAft>
              <a:defRPr sz="800">
                <a:solidFill>
                  <a:srgbClr val="000000"/>
                </a:solidFill>
                <a:latin typeface="Courier New"/>
              </a:defRPr>
            </a:pPr>
            <a:r>
              <a:t>│  │  │  🔹 May be static or dynamic                        │   │   │</a:t>
            </a:r>
          </a:p>
          <a:p>
            <a:pPr>
              <a:lnSpc>
                <a:spcPct val="100000"/>
              </a:lnSpc>
              <a:spcBef>
                <a:spcPts val="0"/>
              </a:spcBef>
              <a:spcAft>
                <a:spcPts val="100"/>
              </a:spcAft>
              <a:defRPr sz="800">
                <a:solidFill>
                  <a:srgbClr val="000000"/>
                </a:solidFill>
                <a:latin typeface="Courier New"/>
              </a:defRPr>
            </a:pPr>
            <a:r>
              <a:t>│  │  │  🔹 Can include metadata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S1.9  Prompts Deep Dive</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PROMPTS DEEP DIVE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PROMPT TEMPLATE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"name": "code_review",                                   │   │</a:t>
            </a:r>
          </a:p>
          <a:p>
            <a:pPr>
              <a:lnSpc>
                <a:spcPct val="100000"/>
              </a:lnSpc>
              <a:spcBef>
                <a:spcPts val="0"/>
              </a:spcBef>
              <a:spcAft>
                <a:spcPts val="100"/>
              </a:spcAft>
              <a:defRPr sz="800">
                <a:solidFill>
                  <a:srgbClr val="000000"/>
                </a:solidFill>
                <a:latin typeface="Courier New"/>
              </a:defRPr>
            </a:pPr>
            <a:r>
              <a:t>│  │    "description": "Generate a code review",                 │   │</a:t>
            </a:r>
          </a:p>
          <a:p>
            <a:pPr>
              <a:lnSpc>
                <a:spcPct val="100000"/>
              </a:lnSpc>
              <a:spcBef>
                <a:spcPts val="0"/>
              </a:spcBef>
              <a:spcAft>
                <a:spcPts val="100"/>
              </a:spcAft>
              <a:defRPr sz="800">
                <a:solidFill>
                  <a:srgbClr val="000000"/>
                </a:solidFill>
                <a:latin typeface="Courier New"/>
              </a:defRPr>
            </a:pPr>
            <a:r>
              <a:t>│  │    "arguments":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"name": "code",                                      │   │</a:t>
            </a:r>
          </a:p>
          <a:p>
            <a:pPr>
              <a:lnSpc>
                <a:spcPct val="100000"/>
              </a:lnSpc>
              <a:spcBef>
                <a:spcPts val="0"/>
              </a:spcBef>
              <a:spcAft>
                <a:spcPts val="100"/>
              </a:spcAft>
              <a:defRPr sz="800">
                <a:solidFill>
                  <a:srgbClr val="000000"/>
                </a:solidFill>
                <a:latin typeface="Courier New"/>
              </a:defRPr>
            </a:pPr>
            <a:r>
              <a:t>│  │        "description": "The code to review",                 │   │</a:t>
            </a:r>
          </a:p>
          <a:p>
            <a:pPr>
              <a:lnSpc>
                <a:spcPct val="100000"/>
              </a:lnSpc>
              <a:spcBef>
                <a:spcPts val="0"/>
              </a:spcBef>
              <a:spcAft>
                <a:spcPts val="100"/>
              </a:spcAft>
              <a:defRPr sz="800">
                <a:solidFill>
                  <a:srgbClr val="000000"/>
                </a:solidFill>
                <a:latin typeface="Courier New"/>
              </a:defRPr>
            </a:pPr>
            <a:r>
              <a:t>│  │        "required": true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"name": "language",                                  │   │</a:t>
            </a:r>
          </a:p>
          <a:p>
            <a:pPr>
              <a:lnSpc>
                <a:spcPct val="100000"/>
              </a:lnSpc>
              <a:spcBef>
                <a:spcPts val="0"/>
              </a:spcBef>
              <a:spcAft>
                <a:spcPts val="100"/>
              </a:spcAft>
              <a:defRPr sz="800">
                <a:solidFill>
                  <a:srgbClr val="000000"/>
                </a:solidFill>
                <a:latin typeface="Courier New"/>
              </a:defRPr>
            </a:pPr>
            <a:r>
              <a:t>│  │        "description": "Programming language",               │   │</a:t>
            </a:r>
          </a:p>
          <a:p>
            <a:pPr>
              <a:lnSpc>
                <a:spcPct val="100000"/>
              </a:lnSpc>
              <a:spcBef>
                <a:spcPts val="0"/>
              </a:spcBef>
              <a:spcAft>
                <a:spcPts val="100"/>
              </a:spcAft>
              <a:defRPr sz="800">
                <a:solidFill>
                  <a:srgbClr val="000000"/>
                </a:solidFill>
                <a:latin typeface="Courier New"/>
              </a:defRPr>
            </a:pPr>
            <a:r>
              <a:t>│  │        "default": "JavaScript"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PROMPT CHARACTERISTICS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Template-based with variables                    │   │   │</a:t>
            </a:r>
          </a:p>
          <a:p>
            <a:pPr>
              <a:lnSpc>
                <a:spcPct val="100000"/>
              </a:lnSpc>
              <a:spcBef>
                <a:spcPts val="0"/>
              </a:spcBef>
              <a:spcAft>
                <a:spcPts val="100"/>
              </a:spcAft>
              <a:defRPr sz="800">
                <a:solidFill>
                  <a:srgbClr val="000000"/>
                </a:solidFill>
                <a:latin typeface="Courier New"/>
              </a:defRPr>
            </a:pPr>
            <a:r>
              <a:t>│  │  │  🔹 Multiple messages (system, user, assistant)      │   │   │</a:t>
            </a:r>
          </a:p>
          <a:p>
            <a:pPr>
              <a:lnSpc>
                <a:spcPct val="100000"/>
              </a:lnSpc>
              <a:spcBef>
                <a:spcPts val="0"/>
              </a:spcBef>
              <a:spcAft>
                <a:spcPts val="100"/>
              </a:spcAft>
              <a:defRPr sz="800">
                <a:solidFill>
                  <a:srgbClr val="000000"/>
                </a:solidFill>
                <a:latin typeface="Courier New"/>
              </a:defRPr>
            </a:pPr>
            <a:r>
              <a:t>│  │  │  🔹 Arguments for customization                     │   │   │</a:t>
            </a:r>
          </a:p>
          <a:p>
            <a:pPr>
              <a:lnSpc>
                <a:spcPct val="100000"/>
              </a:lnSpc>
              <a:spcBef>
                <a:spcPts val="0"/>
              </a:spcBef>
              <a:spcAft>
                <a:spcPts val="100"/>
              </a:spcAft>
              <a:defRPr sz="800">
                <a:solidFill>
                  <a:srgbClr val="000000"/>
                </a:solidFill>
                <a:latin typeface="Courier New"/>
              </a:defRPr>
            </a:pPr>
            <a:r>
              <a:t>│  │  │  🔹 Can include examples                            │   │   │</a:t>
            </a:r>
          </a:p>
          <a:p>
            <a:pPr>
              <a:lnSpc>
                <a:spcPct val="100000"/>
              </a:lnSpc>
              <a:spcBef>
                <a:spcPts val="0"/>
              </a:spcBef>
              <a:spcAft>
                <a:spcPts val="100"/>
              </a:spcAft>
              <a:defRPr sz="800">
                <a:solidFill>
                  <a:srgbClr val="000000"/>
                </a:solidFill>
                <a:latin typeface="Courier New"/>
              </a:defRPr>
            </a:pPr>
            <a:r>
              <a:t>│  │  │  🔹 Reusable across sessions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COMMON PROMPT USE CASES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Code review templates                                    │   │</a:t>
            </a:r>
          </a:p>
          <a:p>
            <a:pPr>
              <a:lnSpc>
                <a:spcPct val="100000"/>
              </a:lnSpc>
              <a:spcBef>
                <a:spcPts val="0"/>
              </a:spcBef>
              <a:spcAft>
                <a:spcPts val="100"/>
              </a:spcAft>
              <a:defRPr sz="800">
                <a:solidFill>
                  <a:srgbClr val="000000"/>
                </a:solidFill>
                <a:latin typeface="Courier New"/>
              </a:defRPr>
            </a:pPr>
            <a:r>
              <a:t>│  │  • Onboarding guides                                        │   │</a:t>
            </a:r>
          </a:p>
          <a:p>
            <a:pPr>
              <a:lnSpc>
                <a:spcPct val="100000"/>
              </a:lnSpc>
              <a:spcBef>
                <a:spcPts val="0"/>
              </a:spcBef>
              <a:spcAft>
                <a:spcPts val="100"/>
              </a:spcAft>
              <a:defRPr sz="800">
                <a:solidFill>
                  <a:srgbClr val="000000"/>
                </a:solidFill>
                <a:latin typeface="Courier New"/>
              </a:defRPr>
            </a:pPr>
            <a:r>
              <a:t>│  │  • Documentation templates                                  │   │</a:t>
            </a:r>
          </a:p>
          <a:p>
            <a:pPr>
              <a:lnSpc>
                <a:spcPct val="100000"/>
              </a:lnSpc>
              <a:spcBef>
                <a:spcPts val="0"/>
              </a:spcBef>
              <a:spcAft>
                <a:spcPts val="100"/>
              </a:spcAft>
              <a:defRPr sz="800">
                <a:solidFill>
                  <a:srgbClr val="000000"/>
                </a:solidFill>
                <a:latin typeface="Courier New"/>
              </a:defRPr>
            </a:pPr>
            <a:r>
              <a:t>│  │  • Analysis frameworks                                      │   │</a:t>
            </a:r>
          </a:p>
          <a:p>
            <a:pPr>
              <a:lnSpc>
                <a:spcPct val="100000"/>
              </a:lnSpc>
              <a:spcBef>
                <a:spcPts val="0"/>
              </a:spcBef>
              <a:spcAft>
                <a:spcPts val="100"/>
              </a:spcAft>
              <a:defRPr sz="800">
                <a:solidFill>
                  <a:srgbClr val="000000"/>
                </a:solidFill>
                <a:latin typeface="Courier New"/>
              </a:defRPr>
            </a:pPr>
            <a:r>
              <a:t>│  │  • Decision-making guides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S1.10  MCP Hosts &amp; Servers Ecosystem</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MCP HOSTS &amp; SERVERS ECOSYSTEM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MCP HOSTS                                 │   │</a:t>
            </a:r>
          </a:p>
          <a:p>
            <a:pPr>
              <a:lnSpc>
                <a:spcPct val="100000"/>
              </a:lnSpc>
              <a:spcBef>
                <a:spcPts val="0"/>
              </a:spcBef>
              <a:spcAft>
                <a:spcPts val="100"/>
              </a:spcAft>
              <a:defRPr sz="800">
                <a:solidFill>
                  <a:srgbClr val="000000"/>
                </a:solidFill>
                <a:latin typeface="Courier New"/>
              </a:defRPr>
            </a:pPr>
            <a:r>
              <a:t>│  │      (Applications that use MCP)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Cursor — AI code editor with MCP integration   │   │   │</a:t>
            </a:r>
          </a:p>
          <a:p>
            <a:pPr>
              <a:lnSpc>
                <a:spcPct val="100000"/>
              </a:lnSpc>
              <a:spcBef>
                <a:spcPts val="0"/>
              </a:spcBef>
              <a:spcAft>
                <a:spcPts val="100"/>
              </a:spcAft>
              <a:defRPr sz="800">
                <a:solidFill>
                  <a:srgbClr val="000000"/>
                </a:solidFill>
                <a:latin typeface="Courier New"/>
              </a:defRPr>
            </a:pPr>
            <a:r>
              <a:t>│  │  │  🔹 GitHub Copilot — AI pair programmer             │   │   │</a:t>
            </a:r>
          </a:p>
          <a:p>
            <a:pPr>
              <a:lnSpc>
                <a:spcPct val="100000"/>
              </a:lnSpc>
              <a:spcBef>
                <a:spcPts val="0"/>
              </a:spcBef>
              <a:spcAft>
                <a:spcPts val="100"/>
              </a:spcAft>
              <a:defRPr sz="800">
                <a:solidFill>
                  <a:srgbClr val="000000"/>
                </a:solidFill>
                <a:latin typeface="Courier New"/>
              </a:defRPr>
            </a:pPr>
            <a:r>
              <a:t>│  │  │  🔹 Claude Code — CLI coding assistant              │   │   │</a:t>
            </a:r>
          </a:p>
          <a:p>
            <a:pPr>
              <a:lnSpc>
                <a:spcPct val="100000"/>
              </a:lnSpc>
              <a:spcBef>
                <a:spcPts val="0"/>
              </a:spcBef>
              <a:spcAft>
                <a:spcPts val="100"/>
              </a:spcAft>
              <a:defRPr sz="800">
                <a:solidFill>
                  <a:srgbClr val="000000"/>
                </a:solidFill>
                <a:latin typeface="Courier New"/>
              </a:defRPr>
            </a:pPr>
            <a:r>
              <a:t>│  │  │  🔹 Gemini CLI — Google's AI assistant              │   │   │</a:t>
            </a:r>
          </a:p>
          <a:p>
            <a:pPr>
              <a:lnSpc>
                <a:spcPct val="100000"/>
              </a:lnSpc>
              <a:spcBef>
                <a:spcPts val="0"/>
              </a:spcBef>
              <a:spcAft>
                <a:spcPts val="100"/>
              </a:spcAft>
              <a:defRPr sz="800">
                <a:solidFill>
                  <a:srgbClr val="000000"/>
                </a:solidFill>
                <a:latin typeface="Courier New"/>
              </a:defRPr>
            </a:pPr>
            <a:r>
              <a:t>│  │  │  🔹 Codex CLI — Command-line AI                    │   │   │</a:t>
            </a:r>
          </a:p>
          <a:p>
            <a:pPr>
              <a:lnSpc>
                <a:spcPct val="100000"/>
              </a:lnSpc>
              <a:spcBef>
                <a:spcPts val="0"/>
              </a:spcBef>
              <a:spcAft>
                <a:spcPts val="100"/>
              </a:spcAft>
              <a:defRPr sz="800">
                <a:solidFill>
                  <a:srgbClr val="000000"/>
                </a:solidFill>
                <a:latin typeface="Courier New"/>
              </a:defRPr>
            </a:pPr>
            <a:r>
              <a:t>│  │  │  🔹 OpenAI Agents SDK — Agent framework             │   │   │</a:t>
            </a:r>
          </a:p>
          <a:p>
            <a:pPr>
              <a:lnSpc>
                <a:spcPct val="100000"/>
              </a:lnSpc>
              <a:spcBef>
                <a:spcPts val="0"/>
              </a:spcBef>
              <a:spcAft>
                <a:spcPts val="100"/>
              </a:spcAft>
              <a:defRPr sz="800">
                <a:solidFill>
                  <a:srgbClr val="000000"/>
                </a:solidFill>
                <a:latin typeface="Courier New"/>
              </a:defRPr>
            </a:pPr>
            <a:r>
              <a:t>│  │  │  🔹 Google ADK — Agent Development Kit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MCP SERVERS                               │   │</a:t>
            </a:r>
          </a:p>
          <a:p>
            <a:pPr>
              <a:lnSpc>
                <a:spcPct val="100000"/>
              </a:lnSpc>
              <a:spcBef>
                <a:spcPts val="0"/>
              </a:spcBef>
              <a:spcAft>
                <a:spcPts val="100"/>
              </a:spcAft>
              <a:defRPr sz="800">
                <a:solidFill>
                  <a:srgbClr val="000000"/>
                </a:solidFill>
                <a:latin typeface="Courier New"/>
              </a:defRPr>
            </a:pPr>
            <a:r>
              <a:t>│  │      (Ready-to-use capabilities)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Playwright — Browser automation                 │   │   │</a:t>
            </a:r>
          </a:p>
          <a:p>
            <a:pPr>
              <a:lnSpc>
                <a:spcPct val="100000"/>
              </a:lnSpc>
              <a:spcBef>
                <a:spcPts val="0"/>
              </a:spcBef>
              <a:spcAft>
                <a:spcPts val="100"/>
              </a:spcAft>
              <a:defRPr sz="800">
                <a:solidFill>
                  <a:srgbClr val="000000"/>
                </a:solidFill>
                <a:latin typeface="Courier New"/>
              </a:defRPr>
            </a:pPr>
            <a:r>
              <a:t>│  │  │  🔹 Fetch — Web data retrieval                     │   │   │</a:t>
            </a:r>
          </a:p>
          <a:p>
            <a:pPr>
              <a:lnSpc>
                <a:spcPct val="100000"/>
              </a:lnSpc>
              <a:spcBef>
                <a:spcPts val="0"/>
              </a:spcBef>
              <a:spcAft>
                <a:spcPts val="100"/>
              </a:spcAft>
              <a:defRPr sz="800">
                <a:solidFill>
                  <a:srgbClr val="000000"/>
                </a:solidFill>
                <a:latin typeface="Courier New"/>
              </a:defRPr>
            </a:pPr>
            <a:r>
              <a:t>│  │  │  🔹 Memory — Conversation memory                   │   │   │</a:t>
            </a:r>
          </a:p>
          <a:p>
            <a:pPr>
              <a:lnSpc>
                <a:spcPct val="100000"/>
              </a:lnSpc>
              <a:spcBef>
                <a:spcPts val="0"/>
              </a:spcBef>
              <a:spcAft>
                <a:spcPts val="100"/>
              </a:spcAft>
              <a:defRPr sz="800">
                <a:solidFill>
                  <a:srgbClr val="000000"/>
                </a:solidFill>
                <a:latin typeface="Courier New"/>
              </a:defRPr>
            </a:pPr>
            <a:r>
              <a:t>│  │  │  🔹 Sequential Thinking — Step-by-step reasoning   │   │   │</a:t>
            </a:r>
          </a:p>
          <a:p>
            <a:pPr>
              <a:lnSpc>
                <a:spcPct val="100000"/>
              </a:lnSpc>
              <a:spcBef>
                <a:spcPts val="0"/>
              </a:spcBef>
              <a:spcAft>
                <a:spcPts val="100"/>
              </a:spcAft>
              <a:defRPr sz="800">
                <a:solidFill>
                  <a:srgbClr val="000000"/>
                </a:solidFill>
                <a:latin typeface="Courier New"/>
              </a:defRPr>
            </a:pPr>
            <a:r>
              <a:t>│  │  │  🔹 DeepWiki — Knowledge base                     │   │   │</a:t>
            </a:r>
          </a:p>
          <a:p>
            <a:pPr>
              <a:lnSpc>
                <a:spcPct val="100000"/>
              </a:lnSpc>
              <a:spcBef>
                <a:spcPts val="0"/>
              </a:spcBef>
              <a:spcAft>
                <a:spcPts val="100"/>
              </a:spcAft>
              <a:defRPr sz="800">
                <a:solidFill>
                  <a:srgbClr val="000000"/>
                </a:solidFill>
                <a:latin typeface="Courier New"/>
              </a:defRPr>
            </a:pPr>
            <a:r>
              <a:t>│  │  │  🔹 Tavily — Search API                           │   │   │</a:t>
            </a:r>
          </a:p>
          <a:p>
            <a:pPr>
              <a:lnSpc>
                <a:spcPct val="100000"/>
              </a:lnSpc>
              <a:spcBef>
                <a:spcPts val="0"/>
              </a:spcBef>
              <a:spcAft>
                <a:spcPts val="100"/>
              </a:spcAft>
              <a:defRPr sz="800">
                <a:solidFill>
                  <a:srgbClr val="000000"/>
                </a:solidFill>
                <a:latin typeface="Courier New"/>
              </a:defRPr>
            </a:pPr>
            <a:r>
              <a:t>│  │  │  🔹 Zapier — Workflow automation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S1.11  JSON-RPC Fundamentals</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JSON-RPC FUNDAMENTALS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WHAT IS JSON-RPC?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A lightweight remote procedure call protocol            │   │</a:t>
            </a:r>
          </a:p>
          <a:p>
            <a:pPr>
              <a:lnSpc>
                <a:spcPct val="100000"/>
              </a:lnSpc>
              <a:spcBef>
                <a:spcPts val="0"/>
              </a:spcBef>
              <a:spcAft>
                <a:spcPts val="100"/>
              </a:spcAft>
              <a:defRPr sz="800">
                <a:solidFill>
                  <a:srgbClr val="000000"/>
                </a:solidFill>
                <a:latin typeface="Courier New"/>
              </a:defRPr>
            </a:pPr>
            <a:r>
              <a:t>│  │  • Uses JSON for data encoding                             │   │</a:t>
            </a:r>
          </a:p>
          <a:p>
            <a:pPr>
              <a:lnSpc>
                <a:spcPct val="100000"/>
              </a:lnSpc>
              <a:spcBef>
                <a:spcPts val="0"/>
              </a:spcBef>
              <a:spcAft>
                <a:spcPts val="100"/>
              </a:spcAft>
              <a:defRPr sz="800">
                <a:solidFill>
                  <a:srgbClr val="000000"/>
                </a:solidFill>
                <a:latin typeface="Courier New"/>
              </a:defRPr>
            </a:pPr>
            <a:r>
              <a:t>│  │  • Language-agnostic                                       │   │</a:t>
            </a:r>
          </a:p>
          <a:p>
            <a:pPr>
              <a:lnSpc>
                <a:spcPct val="100000"/>
              </a:lnSpc>
              <a:spcBef>
                <a:spcPts val="0"/>
              </a:spcBef>
              <a:spcAft>
                <a:spcPts val="100"/>
              </a:spcAft>
              <a:defRPr sz="800">
                <a:solidFill>
                  <a:srgbClr val="000000"/>
                </a:solidFill>
                <a:latin typeface="Courier New"/>
              </a:defRPr>
            </a:pPr>
            <a:r>
              <a:t>│  │  • Simple and human-readable                               │   │</a:t>
            </a:r>
          </a:p>
          <a:p>
            <a:pPr>
              <a:lnSpc>
                <a:spcPct val="100000"/>
              </a:lnSpc>
              <a:spcBef>
                <a:spcPts val="0"/>
              </a:spcBef>
              <a:spcAft>
                <a:spcPts val="100"/>
              </a:spcAft>
              <a:defRPr sz="800">
                <a:solidFill>
                  <a:srgbClr val="000000"/>
                </a:solidFill>
                <a:latin typeface="Courier New"/>
              </a:defRPr>
            </a:pPr>
            <a:r>
              <a:t>│  │  • Standardized (JSON-RPC 2.0 Specification)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MESSAGE TYPES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REQUEST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"jsonrpc": "2.0",                                 │   │   │</a:t>
            </a:r>
          </a:p>
          <a:p>
            <a:pPr>
              <a:lnSpc>
                <a:spcPct val="100000"/>
              </a:lnSpc>
              <a:spcBef>
                <a:spcPts val="0"/>
              </a:spcBef>
              <a:spcAft>
                <a:spcPts val="100"/>
              </a:spcAft>
              <a:defRPr sz="800">
                <a:solidFill>
                  <a:srgbClr val="000000"/>
                </a:solidFill>
                <a:latin typeface="Courier New"/>
              </a:defRPr>
            </a:pPr>
            <a:r>
              <a:t>│  │  │    "id": "req-123",                                  │   │   │</a:t>
            </a:r>
          </a:p>
          <a:p>
            <a:pPr>
              <a:lnSpc>
                <a:spcPct val="100000"/>
              </a:lnSpc>
              <a:spcBef>
                <a:spcPts val="0"/>
              </a:spcBef>
              <a:spcAft>
                <a:spcPts val="100"/>
              </a:spcAft>
              <a:defRPr sz="800">
                <a:solidFill>
                  <a:srgbClr val="000000"/>
                </a:solidFill>
                <a:latin typeface="Courier New"/>
              </a:defRPr>
            </a:pPr>
            <a:r>
              <a:t>│  │  │    "method": "tools/call",                           │   │   │</a:t>
            </a:r>
          </a:p>
          <a:p>
            <a:pPr>
              <a:lnSpc>
                <a:spcPct val="100000"/>
              </a:lnSpc>
              <a:spcBef>
                <a:spcPts val="0"/>
              </a:spcBef>
              <a:spcAft>
                <a:spcPts val="100"/>
              </a:spcAft>
              <a:defRPr sz="800">
                <a:solidFill>
                  <a:srgbClr val="000000"/>
                </a:solidFill>
                <a:latin typeface="Courier New"/>
              </a:defRPr>
            </a:pPr>
            <a:r>
              <a:t>│  │  │    "params": {                                       │   │   │</a:t>
            </a:r>
          </a:p>
          <a:p>
            <a:pPr>
              <a:lnSpc>
                <a:spcPct val="100000"/>
              </a:lnSpc>
              <a:spcBef>
                <a:spcPts val="0"/>
              </a:spcBef>
              <a:spcAft>
                <a:spcPts val="100"/>
              </a:spcAft>
              <a:defRPr sz="800">
                <a:solidFill>
                  <a:srgbClr val="000000"/>
                </a:solidFill>
                <a:latin typeface="Courier New"/>
              </a:defRPr>
            </a:pPr>
            <a:r>
              <a:t>│  │  │      "name": "add",                                  │   │   │</a:t>
            </a:r>
          </a:p>
          <a:p>
            <a:pPr>
              <a:lnSpc>
                <a:spcPct val="100000"/>
              </a:lnSpc>
              <a:spcBef>
                <a:spcPts val="0"/>
              </a:spcBef>
              <a:spcAft>
                <a:spcPts val="100"/>
              </a:spcAft>
              <a:defRPr sz="800">
                <a:solidFill>
                  <a:srgbClr val="000000"/>
                </a:solidFill>
                <a:latin typeface="Courier New"/>
              </a:defRPr>
            </a:pPr>
            <a:r>
              <a:t>│  │  │      "arguments": { "a": 5, "b": 3 }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RESPONSE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"jsonrpc": "2.0",                                 │   │   │</a:t>
            </a:r>
          </a:p>
          <a:p>
            <a:pPr>
              <a:lnSpc>
                <a:spcPct val="100000"/>
              </a:lnSpc>
              <a:spcBef>
                <a:spcPts val="0"/>
              </a:spcBef>
              <a:spcAft>
                <a:spcPts val="100"/>
              </a:spcAft>
              <a:defRPr sz="800">
                <a:solidFill>
                  <a:srgbClr val="000000"/>
                </a:solidFill>
                <a:latin typeface="Courier New"/>
              </a:defRPr>
            </a:pPr>
            <a:r>
              <a:t>│  │  │    "id": "req-123",                                  │   │   │</a:t>
            </a:r>
          </a:p>
          <a:p>
            <a:pPr>
              <a:lnSpc>
                <a:spcPct val="100000"/>
              </a:lnSpc>
              <a:spcBef>
                <a:spcPts val="0"/>
              </a:spcBef>
              <a:spcAft>
                <a:spcPts val="100"/>
              </a:spcAft>
              <a:defRPr sz="800">
                <a:solidFill>
                  <a:srgbClr val="000000"/>
                </a:solidFill>
                <a:latin typeface="Courier New"/>
              </a:defRPr>
            </a:pPr>
            <a:r>
              <a:t>│  │  │    "result": {                                       │   │   │</a:t>
            </a:r>
          </a:p>
          <a:p>
            <a:pPr>
              <a:lnSpc>
                <a:spcPct val="100000"/>
              </a:lnSpc>
              <a:spcBef>
                <a:spcPts val="0"/>
              </a:spcBef>
              <a:spcAft>
                <a:spcPts val="100"/>
              </a:spcAft>
              <a:defRPr sz="800">
                <a:solidFill>
                  <a:srgbClr val="000000"/>
                </a:solidFill>
                <a:latin typeface="Courier New"/>
              </a:defRPr>
            </a:pPr>
            <a:r>
              <a:t>│  │  │      "content": [{ "type": "text", "text": "8" }]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S1.12  Common JSON-RPC Methods</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COMMON JSON-RPC METHODS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DISCOVERY METHODS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Method          │  Purpose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tools/list     │  Get all available tools          │   │   │</a:t>
            </a:r>
          </a:p>
          <a:p>
            <a:pPr>
              <a:lnSpc>
                <a:spcPct val="100000"/>
              </a:lnSpc>
              <a:spcBef>
                <a:spcPts val="0"/>
              </a:spcBef>
              <a:spcAft>
                <a:spcPts val="100"/>
              </a:spcAft>
              <a:defRPr sz="800">
                <a:solidFill>
                  <a:srgbClr val="000000"/>
                </a:solidFill>
                <a:latin typeface="Courier New"/>
              </a:defRPr>
            </a:pPr>
            <a:r>
              <a:t>│  │  │  resources/list │  Get all available resources     │   │   │</a:t>
            </a:r>
          </a:p>
          <a:p>
            <a:pPr>
              <a:lnSpc>
                <a:spcPct val="100000"/>
              </a:lnSpc>
              <a:spcBef>
                <a:spcPts val="0"/>
              </a:spcBef>
              <a:spcAft>
                <a:spcPts val="100"/>
              </a:spcAft>
              <a:defRPr sz="800">
                <a:solidFill>
                  <a:srgbClr val="000000"/>
                </a:solidFill>
                <a:latin typeface="Courier New"/>
              </a:defRPr>
            </a:pPr>
            <a:r>
              <a:t>│  │  │  prompts/list   │  Get all available prompts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INVOCATION METHODS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Method          │  Purpose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tools/call     │  Execute a tool                   │   │   │</a:t>
            </a:r>
          </a:p>
          <a:p>
            <a:pPr>
              <a:lnSpc>
                <a:spcPct val="100000"/>
              </a:lnSpc>
              <a:spcBef>
                <a:spcPts val="0"/>
              </a:spcBef>
              <a:spcAft>
                <a:spcPts val="100"/>
              </a:spcAft>
              <a:defRPr sz="800">
                <a:solidFill>
                  <a:srgbClr val="000000"/>
                </a:solidFill>
                <a:latin typeface="Courier New"/>
              </a:defRPr>
            </a:pPr>
            <a:r>
              <a:t>│  │  │  resources/read │  Read a resource                 │   │   │</a:t>
            </a:r>
          </a:p>
          <a:p>
            <a:pPr>
              <a:lnSpc>
                <a:spcPct val="100000"/>
              </a:lnSpc>
              <a:spcBef>
                <a:spcPts val="0"/>
              </a:spcBef>
              <a:spcAft>
                <a:spcPts val="100"/>
              </a:spcAft>
              <a:defRPr sz="800">
                <a:solidFill>
                  <a:srgbClr val="000000"/>
                </a:solidFill>
                <a:latin typeface="Courier New"/>
              </a:defRPr>
            </a:pPr>
            <a:r>
              <a:t>│  │  │  prompts/get    │  Get a prompt template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LIFECYCLE METHODS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Method          │  Purpose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initialize     │  Handshake between client/server │   │   │</a:t>
            </a:r>
          </a:p>
          <a:p>
            <a:pPr>
              <a:lnSpc>
                <a:spcPct val="100000"/>
              </a:lnSpc>
              <a:spcBef>
                <a:spcPts val="0"/>
              </a:spcBef>
              <a:spcAft>
                <a:spcPts val="100"/>
              </a:spcAft>
              <a:defRPr sz="800">
                <a:solidFill>
                  <a:srgbClr val="000000"/>
                </a:solidFill>
                <a:latin typeface="Courier New"/>
              </a:defRPr>
            </a:pPr>
            <a:r>
              <a:t>│  │  │  shutdown       │  Graceful server shutdown        │   │   │</a:t>
            </a:r>
          </a:p>
          <a:p>
            <a:pPr>
              <a:lnSpc>
                <a:spcPct val="100000"/>
              </a:lnSpc>
              <a:spcBef>
                <a:spcPts val="0"/>
              </a:spcBef>
              <a:spcAft>
                <a:spcPts val="100"/>
              </a:spcAft>
              <a:defRPr sz="800">
                <a:solidFill>
                  <a:srgbClr val="000000"/>
                </a:solidFill>
                <a:latin typeface="Courier New"/>
              </a:defRPr>
            </a:pPr>
            <a:r>
              <a:t>│  │  │  ping           │  Keep-alive check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S1.13  Transport Mechanisms</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TRANSPORT MECHANISMS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STDIO TRANSPORT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Use Case: Local process execution                  │   │   │</a:t>
            </a:r>
          </a:p>
          <a:p>
            <a:pPr>
              <a:lnSpc>
                <a:spcPct val="100000"/>
              </a:lnSpc>
              <a:spcBef>
                <a:spcPts val="0"/>
              </a:spcBef>
              <a:spcAft>
                <a:spcPts val="100"/>
              </a:spcAft>
              <a:defRPr sz="800">
                <a:solidFill>
                  <a:srgbClr val="000000"/>
                </a:solidFill>
                <a:latin typeface="Courier New"/>
              </a:defRPr>
            </a:pPr>
            <a:r>
              <a:t>│  │  │  How it works: Client spawns server process         │   │   │</a:t>
            </a:r>
          </a:p>
          <a:p>
            <a:pPr>
              <a:lnSpc>
                <a:spcPct val="100000"/>
              </a:lnSpc>
              <a:spcBef>
                <a:spcPts val="0"/>
              </a:spcBef>
              <a:spcAft>
                <a:spcPts val="100"/>
              </a:spcAft>
              <a:defRPr sz="800">
                <a:solidFill>
                  <a:srgbClr val="000000"/>
                </a:solidFill>
                <a:latin typeface="Courier New"/>
              </a:defRPr>
            </a:pPr>
            <a:r>
              <a:t>│  │  │  Communication: stdin/stdout                        │   │   │</a:t>
            </a:r>
          </a:p>
          <a:p>
            <a:pPr>
              <a:lnSpc>
                <a:spcPct val="100000"/>
              </a:lnSpc>
              <a:spcBef>
                <a:spcPts val="0"/>
              </a:spcBef>
              <a:spcAft>
                <a:spcPts val="100"/>
              </a:spcAft>
              <a:defRPr sz="800">
                <a:solidFill>
                  <a:srgbClr val="000000"/>
                </a:solidFill>
                <a:latin typeface="Courier New"/>
              </a:defRPr>
            </a:pPr>
            <a:r>
              <a:t>│  │  │  Best for: Development, local tools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WEBSOCKET TRANSPORT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Use Case: Real-time web applications               │   │   │</a:t>
            </a:r>
          </a:p>
          <a:p>
            <a:pPr>
              <a:lnSpc>
                <a:spcPct val="100000"/>
              </a:lnSpc>
              <a:spcBef>
                <a:spcPts val="0"/>
              </a:spcBef>
              <a:spcAft>
                <a:spcPts val="100"/>
              </a:spcAft>
              <a:defRPr sz="800">
                <a:solidFill>
                  <a:srgbClr val="000000"/>
                </a:solidFill>
                <a:latin typeface="Courier New"/>
              </a:defRPr>
            </a:pPr>
            <a:r>
              <a:t>│  │  │  Features: Persistent bidirectional communication   │   │   │</a:t>
            </a:r>
          </a:p>
          <a:p>
            <a:pPr>
              <a:lnSpc>
                <a:spcPct val="100000"/>
              </a:lnSpc>
              <a:spcBef>
                <a:spcPts val="0"/>
              </a:spcBef>
              <a:spcAft>
                <a:spcPts val="100"/>
              </a:spcAft>
              <a:defRPr sz="800">
                <a:solidFill>
                  <a:srgbClr val="000000"/>
                </a:solidFill>
                <a:latin typeface="Courier New"/>
              </a:defRPr>
            </a:pPr>
            <a:r>
              <a:t>│  │  │  Best for: Browser-based clients, streaming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HTTP TRANSPORT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Use Case: Production APIs, stateless operations   │   │   │</a:t>
            </a:r>
          </a:p>
          <a:p>
            <a:pPr>
              <a:lnSpc>
                <a:spcPct val="100000"/>
              </a:lnSpc>
              <a:spcBef>
                <a:spcPts val="0"/>
              </a:spcBef>
              <a:spcAft>
                <a:spcPts val="100"/>
              </a:spcAft>
              <a:defRPr sz="800">
                <a:solidFill>
                  <a:srgbClr val="000000"/>
                </a:solidFill>
                <a:latin typeface="Courier New"/>
              </a:defRPr>
            </a:pPr>
            <a:r>
              <a:t>│  │  │  Features: REST-style requests, caching support    │   │   │</a:t>
            </a:r>
          </a:p>
          <a:p>
            <a:pPr>
              <a:lnSpc>
                <a:spcPct val="100000"/>
              </a:lnSpc>
              <a:spcBef>
                <a:spcPts val="0"/>
              </a:spcBef>
              <a:spcAft>
                <a:spcPts val="100"/>
              </a:spcAft>
              <a:defRPr sz="800">
                <a:solidFill>
                  <a:srgbClr val="000000"/>
                </a:solidFill>
                <a:latin typeface="Courier New"/>
              </a:defRPr>
            </a:pPr>
            <a:r>
              <a:t>│  │  │  Best for: Serverless deployments, REST APIs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S1.14  Error Handling in MCP</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ERROR HANDLING IN MCP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JSON-RPC ERROR CODES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Code    │  Name              │  Description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-32700  │  Parse Error       │  Invalid JSON      │   │   │</a:t>
            </a:r>
          </a:p>
          <a:p>
            <a:pPr>
              <a:lnSpc>
                <a:spcPct val="100000"/>
              </a:lnSpc>
              <a:spcBef>
                <a:spcPts val="0"/>
              </a:spcBef>
              <a:spcAft>
                <a:spcPts val="100"/>
              </a:spcAft>
              <a:defRPr sz="800">
                <a:solidFill>
                  <a:srgbClr val="000000"/>
                </a:solidFill>
                <a:latin typeface="Courier New"/>
              </a:defRPr>
            </a:pPr>
            <a:r>
              <a:t>│  │  │  -32600  │  Invalid Request   │  Not a valid req  │   │   │</a:t>
            </a:r>
          </a:p>
          <a:p>
            <a:pPr>
              <a:lnSpc>
                <a:spcPct val="100000"/>
              </a:lnSpc>
              <a:spcBef>
                <a:spcPts val="0"/>
              </a:spcBef>
              <a:spcAft>
                <a:spcPts val="100"/>
              </a:spcAft>
              <a:defRPr sz="800">
                <a:solidFill>
                  <a:srgbClr val="000000"/>
                </a:solidFill>
                <a:latin typeface="Courier New"/>
              </a:defRPr>
            </a:pPr>
            <a:r>
              <a:t>│  │  │  -32601  │  Method Not Found  │  Method doesn't exist │ │   │</a:t>
            </a:r>
          </a:p>
          <a:p>
            <a:pPr>
              <a:lnSpc>
                <a:spcPct val="100000"/>
              </a:lnSpc>
              <a:spcBef>
                <a:spcPts val="0"/>
              </a:spcBef>
              <a:spcAft>
                <a:spcPts val="100"/>
              </a:spcAft>
              <a:defRPr sz="800">
                <a:solidFill>
                  <a:srgbClr val="000000"/>
                </a:solidFill>
                <a:latin typeface="Courier New"/>
              </a:defRPr>
            </a:pPr>
            <a:r>
              <a:t>│  │  │  -32602  │  Invalid Params    │  Wrong parameters │   │   │</a:t>
            </a:r>
          </a:p>
          <a:p>
            <a:pPr>
              <a:lnSpc>
                <a:spcPct val="100000"/>
              </a:lnSpc>
              <a:spcBef>
                <a:spcPts val="0"/>
              </a:spcBef>
              <a:spcAft>
                <a:spcPts val="100"/>
              </a:spcAft>
              <a:defRPr sz="800">
                <a:solidFill>
                  <a:srgbClr val="000000"/>
                </a:solidFill>
                <a:latin typeface="Courier New"/>
              </a:defRPr>
            </a:pPr>
            <a:r>
              <a:t>│  │  │  -32603  │  Internal Error    │  Server error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MCP-SPECIFIC ERROR CODES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Code    │  Name              │  Description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-32001  │  Tool Not Found    │  Tool doesn't exist│   │   │</a:t>
            </a:r>
          </a:p>
          <a:p>
            <a:pPr>
              <a:lnSpc>
                <a:spcPct val="100000"/>
              </a:lnSpc>
              <a:spcBef>
                <a:spcPts val="0"/>
              </a:spcBef>
              <a:spcAft>
                <a:spcPts val="100"/>
              </a:spcAft>
              <a:defRPr sz="800">
                <a:solidFill>
                  <a:srgbClr val="000000"/>
                </a:solidFill>
                <a:latin typeface="Courier New"/>
              </a:defRPr>
            </a:pPr>
            <a:r>
              <a:t>│  │  │  -32002  │  Resource Not Found│  Resource missing │   │   │</a:t>
            </a:r>
          </a:p>
          <a:p>
            <a:pPr>
              <a:lnSpc>
                <a:spcPct val="100000"/>
              </a:lnSpc>
              <a:spcBef>
                <a:spcPts val="0"/>
              </a:spcBef>
              <a:spcAft>
                <a:spcPts val="100"/>
              </a:spcAft>
              <a:defRPr sz="800">
                <a:solidFill>
                  <a:srgbClr val="000000"/>
                </a:solidFill>
                <a:latin typeface="Courier New"/>
              </a:defRPr>
            </a:pPr>
            <a:r>
              <a:t>│  │  │  -32003  │  Prompt Not Found  │  Prompt missing   │   │   │</a:t>
            </a:r>
          </a:p>
          <a:p>
            <a:pPr>
              <a:lnSpc>
                <a:spcPct val="100000"/>
              </a:lnSpc>
              <a:spcBef>
                <a:spcPts val="0"/>
              </a:spcBef>
              <a:spcAft>
                <a:spcPts val="100"/>
              </a:spcAft>
              <a:defRPr sz="800">
                <a:solidFill>
                  <a:srgbClr val="000000"/>
                </a:solidFill>
                <a:latin typeface="Courier New"/>
              </a:defRPr>
            </a:pPr>
            <a:r>
              <a:t>│  │  │  -32004  │  Tool Execution    │  Tool failed      │   │   │</a:t>
            </a:r>
          </a:p>
          <a:p>
            <a:pPr>
              <a:lnSpc>
                <a:spcPct val="100000"/>
              </a:lnSpc>
              <a:spcBef>
                <a:spcPts val="0"/>
              </a:spcBef>
              <a:spcAft>
                <a:spcPts val="100"/>
              </a:spcAft>
              <a:defRPr sz="800">
                <a:solidFill>
                  <a:srgbClr val="000000"/>
                </a:solidFill>
                <a:latin typeface="Courier New"/>
              </a:defRPr>
            </a:pPr>
            <a:r>
              <a:t>│  │  │  -32005  │  Resource Read     │  Resource read failed │ │   │</a:t>
            </a:r>
          </a:p>
          <a:p>
            <a:pPr>
              <a:lnSpc>
                <a:spcPct val="100000"/>
              </a:lnSpc>
              <a:spcBef>
                <a:spcPts val="0"/>
              </a:spcBef>
              <a:spcAft>
                <a:spcPts val="100"/>
              </a:spcAft>
              <a:defRPr sz="800">
                <a:solidFill>
                  <a:srgbClr val="000000"/>
                </a:solidFill>
                <a:latin typeface="Courier New"/>
              </a:defRPr>
            </a:pPr>
            <a:r>
              <a:t>│  │  │  -32008  │  Connection Error  │  Network issue    │   │   │</a:t>
            </a:r>
          </a:p>
          <a:p>
            <a:pPr>
              <a:lnSpc>
                <a:spcPct val="100000"/>
              </a:lnSpc>
              <a:spcBef>
                <a:spcPts val="0"/>
              </a:spcBef>
              <a:spcAft>
                <a:spcPts val="100"/>
              </a:spcAft>
              <a:defRPr sz="800">
                <a:solidFill>
                  <a:srgbClr val="000000"/>
                </a:solidFill>
                <a:latin typeface="Courier New"/>
              </a:defRPr>
            </a:pPr>
            <a:r>
              <a:t>│  │  │  -32009  │  Authentication    │  Invalid credentials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S1.15  Error Response Example</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ERROR RESPONSE EXAMPLE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TOOL NOT FOUND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"jsonrpc": "2.0",                                           │   │</a:t>
            </a:r>
          </a:p>
          <a:p>
            <a:pPr>
              <a:lnSpc>
                <a:spcPct val="100000"/>
              </a:lnSpc>
              <a:spcBef>
                <a:spcPts val="0"/>
              </a:spcBef>
              <a:spcAft>
                <a:spcPts val="100"/>
              </a:spcAft>
              <a:defRPr sz="800">
                <a:solidFill>
                  <a:srgbClr val="000000"/>
                </a:solidFill>
                <a:latin typeface="Courier New"/>
              </a:defRPr>
            </a:pPr>
            <a:r>
              <a:t>│    "id": "req-123",                                            │   │</a:t>
            </a:r>
          </a:p>
          <a:p>
            <a:pPr>
              <a:lnSpc>
                <a:spcPct val="100000"/>
              </a:lnSpc>
              <a:spcBef>
                <a:spcPts val="0"/>
              </a:spcBef>
              <a:spcAft>
                <a:spcPts val="100"/>
              </a:spcAft>
              <a:defRPr sz="800">
                <a:solidFill>
                  <a:srgbClr val="000000"/>
                </a:solidFill>
                <a:latin typeface="Courier New"/>
              </a:defRPr>
            </a:pPr>
            <a:r>
              <a:t>│    "error": {                                                  │   │</a:t>
            </a:r>
          </a:p>
          <a:p>
            <a:pPr>
              <a:lnSpc>
                <a:spcPct val="100000"/>
              </a:lnSpc>
              <a:spcBef>
                <a:spcPts val="0"/>
              </a:spcBef>
              <a:spcAft>
                <a:spcPts val="100"/>
              </a:spcAft>
              <a:defRPr sz="800">
                <a:solidFill>
                  <a:srgbClr val="000000"/>
                </a:solidFill>
                <a:latin typeface="Courier New"/>
              </a:defRPr>
            </a:pPr>
            <a:r>
              <a:t>│      "code": -32001,                                           │   │</a:t>
            </a:r>
          </a:p>
          <a:p>
            <a:pPr>
              <a:lnSpc>
                <a:spcPct val="100000"/>
              </a:lnSpc>
              <a:spcBef>
                <a:spcPts val="0"/>
              </a:spcBef>
              <a:spcAft>
                <a:spcPts val="100"/>
              </a:spcAft>
              <a:defRPr sz="800">
                <a:solidFill>
                  <a:srgbClr val="000000"/>
                </a:solidFill>
                <a:latin typeface="Courier New"/>
              </a:defRPr>
            </a:pPr>
            <a:r>
              <a:t>│      "message": "Tool not found: unknown_tool",                │   │</a:t>
            </a:r>
          </a:p>
          <a:p>
            <a:pPr>
              <a:lnSpc>
                <a:spcPct val="100000"/>
              </a:lnSpc>
              <a:spcBef>
                <a:spcPts val="0"/>
              </a:spcBef>
              <a:spcAft>
                <a:spcPts val="100"/>
              </a:spcAft>
              <a:defRPr sz="800">
                <a:solidFill>
                  <a:srgbClr val="000000"/>
                </a:solidFill>
                <a:latin typeface="Courier New"/>
              </a:defRPr>
            </a:pPr>
            <a:r>
              <a:t>│      "data": {                                                 │   │</a:t>
            </a:r>
          </a:p>
          <a:p>
            <a:pPr>
              <a:lnSpc>
                <a:spcPct val="100000"/>
              </a:lnSpc>
              <a:spcBef>
                <a:spcPts val="0"/>
              </a:spcBef>
              <a:spcAft>
                <a:spcPts val="100"/>
              </a:spcAft>
              <a:defRPr sz="800">
                <a:solidFill>
                  <a:srgbClr val="000000"/>
                </a:solidFill>
                <a:latin typeface="Courier New"/>
              </a:defRPr>
            </a:pPr>
            <a:r>
              <a:t>│        "requestedTool": "unknown_tool",                       │   │</a:t>
            </a:r>
          </a:p>
          <a:p>
            <a:pPr>
              <a:lnSpc>
                <a:spcPct val="100000"/>
              </a:lnSpc>
              <a:spcBef>
                <a:spcPts val="0"/>
              </a:spcBef>
              <a:spcAft>
                <a:spcPts val="100"/>
              </a:spcAft>
              <a:defRPr sz="800">
                <a:solidFill>
                  <a:srgbClr val="000000"/>
                </a:solidFill>
                <a:latin typeface="Courier New"/>
              </a:defRPr>
            </a:pPr>
            <a:r>
              <a:t>│        "availableTools": ["add", "subtract", "multiply"]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INVALID PARAMETERS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"jsonrpc": "2.0",                                           │   │</a:t>
            </a:r>
          </a:p>
          <a:p>
            <a:pPr>
              <a:lnSpc>
                <a:spcPct val="100000"/>
              </a:lnSpc>
              <a:spcBef>
                <a:spcPts val="0"/>
              </a:spcBef>
              <a:spcAft>
                <a:spcPts val="100"/>
              </a:spcAft>
              <a:defRPr sz="800">
                <a:solidFill>
                  <a:srgbClr val="000000"/>
                </a:solidFill>
                <a:latin typeface="Courier New"/>
              </a:defRPr>
            </a:pPr>
            <a:r>
              <a:t>│    "id": "req-124",                                            │   │</a:t>
            </a:r>
          </a:p>
          <a:p>
            <a:pPr>
              <a:lnSpc>
                <a:spcPct val="100000"/>
              </a:lnSpc>
              <a:spcBef>
                <a:spcPts val="0"/>
              </a:spcBef>
              <a:spcAft>
                <a:spcPts val="100"/>
              </a:spcAft>
              <a:defRPr sz="800">
                <a:solidFill>
                  <a:srgbClr val="000000"/>
                </a:solidFill>
                <a:latin typeface="Courier New"/>
              </a:defRPr>
            </a:pPr>
            <a:r>
              <a:t>│    "error": {                                                  │   │</a:t>
            </a:r>
          </a:p>
          <a:p>
            <a:pPr>
              <a:lnSpc>
                <a:spcPct val="100000"/>
              </a:lnSpc>
              <a:spcBef>
                <a:spcPts val="0"/>
              </a:spcBef>
              <a:spcAft>
                <a:spcPts val="100"/>
              </a:spcAft>
              <a:defRPr sz="800">
                <a:solidFill>
                  <a:srgbClr val="000000"/>
                </a:solidFill>
                <a:latin typeface="Courier New"/>
              </a:defRPr>
            </a:pPr>
            <a:r>
              <a:t>│      "code": -32602,                                           │   │</a:t>
            </a:r>
          </a:p>
          <a:p>
            <a:pPr>
              <a:lnSpc>
                <a:spcPct val="100000"/>
              </a:lnSpc>
              <a:spcBef>
                <a:spcPts val="0"/>
              </a:spcBef>
              <a:spcAft>
                <a:spcPts val="100"/>
              </a:spcAft>
              <a:defRPr sz="800">
                <a:solidFill>
                  <a:srgbClr val="000000"/>
                </a:solidFill>
                <a:latin typeface="Courier New"/>
              </a:defRPr>
            </a:pPr>
            <a:r>
              <a:t>│      "message": "Invalid params",                              │   │</a:t>
            </a:r>
          </a:p>
          <a:p>
            <a:pPr>
              <a:lnSpc>
                <a:spcPct val="100000"/>
              </a:lnSpc>
              <a:spcBef>
                <a:spcPts val="0"/>
              </a:spcBef>
              <a:spcAft>
                <a:spcPts val="100"/>
              </a:spcAft>
              <a:defRPr sz="800">
                <a:solidFill>
                  <a:srgbClr val="000000"/>
                </a:solidFill>
                <a:latin typeface="Courier New"/>
              </a:defRPr>
            </a:pPr>
            <a:r>
              <a:t>│      "data": {                                                 │   │</a:t>
            </a:r>
          </a:p>
          <a:p>
            <a:pPr>
              <a:lnSpc>
                <a:spcPct val="100000"/>
              </a:lnSpc>
              <a:spcBef>
                <a:spcPts val="0"/>
              </a:spcBef>
              <a:spcAft>
                <a:spcPts val="100"/>
              </a:spcAft>
              <a:defRPr sz="800">
                <a:solidFill>
                  <a:srgbClr val="000000"/>
                </a:solidFill>
                <a:latin typeface="Courier New"/>
              </a:defRPr>
            </a:pPr>
            <a:r>
              <a:t>│        "validationErrors":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"path": ["b"],                                      │   │</a:t>
            </a:r>
          </a:p>
          <a:p>
            <a:pPr>
              <a:lnSpc>
                <a:spcPct val="100000"/>
              </a:lnSpc>
              <a:spcBef>
                <a:spcPts val="0"/>
              </a:spcBef>
              <a:spcAft>
                <a:spcPts val="100"/>
              </a:spcAft>
              <a:defRPr sz="800">
                <a:solidFill>
                  <a:srgbClr val="000000"/>
                </a:solidFill>
                <a:latin typeface="Courier New"/>
              </a:defRPr>
            </a:pPr>
            <a:r>
              <a:t>│            "message": "Expected number, received string",     │   │</a:t>
            </a:r>
          </a:p>
          <a:p>
            <a:pPr>
              <a:lnSpc>
                <a:spcPct val="100000"/>
              </a:lnSpc>
              <a:spcBef>
                <a:spcPts val="0"/>
              </a:spcBef>
              <a:spcAft>
                <a:spcPts val="100"/>
              </a:spcAft>
              <a:defRPr sz="800">
                <a:solidFill>
                  <a:srgbClr val="000000"/>
                </a:solidFill>
                <a:latin typeface="Courier New"/>
              </a:defRPr>
            </a:pPr>
            <a:r>
              <a:t>│            "value": "not-a-number"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S1.16  The Initialize Handshake</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THE INITIALIZE HANDSHAKE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CLIENT REQUEST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"jsonrpc": "2.0",                                        │   │</a:t>
            </a:r>
          </a:p>
          <a:p>
            <a:pPr>
              <a:lnSpc>
                <a:spcPct val="100000"/>
              </a:lnSpc>
              <a:spcBef>
                <a:spcPts val="0"/>
              </a:spcBef>
              <a:spcAft>
                <a:spcPts val="100"/>
              </a:spcAft>
              <a:defRPr sz="800">
                <a:solidFill>
                  <a:srgbClr val="000000"/>
                </a:solidFill>
                <a:latin typeface="Courier New"/>
              </a:defRPr>
            </a:pPr>
            <a:r>
              <a:t>│  │    "id": "init-1",                                          │   │</a:t>
            </a:r>
          </a:p>
          <a:p>
            <a:pPr>
              <a:lnSpc>
                <a:spcPct val="100000"/>
              </a:lnSpc>
              <a:spcBef>
                <a:spcPts val="0"/>
              </a:spcBef>
              <a:spcAft>
                <a:spcPts val="100"/>
              </a:spcAft>
              <a:defRPr sz="800">
                <a:solidFill>
                  <a:srgbClr val="000000"/>
                </a:solidFill>
                <a:latin typeface="Courier New"/>
              </a:defRPr>
            </a:pPr>
            <a:r>
              <a:t>│  │    "method": "initialize",                                  │   │</a:t>
            </a:r>
          </a:p>
          <a:p>
            <a:pPr>
              <a:lnSpc>
                <a:spcPct val="100000"/>
              </a:lnSpc>
              <a:spcBef>
                <a:spcPts val="0"/>
              </a:spcBef>
              <a:spcAft>
                <a:spcPts val="100"/>
              </a:spcAft>
              <a:defRPr sz="800">
                <a:solidFill>
                  <a:srgbClr val="000000"/>
                </a:solidFill>
                <a:latin typeface="Courier New"/>
              </a:defRPr>
            </a:pPr>
            <a:r>
              <a:t>│  │    "params": {                                              │   │</a:t>
            </a:r>
          </a:p>
          <a:p>
            <a:pPr>
              <a:lnSpc>
                <a:spcPct val="100000"/>
              </a:lnSpc>
              <a:spcBef>
                <a:spcPts val="0"/>
              </a:spcBef>
              <a:spcAft>
                <a:spcPts val="100"/>
              </a:spcAft>
              <a:defRPr sz="800">
                <a:solidFill>
                  <a:srgbClr val="000000"/>
                </a:solidFill>
                <a:latin typeface="Courier New"/>
              </a:defRPr>
            </a:pPr>
            <a:r>
              <a:t>│  │      "protocolVersion": "2024-11-05",                       │   │</a:t>
            </a:r>
          </a:p>
          <a:p>
            <a:pPr>
              <a:lnSpc>
                <a:spcPct val="100000"/>
              </a:lnSpc>
              <a:spcBef>
                <a:spcPts val="0"/>
              </a:spcBef>
              <a:spcAft>
                <a:spcPts val="100"/>
              </a:spcAft>
              <a:defRPr sz="800">
                <a:solidFill>
                  <a:srgbClr val="000000"/>
                </a:solidFill>
                <a:latin typeface="Courier New"/>
              </a:defRPr>
            </a:pPr>
            <a:r>
              <a:t>│  │      "clientInfo": {                                        │   │</a:t>
            </a:r>
          </a:p>
          <a:p>
            <a:pPr>
              <a:lnSpc>
                <a:spcPct val="100000"/>
              </a:lnSpc>
              <a:spcBef>
                <a:spcPts val="0"/>
              </a:spcBef>
              <a:spcAft>
                <a:spcPts val="100"/>
              </a:spcAft>
              <a:defRPr sz="800">
                <a:solidFill>
                  <a:srgbClr val="000000"/>
                </a:solidFill>
                <a:latin typeface="Courier New"/>
              </a:defRPr>
            </a:pPr>
            <a:r>
              <a:t>│  │        "name": "my-client",                                 │   │</a:t>
            </a:r>
          </a:p>
          <a:p>
            <a:pPr>
              <a:lnSpc>
                <a:spcPct val="100000"/>
              </a:lnSpc>
              <a:spcBef>
                <a:spcPts val="0"/>
              </a:spcBef>
              <a:spcAft>
                <a:spcPts val="100"/>
              </a:spcAft>
              <a:defRPr sz="800">
                <a:solidFill>
                  <a:srgbClr val="000000"/>
                </a:solidFill>
                <a:latin typeface="Courier New"/>
              </a:defRPr>
            </a:pPr>
            <a:r>
              <a:t>│  │        "version": "1.0.0"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SERVER RESPONSE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"jsonrpc": "2.0",                                        │   │</a:t>
            </a:r>
          </a:p>
          <a:p>
            <a:pPr>
              <a:lnSpc>
                <a:spcPct val="100000"/>
              </a:lnSpc>
              <a:spcBef>
                <a:spcPts val="0"/>
              </a:spcBef>
              <a:spcAft>
                <a:spcPts val="100"/>
              </a:spcAft>
              <a:defRPr sz="800">
                <a:solidFill>
                  <a:srgbClr val="000000"/>
                </a:solidFill>
                <a:latin typeface="Courier New"/>
              </a:defRPr>
            </a:pPr>
            <a:r>
              <a:t>│  │    "id": "init-1",                                          │   │</a:t>
            </a:r>
          </a:p>
          <a:p>
            <a:pPr>
              <a:lnSpc>
                <a:spcPct val="100000"/>
              </a:lnSpc>
              <a:spcBef>
                <a:spcPts val="0"/>
              </a:spcBef>
              <a:spcAft>
                <a:spcPts val="100"/>
              </a:spcAft>
              <a:defRPr sz="800">
                <a:solidFill>
                  <a:srgbClr val="000000"/>
                </a:solidFill>
                <a:latin typeface="Courier New"/>
              </a:defRPr>
            </a:pPr>
            <a:r>
              <a:t>│  │    "result": {                                              │   │</a:t>
            </a:r>
          </a:p>
          <a:p>
            <a:pPr>
              <a:lnSpc>
                <a:spcPct val="100000"/>
              </a:lnSpc>
              <a:spcBef>
                <a:spcPts val="0"/>
              </a:spcBef>
              <a:spcAft>
                <a:spcPts val="100"/>
              </a:spcAft>
              <a:defRPr sz="800">
                <a:solidFill>
                  <a:srgbClr val="000000"/>
                </a:solidFill>
                <a:latin typeface="Courier New"/>
              </a:defRPr>
            </a:pPr>
            <a:r>
              <a:t>│  │      "protocolVersion": "2024-11-05",                       │   │</a:t>
            </a:r>
          </a:p>
          <a:p>
            <a:pPr>
              <a:lnSpc>
                <a:spcPct val="100000"/>
              </a:lnSpc>
              <a:spcBef>
                <a:spcPts val="0"/>
              </a:spcBef>
              <a:spcAft>
                <a:spcPts val="100"/>
              </a:spcAft>
              <a:defRPr sz="800">
                <a:solidFill>
                  <a:srgbClr val="000000"/>
                </a:solidFill>
                <a:latin typeface="Courier New"/>
              </a:defRPr>
            </a:pPr>
            <a:r>
              <a:t>│  │      "serverInfo": {                                        │   │</a:t>
            </a:r>
          </a:p>
          <a:p>
            <a:pPr>
              <a:lnSpc>
                <a:spcPct val="100000"/>
              </a:lnSpc>
              <a:spcBef>
                <a:spcPts val="0"/>
              </a:spcBef>
              <a:spcAft>
                <a:spcPts val="100"/>
              </a:spcAft>
              <a:defRPr sz="800">
                <a:solidFill>
                  <a:srgbClr val="000000"/>
                </a:solidFill>
                <a:latin typeface="Courier New"/>
              </a:defRPr>
            </a:pPr>
            <a:r>
              <a:t>│  │        "name": "my-server",                                 │   │</a:t>
            </a:r>
          </a:p>
          <a:p>
            <a:pPr>
              <a:lnSpc>
                <a:spcPct val="100000"/>
              </a:lnSpc>
              <a:spcBef>
                <a:spcPts val="0"/>
              </a:spcBef>
              <a:spcAft>
                <a:spcPts val="100"/>
              </a:spcAft>
              <a:defRPr sz="800">
                <a:solidFill>
                  <a:srgbClr val="000000"/>
                </a:solidFill>
                <a:latin typeface="Courier New"/>
              </a:defRPr>
            </a:pPr>
            <a:r>
              <a:t>│  │        "version": "1.0.0"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"capabilities": {                                      │   │</a:t>
            </a:r>
          </a:p>
          <a:p>
            <a:pPr>
              <a:lnSpc>
                <a:spcPct val="100000"/>
              </a:lnSpc>
              <a:spcBef>
                <a:spcPts val="0"/>
              </a:spcBef>
              <a:spcAft>
                <a:spcPts val="100"/>
              </a:spcAft>
              <a:defRPr sz="800">
                <a:solidFill>
                  <a:srgbClr val="000000"/>
                </a:solidFill>
                <a:latin typeface="Courier New"/>
              </a:defRPr>
            </a:pPr>
            <a:r>
              <a:t>│  │        "tools": {},                                         │   │</a:t>
            </a:r>
          </a:p>
          <a:p>
            <a:pPr>
              <a:lnSpc>
                <a:spcPct val="100000"/>
              </a:lnSpc>
              <a:spcBef>
                <a:spcPts val="0"/>
              </a:spcBef>
              <a:spcAft>
                <a:spcPts val="100"/>
              </a:spcAft>
              <a:defRPr sz="800">
                <a:solidFill>
                  <a:srgbClr val="000000"/>
                </a:solidFill>
                <a:latin typeface="Courier New"/>
              </a:defRPr>
            </a:pPr>
            <a:r>
              <a:t>│  │        "resources": {},                                     │   │</a:t>
            </a:r>
          </a:p>
          <a:p>
            <a:pPr>
              <a:lnSpc>
                <a:spcPct val="100000"/>
              </a:lnSpc>
              <a:spcBef>
                <a:spcPts val="0"/>
              </a:spcBef>
              <a:spcAft>
                <a:spcPts val="100"/>
              </a:spcAft>
              <a:defRPr sz="800">
                <a:solidFill>
                  <a:srgbClr val="000000"/>
                </a:solidFill>
                <a:latin typeface="Courier New"/>
              </a:defRPr>
            </a:pPr>
            <a:r>
              <a:t>│  │        "prompts":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S1.17  The Complete Discovery Flow</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THE COMPLETE DISCOVERY FLOW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SEQUENCE DIAGRAM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Client  │                    │  Server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1. Connect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2. initialize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3. initialize response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4. tools/list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5. tools/list response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6. resources/list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7. resources/list response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8. prompts/list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9. prompts/list response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10. tools/call (add)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11. tools/call response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S1.18  MCP vs. Function Calling</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MCP VS. FUNCTION CALLING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FUNCTION CALLING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Works with specific LLM providers               │   │   │</a:t>
            </a:r>
          </a:p>
          <a:p>
            <a:pPr>
              <a:lnSpc>
                <a:spcPct val="100000"/>
              </a:lnSpc>
              <a:spcBef>
                <a:spcPts val="0"/>
              </a:spcBef>
              <a:spcAft>
                <a:spcPts val="100"/>
              </a:spcAft>
              <a:defRPr sz="800">
                <a:solidFill>
                  <a:srgbClr val="000000"/>
                </a:solidFill>
                <a:latin typeface="Courier New"/>
              </a:defRPr>
            </a:pPr>
            <a:r>
              <a:t>│  │  │  ✅ Simple to implement                            │   │   │</a:t>
            </a:r>
          </a:p>
          <a:p>
            <a:pPr>
              <a:lnSpc>
                <a:spcPct val="100000"/>
              </a:lnSpc>
              <a:spcBef>
                <a:spcPts val="0"/>
              </a:spcBef>
              <a:spcAft>
                <a:spcPts val="100"/>
              </a:spcAft>
              <a:defRPr sz="800">
                <a:solidFill>
                  <a:srgbClr val="000000"/>
                </a:solidFill>
                <a:latin typeface="Courier New"/>
              </a:defRPr>
            </a:pPr>
            <a:r>
              <a:t>│  │  │  ❌ Proprietary to each provider                   │   │   │</a:t>
            </a:r>
          </a:p>
          <a:p>
            <a:pPr>
              <a:lnSpc>
                <a:spcPct val="100000"/>
              </a:lnSpc>
              <a:spcBef>
                <a:spcPts val="0"/>
              </a:spcBef>
              <a:spcAft>
                <a:spcPts val="100"/>
              </a:spcAft>
              <a:defRPr sz="800">
                <a:solidFill>
                  <a:srgbClr val="000000"/>
                </a:solidFill>
                <a:latin typeface="Courier New"/>
              </a:defRPr>
            </a:pPr>
            <a:r>
              <a:t>│  │  │  ❌ No discovery mechanism                         │   │   │</a:t>
            </a:r>
          </a:p>
          <a:p>
            <a:pPr>
              <a:lnSpc>
                <a:spcPct val="100000"/>
              </a:lnSpc>
              <a:spcBef>
                <a:spcPts val="0"/>
              </a:spcBef>
              <a:spcAft>
                <a:spcPts val="100"/>
              </a:spcAft>
              <a:defRPr sz="800">
                <a:solidFill>
                  <a:srgbClr val="000000"/>
                </a:solidFill>
                <a:latin typeface="Courier New"/>
              </a:defRPr>
            </a:pPr>
            <a:r>
              <a:t>│  │  │  ❌ No standardization                             │   │   │</a:t>
            </a:r>
          </a:p>
          <a:p>
            <a:pPr>
              <a:lnSpc>
                <a:spcPct val="100000"/>
              </a:lnSpc>
              <a:spcBef>
                <a:spcPts val="0"/>
              </a:spcBef>
              <a:spcAft>
                <a:spcPts val="100"/>
              </a:spcAft>
              <a:defRPr sz="800">
                <a:solidFill>
                  <a:srgbClr val="000000"/>
                </a:solidFill>
                <a:latin typeface="Courier New"/>
              </a:defRPr>
            </a:pPr>
            <a:r>
              <a:t>│  │  │  ❌ Limited to a single tool per request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MCP PROTOCOL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Works with any LLM                              │   │   │</a:t>
            </a:r>
          </a:p>
          <a:p>
            <a:pPr>
              <a:lnSpc>
                <a:spcPct val="100000"/>
              </a:lnSpc>
              <a:spcBef>
                <a:spcPts val="0"/>
              </a:spcBef>
              <a:spcAft>
                <a:spcPts val="100"/>
              </a:spcAft>
              <a:defRPr sz="800">
                <a:solidFill>
                  <a:srgbClr val="000000"/>
                </a:solidFill>
                <a:latin typeface="Courier New"/>
              </a:defRPr>
            </a:pPr>
            <a:r>
              <a:t>│  │  │  ✅ Discovery mechanism                             │   │   │</a:t>
            </a:r>
          </a:p>
          <a:p>
            <a:pPr>
              <a:lnSpc>
                <a:spcPct val="100000"/>
              </a:lnSpc>
              <a:spcBef>
                <a:spcPts val="0"/>
              </a:spcBef>
              <a:spcAft>
                <a:spcPts val="100"/>
              </a:spcAft>
              <a:defRPr sz="800">
                <a:solidFill>
                  <a:srgbClr val="000000"/>
                </a:solidFill>
                <a:latin typeface="Courier New"/>
              </a:defRPr>
            </a:pPr>
            <a:r>
              <a:t>│  │  │  ✅ Standardized protocol                           │   │   │</a:t>
            </a:r>
          </a:p>
          <a:p>
            <a:pPr>
              <a:lnSpc>
                <a:spcPct val="100000"/>
              </a:lnSpc>
              <a:spcBef>
                <a:spcPts val="0"/>
              </a:spcBef>
              <a:spcAft>
                <a:spcPts val="100"/>
              </a:spcAft>
              <a:defRPr sz="800">
                <a:solidFill>
                  <a:srgbClr val="000000"/>
                </a:solidFill>
                <a:latin typeface="Courier New"/>
              </a:defRPr>
            </a:pPr>
            <a:r>
              <a:t>│  │  │  ✅ Multiple tools per request                      │   │   │</a:t>
            </a:r>
          </a:p>
          <a:p>
            <a:pPr>
              <a:lnSpc>
                <a:spcPct val="100000"/>
              </a:lnSpc>
              <a:spcBef>
                <a:spcPts val="0"/>
              </a:spcBef>
              <a:spcAft>
                <a:spcPts val="100"/>
              </a:spcAft>
              <a:defRPr sz="800">
                <a:solidFill>
                  <a:srgbClr val="000000"/>
                </a:solidFill>
                <a:latin typeface="Courier New"/>
              </a:defRPr>
            </a:pPr>
            <a:r>
              <a:t>│  │  │  ✅ Resources and prompts as well                   │   │   │</a:t>
            </a:r>
          </a:p>
          <a:p>
            <a:pPr>
              <a:lnSpc>
                <a:spcPct val="100000"/>
              </a:lnSpc>
              <a:spcBef>
                <a:spcPts val="0"/>
              </a:spcBef>
              <a:spcAft>
                <a:spcPts val="100"/>
              </a:spcAft>
              <a:defRPr sz="800">
                <a:solidFill>
                  <a:srgbClr val="000000"/>
                </a:solidFill>
                <a:latin typeface="Courier New"/>
              </a:defRPr>
            </a:pPr>
            <a:r>
              <a:t>│  │  │  ✅ Independent of provider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S1.19  When to Use MCP</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WHEN TO USE MCP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USE MCP IF: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You want your AI to interact with external systems      │   │</a:t>
            </a:r>
          </a:p>
          <a:p>
            <a:pPr>
              <a:lnSpc>
                <a:spcPct val="100000"/>
              </a:lnSpc>
              <a:spcBef>
                <a:spcPts val="0"/>
              </a:spcBef>
              <a:spcAft>
                <a:spcPts val="100"/>
              </a:spcAft>
              <a:defRPr sz="800">
                <a:solidFill>
                  <a:srgbClr val="000000"/>
                </a:solidFill>
                <a:latin typeface="Courier New"/>
              </a:defRPr>
            </a:pPr>
            <a:r>
              <a:t>│  │  ✅ You need to support multiple LLM providers              │   │</a:t>
            </a:r>
          </a:p>
          <a:p>
            <a:pPr>
              <a:lnSpc>
                <a:spcPct val="100000"/>
              </a:lnSpc>
              <a:spcBef>
                <a:spcPts val="0"/>
              </a:spcBef>
              <a:spcAft>
                <a:spcPts val="100"/>
              </a:spcAft>
              <a:defRPr sz="800">
                <a:solidFill>
                  <a:srgbClr val="000000"/>
                </a:solidFill>
                <a:latin typeface="Courier New"/>
              </a:defRPr>
            </a:pPr>
            <a:r>
              <a:t>│  │  ✅ You want dynamic discovery of capabilities             │   │</a:t>
            </a:r>
          </a:p>
          <a:p>
            <a:pPr>
              <a:lnSpc>
                <a:spcPct val="100000"/>
              </a:lnSpc>
              <a:spcBef>
                <a:spcPts val="0"/>
              </a:spcBef>
              <a:spcAft>
                <a:spcPts val="100"/>
              </a:spcAft>
              <a:defRPr sz="800">
                <a:solidFill>
                  <a:srgbClr val="000000"/>
                </a:solidFill>
                <a:latin typeface="Courier New"/>
              </a:defRPr>
            </a:pPr>
            <a:r>
              <a:t>│  │  ✅ You need to provide resources and prompts               │   │</a:t>
            </a:r>
          </a:p>
          <a:p>
            <a:pPr>
              <a:lnSpc>
                <a:spcPct val="100000"/>
              </a:lnSpc>
              <a:spcBef>
                <a:spcPts val="0"/>
              </a:spcBef>
              <a:spcAft>
                <a:spcPts val="100"/>
              </a:spcAft>
              <a:defRPr sz="800">
                <a:solidFill>
                  <a:srgbClr val="000000"/>
                </a:solidFill>
                <a:latin typeface="Courier New"/>
              </a:defRPr>
            </a:pPr>
            <a:r>
              <a:t>│  │  ✅ You want a standardized interface                       │   │</a:t>
            </a:r>
          </a:p>
          <a:p>
            <a:pPr>
              <a:lnSpc>
                <a:spcPct val="100000"/>
              </a:lnSpc>
              <a:spcBef>
                <a:spcPts val="0"/>
              </a:spcBef>
              <a:spcAft>
                <a:spcPts val="100"/>
              </a:spcAft>
              <a:defRPr sz="800">
                <a:solidFill>
                  <a:srgbClr val="000000"/>
                </a:solidFill>
                <a:latin typeface="Courier New"/>
              </a:defRPr>
            </a:pPr>
            <a:r>
              <a:t>│  │  ✅ You're building reusable AI tools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USE FUNCTION CALLING IF: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You're only using one provider (e.g., OpenAI)          │   │</a:t>
            </a:r>
          </a:p>
          <a:p>
            <a:pPr>
              <a:lnSpc>
                <a:spcPct val="100000"/>
              </a:lnSpc>
              <a:spcBef>
                <a:spcPts val="0"/>
              </a:spcBef>
              <a:spcAft>
                <a:spcPts val="100"/>
              </a:spcAft>
              <a:defRPr sz="800">
                <a:solidFill>
                  <a:srgbClr val="000000"/>
                </a:solidFill>
                <a:latin typeface="Courier New"/>
              </a:defRPr>
            </a:pPr>
            <a:r>
              <a:t>│  │  ✅ You need a simple, quick integration                   │   │</a:t>
            </a:r>
          </a:p>
          <a:p>
            <a:pPr>
              <a:lnSpc>
                <a:spcPct val="100000"/>
              </a:lnSpc>
              <a:spcBef>
                <a:spcPts val="0"/>
              </a:spcBef>
              <a:spcAft>
                <a:spcPts val="100"/>
              </a:spcAft>
              <a:defRPr sz="800">
                <a:solidFill>
                  <a:srgbClr val="000000"/>
                </a:solidFill>
                <a:latin typeface="Courier New"/>
              </a:defRPr>
            </a:pPr>
            <a:r>
              <a:t>│  │  ✅ You don't need discovery                                │   │</a:t>
            </a:r>
          </a:p>
          <a:p>
            <a:pPr>
              <a:lnSpc>
                <a:spcPct val="100000"/>
              </a:lnSpc>
              <a:spcBef>
                <a:spcPts val="0"/>
              </a:spcBef>
              <a:spcAft>
                <a:spcPts val="100"/>
              </a:spcAft>
              <a:defRPr sz="800">
                <a:solidFill>
                  <a:srgbClr val="000000"/>
                </a:solidFill>
                <a:latin typeface="Courier New"/>
              </a:defRPr>
            </a:pPr>
            <a:r>
              <a:t>│  │  ✅ You're building a prototype                            │   │</a:t>
            </a:r>
          </a:p>
          <a:p>
            <a:pPr>
              <a:lnSpc>
                <a:spcPct val="100000"/>
              </a:lnSpc>
              <a:spcBef>
                <a:spcPts val="0"/>
              </a:spcBef>
              <a:spcAft>
                <a:spcPts val="100"/>
              </a:spcAft>
              <a:defRPr sz="800">
                <a:solidFill>
                  <a:srgbClr val="000000"/>
                </a:solidFill>
                <a:latin typeface="Courier New"/>
              </a:defRPr>
            </a:pPr>
            <a:r>
              <a:t>│  │  ✅ You don't need resources or prompts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S1.20  Section Summary &amp; Next Steps</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SECTION SUMMARY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KEY TAKEAWAYS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1. MCP is an open protocol for standardizing AI-to-tool   │   │</a:t>
            </a:r>
          </a:p>
          <a:p>
            <a:pPr>
              <a:lnSpc>
                <a:spcPct val="100000"/>
              </a:lnSpc>
              <a:spcBef>
                <a:spcPts val="0"/>
              </a:spcBef>
              <a:spcAft>
                <a:spcPts val="100"/>
              </a:spcAft>
              <a:defRPr sz="800">
                <a:solidFill>
                  <a:srgbClr val="000000"/>
                </a:solidFill>
                <a:latin typeface="Courier New"/>
              </a:defRPr>
            </a:pPr>
            <a:r>
              <a:t>│  │     connections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2. Three pillars: Tools (actions), Resources (data),      │   │</a:t>
            </a:r>
          </a:p>
          <a:p>
            <a:pPr>
              <a:lnSpc>
                <a:spcPct val="100000"/>
              </a:lnSpc>
              <a:spcBef>
                <a:spcPts val="0"/>
              </a:spcBef>
              <a:spcAft>
                <a:spcPts val="100"/>
              </a:spcAft>
              <a:defRPr sz="800">
                <a:solidFill>
                  <a:srgbClr val="000000"/>
                </a:solidFill>
                <a:latin typeface="Courier New"/>
              </a:defRPr>
            </a:pPr>
            <a:r>
              <a:t>│  │     Prompts (templates)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3. Uses JSON-RPC 2.0 for communication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4. Supports multiple transports (stdio, WebSocket, HTTP)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5. Client-server architecture with dynamic discovery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NEXT STEPS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Next: Building Your First MCP Server                   │   │</a:t>
            </a:r>
          </a:p>
          <a:p>
            <a:pPr>
              <a:lnSpc>
                <a:spcPct val="100000"/>
              </a:lnSpc>
              <a:spcBef>
                <a:spcPts val="0"/>
              </a:spcBef>
              <a:spcAft>
                <a:spcPts val="100"/>
              </a:spcAft>
              <a:defRPr sz="800">
                <a:solidFill>
                  <a:srgbClr val="000000"/>
                </a:solidFill>
                <a:latin typeface="Courier New"/>
              </a:defRPr>
            </a:pPr>
            <a:r>
              <a:t>│  │  ➡️ We'll implement a complete server with tools,          │   │</a:t>
            </a:r>
          </a:p>
          <a:p>
            <a:pPr>
              <a:lnSpc>
                <a:spcPct val="100000"/>
              </a:lnSpc>
              <a:spcBef>
                <a:spcPts val="0"/>
              </a:spcBef>
              <a:spcAft>
                <a:spcPts val="100"/>
              </a:spcAft>
              <a:defRPr sz="800">
                <a:solidFill>
                  <a:srgbClr val="000000"/>
                </a:solidFill>
                <a:latin typeface="Courier New"/>
              </a:defRPr>
            </a:pPr>
            <a:r>
              <a:t>│  │     resources, and prompts                                  │   │</a:t>
            </a:r>
          </a:p>
          <a:p>
            <a:pPr>
              <a:lnSpc>
                <a:spcPct val="100000"/>
              </a:lnSpc>
              <a:spcBef>
                <a:spcPts val="0"/>
              </a:spcBef>
              <a:spcAft>
                <a:spcPts val="100"/>
              </a:spcAft>
              <a:defRPr sz="800">
                <a:solidFill>
                  <a:srgbClr val="000000"/>
                </a:solidFill>
                <a:latin typeface="Courier New"/>
              </a:defRPr>
            </a:pPr>
            <a:r>
              <a:t>│  │  ➡️ We'll test it with a client                           │   │</a:t>
            </a:r>
          </a:p>
          <a:p>
            <a:pPr>
              <a:lnSpc>
                <a:spcPct val="100000"/>
              </a:lnSpc>
              <a:spcBef>
                <a:spcPts val="0"/>
              </a:spcBef>
              <a:spcAft>
                <a:spcPts val="100"/>
              </a:spcAft>
              <a:defRPr sz="800">
                <a:solidFill>
                  <a:srgbClr val="000000"/>
                </a:solidFill>
                <a:latin typeface="Courier New"/>
              </a:defRPr>
            </a:pPr>
            <a:r>
              <a:t>│  │  ➡️ We'll inspect the JSON-RPC messages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S2.1  Building Your First MCP Server</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BUILDING YOUR FIRST MCP SERVER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WHAT WE'RE BUILDING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 complete MCP server with: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TOOLS                                            │   │   │</a:t>
            </a:r>
          </a:p>
          <a:p>
            <a:pPr>
              <a:lnSpc>
                <a:spcPct val="100000"/>
              </a:lnSpc>
              <a:spcBef>
                <a:spcPts val="0"/>
              </a:spcBef>
              <a:spcAft>
                <a:spcPts val="100"/>
              </a:spcAft>
              <a:defRPr sz="800">
                <a:solidFill>
                  <a:srgbClr val="000000"/>
                </a:solidFill>
                <a:latin typeface="Courier New"/>
              </a:defRPr>
            </a:pPr>
            <a:r>
              <a:t>│  │  │  • add(a, b) — Add two numbers                      │   │   │</a:t>
            </a:r>
          </a:p>
          <a:p>
            <a:pPr>
              <a:lnSpc>
                <a:spcPct val="100000"/>
              </a:lnSpc>
              <a:spcBef>
                <a:spcPts val="0"/>
              </a:spcBef>
              <a:spcAft>
                <a:spcPts val="100"/>
              </a:spcAft>
              <a:defRPr sz="800">
                <a:solidFill>
                  <a:srgbClr val="000000"/>
                </a:solidFill>
                <a:latin typeface="Courier New"/>
              </a:defRPr>
            </a:pPr>
            <a:r>
              <a:t>│  │  │  • subtract(a, b) — Subtract two numbers            │   │   │</a:t>
            </a:r>
          </a:p>
          <a:p>
            <a:pPr>
              <a:lnSpc>
                <a:spcPct val="100000"/>
              </a:lnSpc>
              <a:spcBef>
                <a:spcPts val="0"/>
              </a:spcBef>
              <a:spcAft>
                <a:spcPts val="100"/>
              </a:spcAft>
              <a:defRPr sz="800">
                <a:solidFill>
                  <a:srgbClr val="000000"/>
                </a:solidFill>
                <a:latin typeface="Courier New"/>
              </a:defRPr>
            </a:pPr>
            <a:r>
              <a:t>│  │  │  • multiply(a, b) — Multiply two numbers            │   │   │</a:t>
            </a:r>
          </a:p>
          <a:p>
            <a:pPr>
              <a:lnSpc>
                <a:spcPct val="100000"/>
              </a:lnSpc>
              <a:spcBef>
                <a:spcPts val="0"/>
              </a:spcBef>
              <a:spcAft>
                <a:spcPts val="100"/>
              </a:spcAft>
              <a:defRPr sz="800">
                <a:solidFill>
                  <a:srgbClr val="000000"/>
                </a:solidFill>
                <a:latin typeface="Courier New"/>
              </a:defRPr>
            </a:pPr>
            <a:r>
              <a:t>│  │  │  • divide(a, b) — Divide two numbers                │   │   │</a:t>
            </a:r>
          </a:p>
          <a:p>
            <a:pPr>
              <a:lnSpc>
                <a:spcPct val="100000"/>
              </a:lnSpc>
              <a:spcBef>
                <a:spcPts val="0"/>
              </a:spcBef>
              <a:spcAft>
                <a:spcPts val="100"/>
              </a:spcAft>
              <a:defRPr sz="800">
                <a:solidFill>
                  <a:srgbClr val="000000"/>
                </a:solidFill>
                <a:latin typeface="Courier New"/>
              </a:defRPr>
            </a:pPr>
            <a:r>
              <a:t>│  │  │  • read_file(path) — Read a file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RESOURCES                                        │   │   │</a:t>
            </a:r>
          </a:p>
          <a:p>
            <a:pPr>
              <a:lnSpc>
                <a:spcPct val="100000"/>
              </a:lnSpc>
              <a:spcBef>
                <a:spcPts val="0"/>
              </a:spcBef>
              <a:spcAft>
                <a:spcPts val="100"/>
              </a:spcAft>
              <a:defRPr sz="800">
                <a:solidFill>
                  <a:srgbClr val="000000"/>
                </a:solidFill>
                <a:latin typeface="Courier New"/>
              </a:defRPr>
            </a:pPr>
            <a:r>
              <a:t>│  │  │  • system://info — System information               │   │   │</a:t>
            </a:r>
          </a:p>
          <a:p>
            <a:pPr>
              <a:lnSpc>
                <a:spcPct val="100000"/>
              </a:lnSpc>
              <a:spcBef>
                <a:spcPts val="0"/>
              </a:spcBef>
              <a:spcAft>
                <a:spcPts val="100"/>
              </a:spcAft>
              <a:defRPr sz="800">
                <a:solidFill>
                  <a:srgbClr val="000000"/>
                </a:solidFill>
                <a:latin typeface="Courier New"/>
              </a:defRPr>
            </a:pPr>
            <a:r>
              <a:t>│  │  │  • server://status — Server status                 │   │   │</a:t>
            </a:r>
          </a:p>
          <a:p>
            <a:pPr>
              <a:lnSpc>
                <a:spcPct val="100000"/>
              </a:lnSpc>
              <a:spcBef>
                <a:spcPts val="0"/>
              </a:spcBef>
              <a:spcAft>
                <a:spcPts val="100"/>
              </a:spcAft>
              <a:defRPr sz="800">
                <a:solidFill>
                  <a:srgbClr val="000000"/>
                </a:solidFill>
                <a:latin typeface="Courier New"/>
              </a:defRPr>
            </a:pPr>
            <a:r>
              <a:t>│  │  │  • config://environment — Environment config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PROMPTS                                          │   │   │</a:t>
            </a:r>
          </a:p>
          <a:p>
            <a:pPr>
              <a:lnSpc>
                <a:spcPct val="100000"/>
              </a:lnSpc>
              <a:spcBef>
                <a:spcPts val="0"/>
              </a:spcBef>
              <a:spcAft>
                <a:spcPts val="100"/>
              </a:spcAft>
              <a:defRPr sz="800">
                <a:solidFill>
                  <a:srgbClr val="000000"/>
                </a:solidFill>
                <a:latin typeface="Courier New"/>
              </a:defRPr>
            </a:pPr>
            <a:r>
              <a:t>│  │  │  • welcome — Welcome message with capabilities      │   │   │</a:t>
            </a:r>
          </a:p>
          <a:p>
            <a:pPr>
              <a:lnSpc>
                <a:spcPct val="100000"/>
              </a:lnSpc>
              <a:spcBef>
                <a:spcPts val="0"/>
              </a:spcBef>
              <a:spcAft>
                <a:spcPts val="100"/>
              </a:spcAft>
              <a:defRPr sz="800">
                <a:solidFill>
                  <a:srgbClr val="000000"/>
                </a:solidFill>
                <a:latin typeface="Courier New"/>
              </a:defRPr>
            </a:pPr>
            <a:r>
              <a:t>│  │  │  • help — Help with using the server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S2.2  Project Setup &amp; Dependencies</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PROJECT SETUP &amp; DEPENDENCIES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CREATE PROJECT DIRECTORY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mkdir mcp-first-server                                   │   │</a:t>
            </a:r>
          </a:p>
          <a:p>
            <a:pPr>
              <a:lnSpc>
                <a:spcPct val="100000"/>
              </a:lnSpc>
              <a:spcBef>
                <a:spcPts val="0"/>
              </a:spcBef>
              <a:spcAft>
                <a:spcPts val="100"/>
              </a:spcAft>
              <a:defRPr sz="800">
                <a:solidFill>
                  <a:srgbClr val="000000"/>
                </a:solidFill>
                <a:latin typeface="Courier New"/>
              </a:defRPr>
            </a:pPr>
            <a:r>
              <a:t>│  │  $ cd mcp-first-server                                      │   │</a:t>
            </a:r>
          </a:p>
          <a:p>
            <a:pPr>
              <a:lnSpc>
                <a:spcPct val="100000"/>
              </a:lnSpc>
              <a:spcBef>
                <a:spcPts val="0"/>
              </a:spcBef>
              <a:spcAft>
                <a:spcPts val="100"/>
              </a:spcAft>
              <a:defRPr sz="800">
                <a:solidFill>
                  <a:srgbClr val="000000"/>
                </a:solidFill>
                <a:latin typeface="Courier New"/>
              </a:defRPr>
            </a:pPr>
            <a:r>
              <a:t>│  │  $ npm init -y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INSTALL DEPENDENCIES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npm install @modelcontextprotocol/sdk zod dotenv         │   │</a:t>
            </a:r>
          </a:p>
          <a:p>
            <a:pPr>
              <a:lnSpc>
                <a:spcPct val="100000"/>
              </a:lnSpc>
              <a:spcBef>
                <a:spcPts val="0"/>
              </a:spcBef>
              <a:spcAft>
                <a:spcPts val="100"/>
              </a:spcAft>
              <a:defRPr sz="800">
                <a:solidFill>
                  <a:srgbClr val="000000"/>
                </a:solidFill>
                <a:latin typeface="Courier New"/>
              </a:defRPr>
            </a:pPr>
            <a:r>
              <a:t>│  │  $ npm install -D typescript @types/node tsx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DEPENDENCY EXPLANATIONS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@modelcontextprotocol/sdk   │  Official MCP SDK   │   │   │</a:t>
            </a:r>
          </a:p>
          <a:p>
            <a:pPr>
              <a:lnSpc>
                <a:spcPct val="100000"/>
              </a:lnSpc>
              <a:spcBef>
                <a:spcPts val="0"/>
              </a:spcBef>
              <a:spcAft>
                <a:spcPts val="100"/>
              </a:spcAft>
              <a:defRPr sz="800">
                <a:solidFill>
                  <a:srgbClr val="000000"/>
                </a:solidFill>
                <a:latin typeface="Courier New"/>
              </a:defRPr>
            </a:pPr>
            <a:r>
              <a:t>│  │  │  zod                         │  Schema validation  │   │   │</a:t>
            </a:r>
          </a:p>
          <a:p>
            <a:pPr>
              <a:lnSpc>
                <a:spcPct val="100000"/>
              </a:lnSpc>
              <a:spcBef>
                <a:spcPts val="0"/>
              </a:spcBef>
              <a:spcAft>
                <a:spcPts val="100"/>
              </a:spcAft>
              <a:defRPr sz="800">
                <a:solidFill>
                  <a:srgbClr val="000000"/>
                </a:solidFill>
                <a:latin typeface="Courier New"/>
              </a:defRPr>
            </a:pPr>
            <a:r>
              <a:t>│  │  │  dotenv                      │  Environment vars   │   │   │</a:t>
            </a:r>
          </a:p>
          <a:p>
            <a:pPr>
              <a:lnSpc>
                <a:spcPct val="100000"/>
              </a:lnSpc>
              <a:spcBef>
                <a:spcPts val="0"/>
              </a:spcBef>
              <a:spcAft>
                <a:spcPts val="100"/>
              </a:spcAft>
              <a:defRPr sz="800">
                <a:solidFill>
                  <a:srgbClr val="000000"/>
                </a:solidFill>
                <a:latin typeface="Courier New"/>
              </a:defRPr>
            </a:pPr>
            <a:r>
              <a:t>│  │  │  typescript                  │  Type safety        │   │   │</a:t>
            </a:r>
          </a:p>
          <a:p>
            <a:pPr>
              <a:lnSpc>
                <a:spcPct val="100000"/>
              </a:lnSpc>
              <a:spcBef>
                <a:spcPts val="0"/>
              </a:spcBef>
              <a:spcAft>
                <a:spcPts val="100"/>
              </a:spcAft>
              <a:defRPr sz="800">
                <a:solidFill>
                  <a:srgbClr val="000000"/>
                </a:solidFill>
                <a:latin typeface="Courier New"/>
              </a:defRPr>
            </a:pPr>
            <a:r>
              <a:t>│  │  │  tsx                         │  Run TypeScript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S2.3  tsconfig.json Configuration</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TSCONFIG.JSON CONFIGURATION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TS CONFIG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"compilerOptions": {                                     │   │</a:t>
            </a:r>
          </a:p>
          <a:p>
            <a:pPr>
              <a:lnSpc>
                <a:spcPct val="100000"/>
              </a:lnSpc>
              <a:spcBef>
                <a:spcPts val="0"/>
              </a:spcBef>
              <a:spcAft>
                <a:spcPts val="100"/>
              </a:spcAft>
              <a:defRPr sz="800">
                <a:solidFill>
                  <a:srgbClr val="000000"/>
                </a:solidFill>
                <a:latin typeface="Courier New"/>
              </a:defRPr>
            </a:pPr>
            <a:r>
              <a:t>│  │      "target": "ES2022",              // Modern features   │   │</a:t>
            </a:r>
          </a:p>
          <a:p>
            <a:pPr>
              <a:lnSpc>
                <a:spcPct val="100000"/>
              </a:lnSpc>
              <a:spcBef>
                <a:spcPts val="0"/>
              </a:spcBef>
              <a:spcAft>
                <a:spcPts val="100"/>
              </a:spcAft>
              <a:defRPr sz="800">
                <a:solidFill>
                  <a:srgbClr val="000000"/>
                </a:solidFill>
                <a:latin typeface="Courier New"/>
              </a:defRPr>
            </a:pPr>
            <a:r>
              <a:t>│  │      "module": "NodeNext",            // ESM modules       │   │</a:t>
            </a:r>
          </a:p>
          <a:p>
            <a:pPr>
              <a:lnSpc>
                <a:spcPct val="100000"/>
              </a:lnSpc>
              <a:spcBef>
                <a:spcPts val="0"/>
              </a:spcBef>
              <a:spcAft>
                <a:spcPts val="100"/>
              </a:spcAft>
              <a:defRPr sz="800">
                <a:solidFill>
                  <a:srgbClr val="000000"/>
                </a:solidFill>
                <a:latin typeface="Courier New"/>
              </a:defRPr>
            </a:pPr>
            <a:r>
              <a:t>│  │      "moduleResolution": "NodeNext",  // Node resolution   │   │</a:t>
            </a:r>
          </a:p>
          <a:p>
            <a:pPr>
              <a:lnSpc>
                <a:spcPct val="100000"/>
              </a:lnSpc>
              <a:spcBef>
                <a:spcPts val="0"/>
              </a:spcBef>
              <a:spcAft>
                <a:spcPts val="100"/>
              </a:spcAft>
              <a:defRPr sz="800">
                <a:solidFill>
                  <a:srgbClr val="000000"/>
                </a:solidFill>
                <a:latin typeface="Courier New"/>
              </a:defRPr>
            </a:pPr>
            <a:r>
              <a:t>│  │      "outDir": "./dist",              // Output directory  │   │</a:t>
            </a:r>
          </a:p>
          <a:p>
            <a:pPr>
              <a:lnSpc>
                <a:spcPct val="100000"/>
              </a:lnSpc>
              <a:spcBef>
                <a:spcPts val="0"/>
              </a:spcBef>
              <a:spcAft>
                <a:spcPts val="100"/>
              </a:spcAft>
              <a:defRPr sz="800">
                <a:solidFill>
                  <a:srgbClr val="000000"/>
                </a:solidFill>
                <a:latin typeface="Courier New"/>
              </a:defRPr>
            </a:pPr>
            <a:r>
              <a:t>│  │      "rootDir": "./src",              // Source directory  │   │</a:t>
            </a:r>
          </a:p>
          <a:p>
            <a:pPr>
              <a:lnSpc>
                <a:spcPct val="100000"/>
              </a:lnSpc>
              <a:spcBef>
                <a:spcPts val="0"/>
              </a:spcBef>
              <a:spcAft>
                <a:spcPts val="100"/>
              </a:spcAft>
              <a:defRPr sz="800">
                <a:solidFill>
                  <a:srgbClr val="000000"/>
                </a:solidFill>
                <a:latin typeface="Courier New"/>
              </a:defRPr>
            </a:pPr>
            <a:r>
              <a:t>│  │      "strict": true,                  // Full type safety  │   │</a:t>
            </a:r>
          </a:p>
          <a:p>
            <a:pPr>
              <a:lnSpc>
                <a:spcPct val="100000"/>
              </a:lnSpc>
              <a:spcBef>
                <a:spcPts val="0"/>
              </a:spcBef>
              <a:spcAft>
                <a:spcPts val="100"/>
              </a:spcAft>
              <a:defRPr sz="800">
                <a:solidFill>
                  <a:srgbClr val="000000"/>
                </a:solidFill>
                <a:latin typeface="Courier New"/>
              </a:defRPr>
            </a:pPr>
            <a:r>
              <a:t>│  │      "esModuleInterop": true,         // CommonJS support  │   │</a:t>
            </a:r>
          </a:p>
          <a:p>
            <a:pPr>
              <a:lnSpc>
                <a:spcPct val="100000"/>
              </a:lnSpc>
              <a:spcBef>
                <a:spcPts val="0"/>
              </a:spcBef>
              <a:spcAft>
                <a:spcPts val="100"/>
              </a:spcAft>
              <a:defRPr sz="800">
                <a:solidFill>
                  <a:srgbClr val="000000"/>
                </a:solidFill>
                <a:latin typeface="Courier New"/>
              </a:defRPr>
            </a:pPr>
            <a:r>
              <a:t>│  │      "skipLibCheck": true,            // Faster builds     │   │</a:t>
            </a:r>
          </a:p>
          <a:p>
            <a:pPr>
              <a:lnSpc>
                <a:spcPct val="100000"/>
              </a:lnSpc>
              <a:spcBef>
                <a:spcPts val="0"/>
              </a:spcBef>
              <a:spcAft>
                <a:spcPts val="100"/>
              </a:spcAft>
              <a:defRPr sz="800">
                <a:solidFill>
                  <a:srgbClr val="000000"/>
                </a:solidFill>
                <a:latin typeface="Courier New"/>
              </a:defRPr>
            </a:pPr>
            <a:r>
              <a:t>│  │      "declaration": true,             // .d.ts files      │   │</a:t>
            </a:r>
          </a:p>
          <a:p>
            <a:pPr>
              <a:lnSpc>
                <a:spcPct val="100000"/>
              </a:lnSpc>
              <a:spcBef>
                <a:spcPts val="0"/>
              </a:spcBef>
              <a:spcAft>
                <a:spcPts val="100"/>
              </a:spcAft>
              <a:defRPr sz="800">
                <a:solidFill>
                  <a:srgbClr val="000000"/>
                </a:solidFill>
                <a:latin typeface="Courier New"/>
              </a:defRPr>
            </a:pPr>
            <a:r>
              <a:t>│  │      "sourceMap": true                // Debugging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"include": ["src/**/*"],                               │   │</a:t>
            </a:r>
          </a:p>
          <a:p>
            <a:pPr>
              <a:lnSpc>
                <a:spcPct val="100000"/>
              </a:lnSpc>
              <a:spcBef>
                <a:spcPts val="0"/>
              </a:spcBef>
              <a:spcAft>
                <a:spcPts val="100"/>
              </a:spcAft>
              <a:defRPr sz="800">
                <a:solidFill>
                  <a:srgbClr val="000000"/>
                </a:solidFill>
                <a:latin typeface="Courier New"/>
              </a:defRPr>
            </a:pPr>
            <a:r>
              <a:t>│  │    "exclude": ["node_modules", "dist"]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KEY SETTINGS EXPLAINED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"target": "ES2022"                                 │   │   │</a:t>
            </a:r>
          </a:p>
          <a:p>
            <a:pPr>
              <a:lnSpc>
                <a:spcPct val="100000"/>
              </a:lnSpc>
              <a:spcBef>
                <a:spcPts val="0"/>
              </a:spcBef>
              <a:spcAft>
                <a:spcPts val="100"/>
              </a:spcAft>
              <a:defRPr sz="800">
                <a:solidFill>
                  <a:srgbClr val="000000"/>
                </a:solidFill>
                <a:latin typeface="Courier New"/>
              </a:defRPr>
            </a:pPr>
            <a:r>
              <a:t>│  │  │  Uses modern JavaScript features                    │   │   │</a:t>
            </a:r>
          </a:p>
          <a:p>
            <a:pPr>
              <a:lnSpc>
                <a:spcPct val="100000"/>
              </a:lnSpc>
              <a:spcBef>
                <a:spcPts val="0"/>
              </a:spcBef>
              <a:spcAft>
                <a:spcPts val="100"/>
              </a:spcAft>
              <a:defRPr sz="800">
                <a:solidFill>
                  <a:srgbClr val="000000"/>
                </a:solidFill>
                <a:latin typeface="Courier New"/>
              </a:defRPr>
            </a:pPr>
            <a:r>
              <a:t>│  │  │                                                     │   │   │</a:t>
            </a:r>
          </a:p>
          <a:p>
            <a:pPr>
              <a:lnSpc>
                <a:spcPct val="100000"/>
              </a:lnSpc>
              <a:spcBef>
                <a:spcPts val="0"/>
              </a:spcBef>
              <a:spcAft>
                <a:spcPts val="100"/>
              </a:spcAft>
              <a:defRPr sz="800">
                <a:solidFill>
                  <a:srgbClr val="000000"/>
                </a:solidFill>
                <a:latin typeface="Courier New"/>
              </a:defRPr>
            </a:pPr>
            <a:r>
              <a:t>│  │  │  "module": "NodeNext"                              │   │   │</a:t>
            </a:r>
          </a:p>
          <a:p>
            <a:pPr>
              <a:lnSpc>
                <a:spcPct val="100000"/>
              </a:lnSpc>
              <a:spcBef>
                <a:spcPts val="0"/>
              </a:spcBef>
              <a:spcAft>
                <a:spcPts val="100"/>
              </a:spcAft>
              <a:defRPr sz="800">
                <a:solidFill>
                  <a:srgbClr val="000000"/>
                </a:solidFill>
                <a:latin typeface="Courier New"/>
              </a:defRPr>
            </a:pPr>
            <a:r>
              <a:t>│  │  │  Uses ESM (import/export) for better tree-shaking │   │   │</a:t>
            </a:r>
          </a:p>
          <a:p>
            <a:pPr>
              <a:lnSpc>
                <a:spcPct val="100000"/>
              </a:lnSpc>
              <a:spcBef>
                <a:spcPts val="0"/>
              </a:spcBef>
              <a:spcAft>
                <a:spcPts val="100"/>
              </a:spcAft>
              <a:defRPr sz="800">
                <a:solidFill>
                  <a:srgbClr val="000000"/>
                </a:solidFill>
                <a:latin typeface="Courier New"/>
              </a:defRPr>
            </a:pPr>
            <a:r>
              <a:t>│  │  │                                                     │   │   │</a:t>
            </a:r>
          </a:p>
          <a:p>
            <a:pPr>
              <a:lnSpc>
                <a:spcPct val="100000"/>
              </a:lnSpc>
              <a:spcBef>
                <a:spcPts val="0"/>
              </a:spcBef>
              <a:spcAft>
                <a:spcPts val="100"/>
              </a:spcAft>
              <a:defRPr sz="800">
                <a:solidFill>
                  <a:srgbClr val="000000"/>
                </a:solidFill>
                <a:latin typeface="Courier New"/>
              </a:defRPr>
            </a:pPr>
            <a:r>
              <a:t>│  │  │  "strict": true                                    │   │   │</a:t>
            </a:r>
          </a:p>
          <a:p>
            <a:pPr>
              <a:lnSpc>
                <a:spcPct val="100000"/>
              </a:lnSpc>
              <a:spcBef>
                <a:spcPts val="0"/>
              </a:spcBef>
              <a:spcAft>
                <a:spcPts val="100"/>
              </a:spcAft>
              <a:defRPr sz="800">
                <a:solidFill>
                  <a:srgbClr val="000000"/>
                </a:solidFill>
                <a:latin typeface="Courier New"/>
              </a:defRPr>
            </a:pPr>
            <a:r>
              <a:t>│  │  │  Enables all type checking features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S2.4  Package.json Scripts</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PACKAGE.JSON SCRIPTS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SCRIPTS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"scripts": {                                             │   │</a:t>
            </a:r>
          </a:p>
          <a:p>
            <a:pPr>
              <a:lnSpc>
                <a:spcPct val="100000"/>
              </a:lnSpc>
              <a:spcBef>
                <a:spcPts val="0"/>
              </a:spcBef>
              <a:spcAft>
                <a:spcPts val="100"/>
              </a:spcAft>
              <a:defRPr sz="800">
                <a:solidFill>
                  <a:srgbClr val="000000"/>
                </a:solidFill>
                <a:latin typeface="Courier New"/>
              </a:defRPr>
            </a:pPr>
            <a:r>
              <a:t>│  │      "build": "tsc",                                       │   │</a:t>
            </a:r>
          </a:p>
          <a:p>
            <a:pPr>
              <a:lnSpc>
                <a:spcPct val="100000"/>
              </a:lnSpc>
              <a:spcBef>
                <a:spcPts val="0"/>
              </a:spcBef>
              <a:spcAft>
                <a:spcPts val="100"/>
              </a:spcAft>
              <a:defRPr sz="800">
                <a:solidFill>
                  <a:srgbClr val="000000"/>
                </a:solidFill>
                <a:latin typeface="Courier New"/>
              </a:defRPr>
            </a:pPr>
            <a:r>
              <a:t>│  │      "start": "node dist/index.js",                       │   │</a:t>
            </a:r>
          </a:p>
          <a:p>
            <a:pPr>
              <a:lnSpc>
                <a:spcPct val="100000"/>
              </a:lnSpc>
              <a:spcBef>
                <a:spcPts val="0"/>
              </a:spcBef>
              <a:spcAft>
                <a:spcPts val="100"/>
              </a:spcAft>
              <a:defRPr sz="800">
                <a:solidFill>
                  <a:srgbClr val="000000"/>
                </a:solidFill>
                <a:latin typeface="Courier New"/>
              </a:defRPr>
            </a:pPr>
            <a:r>
              <a:t>│  │      "start:dev": "tsx src/index.ts"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SCRIPT EXPLANATIONS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"build": "tsc"                                     │   │   │</a:t>
            </a:r>
          </a:p>
          <a:p>
            <a:pPr>
              <a:lnSpc>
                <a:spcPct val="100000"/>
              </a:lnSpc>
              <a:spcBef>
                <a:spcPts val="0"/>
              </a:spcBef>
              <a:spcAft>
                <a:spcPts val="100"/>
              </a:spcAft>
              <a:defRPr sz="800">
                <a:solidFill>
                  <a:srgbClr val="000000"/>
                </a:solidFill>
                <a:latin typeface="Courier New"/>
              </a:defRPr>
            </a:pPr>
            <a:r>
              <a:t>│  │  │  Compiles TypeScript to JavaScript                   │   │   │</a:t>
            </a:r>
          </a:p>
          <a:p>
            <a:pPr>
              <a:lnSpc>
                <a:spcPct val="100000"/>
              </a:lnSpc>
              <a:spcBef>
                <a:spcPts val="0"/>
              </a:spcBef>
              <a:spcAft>
                <a:spcPts val="100"/>
              </a:spcAft>
              <a:defRPr sz="800">
                <a:solidFill>
                  <a:srgbClr val="000000"/>
                </a:solidFill>
                <a:latin typeface="Courier New"/>
              </a:defRPr>
            </a:pPr>
            <a:r>
              <a:t>│  │  │  Output goes to ./dist                              │   │   │</a:t>
            </a:r>
          </a:p>
          <a:p>
            <a:pPr>
              <a:lnSpc>
                <a:spcPct val="100000"/>
              </a:lnSpc>
              <a:spcBef>
                <a:spcPts val="0"/>
              </a:spcBef>
              <a:spcAft>
                <a:spcPts val="100"/>
              </a:spcAft>
              <a:defRPr sz="800">
                <a:solidFill>
                  <a:srgbClr val="000000"/>
                </a:solidFill>
                <a:latin typeface="Courier New"/>
              </a:defRPr>
            </a:pPr>
            <a:r>
              <a:t>│  │  │                                                     │   │   │</a:t>
            </a:r>
          </a:p>
          <a:p>
            <a:pPr>
              <a:lnSpc>
                <a:spcPct val="100000"/>
              </a:lnSpc>
              <a:spcBef>
                <a:spcPts val="0"/>
              </a:spcBef>
              <a:spcAft>
                <a:spcPts val="100"/>
              </a:spcAft>
              <a:defRPr sz="800">
                <a:solidFill>
                  <a:srgbClr val="000000"/>
                </a:solidFill>
                <a:latin typeface="Courier New"/>
              </a:defRPr>
            </a:pPr>
            <a:r>
              <a:t>│  │  │  "start": "node dist/index.js"                     │   │   │</a:t>
            </a:r>
          </a:p>
          <a:p>
            <a:pPr>
              <a:lnSpc>
                <a:spcPct val="100000"/>
              </a:lnSpc>
              <a:spcBef>
                <a:spcPts val="0"/>
              </a:spcBef>
              <a:spcAft>
                <a:spcPts val="100"/>
              </a:spcAft>
              <a:defRPr sz="800">
                <a:solidFill>
                  <a:srgbClr val="000000"/>
                </a:solidFill>
                <a:latin typeface="Courier New"/>
              </a:defRPr>
            </a:pPr>
            <a:r>
              <a:t>│  │  │  Runs the compiled JavaScript                      │   │   │</a:t>
            </a:r>
          </a:p>
          <a:p>
            <a:pPr>
              <a:lnSpc>
                <a:spcPct val="100000"/>
              </a:lnSpc>
              <a:spcBef>
                <a:spcPts val="0"/>
              </a:spcBef>
              <a:spcAft>
                <a:spcPts val="100"/>
              </a:spcAft>
              <a:defRPr sz="800">
                <a:solidFill>
                  <a:srgbClr val="000000"/>
                </a:solidFill>
                <a:latin typeface="Courier New"/>
              </a:defRPr>
            </a:pPr>
            <a:r>
              <a:t>│  │  │  For production use                                │   │   │</a:t>
            </a:r>
          </a:p>
          <a:p>
            <a:pPr>
              <a:lnSpc>
                <a:spcPct val="100000"/>
              </a:lnSpc>
              <a:spcBef>
                <a:spcPts val="0"/>
              </a:spcBef>
              <a:spcAft>
                <a:spcPts val="100"/>
              </a:spcAft>
              <a:defRPr sz="800">
                <a:solidFill>
                  <a:srgbClr val="000000"/>
                </a:solidFill>
                <a:latin typeface="Courier New"/>
              </a:defRPr>
            </a:pPr>
            <a:r>
              <a:t>│  │  │                                                     │   │   │</a:t>
            </a:r>
          </a:p>
          <a:p>
            <a:pPr>
              <a:lnSpc>
                <a:spcPct val="100000"/>
              </a:lnSpc>
              <a:spcBef>
                <a:spcPts val="0"/>
              </a:spcBef>
              <a:spcAft>
                <a:spcPts val="100"/>
              </a:spcAft>
              <a:defRPr sz="800">
                <a:solidFill>
                  <a:srgbClr val="000000"/>
                </a:solidFill>
                <a:latin typeface="Courier New"/>
              </a:defRPr>
            </a:pPr>
            <a:r>
              <a:t>│  │  │  "start:dev": "tsx src/index.ts"                   │   │   │</a:t>
            </a:r>
          </a:p>
          <a:p>
            <a:pPr>
              <a:lnSpc>
                <a:spcPct val="100000"/>
              </a:lnSpc>
              <a:spcBef>
                <a:spcPts val="0"/>
              </a:spcBef>
              <a:spcAft>
                <a:spcPts val="100"/>
              </a:spcAft>
              <a:defRPr sz="800">
                <a:solidFill>
                  <a:srgbClr val="000000"/>
                </a:solidFill>
                <a:latin typeface="Courier New"/>
              </a:defRPr>
            </a:pPr>
            <a:r>
              <a:t>│  │  │  Runs TypeScript directly                           │   │   │</a:t>
            </a:r>
          </a:p>
          <a:p>
            <a:pPr>
              <a:lnSpc>
                <a:spcPct val="100000"/>
              </a:lnSpc>
              <a:spcBef>
                <a:spcPts val="0"/>
              </a:spcBef>
              <a:spcAft>
                <a:spcPts val="100"/>
              </a:spcAft>
              <a:defRPr sz="800">
                <a:solidFill>
                  <a:srgbClr val="000000"/>
                </a:solidFill>
                <a:latin typeface="Courier New"/>
              </a:defRPr>
            </a:pPr>
            <a:r>
              <a:t>│  │  │  For development (auto-reload)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S2.5  Creating the Logger</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CREATING THE LOGGER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LOGGER IMPLEMENTATION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src/logger.ts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import pino from 'pino';                                   │   │</a:t>
            </a:r>
          </a:p>
          <a:p>
            <a:pPr>
              <a:lnSpc>
                <a:spcPct val="100000"/>
              </a:lnSpc>
              <a:spcBef>
                <a:spcPts val="0"/>
              </a:spcBef>
              <a:spcAft>
                <a:spcPts val="100"/>
              </a:spcAft>
              <a:defRPr sz="800">
                <a:solidFill>
                  <a:srgbClr val="000000"/>
                </a:solidFill>
                <a:latin typeface="Courier New"/>
              </a:defRPr>
            </a:pPr>
            <a:r>
              <a:t>│  │  import { randomUUID } from 'crypto';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export function createLogger() {                          │   │</a:t>
            </a:r>
          </a:p>
          <a:p>
            <a:pPr>
              <a:lnSpc>
                <a:spcPct val="100000"/>
              </a:lnSpc>
              <a:spcBef>
                <a:spcPts val="0"/>
              </a:spcBef>
              <a:spcAft>
                <a:spcPts val="100"/>
              </a:spcAft>
              <a:defRPr sz="800">
                <a:solidFill>
                  <a:srgbClr val="000000"/>
                </a:solidFill>
                <a:latin typeface="Courier New"/>
              </a:defRPr>
            </a:pPr>
            <a:r>
              <a:t>│  │    const logger = pino({                                   │   │</a:t>
            </a:r>
          </a:p>
          <a:p>
            <a:pPr>
              <a:lnSpc>
                <a:spcPct val="100000"/>
              </a:lnSpc>
              <a:spcBef>
                <a:spcPts val="0"/>
              </a:spcBef>
              <a:spcAft>
                <a:spcPts val="100"/>
              </a:spcAft>
              <a:defRPr sz="800">
                <a:solidFill>
                  <a:srgbClr val="000000"/>
                </a:solidFill>
                <a:latin typeface="Courier New"/>
              </a:defRPr>
            </a:pPr>
            <a:r>
              <a:t>│  │      level: process.env.LOG_LEVEL || 'info',              │   │</a:t>
            </a:r>
          </a:p>
          <a:p>
            <a:pPr>
              <a:lnSpc>
                <a:spcPct val="100000"/>
              </a:lnSpc>
              <a:spcBef>
                <a:spcPts val="0"/>
              </a:spcBef>
              <a:spcAft>
                <a:spcPts val="100"/>
              </a:spcAft>
              <a:defRPr sz="800">
                <a:solidFill>
                  <a:srgbClr val="000000"/>
                </a:solidFill>
                <a:latin typeface="Courier New"/>
              </a:defRPr>
            </a:pPr>
            <a:r>
              <a:t>│  │      base: {                                               │   │</a:t>
            </a:r>
          </a:p>
          <a:p>
            <a:pPr>
              <a:lnSpc>
                <a:spcPct val="100000"/>
              </a:lnSpc>
              <a:spcBef>
                <a:spcPts val="0"/>
              </a:spcBef>
              <a:spcAft>
                <a:spcPts val="100"/>
              </a:spcAft>
              <a:defRPr sz="800">
                <a:solidFill>
                  <a:srgbClr val="000000"/>
                </a:solidFill>
                <a:latin typeface="Courier New"/>
              </a:defRPr>
            </a:pPr>
            <a:r>
              <a:t>│  │        service: 'mcp-server',                              │   │</a:t>
            </a:r>
          </a:p>
          <a:p>
            <a:pPr>
              <a:lnSpc>
                <a:spcPct val="100000"/>
              </a:lnSpc>
              <a:spcBef>
                <a:spcPts val="0"/>
              </a:spcBef>
              <a:spcAft>
                <a:spcPts val="100"/>
              </a:spcAft>
              <a:defRPr sz="800">
                <a:solidFill>
                  <a:srgbClr val="000000"/>
                </a:solidFill>
                <a:latin typeface="Courier New"/>
              </a:defRPr>
            </a:pPr>
            <a:r>
              <a:t>│  │        requestId: randomUUID()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transport: {                                          │   │</a:t>
            </a:r>
          </a:p>
          <a:p>
            <a:pPr>
              <a:lnSpc>
                <a:spcPct val="100000"/>
              </a:lnSpc>
              <a:spcBef>
                <a:spcPts val="0"/>
              </a:spcBef>
              <a:spcAft>
                <a:spcPts val="100"/>
              </a:spcAft>
              <a:defRPr sz="800">
                <a:solidFill>
                  <a:srgbClr val="000000"/>
                </a:solidFill>
                <a:latin typeface="Courier New"/>
              </a:defRPr>
            </a:pPr>
            <a:r>
              <a:t>│  │        target: 'pino-pretty',                             │   │</a:t>
            </a:r>
          </a:p>
          <a:p>
            <a:pPr>
              <a:lnSpc>
                <a:spcPct val="100000"/>
              </a:lnSpc>
              <a:spcBef>
                <a:spcPts val="0"/>
              </a:spcBef>
              <a:spcAft>
                <a:spcPts val="100"/>
              </a:spcAft>
              <a:defRPr sz="800">
                <a:solidFill>
                  <a:srgbClr val="000000"/>
                </a:solidFill>
                <a:latin typeface="Courier New"/>
              </a:defRPr>
            </a:pPr>
            <a:r>
              <a:t>│  │        options: { colorize: true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return logger;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export const logger = createLogger();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WHY STRUCTURED LOGGING?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Machine-readable (JSON)                                │   │</a:t>
            </a:r>
          </a:p>
          <a:p>
            <a:pPr>
              <a:lnSpc>
                <a:spcPct val="100000"/>
              </a:lnSpc>
              <a:spcBef>
                <a:spcPts val="0"/>
              </a:spcBef>
              <a:spcAft>
                <a:spcPts val="100"/>
              </a:spcAft>
              <a:defRPr sz="800">
                <a:solidFill>
                  <a:srgbClr val="000000"/>
                </a:solidFill>
                <a:latin typeface="Courier New"/>
              </a:defRPr>
            </a:pPr>
            <a:r>
              <a:t>│  │  ✅ Includes timestamps, severity, context                 │   │</a:t>
            </a:r>
          </a:p>
          <a:p>
            <a:pPr>
              <a:lnSpc>
                <a:spcPct val="100000"/>
              </a:lnSpc>
              <a:spcBef>
                <a:spcPts val="0"/>
              </a:spcBef>
              <a:spcAft>
                <a:spcPts val="100"/>
              </a:spcAft>
              <a:defRPr sz="800">
                <a:solidFill>
                  <a:srgbClr val="000000"/>
                </a:solidFill>
                <a:latin typeface="Courier New"/>
              </a:defRPr>
            </a:pPr>
            <a:r>
              <a:t>│  │  ✅ Works with logging systems (ELK, Datadog)              │   │</a:t>
            </a:r>
          </a:p>
          <a:p>
            <a:pPr>
              <a:lnSpc>
                <a:spcPct val="100000"/>
              </a:lnSpc>
              <a:spcBef>
                <a:spcPts val="0"/>
              </a:spcBef>
              <a:spcAft>
                <a:spcPts val="100"/>
              </a:spcAft>
              <a:defRPr sz="800">
                <a:solidFill>
                  <a:srgbClr val="000000"/>
                </a:solidFill>
                <a:latin typeface="Courier New"/>
              </a:defRPr>
            </a:pPr>
            <a:r>
              <a:t>│  │  ✅ Human-readable with pino-pretty                        │   │</a:t>
            </a:r>
          </a:p>
          <a:p>
            <a:pPr>
              <a:lnSpc>
                <a:spcPct val="100000"/>
              </a:lnSpc>
              <a:spcBef>
                <a:spcPts val="0"/>
              </a:spcBef>
              <a:spcAft>
                <a:spcPts val="100"/>
              </a:spcAft>
              <a:defRPr sz="800">
                <a:solidFill>
                  <a:srgbClr val="000000"/>
                </a:solidFill>
                <a:latin typeface="Courier New"/>
              </a:defRPr>
            </a:pPr>
            <a:r>
              <a:t>│  │  ✅ Consistent across all components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S2.6  Defining Tools</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DEFINING TOOLS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TOOL STRUCTURE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const tool = {                                             │   │</a:t>
            </a:r>
          </a:p>
          <a:p>
            <a:pPr>
              <a:lnSpc>
                <a:spcPct val="100000"/>
              </a:lnSpc>
              <a:spcBef>
                <a:spcPts val="0"/>
              </a:spcBef>
              <a:spcAft>
                <a:spcPts val="100"/>
              </a:spcAft>
              <a:defRPr sz="800">
                <a:solidFill>
                  <a:srgbClr val="000000"/>
                </a:solidFill>
                <a:latin typeface="Courier New"/>
              </a:defRPr>
            </a:pPr>
            <a:r>
              <a:t>│  │    name: 'add',                                             │   │</a:t>
            </a:r>
          </a:p>
          <a:p>
            <a:pPr>
              <a:lnSpc>
                <a:spcPct val="100000"/>
              </a:lnSpc>
              <a:spcBef>
                <a:spcPts val="0"/>
              </a:spcBef>
              <a:spcAft>
                <a:spcPts val="100"/>
              </a:spcAft>
              <a:defRPr sz="800">
                <a:solidFill>
                  <a:srgbClr val="000000"/>
                </a:solidFill>
                <a:latin typeface="Courier New"/>
              </a:defRPr>
            </a:pPr>
            <a:r>
              <a:t>│  │    description: 'Add two numbers together',                 │   │</a:t>
            </a:r>
          </a:p>
          <a:p>
            <a:pPr>
              <a:lnSpc>
                <a:spcPct val="100000"/>
              </a:lnSpc>
              <a:spcBef>
                <a:spcPts val="0"/>
              </a:spcBef>
              <a:spcAft>
                <a:spcPts val="100"/>
              </a:spcAft>
              <a:defRPr sz="800">
                <a:solidFill>
                  <a:srgbClr val="000000"/>
                </a:solidFill>
                <a:latin typeface="Courier New"/>
              </a:defRPr>
            </a:pPr>
            <a:r>
              <a:t>│  │    schema: {                                                │   │</a:t>
            </a:r>
          </a:p>
          <a:p>
            <a:pPr>
              <a:lnSpc>
                <a:spcPct val="100000"/>
              </a:lnSpc>
              <a:spcBef>
                <a:spcPts val="0"/>
              </a:spcBef>
              <a:spcAft>
                <a:spcPts val="100"/>
              </a:spcAft>
              <a:defRPr sz="800">
                <a:solidFill>
                  <a:srgbClr val="000000"/>
                </a:solidFill>
                <a:latin typeface="Courier New"/>
              </a:defRPr>
            </a:pPr>
            <a:r>
              <a:t>│  │      a: z.number().describe('First number'),               │   │</a:t>
            </a:r>
          </a:p>
          <a:p>
            <a:pPr>
              <a:lnSpc>
                <a:spcPct val="100000"/>
              </a:lnSpc>
              <a:spcBef>
                <a:spcPts val="0"/>
              </a:spcBef>
              <a:spcAft>
                <a:spcPts val="100"/>
              </a:spcAft>
              <a:defRPr sz="800">
                <a:solidFill>
                  <a:srgbClr val="000000"/>
                </a:solidFill>
                <a:latin typeface="Courier New"/>
              </a:defRPr>
            </a:pPr>
            <a:r>
              <a:t>│  │      b: z.number().describe('Second number')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handler: async ({ a, b }) =&gt; {                          │   │</a:t>
            </a:r>
          </a:p>
          <a:p>
            <a:pPr>
              <a:lnSpc>
                <a:spcPct val="100000"/>
              </a:lnSpc>
              <a:spcBef>
                <a:spcPts val="0"/>
              </a:spcBef>
              <a:spcAft>
                <a:spcPts val="100"/>
              </a:spcAft>
              <a:defRPr sz="800">
                <a:solidFill>
                  <a:srgbClr val="000000"/>
                </a:solidFill>
                <a:latin typeface="Courier New"/>
              </a:defRPr>
            </a:pPr>
            <a:r>
              <a:t>│  │      const result = a + b;                                 │   │</a:t>
            </a:r>
          </a:p>
          <a:p>
            <a:pPr>
              <a:lnSpc>
                <a:spcPct val="100000"/>
              </a:lnSpc>
              <a:spcBef>
                <a:spcPts val="0"/>
              </a:spcBef>
              <a:spcAft>
                <a:spcPts val="100"/>
              </a:spcAft>
              <a:defRPr sz="800">
                <a:solidFill>
                  <a:srgbClr val="000000"/>
                </a:solidFill>
                <a:latin typeface="Courier New"/>
              </a:defRPr>
            </a:pPr>
            <a:r>
              <a:t>│  │      return {                                              │   │</a:t>
            </a:r>
          </a:p>
          <a:p>
            <a:pPr>
              <a:lnSpc>
                <a:spcPct val="100000"/>
              </a:lnSpc>
              <a:spcBef>
                <a:spcPts val="0"/>
              </a:spcBef>
              <a:spcAft>
                <a:spcPts val="100"/>
              </a:spcAft>
              <a:defRPr sz="800">
                <a:solidFill>
                  <a:srgbClr val="000000"/>
                </a:solidFill>
                <a:latin typeface="Courier New"/>
              </a:defRPr>
            </a:pPr>
            <a:r>
              <a:t>│  │        content: [{ type: 'text', text: `${a}+${b}=${result}`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TOOL COMPONENTS EXPLAINED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name          │  Unique identifier                 │   │   │</a:t>
            </a:r>
          </a:p>
          <a:p>
            <a:pPr>
              <a:lnSpc>
                <a:spcPct val="100000"/>
              </a:lnSpc>
              <a:spcBef>
                <a:spcPts val="0"/>
              </a:spcBef>
              <a:spcAft>
                <a:spcPts val="100"/>
              </a:spcAft>
              <a:defRPr sz="800">
                <a:solidFill>
                  <a:srgbClr val="000000"/>
                </a:solidFill>
                <a:latin typeface="Courier New"/>
              </a:defRPr>
            </a:pPr>
            <a:r>
              <a:t>│  │  │  description   │  What the tool does               │   │   │</a:t>
            </a:r>
          </a:p>
          <a:p>
            <a:pPr>
              <a:lnSpc>
                <a:spcPct val="100000"/>
              </a:lnSpc>
              <a:spcBef>
                <a:spcPts val="0"/>
              </a:spcBef>
              <a:spcAft>
                <a:spcPts val="100"/>
              </a:spcAft>
              <a:defRPr sz="800">
                <a:solidFill>
                  <a:srgbClr val="000000"/>
                </a:solidFill>
                <a:latin typeface="Courier New"/>
              </a:defRPr>
            </a:pPr>
            <a:r>
              <a:t>│  │  │  schema        │  Input validation (Zod)            │   │   │</a:t>
            </a:r>
          </a:p>
          <a:p>
            <a:pPr>
              <a:lnSpc>
                <a:spcPct val="100000"/>
              </a:lnSpc>
              <a:spcBef>
                <a:spcPts val="0"/>
              </a:spcBef>
              <a:spcAft>
                <a:spcPts val="100"/>
              </a:spcAft>
              <a:defRPr sz="800">
                <a:solidFill>
                  <a:srgbClr val="000000"/>
                </a:solidFill>
                <a:latin typeface="Courier New"/>
              </a:defRPr>
            </a:pPr>
            <a:r>
              <a:t>│  │  │  handler       │  The actual logic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S2.7  Full Tools Implementation</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FULL TOOLS IMPLEMENTATION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ARITHMETIC TOOLS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src/tools.ts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import { z } from 'zod';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export const arithmeticTools = {                          │   │</a:t>
            </a:r>
          </a:p>
          <a:p>
            <a:pPr>
              <a:lnSpc>
                <a:spcPct val="100000"/>
              </a:lnSpc>
              <a:spcBef>
                <a:spcPts val="0"/>
              </a:spcBef>
              <a:spcAft>
                <a:spcPts val="100"/>
              </a:spcAft>
              <a:defRPr sz="800">
                <a:solidFill>
                  <a:srgbClr val="000000"/>
                </a:solidFill>
                <a:latin typeface="Courier New"/>
              </a:defRPr>
            </a:pPr>
            <a:r>
              <a:t>│  │    add: {                                                   │   │</a:t>
            </a:r>
          </a:p>
          <a:p>
            <a:pPr>
              <a:lnSpc>
                <a:spcPct val="100000"/>
              </a:lnSpc>
              <a:spcBef>
                <a:spcPts val="0"/>
              </a:spcBef>
              <a:spcAft>
                <a:spcPts val="100"/>
              </a:spcAft>
              <a:defRPr sz="800">
                <a:solidFill>
                  <a:srgbClr val="000000"/>
                </a:solidFill>
                <a:latin typeface="Courier New"/>
              </a:defRPr>
            </a:pPr>
            <a:r>
              <a:t>│  │      name: 'add',                                           │   │</a:t>
            </a:r>
          </a:p>
          <a:p>
            <a:pPr>
              <a:lnSpc>
                <a:spcPct val="100000"/>
              </a:lnSpc>
              <a:spcBef>
                <a:spcPts val="0"/>
              </a:spcBef>
              <a:spcAft>
                <a:spcPts val="100"/>
              </a:spcAft>
              <a:defRPr sz="800">
                <a:solidFill>
                  <a:srgbClr val="000000"/>
                </a:solidFill>
                <a:latin typeface="Courier New"/>
              </a:defRPr>
            </a:pPr>
            <a:r>
              <a:t>│  │      description: 'Add two numbers together',               │   │</a:t>
            </a:r>
          </a:p>
          <a:p>
            <a:pPr>
              <a:lnSpc>
                <a:spcPct val="100000"/>
              </a:lnSpc>
              <a:spcBef>
                <a:spcPts val="0"/>
              </a:spcBef>
              <a:spcAft>
                <a:spcPts val="100"/>
              </a:spcAft>
              <a:defRPr sz="800">
                <a:solidFill>
                  <a:srgbClr val="000000"/>
                </a:solidFill>
                <a:latin typeface="Courier New"/>
              </a:defRPr>
            </a:pPr>
            <a:r>
              <a:t>│  │      schema: { a: z.number(), b: z.number() },             │   │</a:t>
            </a:r>
          </a:p>
          <a:p>
            <a:pPr>
              <a:lnSpc>
                <a:spcPct val="100000"/>
              </a:lnSpc>
              <a:spcBef>
                <a:spcPts val="0"/>
              </a:spcBef>
              <a:spcAft>
                <a:spcPts val="100"/>
              </a:spcAft>
              <a:defRPr sz="800">
                <a:solidFill>
                  <a:srgbClr val="000000"/>
                </a:solidFill>
                <a:latin typeface="Courier New"/>
              </a:defRPr>
            </a:pPr>
            <a:r>
              <a:t>│  │      handler: async ({ a, b }) =&gt; ({                        │   │</a:t>
            </a:r>
          </a:p>
          <a:p>
            <a:pPr>
              <a:lnSpc>
                <a:spcPct val="100000"/>
              </a:lnSpc>
              <a:spcBef>
                <a:spcPts val="0"/>
              </a:spcBef>
              <a:spcAft>
                <a:spcPts val="100"/>
              </a:spcAft>
              <a:defRPr sz="800">
                <a:solidFill>
                  <a:srgbClr val="000000"/>
                </a:solidFill>
                <a:latin typeface="Courier New"/>
              </a:defRPr>
            </a:pPr>
            <a:r>
              <a:t>│  │        content: [{ type: 'text', text: `${a}+${b}=${a+b}`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subtract: {                                              │   │</a:t>
            </a:r>
          </a:p>
          <a:p>
            <a:pPr>
              <a:lnSpc>
                <a:spcPct val="100000"/>
              </a:lnSpc>
              <a:spcBef>
                <a:spcPts val="0"/>
              </a:spcBef>
              <a:spcAft>
                <a:spcPts val="100"/>
              </a:spcAft>
              <a:defRPr sz="800">
                <a:solidFill>
                  <a:srgbClr val="000000"/>
                </a:solidFill>
                <a:latin typeface="Courier New"/>
              </a:defRPr>
            </a:pPr>
            <a:r>
              <a:t>│  │      name: 'subtract',                                      │   │</a:t>
            </a:r>
          </a:p>
          <a:p>
            <a:pPr>
              <a:lnSpc>
                <a:spcPct val="100000"/>
              </a:lnSpc>
              <a:spcBef>
                <a:spcPts val="0"/>
              </a:spcBef>
              <a:spcAft>
                <a:spcPts val="100"/>
              </a:spcAft>
              <a:defRPr sz="800">
                <a:solidFill>
                  <a:srgbClr val="000000"/>
                </a:solidFill>
                <a:latin typeface="Courier New"/>
              </a:defRPr>
            </a:pPr>
            <a:r>
              <a:t>│  │      description: 'Subtract one number from another',       │   │</a:t>
            </a:r>
          </a:p>
          <a:p>
            <a:pPr>
              <a:lnSpc>
                <a:spcPct val="100000"/>
              </a:lnSpc>
              <a:spcBef>
                <a:spcPts val="0"/>
              </a:spcBef>
              <a:spcAft>
                <a:spcPts val="100"/>
              </a:spcAft>
              <a:defRPr sz="800">
                <a:solidFill>
                  <a:srgbClr val="000000"/>
                </a:solidFill>
                <a:latin typeface="Courier New"/>
              </a:defRPr>
            </a:pPr>
            <a:r>
              <a:t>│  │      schema: { a: z.number(), b: z.number() },             │   │</a:t>
            </a:r>
          </a:p>
          <a:p>
            <a:pPr>
              <a:lnSpc>
                <a:spcPct val="100000"/>
              </a:lnSpc>
              <a:spcBef>
                <a:spcPts val="0"/>
              </a:spcBef>
              <a:spcAft>
                <a:spcPts val="100"/>
              </a:spcAft>
              <a:defRPr sz="800">
                <a:solidFill>
                  <a:srgbClr val="000000"/>
                </a:solidFill>
                <a:latin typeface="Courier New"/>
              </a:defRPr>
            </a:pPr>
            <a:r>
              <a:t>│  │      handler: async ({ a, b }) =&gt; ({                        │   │</a:t>
            </a:r>
          </a:p>
          <a:p>
            <a:pPr>
              <a:lnSpc>
                <a:spcPct val="100000"/>
              </a:lnSpc>
              <a:spcBef>
                <a:spcPts val="0"/>
              </a:spcBef>
              <a:spcAft>
                <a:spcPts val="100"/>
              </a:spcAft>
              <a:defRPr sz="800">
                <a:solidFill>
                  <a:srgbClr val="000000"/>
                </a:solidFill>
                <a:latin typeface="Courier New"/>
              </a:defRPr>
            </a:pPr>
            <a:r>
              <a:t>│  │        content: [{ type: 'text', text: `${a}-${b}=${a-b}`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multiply: {                                              │   │</a:t>
            </a:r>
          </a:p>
          <a:p>
            <a:pPr>
              <a:lnSpc>
                <a:spcPct val="100000"/>
              </a:lnSpc>
              <a:spcBef>
                <a:spcPts val="0"/>
              </a:spcBef>
              <a:spcAft>
                <a:spcPts val="100"/>
              </a:spcAft>
              <a:defRPr sz="800">
                <a:solidFill>
                  <a:srgbClr val="000000"/>
                </a:solidFill>
                <a:latin typeface="Courier New"/>
              </a:defRPr>
            </a:pPr>
            <a:r>
              <a:t>│  │      name: 'multiply',                                      │   │</a:t>
            </a:r>
          </a:p>
          <a:p>
            <a:pPr>
              <a:lnSpc>
                <a:spcPct val="100000"/>
              </a:lnSpc>
              <a:spcBef>
                <a:spcPts val="0"/>
              </a:spcBef>
              <a:spcAft>
                <a:spcPts val="100"/>
              </a:spcAft>
              <a:defRPr sz="800">
                <a:solidFill>
                  <a:srgbClr val="000000"/>
                </a:solidFill>
                <a:latin typeface="Courier New"/>
              </a:defRPr>
            </a:pPr>
            <a:r>
              <a:t>│  │      description: 'Multiply two numbers',                   │   │</a:t>
            </a:r>
          </a:p>
          <a:p>
            <a:pPr>
              <a:lnSpc>
                <a:spcPct val="100000"/>
              </a:lnSpc>
              <a:spcBef>
                <a:spcPts val="0"/>
              </a:spcBef>
              <a:spcAft>
                <a:spcPts val="100"/>
              </a:spcAft>
              <a:defRPr sz="800">
                <a:solidFill>
                  <a:srgbClr val="000000"/>
                </a:solidFill>
                <a:latin typeface="Courier New"/>
              </a:defRPr>
            </a:pPr>
            <a:r>
              <a:t>│  │      schema: { a: z.number(), b: z.number() },             │   │</a:t>
            </a:r>
          </a:p>
          <a:p>
            <a:pPr>
              <a:lnSpc>
                <a:spcPct val="100000"/>
              </a:lnSpc>
              <a:spcBef>
                <a:spcPts val="0"/>
              </a:spcBef>
              <a:spcAft>
                <a:spcPts val="100"/>
              </a:spcAft>
              <a:defRPr sz="800">
                <a:solidFill>
                  <a:srgbClr val="000000"/>
                </a:solidFill>
                <a:latin typeface="Courier New"/>
              </a:defRPr>
            </a:pPr>
            <a:r>
              <a:t>│  │      handler: async ({ a, b }) =&gt; ({                        │   │</a:t>
            </a:r>
          </a:p>
          <a:p>
            <a:pPr>
              <a:lnSpc>
                <a:spcPct val="100000"/>
              </a:lnSpc>
              <a:spcBef>
                <a:spcPts val="0"/>
              </a:spcBef>
              <a:spcAft>
                <a:spcPts val="100"/>
              </a:spcAft>
              <a:defRPr sz="800">
                <a:solidFill>
                  <a:srgbClr val="000000"/>
                </a:solidFill>
                <a:latin typeface="Courier New"/>
              </a:defRPr>
            </a:pPr>
            <a:r>
              <a:t>│  │        content: [{ type: 'text', text: `${a}×${b}=${a*b}`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divide: {                                                │   │</a:t>
            </a:r>
          </a:p>
          <a:p>
            <a:pPr>
              <a:lnSpc>
                <a:spcPct val="100000"/>
              </a:lnSpc>
              <a:spcBef>
                <a:spcPts val="0"/>
              </a:spcBef>
              <a:spcAft>
                <a:spcPts val="100"/>
              </a:spcAft>
              <a:defRPr sz="800">
                <a:solidFill>
                  <a:srgbClr val="000000"/>
                </a:solidFill>
                <a:latin typeface="Courier New"/>
              </a:defRPr>
            </a:pPr>
            <a:r>
              <a:t>│  │      name: 'divide',                                        │   │</a:t>
            </a:r>
          </a:p>
          <a:p>
            <a:pPr>
              <a:lnSpc>
                <a:spcPct val="100000"/>
              </a:lnSpc>
              <a:spcBef>
                <a:spcPts val="0"/>
              </a:spcBef>
              <a:spcAft>
                <a:spcPts val="100"/>
              </a:spcAft>
              <a:defRPr sz="800">
                <a:solidFill>
                  <a:srgbClr val="000000"/>
                </a:solidFill>
                <a:latin typeface="Courier New"/>
              </a:defRPr>
            </a:pPr>
            <a:r>
              <a:t>│  │      description: 'Divide one number by another',           │   │</a:t>
            </a:r>
          </a:p>
          <a:p>
            <a:pPr>
              <a:lnSpc>
                <a:spcPct val="100000"/>
              </a:lnSpc>
              <a:spcBef>
                <a:spcPts val="0"/>
              </a:spcBef>
              <a:spcAft>
                <a:spcPts val="100"/>
              </a:spcAft>
              <a:defRPr sz="800">
                <a:solidFill>
                  <a:srgbClr val="000000"/>
                </a:solidFill>
                <a:latin typeface="Courier New"/>
              </a:defRPr>
            </a:pPr>
            <a:r>
              <a:t>│  │      schema: { a: z.number(), b: z.number() },             │   │</a:t>
            </a:r>
          </a:p>
          <a:p>
            <a:pPr>
              <a:lnSpc>
                <a:spcPct val="100000"/>
              </a:lnSpc>
              <a:spcBef>
                <a:spcPts val="0"/>
              </a:spcBef>
              <a:spcAft>
                <a:spcPts val="100"/>
              </a:spcAft>
              <a:defRPr sz="800">
                <a:solidFill>
                  <a:srgbClr val="000000"/>
                </a:solidFill>
                <a:latin typeface="Courier New"/>
              </a:defRPr>
            </a:pPr>
            <a:r>
              <a:t>│  │      handler: async ({ a, b }) =&gt; {                         │   │</a:t>
            </a:r>
          </a:p>
          <a:p>
            <a:pPr>
              <a:lnSpc>
                <a:spcPct val="100000"/>
              </a:lnSpc>
              <a:spcBef>
                <a:spcPts val="0"/>
              </a:spcBef>
              <a:spcAft>
                <a:spcPts val="100"/>
              </a:spcAft>
              <a:defRPr sz="800">
                <a:solidFill>
                  <a:srgbClr val="000000"/>
                </a:solidFill>
                <a:latin typeface="Courier New"/>
              </a:defRPr>
            </a:pPr>
            <a:r>
              <a:t>│  │        if (b === 0) return {                                │   │</a:t>
            </a:r>
          </a:p>
          <a:p>
            <a:pPr>
              <a:lnSpc>
                <a:spcPct val="100000"/>
              </a:lnSpc>
              <a:spcBef>
                <a:spcPts val="0"/>
              </a:spcBef>
              <a:spcAft>
                <a:spcPts val="100"/>
              </a:spcAft>
              <a:defRPr sz="800">
                <a:solidFill>
                  <a:srgbClr val="000000"/>
                </a:solidFill>
                <a:latin typeface="Courier New"/>
              </a:defRPr>
            </a:pPr>
            <a:r>
              <a:t>│  │          content: [{ type: 'text', text: 'Cannot divide by zero' }], │   │</a:t>
            </a:r>
          </a:p>
          <a:p>
            <a:pPr>
              <a:lnSpc>
                <a:spcPct val="100000"/>
              </a:lnSpc>
              <a:spcBef>
                <a:spcPts val="0"/>
              </a:spcBef>
              <a:spcAft>
                <a:spcPts val="100"/>
              </a:spcAft>
              <a:defRPr sz="800">
                <a:solidFill>
                  <a:srgbClr val="000000"/>
                </a:solidFill>
                <a:latin typeface="Courier New"/>
              </a:defRPr>
            </a:pPr>
            <a:r>
              <a:t>│  │          isError: true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return {                                             │   │</a:t>
            </a:r>
          </a:p>
          <a:p>
            <a:pPr>
              <a:lnSpc>
                <a:spcPct val="100000"/>
              </a:lnSpc>
              <a:spcBef>
                <a:spcPts val="0"/>
              </a:spcBef>
              <a:spcAft>
                <a:spcPts val="100"/>
              </a:spcAft>
              <a:defRPr sz="800">
                <a:solidFill>
                  <a:srgbClr val="000000"/>
                </a:solidFill>
                <a:latin typeface="Courier New"/>
              </a:defRPr>
            </a:pPr>
            <a:r>
              <a:t>│  │          content: [{ type: 'text', text: `${a}÷${b}=${a/b}`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S2.8  File System Tools</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FILE SYSTEM TOOLS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READ FILE TOOL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src/tools.ts (continued)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import { promises as fs } from 'fs';                      │   │</a:t>
            </a:r>
          </a:p>
          <a:p>
            <a:pPr>
              <a:lnSpc>
                <a:spcPct val="100000"/>
              </a:lnSpc>
              <a:spcBef>
                <a:spcPts val="0"/>
              </a:spcBef>
              <a:spcAft>
                <a:spcPts val="100"/>
              </a:spcAft>
              <a:defRPr sz="800">
                <a:solidFill>
                  <a:srgbClr val="000000"/>
                </a:solidFill>
                <a:latin typeface="Courier New"/>
              </a:defRPr>
            </a:pPr>
            <a:r>
              <a:t>│  │  import path from 'path';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export const fileTools = {                                │   │</a:t>
            </a:r>
          </a:p>
          <a:p>
            <a:pPr>
              <a:lnSpc>
                <a:spcPct val="100000"/>
              </a:lnSpc>
              <a:spcBef>
                <a:spcPts val="0"/>
              </a:spcBef>
              <a:spcAft>
                <a:spcPts val="100"/>
              </a:spcAft>
              <a:defRPr sz="800">
                <a:solidFill>
                  <a:srgbClr val="000000"/>
                </a:solidFill>
                <a:latin typeface="Courier New"/>
              </a:defRPr>
            </a:pPr>
            <a:r>
              <a:t>│  │    readFile: {                                              │   │</a:t>
            </a:r>
          </a:p>
          <a:p>
            <a:pPr>
              <a:lnSpc>
                <a:spcPct val="100000"/>
              </a:lnSpc>
              <a:spcBef>
                <a:spcPts val="0"/>
              </a:spcBef>
              <a:spcAft>
                <a:spcPts val="100"/>
              </a:spcAft>
              <a:defRPr sz="800">
                <a:solidFill>
                  <a:srgbClr val="000000"/>
                </a:solidFill>
                <a:latin typeface="Courier New"/>
              </a:defRPr>
            </a:pPr>
            <a:r>
              <a:t>│  │      name: 'read_file',                                     │   │</a:t>
            </a:r>
          </a:p>
          <a:p>
            <a:pPr>
              <a:lnSpc>
                <a:spcPct val="100000"/>
              </a:lnSpc>
              <a:spcBef>
                <a:spcPts val="0"/>
              </a:spcBef>
              <a:spcAft>
                <a:spcPts val="100"/>
              </a:spcAft>
              <a:defRPr sz="800">
                <a:solidFill>
                  <a:srgbClr val="000000"/>
                </a:solidFill>
                <a:latin typeface="Courier New"/>
              </a:defRPr>
            </a:pPr>
            <a:r>
              <a:t>│  │      description: 'Read a file from the filesystem',        │   │</a:t>
            </a:r>
          </a:p>
          <a:p>
            <a:pPr>
              <a:lnSpc>
                <a:spcPct val="100000"/>
              </a:lnSpc>
              <a:spcBef>
                <a:spcPts val="0"/>
              </a:spcBef>
              <a:spcAft>
                <a:spcPts val="100"/>
              </a:spcAft>
              <a:defRPr sz="800">
                <a:solidFill>
                  <a:srgbClr val="000000"/>
                </a:solidFill>
                <a:latin typeface="Courier New"/>
              </a:defRPr>
            </a:pPr>
            <a:r>
              <a:t>│  │      schema: { path: z.string() },                         │   │</a:t>
            </a:r>
          </a:p>
          <a:p>
            <a:pPr>
              <a:lnSpc>
                <a:spcPct val="100000"/>
              </a:lnSpc>
              <a:spcBef>
                <a:spcPts val="0"/>
              </a:spcBef>
              <a:spcAft>
                <a:spcPts val="100"/>
              </a:spcAft>
              <a:defRPr sz="800">
                <a:solidFill>
                  <a:srgbClr val="000000"/>
                </a:solidFill>
                <a:latin typeface="Courier New"/>
              </a:defRPr>
            </a:pPr>
            <a:r>
              <a:t>│  │      handler: async ({ path: filePath }) =&gt; {              │   │</a:t>
            </a:r>
          </a:p>
          <a:p>
            <a:pPr>
              <a:lnSpc>
                <a:spcPct val="100000"/>
              </a:lnSpc>
              <a:spcBef>
                <a:spcPts val="0"/>
              </a:spcBef>
              <a:spcAft>
                <a:spcPts val="100"/>
              </a:spcAft>
              <a:defRPr sz="800">
                <a:solidFill>
                  <a:srgbClr val="000000"/>
                </a:solidFill>
                <a:latin typeface="Courier New"/>
              </a:defRPr>
            </a:pPr>
            <a:r>
              <a:t>│  │        // Security: Prevent path traversal                 │   │</a:t>
            </a:r>
          </a:p>
          <a:p>
            <a:pPr>
              <a:lnSpc>
                <a:spcPct val="100000"/>
              </a:lnSpc>
              <a:spcBef>
                <a:spcPts val="0"/>
              </a:spcBef>
              <a:spcAft>
                <a:spcPts val="100"/>
              </a:spcAft>
              <a:defRPr sz="800">
                <a:solidFill>
                  <a:srgbClr val="000000"/>
                </a:solidFill>
                <a:latin typeface="Courier New"/>
              </a:defRPr>
            </a:pPr>
            <a:r>
              <a:t>│  │        const fullPath = path.join(process.cwd(), filePath);│   │</a:t>
            </a:r>
          </a:p>
          <a:p>
            <a:pPr>
              <a:lnSpc>
                <a:spcPct val="100000"/>
              </a:lnSpc>
              <a:spcBef>
                <a:spcPts val="0"/>
              </a:spcBef>
              <a:spcAft>
                <a:spcPts val="100"/>
              </a:spcAft>
              <a:defRPr sz="800">
                <a:solidFill>
                  <a:srgbClr val="000000"/>
                </a:solidFill>
                <a:latin typeface="Courier New"/>
              </a:defRPr>
            </a:pPr>
            <a:r>
              <a:t>│  │        const normalized = path.normalize(fullPath);        │   │</a:t>
            </a:r>
          </a:p>
          <a:p>
            <a:pPr>
              <a:lnSpc>
                <a:spcPct val="100000"/>
              </a:lnSpc>
              <a:spcBef>
                <a:spcPts val="0"/>
              </a:spcBef>
              <a:spcAft>
                <a:spcPts val="100"/>
              </a:spcAft>
              <a:defRPr sz="800">
                <a:solidFill>
                  <a:srgbClr val="000000"/>
                </a:solidFill>
                <a:latin typeface="Courier New"/>
              </a:defRPr>
            </a:pPr>
            <a:r>
              <a:t>│  │        if (!normalized.startsWith(process.cwd())) {        │   │</a:t>
            </a:r>
          </a:p>
          <a:p>
            <a:pPr>
              <a:lnSpc>
                <a:spcPct val="100000"/>
              </a:lnSpc>
              <a:spcBef>
                <a:spcPts val="0"/>
              </a:spcBef>
              <a:spcAft>
                <a:spcPts val="100"/>
              </a:spcAft>
              <a:defRPr sz="800">
                <a:solidFill>
                  <a:srgbClr val="000000"/>
                </a:solidFill>
                <a:latin typeface="Courier New"/>
              </a:defRPr>
            </a:pPr>
            <a:r>
              <a:t>│  │          return { content: [{ type: 'text', text: 'Access denied' }], │   │</a:t>
            </a:r>
          </a:p>
          <a:p>
            <a:pPr>
              <a:lnSpc>
                <a:spcPct val="100000"/>
              </a:lnSpc>
              <a:spcBef>
                <a:spcPts val="0"/>
              </a:spcBef>
              <a:spcAft>
                <a:spcPts val="100"/>
              </a:spcAft>
              <a:defRPr sz="800">
                <a:solidFill>
                  <a:srgbClr val="000000"/>
                </a:solidFill>
                <a:latin typeface="Courier New"/>
              </a:defRPr>
            </a:pPr>
            <a:r>
              <a:t>│  │                   isError: true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try {                                                │   │</a:t>
            </a:r>
          </a:p>
          <a:p>
            <a:pPr>
              <a:lnSpc>
                <a:spcPct val="100000"/>
              </a:lnSpc>
              <a:spcBef>
                <a:spcPts val="0"/>
              </a:spcBef>
              <a:spcAft>
                <a:spcPts val="100"/>
              </a:spcAft>
              <a:defRPr sz="800">
                <a:solidFill>
                  <a:srgbClr val="000000"/>
                </a:solidFill>
                <a:latin typeface="Courier New"/>
              </a:defRPr>
            </a:pPr>
            <a:r>
              <a:t>│  │          const content = await fs.readFile(normalized, 'utf-8'); │   │</a:t>
            </a:r>
          </a:p>
          <a:p>
            <a:pPr>
              <a:lnSpc>
                <a:spcPct val="100000"/>
              </a:lnSpc>
              <a:spcBef>
                <a:spcPts val="0"/>
              </a:spcBef>
              <a:spcAft>
                <a:spcPts val="100"/>
              </a:spcAft>
              <a:defRPr sz="800">
                <a:solidFill>
                  <a:srgbClr val="000000"/>
                </a:solidFill>
                <a:latin typeface="Courier New"/>
              </a:defRPr>
            </a:pPr>
            <a:r>
              <a:t>│  │          return { content: [{ type: 'text', text: content }] }; │   │</a:t>
            </a:r>
          </a:p>
          <a:p>
            <a:pPr>
              <a:lnSpc>
                <a:spcPct val="100000"/>
              </a:lnSpc>
              <a:spcBef>
                <a:spcPts val="0"/>
              </a:spcBef>
              <a:spcAft>
                <a:spcPts val="100"/>
              </a:spcAft>
              <a:defRPr sz="800">
                <a:solidFill>
                  <a:srgbClr val="000000"/>
                </a:solidFill>
                <a:latin typeface="Courier New"/>
              </a:defRPr>
            </a:pPr>
            <a:r>
              <a:t>│  │        } catch {                                            │   │</a:t>
            </a:r>
          </a:p>
          <a:p>
            <a:pPr>
              <a:lnSpc>
                <a:spcPct val="100000"/>
              </a:lnSpc>
              <a:spcBef>
                <a:spcPts val="0"/>
              </a:spcBef>
              <a:spcAft>
                <a:spcPts val="100"/>
              </a:spcAft>
              <a:defRPr sz="800">
                <a:solidFill>
                  <a:srgbClr val="000000"/>
                </a:solidFill>
                <a:latin typeface="Courier New"/>
              </a:defRPr>
            </a:pPr>
            <a:r>
              <a:t>│  │          return { content: [{ type: 'text', text: 'File not found' }], │   │</a:t>
            </a:r>
          </a:p>
          <a:p>
            <a:pPr>
              <a:lnSpc>
                <a:spcPct val="100000"/>
              </a:lnSpc>
              <a:spcBef>
                <a:spcPts val="0"/>
              </a:spcBef>
              <a:spcAft>
                <a:spcPts val="100"/>
              </a:spcAft>
              <a:defRPr sz="800">
                <a:solidFill>
                  <a:srgbClr val="000000"/>
                </a:solidFill>
                <a:latin typeface="Courier New"/>
              </a:defRPr>
            </a:pPr>
            <a:r>
              <a:t>│  │                   isError: true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SECURITY CONSIDERATIONS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Path traversal prevention                              │   │</a:t>
            </a:r>
          </a:p>
          <a:p>
            <a:pPr>
              <a:lnSpc>
                <a:spcPct val="100000"/>
              </a:lnSpc>
              <a:spcBef>
                <a:spcPts val="0"/>
              </a:spcBef>
              <a:spcAft>
                <a:spcPts val="100"/>
              </a:spcAft>
              <a:defRPr sz="800">
                <a:solidFill>
                  <a:srgbClr val="000000"/>
                </a:solidFill>
                <a:latin typeface="Courier New"/>
              </a:defRPr>
            </a:pPr>
            <a:r>
              <a:t>│  │  🔒 Only allow files within project directory              │   │</a:t>
            </a:r>
          </a:p>
          <a:p>
            <a:pPr>
              <a:lnSpc>
                <a:spcPct val="100000"/>
              </a:lnSpc>
              <a:spcBef>
                <a:spcPts val="0"/>
              </a:spcBef>
              <a:spcAft>
                <a:spcPts val="100"/>
              </a:spcAft>
              <a:defRPr sz="800">
                <a:solidFill>
                  <a:srgbClr val="000000"/>
                </a:solidFill>
                <a:latin typeface="Courier New"/>
              </a:defRPr>
            </a:pPr>
            <a:r>
              <a:t>│  │  🔒 Error handling for missing files                       │   │</a:t>
            </a:r>
          </a:p>
          <a:p>
            <a:pPr>
              <a:lnSpc>
                <a:spcPct val="100000"/>
              </a:lnSpc>
              <a:spcBef>
                <a:spcPts val="0"/>
              </a:spcBef>
              <a:spcAft>
                <a:spcPts val="100"/>
              </a:spcAft>
              <a:defRPr sz="800">
                <a:solidFill>
                  <a:srgbClr val="000000"/>
                </a:solidFill>
                <a:latin typeface="Courier New"/>
              </a:defRPr>
            </a:pPr>
            <a:r>
              <a:t>│  │  🔒 No file write capabilities (read-only)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S2.9  Defining Resources</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DEFINING RESOURCES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RESOURCE STRUCTURE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const resource = {                                         │   │</a:t>
            </a:r>
          </a:p>
          <a:p>
            <a:pPr>
              <a:lnSpc>
                <a:spcPct val="100000"/>
              </a:lnSpc>
              <a:spcBef>
                <a:spcPts val="0"/>
              </a:spcBef>
              <a:spcAft>
                <a:spcPts val="100"/>
              </a:spcAft>
              <a:defRPr sz="800">
                <a:solidFill>
                  <a:srgbClr val="000000"/>
                </a:solidFill>
                <a:latin typeface="Courier New"/>
              </a:defRPr>
            </a:pPr>
            <a:r>
              <a:t>│  │    uri: 'system://info',                                    │   │</a:t>
            </a:r>
          </a:p>
          <a:p>
            <a:pPr>
              <a:lnSpc>
                <a:spcPct val="100000"/>
              </a:lnSpc>
              <a:spcBef>
                <a:spcPts val="0"/>
              </a:spcBef>
              <a:spcAft>
                <a:spcPts val="100"/>
              </a:spcAft>
              <a:defRPr sz="800">
                <a:solidFill>
                  <a:srgbClr val="000000"/>
                </a:solidFill>
                <a:latin typeface="Courier New"/>
              </a:defRPr>
            </a:pPr>
            <a:r>
              <a:t>│  │    name: 'system_info',                                     │   │</a:t>
            </a:r>
          </a:p>
          <a:p>
            <a:pPr>
              <a:lnSpc>
                <a:spcPct val="100000"/>
              </a:lnSpc>
              <a:spcBef>
                <a:spcPts val="0"/>
              </a:spcBef>
              <a:spcAft>
                <a:spcPts val="100"/>
              </a:spcAft>
              <a:defRPr sz="800">
                <a:solidFill>
                  <a:srgbClr val="000000"/>
                </a:solidFill>
                <a:latin typeface="Courier New"/>
              </a:defRPr>
            </a:pPr>
            <a:r>
              <a:t>│  │    description: 'System information',                       │   │</a:t>
            </a:r>
          </a:p>
          <a:p>
            <a:pPr>
              <a:lnSpc>
                <a:spcPct val="100000"/>
              </a:lnSpc>
              <a:spcBef>
                <a:spcPts val="0"/>
              </a:spcBef>
              <a:spcAft>
                <a:spcPts val="100"/>
              </a:spcAft>
              <a:defRPr sz="800">
                <a:solidFill>
                  <a:srgbClr val="000000"/>
                </a:solidFill>
                <a:latin typeface="Courier New"/>
              </a:defRPr>
            </a:pPr>
            <a:r>
              <a:t>│  │    mimeType: 'application/json',                            │   │</a:t>
            </a:r>
          </a:p>
          <a:p>
            <a:pPr>
              <a:lnSpc>
                <a:spcPct val="100000"/>
              </a:lnSpc>
              <a:spcBef>
                <a:spcPts val="0"/>
              </a:spcBef>
              <a:spcAft>
                <a:spcPts val="100"/>
              </a:spcAft>
              <a:defRPr sz="800">
                <a:solidFill>
                  <a:srgbClr val="000000"/>
                </a:solidFill>
                <a:latin typeface="Courier New"/>
              </a:defRPr>
            </a:pPr>
            <a:r>
              <a:t>│  │    handler: async () =&gt; {                                   │   │</a:t>
            </a:r>
          </a:p>
          <a:p>
            <a:pPr>
              <a:lnSpc>
                <a:spcPct val="100000"/>
              </a:lnSpc>
              <a:spcBef>
                <a:spcPts val="0"/>
              </a:spcBef>
              <a:spcAft>
                <a:spcPts val="100"/>
              </a:spcAft>
              <a:defRPr sz="800">
                <a:solidFill>
                  <a:srgbClr val="000000"/>
                </a:solidFill>
                <a:latin typeface="Courier New"/>
              </a:defRPr>
            </a:pPr>
            <a:r>
              <a:t>│  │      const data = { hostname: os.hostname() };             │   │</a:t>
            </a:r>
          </a:p>
          <a:p>
            <a:pPr>
              <a:lnSpc>
                <a:spcPct val="100000"/>
              </a:lnSpc>
              <a:spcBef>
                <a:spcPts val="0"/>
              </a:spcBef>
              <a:spcAft>
                <a:spcPts val="100"/>
              </a:spcAft>
              <a:defRPr sz="800">
                <a:solidFill>
                  <a:srgbClr val="000000"/>
                </a:solidFill>
                <a:latin typeface="Courier New"/>
              </a:defRPr>
            </a:pPr>
            <a:r>
              <a:t>│  │      return {                                               │   │</a:t>
            </a:r>
          </a:p>
          <a:p>
            <a:pPr>
              <a:lnSpc>
                <a:spcPct val="100000"/>
              </a:lnSpc>
              <a:spcBef>
                <a:spcPts val="0"/>
              </a:spcBef>
              <a:spcAft>
                <a:spcPts val="100"/>
              </a:spcAft>
              <a:defRPr sz="800">
                <a:solidFill>
                  <a:srgbClr val="000000"/>
                </a:solidFill>
                <a:latin typeface="Courier New"/>
              </a:defRPr>
            </a:pPr>
            <a:r>
              <a:t>│  │        contents: [{                                         │   │</a:t>
            </a:r>
          </a:p>
          <a:p>
            <a:pPr>
              <a:lnSpc>
                <a:spcPct val="100000"/>
              </a:lnSpc>
              <a:spcBef>
                <a:spcPts val="0"/>
              </a:spcBef>
              <a:spcAft>
                <a:spcPts val="100"/>
              </a:spcAft>
              <a:defRPr sz="800">
                <a:solidFill>
                  <a:srgbClr val="000000"/>
                </a:solidFill>
                <a:latin typeface="Courier New"/>
              </a:defRPr>
            </a:pPr>
            <a:r>
              <a:t>│  │          uri: 'system://info',                              │   │</a:t>
            </a:r>
          </a:p>
          <a:p>
            <a:pPr>
              <a:lnSpc>
                <a:spcPct val="100000"/>
              </a:lnSpc>
              <a:spcBef>
                <a:spcPts val="0"/>
              </a:spcBef>
              <a:spcAft>
                <a:spcPts val="100"/>
              </a:spcAft>
              <a:defRPr sz="800">
                <a:solidFill>
                  <a:srgbClr val="000000"/>
                </a:solidFill>
                <a:latin typeface="Courier New"/>
              </a:defRPr>
            </a:pPr>
            <a:r>
              <a:t>│  │          text: JSON.stringify(data),                        │   │</a:t>
            </a:r>
          </a:p>
          <a:p>
            <a:pPr>
              <a:lnSpc>
                <a:spcPct val="100000"/>
              </a:lnSpc>
              <a:spcBef>
                <a:spcPts val="0"/>
              </a:spcBef>
              <a:spcAft>
                <a:spcPts val="100"/>
              </a:spcAft>
              <a:defRPr sz="800">
                <a:solidFill>
                  <a:srgbClr val="000000"/>
                </a:solidFill>
                <a:latin typeface="Courier New"/>
              </a:defRPr>
            </a:pPr>
            <a:r>
              <a:t>│  │          mimeType: 'application/json'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RESOURCE COMPONENTS EXPLAINED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uri        │  Unique identifier (like a URL)       │   │   │</a:t>
            </a:r>
          </a:p>
          <a:p>
            <a:pPr>
              <a:lnSpc>
                <a:spcPct val="100000"/>
              </a:lnSpc>
              <a:spcBef>
                <a:spcPts val="0"/>
              </a:spcBef>
              <a:spcAft>
                <a:spcPts val="100"/>
              </a:spcAft>
              <a:defRPr sz="800">
                <a:solidFill>
                  <a:srgbClr val="000000"/>
                </a:solidFill>
                <a:latin typeface="Courier New"/>
              </a:defRPr>
            </a:pPr>
            <a:r>
              <a:t>│  │  │  name       │  Human-readable name                  │   │   │</a:t>
            </a:r>
          </a:p>
          <a:p>
            <a:pPr>
              <a:lnSpc>
                <a:spcPct val="100000"/>
              </a:lnSpc>
              <a:spcBef>
                <a:spcPts val="0"/>
              </a:spcBef>
              <a:spcAft>
                <a:spcPts val="100"/>
              </a:spcAft>
              <a:defRPr sz="800">
                <a:solidFill>
                  <a:srgbClr val="000000"/>
                </a:solidFill>
                <a:latin typeface="Courier New"/>
              </a:defRPr>
            </a:pPr>
            <a:r>
              <a:t>│  │  │  description│  What the resource provides           │   │   │</a:t>
            </a:r>
          </a:p>
          <a:p>
            <a:pPr>
              <a:lnSpc>
                <a:spcPct val="100000"/>
              </a:lnSpc>
              <a:spcBef>
                <a:spcPts val="0"/>
              </a:spcBef>
              <a:spcAft>
                <a:spcPts val="100"/>
              </a:spcAft>
              <a:defRPr sz="800">
                <a:solidFill>
                  <a:srgbClr val="000000"/>
                </a:solidFill>
                <a:latin typeface="Courier New"/>
              </a:defRPr>
            </a:pPr>
            <a:r>
              <a:t>│  │  │  mimeType   │  Content type (JSON, text, etc.)     │   │   │</a:t>
            </a:r>
          </a:p>
          <a:p>
            <a:pPr>
              <a:lnSpc>
                <a:spcPct val="100000"/>
              </a:lnSpc>
              <a:spcBef>
                <a:spcPts val="0"/>
              </a:spcBef>
              <a:spcAft>
                <a:spcPts val="100"/>
              </a:spcAft>
              <a:defRPr sz="800">
                <a:solidFill>
                  <a:srgbClr val="000000"/>
                </a:solidFill>
                <a:latin typeface="Courier New"/>
              </a:defRPr>
            </a:pPr>
            <a:r>
              <a:t>│  │  │  handler    │  Returns the data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S2.10  Full Resources Implementation</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FULL RESOURCES IMPLEMENTATION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RESOURCES IMPLEMENTATION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src/resources.ts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import os from 'os';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export const systemInfoResource = {                       │   │</a:t>
            </a:r>
          </a:p>
          <a:p>
            <a:pPr>
              <a:lnSpc>
                <a:spcPct val="100000"/>
              </a:lnSpc>
              <a:spcBef>
                <a:spcPts val="0"/>
              </a:spcBef>
              <a:spcAft>
                <a:spcPts val="100"/>
              </a:spcAft>
              <a:defRPr sz="800">
                <a:solidFill>
                  <a:srgbClr val="000000"/>
                </a:solidFill>
                <a:latin typeface="Courier New"/>
              </a:defRPr>
            </a:pPr>
            <a:r>
              <a:t>│  │    uri: 'system://info',                                    │   │</a:t>
            </a:r>
          </a:p>
          <a:p>
            <a:pPr>
              <a:lnSpc>
                <a:spcPct val="100000"/>
              </a:lnSpc>
              <a:spcBef>
                <a:spcPts val="0"/>
              </a:spcBef>
              <a:spcAft>
                <a:spcPts val="100"/>
              </a:spcAft>
              <a:defRPr sz="800">
                <a:solidFill>
                  <a:srgbClr val="000000"/>
                </a:solidFill>
                <a:latin typeface="Courier New"/>
              </a:defRPr>
            </a:pPr>
            <a:r>
              <a:t>│  │    name: 'system_info',                                     │   │</a:t>
            </a:r>
          </a:p>
          <a:p>
            <a:pPr>
              <a:lnSpc>
                <a:spcPct val="100000"/>
              </a:lnSpc>
              <a:spcBef>
                <a:spcPts val="0"/>
              </a:spcBef>
              <a:spcAft>
                <a:spcPts val="100"/>
              </a:spcAft>
              <a:defRPr sz="800">
                <a:solidFill>
                  <a:srgbClr val="000000"/>
                </a:solidFill>
                <a:latin typeface="Courier New"/>
              </a:defRPr>
            </a:pPr>
            <a:r>
              <a:t>│  │    description: 'System information including OS, CPU',     │   │</a:t>
            </a:r>
          </a:p>
          <a:p>
            <a:pPr>
              <a:lnSpc>
                <a:spcPct val="100000"/>
              </a:lnSpc>
              <a:spcBef>
                <a:spcPts val="0"/>
              </a:spcBef>
              <a:spcAft>
                <a:spcPts val="100"/>
              </a:spcAft>
              <a:defRPr sz="800">
                <a:solidFill>
                  <a:srgbClr val="000000"/>
                </a:solidFill>
                <a:latin typeface="Courier New"/>
              </a:defRPr>
            </a:pPr>
            <a:r>
              <a:t>│  │    mimeType: 'application/json',                            │   │</a:t>
            </a:r>
          </a:p>
          <a:p>
            <a:pPr>
              <a:lnSpc>
                <a:spcPct val="100000"/>
              </a:lnSpc>
              <a:spcBef>
                <a:spcPts val="0"/>
              </a:spcBef>
              <a:spcAft>
                <a:spcPts val="100"/>
              </a:spcAft>
              <a:defRPr sz="800">
                <a:solidFill>
                  <a:srgbClr val="000000"/>
                </a:solidFill>
                <a:latin typeface="Courier New"/>
              </a:defRPr>
            </a:pPr>
            <a:r>
              <a:t>│  │    handler: async () =&gt; ({                                  │   │</a:t>
            </a:r>
          </a:p>
          <a:p>
            <a:pPr>
              <a:lnSpc>
                <a:spcPct val="100000"/>
              </a:lnSpc>
              <a:spcBef>
                <a:spcPts val="0"/>
              </a:spcBef>
              <a:spcAft>
                <a:spcPts val="100"/>
              </a:spcAft>
              <a:defRPr sz="800">
                <a:solidFill>
                  <a:srgbClr val="000000"/>
                </a:solidFill>
                <a:latin typeface="Courier New"/>
              </a:defRPr>
            </a:pPr>
            <a:r>
              <a:t>│  │      const systemInfo = {                                   │   │</a:t>
            </a:r>
          </a:p>
          <a:p>
            <a:pPr>
              <a:lnSpc>
                <a:spcPct val="100000"/>
              </a:lnSpc>
              <a:spcBef>
                <a:spcPts val="0"/>
              </a:spcBef>
              <a:spcAft>
                <a:spcPts val="100"/>
              </a:spcAft>
              <a:defRPr sz="800">
                <a:solidFill>
                  <a:srgbClr val="000000"/>
                </a:solidFill>
                <a:latin typeface="Courier New"/>
              </a:defRPr>
            </a:pPr>
            <a:r>
              <a:t>│  │        hostname: os.hostname(),                             │   │</a:t>
            </a:r>
          </a:p>
          <a:p>
            <a:pPr>
              <a:lnSpc>
                <a:spcPct val="100000"/>
              </a:lnSpc>
              <a:spcBef>
                <a:spcPts val="0"/>
              </a:spcBef>
              <a:spcAft>
                <a:spcPts val="100"/>
              </a:spcAft>
              <a:defRPr sz="800">
                <a:solidFill>
                  <a:srgbClr val="000000"/>
                </a:solidFill>
                <a:latin typeface="Courier New"/>
              </a:defRPr>
            </a:pPr>
            <a:r>
              <a:t>│  │        platform: os.platform(),                             │   │</a:t>
            </a:r>
          </a:p>
          <a:p>
            <a:pPr>
              <a:lnSpc>
                <a:spcPct val="100000"/>
              </a:lnSpc>
              <a:spcBef>
                <a:spcPts val="0"/>
              </a:spcBef>
              <a:spcAft>
                <a:spcPts val="100"/>
              </a:spcAft>
              <a:defRPr sz="800">
                <a:solidFill>
                  <a:srgbClr val="000000"/>
                </a:solidFill>
                <a:latin typeface="Courier New"/>
              </a:defRPr>
            </a:pPr>
            <a:r>
              <a:t>│  │        arch: os.arch(),                                     │   │</a:t>
            </a:r>
          </a:p>
          <a:p>
            <a:pPr>
              <a:lnSpc>
                <a:spcPct val="100000"/>
              </a:lnSpc>
              <a:spcBef>
                <a:spcPts val="0"/>
              </a:spcBef>
              <a:spcAft>
                <a:spcPts val="100"/>
              </a:spcAft>
              <a:defRPr sz="800">
                <a:solidFill>
                  <a:srgbClr val="000000"/>
                </a:solidFill>
                <a:latin typeface="Courier New"/>
              </a:defRPr>
            </a:pPr>
            <a:r>
              <a:t>│  │        cpus: os.cpus().length,                              │   │</a:t>
            </a:r>
          </a:p>
          <a:p>
            <a:pPr>
              <a:lnSpc>
                <a:spcPct val="100000"/>
              </a:lnSpc>
              <a:spcBef>
                <a:spcPts val="0"/>
              </a:spcBef>
              <a:spcAft>
                <a:spcPts val="100"/>
              </a:spcAft>
              <a:defRPr sz="800">
                <a:solidFill>
                  <a:srgbClr val="000000"/>
                </a:solidFill>
                <a:latin typeface="Courier New"/>
              </a:defRPr>
            </a:pPr>
            <a:r>
              <a:t>│  │        memory: { total: os.totalmem(), free: os.freemem()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return {                                               │   │</a:t>
            </a:r>
          </a:p>
          <a:p>
            <a:pPr>
              <a:lnSpc>
                <a:spcPct val="100000"/>
              </a:lnSpc>
              <a:spcBef>
                <a:spcPts val="0"/>
              </a:spcBef>
              <a:spcAft>
                <a:spcPts val="100"/>
              </a:spcAft>
              <a:defRPr sz="800">
                <a:solidFill>
                  <a:srgbClr val="000000"/>
                </a:solidFill>
                <a:latin typeface="Courier New"/>
              </a:defRPr>
            </a:pPr>
            <a:r>
              <a:t>│  │        contents: [{                                         │   │</a:t>
            </a:r>
          </a:p>
          <a:p>
            <a:pPr>
              <a:lnSpc>
                <a:spcPct val="100000"/>
              </a:lnSpc>
              <a:spcBef>
                <a:spcPts val="0"/>
              </a:spcBef>
              <a:spcAft>
                <a:spcPts val="100"/>
              </a:spcAft>
              <a:defRPr sz="800">
                <a:solidFill>
                  <a:srgbClr val="000000"/>
                </a:solidFill>
                <a:latin typeface="Courier New"/>
              </a:defRPr>
            </a:pPr>
            <a:r>
              <a:t>│  │          uri: 'system://info',                              │   │</a:t>
            </a:r>
          </a:p>
          <a:p>
            <a:pPr>
              <a:lnSpc>
                <a:spcPct val="100000"/>
              </a:lnSpc>
              <a:spcBef>
                <a:spcPts val="0"/>
              </a:spcBef>
              <a:spcAft>
                <a:spcPts val="100"/>
              </a:spcAft>
              <a:defRPr sz="800">
                <a:solidFill>
                  <a:srgbClr val="000000"/>
                </a:solidFill>
                <a:latin typeface="Courier New"/>
              </a:defRPr>
            </a:pPr>
            <a:r>
              <a:t>│  │          text: JSON.stringify(systemInfo, null, 2),        │   │</a:t>
            </a:r>
          </a:p>
          <a:p>
            <a:pPr>
              <a:lnSpc>
                <a:spcPct val="100000"/>
              </a:lnSpc>
              <a:spcBef>
                <a:spcPts val="0"/>
              </a:spcBef>
              <a:spcAft>
                <a:spcPts val="100"/>
              </a:spcAft>
              <a:defRPr sz="800">
                <a:solidFill>
                  <a:srgbClr val="000000"/>
                </a:solidFill>
                <a:latin typeface="Courier New"/>
              </a:defRPr>
            </a:pPr>
            <a:r>
              <a:t>│  │          mimeType: 'application/json'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export const serverStatusResource = {                     │   │</a:t>
            </a:r>
          </a:p>
          <a:p>
            <a:pPr>
              <a:lnSpc>
                <a:spcPct val="100000"/>
              </a:lnSpc>
              <a:spcBef>
                <a:spcPts val="0"/>
              </a:spcBef>
              <a:spcAft>
                <a:spcPts val="100"/>
              </a:spcAft>
              <a:defRPr sz="800">
                <a:solidFill>
                  <a:srgbClr val="000000"/>
                </a:solidFill>
                <a:latin typeface="Courier New"/>
              </a:defRPr>
            </a:pPr>
            <a:r>
              <a:t>│  │    uri: 'server://status',                                  │   │</a:t>
            </a:r>
          </a:p>
          <a:p>
            <a:pPr>
              <a:lnSpc>
                <a:spcPct val="100000"/>
              </a:lnSpc>
              <a:spcBef>
                <a:spcPts val="0"/>
              </a:spcBef>
              <a:spcAft>
                <a:spcPts val="100"/>
              </a:spcAft>
              <a:defRPr sz="800">
                <a:solidFill>
                  <a:srgbClr val="000000"/>
                </a:solidFill>
                <a:latin typeface="Courier New"/>
              </a:defRPr>
            </a:pPr>
            <a:r>
              <a:t>│  │    name: 'server_status',                                   │   │</a:t>
            </a:r>
          </a:p>
          <a:p>
            <a:pPr>
              <a:lnSpc>
                <a:spcPct val="100000"/>
              </a:lnSpc>
              <a:spcBef>
                <a:spcPts val="0"/>
              </a:spcBef>
              <a:spcAft>
                <a:spcPts val="100"/>
              </a:spcAft>
              <a:defRPr sz="800">
                <a:solidFill>
                  <a:srgbClr val="000000"/>
                </a:solidFill>
                <a:latin typeface="Courier New"/>
              </a:defRPr>
            </a:pPr>
            <a:r>
              <a:t>│  │    description: 'Current server status',                    │   │</a:t>
            </a:r>
          </a:p>
          <a:p>
            <a:pPr>
              <a:lnSpc>
                <a:spcPct val="100000"/>
              </a:lnSpc>
              <a:spcBef>
                <a:spcPts val="0"/>
              </a:spcBef>
              <a:spcAft>
                <a:spcPts val="100"/>
              </a:spcAft>
              <a:defRPr sz="800">
                <a:solidFill>
                  <a:srgbClr val="000000"/>
                </a:solidFill>
                <a:latin typeface="Courier New"/>
              </a:defRPr>
            </a:pPr>
            <a:r>
              <a:t>│  │    mimeType: 'application/json',                            │   │</a:t>
            </a:r>
          </a:p>
          <a:p>
            <a:pPr>
              <a:lnSpc>
                <a:spcPct val="100000"/>
              </a:lnSpc>
              <a:spcBef>
                <a:spcPts val="0"/>
              </a:spcBef>
              <a:spcAft>
                <a:spcPts val="100"/>
              </a:spcAft>
              <a:defRPr sz="800">
                <a:solidFill>
                  <a:srgbClr val="000000"/>
                </a:solidFill>
                <a:latin typeface="Courier New"/>
              </a:defRPr>
            </a:pPr>
            <a:r>
              <a:t>│  │    handler: async () =&gt; ({                                  │   │</a:t>
            </a:r>
          </a:p>
          <a:p>
            <a:pPr>
              <a:lnSpc>
                <a:spcPct val="100000"/>
              </a:lnSpc>
              <a:spcBef>
                <a:spcPts val="0"/>
              </a:spcBef>
              <a:spcAft>
                <a:spcPts val="100"/>
              </a:spcAft>
              <a:defRPr sz="800">
                <a:solidFill>
                  <a:srgbClr val="000000"/>
                </a:solidFill>
                <a:latin typeface="Courier New"/>
              </a:defRPr>
            </a:pPr>
            <a:r>
              <a:t>│  │      const status = {                                       │   │</a:t>
            </a:r>
          </a:p>
          <a:p>
            <a:pPr>
              <a:lnSpc>
                <a:spcPct val="100000"/>
              </a:lnSpc>
              <a:spcBef>
                <a:spcPts val="0"/>
              </a:spcBef>
              <a:spcAft>
                <a:spcPts val="100"/>
              </a:spcAft>
              <a:defRPr sz="800">
                <a:solidFill>
                  <a:srgbClr val="000000"/>
                </a:solidFill>
                <a:latin typeface="Courier New"/>
              </a:defRPr>
            </a:pPr>
            <a:r>
              <a:t>│  │        name: process.env.MCP_SERVER_NAME || 'mcp-server',  │   │</a:t>
            </a:r>
          </a:p>
          <a:p>
            <a:pPr>
              <a:lnSpc>
                <a:spcPct val="100000"/>
              </a:lnSpc>
              <a:spcBef>
                <a:spcPts val="0"/>
              </a:spcBef>
              <a:spcAft>
                <a:spcPts val="100"/>
              </a:spcAft>
              <a:defRPr sz="800">
                <a:solidFill>
                  <a:srgbClr val="000000"/>
                </a:solidFill>
                <a:latin typeface="Courier New"/>
              </a:defRPr>
            </a:pPr>
            <a:r>
              <a:t>│  │        status: 'running',                                   │   │</a:t>
            </a:r>
          </a:p>
          <a:p>
            <a:pPr>
              <a:lnSpc>
                <a:spcPct val="100000"/>
              </a:lnSpc>
              <a:spcBef>
                <a:spcPts val="0"/>
              </a:spcBef>
              <a:spcAft>
                <a:spcPts val="100"/>
              </a:spcAft>
              <a:defRPr sz="800">
                <a:solidFill>
                  <a:srgbClr val="000000"/>
                </a:solidFill>
                <a:latin typeface="Courier New"/>
              </a:defRPr>
            </a:pPr>
            <a:r>
              <a:t>│  │        startTime: new Date().toISOString()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return { contents: [{ uri: 'server://status',         │   │</a:t>
            </a:r>
          </a:p>
          <a:p>
            <a:pPr>
              <a:lnSpc>
                <a:spcPct val="100000"/>
              </a:lnSpc>
              <a:spcBef>
                <a:spcPts val="0"/>
              </a:spcBef>
              <a:spcAft>
                <a:spcPts val="100"/>
              </a:spcAft>
              <a:defRPr sz="800">
                <a:solidFill>
                  <a:srgbClr val="000000"/>
                </a:solidFill>
                <a:latin typeface="Courier New"/>
              </a:defRPr>
            </a:pPr>
            <a:r>
              <a:t>│  │        text: JSON.stringify(status, null, 2),              │   │</a:t>
            </a:r>
          </a:p>
          <a:p>
            <a:pPr>
              <a:lnSpc>
                <a:spcPct val="100000"/>
              </a:lnSpc>
              <a:spcBef>
                <a:spcPts val="0"/>
              </a:spcBef>
              <a:spcAft>
                <a:spcPts val="100"/>
              </a:spcAft>
              <a:defRPr sz="800">
                <a:solidFill>
                  <a:srgbClr val="000000"/>
                </a:solidFill>
                <a:latin typeface="Courier New"/>
              </a:defRPr>
            </a:pPr>
            <a:r>
              <a:t>│  │        mimeType: 'application/json'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S2.11  Defining Prompts</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DEFINING PROMPTS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PROMPT STRUCTURE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const prompt = {                                           │   │</a:t>
            </a:r>
          </a:p>
          <a:p>
            <a:pPr>
              <a:lnSpc>
                <a:spcPct val="100000"/>
              </a:lnSpc>
              <a:spcBef>
                <a:spcPts val="0"/>
              </a:spcBef>
              <a:spcAft>
                <a:spcPts val="100"/>
              </a:spcAft>
              <a:defRPr sz="800">
                <a:solidFill>
                  <a:srgbClr val="000000"/>
                </a:solidFill>
                <a:latin typeface="Courier New"/>
              </a:defRPr>
            </a:pPr>
            <a:r>
              <a:t>│  │    name: 'welcome',                                         │   │</a:t>
            </a:r>
          </a:p>
          <a:p>
            <a:pPr>
              <a:lnSpc>
                <a:spcPct val="100000"/>
              </a:lnSpc>
              <a:spcBef>
                <a:spcPts val="0"/>
              </a:spcBef>
              <a:spcAft>
                <a:spcPts val="100"/>
              </a:spcAft>
              <a:defRPr sz="800">
                <a:solidFill>
                  <a:srgbClr val="000000"/>
                </a:solidFill>
                <a:latin typeface="Courier New"/>
              </a:defRPr>
            </a:pPr>
            <a:r>
              <a:t>│  │    description: 'Welcome message with capabilities',        │   │</a:t>
            </a:r>
          </a:p>
          <a:p>
            <a:pPr>
              <a:lnSpc>
                <a:spcPct val="100000"/>
              </a:lnSpc>
              <a:spcBef>
                <a:spcPts val="0"/>
              </a:spcBef>
              <a:spcAft>
                <a:spcPts val="100"/>
              </a:spcAft>
              <a:defRPr sz="800">
                <a:solidFill>
                  <a:srgbClr val="000000"/>
                </a:solidFill>
                <a:latin typeface="Courier New"/>
              </a:defRPr>
            </a:pPr>
            <a:r>
              <a:t>│  │    schema: {                                                │   │</a:t>
            </a:r>
          </a:p>
          <a:p>
            <a:pPr>
              <a:lnSpc>
                <a:spcPct val="100000"/>
              </a:lnSpc>
              <a:spcBef>
                <a:spcPts val="0"/>
              </a:spcBef>
              <a:spcAft>
                <a:spcPts val="100"/>
              </a:spcAft>
              <a:defRPr sz="800">
                <a:solidFill>
                  <a:srgbClr val="000000"/>
                </a:solidFill>
                <a:latin typeface="Courier New"/>
              </a:defRPr>
            </a:pPr>
            <a:r>
              <a:t>│  │      name: z.string().optional()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handler: ({ name }) =&gt; ({                                │   │</a:t>
            </a:r>
          </a:p>
          <a:p>
            <a:pPr>
              <a:lnSpc>
                <a:spcPct val="100000"/>
              </a:lnSpc>
              <a:spcBef>
                <a:spcPts val="0"/>
              </a:spcBef>
              <a:spcAft>
                <a:spcPts val="100"/>
              </a:spcAft>
              <a:defRPr sz="800">
                <a:solidFill>
                  <a:srgbClr val="000000"/>
                </a:solidFill>
                <a:latin typeface="Courier New"/>
              </a:defRPr>
            </a:pPr>
            <a:r>
              <a:t>│  │      const userName = name || 'User';                      │   │</a:t>
            </a:r>
          </a:p>
          <a:p>
            <a:pPr>
              <a:lnSpc>
                <a:spcPct val="100000"/>
              </a:lnSpc>
              <a:spcBef>
                <a:spcPts val="0"/>
              </a:spcBef>
              <a:spcAft>
                <a:spcPts val="100"/>
              </a:spcAft>
              <a:defRPr sz="800">
                <a:solidFill>
                  <a:srgbClr val="000000"/>
                </a:solidFill>
                <a:latin typeface="Courier New"/>
              </a:defRPr>
            </a:pPr>
            <a:r>
              <a:t>│  │      return {                                               │   │</a:t>
            </a:r>
          </a:p>
          <a:p>
            <a:pPr>
              <a:lnSpc>
                <a:spcPct val="100000"/>
              </a:lnSpc>
              <a:spcBef>
                <a:spcPts val="0"/>
              </a:spcBef>
              <a:spcAft>
                <a:spcPts val="100"/>
              </a:spcAft>
              <a:defRPr sz="800">
                <a:solidFill>
                  <a:srgbClr val="000000"/>
                </a:solidFill>
                <a:latin typeface="Courier New"/>
              </a:defRPr>
            </a:pPr>
            <a:r>
              <a:t>│  │        messages: [{                                         │   │</a:t>
            </a:r>
          </a:p>
          <a:p>
            <a:pPr>
              <a:lnSpc>
                <a:spcPct val="100000"/>
              </a:lnSpc>
              <a:spcBef>
                <a:spcPts val="0"/>
              </a:spcBef>
              <a:spcAft>
                <a:spcPts val="100"/>
              </a:spcAft>
              <a:defRPr sz="800">
                <a:solidFill>
                  <a:srgbClr val="000000"/>
                </a:solidFill>
                <a:latin typeface="Courier New"/>
              </a:defRPr>
            </a:pPr>
            <a:r>
              <a:t>│  │          role: 'assistant',                                 │   │</a:t>
            </a:r>
          </a:p>
          <a:p>
            <a:pPr>
              <a:lnSpc>
                <a:spcPct val="100000"/>
              </a:lnSpc>
              <a:spcBef>
                <a:spcPts val="0"/>
              </a:spcBef>
              <a:spcAft>
                <a:spcPts val="100"/>
              </a:spcAft>
              <a:defRPr sz="800">
                <a:solidFill>
                  <a:srgbClr val="000000"/>
                </a:solidFill>
                <a:latin typeface="Courier New"/>
              </a:defRPr>
            </a:pPr>
            <a:r>
              <a:t>│  │          content: {                                         │   │</a:t>
            </a:r>
          </a:p>
          <a:p>
            <a:pPr>
              <a:lnSpc>
                <a:spcPct val="100000"/>
              </a:lnSpc>
              <a:spcBef>
                <a:spcPts val="0"/>
              </a:spcBef>
              <a:spcAft>
                <a:spcPts val="100"/>
              </a:spcAft>
              <a:defRPr sz="800">
                <a:solidFill>
                  <a:srgbClr val="000000"/>
                </a:solidFill>
                <a:latin typeface="Courier New"/>
              </a:defRPr>
            </a:pPr>
            <a:r>
              <a:t>│  │            type: 'text',                                    │   │</a:t>
            </a:r>
          </a:p>
          <a:p>
            <a:pPr>
              <a:lnSpc>
                <a:spcPct val="100000"/>
              </a:lnSpc>
              <a:spcBef>
                <a:spcPts val="0"/>
              </a:spcBef>
              <a:spcAft>
                <a:spcPts val="100"/>
              </a:spcAft>
              <a:defRPr sz="800">
                <a:solidFill>
                  <a:srgbClr val="000000"/>
                </a:solidFill>
                <a:latin typeface="Courier New"/>
              </a:defRPr>
            </a:pPr>
            <a:r>
              <a:t>│  │            text: `Welcome ${userName}! I can help you with: │   │</a:t>
            </a:r>
          </a:p>
          <a:p>
            <a:pPr>
              <a:lnSpc>
                <a:spcPct val="100000"/>
              </a:lnSpc>
              <a:spcBef>
                <a:spcPts val="0"/>
              </a:spcBef>
              <a:spcAft>
                <a:spcPts val="100"/>
              </a:spcAft>
              <a:defRPr sz="800">
                <a:solidFill>
                  <a:srgbClr val="000000"/>
                </a:solidFill>
                <a:latin typeface="Courier New"/>
              </a:defRPr>
            </a:pPr>
            <a:r>
              <a:t>│  │                   - Arithmetic operations                   │   │</a:t>
            </a:r>
          </a:p>
          <a:p>
            <a:pPr>
              <a:lnSpc>
                <a:spcPct val="100000"/>
              </a:lnSpc>
              <a:spcBef>
                <a:spcPts val="0"/>
              </a:spcBef>
              <a:spcAft>
                <a:spcPts val="100"/>
              </a:spcAft>
              <a:defRPr sz="800">
                <a:solidFill>
                  <a:srgbClr val="000000"/>
                </a:solidFill>
                <a:latin typeface="Courier New"/>
              </a:defRPr>
            </a:pPr>
            <a:r>
              <a:t>│  │                   - File operations`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PROMPT COMPONENTS EXPLAINED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name        │  Unique identifier                   │   │   │</a:t>
            </a:r>
          </a:p>
          <a:p>
            <a:pPr>
              <a:lnSpc>
                <a:spcPct val="100000"/>
              </a:lnSpc>
              <a:spcBef>
                <a:spcPts val="0"/>
              </a:spcBef>
              <a:spcAft>
                <a:spcPts val="100"/>
              </a:spcAft>
              <a:defRPr sz="800">
                <a:solidFill>
                  <a:srgbClr val="000000"/>
                </a:solidFill>
                <a:latin typeface="Courier New"/>
              </a:defRPr>
            </a:pPr>
            <a:r>
              <a:t>│  │  │  description │  What the prompt does               │   │   │</a:t>
            </a:r>
          </a:p>
          <a:p>
            <a:pPr>
              <a:lnSpc>
                <a:spcPct val="100000"/>
              </a:lnSpc>
              <a:spcBef>
                <a:spcPts val="0"/>
              </a:spcBef>
              <a:spcAft>
                <a:spcPts val="100"/>
              </a:spcAft>
              <a:defRPr sz="800">
                <a:solidFill>
                  <a:srgbClr val="000000"/>
                </a:solidFill>
                <a:latin typeface="Courier New"/>
              </a:defRPr>
            </a:pPr>
            <a:r>
              <a:t>│  │  │  schema      │  Arguments the prompt accepts       │   │   │</a:t>
            </a:r>
          </a:p>
          <a:p>
            <a:pPr>
              <a:lnSpc>
                <a:spcPct val="100000"/>
              </a:lnSpc>
              <a:spcBef>
                <a:spcPts val="0"/>
              </a:spcBef>
              <a:spcAft>
                <a:spcPts val="100"/>
              </a:spcAft>
              <a:defRPr sz="800">
                <a:solidFill>
                  <a:srgbClr val="000000"/>
                </a:solidFill>
                <a:latin typeface="Courier New"/>
              </a:defRPr>
            </a:pPr>
            <a:r>
              <a:t>│  │  │  handler     │  Returns the prompt text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S2.12  Full Prompts Implementation</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FULL PROMPTS IMPLEMENTATION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PROMPTS IMPLEMENTATION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src/prompts.ts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import { z } from 'zod';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export const welcomePrompt = {                            │   │</a:t>
            </a:r>
          </a:p>
          <a:p>
            <a:pPr>
              <a:lnSpc>
                <a:spcPct val="100000"/>
              </a:lnSpc>
              <a:spcBef>
                <a:spcPts val="0"/>
              </a:spcBef>
              <a:spcAft>
                <a:spcPts val="100"/>
              </a:spcAft>
              <a:defRPr sz="800">
                <a:solidFill>
                  <a:srgbClr val="000000"/>
                </a:solidFill>
                <a:latin typeface="Courier New"/>
              </a:defRPr>
            </a:pPr>
            <a:r>
              <a:t>│  │    name: 'welcome',                                         │   │</a:t>
            </a:r>
          </a:p>
          <a:p>
            <a:pPr>
              <a:lnSpc>
                <a:spcPct val="100000"/>
              </a:lnSpc>
              <a:spcBef>
                <a:spcPts val="0"/>
              </a:spcBef>
              <a:spcAft>
                <a:spcPts val="100"/>
              </a:spcAft>
              <a:defRPr sz="800">
                <a:solidFill>
                  <a:srgbClr val="000000"/>
                </a:solidFill>
                <a:latin typeface="Courier New"/>
              </a:defRPr>
            </a:pPr>
            <a:r>
              <a:t>│  │    description: 'Welcome message with capabilities',        │   │</a:t>
            </a:r>
          </a:p>
          <a:p>
            <a:pPr>
              <a:lnSpc>
                <a:spcPct val="100000"/>
              </a:lnSpc>
              <a:spcBef>
                <a:spcPts val="0"/>
              </a:spcBef>
              <a:spcAft>
                <a:spcPts val="100"/>
              </a:spcAft>
              <a:defRPr sz="800">
                <a:solidFill>
                  <a:srgbClr val="000000"/>
                </a:solidFill>
                <a:latin typeface="Courier New"/>
              </a:defRPr>
            </a:pPr>
            <a:r>
              <a:t>│  │    schema: { name: z.string().optional() },                │   │</a:t>
            </a:r>
          </a:p>
          <a:p>
            <a:pPr>
              <a:lnSpc>
                <a:spcPct val="100000"/>
              </a:lnSpc>
              <a:spcBef>
                <a:spcPts val="0"/>
              </a:spcBef>
              <a:spcAft>
                <a:spcPts val="100"/>
              </a:spcAft>
              <a:defRPr sz="800">
                <a:solidFill>
                  <a:srgbClr val="000000"/>
                </a:solidFill>
                <a:latin typeface="Courier New"/>
              </a:defRPr>
            </a:pPr>
            <a:r>
              <a:t>│  │    handler: ({ name }) =&gt; {                                 │   │</a:t>
            </a:r>
          </a:p>
          <a:p>
            <a:pPr>
              <a:lnSpc>
                <a:spcPct val="100000"/>
              </a:lnSpc>
              <a:spcBef>
                <a:spcPts val="0"/>
              </a:spcBef>
              <a:spcAft>
                <a:spcPts val="100"/>
              </a:spcAft>
              <a:defRPr sz="800">
                <a:solidFill>
                  <a:srgbClr val="000000"/>
                </a:solidFill>
                <a:latin typeface="Courier New"/>
              </a:defRPr>
            </a:pPr>
            <a:r>
              <a:t>│  │      const userName = name || 'User';                      │   │</a:t>
            </a:r>
          </a:p>
          <a:p>
            <a:pPr>
              <a:lnSpc>
                <a:spcPct val="100000"/>
              </a:lnSpc>
              <a:spcBef>
                <a:spcPts val="0"/>
              </a:spcBef>
              <a:spcAft>
                <a:spcPts val="100"/>
              </a:spcAft>
              <a:defRPr sz="800">
                <a:solidFill>
                  <a:srgbClr val="000000"/>
                </a:solidFill>
                <a:latin typeface="Courier New"/>
              </a:defRPr>
            </a:pPr>
            <a:r>
              <a:t>│  │      return {                                               │   │</a:t>
            </a:r>
          </a:p>
          <a:p>
            <a:pPr>
              <a:lnSpc>
                <a:spcPct val="100000"/>
              </a:lnSpc>
              <a:spcBef>
                <a:spcPts val="0"/>
              </a:spcBef>
              <a:spcAft>
                <a:spcPts val="100"/>
              </a:spcAft>
              <a:defRPr sz="800">
                <a:solidFill>
                  <a:srgbClr val="000000"/>
                </a:solidFill>
                <a:latin typeface="Courier New"/>
              </a:defRPr>
            </a:pPr>
            <a:r>
              <a:t>│  │        messages: [{                                         │   │</a:t>
            </a:r>
          </a:p>
          <a:p>
            <a:pPr>
              <a:lnSpc>
                <a:spcPct val="100000"/>
              </a:lnSpc>
              <a:spcBef>
                <a:spcPts val="0"/>
              </a:spcBef>
              <a:spcAft>
                <a:spcPts val="100"/>
              </a:spcAft>
              <a:defRPr sz="800">
                <a:solidFill>
                  <a:srgbClr val="000000"/>
                </a:solidFill>
                <a:latin typeface="Courier New"/>
              </a:defRPr>
            </a:pPr>
            <a:r>
              <a:t>│  │          role: 'assistant',                                 │   │</a:t>
            </a:r>
          </a:p>
          <a:p>
            <a:pPr>
              <a:lnSpc>
                <a:spcPct val="100000"/>
              </a:lnSpc>
              <a:spcBef>
                <a:spcPts val="0"/>
              </a:spcBef>
              <a:spcAft>
                <a:spcPts val="100"/>
              </a:spcAft>
              <a:defRPr sz="800">
                <a:solidFill>
                  <a:srgbClr val="000000"/>
                </a:solidFill>
                <a:latin typeface="Courier New"/>
              </a:defRPr>
            </a:pPr>
            <a:r>
              <a:t>│  │          content: {                                         │   │</a:t>
            </a:r>
          </a:p>
          <a:p>
            <a:pPr>
              <a:lnSpc>
                <a:spcPct val="100000"/>
              </a:lnSpc>
              <a:spcBef>
                <a:spcPts val="0"/>
              </a:spcBef>
              <a:spcAft>
                <a:spcPts val="100"/>
              </a:spcAft>
              <a:defRPr sz="800">
                <a:solidFill>
                  <a:srgbClr val="000000"/>
                </a:solidFill>
                <a:latin typeface="Courier New"/>
              </a:defRPr>
            </a:pPr>
            <a:r>
              <a:t>│  │            type: 'text',                                    │   │</a:t>
            </a:r>
          </a:p>
          <a:p>
            <a:pPr>
              <a:lnSpc>
                <a:spcPct val="100000"/>
              </a:lnSpc>
              <a:spcBef>
                <a:spcPts val="0"/>
              </a:spcBef>
              <a:spcAft>
                <a:spcPts val="100"/>
              </a:spcAft>
              <a:defRPr sz="800">
                <a:solidFill>
                  <a:srgbClr val="000000"/>
                </a:solidFill>
                <a:latin typeface="Courier New"/>
              </a:defRPr>
            </a:pPr>
            <a:r>
              <a:t>│  │            text: `Welcome to the MCP Calculator Server, ${userName}! │   │</a:t>
            </a:r>
          </a:p>
          <a:p>
            <a:pPr>
              <a:lnSpc>
                <a:spcPct val="100000"/>
              </a:lnSpc>
              <a:spcBef>
                <a:spcPts val="0"/>
              </a:spcBef>
              <a:spcAft>
                <a:spcPts val="100"/>
              </a:spcAft>
              <a:defRPr sz="800">
                <a:solidFill>
                  <a:srgbClr val="000000"/>
                </a:solidFill>
                <a:latin typeface="Courier New"/>
              </a:defRPr>
            </a:pPr>
            <a:r>
              <a:t>│  │                   I can help you with:                     │   │</a:t>
            </a:r>
          </a:p>
          <a:p>
            <a:pPr>
              <a:lnSpc>
                <a:spcPct val="100000"/>
              </a:lnSpc>
              <a:spcBef>
                <a:spcPts val="0"/>
              </a:spcBef>
              <a:spcAft>
                <a:spcPts val="100"/>
              </a:spcAft>
              <a:defRPr sz="800">
                <a:solidFill>
                  <a:srgbClr val="000000"/>
                </a:solidFill>
                <a:latin typeface="Courier New"/>
              </a:defRPr>
            </a:pPr>
            <a:r>
              <a:t>│  │                   - Arithmetic operations (add, subtract,   │   │</a:t>
            </a:r>
          </a:p>
          <a:p>
            <a:pPr>
              <a:lnSpc>
                <a:spcPct val="100000"/>
              </a:lnSpc>
              <a:spcBef>
                <a:spcPts val="0"/>
              </a:spcBef>
              <a:spcAft>
                <a:spcPts val="100"/>
              </a:spcAft>
              <a:defRPr sz="800">
                <a:solidFill>
                  <a:srgbClr val="000000"/>
                </a:solidFill>
                <a:latin typeface="Courier New"/>
              </a:defRPr>
            </a:pPr>
            <a:r>
              <a:t>│  │                     multiply, divide)                       │   │</a:t>
            </a:r>
          </a:p>
          <a:p>
            <a:pPr>
              <a:lnSpc>
                <a:spcPct val="100000"/>
              </a:lnSpc>
              <a:spcBef>
                <a:spcPts val="0"/>
              </a:spcBef>
              <a:spcAft>
                <a:spcPts val="100"/>
              </a:spcAft>
              <a:defRPr sz="800">
                <a:solidFill>
                  <a:srgbClr val="000000"/>
                </a:solidFill>
                <a:latin typeface="Courier New"/>
              </a:defRPr>
            </a:pPr>
            <a:r>
              <a:t>│  │                   - File operations (read_file)            │   │</a:t>
            </a:r>
          </a:p>
          <a:p>
            <a:pPr>
              <a:lnSpc>
                <a:spcPct val="100000"/>
              </a:lnSpc>
              <a:spcBef>
                <a:spcPts val="0"/>
              </a:spcBef>
              <a:spcAft>
                <a:spcPts val="100"/>
              </a:spcAft>
              <a:defRPr sz="800">
                <a:solidFill>
                  <a:srgbClr val="000000"/>
                </a:solidFill>
                <a:latin typeface="Courier New"/>
              </a:defRPr>
            </a:pPr>
            <a:r>
              <a:t>│  │                   - System information (resources)         │   │</a:t>
            </a:r>
          </a:p>
          <a:p>
            <a:pPr>
              <a:lnSpc>
                <a:spcPct val="100000"/>
              </a:lnSpc>
              <a:spcBef>
                <a:spcPts val="0"/>
              </a:spcBef>
              <a:spcAft>
                <a:spcPts val="100"/>
              </a:spcAft>
              <a:defRPr sz="800">
                <a:solidFill>
                  <a:srgbClr val="000000"/>
                </a:solidFill>
                <a:latin typeface="Courier New"/>
              </a:defRPr>
            </a:pPr>
            <a:r>
              <a:t>│  │                   What would you like to do today?`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export const helpPrompt = {                               │   │</a:t>
            </a:r>
          </a:p>
          <a:p>
            <a:pPr>
              <a:lnSpc>
                <a:spcPct val="100000"/>
              </a:lnSpc>
              <a:spcBef>
                <a:spcPts val="0"/>
              </a:spcBef>
              <a:spcAft>
                <a:spcPts val="100"/>
              </a:spcAft>
              <a:defRPr sz="800">
                <a:solidFill>
                  <a:srgbClr val="000000"/>
                </a:solidFill>
                <a:latin typeface="Courier New"/>
              </a:defRPr>
            </a:pPr>
            <a:r>
              <a:t>│  │    name: 'help',                                            │   │</a:t>
            </a:r>
          </a:p>
          <a:p>
            <a:pPr>
              <a:lnSpc>
                <a:spcPct val="100000"/>
              </a:lnSpc>
              <a:spcBef>
                <a:spcPts val="0"/>
              </a:spcBef>
              <a:spcAft>
                <a:spcPts val="100"/>
              </a:spcAft>
              <a:defRPr sz="800">
                <a:solidFill>
                  <a:srgbClr val="000000"/>
                </a:solidFill>
                <a:latin typeface="Courier New"/>
              </a:defRPr>
            </a:pPr>
            <a:r>
              <a:t>│  │    description: 'Help with using the server',               │   │</a:t>
            </a:r>
          </a:p>
          <a:p>
            <a:pPr>
              <a:lnSpc>
                <a:spcPct val="100000"/>
              </a:lnSpc>
              <a:spcBef>
                <a:spcPts val="0"/>
              </a:spcBef>
              <a:spcAft>
                <a:spcPts val="100"/>
              </a:spcAft>
              <a:defRPr sz="800">
                <a:solidFill>
                  <a:srgbClr val="000000"/>
                </a:solidFill>
                <a:latin typeface="Courier New"/>
              </a:defRPr>
            </a:pPr>
            <a:r>
              <a:t>│  │    schema: { topic: z.string().optional() },               │   │</a:t>
            </a:r>
          </a:p>
          <a:p>
            <a:pPr>
              <a:lnSpc>
                <a:spcPct val="100000"/>
              </a:lnSpc>
              <a:spcBef>
                <a:spcPts val="0"/>
              </a:spcBef>
              <a:spcAft>
                <a:spcPts val="100"/>
              </a:spcAft>
              <a:defRPr sz="800">
                <a:solidFill>
                  <a:srgbClr val="000000"/>
                </a:solidFill>
                <a:latin typeface="Courier New"/>
              </a:defRPr>
            </a:pPr>
            <a:r>
              <a:t>│  │    handler: ({ topic }) =&gt; ({ /* ...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S2.13  Creating the Main Server</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CREATING THE MAIN SERVER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SERVER IMPLEMENTATION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src/server.ts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import { McpServer } from '@modelcontextprotocol/sdk/server/mcp.js'; │   │</a:t>
            </a:r>
          </a:p>
          <a:p>
            <a:pPr>
              <a:lnSpc>
                <a:spcPct val="100000"/>
              </a:lnSpc>
              <a:spcBef>
                <a:spcPts val="0"/>
              </a:spcBef>
              <a:spcAft>
                <a:spcPts val="100"/>
              </a:spcAft>
              <a:defRPr sz="800">
                <a:solidFill>
                  <a:srgbClr val="000000"/>
                </a:solidFill>
                <a:latin typeface="Courier New"/>
              </a:defRPr>
            </a:pPr>
            <a:r>
              <a:t>│  │  import { StdioServerTransport } from '@modelcontextprotocol/sdk/server/stdio.js'; │   │</a:t>
            </a:r>
          </a:p>
          <a:p>
            <a:pPr>
              <a:lnSpc>
                <a:spcPct val="100000"/>
              </a:lnSpc>
              <a:spcBef>
                <a:spcPts val="0"/>
              </a:spcBef>
              <a:spcAft>
                <a:spcPts val="100"/>
              </a:spcAft>
              <a:defRPr sz="800">
                <a:solidFill>
                  <a:srgbClr val="000000"/>
                </a:solidFill>
                <a:latin typeface="Courier New"/>
              </a:defRPr>
            </a:pPr>
            <a:r>
              <a:t>│  │  import { createLogger } from './logger.js';               │   │</a:t>
            </a:r>
          </a:p>
          <a:p>
            <a:pPr>
              <a:lnSpc>
                <a:spcPct val="100000"/>
              </a:lnSpc>
              <a:spcBef>
                <a:spcPts val="0"/>
              </a:spcBef>
              <a:spcAft>
                <a:spcPts val="100"/>
              </a:spcAft>
              <a:defRPr sz="800">
                <a:solidFill>
                  <a:srgbClr val="000000"/>
                </a:solidFill>
                <a:latin typeface="Courier New"/>
              </a:defRPr>
            </a:pPr>
            <a:r>
              <a:t>│  │  import { arithmeticTools, fileTools } from './tools.js';  │   │</a:t>
            </a:r>
          </a:p>
          <a:p>
            <a:pPr>
              <a:lnSpc>
                <a:spcPct val="100000"/>
              </a:lnSpc>
              <a:spcBef>
                <a:spcPts val="0"/>
              </a:spcBef>
              <a:spcAft>
                <a:spcPts val="100"/>
              </a:spcAft>
              <a:defRPr sz="800">
                <a:solidFill>
                  <a:srgbClr val="000000"/>
                </a:solidFill>
                <a:latin typeface="Courier New"/>
              </a:defRPr>
            </a:pPr>
            <a:r>
              <a:t>│  │  import { allResources } from './resources.js';            │   │</a:t>
            </a:r>
          </a:p>
          <a:p>
            <a:pPr>
              <a:lnSpc>
                <a:spcPct val="100000"/>
              </a:lnSpc>
              <a:spcBef>
                <a:spcPts val="0"/>
              </a:spcBef>
              <a:spcAft>
                <a:spcPts val="100"/>
              </a:spcAft>
              <a:defRPr sz="800">
                <a:solidFill>
                  <a:srgbClr val="000000"/>
                </a:solidFill>
                <a:latin typeface="Courier New"/>
              </a:defRPr>
            </a:pPr>
            <a:r>
              <a:t>│  │  import { allPrompts } from './prompts.js';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const logger = createLogger();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export class CalculatorServer {                          │   │</a:t>
            </a:r>
          </a:p>
          <a:p>
            <a:pPr>
              <a:lnSpc>
                <a:spcPct val="100000"/>
              </a:lnSpc>
              <a:spcBef>
                <a:spcPts val="0"/>
              </a:spcBef>
              <a:spcAft>
                <a:spcPts val="100"/>
              </a:spcAft>
              <a:defRPr sz="800">
                <a:solidFill>
                  <a:srgbClr val="000000"/>
                </a:solidFill>
                <a:latin typeface="Courier New"/>
              </a:defRPr>
            </a:pPr>
            <a:r>
              <a:t>│  │    private server: McpServer;                              │   │</a:t>
            </a:r>
          </a:p>
          <a:p>
            <a:pPr>
              <a:lnSpc>
                <a:spcPct val="100000"/>
              </a:lnSpc>
              <a:spcBef>
                <a:spcPts val="0"/>
              </a:spcBef>
              <a:spcAft>
                <a:spcPts val="100"/>
              </a:spcAft>
              <a:defRPr sz="800">
                <a:solidFill>
                  <a:srgbClr val="000000"/>
                </a:solidFill>
                <a:latin typeface="Courier New"/>
              </a:defRPr>
            </a:pPr>
            <a:r>
              <a:t>│  │    private isRunning: boolean = false;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constructor() {                                          │   │</a:t>
            </a:r>
          </a:p>
          <a:p>
            <a:pPr>
              <a:lnSpc>
                <a:spcPct val="100000"/>
              </a:lnSpc>
              <a:spcBef>
                <a:spcPts val="0"/>
              </a:spcBef>
              <a:spcAft>
                <a:spcPts val="100"/>
              </a:spcAft>
              <a:defRPr sz="800">
                <a:solidFill>
                  <a:srgbClr val="000000"/>
                </a:solidFill>
                <a:latin typeface="Courier New"/>
              </a:defRPr>
            </a:pPr>
            <a:r>
              <a:t>│  │      logger.info('Initializing Calculator Server');       │   │</a:t>
            </a:r>
          </a:p>
          <a:p>
            <a:pPr>
              <a:lnSpc>
                <a:spcPct val="100000"/>
              </a:lnSpc>
              <a:spcBef>
                <a:spcPts val="0"/>
              </a:spcBef>
              <a:spcAft>
                <a:spcPts val="100"/>
              </a:spcAft>
              <a:defRPr sz="800">
                <a:solidFill>
                  <a:srgbClr val="000000"/>
                </a:solidFill>
                <a:latin typeface="Courier New"/>
              </a:defRPr>
            </a:pPr>
            <a:r>
              <a:t>│  │      this.server = new McpServer({                        │   │</a:t>
            </a:r>
          </a:p>
          <a:p>
            <a:pPr>
              <a:lnSpc>
                <a:spcPct val="100000"/>
              </a:lnSpc>
              <a:spcBef>
                <a:spcPts val="0"/>
              </a:spcBef>
              <a:spcAft>
                <a:spcPts val="100"/>
              </a:spcAft>
              <a:defRPr sz="800">
                <a:solidFill>
                  <a:srgbClr val="000000"/>
                </a:solidFill>
                <a:latin typeface="Courier New"/>
              </a:defRPr>
            </a:pPr>
            <a:r>
              <a:t>│  │        name: process.env.MCP_SERVER_NAME || 'calculator', │   │</a:t>
            </a:r>
          </a:p>
          <a:p>
            <a:pPr>
              <a:lnSpc>
                <a:spcPct val="100000"/>
              </a:lnSpc>
              <a:spcBef>
                <a:spcPts val="0"/>
              </a:spcBef>
              <a:spcAft>
                <a:spcPts val="100"/>
              </a:spcAft>
              <a:defRPr sz="800">
                <a:solidFill>
                  <a:srgbClr val="000000"/>
                </a:solidFill>
                <a:latin typeface="Courier New"/>
              </a:defRPr>
            </a:pPr>
            <a:r>
              <a:t>│  │        version: process.env.MCP_SERVER_VERSION || '1.0.0'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this.registerTools();                                │   │</a:t>
            </a:r>
          </a:p>
          <a:p>
            <a:pPr>
              <a:lnSpc>
                <a:spcPct val="100000"/>
              </a:lnSpc>
              <a:spcBef>
                <a:spcPts val="0"/>
              </a:spcBef>
              <a:spcAft>
                <a:spcPts val="100"/>
              </a:spcAft>
              <a:defRPr sz="800">
                <a:solidFill>
                  <a:srgbClr val="000000"/>
                </a:solidFill>
                <a:latin typeface="Courier New"/>
              </a:defRPr>
            </a:pPr>
            <a:r>
              <a:t>│  │      this.registerResources();                            │   │</a:t>
            </a:r>
          </a:p>
          <a:p>
            <a:pPr>
              <a:lnSpc>
                <a:spcPct val="100000"/>
              </a:lnSpc>
              <a:spcBef>
                <a:spcPts val="0"/>
              </a:spcBef>
              <a:spcAft>
                <a:spcPts val="100"/>
              </a:spcAft>
              <a:defRPr sz="800">
                <a:solidFill>
                  <a:srgbClr val="000000"/>
                </a:solidFill>
                <a:latin typeface="Courier New"/>
              </a:defRPr>
            </a:pPr>
            <a:r>
              <a:t>│  │      this.registerPrompts();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S2.14  Registering Tools</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REGISTERING TOOLS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TOOL REGISTRATION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src/server.ts (continued)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private registerTools(): void {                           │   │</a:t>
            </a:r>
          </a:p>
          <a:p>
            <a:pPr>
              <a:lnSpc>
                <a:spcPct val="100000"/>
              </a:lnSpc>
              <a:spcBef>
                <a:spcPts val="0"/>
              </a:spcBef>
              <a:spcAft>
                <a:spcPts val="100"/>
              </a:spcAft>
              <a:defRPr sz="800">
                <a:solidFill>
                  <a:srgbClr val="000000"/>
                </a:solidFill>
                <a:latin typeface="Courier New"/>
              </a:defRPr>
            </a:pPr>
            <a:r>
              <a:t>│  │    logger.info('Registering tools');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Register arithmetic tools                           │   │</a:t>
            </a:r>
          </a:p>
          <a:p>
            <a:pPr>
              <a:lnSpc>
                <a:spcPct val="100000"/>
              </a:lnSpc>
              <a:spcBef>
                <a:spcPts val="0"/>
              </a:spcBef>
              <a:spcAft>
                <a:spcPts val="100"/>
              </a:spcAft>
              <a:defRPr sz="800">
                <a:solidFill>
                  <a:srgbClr val="000000"/>
                </a:solidFill>
                <a:latin typeface="Courier New"/>
              </a:defRPr>
            </a:pPr>
            <a:r>
              <a:t>│  │    for (const tool of Object.values(arithmeticTools)) {   │   │</a:t>
            </a:r>
          </a:p>
          <a:p>
            <a:pPr>
              <a:lnSpc>
                <a:spcPct val="100000"/>
              </a:lnSpc>
              <a:spcBef>
                <a:spcPts val="0"/>
              </a:spcBef>
              <a:spcAft>
                <a:spcPts val="100"/>
              </a:spcAft>
              <a:defRPr sz="800">
                <a:solidFill>
                  <a:srgbClr val="000000"/>
                </a:solidFill>
                <a:latin typeface="Courier New"/>
              </a:defRPr>
            </a:pPr>
            <a:r>
              <a:t>│  │      this.server.tool(                                     │   │</a:t>
            </a:r>
          </a:p>
          <a:p>
            <a:pPr>
              <a:lnSpc>
                <a:spcPct val="100000"/>
              </a:lnSpc>
              <a:spcBef>
                <a:spcPts val="0"/>
              </a:spcBef>
              <a:spcAft>
                <a:spcPts val="100"/>
              </a:spcAft>
              <a:defRPr sz="800">
                <a:solidFill>
                  <a:srgbClr val="000000"/>
                </a:solidFill>
                <a:latin typeface="Courier New"/>
              </a:defRPr>
            </a:pPr>
            <a:r>
              <a:t>│  │        tool.name,                                          │   │</a:t>
            </a:r>
          </a:p>
          <a:p>
            <a:pPr>
              <a:lnSpc>
                <a:spcPct val="100000"/>
              </a:lnSpc>
              <a:spcBef>
                <a:spcPts val="0"/>
              </a:spcBef>
              <a:spcAft>
                <a:spcPts val="100"/>
              </a:spcAft>
              <a:defRPr sz="800">
                <a:solidFill>
                  <a:srgbClr val="000000"/>
                </a:solidFill>
                <a:latin typeface="Courier New"/>
              </a:defRPr>
            </a:pPr>
            <a:r>
              <a:t>│  │        tool.schema,                                        │   │</a:t>
            </a:r>
          </a:p>
          <a:p>
            <a:pPr>
              <a:lnSpc>
                <a:spcPct val="100000"/>
              </a:lnSpc>
              <a:spcBef>
                <a:spcPts val="0"/>
              </a:spcBef>
              <a:spcAft>
                <a:spcPts val="100"/>
              </a:spcAft>
              <a:defRPr sz="800">
                <a:solidFill>
                  <a:srgbClr val="000000"/>
                </a:solidFill>
                <a:latin typeface="Courier New"/>
              </a:defRPr>
            </a:pPr>
            <a:r>
              <a:t>│  │        tool.handler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logger.debug(`Registered tool: ${tool.name}`);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Register file tools                                 │   │</a:t>
            </a:r>
          </a:p>
          <a:p>
            <a:pPr>
              <a:lnSpc>
                <a:spcPct val="100000"/>
              </a:lnSpc>
              <a:spcBef>
                <a:spcPts val="0"/>
              </a:spcBef>
              <a:spcAft>
                <a:spcPts val="100"/>
              </a:spcAft>
              <a:defRPr sz="800">
                <a:solidFill>
                  <a:srgbClr val="000000"/>
                </a:solidFill>
                <a:latin typeface="Courier New"/>
              </a:defRPr>
            </a:pPr>
            <a:r>
              <a:t>│  │    for (const tool of Object.values(fileTools)) {         │   │</a:t>
            </a:r>
          </a:p>
          <a:p>
            <a:pPr>
              <a:lnSpc>
                <a:spcPct val="100000"/>
              </a:lnSpc>
              <a:spcBef>
                <a:spcPts val="0"/>
              </a:spcBef>
              <a:spcAft>
                <a:spcPts val="100"/>
              </a:spcAft>
              <a:defRPr sz="800">
                <a:solidFill>
                  <a:srgbClr val="000000"/>
                </a:solidFill>
                <a:latin typeface="Courier New"/>
              </a:defRPr>
            </a:pPr>
            <a:r>
              <a:t>│  │      this.server.tool(tool.name, tool.schema, tool.handler);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logger.info('All tools registered');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REGISTRATION PROCESS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Tool definitions are imported                          │   │</a:t>
            </a:r>
          </a:p>
          <a:p>
            <a:pPr>
              <a:lnSpc>
                <a:spcPct val="100000"/>
              </a:lnSpc>
              <a:spcBef>
                <a:spcPts val="0"/>
              </a:spcBef>
              <a:spcAft>
                <a:spcPts val="100"/>
              </a:spcAft>
              <a:defRPr sz="800">
                <a:solidFill>
                  <a:srgbClr val="000000"/>
                </a:solidFill>
                <a:latin typeface="Courier New"/>
              </a:defRPr>
            </a:pPr>
            <a:r>
              <a:t>│  │  ✅ Each tool is registered with the server                │   │</a:t>
            </a:r>
          </a:p>
          <a:p>
            <a:pPr>
              <a:lnSpc>
                <a:spcPct val="100000"/>
              </a:lnSpc>
              <a:spcBef>
                <a:spcPts val="0"/>
              </a:spcBef>
              <a:spcAft>
                <a:spcPts val="100"/>
              </a:spcAft>
              <a:defRPr sz="800">
                <a:solidFill>
                  <a:srgbClr val="000000"/>
                </a:solidFill>
                <a:latin typeface="Courier New"/>
              </a:defRPr>
            </a:pPr>
            <a:r>
              <a:t>│  │  ✅ The SDK handles the rest                               │   │</a:t>
            </a:r>
          </a:p>
          <a:p>
            <a:pPr>
              <a:lnSpc>
                <a:spcPct val="100000"/>
              </a:lnSpc>
              <a:spcBef>
                <a:spcPts val="0"/>
              </a:spcBef>
              <a:spcAft>
                <a:spcPts val="100"/>
              </a:spcAft>
              <a:defRPr sz="800">
                <a:solidFill>
                  <a:srgbClr val="000000"/>
                </a:solidFill>
                <a:latin typeface="Courier New"/>
              </a:defRPr>
            </a:pPr>
            <a:r>
              <a:t>│  │  ✅ Tools are now discoverable via tools/list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S2.15  Registering Resources and Prompts</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REGISTERING RESOURCES &amp; PROMPTS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RESOURCE REGISTRATION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src/server.ts (continued)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private registerResources(): void {                       │   │</a:t>
            </a:r>
          </a:p>
          <a:p>
            <a:pPr>
              <a:lnSpc>
                <a:spcPct val="100000"/>
              </a:lnSpc>
              <a:spcBef>
                <a:spcPts val="0"/>
              </a:spcBef>
              <a:spcAft>
                <a:spcPts val="100"/>
              </a:spcAft>
              <a:defRPr sz="800">
                <a:solidFill>
                  <a:srgbClr val="000000"/>
                </a:solidFill>
                <a:latin typeface="Courier New"/>
              </a:defRPr>
            </a:pPr>
            <a:r>
              <a:t>│  │    logger.info('Registering resources');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for (const resource of allResources) {                  │   │</a:t>
            </a:r>
          </a:p>
          <a:p>
            <a:pPr>
              <a:lnSpc>
                <a:spcPct val="100000"/>
              </a:lnSpc>
              <a:spcBef>
                <a:spcPts val="0"/>
              </a:spcBef>
              <a:spcAft>
                <a:spcPts val="100"/>
              </a:spcAft>
              <a:defRPr sz="800">
                <a:solidFill>
                  <a:srgbClr val="000000"/>
                </a:solidFill>
                <a:latin typeface="Courier New"/>
              </a:defRPr>
            </a:pPr>
            <a:r>
              <a:t>│  │      this.server.resource(                                 │   │</a:t>
            </a:r>
          </a:p>
          <a:p>
            <a:pPr>
              <a:lnSpc>
                <a:spcPct val="100000"/>
              </a:lnSpc>
              <a:spcBef>
                <a:spcPts val="0"/>
              </a:spcBef>
              <a:spcAft>
                <a:spcPts val="100"/>
              </a:spcAft>
              <a:defRPr sz="800">
                <a:solidFill>
                  <a:srgbClr val="000000"/>
                </a:solidFill>
                <a:latin typeface="Courier New"/>
              </a:defRPr>
            </a:pPr>
            <a:r>
              <a:t>│  │        resource.name,                                      │   │</a:t>
            </a:r>
          </a:p>
          <a:p>
            <a:pPr>
              <a:lnSpc>
                <a:spcPct val="100000"/>
              </a:lnSpc>
              <a:spcBef>
                <a:spcPts val="0"/>
              </a:spcBef>
              <a:spcAft>
                <a:spcPts val="100"/>
              </a:spcAft>
              <a:defRPr sz="800">
                <a:solidFill>
                  <a:srgbClr val="000000"/>
                </a:solidFill>
                <a:latin typeface="Courier New"/>
              </a:defRPr>
            </a:pPr>
            <a:r>
              <a:t>│  │        resource.uri,                                       │   │</a:t>
            </a:r>
          </a:p>
          <a:p>
            <a:pPr>
              <a:lnSpc>
                <a:spcPct val="100000"/>
              </a:lnSpc>
              <a:spcBef>
                <a:spcPts val="0"/>
              </a:spcBef>
              <a:spcAft>
                <a:spcPts val="100"/>
              </a:spcAft>
              <a:defRPr sz="800">
                <a:solidFill>
                  <a:srgbClr val="000000"/>
                </a:solidFill>
                <a:latin typeface="Courier New"/>
              </a:defRPr>
            </a:pPr>
            <a:r>
              <a:t>│  │        { description: resource.description,                │   │</a:t>
            </a:r>
          </a:p>
          <a:p>
            <a:pPr>
              <a:lnSpc>
                <a:spcPct val="100000"/>
              </a:lnSpc>
              <a:spcBef>
                <a:spcPts val="0"/>
              </a:spcBef>
              <a:spcAft>
                <a:spcPts val="100"/>
              </a:spcAft>
              <a:defRPr sz="800">
                <a:solidFill>
                  <a:srgbClr val="000000"/>
                </a:solidFill>
                <a:latin typeface="Courier New"/>
              </a:defRPr>
            </a:pPr>
            <a:r>
              <a:t>│  │          mimeType: resource.mimeType },                   │   │</a:t>
            </a:r>
          </a:p>
          <a:p>
            <a:pPr>
              <a:lnSpc>
                <a:spcPct val="100000"/>
              </a:lnSpc>
              <a:spcBef>
                <a:spcPts val="0"/>
              </a:spcBef>
              <a:spcAft>
                <a:spcPts val="100"/>
              </a:spcAft>
              <a:defRPr sz="800">
                <a:solidFill>
                  <a:srgbClr val="000000"/>
                </a:solidFill>
                <a:latin typeface="Courier New"/>
              </a:defRPr>
            </a:pPr>
            <a:r>
              <a:t>│  │        resource.handler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logger.info('All resources registered');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PROMPT REGISTRATION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src/server.ts (continued)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private registerPrompts(): void {                         │   │</a:t>
            </a:r>
          </a:p>
          <a:p>
            <a:pPr>
              <a:lnSpc>
                <a:spcPct val="100000"/>
              </a:lnSpc>
              <a:spcBef>
                <a:spcPts val="0"/>
              </a:spcBef>
              <a:spcAft>
                <a:spcPts val="100"/>
              </a:spcAft>
              <a:defRPr sz="800">
                <a:solidFill>
                  <a:srgbClr val="000000"/>
                </a:solidFill>
                <a:latin typeface="Courier New"/>
              </a:defRPr>
            </a:pPr>
            <a:r>
              <a:t>│  │    logger.info('Registering prompts');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for (const prompt of allPrompts) {                     │   │</a:t>
            </a:r>
          </a:p>
          <a:p>
            <a:pPr>
              <a:lnSpc>
                <a:spcPct val="100000"/>
              </a:lnSpc>
              <a:spcBef>
                <a:spcPts val="0"/>
              </a:spcBef>
              <a:spcAft>
                <a:spcPts val="100"/>
              </a:spcAft>
              <a:defRPr sz="800">
                <a:solidFill>
                  <a:srgbClr val="000000"/>
                </a:solidFill>
                <a:latin typeface="Courier New"/>
              </a:defRPr>
            </a:pPr>
            <a:r>
              <a:t>│  │      this.server.prompt(                                   │   │</a:t>
            </a:r>
          </a:p>
          <a:p>
            <a:pPr>
              <a:lnSpc>
                <a:spcPct val="100000"/>
              </a:lnSpc>
              <a:spcBef>
                <a:spcPts val="0"/>
              </a:spcBef>
              <a:spcAft>
                <a:spcPts val="100"/>
              </a:spcAft>
              <a:defRPr sz="800">
                <a:solidFill>
                  <a:srgbClr val="000000"/>
                </a:solidFill>
                <a:latin typeface="Courier New"/>
              </a:defRPr>
            </a:pPr>
            <a:r>
              <a:t>│  │        prompt.name,                                        │   │</a:t>
            </a:r>
          </a:p>
          <a:p>
            <a:pPr>
              <a:lnSpc>
                <a:spcPct val="100000"/>
              </a:lnSpc>
              <a:spcBef>
                <a:spcPts val="0"/>
              </a:spcBef>
              <a:spcAft>
                <a:spcPts val="100"/>
              </a:spcAft>
              <a:defRPr sz="800">
                <a:solidFill>
                  <a:srgbClr val="000000"/>
                </a:solidFill>
                <a:latin typeface="Courier New"/>
              </a:defRPr>
            </a:pPr>
            <a:r>
              <a:t>│  │        prompt.schema,                                      │   │</a:t>
            </a:r>
          </a:p>
          <a:p>
            <a:pPr>
              <a:lnSpc>
                <a:spcPct val="100000"/>
              </a:lnSpc>
              <a:spcBef>
                <a:spcPts val="0"/>
              </a:spcBef>
              <a:spcAft>
                <a:spcPts val="100"/>
              </a:spcAft>
              <a:defRPr sz="800">
                <a:solidFill>
                  <a:srgbClr val="000000"/>
                </a:solidFill>
                <a:latin typeface="Courier New"/>
              </a:defRPr>
            </a:pPr>
            <a:r>
              <a:t>│  │        prompt.handler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logger.info('All prompts registered');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S2.16  Starting the Server</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STARTING THE SERVER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START METHOD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src/server.ts (continued)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async start(): Promise&lt;void&gt; {                            │   │</a:t>
            </a:r>
          </a:p>
          <a:p>
            <a:pPr>
              <a:lnSpc>
                <a:spcPct val="100000"/>
              </a:lnSpc>
              <a:spcBef>
                <a:spcPts val="0"/>
              </a:spcBef>
              <a:spcAft>
                <a:spcPts val="100"/>
              </a:spcAft>
              <a:defRPr sz="800">
                <a:solidFill>
                  <a:srgbClr val="000000"/>
                </a:solidFill>
                <a:latin typeface="Courier New"/>
              </a:defRPr>
            </a:pPr>
            <a:r>
              <a:t>│  │    if (this.isRunning) {                                   │   │</a:t>
            </a:r>
          </a:p>
          <a:p>
            <a:pPr>
              <a:lnSpc>
                <a:spcPct val="100000"/>
              </a:lnSpc>
              <a:spcBef>
                <a:spcPts val="0"/>
              </a:spcBef>
              <a:spcAft>
                <a:spcPts val="100"/>
              </a:spcAft>
              <a:defRPr sz="800">
                <a:solidFill>
                  <a:srgbClr val="000000"/>
                </a:solidFill>
                <a:latin typeface="Courier New"/>
              </a:defRPr>
            </a:pPr>
            <a:r>
              <a:t>│  │      logger.warn('Server is already running');             │   │</a:t>
            </a:r>
          </a:p>
          <a:p>
            <a:pPr>
              <a:lnSpc>
                <a:spcPct val="100000"/>
              </a:lnSpc>
              <a:spcBef>
                <a:spcPts val="0"/>
              </a:spcBef>
              <a:spcAft>
                <a:spcPts val="100"/>
              </a:spcAft>
              <a:defRPr sz="800">
                <a:solidFill>
                  <a:srgbClr val="000000"/>
                </a:solidFill>
                <a:latin typeface="Courier New"/>
              </a:defRPr>
            </a:pPr>
            <a:r>
              <a:t>│  │      return;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logger.info('Starting server...');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try {                                                   │   │</a:t>
            </a:r>
          </a:p>
          <a:p>
            <a:pPr>
              <a:lnSpc>
                <a:spcPct val="100000"/>
              </a:lnSpc>
              <a:spcBef>
                <a:spcPts val="0"/>
              </a:spcBef>
              <a:spcAft>
                <a:spcPts val="100"/>
              </a:spcAft>
              <a:defRPr sz="800">
                <a:solidFill>
                  <a:srgbClr val="000000"/>
                </a:solidFill>
                <a:latin typeface="Courier New"/>
              </a:defRPr>
            </a:pPr>
            <a:r>
              <a:t>│  │      const transport = new StdioServerTransport();        │   │</a:t>
            </a:r>
          </a:p>
          <a:p>
            <a:pPr>
              <a:lnSpc>
                <a:spcPct val="100000"/>
              </a:lnSpc>
              <a:spcBef>
                <a:spcPts val="0"/>
              </a:spcBef>
              <a:spcAft>
                <a:spcPts val="100"/>
              </a:spcAft>
              <a:defRPr sz="800">
                <a:solidFill>
                  <a:srgbClr val="000000"/>
                </a:solidFill>
                <a:latin typeface="Courier New"/>
              </a:defRPr>
            </a:pPr>
            <a:r>
              <a:t>│  │      await this.server.connect(transport);                │   │</a:t>
            </a:r>
          </a:p>
          <a:p>
            <a:pPr>
              <a:lnSpc>
                <a:spcPct val="100000"/>
              </a:lnSpc>
              <a:spcBef>
                <a:spcPts val="0"/>
              </a:spcBef>
              <a:spcAft>
                <a:spcPts val="100"/>
              </a:spcAft>
              <a:defRPr sz="800">
                <a:solidFill>
                  <a:srgbClr val="000000"/>
                </a:solidFill>
                <a:latin typeface="Courier New"/>
              </a:defRPr>
            </a:pPr>
            <a:r>
              <a:t>│  │      this.isRunning = true;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logger.info('Server started successfully');          │   │</a:t>
            </a:r>
          </a:p>
          <a:p>
            <a:pPr>
              <a:lnSpc>
                <a:spcPct val="100000"/>
              </a:lnSpc>
              <a:spcBef>
                <a:spcPts val="0"/>
              </a:spcBef>
              <a:spcAft>
                <a:spcPts val="100"/>
              </a:spcAft>
              <a:defRPr sz="800">
                <a:solidFill>
                  <a:srgbClr val="000000"/>
                </a:solidFill>
                <a:latin typeface="Courier New"/>
              </a:defRPr>
            </a:pPr>
            <a:r>
              <a:t>│  │      console.error('🚀 MCP Server is running...');        │   │</a:t>
            </a:r>
          </a:p>
          <a:p>
            <a:pPr>
              <a:lnSpc>
                <a:spcPct val="100000"/>
              </a:lnSpc>
              <a:spcBef>
                <a:spcPts val="0"/>
              </a:spcBef>
              <a:spcAft>
                <a:spcPts val="100"/>
              </a:spcAft>
              <a:defRPr sz="800">
                <a:solidFill>
                  <a:srgbClr val="000000"/>
                </a:solidFill>
                <a:latin typeface="Courier New"/>
              </a:defRPr>
            </a:pPr>
            <a:r>
              <a:t>│  │    } catch (error) {                                       │   │</a:t>
            </a:r>
          </a:p>
          <a:p>
            <a:pPr>
              <a:lnSpc>
                <a:spcPct val="100000"/>
              </a:lnSpc>
              <a:spcBef>
                <a:spcPts val="0"/>
              </a:spcBef>
              <a:spcAft>
                <a:spcPts val="100"/>
              </a:spcAft>
              <a:defRPr sz="800">
                <a:solidFill>
                  <a:srgbClr val="000000"/>
                </a:solidFill>
                <a:latin typeface="Courier New"/>
              </a:defRPr>
            </a:pPr>
            <a:r>
              <a:t>│  │      logger.error('Failed to start server', { error });   │   │</a:t>
            </a:r>
          </a:p>
          <a:p>
            <a:pPr>
              <a:lnSpc>
                <a:spcPct val="100000"/>
              </a:lnSpc>
              <a:spcBef>
                <a:spcPts val="0"/>
              </a:spcBef>
              <a:spcAft>
                <a:spcPts val="100"/>
              </a:spcAft>
              <a:defRPr sz="800">
                <a:solidFill>
                  <a:srgbClr val="000000"/>
                </a:solidFill>
                <a:latin typeface="Courier New"/>
              </a:defRPr>
            </a:pPr>
            <a:r>
              <a:t>│  │      throw error;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STOP METHOD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async stop(): Promise&lt;void&gt; { /* Clean shutdown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S2.17  Entry Point (index.ts)</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ENTRY POINT (INDEX.TS)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ENTRY POINT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src/index.ts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#!/usr/bin/env node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import dotenv from 'dotenv';                              │   │</a:t>
            </a:r>
          </a:p>
          <a:p>
            <a:pPr>
              <a:lnSpc>
                <a:spcPct val="100000"/>
              </a:lnSpc>
              <a:spcBef>
                <a:spcPts val="0"/>
              </a:spcBef>
              <a:spcAft>
                <a:spcPts val="100"/>
              </a:spcAft>
              <a:defRPr sz="800">
                <a:solidFill>
                  <a:srgbClr val="000000"/>
                </a:solidFill>
                <a:latin typeface="Courier New"/>
              </a:defRPr>
            </a:pPr>
            <a:r>
              <a:t>│  │  dotenv.config();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import { CalculatorServer } from './server.js';           │   │</a:t>
            </a:r>
          </a:p>
          <a:p>
            <a:pPr>
              <a:lnSpc>
                <a:spcPct val="100000"/>
              </a:lnSpc>
              <a:spcBef>
                <a:spcPts val="0"/>
              </a:spcBef>
              <a:spcAft>
                <a:spcPts val="100"/>
              </a:spcAft>
              <a:defRPr sz="800">
                <a:solidFill>
                  <a:srgbClr val="000000"/>
                </a:solidFill>
                <a:latin typeface="Courier New"/>
              </a:defRPr>
            </a:pPr>
            <a:r>
              <a:t>│  │  import { createLogger } from './logger.js';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const logger = createLogger();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const handleShutdown = async (server: CalculatorServer) =&gt; { │   │</a:t>
            </a:r>
          </a:p>
          <a:p>
            <a:pPr>
              <a:lnSpc>
                <a:spcPct val="100000"/>
              </a:lnSpc>
              <a:spcBef>
                <a:spcPts val="0"/>
              </a:spcBef>
              <a:spcAft>
                <a:spcPts val="100"/>
              </a:spcAft>
              <a:defRPr sz="800">
                <a:solidFill>
                  <a:srgbClr val="000000"/>
                </a:solidFill>
                <a:latin typeface="Courier New"/>
              </a:defRPr>
            </a:pPr>
            <a:r>
              <a:t>│  │    logger.info('Shutting down...');                        │   │</a:t>
            </a:r>
          </a:p>
          <a:p>
            <a:pPr>
              <a:lnSpc>
                <a:spcPct val="100000"/>
              </a:lnSpc>
              <a:spcBef>
                <a:spcPts val="0"/>
              </a:spcBef>
              <a:spcAft>
                <a:spcPts val="100"/>
              </a:spcAft>
              <a:defRPr sz="800">
                <a:solidFill>
                  <a:srgbClr val="000000"/>
                </a:solidFill>
                <a:latin typeface="Courier New"/>
              </a:defRPr>
            </a:pPr>
            <a:r>
              <a:t>│  │    await server.stop();                                    │   │</a:t>
            </a:r>
          </a:p>
          <a:p>
            <a:pPr>
              <a:lnSpc>
                <a:spcPct val="100000"/>
              </a:lnSpc>
              <a:spcBef>
                <a:spcPts val="0"/>
              </a:spcBef>
              <a:spcAft>
                <a:spcPts val="100"/>
              </a:spcAft>
              <a:defRPr sz="800">
                <a:solidFill>
                  <a:srgbClr val="000000"/>
                </a:solidFill>
                <a:latin typeface="Courier New"/>
              </a:defRPr>
            </a:pPr>
            <a:r>
              <a:t>│  │    process.exit(0);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const main = async () =&gt; {                                │   │</a:t>
            </a:r>
          </a:p>
          <a:p>
            <a:pPr>
              <a:lnSpc>
                <a:spcPct val="100000"/>
              </a:lnSpc>
              <a:spcBef>
                <a:spcPts val="0"/>
              </a:spcBef>
              <a:spcAft>
                <a:spcPts val="100"/>
              </a:spcAft>
              <a:defRPr sz="800">
                <a:solidFill>
                  <a:srgbClr val="000000"/>
                </a:solidFill>
                <a:latin typeface="Courier New"/>
              </a:defRPr>
            </a:pPr>
            <a:r>
              <a:t>│  │    try {                                                   │   │</a:t>
            </a:r>
          </a:p>
          <a:p>
            <a:pPr>
              <a:lnSpc>
                <a:spcPct val="100000"/>
              </a:lnSpc>
              <a:spcBef>
                <a:spcPts val="0"/>
              </a:spcBef>
              <a:spcAft>
                <a:spcPts val="100"/>
              </a:spcAft>
              <a:defRPr sz="800">
                <a:solidFill>
                  <a:srgbClr val="000000"/>
                </a:solidFill>
                <a:latin typeface="Courier New"/>
              </a:defRPr>
            </a:pPr>
            <a:r>
              <a:t>│  │      const server = new CalculatorServer();               │   │</a:t>
            </a:r>
          </a:p>
          <a:p>
            <a:pPr>
              <a:lnSpc>
                <a:spcPct val="100000"/>
              </a:lnSpc>
              <a:spcBef>
                <a:spcPts val="0"/>
              </a:spcBef>
              <a:spcAft>
                <a:spcPts val="100"/>
              </a:spcAft>
              <a:defRPr sz="800">
                <a:solidFill>
                  <a:srgbClr val="000000"/>
                </a:solidFill>
                <a:latin typeface="Courier New"/>
              </a:defRPr>
            </a:pPr>
            <a:r>
              <a:t>│  │      process.on('SIGINT', () =&gt; handleShutdown(server));  │   │</a:t>
            </a:r>
          </a:p>
          <a:p>
            <a:pPr>
              <a:lnSpc>
                <a:spcPct val="100000"/>
              </a:lnSpc>
              <a:spcBef>
                <a:spcPts val="0"/>
              </a:spcBef>
              <a:spcAft>
                <a:spcPts val="100"/>
              </a:spcAft>
              <a:defRPr sz="800">
                <a:solidFill>
                  <a:srgbClr val="000000"/>
                </a:solidFill>
                <a:latin typeface="Courier New"/>
              </a:defRPr>
            </a:pPr>
            <a:r>
              <a:t>│  │      process.on('SIGTERM', () =&gt; handleShutdown(server)); │   │</a:t>
            </a:r>
          </a:p>
          <a:p>
            <a:pPr>
              <a:lnSpc>
                <a:spcPct val="100000"/>
              </a:lnSpc>
              <a:spcBef>
                <a:spcPts val="0"/>
              </a:spcBef>
              <a:spcAft>
                <a:spcPts val="100"/>
              </a:spcAft>
              <a:defRPr sz="800">
                <a:solidFill>
                  <a:srgbClr val="000000"/>
                </a:solidFill>
                <a:latin typeface="Courier New"/>
              </a:defRPr>
            </a:pPr>
            <a:r>
              <a:t>│  │      await server.start();                                │   │</a:t>
            </a:r>
          </a:p>
          <a:p>
            <a:pPr>
              <a:lnSpc>
                <a:spcPct val="100000"/>
              </a:lnSpc>
              <a:spcBef>
                <a:spcPts val="0"/>
              </a:spcBef>
              <a:spcAft>
                <a:spcPts val="100"/>
              </a:spcAft>
              <a:defRPr sz="800">
                <a:solidFill>
                  <a:srgbClr val="000000"/>
                </a:solidFill>
                <a:latin typeface="Courier New"/>
              </a:defRPr>
            </a:pPr>
            <a:r>
              <a:t>│  │    } catch (error) {                                       │   │</a:t>
            </a:r>
          </a:p>
          <a:p>
            <a:pPr>
              <a:lnSpc>
                <a:spcPct val="100000"/>
              </a:lnSpc>
              <a:spcBef>
                <a:spcPts val="0"/>
              </a:spcBef>
              <a:spcAft>
                <a:spcPts val="100"/>
              </a:spcAft>
              <a:defRPr sz="800">
                <a:solidFill>
                  <a:srgbClr val="000000"/>
                </a:solidFill>
                <a:latin typeface="Courier New"/>
              </a:defRPr>
            </a:pPr>
            <a:r>
              <a:t>│  │      logger.error('Fatal error', { error });              │   │</a:t>
            </a:r>
          </a:p>
          <a:p>
            <a:pPr>
              <a:lnSpc>
                <a:spcPct val="100000"/>
              </a:lnSpc>
              <a:spcBef>
                <a:spcPts val="0"/>
              </a:spcBef>
              <a:spcAft>
                <a:spcPts val="100"/>
              </a:spcAft>
              <a:defRPr sz="800">
                <a:solidFill>
                  <a:srgbClr val="000000"/>
                </a:solidFill>
                <a:latin typeface="Courier New"/>
              </a:defRPr>
            </a:pPr>
            <a:r>
              <a:t>│  │      process.exit(1);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main();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S2.18  Testing with a Client</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TESTING WITH A CLIENT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TEST CLIENT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src/client-test.ts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import { McpClient } from '@modelcontextprotocol/sdk/client/mcp.js'; │   │</a:t>
            </a:r>
          </a:p>
          <a:p>
            <a:pPr>
              <a:lnSpc>
                <a:spcPct val="100000"/>
              </a:lnSpc>
              <a:spcBef>
                <a:spcPts val="0"/>
              </a:spcBef>
              <a:spcAft>
                <a:spcPts val="100"/>
              </a:spcAft>
              <a:defRPr sz="800">
                <a:solidFill>
                  <a:srgbClr val="000000"/>
                </a:solidFill>
                <a:latin typeface="Courier New"/>
              </a:defRPr>
            </a:pPr>
            <a:r>
              <a:t>│  │  import { StdioClientTransport } from '@modelcontextprotocol/sdk/client/stdio.js';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const client = new McpClient({ name: 'test-client', version: '1.0.0'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const transport = new StdioClientTransport({              │   │</a:t>
            </a:r>
          </a:p>
          <a:p>
            <a:pPr>
              <a:lnSpc>
                <a:spcPct val="100000"/>
              </a:lnSpc>
              <a:spcBef>
                <a:spcPts val="0"/>
              </a:spcBef>
              <a:spcAft>
                <a:spcPts val="100"/>
              </a:spcAft>
              <a:defRPr sz="800">
                <a:solidFill>
                  <a:srgbClr val="000000"/>
                </a:solidFill>
                <a:latin typeface="Courier New"/>
              </a:defRPr>
            </a:pPr>
            <a:r>
              <a:t>│  │    command: 'node',                                         │   │</a:t>
            </a:r>
          </a:p>
          <a:p>
            <a:pPr>
              <a:lnSpc>
                <a:spcPct val="100000"/>
              </a:lnSpc>
              <a:spcBef>
                <a:spcPts val="0"/>
              </a:spcBef>
              <a:spcAft>
                <a:spcPts val="100"/>
              </a:spcAft>
              <a:defRPr sz="800">
                <a:solidFill>
                  <a:srgbClr val="000000"/>
                </a:solidFill>
                <a:latin typeface="Courier New"/>
              </a:defRPr>
            </a:pPr>
            <a:r>
              <a:t>│  │    args: ['dist/index.js']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await client.connect(transport);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List tools                                             │   │</a:t>
            </a:r>
          </a:p>
          <a:p>
            <a:pPr>
              <a:lnSpc>
                <a:spcPct val="100000"/>
              </a:lnSpc>
              <a:spcBef>
                <a:spcPts val="0"/>
              </a:spcBef>
              <a:spcAft>
                <a:spcPts val="100"/>
              </a:spcAft>
              <a:defRPr sz="800">
                <a:solidFill>
                  <a:srgbClr val="000000"/>
                </a:solidFill>
                <a:latin typeface="Courier New"/>
              </a:defRPr>
            </a:pPr>
            <a:r>
              <a:t>│  │  const { tools } = await client.listTools();              │   │</a:t>
            </a:r>
          </a:p>
          <a:p>
            <a:pPr>
              <a:lnSpc>
                <a:spcPct val="100000"/>
              </a:lnSpc>
              <a:spcBef>
                <a:spcPts val="0"/>
              </a:spcBef>
              <a:spcAft>
                <a:spcPts val="100"/>
              </a:spcAft>
              <a:defRPr sz="800">
                <a:solidFill>
                  <a:srgbClr val="000000"/>
                </a:solidFill>
                <a:latin typeface="Courier New"/>
              </a:defRPr>
            </a:pPr>
            <a:r>
              <a:t>│  │  console.log('Tools:', tools.map(t =&gt; t.name));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Call a tool                                           │   │</a:t>
            </a:r>
          </a:p>
          <a:p>
            <a:pPr>
              <a:lnSpc>
                <a:spcPct val="100000"/>
              </a:lnSpc>
              <a:spcBef>
                <a:spcPts val="0"/>
              </a:spcBef>
              <a:spcAft>
                <a:spcPts val="100"/>
              </a:spcAft>
              <a:defRPr sz="800">
                <a:solidFill>
                  <a:srgbClr val="000000"/>
                </a:solidFill>
                <a:latin typeface="Courier New"/>
              </a:defRPr>
            </a:pPr>
            <a:r>
              <a:t>│  │  const result = await client.callTool('add', { a: 5, b: 3 }); │   │</a:t>
            </a:r>
          </a:p>
          <a:p>
            <a:pPr>
              <a:lnSpc>
                <a:spcPct val="100000"/>
              </a:lnSpc>
              <a:spcBef>
                <a:spcPts val="0"/>
              </a:spcBef>
              <a:spcAft>
                <a:spcPts val="100"/>
              </a:spcAft>
              <a:defRPr sz="800">
                <a:solidFill>
                  <a:srgbClr val="000000"/>
                </a:solidFill>
                <a:latin typeface="Courier New"/>
              </a:defRPr>
            </a:pPr>
            <a:r>
              <a:t>│  │  console.log('Result:', result.content[0].text);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await client.close();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S2.19  Running and Verifying</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RUNNING AND VERIFYING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BUILD AND RUN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Build the server                                        │   │</a:t>
            </a:r>
          </a:p>
          <a:p>
            <a:pPr>
              <a:lnSpc>
                <a:spcPct val="100000"/>
              </a:lnSpc>
              <a:spcBef>
                <a:spcPts val="0"/>
              </a:spcBef>
              <a:spcAft>
                <a:spcPts val="100"/>
              </a:spcAft>
              <a:defRPr sz="800">
                <a:solidFill>
                  <a:srgbClr val="000000"/>
                </a:solidFill>
                <a:latin typeface="Courier New"/>
              </a:defRPr>
            </a:pPr>
            <a:r>
              <a:t>│  │  $ npm run build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Run the server in one terminal                         │   │</a:t>
            </a:r>
          </a:p>
          <a:p>
            <a:pPr>
              <a:lnSpc>
                <a:spcPct val="100000"/>
              </a:lnSpc>
              <a:spcBef>
                <a:spcPts val="0"/>
              </a:spcBef>
              <a:spcAft>
                <a:spcPts val="100"/>
              </a:spcAft>
              <a:defRPr sz="800">
                <a:solidFill>
                  <a:srgbClr val="000000"/>
                </a:solidFill>
                <a:latin typeface="Courier New"/>
              </a:defRPr>
            </a:pPr>
            <a:r>
              <a:t>│  │  $ npm start                                               │   │</a:t>
            </a:r>
          </a:p>
          <a:p>
            <a:pPr>
              <a:lnSpc>
                <a:spcPct val="100000"/>
              </a:lnSpc>
              <a:spcBef>
                <a:spcPts val="0"/>
              </a:spcBef>
              <a:spcAft>
                <a:spcPts val="100"/>
              </a:spcAft>
              <a:defRPr sz="800">
                <a:solidFill>
                  <a:srgbClr val="000000"/>
                </a:solidFill>
                <a:latin typeface="Courier New"/>
              </a:defRPr>
            </a:pPr>
            <a:r>
              <a:t>│  │  🚀 MCP Server is running...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Run the test client in another terminal                │   │</a:t>
            </a:r>
          </a:p>
          <a:p>
            <a:pPr>
              <a:lnSpc>
                <a:spcPct val="100000"/>
              </a:lnSpc>
              <a:spcBef>
                <a:spcPts val="0"/>
              </a:spcBef>
              <a:spcAft>
                <a:spcPts val="100"/>
              </a:spcAft>
              <a:defRPr sz="800">
                <a:solidFill>
                  <a:srgbClr val="000000"/>
                </a:solidFill>
                <a:latin typeface="Courier New"/>
              </a:defRPr>
            </a:pPr>
            <a:r>
              <a:t>│  │  $ npx tsx src/client-test.ts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EXPECTED OUTPUT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Test Client Output: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Tools: ['add', 'subtract', 'multiply', 'divide', 'read_file'] │   │</a:t>
            </a:r>
          </a:p>
          <a:p>
            <a:pPr>
              <a:lnSpc>
                <a:spcPct val="100000"/>
              </a:lnSpc>
              <a:spcBef>
                <a:spcPts val="0"/>
              </a:spcBef>
              <a:spcAft>
                <a:spcPts val="100"/>
              </a:spcAft>
              <a:defRPr sz="800">
                <a:solidFill>
                  <a:srgbClr val="000000"/>
                </a:solidFill>
                <a:latin typeface="Courier New"/>
              </a:defRPr>
            </a:pPr>
            <a:r>
              <a:t>│  │  Result: 5 + 3 = 8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Server Logs (pino-pretty):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[00:00:00] INFO: Server started successfully            │   │</a:t>
            </a:r>
          </a:p>
          <a:p>
            <a:pPr>
              <a:lnSpc>
                <a:spcPct val="100000"/>
              </a:lnSpc>
              <a:spcBef>
                <a:spcPts val="0"/>
              </a:spcBef>
              <a:spcAft>
                <a:spcPts val="100"/>
              </a:spcAft>
              <a:defRPr sz="800">
                <a:solidFill>
                  <a:srgbClr val="000000"/>
                </a:solidFill>
                <a:latin typeface="Courier New"/>
              </a:defRPr>
            </a:pPr>
            <a:r>
              <a:t>│  │  [00:00:05] DEBUG: Executing add tool                    │   │</a:t>
            </a:r>
          </a:p>
          <a:p>
            <a:pPr>
              <a:lnSpc>
                <a:spcPct val="100000"/>
              </a:lnSpc>
              <a:spcBef>
                <a:spcPts val="0"/>
              </a:spcBef>
              <a:spcAft>
                <a:spcPts val="100"/>
              </a:spcAft>
              <a:defRPr sz="800">
                <a:solidFill>
                  <a:srgbClr val="000000"/>
                </a:solidFill>
                <a:latin typeface="Courier New"/>
              </a:defRPr>
            </a:pPr>
            <a:r>
              <a:t>│  │  [00:00:05] INFO: Add tool completed                     │   │</a:t>
            </a:r>
          </a:p>
          <a:p>
            <a:pPr>
              <a:lnSpc>
                <a:spcPct val="100000"/>
              </a:lnSpc>
              <a:spcBef>
                <a:spcPts val="0"/>
              </a:spcBef>
              <a:spcAft>
                <a:spcPts val="100"/>
              </a:spcAft>
              <a:defRPr sz="800">
                <a:solidFill>
                  <a:srgbClr val="000000"/>
                </a:solidFill>
                <a:latin typeface="Courier New"/>
              </a:defRPr>
            </a:pPr>
            <a:r>
              <a:t>│  │  [00:00:05] DEBUG: Sending response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S2.20  Section Summary</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SECTION SUMMARY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WHAT WE BUILT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A complete MCP server with:                            │   │</a:t>
            </a:r>
          </a:p>
          <a:p>
            <a:pPr>
              <a:lnSpc>
                <a:spcPct val="100000"/>
              </a:lnSpc>
              <a:spcBef>
                <a:spcPts val="0"/>
              </a:spcBef>
              <a:spcAft>
                <a:spcPts val="100"/>
              </a:spcAft>
              <a:defRPr sz="800">
                <a:solidFill>
                  <a:srgbClr val="000000"/>
                </a:solidFill>
                <a:latin typeface="Courier New"/>
              </a:defRPr>
            </a:pPr>
            <a:r>
              <a:t>│  │  ✅ 5 tools (arithmetic + file operations)                 │   │</a:t>
            </a:r>
          </a:p>
          <a:p>
            <a:pPr>
              <a:lnSpc>
                <a:spcPct val="100000"/>
              </a:lnSpc>
              <a:spcBef>
                <a:spcPts val="0"/>
              </a:spcBef>
              <a:spcAft>
                <a:spcPts val="100"/>
              </a:spcAft>
              <a:defRPr sz="800">
                <a:solidFill>
                  <a:srgbClr val="000000"/>
                </a:solidFill>
                <a:latin typeface="Courier New"/>
              </a:defRPr>
            </a:pPr>
            <a:r>
              <a:t>│  │  ✅ 3 resources (system info, server status, config)       │   │</a:t>
            </a:r>
          </a:p>
          <a:p>
            <a:pPr>
              <a:lnSpc>
                <a:spcPct val="100000"/>
              </a:lnSpc>
              <a:spcBef>
                <a:spcPts val="0"/>
              </a:spcBef>
              <a:spcAft>
                <a:spcPts val="100"/>
              </a:spcAft>
              <a:defRPr sz="800">
                <a:solidFill>
                  <a:srgbClr val="000000"/>
                </a:solidFill>
                <a:latin typeface="Courier New"/>
              </a:defRPr>
            </a:pPr>
            <a:r>
              <a:t>│  │  ✅ 2 prompts (welcome, help)                              │   │</a:t>
            </a:r>
          </a:p>
          <a:p>
            <a:pPr>
              <a:lnSpc>
                <a:spcPct val="100000"/>
              </a:lnSpc>
              <a:spcBef>
                <a:spcPts val="0"/>
              </a:spcBef>
              <a:spcAft>
                <a:spcPts val="100"/>
              </a:spcAft>
              <a:defRPr sz="800">
                <a:solidFill>
                  <a:srgbClr val="000000"/>
                </a:solidFill>
                <a:latin typeface="Courier New"/>
              </a:defRPr>
            </a:pPr>
            <a:r>
              <a:t>│  │  ✅ Proper logging and error handling                      │   │</a:t>
            </a:r>
          </a:p>
          <a:p>
            <a:pPr>
              <a:lnSpc>
                <a:spcPct val="100000"/>
              </a:lnSpc>
              <a:spcBef>
                <a:spcPts val="0"/>
              </a:spcBef>
              <a:spcAft>
                <a:spcPts val="100"/>
              </a:spcAft>
              <a:defRPr sz="800">
                <a:solidFill>
                  <a:srgbClr val="000000"/>
                </a:solidFill>
                <a:latin typeface="Courier New"/>
              </a:defRPr>
            </a:pPr>
            <a:r>
              <a:t>│  │  ✅ Security (path traversal protection)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KEY LEARNINGS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1. Tools = Actions the AI can perform                     │   │</a:t>
            </a:r>
          </a:p>
          <a:p>
            <a:pPr>
              <a:lnSpc>
                <a:spcPct val="100000"/>
              </a:lnSpc>
              <a:spcBef>
                <a:spcPts val="0"/>
              </a:spcBef>
              <a:spcAft>
                <a:spcPts val="100"/>
              </a:spcAft>
              <a:defRPr sz="800">
                <a:solidFill>
                  <a:srgbClr val="000000"/>
                </a:solidFill>
                <a:latin typeface="Courier New"/>
              </a:defRPr>
            </a:pPr>
            <a:r>
              <a:t>│  │  2. Resources = Data the AI can read                       │   │</a:t>
            </a:r>
          </a:p>
          <a:p>
            <a:pPr>
              <a:lnSpc>
                <a:spcPct val="100000"/>
              </a:lnSpc>
              <a:spcBef>
                <a:spcPts val="0"/>
              </a:spcBef>
              <a:spcAft>
                <a:spcPts val="100"/>
              </a:spcAft>
              <a:defRPr sz="800">
                <a:solidFill>
                  <a:srgbClr val="000000"/>
                </a:solidFill>
                <a:latin typeface="Courier New"/>
              </a:defRPr>
            </a:pPr>
            <a:r>
              <a:t>│  │  3. Prompts = Templates that guide AI behavior            │   │</a:t>
            </a:r>
          </a:p>
          <a:p>
            <a:pPr>
              <a:lnSpc>
                <a:spcPct val="100000"/>
              </a:lnSpc>
              <a:spcBef>
                <a:spcPts val="0"/>
              </a:spcBef>
              <a:spcAft>
                <a:spcPts val="100"/>
              </a:spcAft>
              <a:defRPr sz="800">
                <a:solidFill>
                  <a:srgbClr val="000000"/>
                </a:solidFill>
                <a:latin typeface="Courier New"/>
              </a:defRPr>
            </a:pPr>
            <a:r>
              <a:t>│  │  4. Registration makes capabilities discoverable           │   │</a:t>
            </a:r>
          </a:p>
          <a:p>
            <a:pPr>
              <a:lnSpc>
                <a:spcPct val="100000"/>
              </a:lnSpc>
              <a:spcBef>
                <a:spcPts val="0"/>
              </a:spcBef>
              <a:spcAft>
                <a:spcPts val="100"/>
              </a:spcAft>
              <a:defRPr sz="800">
                <a:solidFill>
                  <a:srgbClr val="000000"/>
                </a:solidFill>
                <a:latin typeface="Courier New"/>
              </a:defRPr>
            </a:pPr>
            <a:r>
              <a:t>│  │  5. stdio is the most common transport                     │   │</a:t>
            </a:r>
          </a:p>
          <a:p>
            <a:pPr>
              <a:lnSpc>
                <a:spcPct val="100000"/>
              </a:lnSpc>
              <a:spcBef>
                <a:spcPts val="0"/>
              </a:spcBef>
              <a:spcAft>
                <a:spcPts val="100"/>
              </a:spcAft>
              <a:defRPr sz="800">
                <a:solidFill>
                  <a:srgbClr val="000000"/>
                </a:solidFill>
                <a:latin typeface="Courier New"/>
              </a:defRPr>
            </a:pPr>
            <a:r>
              <a:t>│  │  6. TypeScript + Zod = Type-safe MCP development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NEXT STEPS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Next: Add advanced features (caching, auth, retries)   │   │</a:t>
            </a:r>
          </a:p>
          <a:p>
            <a:pPr>
              <a:lnSpc>
                <a:spcPct val="100000"/>
              </a:lnSpc>
              <a:spcBef>
                <a:spcPts val="0"/>
              </a:spcBef>
              <a:spcAft>
                <a:spcPts val="100"/>
              </a:spcAft>
              <a:defRPr sz="800">
                <a:solidFill>
                  <a:srgbClr val="000000"/>
                </a:solidFill>
                <a:latin typeface="Courier New"/>
              </a:defRPr>
            </a:pPr>
            <a:r>
              <a:t>│  │  ➡️ Build a production-grade MCP client                    │   │</a:t>
            </a:r>
          </a:p>
          <a:p>
            <a:pPr>
              <a:lnSpc>
                <a:spcPct val="100000"/>
              </a:lnSpc>
              <a:spcBef>
                <a:spcPts val="0"/>
              </a:spcBef>
              <a:spcAft>
                <a:spcPts val="100"/>
              </a:spcAft>
              <a:defRPr sz="800">
                <a:solidFill>
                  <a:srgbClr val="000000"/>
                </a:solidFill>
                <a:latin typeface="Courier New"/>
              </a:defRPr>
            </a:pPr>
            <a:r>
              <a:t>│  │  ➡️ Connect to enterprise systems (databases, APIs)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S3.1  Advanced MCP Server Features</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ADVANCED MCP SERVER FEATURES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WHAT WE'RE ADDING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HTTP Client with retry logic                            │   │</a:t>
            </a:r>
          </a:p>
          <a:p>
            <a:pPr>
              <a:lnSpc>
                <a:spcPct val="100000"/>
              </a:lnSpc>
              <a:spcBef>
                <a:spcPts val="0"/>
              </a:spcBef>
              <a:spcAft>
                <a:spcPts val="100"/>
              </a:spcAft>
              <a:defRPr sz="800">
                <a:solidFill>
                  <a:srgbClr val="000000"/>
                </a:solidFill>
                <a:latin typeface="Courier New"/>
              </a:defRPr>
            </a:pPr>
            <a:r>
              <a:t>│  │  ✅ Data transformation utilities (JSON↔CSV)               │   │</a:t>
            </a:r>
          </a:p>
          <a:p>
            <a:pPr>
              <a:lnSpc>
                <a:spcPct val="100000"/>
              </a:lnSpc>
              <a:spcBef>
                <a:spcPts val="0"/>
              </a:spcBef>
              <a:spcAft>
                <a:spcPts val="100"/>
              </a:spcAft>
              <a:defRPr sz="800">
                <a:solidFill>
                  <a:srgbClr val="000000"/>
                </a:solidFill>
                <a:latin typeface="Courier New"/>
              </a:defRPr>
            </a:pPr>
            <a:r>
              <a:t>│  │  ✅ Caching with multiple eviction policies                 │   │</a:t>
            </a:r>
          </a:p>
          <a:p>
            <a:pPr>
              <a:lnSpc>
                <a:spcPct val="100000"/>
              </a:lnSpc>
              <a:spcBef>
                <a:spcPts val="0"/>
              </a:spcBef>
              <a:spcAft>
                <a:spcPts val="100"/>
              </a:spcAft>
              <a:defRPr sz="800">
                <a:solidFill>
                  <a:srgbClr val="000000"/>
                </a:solidFill>
                <a:latin typeface="Courier New"/>
              </a:defRPr>
            </a:pPr>
            <a:r>
              <a:t>│  │  ✅ Authentication (API keys, JWT)                          │   │</a:t>
            </a:r>
          </a:p>
          <a:p>
            <a:pPr>
              <a:lnSpc>
                <a:spcPct val="100000"/>
              </a:lnSpc>
              <a:spcBef>
                <a:spcPts val="0"/>
              </a:spcBef>
              <a:spcAft>
                <a:spcPts val="100"/>
              </a:spcAft>
              <a:defRPr sz="800">
                <a:solidFill>
                  <a:srgbClr val="000000"/>
                </a:solidFill>
                <a:latin typeface="Courier New"/>
              </a:defRPr>
            </a:pPr>
            <a:r>
              <a:t>│  │  ✅ Structured output and validation                        │   │</a:t>
            </a:r>
          </a:p>
          <a:p>
            <a:pPr>
              <a:lnSpc>
                <a:spcPct val="100000"/>
              </a:lnSpc>
              <a:spcBef>
                <a:spcPts val="0"/>
              </a:spcBef>
              <a:spcAft>
                <a:spcPts val="100"/>
              </a:spcAft>
              <a:defRPr sz="800">
                <a:solidFill>
                  <a:srgbClr val="000000"/>
                </a:solidFill>
                <a:latin typeface="Courier New"/>
              </a:defRPr>
            </a:pPr>
            <a:r>
              <a:t>│  │  ✅ Comprehensive error handling                            │   │</a:t>
            </a:r>
          </a:p>
          <a:p>
            <a:pPr>
              <a:lnSpc>
                <a:spcPct val="100000"/>
              </a:lnSpc>
              <a:spcBef>
                <a:spcPts val="0"/>
              </a:spcBef>
              <a:spcAft>
                <a:spcPts val="100"/>
              </a:spcAft>
              <a:defRPr sz="800">
                <a:solidFill>
                  <a:srgbClr val="000000"/>
                </a:solidFill>
                <a:latin typeface="Courier New"/>
              </a:defRPr>
            </a:pPr>
            <a:r>
              <a:t>│  │  ✅ Security guardrails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WHY THESE FEATURES MATTER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Production-ready vs. prototype                         │   │</a:t>
            </a:r>
          </a:p>
          <a:p>
            <a:pPr>
              <a:lnSpc>
                <a:spcPct val="100000"/>
              </a:lnSpc>
              <a:spcBef>
                <a:spcPts val="0"/>
              </a:spcBef>
              <a:spcAft>
                <a:spcPts val="100"/>
              </a:spcAft>
              <a:defRPr sz="800">
                <a:solidFill>
                  <a:srgbClr val="000000"/>
                </a:solidFill>
                <a:latin typeface="Courier New"/>
              </a:defRPr>
            </a:pPr>
            <a:r>
              <a:t>│  │  🔹 Enterprises require security &amp; reliability             │   │</a:t>
            </a:r>
          </a:p>
          <a:p>
            <a:pPr>
              <a:lnSpc>
                <a:spcPct val="100000"/>
              </a:lnSpc>
              <a:spcBef>
                <a:spcPts val="0"/>
              </a:spcBef>
              <a:spcAft>
                <a:spcPts val="100"/>
              </a:spcAft>
              <a:defRPr sz="800">
                <a:solidFill>
                  <a:srgbClr val="000000"/>
                </a:solidFill>
                <a:latin typeface="Courier New"/>
              </a:defRPr>
            </a:pPr>
            <a:r>
              <a:t>│  │  🔹 Caching improves performance                           │   │</a:t>
            </a:r>
          </a:p>
          <a:p>
            <a:pPr>
              <a:lnSpc>
                <a:spcPct val="100000"/>
              </a:lnSpc>
              <a:spcBef>
                <a:spcPts val="0"/>
              </a:spcBef>
              <a:spcAft>
                <a:spcPts val="100"/>
              </a:spcAft>
              <a:defRPr sz="800">
                <a:solidFill>
                  <a:srgbClr val="000000"/>
                </a:solidFill>
                <a:latin typeface="Courier New"/>
              </a:defRPr>
            </a:pPr>
            <a:r>
              <a:t>│  │  🔹 Retry logic handles transient failures                 │   │</a:t>
            </a:r>
          </a:p>
          <a:p>
            <a:pPr>
              <a:lnSpc>
                <a:spcPct val="100000"/>
              </a:lnSpc>
              <a:spcBef>
                <a:spcPts val="0"/>
              </a:spcBef>
              <a:spcAft>
                <a:spcPts val="100"/>
              </a:spcAft>
              <a:defRPr sz="800">
                <a:solidFill>
                  <a:srgbClr val="000000"/>
                </a:solidFill>
                <a:latin typeface="Courier New"/>
              </a:defRPr>
            </a:pPr>
            <a:r>
              <a:t>│  │  🔹 Authentication prevents unauthorized access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S3.2  HTTP Client with Retry Logic</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HTTP CLIENT WITH RETRY LOGIC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HTTP CLIENT IMPLEMENTATION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src/utils/http-client.ts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import axios from 'axios';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export class HttpClient {                                 │   │</a:t>
            </a:r>
          </a:p>
          <a:p>
            <a:pPr>
              <a:lnSpc>
                <a:spcPct val="100000"/>
              </a:lnSpc>
              <a:spcBef>
                <a:spcPts val="0"/>
              </a:spcBef>
              <a:spcAft>
                <a:spcPts val="100"/>
              </a:spcAft>
              <a:defRPr sz="800">
                <a:solidFill>
                  <a:srgbClr val="000000"/>
                </a:solidFill>
                <a:latin typeface="Courier New"/>
              </a:defRPr>
            </a:pPr>
            <a:r>
              <a:t>│  │    private client = axios.create();                        │   │</a:t>
            </a:r>
          </a:p>
          <a:p>
            <a:pPr>
              <a:lnSpc>
                <a:spcPct val="100000"/>
              </a:lnSpc>
              <a:spcBef>
                <a:spcPts val="0"/>
              </a:spcBef>
              <a:spcAft>
                <a:spcPts val="100"/>
              </a:spcAft>
              <a:defRPr sz="800">
                <a:solidFill>
                  <a:srgbClr val="000000"/>
                </a:solidFill>
                <a:latin typeface="Courier New"/>
              </a:defRPr>
            </a:pPr>
            <a:r>
              <a:t>│  │    private maxRetries = 3;                                 │   │</a:t>
            </a:r>
          </a:p>
          <a:p>
            <a:pPr>
              <a:lnSpc>
                <a:spcPct val="100000"/>
              </a:lnSpc>
              <a:spcBef>
                <a:spcPts val="0"/>
              </a:spcBef>
              <a:spcAft>
                <a:spcPts val="100"/>
              </a:spcAft>
              <a:defRPr sz="800">
                <a:solidFill>
                  <a:srgbClr val="000000"/>
                </a:solidFill>
                <a:latin typeface="Courier New"/>
              </a:defRPr>
            </a:pPr>
            <a:r>
              <a:t>│  │    private retryDelay = 1000;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async request&lt;T&gt;(config: any): Promise&lt;T&gt; {            │   │</a:t>
            </a:r>
          </a:p>
          <a:p>
            <a:pPr>
              <a:lnSpc>
                <a:spcPct val="100000"/>
              </a:lnSpc>
              <a:spcBef>
                <a:spcPts val="0"/>
              </a:spcBef>
              <a:spcAft>
                <a:spcPts val="100"/>
              </a:spcAft>
              <a:defRPr sz="800">
                <a:solidFill>
                  <a:srgbClr val="000000"/>
                </a:solidFill>
                <a:latin typeface="Courier New"/>
              </a:defRPr>
            </a:pPr>
            <a:r>
              <a:t>│  │      let lastError: Error | null = null;                  │   │</a:t>
            </a:r>
          </a:p>
          <a:p>
            <a:pPr>
              <a:lnSpc>
                <a:spcPct val="100000"/>
              </a:lnSpc>
              <a:spcBef>
                <a:spcPts val="0"/>
              </a:spcBef>
              <a:spcAft>
                <a:spcPts val="100"/>
              </a:spcAft>
              <a:defRPr sz="800">
                <a:solidFill>
                  <a:srgbClr val="000000"/>
                </a:solidFill>
                <a:latin typeface="Courier New"/>
              </a:defRPr>
            </a:pPr>
            <a:r>
              <a:t>│  │      let delay = this.retryDelay;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for (let attempt = 1; attempt &lt;= this.maxRetries + 1; attempt++) { │   │</a:t>
            </a:r>
          </a:p>
          <a:p>
            <a:pPr>
              <a:lnSpc>
                <a:spcPct val="100000"/>
              </a:lnSpc>
              <a:spcBef>
                <a:spcPts val="0"/>
              </a:spcBef>
              <a:spcAft>
                <a:spcPts val="100"/>
              </a:spcAft>
              <a:defRPr sz="800">
                <a:solidFill>
                  <a:srgbClr val="000000"/>
                </a:solidFill>
                <a:latin typeface="Courier New"/>
              </a:defRPr>
            </a:pPr>
            <a:r>
              <a:t>│  │        try {                                               │   │</a:t>
            </a:r>
          </a:p>
          <a:p>
            <a:pPr>
              <a:lnSpc>
                <a:spcPct val="100000"/>
              </a:lnSpc>
              <a:spcBef>
                <a:spcPts val="0"/>
              </a:spcBef>
              <a:spcAft>
                <a:spcPts val="100"/>
              </a:spcAft>
              <a:defRPr sz="800">
                <a:solidFill>
                  <a:srgbClr val="000000"/>
                </a:solidFill>
                <a:latin typeface="Courier New"/>
              </a:defRPr>
            </a:pPr>
            <a:r>
              <a:t>│  │          const response = await this.client.request&lt;T&gt;(config); │   │</a:t>
            </a:r>
          </a:p>
          <a:p>
            <a:pPr>
              <a:lnSpc>
                <a:spcPct val="100000"/>
              </a:lnSpc>
              <a:spcBef>
                <a:spcPts val="0"/>
              </a:spcBef>
              <a:spcAft>
                <a:spcPts val="100"/>
              </a:spcAft>
              <a:defRPr sz="800">
                <a:solidFill>
                  <a:srgbClr val="000000"/>
                </a:solidFill>
                <a:latin typeface="Courier New"/>
              </a:defRPr>
            </a:pPr>
            <a:r>
              <a:t>│  │          return response.data;                             │   │</a:t>
            </a:r>
          </a:p>
          <a:p>
            <a:pPr>
              <a:lnSpc>
                <a:spcPct val="100000"/>
              </a:lnSpc>
              <a:spcBef>
                <a:spcPts val="0"/>
              </a:spcBef>
              <a:spcAft>
                <a:spcPts val="100"/>
              </a:spcAft>
              <a:defRPr sz="800">
                <a:solidFill>
                  <a:srgbClr val="000000"/>
                </a:solidFill>
                <a:latin typeface="Courier New"/>
              </a:defRPr>
            </a:pPr>
            <a:r>
              <a:t>│  │        } catch (error) {                                   │   │</a:t>
            </a:r>
          </a:p>
          <a:p>
            <a:pPr>
              <a:lnSpc>
                <a:spcPct val="100000"/>
              </a:lnSpc>
              <a:spcBef>
                <a:spcPts val="0"/>
              </a:spcBef>
              <a:spcAft>
                <a:spcPts val="100"/>
              </a:spcAft>
              <a:defRPr sz="800">
                <a:solidFill>
                  <a:srgbClr val="000000"/>
                </a:solidFill>
                <a:latin typeface="Courier New"/>
              </a:defRPr>
            </a:pPr>
            <a:r>
              <a:t>│  │          lastError = error as Error;                      │   │</a:t>
            </a:r>
          </a:p>
          <a:p>
            <a:pPr>
              <a:lnSpc>
                <a:spcPct val="100000"/>
              </a:lnSpc>
              <a:spcBef>
                <a:spcPts val="0"/>
              </a:spcBef>
              <a:spcAft>
                <a:spcPts val="100"/>
              </a:spcAft>
              <a:defRPr sz="800">
                <a:solidFill>
                  <a:srgbClr val="000000"/>
                </a:solidFill>
                <a:latin typeface="Courier New"/>
              </a:defRPr>
            </a:pPr>
            <a:r>
              <a:t>│  │          if (!this.isRetryable(error)) break;             │   │</a:t>
            </a:r>
          </a:p>
          <a:p>
            <a:pPr>
              <a:lnSpc>
                <a:spcPct val="100000"/>
              </a:lnSpc>
              <a:spcBef>
                <a:spcPts val="0"/>
              </a:spcBef>
              <a:spcAft>
                <a:spcPts val="100"/>
              </a:spcAft>
              <a:defRPr sz="800">
                <a:solidFill>
                  <a:srgbClr val="000000"/>
                </a:solidFill>
                <a:latin typeface="Courier New"/>
              </a:defRPr>
            </a:pPr>
            <a:r>
              <a:t>│  │          if (attempt &gt; this.maxRetries) break;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Exponential backoff                           │   │</a:t>
            </a:r>
          </a:p>
          <a:p>
            <a:pPr>
              <a:lnSpc>
                <a:spcPct val="100000"/>
              </a:lnSpc>
              <a:spcBef>
                <a:spcPts val="0"/>
              </a:spcBef>
              <a:spcAft>
                <a:spcPts val="100"/>
              </a:spcAft>
              <a:defRPr sz="800">
                <a:solidFill>
                  <a:srgbClr val="000000"/>
                </a:solidFill>
                <a:latin typeface="Courier New"/>
              </a:defRPr>
            </a:pPr>
            <a:r>
              <a:t>│  │          await this.sleep(delay);                          │   │</a:t>
            </a:r>
          </a:p>
          <a:p>
            <a:pPr>
              <a:lnSpc>
                <a:spcPct val="100000"/>
              </a:lnSpc>
              <a:spcBef>
                <a:spcPts val="0"/>
              </a:spcBef>
              <a:spcAft>
                <a:spcPts val="100"/>
              </a:spcAft>
              <a:defRPr sz="800">
                <a:solidFill>
                  <a:srgbClr val="000000"/>
                </a:solidFill>
                <a:latin typeface="Courier New"/>
              </a:defRPr>
            </a:pPr>
            <a:r>
              <a:t>│  │          delay *= 2;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throw lastError;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private isRetryable(error: any): boolean {            │   │</a:t>
            </a:r>
          </a:p>
          <a:p>
            <a:pPr>
              <a:lnSpc>
                <a:spcPct val="100000"/>
              </a:lnSpc>
              <a:spcBef>
                <a:spcPts val="0"/>
              </a:spcBef>
              <a:spcAft>
                <a:spcPts val="100"/>
              </a:spcAft>
              <a:defRPr sz="800">
                <a:solidFill>
                  <a:srgbClr val="000000"/>
                </a:solidFill>
                <a:latin typeface="Courier New"/>
              </a:defRPr>
            </a:pPr>
            <a:r>
              <a:t>│  │      if (!error.response) return true; // Network error  │   │</a:t>
            </a:r>
          </a:p>
          <a:p>
            <a:pPr>
              <a:lnSpc>
                <a:spcPct val="100000"/>
              </a:lnSpc>
              <a:spcBef>
                <a:spcPts val="0"/>
              </a:spcBef>
              <a:spcAft>
                <a:spcPts val="100"/>
              </a:spcAft>
              <a:defRPr sz="800">
                <a:solidFill>
                  <a:srgbClr val="000000"/>
                </a:solidFill>
                <a:latin typeface="Courier New"/>
              </a:defRPr>
            </a:pPr>
            <a:r>
              <a:t>│  │      const status = error.response.status;               │   │</a:t>
            </a:r>
          </a:p>
          <a:p>
            <a:pPr>
              <a:lnSpc>
                <a:spcPct val="100000"/>
              </a:lnSpc>
              <a:spcBef>
                <a:spcPts val="0"/>
              </a:spcBef>
              <a:spcAft>
                <a:spcPts val="100"/>
              </a:spcAft>
              <a:defRPr sz="800">
                <a:solidFill>
                  <a:srgbClr val="000000"/>
                </a:solidFill>
                <a:latin typeface="Courier New"/>
              </a:defRPr>
            </a:pPr>
            <a:r>
              <a:t>│  │      return status &gt;= 500 || status === 429;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RETRY STRATEGY EXPLAINED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Attempt 1 │  Immediate                            │   │   │</a:t>
            </a:r>
          </a:p>
          <a:p>
            <a:pPr>
              <a:lnSpc>
                <a:spcPct val="100000"/>
              </a:lnSpc>
              <a:spcBef>
                <a:spcPts val="0"/>
              </a:spcBef>
              <a:spcAft>
                <a:spcPts val="100"/>
              </a:spcAft>
              <a:defRPr sz="800">
                <a:solidFill>
                  <a:srgbClr val="000000"/>
                </a:solidFill>
                <a:latin typeface="Courier New"/>
              </a:defRPr>
            </a:pPr>
            <a:r>
              <a:t>│  │  │  Attempt 2 │  Wait 1s (exponential backoff)       │   │   │</a:t>
            </a:r>
          </a:p>
          <a:p>
            <a:pPr>
              <a:lnSpc>
                <a:spcPct val="100000"/>
              </a:lnSpc>
              <a:spcBef>
                <a:spcPts val="0"/>
              </a:spcBef>
              <a:spcAft>
                <a:spcPts val="100"/>
              </a:spcAft>
              <a:defRPr sz="800">
                <a:solidFill>
                  <a:srgbClr val="000000"/>
                </a:solidFill>
                <a:latin typeface="Courier New"/>
              </a:defRPr>
            </a:pPr>
            <a:r>
              <a:t>│  │  │  Attempt 3 │  Wait 2s                             │   │   │</a:t>
            </a:r>
          </a:p>
          <a:p>
            <a:pPr>
              <a:lnSpc>
                <a:spcPct val="100000"/>
              </a:lnSpc>
              <a:spcBef>
                <a:spcPts val="0"/>
              </a:spcBef>
              <a:spcAft>
                <a:spcPts val="100"/>
              </a:spcAft>
              <a:defRPr sz="800">
                <a:solidFill>
                  <a:srgbClr val="000000"/>
                </a:solidFill>
                <a:latin typeface="Courier New"/>
              </a:defRPr>
            </a:pPr>
            <a:r>
              <a:t>│  │  │  Attempt 4 │  Wait 4s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S3.3  Circuit Breaker Pattern</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CIRCUIT BREAKER PATTERN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CIRCUIT BREAKER STATES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CLOSED                          │   │   │</a:t>
            </a:r>
          </a:p>
          <a:p>
            <a:pPr>
              <a:lnSpc>
                <a:spcPct val="100000"/>
              </a:lnSpc>
              <a:spcBef>
                <a:spcPts val="0"/>
              </a:spcBef>
              <a:spcAft>
                <a:spcPts val="100"/>
              </a:spcAft>
              <a:defRPr sz="800">
                <a:solidFill>
                  <a:srgbClr val="000000"/>
                </a:solidFill>
                <a:latin typeface="Courier New"/>
              </a:defRPr>
            </a:pPr>
            <a:r>
              <a:t>│  │  │  Requests flow normally                           │   │   │</a:t>
            </a:r>
          </a:p>
          <a:p>
            <a:pPr>
              <a:lnSpc>
                <a:spcPct val="100000"/>
              </a:lnSpc>
              <a:spcBef>
                <a:spcPts val="0"/>
              </a:spcBef>
              <a:spcAft>
                <a:spcPts val="100"/>
              </a:spcAft>
              <a:defRPr sz="800">
                <a:solidFill>
                  <a:srgbClr val="000000"/>
                </a:solidFill>
                <a:latin typeface="Courier New"/>
              </a:defRPr>
            </a:pPr>
            <a:r>
              <a:t>│  │  │  Failures are counted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Threshold reached → OPEN                   │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OPEN                            │   │   │</a:t>
            </a:r>
          </a:p>
          <a:p>
            <a:pPr>
              <a:lnSpc>
                <a:spcPct val="100000"/>
              </a:lnSpc>
              <a:spcBef>
                <a:spcPts val="0"/>
              </a:spcBef>
              <a:spcAft>
                <a:spcPts val="100"/>
              </a:spcAft>
              <a:defRPr sz="800">
                <a:solidFill>
                  <a:srgbClr val="000000"/>
                </a:solidFill>
                <a:latin typeface="Courier New"/>
              </a:defRPr>
            </a:pPr>
            <a:r>
              <a:t>│  │  │  All requests fail fast (no retries)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Timeout elapsed → HALF-OPEN               │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HALF-OPEN                       │   │   │</a:t>
            </a:r>
          </a:p>
          <a:p>
            <a:pPr>
              <a:lnSpc>
                <a:spcPct val="100000"/>
              </a:lnSpc>
              <a:spcBef>
                <a:spcPts val="0"/>
              </a:spcBef>
              <a:spcAft>
                <a:spcPts val="100"/>
              </a:spcAft>
              <a:defRPr sz="800">
                <a:solidFill>
                  <a:srgbClr val="000000"/>
                </a:solidFill>
                <a:latin typeface="Courier New"/>
              </a:defRPr>
            </a:pPr>
            <a:r>
              <a:t>│  │  │  Allow limited requests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Success → CLOSED                          │ │   │   │</a:t>
            </a:r>
          </a:p>
          <a:p>
            <a:pPr>
              <a:lnSpc>
                <a:spcPct val="100000"/>
              </a:lnSpc>
              <a:spcBef>
                <a:spcPts val="0"/>
              </a:spcBef>
              <a:spcAft>
                <a:spcPts val="100"/>
              </a:spcAft>
              <a:defRPr sz="800">
                <a:solidFill>
                  <a:srgbClr val="000000"/>
                </a:solidFill>
                <a:latin typeface="Courier New"/>
              </a:defRPr>
            </a:pPr>
            <a:r>
              <a:t>│  │  │  │  Failure → OPEN                            │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IMPLEMENTATION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class CircuitBreaker {                                    │   │</a:t>
            </a:r>
          </a:p>
          <a:p>
            <a:pPr>
              <a:lnSpc>
                <a:spcPct val="100000"/>
              </a:lnSpc>
              <a:spcBef>
                <a:spcPts val="0"/>
              </a:spcBef>
              <a:spcAft>
                <a:spcPts val="100"/>
              </a:spcAft>
              <a:defRPr sz="800">
                <a:solidFill>
                  <a:srgbClr val="000000"/>
                </a:solidFill>
                <a:latin typeface="Courier New"/>
              </a:defRPr>
            </a:pPr>
            <a:r>
              <a:t>│  │    private state: 'closed' | 'open' | 'half-open' = 'closed'; │   │</a:t>
            </a:r>
          </a:p>
          <a:p>
            <a:pPr>
              <a:lnSpc>
                <a:spcPct val="100000"/>
              </a:lnSpc>
              <a:spcBef>
                <a:spcPts val="0"/>
              </a:spcBef>
              <a:spcAft>
                <a:spcPts val="100"/>
              </a:spcAft>
              <a:defRPr sz="800">
                <a:solidFill>
                  <a:srgbClr val="000000"/>
                </a:solidFill>
                <a:latin typeface="Courier New"/>
              </a:defRPr>
            </a:pPr>
            <a:r>
              <a:t>│  │    private failures = 0;                                   │   │</a:t>
            </a:r>
          </a:p>
          <a:p>
            <a:pPr>
              <a:lnSpc>
                <a:spcPct val="100000"/>
              </a:lnSpc>
              <a:spcBef>
                <a:spcPts val="0"/>
              </a:spcBef>
              <a:spcAft>
                <a:spcPts val="100"/>
              </a:spcAft>
              <a:defRPr sz="800">
                <a:solidFill>
                  <a:srgbClr val="000000"/>
                </a:solidFill>
                <a:latin typeface="Courier New"/>
              </a:defRPr>
            </a:pPr>
            <a:r>
              <a:t>│  │    private threshold = 5;                                  │   │</a:t>
            </a:r>
          </a:p>
          <a:p>
            <a:pPr>
              <a:lnSpc>
                <a:spcPct val="100000"/>
              </a:lnSpc>
              <a:spcBef>
                <a:spcPts val="0"/>
              </a:spcBef>
              <a:spcAft>
                <a:spcPts val="100"/>
              </a:spcAft>
              <a:defRPr sz="800">
                <a:solidFill>
                  <a:srgbClr val="000000"/>
                </a:solidFill>
                <a:latin typeface="Courier New"/>
              </a:defRPr>
            </a:pPr>
            <a:r>
              <a:t>│  │    private timeout = 30000;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async execute&lt;T&gt;(operation: () =&gt; Promise&lt;T&gt;): Promise&lt;T&gt; { │   │</a:t>
            </a:r>
          </a:p>
          <a:p>
            <a:pPr>
              <a:lnSpc>
                <a:spcPct val="100000"/>
              </a:lnSpc>
              <a:spcBef>
                <a:spcPts val="0"/>
              </a:spcBef>
              <a:spcAft>
                <a:spcPts val="100"/>
              </a:spcAft>
              <a:defRPr sz="800">
                <a:solidFill>
                  <a:srgbClr val="000000"/>
                </a:solidFill>
                <a:latin typeface="Courier New"/>
              </a:defRPr>
            </a:pPr>
            <a:r>
              <a:t>│  │      if (this.state === 'open') {                         │   │</a:t>
            </a:r>
          </a:p>
          <a:p>
            <a:pPr>
              <a:lnSpc>
                <a:spcPct val="100000"/>
              </a:lnSpc>
              <a:spcBef>
                <a:spcPts val="0"/>
              </a:spcBef>
              <a:spcAft>
                <a:spcPts val="100"/>
              </a:spcAft>
              <a:defRPr sz="800">
                <a:solidFill>
                  <a:srgbClr val="000000"/>
                </a:solidFill>
                <a:latin typeface="Courier New"/>
              </a:defRPr>
            </a:pPr>
            <a:r>
              <a:t>│  │        throw new Error('Circuit breaker is open');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try {                                                 │   │</a:t>
            </a:r>
          </a:p>
          <a:p>
            <a:pPr>
              <a:lnSpc>
                <a:spcPct val="100000"/>
              </a:lnSpc>
              <a:spcBef>
                <a:spcPts val="0"/>
              </a:spcBef>
              <a:spcAft>
                <a:spcPts val="100"/>
              </a:spcAft>
              <a:defRPr sz="800">
                <a:solidFill>
                  <a:srgbClr val="000000"/>
                </a:solidFill>
                <a:latin typeface="Courier New"/>
              </a:defRPr>
            </a:pPr>
            <a:r>
              <a:t>│  │        const result = await operation();                  │   │</a:t>
            </a:r>
          </a:p>
          <a:p>
            <a:pPr>
              <a:lnSpc>
                <a:spcPct val="100000"/>
              </a:lnSpc>
              <a:spcBef>
                <a:spcPts val="0"/>
              </a:spcBef>
              <a:spcAft>
                <a:spcPts val="100"/>
              </a:spcAft>
              <a:defRPr sz="800">
                <a:solidFill>
                  <a:srgbClr val="000000"/>
                </a:solidFill>
                <a:latin typeface="Courier New"/>
              </a:defRPr>
            </a:pPr>
            <a:r>
              <a:t>│  │        this.onSuccess();                                   │   │</a:t>
            </a:r>
          </a:p>
          <a:p>
            <a:pPr>
              <a:lnSpc>
                <a:spcPct val="100000"/>
              </a:lnSpc>
              <a:spcBef>
                <a:spcPts val="0"/>
              </a:spcBef>
              <a:spcAft>
                <a:spcPts val="100"/>
              </a:spcAft>
              <a:defRPr sz="800">
                <a:solidFill>
                  <a:srgbClr val="000000"/>
                </a:solidFill>
                <a:latin typeface="Courier New"/>
              </a:defRPr>
            </a:pPr>
            <a:r>
              <a:t>│  │        return result;                                      │   │</a:t>
            </a:r>
          </a:p>
          <a:p>
            <a:pPr>
              <a:lnSpc>
                <a:spcPct val="100000"/>
              </a:lnSpc>
              <a:spcBef>
                <a:spcPts val="0"/>
              </a:spcBef>
              <a:spcAft>
                <a:spcPts val="100"/>
              </a:spcAft>
              <a:defRPr sz="800">
                <a:solidFill>
                  <a:srgbClr val="000000"/>
                </a:solidFill>
                <a:latin typeface="Courier New"/>
              </a:defRPr>
            </a:pPr>
            <a:r>
              <a:t>│  │      } catch (error) {                                     │   │</a:t>
            </a:r>
          </a:p>
          <a:p>
            <a:pPr>
              <a:lnSpc>
                <a:spcPct val="100000"/>
              </a:lnSpc>
              <a:spcBef>
                <a:spcPts val="0"/>
              </a:spcBef>
              <a:spcAft>
                <a:spcPts val="100"/>
              </a:spcAft>
              <a:defRPr sz="800">
                <a:solidFill>
                  <a:srgbClr val="000000"/>
                </a:solidFill>
                <a:latin typeface="Courier New"/>
              </a:defRPr>
            </a:pPr>
            <a:r>
              <a:t>│  │        this.onFailure();                                   │   │</a:t>
            </a:r>
          </a:p>
          <a:p>
            <a:pPr>
              <a:lnSpc>
                <a:spcPct val="100000"/>
              </a:lnSpc>
              <a:spcBef>
                <a:spcPts val="0"/>
              </a:spcBef>
              <a:spcAft>
                <a:spcPts val="100"/>
              </a:spcAft>
              <a:defRPr sz="800">
                <a:solidFill>
                  <a:srgbClr val="000000"/>
                </a:solidFill>
                <a:latin typeface="Courier New"/>
              </a:defRPr>
            </a:pPr>
            <a:r>
              <a:t>│  │        throw error;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S3.4  Data Transformation Utilities</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DATA TRANSFORMATION UTILITIES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DATA TRANSFORMER CLASS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src/utils/data-transformer.ts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import { parse } from 'csv-parse/sync';                   │   │</a:t>
            </a:r>
          </a:p>
          <a:p>
            <a:pPr>
              <a:lnSpc>
                <a:spcPct val="100000"/>
              </a:lnSpc>
              <a:spcBef>
                <a:spcPts val="0"/>
              </a:spcBef>
              <a:spcAft>
                <a:spcPts val="100"/>
              </a:spcAft>
              <a:defRPr sz="800">
                <a:solidFill>
                  <a:srgbClr val="000000"/>
                </a:solidFill>
                <a:latin typeface="Courier New"/>
              </a:defRPr>
            </a:pPr>
            <a:r>
              <a:t>│  │  import { stringify } from 'json2csv';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export class DataTransformer {                            │   │</a:t>
            </a:r>
          </a:p>
          <a:p>
            <a:pPr>
              <a:lnSpc>
                <a:spcPct val="100000"/>
              </a:lnSpc>
              <a:spcBef>
                <a:spcPts val="0"/>
              </a:spcBef>
              <a:spcAft>
                <a:spcPts val="100"/>
              </a:spcAft>
              <a:defRPr sz="800">
                <a:solidFill>
                  <a:srgbClr val="000000"/>
                </a:solidFill>
                <a:latin typeface="Courier New"/>
              </a:defRPr>
            </a:pPr>
            <a:r>
              <a:t>│  │    static jsonToCsv(jsonData: any[]): string {            │   │</a:t>
            </a:r>
          </a:p>
          <a:p>
            <a:pPr>
              <a:lnSpc>
                <a:spcPct val="100000"/>
              </a:lnSpc>
              <a:spcBef>
                <a:spcPts val="0"/>
              </a:spcBef>
              <a:spcAft>
                <a:spcPts val="100"/>
              </a:spcAft>
              <a:defRPr sz="800">
                <a:solidFill>
                  <a:srgbClr val="000000"/>
                </a:solidFill>
                <a:latin typeface="Courier New"/>
              </a:defRPr>
            </a:pPr>
            <a:r>
              <a:t>│  │      return stringify(jsonData, { header: true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static csvToJson(csvData: string): any[] {             │   │</a:t>
            </a:r>
          </a:p>
          <a:p>
            <a:pPr>
              <a:lnSpc>
                <a:spcPct val="100000"/>
              </a:lnSpc>
              <a:spcBef>
                <a:spcPts val="0"/>
              </a:spcBef>
              <a:spcAft>
                <a:spcPts val="100"/>
              </a:spcAft>
              <a:defRPr sz="800">
                <a:solidFill>
                  <a:srgbClr val="000000"/>
                </a:solidFill>
                <a:latin typeface="Courier New"/>
              </a:defRPr>
            </a:pPr>
            <a:r>
              <a:t>│  │      return parse(csvData, { columns: true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static paginate&lt;T&gt;(data: T[], page: number = 1,        │   │</a:t>
            </a:r>
          </a:p>
          <a:p>
            <a:pPr>
              <a:lnSpc>
                <a:spcPct val="100000"/>
              </a:lnSpc>
              <a:spcBef>
                <a:spcPts val="0"/>
              </a:spcBef>
              <a:spcAft>
                <a:spcPts val="100"/>
              </a:spcAft>
              <a:defRPr sz="800">
                <a:solidFill>
                  <a:srgbClr val="000000"/>
                </a:solidFill>
                <a:latin typeface="Courier New"/>
              </a:defRPr>
            </a:pPr>
            <a:r>
              <a:t>│  │                        pageSize: number = 10) {           │   │</a:t>
            </a:r>
          </a:p>
          <a:p>
            <a:pPr>
              <a:lnSpc>
                <a:spcPct val="100000"/>
              </a:lnSpc>
              <a:spcBef>
                <a:spcPts val="0"/>
              </a:spcBef>
              <a:spcAft>
                <a:spcPts val="100"/>
              </a:spcAft>
              <a:defRPr sz="800">
                <a:solidFill>
                  <a:srgbClr val="000000"/>
                </a:solidFill>
                <a:latin typeface="Courier New"/>
              </a:defRPr>
            </a:pPr>
            <a:r>
              <a:t>│  │      const start = (page - 1) * pageSize;                 │   │</a:t>
            </a:r>
          </a:p>
          <a:p>
            <a:pPr>
              <a:lnSpc>
                <a:spcPct val="100000"/>
              </a:lnSpc>
              <a:spcBef>
                <a:spcPts val="0"/>
              </a:spcBef>
              <a:spcAft>
                <a:spcPts val="100"/>
              </a:spcAft>
              <a:defRPr sz="800">
                <a:solidFill>
                  <a:srgbClr val="000000"/>
                </a:solidFill>
                <a:latin typeface="Courier New"/>
              </a:defRPr>
            </a:pPr>
            <a:r>
              <a:t>│  │      const end = start + pageSize;                        │   │</a:t>
            </a:r>
          </a:p>
          <a:p>
            <a:pPr>
              <a:lnSpc>
                <a:spcPct val="100000"/>
              </a:lnSpc>
              <a:spcBef>
                <a:spcPts val="0"/>
              </a:spcBef>
              <a:spcAft>
                <a:spcPts val="100"/>
              </a:spcAft>
              <a:defRPr sz="800">
                <a:solidFill>
                  <a:srgbClr val="000000"/>
                </a:solidFill>
                <a:latin typeface="Courier New"/>
              </a:defRPr>
            </a:pPr>
            <a:r>
              <a:t>│  │      return {                                              │   │</a:t>
            </a:r>
          </a:p>
          <a:p>
            <a:pPr>
              <a:lnSpc>
                <a:spcPct val="100000"/>
              </a:lnSpc>
              <a:spcBef>
                <a:spcPts val="0"/>
              </a:spcBef>
              <a:spcAft>
                <a:spcPts val="100"/>
              </a:spcAft>
              <a:defRPr sz="800">
                <a:solidFill>
                  <a:srgbClr val="000000"/>
                </a:solidFill>
                <a:latin typeface="Courier New"/>
              </a:defRPr>
            </a:pPr>
            <a:r>
              <a:t>│  │        data: data.slice(start, end),                      │   │</a:t>
            </a:r>
          </a:p>
          <a:p>
            <a:pPr>
              <a:lnSpc>
                <a:spcPct val="100000"/>
              </a:lnSpc>
              <a:spcBef>
                <a:spcPts val="0"/>
              </a:spcBef>
              <a:spcAft>
                <a:spcPts val="100"/>
              </a:spcAft>
              <a:defRPr sz="800">
                <a:solidFill>
                  <a:srgbClr val="000000"/>
                </a:solidFill>
                <a:latin typeface="Courier New"/>
              </a:defRPr>
            </a:pPr>
            <a:r>
              <a:t>│  │        total: data.length,                                 │   │</a:t>
            </a:r>
          </a:p>
          <a:p>
            <a:pPr>
              <a:lnSpc>
                <a:spcPct val="100000"/>
              </a:lnSpc>
              <a:spcBef>
                <a:spcPts val="0"/>
              </a:spcBef>
              <a:spcAft>
                <a:spcPts val="100"/>
              </a:spcAft>
              <a:defRPr sz="800">
                <a:solidFill>
                  <a:srgbClr val="000000"/>
                </a:solidFill>
                <a:latin typeface="Courier New"/>
              </a:defRPr>
            </a:pPr>
            <a:r>
              <a:t>│  │        page,                                              │   │</a:t>
            </a:r>
          </a:p>
          <a:p>
            <a:pPr>
              <a:lnSpc>
                <a:spcPct val="100000"/>
              </a:lnSpc>
              <a:spcBef>
                <a:spcPts val="0"/>
              </a:spcBef>
              <a:spcAft>
                <a:spcPts val="100"/>
              </a:spcAft>
              <a:defRPr sz="800">
                <a:solidFill>
                  <a:srgbClr val="000000"/>
                </a:solidFill>
                <a:latin typeface="Courier New"/>
              </a:defRPr>
            </a:pPr>
            <a:r>
              <a:t>│  │        pageSize,                                          │   │</a:t>
            </a:r>
          </a:p>
          <a:p>
            <a:pPr>
              <a:lnSpc>
                <a:spcPct val="100000"/>
              </a:lnSpc>
              <a:spcBef>
                <a:spcPts val="0"/>
              </a:spcBef>
              <a:spcAft>
                <a:spcPts val="100"/>
              </a:spcAft>
              <a:defRPr sz="800">
                <a:solidFill>
                  <a:srgbClr val="000000"/>
                </a:solidFill>
                <a:latin typeface="Courier New"/>
              </a:defRPr>
            </a:pPr>
            <a:r>
              <a:t>│  │        totalPages: Math.ceil(data.length / pageSize)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USE CASES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CSV → JSON │  Import spreadsheet data           │   │   │</a:t>
            </a:r>
          </a:p>
          <a:p>
            <a:pPr>
              <a:lnSpc>
                <a:spcPct val="100000"/>
              </a:lnSpc>
              <a:spcBef>
                <a:spcPts val="0"/>
              </a:spcBef>
              <a:spcAft>
                <a:spcPts val="100"/>
              </a:spcAft>
              <a:defRPr sz="800">
                <a:solidFill>
                  <a:srgbClr val="000000"/>
                </a:solidFill>
                <a:latin typeface="Courier New"/>
              </a:defRPr>
            </a:pPr>
            <a:r>
              <a:t>│  │  │  🔹 JSON → CSV │  Export data for reports           │   │   │</a:t>
            </a:r>
          </a:p>
          <a:p>
            <a:pPr>
              <a:lnSpc>
                <a:spcPct val="100000"/>
              </a:lnSpc>
              <a:spcBef>
                <a:spcPts val="0"/>
              </a:spcBef>
              <a:spcAft>
                <a:spcPts val="100"/>
              </a:spcAft>
              <a:defRPr sz="800">
                <a:solidFill>
                  <a:srgbClr val="000000"/>
                </a:solidFill>
                <a:latin typeface="Courier New"/>
              </a:defRPr>
            </a:pPr>
            <a:r>
              <a:t>│  │  │  🔹 Pagination  │  Handle large result sets         │   │   │</a:t>
            </a:r>
          </a:p>
          <a:p>
            <a:pPr>
              <a:lnSpc>
                <a:spcPct val="100000"/>
              </a:lnSpc>
              <a:spcBef>
                <a:spcPts val="0"/>
              </a:spcBef>
              <a:spcAft>
                <a:spcPts val="100"/>
              </a:spcAft>
              <a:defRPr sz="800">
                <a:solidFill>
                  <a:srgbClr val="000000"/>
                </a:solidFill>
                <a:latin typeface="Courier New"/>
              </a:defRPr>
            </a:pPr>
            <a:r>
              <a:t>│  │  │  🔹 Search     │  Filter data by keywords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S3.5  Caching Implementation</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CACHING IMPLEMENTATION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CACHE CLASS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src/utils/cache.ts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export class Cache&lt;K, V&gt; {                                │   │</a:t>
            </a:r>
          </a:p>
          <a:p>
            <a:pPr>
              <a:lnSpc>
                <a:spcPct val="100000"/>
              </a:lnSpc>
              <a:spcBef>
                <a:spcPts val="0"/>
              </a:spcBef>
              <a:spcAft>
                <a:spcPts val="100"/>
              </a:spcAft>
              <a:defRPr sz="800">
                <a:solidFill>
                  <a:srgbClr val="000000"/>
                </a:solidFill>
                <a:latin typeface="Courier New"/>
              </a:defRPr>
            </a:pPr>
            <a:r>
              <a:t>│  │    private cache = new Map&lt;K, {                            │   │</a:t>
            </a:r>
          </a:p>
          <a:p>
            <a:pPr>
              <a:lnSpc>
                <a:spcPct val="100000"/>
              </a:lnSpc>
              <a:spcBef>
                <a:spcPts val="0"/>
              </a:spcBef>
              <a:spcAft>
                <a:spcPts val="100"/>
              </a:spcAft>
              <a:defRPr sz="800">
                <a:solidFill>
                  <a:srgbClr val="000000"/>
                </a:solidFill>
                <a:latin typeface="Courier New"/>
              </a:defRPr>
            </a:pPr>
            <a:r>
              <a:t>│  │      value: V;                                             │   │</a:t>
            </a:r>
          </a:p>
          <a:p>
            <a:pPr>
              <a:lnSpc>
                <a:spcPct val="100000"/>
              </a:lnSpc>
              <a:spcBef>
                <a:spcPts val="0"/>
              </a:spcBef>
              <a:spcAft>
                <a:spcPts val="100"/>
              </a:spcAft>
              <a:defRPr sz="800">
                <a:solidFill>
                  <a:srgbClr val="000000"/>
                </a:solidFill>
                <a:latin typeface="Courier New"/>
              </a:defRPr>
            </a:pPr>
            <a:r>
              <a:t>│  │      expiresAt: number;                                    │   │</a:t>
            </a:r>
          </a:p>
          <a:p>
            <a:pPr>
              <a:lnSpc>
                <a:spcPct val="100000"/>
              </a:lnSpc>
              <a:spcBef>
                <a:spcPts val="0"/>
              </a:spcBef>
              <a:spcAft>
                <a:spcPts val="100"/>
              </a:spcAft>
              <a:defRPr sz="800">
                <a:solidFill>
                  <a:srgbClr val="000000"/>
                </a:solidFill>
                <a:latin typeface="Courier New"/>
              </a:defRPr>
            </a:pPr>
            <a:r>
              <a:t>│  │      hitCount: number;                                     │   │</a:t>
            </a:r>
          </a:p>
          <a:p>
            <a:pPr>
              <a:lnSpc>
                <a:spcPct val="100000"/>
              </a:lnSpc>
              <a:spcBef>
                <a:spcPts val="0"/>
              </a:spcBef>
              <a:spcAft>
                <a:spcPts val="100"/>
              </a:spcAft>
              <a:defRPr sz="800">
                <a:solidFill>
                  <a:srgbClr val="000000"/>
                </a:solidFill>
                <a:latin typeface="Courier New"/>
              </a:defRPr>
            </a:pPr>
            <a:r>
              <a:t>│  │    }&gt;();                                                   │   │</a:t>
            </a:r>
          </a:p>
          <a:p>
            <a:pPr>
              <a:lnSpc>
                <a:spcPct val="100000"/>
              </a:lnSpc>
              <a:spcBef>
                <a:spcPts val="0"/>
              </a:spcBef>
              <a:spcAft>
                <a:spcPts val="100"/>
              </a:spcAft>
              <a:defRPr sz="800">
                <a:solidFill>
                  <a:srgbClr val="000000"/>
                </a:solidFill>
                <a:latin typeface="Courier New"/>
              </a:defRPr>
            </a:pPr>
            <a:r>
              <a:t>│  │    private accessOrder: K[] = [];                         │   │</a:t>
            </a:r>
          </a:p>
          <a:p>
            <a:pPr>
              <a:lnSpc>
                <a:spcPct val="100000"/>
              </a:lnSpc>
              <a:spcBef>
                <a:spcPts val="0"/>
              </a:spcBef>
              <a:spcAft>
                <a:spcPts val="100"/>
              </a:spcAft>
              <a:defRPr sz="800">
                <a:solidFill>
                  <a:srgbClr val="000000"/>
                </a:solidFill>
                <a:latin typeface="Courier New"/>
              </a:defRPr>
            </a:pPr>
            <a:r>
              <a:t>│  │    private config = {                                      │   │</a:t>
            </a:r>
          </a:p>
          <a:p>
            <a:pPr>
              <a:lnSpc>
                <a:spcPct val="100000"/>
              </a:lnSpc>
              <a:spcBef>
                <a:spcPts val="0"/>
              </a:spcBef>
              <a:spcAft>
                <a:spcPts val="100"/>
              </a:spcAft>
              <a:defRPr sz="800">
                <a:solidFill>
                  <a:srgbClr val="000000"/>
                </a:solidFill>
                <a:latin typeface="Courier New"/>
              </a:defRPr>
            </a:pPr>
            <a:r>
              <a:t>│  │      ttl: 300000,      // 5 minutes                       │   │</a:t>
            </a:r>
          </a:p>
          <a:p>
            <a:pPr>
              <a:lnSpc>
                <a:spcPct val="100000"/>
              </a:lnSpc>
              <a:spcBef>
                <a:spcPts val="0"/>
              </a:spcBef>
              <a:spcAft>
                <a:spcPts val="100"/>
              </a:spcAft>
              <a:defRPr sz="800">
                <a:solidFill>
                  <a:srgbClr val="000000"/>
                </a:solidFill>
                <a:latin typeface="Courier New"/>
              </a:defRPr>
            </a:pPr>
            <a:r>
              <a:t>│  │      maxSize: 100,                                        │   │</a:t>
            </a:r>
          </a:p>
          <a:p>
            <a:pPr>
              <a:lnSpc>
                <a:spcPct val="100000"/>
              </a:lnSpc>
              <a:spcBef>
                <a:spcPts val="0"/>
              </a:spcBef>
              <a:spcAft>
                <a:spcPts val="100"/>
              </a:spcAft>
              <a:defRPr sz="800">
                <a:solidFill>
                  <a:srgbClr val="000000"/>
                </a:solidFill>
                <a:latin typeface="Courier New"/>
              </a:defRPr>
            </a:pPr>
            <a:r>
              <a:t>│  │      evictionPolicy: 'lru' // or 'fifo' or 'lfu'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set(key: K, value: V): void {                          │   │</a:t>
            </a:r>
          </a:p>
          <a:p>
            <a:pPr>
              <a:lnSpc>
                <a:spcPct val="100000"/>
              </a:lnSpc>
              <a:spcBef>
                <a:spcPts val="0"/>
              </a:spcBef>
              <a:spcAft>
                <a:spcPts val="100"/>
              </a:spcAft>
              <a:defRPr sz="800">
                <a:solidFill>
                  <a:srgbClr val="000000"/>
                </a:solidFill>
                <a:latin typeface="Courier New"/>
              </a:defRPr>
            </a:pPr>
            <a:r>
              <a:t>│  │      if (this.cache.size &gt;= this.config.maxSize) {        │   │</a:t>
            </a:r>
          </a:p>
          <a:p>
            <a:pPr>
              <a:lnSpc>
                <a:spcPct val="100000"/>
              </a:lnSpc>
              <a:spcBef>
                <a:spcPts val="0"/>
              </a:spcBef>
              <a:spcAft>
                <a:spcPts val="100"/>
              </a:spcAft>
              <a:defRPr sz="800">
                <a:solidFill>
                  <a:srgbClr val="000000"/>
                </a:solidFill>
                <a:latin typeface="Courier New"/>
              </a:defRPr>
            </a:pPr>
            <a:r>
              <a:t>│  │        this.evict();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this.cache.set(key, {                                 │   │</a:t>
            </a:r>
          </a:p>
          <a:p>
            <a:pPr>
              <a:lnSpc>
                <a:spcPct val="100000"/>
              </a:lnSpc>
              <a:spcBef>
                <a:spcPts val="0"/>
              </a:spcBef>
              <a:spcAft>
                <a:spcPts val="100"/>
              </a:spcAft>
              <a:defRPr sz="800">
                <a:solidFill>
                  <a:srgbClr val="000000"/>
                </a:solidFill>
                <a:latin typeface="Courier New"/>
              </a:defRPr>
            </a:pPr>
            <a:r>
              <a:t>│  │        value,                                              │   │</a:t>
            </a:r>
          </a:p>
          <a:p>
            <a:pPr>
              <a:lnSpc>
                <a:spcPct val="100000"/>
              </a:lnSpc>
              <a:spcBef>
                <a:spcPts val="0"/>
              </a:spcBef>
              <a:spcAft>
                <a:spcPts val="100"/>
              </a:spcAft>
              <a:defRPr sz="800">
                <a:solidFill>
                  <a:srgbClr val="000000"/>
                </a:solidFill>
                <a:latin typeface="Courier New"/>
              </a:defRPr>
            </a:pPr>
            <a:r>
              <a:t>│  │        expiresAt: Date.now() + this.config.ttl,          │   │</a:t>
            </a:r>
          </a:p>
          <a:p>
            <a:pPr>
              <a:lnSpc>
                <a:spcPct val="100000"/>
              </a:lnSpc>
              <a:spcBef>
                <a:spcPts val="0"/>
              </a:spcBef>
              <a:spcAft>
                <a:spcPts val="100"/>
              </a:spcAft>
              <a:defRPr sz="800">
                <a:solidFill>
                  <a:srgbClr val="000000"/>
                </a:solidFill>
                <a:latin typeface="Courier New"/>
              </a:defRPr>
            </a:pPr>
            <a:r>
              <a:t>│  │        hitCount: 0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this.updateOrder(key);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get(key: K): V | undefined {                          │   │</a:t>
            </a:r>
          </a:p>
          <a:p>
            <a:pPr>
              <a:lnSpc>
                <a:spcPct val="100000"/>
              </a:lnSpc>
              <a:spcBef>
                <a:spcPts val="0"/>
              </a:spcBef>
              <a:spcAft>
                <a:spcPts val="100"/>
              </a:spcAft>
              <a:defRPr sz="800">
                <a:solidFill>
                  <a:srgbClr val="000000"/>
                </a:solidFill>
                <a:latin typeface="Courier New"/>
              </a:defRPr>
            </a:pPr>
            <a:r>
              <a:t>│  │      const entry = this.cache.get(key);                  │   │</a:t>
            </a:r>
          </a:p>
          <a:p>
            <a:pPr>
              <a:lnSpc>
                <a:spcPct val="100000"/>
              </a:lnSpc>
              <a:spcBef>
                <a:spcPts val="0"/>
              </a:spcBef>
              <a:spcAft>
                <a:spcPts val="100"/>
              </a:spcAft>
              <a:defRPr sz="800">
                <a:solidFill>
                  <a:srgbClr val="000000"/>
                </a:solidFill>
                <a:latin typeface="Courier New"/>
              </a:defRPr>
            </a:pPr>
            <a:r>
              <a:t>│  │      if (!entry) return undefined;                       │   │</a:t>
            </a:r>
          </a:p>
          <a:p>
            <a:pPr>
              <a:lnSpc>
                <a:spcPct val="100000"/>
              </a:lnSpc>
              <a:spcBef>
                <a:spcPts val="0"/>
              </a:spcBef>
              <a:spcAft>
                <a:spcPts val="100"/>
              </a:spcAft>
              <a:defRPr sz="800">
                <a:solidFill>
                  <a:srgbClr val="000000"/>
                </a:solidFill>
                <a:latin typeface="Courier New"/>
              </a:defRPr>
            </a:pPr>
            <a:r>
              <a:t>│  │      if (entry.expiresAt &lt; Date.now()) {                 │   │</a:t>
            </a:r>
          </a:p>
          <a:p>
            <a:pPr>
              <a:lnSpc>
                <a:spcPct val="100000"/>
              </a:lnSpc>
              <a:spcBef>
                <a:spcPts val="0"/>
              </a:spcBef>
              <a:spcAft>
                <a:spcPts val="100"/>
              </a:spcAft>
              <a:defRPr sz="800">
                <a:solidFill>
                  <a:srgbClr val="000000"/>
                </a:solidFill>
                <a:latin typeface="Courier New"/>
              </a:defRPr>
            </a:pPr>
            <a:r>
              <a:t>│  │        this.cache.delete(key);                           │   │</a:t>
            </a:r>
          </a:p>
          <a:p>
            <a:pPr>
              <a:lnSpc>
                <a:spcPct val="100000"/>
              </a:lnSpc>
              <a:spcBef>
                <a:spcPts val="0"/>
              </a:spcBef>
              <a:spcAft>
                <a:spcPts val="100"/>
              </a:spcAft>
              <a:defRPr sz="800">
                <a:solidFill>
                  <a:srgbClr val="000000"/>
                </a:solidFill>
                <a:latin typeface="Courier New"/>
              </a:defRPr>
            </a:pPr>
            <a:r>
              <a:t>│  │        return undefined;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entry.hitCount++;                                    │   │</a:t>
            </a:r>
          </a:p>
          <a:p>
            <a:pPr>
              <a:lnSpc>
                <a:spcPct val="100000"/>
              </a:lnSpc>
              <a:spcBef>
                <a:spcPts val="0"/>
              </a:spcBef>
              <a:spcAft>
                <a:spcPts val="100"/>
              </a:spcAft>
              <a:defRPr sz="800">
                <a:solidFill>
                  <a:srgbClr val="000000"/>
                </a:solidFill>
                <a:latin typeface="Courier New"/>
              </a:defRPr>
            </a:pPr>
            <a:r>
              <a:t>│  │      this.updateOrder(key);                              │   │</a:t>
            </a:r>
          </a:p>
          <a:p>
            <a:pPr>
              <a:lnSpc>
                <a:spcPct val="100000"/>
              </a:lnSpc>
              <a:spcBef>
                <a:spcPts val="0"/>
              </a:spcBef>
              <a:spcAft>
                <a:spcPts val="100"/>
              </a:spcAft>
              <a:defRPr sz="800">
                <a:solidFill>
                  <a:srgbClr val="000000"/>
                </a:solidFill>
                <a:latin typeface="Courier New"/>
              </a:defRPr>
            </a:pPr>
            <a:r>
              <a:t>│  │      return entry.value;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EVICTION POLICIES EXPLAINED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LRU (Least Recently Used)                          │   │   │</a:t>
            </a:r>
          </a:p>
          <a:p>
            <a:pPr>
              <a:lnSpc>
                <a:spcPct val="100000"/>
              </a:lnSpc>
              <a:spcBef>
                <a:spcPts val="0"/>
              </a:spcBef>
              <a:spcAft>
                <a:spcPts val="100"/>
              </a:spcAft>
              <a:defRPr sz="800">
                <a:solidFill>
                  <a:srgbClr val="000000"/>
                </a:solidFill>
                <a:latin typeface="Courier New"/>
              </a:defRPr>
            </a:pPr>
            <a:r>
              <a:t>│  │  │  Removes the least recently accessed item          │   │   │</a:t>
            </a:r>
          </a:p>
          <a:p>
            <a:pPr>
              <a:lnSpc>
                <a:spcPct val="100000"/>
              </a:lnSpc>
              <a:spcBef>
                <a:spcPts val="0"/>
              </a:spcBef>
              <a:spcAft>
                <a:spcPts val="100"/>
              </a:spcAft>
              <a:defRPr sz="800">
                <a:solidFill>
                  <a:srgbClr val="000000"/>
                </a:solidFill>
                <a:latin typeface="Courier New"/>
              </a:defRPr>
            </a:pPr>
            <a:r>
              <a:t>│  │  │  Best for: General purpose                         │   │   │</a:t>
            </a:r>
          </a:p>
          <a:p>
            <a:pPr>
              <a:lnSpc>
                <a:spcPct val="100000"/>
              </a:lnSpc>
              <a:spcBef>
                <a:spcPts val="0"/>
              </a:spcBef>
              <a:spcAft>
                <a:spcPts val="100"/>
              </a:spcAft>
              <a:defRPr sz="800">
                <a:solidFill>
                  <a:srgbClr val="000000"/>
                </a:solidFill>
                <a:latin typeface="Courier New"/>
              </a:defRPr>
            </a:pPr>
            <a:r>
              <a:t>│  │  │                                                     │   │   │</a:t>
            </a:r>
          </a:p>
          <a:p>
            <a:pPr>
              <a:lnSpc>
                <a:spcPct val="100000"/>
              </a:lnSpc>
              <a:spcBef>
                <a:spcPts val="0"/>
              </a:spcBef>
              <a:spcAft>
                <a:spcPts val="100"/>
              </a:spcAft>
              <a:defRPr sz="800">
                <a:solidFill>
                  <a:srgbClr val="000000"/>
                </a:solidFill>
                <a:latin typeface="Courier New"/>
              </a:defRPr>
            </a:pPr>
            <a:r>
              <a:t>│  │  │  FIFO (First In, First Out)                        │   │   │</a:t>
            </a:r>
          </a:p>
          <a:p>
            <a:pPr>
              <a:lnSpc>
                <a:spcPct val="100000"/>
              </a:lnSpc>
              <a:spcBef>
                <a:spcPts val="0"/>
              </a:spcBef>
              <a:spcAft>
                <a:spcPts val="100"/>
              </a:spcAft>
              <a:defRPr sz="800">
                <a:solidFill>
                  <a:srgbClr val="000000"/>
                </a:solidFill>
                <a:latin typeface="Courier New"/>
              </a:defRPr>
            </a:pPr>
            <a:r>
              <a:t>│  │  │  Removes the oldest added item                     │   │   │</a:t>
            </a:r>
          </a:p>
          <a:p>
            <a:pPr>
              <a:lnSpc>
                <a:spcPct val="100000"/>
              </a:lnSpc>
              <a:spcBef>
                <a:spcPts val="0"/>
              </a:spcBef>
              <a:spcAft>
                <a:spcPts val="100"/>
              </a:spcAft>
              <a:defRPr sz="800">
                <a:solidFill>
                  <a:srgbClr val="000000"/>
                </a:solidFill>
                <a:latin typeface="Courier New"/>
              </a:defRPr>
            </a:pPr>
            <a:r>
              <a:t>│  │  │  Best for: Time-series data                       │   │   │</a:t>
            </a:r>
          </a:p>
          <a:p>
            <a:pPr>
              <a:lnSpc>
                <a:spcPct val="100000"/>
              </a:lnSpc>
              <a:spcBef>
                <a:spcPts val="0"/>
              </a:spcBef>
              <a:spcAft>
                <a:spcPts val="100"/>
              </a:spcAft>
              <a:defRPr sz="800">
                <a:solidFill>
                  <a:srgbClr val="000000"/>
                </a:solidFill>
                <a:latin typeface="Courier New"/>
              </a:defRPr>
            </a:pPr>
            <a:r>
              <a:t>│  │  │                                                     │   │   │</a:t>
            </a:r>
          </a:p>
          <a:p>
            <a:pPr>
              <a:lnSpc>
                <a:spcPct val="100000"/>
              </a:lnSpc>
              <a:spcBef>
                <a:spcPts val="0"/>
              </a:spcBef>
              <a:spcAft>
                <a:spcPts val="100"/>
              </a:spcAft>
              <a:defRPr sz="800">
                <a:solidFill>
                  <a:srgbClr val="000000"/>
                </a:solidFill>
                <a:latin typeface="Courier New"/>
              </a:defRPr>
            </a:pPr>
            <a:r>
              <a:t>│  │  │  LFU (Least Frequently Used)                       │   │   │</a:t>
            </a:r>
          </a:p>
          <a:p>
            <a:pPr>
              <a:lnSpc>
                <a:spcPct val="100000"/>
              </a:lnSpc>
              <a:spcBef>
                <a:spcPts val="0"/>
              </a:spcBef>
              <a:spcAft>
                <a:spcPts val="100"/>
              </a:spcAft>
              <a:defRPr sz="800">
                <a:solidFill>
                  <a:srgbClr val="000000"/>
                </a:solidFill>
                <a:latin typeface="Courier New"/>
              </a:defRPr>
            </a:pPr>
            <a:r>
              <a:t>│  │  │  Removes the least accessed item                   │   │   │</a:t>
            </a:r>
          </a:p>
          <a:p>
            <a:pPr>
              <a:lnSpc>
                <a:spcPct val="100000"/>
              </a:lnSpc>
              <a:spcBef>
                <a:spcPts val="0"/>
              </a:spcBef>
              <a:spcAft>
                <a:spcPts val="100"/>
              </a:spcAft>
              <a:defRPr sz="800">
                <a:solidFill>
                  <a:srgbClr val="000000"/>
                </a:solidFill>
                <a:latin typeface="Courier New"/>
              </a:defRPr>
            </a:pPr>
            <a:r>
              <a:t>│  │  │  Best for: Highly skewed access patterns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S3.6  Authentication Implementation</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AUTHENTICATION IMPLEMENTATION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AUTHENTICATION MANAGER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src/utils/auth.ts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import crypto from 'crypto';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export class AuthManager {                                │   │</a:t>
            </a:r>
          </a:p>
          <a:p>
            <a:pPr>
              <a:lnSpc>
                <a:spcPct val="100000"/>
              </a:lnSpc>
              <a:spcBef>
                <a:spcPts val="0"/>
              </a:spcBef>
              <a:spcAft>
                <a:spcPts val="100"/>
              </a:spcAft>
              <a:defRPr sz="800">
                <a:solidFill>
                  <a:srgbClr val="000000"/>
                </a:solidFill>
                <a:latin typeface="Courier New"/>
              </a:defRPr>
            </a:pPr>
            <a:r>
              <a:t>│  │    private apiKeys: Set&lt;string&gt; = new Set();              │   │</a:t>
            </a:r>
          </a:p>
          <a:p>
            <a:pPr>
              <a:lnSpc>
                <a:spcPct val="100000"/>
              </a:lnSpc>
              <a:spcBef>
                <a:spcPts val="0"/>
              </a:spcBef>
              <a:spcAft>
                <a:spcPts val="100"/>
              </a:spcAft>
              <a:defRPr sz="800">
                <a:solidFill>
                  <a:srgbClr val="000000"/>
                </a:solidFill>
                <a:latin typeface="Courier New"/>
              </a:defRPr>
            </a:pPr>
            <a:r>
              <a:t>│  │    private enabled: boolean;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constructor() {                                          │   │</a:t>
            </a:r>
          </a:p>
          <a:p>
            <a:pPr>
              <a:lnSpc>
                <a:spcPct val="100000"/>
              </a:lnSpc>
              <a:spcBef>
                <a:spcPts val="0"/>
              </a:spcBef>
              <a:spcAft>
                <a:spcPts val="100"/>
              </a:spcAft>
              <a:defRPr sz="800">
                <a:solidFill>
                  <a:srgbClr val="000000"/>
                </a:solidFill>
                <a:latin typeface="Courier New"/>
              </a:defRPr>
            </a:pPr>
            <a:r>
              <a:t>│  │      this.enabled = process.env.MCP_AUTH_ENABLED === 'true'; │   │</a:t>
            </a:r>
          </a:p>
          <a:p>
            <a:pPr>
              <a:lnSpc>
                <a:spcPct val="100000"/>
              </a:lnSpc>
              <a:spcBef>
                <a:spcPts val="0"/>
              </a:spcBef>
              <a:spcAft>
                <a:spcPts val="100"/>
              </a:spcAft>
              <a:defRPr sz="800">
                <a:solidFill>
                  <a:srgbClr val="000000"/>
                </a:solidFill>
                <a:latin typeface="Courier New"/>
              </a:defRPr>
            </a:pPr>
            <a:r>
              <a:t>│  │      const keys = process.env.MCP_API_KEYS || '';         │   │</a:t>
            </a:r>
          </a:p>
          <a:p>
            <a:pPr>
              <a:lnSpc>
                <a:spcPct val="100000"/>
              </a:lnSpc>
              <a:spcBef>
                <a:spcPts val="0"/>
              </a:spcBef>
              <a:spcAft>
                <a:spcPts val="100"/>
              </a:spcAft>
              <a:defRPr sz="800">
                <a:solidFill>
                  <a:srgbClr val="000000"/>
                </a:solidFill>
                <a:latin typeface="Courier New"/>
              </a:defRPr>
            </a:pPr>
            <a:r>
              <a:t>│  │      for (const key of keys.split(',')) {                 │   │</a:t>
            </a:r>
          </a:p>
          <a:p>
            <a:pPr>
              <a:lnSpc>
                <a:spcPct val="100000"/>
              </a:lnSpc>
              <a:spcBef>
                <a:spcPts val="0"/>
              </a:spcBef>
              <a:spcAft>
                <a:spcPts val="100"/>
              </a:spcAft>
              <a:defRPr sz="800">
                <a:solidFill>
                  <a:srgbClr val="000000"/>
                </a:solidFill>
                <a:latin typeface="Courier New"/>
              </a:defRPr>
            </a:pPr>
            <a:r>
              <a:t>│  │        if (key.trim()) this.apiKeys.add(key.trim());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static generateApiKey(): string {                      │   │</a:t>
            </a:r>
          </a:p>
          <a:p>
            <a:pPr>
              <a:lnSpc>
                <a:spcPct val="100000"/>
              </a:lnSpc>
              <a:spcBef>
                <a:spcPts val="0"/>
              </a:spcBef>
              <a:spcAft>
                <a:spcPts val="100"/>
              </a:spcAft>
              <a:defRPr sz="800">
                <a:solidFill>
                  <a:srgbClr val="000000"/>
                </a:solidFill>
                <a:latin typeface="Courier New"/>
              </a:defRPr>
            </a:pPr>
            <a:r>
              <a:t>│  │      return `mcp_${crypto.randomBytes(32).toString('hex')}`;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validateApiKey(apiKey: string): boolean {             │   │</a:t>
            </a:r>
          </a:p>
          <a:p>
            <a:pPr>
              <a:lnSpc>
                <a:spcPct val="100000"/>
              </a:lnSpc>
              <a:spcBef>
                <a:spcPts val="0"/>
              </a:spcBef>
              <a:spcAft>
                <a:spcPts val="100"/>
              </a:spcAft>
              <a:defRPr sz="800">
                <a:solidFill>
                  <a:srgbClr val="000000"/>
                </a:solidFill>
                <a:latin typeface="Courier New"/>
              </a:defRPr>
            </a:pPr>
            <a:r>
              <a:t>│  │      if (!this.enabled) return true;                     │   │</a:t>
            </a:r>
          </a:p>
          <a:p>
            <a:pPr>
              <a:lnSpc>
                <a:spcPct val="100000"/>
              </a:lnSpc>
              <a:spcBef>
                <a:spcPts val="0"/>
              </a:spcBef>
              <a:spcAft>
                <a:spcPts val="100"/>
              </a:spcAft>
              <a:defRPr sz="800">
                <a:solidFill>
                  <a:srgbClr val="000000"/>
                </a:solidFill>
                <a:latin typeface="Courier New"/>
              </a:defRPr>
            </a:pPr>
            <a:r>
              <a:t>│  │      return this.apiKeys.has(apiKey);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extractApiKey(headers: any): string | null {          │   │</a:t>
            </a:r>
          </a:p>
          <a:p>
            <a:pPr>
              <a:lnSpc>
                <a:spcPct val="100000"/>
              </a:lnSpc>
              <a:spcBef>
                <a:spcPts val="0"/>
              </a:spcBef>
              <a:spcAft>
                <a:spcPts val="100"/>
              </a:spcAft>
              <a:defRPr sz="800">
                <a:solidFill>
                  <a:srgbClr val="000000"/>
                </a:solidFill>
                <a:latin typeface="Courier New"/>
              </a:defRPr>
            </a:pPr>
            <a:r>
              <a:t>│  │      const authHeader = headers['authorization'] ||       │   │</a:t>
            </a:r>
          </a:p>
          <a:p>
            <a:pPr>
              <a:lnSpc>
                <a:spcPct val="100000"/>
              </a:lnSpc>
              <a:spcBef>
                <a:spcPts val="0"/>
              </a:spcBef>
              <a:spcAft>
                <a:spcPts val="100"/>
              </a:spcAft>
              <a:defRPr sz="800">
                <a:solidFill>
                  <a:srgbClr val="000000"/>
                </a:solidFill>
                <a:latin typeface="Courier New"/>
              </a:defRPr>
            </a:pPr>
            <a:r>
              <a:t>│  │                         headers['Authorization'];         │   │</a:t>
            </a:r>
          </a:p>
          <a:p>
            <a:pPr>
              <a:lnSpc>
                <a:spcPct val="100000"/>
              </a:lnSpc>
              <a:spcBef>
                <a:spcPts val="0"/>
              </a:spcBef>
              <a:spcAft>
                <a:spcPts val="100"/>
              </a:spcAft>
              <a:defRPr sz="800">
                <a:solidFill>
                  <a:srgbClr val="000000"/>
                </a:solidFill>
                <a:latin typeface="Courier New"/>
              </a:defRPr>
            </a:pPr>
            <a:r>
              <a:t>│  │      if (authHeader) {                                    │   │</a:t>
            </a:r>
          </a:p>
          <a:p>
            <a:pPr>
              <a:lnSpc>
                <a:spcPct val="100000"/>
              </a:lnSpc>
              <a:spcBef>
                <a:spcPts val="0"/>
              </a:spcBef>
              <a:spcAft>
                <a:spcPts val="100"/>
              </a:spcAft>
              <a:defRPr sz="800">
                <a:solidFill>
                  <a:srgbClr val="000000"/>
                </a:solidFill>
                <a:latin typeface="Courier New"/>
              </a:defRPr>
            </a:pPr>
            <a:r>
              <a:t>│  │        const [type, key] = authHeader.split(' ');        │   │</a:t>
            </a:r>
          </a:p>
          <a:p>
            <a:pPr>
              <a:lnSpc>
                <a:spcPct val="100000"/>
              </a:lnSpc>
              <a:spcBef>
                <a:spcPts val="0"/>
              </a:spcBef>
              <a:spcAft>
                <a:spcPts val="100"/>
              </a:spcAft>
              <a:defRPr sz="800">
                <a:solidFill>
                  <a:srgbClr val="000000"/>
                </a:solidFill>
                <a:latin typeface="Courier New"/>
              </a:defRPr>
            </a:pPr>
            <a:r>
              <a:t>│  │        if (type.toLowerCase() === 'bearer') return key;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return headers['x-api-key'] || null;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AUTHENTICATION FLOW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1. Client includes API key in request                     │   │</a:t>
            </a:r>
          </a:p>
          <a:p>
            <a:pPr>
              <a:lnSpc>
                <a:spcPct val="100000"/>
              </a:lnSpc>
              <a:spcBef>
                <a:spcPts val="0"/>
              </a:spcBef>
              <a:spcAft>
                <a:spcPts val="100"/>
              </a:spcAft>
              <a:defRPr sz="800">
                <a:solidFill>
                  <a:srgbClr val="000000"/>
                </a:solidFill>
                <a:latin typeface="Courier New"/>
              </a:defRPr>
            </a:pPr>
            <a:r>
              <a:t>│  │  2. Server extracts and validates key                      │   │</a:t>
            </a:r>
          </a:p>
          <a:p>
            <a:pPr>
              <a:lnSpc>
                <a:spcPct val="100000"/>
              </a:lnSpc>
              <a:spcBef>
                <a:spcPts val="0"/>
              </a:spcBef>
              <a:spcAft>
                <a:spcPts val="100"/>
              </a:spcAft>
              <a:defRPr sz="800">
                <a:solidFill>
                  <a:srgbClr val="000000"/>
                </a:solidFill>
                <a:latin typeface="Courier New"/>
              </a:defRPr>
            </a:pPr>
            <a:r>
              <a:t>│  │  3. If valid → Process request                            │   │</a:t>
            </a:r>
          </a:p>
          <a:p>
            <a:pPr>
              <a:lnSpc>
                <a:spcPct val="100000"/>
              </a:lnSpc>
              <a:spcBef>
                <a:spcPts val="0"/>
              </a:spcBef>
              <a:spcAft>
                <a:spcPts val="100"/>
              </a:spcAft>
              <a:defRPr sz="800">
                <a:solidFill>
                  <a:srgbClr val="000000"/>
                </a:solidFill>
                <a:latin typeface="Courier New"/>
              </a:defRPr>
            </a:pPr>
            <a:r>
              <a:t>│  │  4. If invalid → Return 401 Unauthorized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S3.7  JWT Authentication</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JWT AUTHENTICATION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JWT MANAGER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src/utils/jwt.ts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import jwt from 'jsonwebtoken';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export class JWTManager {                                 │   │</a:t>
            </a:r>
          </a:p>
          <a:p>
            <a:pPr>
              <a:lnSpc>
                <a:spcPct val="100000"/>
              </a:lnSpc>
              <a:spcBef>
                <a:spcPts val="0"/>
              </a:spcBef>
              <a:spcAft>
                <a:spcPts val="100"/>
              </a:spcAft>
              <a:defRPr sz="800">
                <a:solidFill>
                  <a:srgbClr val="000000"/>
                </a:solidFill>
                <a:latin typeface="Courier New"/>
              </a:defRPr>
            </a:pPr>
            <a:r>
              <a:t>│  │    private secret: string;                                  │   │</a:t>
            </a:r>
          </a:p>
          <a:p>
            <a:pPr>
              <a:lnSpc>
                <a:spcPct val="100000"/>
              </a:lnSpc>
              <a:spcBef>
                <a:spcPts val="0"/>
              </a:spcBef>
              <a:spcAft>
                <a:spcPts val="100"/>
              </a:spcAft>
              <a:defRPr sz="800">
                <a:solidFill>
                  <a:srgbClr val="000000"/>
                </a:solidFill>
                <a:latin typeface="Courier New"/>
              </a:defRPr>
            </a:pPr>
            <a:r>
              <a:t>│  │    private expiresIn: string;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constructor() {                                          │   │</a:t>
            </a:r>
          </a:p>
          <a:p>
            <a:pPr>
              <a:lnSpc>
                <a:spcPct val="100000"/>
              </a:lnSpc>
              <a:spcBef>
                <a:spcPts val="0"/>
              </a:spcBef>
              <a:spcAft>
                <a:spcPts val="100"/>
              </a:spcAft>
              <a:defRPr sz="800">
                <a:solidFill>
                  <a:srgbClr val="000000"/>
                </a:solidFill>
                <a:latin typeface="Courier New"/>
              </a:defRPr>
            </a:pPr>
            <a:r>
              <a:t>│  │      this.secret = process.env.JWT_SECRET || 'your-secret'; │   │</a:t>
            </a:r>
          </a:p>
          <a:p>
            <a:pPr>
              <a:lnSpc>
                <a:spcPct val="100000"/>
              </a:lnSpc>
              <a:spcBef>
                <a:spcPts val="0"/>
              </a:spcBef>
              <a:spcAft>
                <a:spcPts val="100"/>
              </a:spcAft>
              <a:defRPr sz="800">
                <a:solidFill>
                  <a:srgbClr val="000000"/>
                </a:solidFill>
                <a:latin typeface="Courier New"/>
              </a:defRPr>
            </a:pPr>
            <a:r>
              <a:t>│  │      this.expiresIn = '24h';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sign(payload: any): string {                           │   │</a:t>
            </a:r>
          </a:p>
          <a:p>
            <a:pPr>
              <a:lnSpc>
                <a:spcPct val="100000"/>
              </a:lnSpc>
              <a:spcBef>
                <a:spcPts val="0"/>
              </a:spcBef>
              <a:spcAft>
                <a:spcPts val="100"/>
              </a:spcAft>
              <a:defRPr sz="800">
                <a:solidFill>
                  <a:srgbClr val="000000"/>
                </a:solidFill>
                <a:latin typeface="Courier New"/>
              </a:defRPr>
            </a:pPr>
            <a:r>
              <a:t>│  │      return jwt.sign(payload, this.secret, {              │   │</a:t>
            </a:r>
          </a:p>
          <a:p>
            <a:pPr>
              <a:lnSpc>
                <a:spcPct val="100000"/>
              </a:lnSpc>
              <a:spcBef>
                <a:spcPts val="0"/>
              </a:spcBef>
              <a:spcAft>
                <a:spcPts val="100"/>
              </a:spcAft>
              <a:defRPr sz="800">
                <a:solidFill>
                  <a:srgbClr val="000000"/>
                </a:solidFill>
                <a:latin typeface="Courier New"/>
              </a:defRPr>
            </a:pPr>
            <a:r>
              <a:t>│  │        expiresIn: this.expiresIn,                          │   │</a:t>
            </a:r>
          </a:p>
          <a:p>
            <a:pPr>
              <a:lnSpc>
                <a:spcPct val="100000"/>
              </a:lnSpc>
              <a:spcBef>
                <a:spcPts val="0"/>
              </a:spcBef>
              <a:spcAft>
                <a:spcPts val="100"/>
              </a:spcAft>
              <a:defRPr sz="800">
                <a:solidFill>
                  <a:srgbClr val="000000"/>
                </a:solidFill>
                <a:latin typeface="Courier New"/>
              </a:defRPr>
            </a:pPr>
            <a:r>
              <a:t>│  │        issuer: 'mcp-server'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verify(token: string): any {                          │   │</a:t>
            </a:r>
          </a:p>
          <a:p>
            <a:pPr>
              <a:lnSpc>
                <a:spcPct val="100000"/>
              </a:lnSpc>
              <a:spcBef>
                <a:spcPts val="0"/>
              </a:spcBef>
              <a:spcAft>
                <a:spcPts val="100"/>
              </a:spcAft>
              <a:defRPr sz="800">
                <a:solidFill>
                  <a:srgbClr val="000000"/>
                </a:solidFill>
                <a:latin typeface="Courier New"/>
              </a:defRPr>
            </a:pPr>
            <a:r>
              <a:t>│  │      try {                                                 │   │</a:t>
            </a:r>
          </a:p>
          <a:p>
            <a:pPr>
              <a:lnSpc>
                <a:spcPct val="100000"/>
              </a:lnSpc>
              <a:spcBef>
                <a:spcPts val="0"/>
              </a:spcBef>
              <a:spcAft>
                <a:spcPts val="100"/>
              </a:spcAft>
              <a:defRPr sz="800">
                <a:solidFill>
                  <a:srgbClr val="000000"/>
                </a:solidFill>
                <a:latin typeface="Courier New"/>
              </a:defRPr>
            </a:pPr>
            <a:r>
              <a:t>│  │        return jwt.verify(token, this.secret, {            │   │</a:t>
            </a:r>
          </a:p>
          <a:p>
            <a:pPr>
              <a:lnSpc>
                <a:spcPct val="100000"/>
              </a:lnSpc>
              <a:spcBef>
                <a:spcPts val="0"/>
              </a:spcBef>
              <a:spcAft>
                <a:spcPts val="100"/>
              </a:spcAft>
              <a:defRPr sz="800">
                <a:solidFill>
                  <a:srgbClr val="000000"/>
                </a:solidFill>
                <a:latin typeface="Courier New"/>
              </a:defRPr>
            </a:pPr>
            <a:r>
              <a:t>│  │          issuer: 'mcp-server'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catch {                                             │   │</a:t>
            </a:r>
          </a:p>
          <a:p>
            <a:pPr>
              <a:lnSpc>
                <a:spcPct val="100000"/>
              </a:lnSpc>
              <a:spcBef>
                <a:spcPts val="0"/>
              </a:spcBef>
              <a:spcAft>
                <a:spcPts val="100"/>
              </a:spcAft>
              <a:defRPr sz="800">
                <a:solidFill>
                  <a:srgbClr val="000000"/>
                </a:solidFill>
                <a:latin typeface="Courier New"/>
              </a:defRPr>
            </a:pPr>
            <a:r>
              <a:t>│  │        return null;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JWT VS API KEY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API Keys              │  JWT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Simple                │  Contains claims           │   │   │</a:t>
            </a:r>
          </a:p>
          <a:p>
            <a:pPr>
              <a:lnSpc>
                <a:spcPct val="100000"/>
              </a:lnSpc>
              <a:spcBef>
                <a:spcPts val="0"/>
              </a:spcBef>
              <a:spcAft>
                <a:spcPts val="100"/>
              </a:spcAft>
              <a:defRPr sz="800">
                <a:solidFill>
                  <a:srgbClr val="000000"/>
                </a:solidFill>
                <a:latin typeface="Courier New"/>
              </a:defRPr>
            </a:pPr>
            <a:r>
              <a:t>│  │  │  No expiration          │  Expires after time       │   │   │</a:t>
            </a:r>
          </a:p>
          <a:p>
            <a:pPr>
              <a:lnSpc>
                <a:spcPct val="100000"/>
              </a:lnSpc>
              <a:spcBef>
                <a:spcPts val="0"/>
              </a:spcBef>
              <a:spcAft>
                <a:spcPts val="100"/>
              </a:spcAft>
              <a:defRPr sz="800">
                <a:solidFill>
                  <a:srgbClr val="000000"/>
                </a:solidFill>
                <a:latin typeface="Courier New"/>
              </a:defRPr>
            </a:pPr>
            <a:r>
              <a:t>│  │  │  No user context       │  Can contain user data    │   │   │</a:t>
            </a:r>
          </a:p>
          <a:p>
            <a:pPr>
              <a:lnSpc>
                <a:spcPct val="100000"/>
              </a:lnSpc>
              <a:spcBef>
                <a:spcPts val="0"/>
              </a:spcBef>
              <a:spcAft>
                <a:spcPts val="100"/>
              </a:spcAft>
              <a:defRPr sz="800">
                <a:solidFill>
                  <a:srgbClr val="000000"/>
                </a:solidFill>
                <a:latin typeface="Courier New"/>
              </a:defRPr>
            </a:pPr>
            <a:r>
              <a:t>│  │  │  Easy to revoke        │  Hard to revoke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S3.8  Tool Execution with Validation</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TOOL EXECUTION WITH VALIDATION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TOOL VALIDATION FLOW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1. Client sends tool call request                 │   │   │</a:t>
            </a:r>
          </a:p>
          <a:p>
            <a:pPr>
              <a:lnSpc>
                <a:spcPct val="100000"/>
              </a:lnSpc>
              <a:spcBef>
                <a:spcPts val="0"/>
              </a:spcBef>
              <a:spcAft>
                <a:spcPts val="100"/>
              </a:spcAft>
              <a:defRPr sz="800">
                <a:solidFill>
                  <a:srgbClr val="000000"/>
                </a:solidFill>
                <a:latin typeface="Courier New"/>
              </a:defRPr>
            </a:pPr>
            <a:r>
              <a:t>│  │  │  2. Server validates input against schema           │   │   │</a:t>
            </a:r>
          </a:p>
          <a:p>
            <a:pPr>
              <a:lnSpc>
                <a:spcPct val="100000"/>
              </a:lnSpc>
              <a:spcBef>
                <a:spcPts val="0"/>
              </a:spcBef>
              <a:spcAft>
                <a:spcPts val="100"/>
              </a:spcAft>
              <a:defRPr sz="800">
                <a:solidFill>
                  <a:srgbClr val="000000"/>
                </a:solidFill>
                <a:latin typeface="Courier New"/>
              </a:defRPr>
            </a:pPr>
            <a:r>
              <a:t>│  │  │  3. If invalid → Return detailed validation error  │   │   │</a:t>
            </a:r>
          </a:p>
          <a:p>
            <a:pPr>
              <a:lnSpc>
                <a:spcPct val="100000"/>
              </a:lnSpc>
              <a:spcBef>
                <a:spcPts val="0"/>
              </a:spcBef>
              <a:spcAft>
                <a:spcPts val="100"/>
              </a:spcAft>
              <a:defRPr sz="800">
                <a:solidFill>
                  <a:srgbClr val="000000"/>
                </a:solidFill>
                <a:latin typeface="Courier New"/>
              </a:defRPr>
            </a:pPr>
            <a:r>
              <a:t>│  │  │  4. If valid → Execute tool handler                │   │   │</a:t>
            </a:r>
          </a:p>
          <a:p>
            <a:pPr>
              <a:lnSpc>
                <a:spcPct val="100000"/>
              </a:lnSpc>
              <a:spcBef>
                <a:spcPts val="0"/>
              </a:spcBef>
              <a:spcAft>
                <a:spcPts val="100"/>
              </a:spcAft>
              <a:defRPr sz="800">
                <a:solidFill>
                  <a:srgbClr val="000000"/>
                </a:solidFill>
                <a:latin typeface="Courier New"/>
              </a:defRPr>
            </a:pPr>
            <a:r>
              <a:t>│  │  │  5. Return result to client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VALIDATION EXAMPLE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Tool with strict validation                            │   │</a:t>
            </a:r>
          </a:p>
          <a:p>
            <a:pPr>
              <a:lnSpc>
                <a:spcPct val="100000"/>
              </a:lnSpc>
              <a:spcBef>
                <a:spcPts val="0"/>
              </a:spcBef>
              <a:spcAft>
                <a:spcPts val="100"/>
              </a:spcAft>
              <a:defRPr sz="800">
                <a:solidFill>
                  <a:srgbClr val="000000"/>
                </a:solidFill>
                <a:latin typeface="Courier New"/>
              </a:defRPr>
            </a:pPr>
            <a:r>
              <a:t>│  │  server.tool(                                               │   │</a:t>
            </a:r>
          </a:p>
          <a:p>
            <a:pPr>
              <a:lnSpc>
                <a:spcPct val="100000"/>
              </a:lnSpc>
              <a:spcBef>
                <a:spcPts val="0"/>
              </a:spcBef>
              <a:spcAft>
                <a:spcPts val="100"/>
              </a:spcAft>
              <a:defRPr sz="800">
                <a:solidFill>
                  <a:srgbClr val="000000"/>
                </a:solidFill>
                <a:latin typeface="Courier New"/>
              </a:defRPr>
            </a:pPr>
            <a:r>
              <a:t>│  │    'create_user',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name: z.string().min(2).max(100),                     │   │</a:t>
            </a:r>
          </a:p>
          <a:p>
            <a:pPr>
              <a:lnSpc>
                <a:spcPct val="100000"/>
              </a:lnSpc>
              <a:spcBef>
                <a:spcPts val="0"/>
              </a:spcBef>
              <a:spcAft>
                <a:spcPts val="100"/>
              </a:spcAft>
              <a:defRPr sz="800">
                <a:solidFill>
                  <a:srgbClr val="000000"/>
                </a:solidFill>
                <a:latin typeface="Courier New"/>
              </a:defRPr>
            </a:pPr>
            <a:r>
              <a:t>│  │      email: z.string().email(),                            │   │</a:t>
            </a:r>
          </a:p>
          <a:p>
            <a:pPr>
              <a:lnSpc>
                <a:spcPct val="100000"/>
              </a:lnSpc>
              <a:spcBef>
                <a:spcPts val="0"/>
              </a:spcBef>
              <a:spcAft>
                <a:spcPts val="100"/>
              </a:spcAft>
              <a:defRPr sz="800">
                <a:solidFill>
                  <a:srgbClr val="000000"/>
                </a:solidFill>
                <a:latin typeface="Courier New"/>
              </a:defRPr>
            </a:pPr>
            <a:r>
              <a:t>│  │      age: z.number().int().min(0).max(150),               │   │</a:t>
            </a:r>
          </a:p>
          <a:p>
            <a:pPr>
              <a:lnSpc>
                <a:spcPct val="100000"/>
              </a:lnSpc>
              <a:spcBef>
                <a:spcPts val="0"/>
              </a:spcBef>
              <a:spcAft>
                <a:spcPts val="100"/>
              </a:spcAft>
              <a:defRPr sz="800">
                <a:solidFill>
                  <a:srgbClr val="000000"/>
                </a:solidFill>
                <a:latin typeface="Courier New"/>
              </a:defRPr>
            </a:pPr>
            <a:r>
              <a:t>│  │      role: z.enum(['admin', 'editor', 'viewer']).default('viewer')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async ({ name, email, age, role }) =&gt; {                │   │</a:t>
            </a:r>
          </a:p>
          <a:p>
            <a:pPr>
              <a:lnSpc>
                <a:spcPct val="100000"/>
              </a:lnSpc>
              <a:spcBef>
                <a:spcPts val="0"/>
              </a:spcBef>
              <a:spcAft>
                <a:spcPts val="100"/>
              </a:spcAft>
              <a:defRPr sz="800">
                <a:solidFill>
                  <a:srgbClr val="000000"/>
                </a:solidFill>
                <a:latin typeface="Courier New"/>
              </a:defRPr>
            </a:pPr>
            <a:r>
              <a:t>│  │      // All inputs are already validated                   │   │</a:t>
            </a:r>
          </a:p>
          <a:p>
            <a:pPr>
              <a:lnSpc>
                <a:spcPct val="100000"/>
              </a:lnSpc>
              <a:spcBef>
                <a:spcPts val="0"/>
              </a:spcBef>
              <a:spcAft>
                <a:spcPts val="100"/>
              </a:spcAft>
              <a:defRPr sz="800">
                <a:solidFill>
                  <a:srgbClr val="000000"/>
                </a:solidFill>
                <a:latin typeface="Courier New"/>
              </a:defRPr>
            </a:pPr>
            <a:r>
              <a:t>│  │      return { content: [{ type: 'text', text: 'User created'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S3.9  Error Handling Strategy</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ERROR HANDLING STRATEGY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ERROR CLASSIFICATION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ERROR TYPE          │  HANDLING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Validation Error    │  Return 400 with details     │   │   │</a:t>
            </a:r>
          </a:p>
          <a:p>
            <a:pPr>
              <a:lnSpc>
                <a:spcPct val="100000"/>
              </a:lnSpc>
              <a:spcBef>
                <a:spcPts val="0"/>
              </a:spcBef>
              <a:spcAft>
                <a:spcPts val="100"/>
              </a:spcAft>
              <a:defRPr sz="800">
                <a:solidFill>
                  <a:srgbClr val="000000"/>
                </a:solidFill>
                <a:latin typeface="Courier New"/>
              </a:defRPr>
            </a:pPr>
            <a:r>
              <a:t>│  │  │  Authentication Error │  Return 401                │   │   │</a:t>
            </a:r>
          </a:p>
          <a:p>
            <a:pPr>
              <a:lnSpc>
                <a:spcPct val="100000"/>
              </a:lnSpc>
              <a:spcBef>
                <a:spcPts val="0"/>
              </a:spcBef>
              <a:spcAft>
                <a:spcPts val="100"/>
              </a:spcAft>
              <a:defRPr sz="800">
                <a:solidFill>
                  <a:srgbClr val="000000"/>
                </a:solidFill>
                <a:latin typeface="Courier New"/>
              </a:defRPr>
            </a:pPr>
            <a:r>
              <a:t>│  │  │  Authorization Error │  Return 403                │   │   │</a:t>
            </a:r>
          </a:p>
          <a:p>
            <a:pPr>
              <a:lnSpc>
                <a:spcPct val="100000"/>
              </a:lnSpc>
              <a:spcBef>
                <a:spcPts val="0"/>
              </a:spcBef>
              <a:spcAft>
                <a:spcPts val="100"/>
              </a:spcAft>
              <a:defRPr sz="800">
                <a:solidFill>
                  <a:srgbClr val="000000"/>
                </a:solidFill>
                <a:latin typeface="Courier New"/>
              </a:defRPr>
            </a:pPr>
            <a:r>
              <a:t>│  │  │  Not Found           │  Return 404                │   │   │</a:t>
            </a:r>
          </a:p>
          <a:p>
            <a:pPr>
              <a:lnSpc>
                <a:spcPct val="100000"/>
              </a:lnSpc>
              <a:spcBef>
                <a:spcPts val="0"/>
              </a:spcBef>
              <a:spcAft>
                <a:spcPts val="100"/>
              </a:spcAft>
              <a:defRPr sz="800">
                <a:solidFill>
                  <a:srgbClr val="000000"/>
                </a:solidFill>
                <a:latin typeface="Courier New"/>
              </a:defRPr>
            </a:pPr>
            <a:r>
              <a:t>│  │  │  Rate Limit Error    │  Return 429 with Retry-After │   │   │</a:t>
            </a:r>
          </a:p>
          <a:p>
            <a:pPr>
              <a:lnSpc>
                <a:spcPct val="100000"/>
              </a:lnSpc>
              <a:spcBef>
                <a:spcPts val="0"/>
              </a:spcBef>
              <a:spcAft>
                <a:spcPts val="100"/>
              </a:spcAft>
              <a:defRPr sz="800">
                <a:solidFill>
                  <a:srgbClr val="000000"/>
                </a:solidFill>
                <a:latin typeface="Courier New"/>
              </a:defRPr>
            </a:pPr>
            <a:r>
              <a:t>│  │  │  Internal Error      │  Return 500, log error     │   │   │</a:t>
            </a:r>
          </a:p>
          <a:p>
            <a:pPr>
              <a:lnSpc>
                <a:spcPct val="100000"/>
              </a:lnSpc>
              <a:spcBef>
                <a:spcPts val="0"/>
              </a:spcBef>
              <a:spcAft>
                <a:spcPts val="100"/>
              </a:spcAft>
              <a:defRPr sz="800">
                <a:solidFill>
                  <a:srgbClr val="000000"/>
                </a:solidFill>
                <a:latin typeface="Courier New"/>
              </a:defRPr>
            </a:pPr>
            <a:r>
              <a:t>│  │  │  Transient Error     │  Retry with backoff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BEST PRACTICES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Always return meaningful error messages                │   │</a:t>
            </a:r>
          </a:p>
          <a:p>
            <a:pPr>
              <a:lnSpc>
                <a:spcPct val="100000"/>
              </a:lnSpc>
              <a:spcBef>
                <a:spcPts val="0"/>
              </a:spcBef>
              <a:spcAft>
                <a:spcPts val="100"/>
              </a:spcAft>
              <a:defRPr sz="800">
                <a:solidFill>
                  <a:srgbClr val="000000"/>
                </a:solidFill>
                <a:latin typeface="Courier New"/>
              </a:defRPr>
            </a:pPr>
            <a:r>
              <a:t>│  │  ✅ Include error codes for programmatic handling          │   │</a:t>
            </a:r>
          </a:p>
          <a:p>
            <a:pPr>
              <a:lnSpc>
                <a:spcPct val="100000"/>
              </a:lnSpc>
              <a:spcBef>
                <a:spcPts val="0"/>
              </a:spcBef>
              <a:spcAft>
                <a:spcPts val="100"/>
              </a:spcAft>
              <a:defRPr sz="800">
                <a:solidFill>
                  <a:srgbClr val="000000"/>
                </a:solidFill>
                <a:latin typeface="Courier New"/>
              </a:defRPr>
            </a:pPr>
            <a:r>
              <a:t>│  │  ✅ Log errors with appropriate severity                  │   │</a:t>
            </a:r>
          </a:p>
          <a:p>
            <a:pPr>
              <a:lnSpc>
                <a:spcPct val="100000"/>
              </a:lnSpc>
              <a:spcBef>
                <a:spcPts val="0"/>
              </a:spcBef>
              <a:spcAft>
                <a:spcPts val="100"/>
              </a:spcAft>
              <a:defRPr sz="800">
                <a:solidFill>
                  <a:srgbClr val="000000"/>
                </a:solidFill>
                <a:latin typeface="Courier New"/>
              </a:defRPr>
            </a:pPr>
            <a:r>
              <a:t>│  │  ✅ Never expose sensitive data in error messages         │   │</a:t>
            </a:r>
          </a:p>
          <a:p>
            <a:pPr>
              <a:lnSpc>
                <a:spcPct val="100000"/>
              </a:lnSpc>
              <a:spcBef>
                <a:spcPts val="0"/>
              </a:spcBef>
              <a:spcAft>
                <a:spcPts val="100"/>
              </a:spcAft>
              <a:defRPr sz="800">
                <a:solidFill>
                  <a:srgbClr val="000000"/>
                </a:solidFill>
                <a:latin typeface="Courier New"/>
              </a:defRPr>
            </a:pPr>
            <a:r>
              <a:t>│  │  ✅ Use isError: true in tool responses                   │   │</a:t>
            </a:r>
          </a:p>
          <a:p>
            <a:pPr>
              <a:lnSpc>
                <a:spcPct val="100000"/>
              </a:lnSpc>
              <a:spcBef>
                <a:spcPts val="0"/>
              </a:spcBef>
              <a:spcAft>
                <a:spcPts val="100"/>
              </a:spcAft>
              <a:defRPr sz="800">
                <a:solidFill>
                  <a:srgbClr val="000000"/>
                </a:solidFill>
                <a:latin typeface="Courier New"/>
              </a:defRPr>
            </a:pPr>
            <a:r>
              <a:t>│  │  ✅ Implement retry for transient errors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S3.10  Security Guardrails</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SECURITY GUARDRAILS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SECURITY CHECKLIST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Input Validation (Zod schemas)                         │   │</a:t>
            </a:r>
          </a:p>
          <a:p>
            <a:pPr>
              <a:lnSpc>
                <a:spcPct val="100000"/>
              </a:lnSpc>
              <a:spcBef>
                <a:spcPts val="0"/>
              </a:spcBef>
              <a:spcAft>
                <a:spcPts val="100"/>
              </a:spcAft>
              <a:defRPr sz="800">
                <a:solidFill>
                  <a:srgbClr val="000000"/>
                </a:solidFill>
                <a:latin typeface="Courier New"/>
              </a:defRPr>
            </a:pPr>
            <a:r>
              <a:t>│  │  ✅ Path Traversal Prevention                               │   │</a:t>
            </a:r>
          </a:p>
          <a:p>
            <a:pPr>
              <a:lnSpc>
                <a:spcPct val="100000"/>
              </a:lnSpc>
              <a:spcBef>
                <a:spcPts val="0"/>
              </a:spcBef>
              <a:spcAft>
                <a:spcPts val="100"/>
              </a:spcAft>
              <a:defRPr sz="800">
                <a:solidFill>
                  <a:srgbClr val="000000"/>
                </a:solidFill>
                <a:latin typeface="Courier New"/>
              </a:defRPr>
            </a:pPr>
            <a:r>
              <a:t>│  │  ✅ SQL Injection Prevention (parameterized queries)        │   │</a:t>
            </a:r>
          </a:p>
          <a:p>
            <a:pPr>
              <a:lnSpc>
                <a:spcPct val="100000"/>
              </a:lnSpc>
              <a:spcBef>
                <a:spcPts val="0"/>
              </a:spcBef>
              <a:spcAft>
                <a:spcPts val="100"/>
              </a:spcAft>
              <a:defRPr sz="800">
                <a:solidFill>
                  <a:srgbClr val="000000"/>
                </a:solidFill>
                <a:latin typeface="Courier New"/>
              </a:defRPr>
            </a:pPr>
            <a:r>
              <a:t>│  │  ✅ Rate Limiting                                           │   │</a:t>
            </a:r>
          </a:p>
          <a:p>
            <a:pPr>
              <a:lnSpc>
                <a:spcPct val="100000"/>
              </a:lnSpc>
              <a:spcBef>
                <a:spcPts val="0"/>
              </a:spcBef>
              <a:spcAft>
                <a:spcPts val="100"/>
              </a:spcAft>
              <a:defRPr sz="800">
                <a:solidFill>
                  <a:srgbClr val="000000"/>
                </a:solidFill>
                <a:latin typeface="Courier New"/>
              </a:defRPr>
            </a:pPr>
            <a:r>
              <a:t>│  │  ✅ Authentication                                          │   │</a:t>
            </a:r>
          </a:p>
          <a:p>
            <a:pPr>
              <a:lnSpc>
                <a:spcPct val="100000"/>
              </a:lnSpc>
              <a:spcBef>
                <a:spcPts val="0"/>
              </a:spcBef>
              <a:spcAft>
                <a:spcPts val="100"/>
              </a:spcAft>
              <a:defRPr sz="800">
                <a:solidFill>
                  <a:srgbClr val="000000"/>
                </a:solidFill>
                <a:latin typeface="Courier New"/>
              </a:defRPr>
            </a:pPr>
            <a:r>
              <a:t>│  │  ✅ Authorization (RBAC)                                   │   │</a:t>
            </a:r>
          </a:p>
          <a:p>
            <a:pPr>
              <a:lnSpc>
                <a:spcPct val="100000"/>
              </a:lnSpc>
              <a:spcBef>
                <a:spcPts val="0"/>
              </a:spcBef>
              <a:spcAft>
                <a:spcPts val="100"/>
              </a:spcAft>
              <a:defRPr sz="800">
                <a:solidFill>
                  <a:srgbClr val="000000"/>
                </a:solidFill>
                <a:latin typeface="Courier New"/>
              </a:defRPr>
            </a:pPr>
            <a:r>
              <a:t>│  │  ✅ Logging (audit trail)                                  │   │</a:t>
            </a:r>
          </a:p>
          <a:p>
            <a:pPr>
              <a:lnSpc>
                <a:spcPct val="100000"/>
              </a:lnSpc>
              <a:spcBef>
                <a:spcPts val="0"/>
              </a:spcBef>
              <a:spcAft>
                <a:spcPts val="100"/>
              </a:spcAft>
              <a:defRPr sz="800">
                <a:solidFill>
                  <a:srgbClr val="000000"/>
                </a:solidFill>
                <a:latin typeface="Courier New"/>
              </a:defRPr>
            </a:pPr>
            <a:r>
              <a:t>│  │  ✅ Error Sanitization (no stack traces to clients)        │   │</a:t>
            </a:r>
          </a:p>
          <a:p>
            <a:pPr>
              <a:lnSpc>
                <a:spcPct val="100000"/>
              </a:lnSpc>
              <a:spcBef>
                <a:spcPts val="0"/>
              </a:spcBef>
              <a:spcAft>
                <a:spcPts val="100"/>
              </a:spcAft>
              <a:defRPr sz="800">
                <a:solidFill>
                  <a:srgbClr val="000000"/>
                </a:solidFill>
                <a:latin typeface="Courier New"/>
              </a:defRPr>
            </a:pPr>
            <a:r>
              <a:t>│  │  ✅ HTTPS in production                                    │   │</a:t>
            </a:r>
          </a:p>
          <a:p>
            <a:pPr>
              <a:lnSpc>
                <a:spcPct val="100000"/>
              </a:lnSpc>
              <a:spcBef>
                <a:spcPts val="0"/>
              </a:spcBef>
              <a:spcAft>
                <a:spcPts val="100"/>
              </a:spcAft>
              <a:defRPr sz="800">
                <a:solidFill>
                  <a:srgbClr val="000000"/>
                </a:solidFill>
                <a:latin typeface="Courier New"/>
              </a:defRPr>
            </a:pPr>
            <a:r>
              <a:t>│  │  ✅ Secret Management (environment variables)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COMMON VULNERABILITIES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Vulnerability     │  Prevention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Path Traversal    │  Normalize paths, restrict    │   │   │</a:t>
            </a:r>
          </a:p>
          <a:p>
            <a:pPr>
              <a:lnSpc>
                <a:spcPct val="100000"/>
              </a:lnSpc>
              <a:spcBef>
                <a:spcPts val="0"/>
              </a:spcBef>
              <a:spcAft>
                <a:spcPts val="100"/>
              </a:spcAft>
              <a:defRPr sz="800">
                <a:solidFill>
                  <a:srgbClr val="000000"/>
                </a:solidFill>
                <a:latin typeface="Courier New"/>
              </a:defRPr>
            </a:pPr>
            <a:r>
              <a:t>│  │  │  SQL Injection     │  Parameterized queries         │   │   │</a:t>
            </a:r>
          </a:p>
          <a:p>
            <a:pPr>
              <a:lnSpc>
                <a:spcPct val="100000"/>
              </a:lnSpc>
              <a:spcBef>
                <a:spcPts val="0"/>
              </a:spcBef>
              <a:spcAft>
                <a:spcPts val="100"/>
              </a:spcAft>
              <a:defRPr sz="800">
                <a:solidFill>
                  <a:srgbClr val="000000"/>
                </a:solidFill>
                <a:latin typeface="Courier New"/>
              </a:defRPr>
            </a:pPr>
            <a:r>
              <a:t>│  │  │  Command Injection │  Avoid shell commands         │   │   │</a:t>
            </a:r>
          </a:p>
          <a:p>
            <a:pPr>
              <a:lnSpc>
                <a:spcPct val="100000"/>
              </a:lnSpc>
              <a:spcBef>
                <a:spcPts val="0"/>
              </a:spcBef>
              <a:spcAft>
                <a:spcPts val="100"/>
              </a:spcAft>
              <a:defRPr sz="800">
                <a:solidFill>
                  <a:srgbClr val="000000"/>
                </a:solidFill>
                <a:latin typeface="Courier New"/>
              </a:defRPr>
            </a:pPr>
            <a:r>
              <a:t>│  │  │  DoS Attacks       │  Rate limiting, timeouts      │   │   │</a:t>
            </a:r>
          </a:p>
          <a:p>
            <a:pPr>
              <a:lnSpc>
                <a:spcPct val="100000"/>
              </a:lnSpc>
              <a:spcBef>
                <a:spcPts val="0"/>
              </a:spcBef>
              <a:spcAft>
                <a:spcPts val="100"/>
              </a:spcAft>
              <a:defRPr sz="800">
                <a:solidFill>
                  <a:srgbClr val="000000"/>
                </a:solidFill>
                <a:latin typeface="Courier New"/>
              </a:defRPr>
            </a:pPr>
            <a:r>
              <a:t>│  │  │  Data Exposure     │  Sanitize error messages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S4.1  MCP Client Architecture</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MCP CLIENT ARCHITECTURE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CLIENT COMPONENTS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MCP Client Library                     │   │   │</a:t>
            </a:r>
          </a:p>
          <a:p>
            <a:pPr>
              <a:lnSpc>
                <a:spcPct val="100000"/>
              </a:lnSpc>
              <a:spcBef>
                <a:spcPts val="0"/>
              </a:spcBef>
              <a:spcAft>
                <a:spcPts val="100"/>
              </a:spcAft>
              <a:defRPr sz="800">
                <a:solidFill>
                  <a:srgbClr val="000000"/>
                </a:solidFill>
                <a:latin typeface="Courier New"/>
              </a:defRPr>
            </a:pPr>
            <a:r>
              <a:t>│  │  │  ┌──────────┐  ┌──────────┐  ┌──────────┐        │   │   │</a:t>
            </a:r>
          </a:p>
          <a:p>
            <a:pPr>
              <a:lnSpc>
                <a:spcPct val="100000"/>
              </a:lnSpc>
              <a:spcBef>
                <a:spcPts val="0"/>
              </a:spcBef>
              <a:spcAft>
                <a:spcPts val="100"/>
              </a:spcAft>
              <a:defRPr sz="800">
                <a:solidFill>
                  <a:srgbClr val="000000"/>
                </a:solidFill>
                <a:latin typeface="Courier New"/>
              </a:defRPr>
            </a:pPr>
            <a:r>
              <a:t>│  │  │  │ Server   │  │ Tool     │  │ Resource│        │   │   │</a:t>
            </a:r>
          </a:p>
          <a:p>
            <a:pPr>
              <a:lnSpc>
                <a:spcPct val="100000"/>
              </a:lnSpc>
              <a:spcBef>
                <a:spcPts val="0"/>
              </a:spcBef>
              <a:spcAft>
                <a:spcPts val="100"/>
              </a:spcAft>
              <a:defRPr sz="800">
                <a:solidFill>
                  <a:srgbClr val="000000"/>
                </a:solidFill>
                <a:latin typeface="Courier New"/>
              </a:defRPr>
            </a:pPr>
            <a:r>
              <a:t>│  │  │  │ Manager  │  │ Executor │  │ Reader  │        │   │   │</a:t>
            </a:r>
          </a:p>
          <a:p>
            <a:pPr>
              <a:lnSpc>
                <a:spcPct val="100000"/>
              </a:lnSpc>
              <a:spcBef>
                <a:spcPts val="0"/>
              </a:spcBef>
              <a:spcAft>
                <a:spcPts val="100"/>
              </a:spcAft>
              <a:defRPr sz="800">
                <a:solidFill>
                  <a:srgbClr val="000000"/>
                </a:solidFill>
                <a:latin typeface="Courier New"/>
              </a:defRPr>
            </a:pPr>
            <a:r>
              <a:t>│  │  │  └──────────┘  └──────────┘  └──────────┘        │   │   │</a:t>
            </a:r>
          </a:p>
          <a:p>
            <a:pPr>
              <a:lnSpc>
                <a:spcPct val="100000"/>
              </a:lnSpc>
              <a:spcBef>
                <a:spcPts val="0"/>
              </a:spcBef>
              <a:spcAft>
                <a:spcPts val="100"/>
              </a:spcAft>
              <a:defRPr sz="800">
                <a:solidFill>
                  <a:srgbClr val="000000"/>
                </a:solidFill>
                <a:latin typeface="Courier New"/>
              </a:defRPr>
            </a:pPr>
            <a:r>
              <a:t>│  │  │  ┌──────────┐  ┌──────────┐  ┌──────────┐        │   │   │</a:t>
            </a:r>
          </a:p>
          <a:p>
            <a:pPr>
              <a:lnSpc>
                <a:spcPct val="100000"/>
              </a:lnSpc>
              <a:spcBef>
                <a:spcPts val="0"/>
              </a:spcBef>
              <a:spcAft>
                <a:spcPts val="100"/>
              </a:spcAft>
              <a:defRPr sz="800">
                <a:solidFill>
                  <a:srgbClr val="000000"/>
                </a:solidFill>
                <a:latin typeface="Courier New"/>
              </a:defRPr>
            </a:pPr>
            <a:r>
              <a:t>│  │  │  │ Prompt   │  │ Cache    │  │ Transport│        │   │   │</a:t>
            </a:r>
          </a:p>
          <a:p>
            <a:pPr>
              <a:lnSpc>
                <a:spcPct val="100000"/>
              </a:lnSpc>
              <a:spcBef>
                <a:spcPts val="0"/>
              </a:spcBef>
              <a:spcAft>
                <a:spcPts val="100"/>
              </a:spcAft>
              <a:defRPr sz="800">
                <a:solidFill>
                  <a:srgbClr val="000000"/>
                </a:solidFill>
                <a:latin typeface="Courier New"/>
              </a:defRPr>
            </a:pPr>
            <a:r>
              <a:t>│  │  │  │ Executor │  │ Manager  │  │ Manager  │        │   │   │</a:t>
            </a:r>
          </a:p>
          <a:p>
            <a:pPr>
              <a:lnSpc>
                <a:spcPct val="100000"/>
              </a:lnSpc>
              <a:spcBef>
                <a:spcPts val="0"/>
              </a:spcBef>
              <a:spcAft>
                <a:spcPts val="100"/>
              </a:spcAft>
              <a:defRPr sz="800">
                <a:solidFill>
                  <a:srgbClr val="000000"/>
                </a:solidFill>
                <a:latin typeface="Courier New"/>
              </a:defRPr>
            </a:pPr>
            <a:r>
              <a:t>│  │  │  └──────────┘  └──────────┘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CLIENT RESPONSIBILITIES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1. Connect to servers                                     │   │</a:t>
            </a:r>
          </a:p>
          <a:p>
            <a:pPr>
              <a:lnSpc>
                <a:spcPct val="100000"/>
              </a:lnSpc>
              <a:spcBef>
                <a:spcPts val="0"/>
              </a:spcBef>
              <a:spcAft>
                <a:spcPts val="100"/>
              </a:spcAft>
              <a:defRPr sz="800">
                <a:solidFill>
                  <a:srgbClr val="000000"/>
                </a:solidFill>
                <a:latin typeface="Courier New"/>
              </a:defRPr>
            </a:pPr>
            <a:r>
              <a:t>│  │  2. Discover capabilities (tools, resources, prompts)      │   │</a:t>
            </a:r>
          </a:p>
          <a:p>
            <a:pPr>
              <a:lnSpc>
                <a:spcPct val="100000"/>
              </a:lnSpc>
              <a:spcBef>
                <a:spcPts val="0"/>
              </a:spcBef>
              <a:spcAft>
                <a:spcPts val="100"/>
              </a:spcAft>
              <a:defRPr sz="800">
                <a:solidFill>
                  <a:srgbClr val="000000"/>
                </a:solidFill>
                <a:latin typeface="Courier New"/>
              </a:defRPr>
            </a:pPr>
            <a:r>
              <a:t>│  │  3. Invoke tools with proper parameters                    │   │</a:t>
            </a:r>
          </a:p>
          <a:p>
            <a:pPr>
              <a:lnSpc>
                <a:spcPct val="100000"/>
              </a:lnSpc>
              <a:spcBef>
                <a:spcPts val="0"/>
              </a:spcBef>
              <a:spcAft>
                <a:spcPts val="100"/>
              </a:spcAft>
              <a:defRPr sz="800">
                <a:solidFill>
                  <a:srgbClr val="000000"/>
                </a:solidFill>
                <a:latin typeface="Courier New"/>
              </a:defRPr>
            </a:pPr>
            <a:r>
              <a:t>│  │  4. Read resources                                          │   │</a:t>
            </a:r>
          </a:p>
          <a:p>
            <a:pPr>
              <a:lnSpc>
                <a:spcPct val="100000"/>
              </a:lnSpc>
              <a:spcBef>
                <a:spcPts val="0"/>
              </a:spcBef>
              <a:spcAft>
                <a:spcPts val="100"/>
              </a:spcAft>
              <a:defRPr sz="800">
                <a:solidFill>
                  <a:srgbClr val="000000"/>
                </a:solidFill>
                <a:latin typeface="Courier New"/>
              </a:defRPr>
            </a:pPr>
            <a:r>
              <a:t>│  │  5. Execute prompts                                        │   │</a:t>
            </a:r>
          </a:p>
          <a:p>
            <a:pPr>
              <a:lnSpc>
                <a:spcPct val="100000"/>
              </a:lnSpc>
              <a:spcBef>
                <a:spcPts val="0"/>
              </a:spcBef>
              <a:spcAft>
                <a:spcPts val="100"/>
              </a:spcAft>
              <a:defRPr sz="800">
                <a:solidFill>
                  <a:srgbClr val="000000"/>
                </a:solidFill>
                <a:latin typeface="Courier New"/>
              </a:defRPr>
            </a:pPr>
            <a:r>
              <a:t>│  │  6. Handle errors and timeouts                            │   │</a:t>
            </a:r>
          </a:p>
          <a:p>
            <a:pPr>
              <a:lnSpc>
                <a:spcPct val="100000"/>
              </a:lnSpc>
              <a:spcBef>
                <a:spcPts val="0"/>
              </a:spcBef>
              <a:spcAft>
                <a:spcPts val="100"/>
              </a:spcAft>
              <a:defRPr sz="800">
                <a:solidFill>
                  <a:srgbClr val="000000"/>
                </a:solidFill>
                <a:latin typeface="Courier New"/>
              </a:defRPr>
            </a:pPr>
            <a:r>
              <a:t>│  │  7. Manage multiple servers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S4.2  Server Manager Component</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SERVER MANAGER COMPONENT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SERVER MANAGER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src/server-manager.ts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export class ServerManager {                               │   │</a:t>
            </a:r>
          </a:p>
          <a:p>
            <a:pPr>
              <a:lnSpc>
                <a:spcPct val="100000"/>
              </a:lnSpc>
              <a:spcBef>
                <a:spcPts val="0"/>
              </a:spcBef>
              <a:spcAft>
                <a:spcPts val="100"/>
              </a:spcAft>
              <a:defRPr sz="800">
                <a:solidFill>
                  <a:srgbClr val="000000"/>
                </a:solidFill>
                <a:latin typeface="Courier New"/>
              </a:defRPr>
            </a:pPr>
            <a:r>
              <a:t>│  │    private config: MCPServerConfig;                        │   │</a:t>
            </a:r>
          </a:p>
          <a:p>
            <a:pPr>
              <a:lnSpc>
                <a:spcPct val="100000"/>
              </a:lnSpc>
              <a:spcBef>
                <a:spcPts val="0"/>
              </a:spcBef>
              <a:spcAft>
                <a:spcPts val="100"/>
              </a:spcAft>
              <a:defRPr sz="800">
                <a:solidFill>
                  <a:srgbClr val="000000"/>
                </a:solidFill>
                <a:latin typeface="Courier New"/>
              </a:defRPr>
            </a:pPr>
            <a:r>
              <a:t>│  │    private transport: MCPTransport;                        │   │</a:t>
            </a:r>
          </a:p>
          <a:p>
            <a:pPr>
              <a:lnSpc>
                <a:spcPct val="100000"/>
              </a:lnSpc>
              <a:spcBef>
                <a:spcPts val="0"/>
              </a:spcBef>
              <a:spcAft>
                <a:spcPts val="100"/>
              </a:spcAft>
              <a:defRPr sz="800">
                <a:solidFill>
                  <a:srgbClr val="000000"/>
                </a:solidFill>
                <a:latin typeface="Courier New"/>
              </a:defRPr>
            </a:pPr>
            <a:r>
              <a:t>│  │    private state: ConnectionState = 'disconnected';        │   │</a:t>
            </a:r>
          </a:p>
          <a:p>
            <a:pPr>
              <a:lnSpc>
                <a:spcPct val="100000"/>
              </a:lnSpc>
              <a:spcBef>
                <a:spcPts val="0"/>
              </a:spcBef>
              <a:spcAft>
                <a:spcPts val="100"/>
              </a:spcAft>
              <a:defRPr sz="800">
                <a:solidFill>
                  <a:srgbClr val="000000"/>
                </a:solidFill>
                <a:latin typeface="Courier New"/>
              </a:defRPr>
            </a:pPr>
            <a:r>
              <a:t>│  │    private reconnectAttempts: number = 0;                  │   │</a:t>
            </a:r>
          </a:p>
          <a:p>
            <a:pPr>
              <a:lnSpc>
                <a:spcPct val="100000"/>
              </a:lnSpc>
              <a:spcBef>
                <a:spcPts val="0"/>
              </a:spcBef>
              <a:spcAft>
                <a:spcPts val="100"/>
              </a:spcAft>
              <a:defRPr sz="800">
                <a:solidFill>
                  <a:srgbClr val="000000"/>
                </a:solidFill>
                <a:latin typeface="Courier New"/>
              </a:defRPr>
            </a:pPr>
            <a:r>
              <a:t>│  │    private maxReconnectAttempts: number = 5;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async connect(): Promise&lt;void&gt; {                       │   │</a:t>
            </a:r>
          </a:p>
          <a:p>
            <a:pPr>
              <a:lnSpc>
                <a:spcPct val="100000"/>
              </a:lnSpc>
              <a:spcBef>
                <a:spcPts val="0"/>
              </a:spcBef>
              <a:spcAft>
                <a:spcPts val="100"/>
              </a:spcAft>
              <a:defRPr sz="800">
                <a:solidFill>
                  <a:srgbClr val="000000"/>
                </a:solidFill>
                <a:latin typeface="Courier New"/>
              </a:defRPr>
            </a:pPr>
            <a:r>
              <a:t>│  │      if (this.state === 'connected') return;             │   │</a:t>
            </a:r>
          </a:p>
          <a:p>
            <a:pPr>
              <a:lnSpc>
                <a:spcPct val="100000"/>
              </a:lnSpc>
              <a:spcBef>
                <a:spcPts val="0"/>
              </a:spcBef>
              <a:spcAft>
                <a:spcPts val="100"/>
              </a:spcAft>
              <a:defRPr sz="800">
                <a:solidFill>
                  <a:srgbClr val="000000"/>
                </a:solidFill>
                <a:latin typeface="Courier New"/>
              </a:defRPr>
            </a:pPr>
            <a:r>
              <a:t>│  │      this.state = 'connecting';                           │   │</a:t>
            </a:r>
          </a:p>
          <a:p>
            <a:pPr>
              <a:lnSpc>
                <a:spcPct val="100000"/>
              </a:lnSpc>
              <a:spcBef>
                <a:spcPts val="0"/>
              </a:spcBef>
              <a:spcAft>
                <a:spcPts val="100"/>
              </a:spcAft>
              <a:defRPr sz="800">
                <a:solidFill>
                  <a:srgbClr val="000000"/>
                </a:solidFill>
                <a:latin typeface="Courier New"/>
              </a:defRPr>
            </a:pPr>
            <a:r>
              <a:t>│  │      try {                                                │   │</a:t>
            </a:r>
          </a:p>
          <a:p>
            <a:pPr>
              <a:lnSpc>
                <a:spcPct val="100000"/>
              </a:lnSpc>
              <a:spcBef>
                <a:spcPts val="0"/>
              </a:spcBef>
              <a:spcAft>
                <a:spcPts val="100"/>
              </a:spcAft>
              <a:defRPr sz="800">
                <a:solidFill>
                  <a:srgbClr val="000000"/>
                </a:solidFill>
                <a:latin typeface="Courier New"/>
              </a:defRPr>
            </a:pPr>
            <a:r>
              <a:t>│  │        await this.transport.connect();                   │   │</a:t>
            </a:r>
          </a:p>
          <a:p>
            <a:pPr>
              <a:lnSpc>
                <a:spcPct val="100000"/>
              </a:lnSpc>
              <a:spcBef>
                <a:spcPts val="0"/>
              </a:spcBef>
              <a:spcAft>
                <a:spcPts val="100"/>
              </a:spcAft>
              <a:defRPr sz="800">
                <a:solidFill>
                  <a:srgbClr val="000000"/>
                </a:solidFill>
                <a:latin typeface="Courier New"/>
              </a:defRPr>
            </a:pPr>
            <a:r>
              <a:t>│  │        this.state = 'connected';                          │   │</a:t>
            </a:r>
          </a:p>
          <a:p>
            <a:pPr>
              <a:lnSpc>
                <a:spcPct val="100000"/>
              </a:lnSpc>
              <a:spcBef>
                <a:spcPts val="0"/>
              </a:spcBef>
              <a:spcAft>
                <a:spcPts val="100"/>
              </a:spcAft>
              <a:defRPr sz="800">
                <a:solidFill>
                  <a:srgbClr val="000000"/>
                </a:solidFill>
                <a:latin typeface="Courier New"/>
              </a:defRPr>
            </a:pPr>
            <a:r>
              <a:t>│  │        this.reconnectAttempts = 0;                        │   │</a:t>
            </a:r>
          </a:p>
          <a:p>
            <a:pPr>
              <a:lnSpc>
                <a:spcPct val="100000"/>
              </a:lnSpc>
              <a:spcBef>
                <a:spcPts val="0"/>
              </a:spcBef>
              <a:spcAft>
                <a:spcPts val="100"/>
              </a:spcAft>
              <a:defRPr sz="800">
                <a:solidFill>
                  <a:srgbClr val="000000"/>
                </a:solidFill>
                <a:latin typeface="Courier New"/>
              </a:defRPr>
            </a:pPr>
            <a:r>
              <a:t>│  │      } catch (error) {                                    │   │</a:t>
            </a:r>
          </a:p>
          <a:p>
            <a:pPr>
              <a:lnSpc>
                <a:spcPct val="100000"/>
              </a:lnSpc>
              <a:spcBef>
                <a:spcPts val="0"/>
              </a:spcBef>
              <a:spcAft>
                <a:spcPts val="100"/>
              </a:spcAft>
              <a:defRPr sz="800">
                <a:solidFill>
                  <a:srgbClr val="000000"/>
                </a:solidFill>
                <a:latin typeface="Courier New"/>
              </a:defRPr>
            </a:pPr>
            <a:r>
              <a:t>│  │        this.state = 'error';                              │   │</a:t>
            </a:r>
          </a:p>
          <a:p>
            <a:pPr>
              <a:lnSpc>
                <a:spcPct val="100000"/>
              </a:lnSpc>
              <a:spcBef>
                <a:spcPts val="0"/>
              </a:spcBef>
              <a:spcAft>
                <a:spcPts val="100"/>
              </a:spcAft>
              <a:defRPr sz="800">
                <a:solidFill>
                  <a:srgbClr val="000000"/>
                </a:solidFill>
                <a:latin typeface="Courier New"/>
              </a:defRPr>
            </a:pPr>
            <a:r>
              <a:t>│  │        this.scheduleReconnect();                          │   │</a:t>
            </a:r>
          </a:p>
          <a:p>
            <a:pPr>
              <a:lnSpc>
                <a:spcPct val="100000"/>
              </a:lnSpc>
              <a:spcBef>
                <a:spcPts val="0"/>
              </a:spcBef>
              <a:spcAft>
                <a:spcPts val="100"/>
              </a:spcAft>
              <a:defRPr sz="800">
                <a:solidFill>
                  <a:srgbClr val="000000"/>
                </a:solidFill>
                <a:latin typeface="Courier New"/>
              </a:defRPr>
            </a:pPr>
            <a:r>
              <a:t>│  │        throw error;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private scheduleReconnect(): void {                    │   │</a:t>
            </a:r>
          </a:p>
          <a:p>
            <a:pPr>
              <a:lnSpc>
                <a:spcPct val="100000"/>
              </a:lnSpc>
              <a:spcBef>
                <a:spcPts val="0"/>
              </a:spcBef>
              <a:spcAft>
                <a:spcPts val="100"/>
              </a:spcAft>
              <a:defRPr sz="800">
                <a:solidFill>
                  <a:srgbClr val="000000"/>
                </a:solidFill>
                <a:latin typeface="Courier New"/>
              </a:defRPr>
            </a:pPr>
            <a:r>
              <a:t>│  │      const delay = Math.min(1000 * Math.pow(2,           │   │</a:t>
            </a:r>
          </a:p>
          <a:p>
            <a:pPr>
              <a:lnSpc>
                <a:spcPct val="100000"/>
              </a:lnSpc>
              <a:spcBef>
                <a:spcPts val="0"/>
              </a:spcBef>
              <a:spcAft>
                <a:spcPts val="100"/>
              </a:spcAft>
              <a:defRPr sz="800">
                <a:solidFill>
                  <a:srgbClr val="000000"/>
                </a:solidFill>
                <a:latin typeface="Courier New"/>
              </a:defRPr>
            </a:pPr>
            <a:r>
              <a:t>│  │        this.reconnectAttempts), 30000);                  │   │</a:t>
            </a:r>
          </a:p>
          <a:p>
            <a:pPr>
              <a:lnSpc>
                <a:spcPct val="100000"/>
              </a:lnSpc>
              <a:spcBef>
                <a:spcPts val="0"/>
              </a:spcBef>
              <a:spcAft>
                <a:spcPts val="100"/>
              </a:spcAft>
              <a:defRPr sz="800">
                <a:solidFill>
                  <a:srgbClr val="000000"/>
                </a:solidFill>
                <a:latin typeface="Courier New"/>
              </a:defRPr>
            </a:pPr>
            <a:r>
              <a:t>│  │      setTimeout(() =&gt; this.connect(), delay);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CONNECTION STATES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disconnected → connecting → connected → error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reconnecting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S4.3  Tool Executor Component</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TOOL EXECUTOR COMPONENT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TOOL EXECUTOR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src/tool-executor.ts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export class ToolExecutor {                                │   │</a:t>
            </a:r>
          </a:p>
          <a:p>
            <a:pPr>
              <a:lnSpc>
                <a:spcPct val="100000"/>
              </a:lnSpc>
              <a:spcBef>
                <a:spcPts val="0"/>
              </a:spcBef>
              <a:spcAft>
                <a:spcPts val="100"/>
              </a:spcAft>
              <a:defRPr sz="800">
                <a:solidFill>
                  <a:srgbClr val="000000"/>
                </a:solidFill>
                <a:latin typeface="Courier New"/>
              </a:defRPr>
            </a:pPr>
            <a:r>
              <a:t>│  │    private cache: ToolCache = new ToolCache();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async execute(                                           │   │</a:t>
            </a:r>
          </a:p>
          <a:p>
            <a:pPr>
              <a:lnSpc>
                <a:spcPct val="100000"/>
              </a:lnSpc>
              <a:spcBef>
                <a:spcPts val="0"/>
              </a:spcBef>
              <a:spcAft>
                <a:spcPts val="100"/>
              </a:spcAft>
              <a:defRPr sz="800">
                <a:solidFill>
                  <a:srgbClr val="000000"/>
                </a:solidFill>
                <a:latin typeface="Courier New"/>
              </a:defRPr>
            </a:pPr>
            <a:r>
              <a:t>│  │      serverId: string,                                      │   │</a:t>
            </a:r>
          </a:p>
          <a:p>
            <a:pPr>
              <a:lnSpc>
                <a:spcPct val="100000"/>
              </a:lnSpc>
              <a:spcBef>
                <a:spcPts val="0"/>
              </a:spcBef>
              <a:spcAft>
                <a:spcPts val="100"/>
              </a:spcAft>
              <a:defRPr sz="800">
                <a:solidFill>
                  <a:srgbClr val="000000"/>
                </a:solidFill>
                <a:latin typeface="Courier New"/>
              </a:defRPr>
            </a:pPr>
            <a:r>
              <a:t>│  │      toolName: string,                                      │   │</a:t>
            </a:r>
          </a:p>
          <a:p>
            <a:pPr>
              <a:lnSpc>
                <a:spcPct val="100000"/>
              </a:lnSpc>
              <a:spcBef>
                <a:spcPts val="0"/>
              </a:spcBef>
              <a:spcAft>
                <a:spcPts val="100"/>
              </a:spcAft>
              <a:defRPr sz="800">
                <a:solidFill>
                  <a:srgbClr val="000000"/>
                </a:solidFill>
                <a:latin typeface="Courier New"/>
              </a:defRPr>
            </a:pPr>
            <a:r>
              <a:t>│  │      args: Record&lt;string, any&gt;,                            │   │</a:t>
            </a:r>
          </a:p>
          <a:p>
            <a:pPr>
              <a:lnSpc>
                <a:spcPct val="100000"/>
              </a:lnSpc>
              <a:spcBef>
                <a:spcPts val="0"/>
              </a:spcBef>
              <a:spcAft>
                <a:spcPts val="100"/>
              </a:spcAft>
              <a:defRPr sz="800">
                <a:solidFill>
                  <a:srgbClr val="000000"/>
                </a:solidFill>
                <a:latin typeface="Courier New"/>
              </a:defRPr>
            </a:pPr>
            <a:r>
              <a:t>│  │      options: { cache?: boolean; timeout?: number } = {}  │   │</a:t>
            </a:r>
          </a:p>
          <a:p>
            <a:pPr>
              <a:lnSpc>
                <a:spcPct val="100000"/>
              </a:lnSpc>
              <a:spcBef>
                <a:spcPts val="0"/>
              </a:spcBef>
              <a:spcAft>
                <a:spcPts val="100"/>
              </a:spcAft>
              <a:defRPr sz="800">
                <a:solidFill>
                  <a:srgbClr val="000000"/>
                </a:solidFill>
                <a:latin typeface="Courier New"/>
              </a:defRPr>
            </a:pPr>
            <a:r>
              <a:t>│  │    ): Promise&lt;ToolResult&gt;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Check cache                                        │   │</a:t>
            </a:r>
          </a:p>
          <a:p>
            <a:pPr>
              <a:lnSpc>
                <a:spcPct val="100000"/>
              </a:lnSpc>
              <a:spcBef>
                <a:spcPts val="0"/>
              </a:spcBef>
              <a:spcAft>
                <a:spcPts val="100"/>
              </a:spcAft>
              <a:defRPr sz="800">
                <a:solidFill>
                  <a:srgbClr val="000000"/>
                </a:solidFill>
                <a:latin typeface="Courier New"/>
              </a:defRPr>
            </a:pPr>
            <a:r>
              <a:t>│  │      if (options.cache !== false) {                       │   │</a:t>
            </a:r>
          </a:p>
          <a:p>
            <a:pPr>
              <a:lnSpc>
                <a:spcPct val="100000"/>
              </a:lnSpc>
              <a:spcBef>
                <a:spcPts val="0"/>
              </a:spcBef>
              <a:spcAft>
                <a:spcPts val="100"/>
              </a:spcAft>
              <a:defRPr sz="800">
                <a:solidFill>
                  <a:srgbClr val="000000"/>
                </a:solidFill>
                <a:latin typeface="Courier New"/>
              </a:defRPr>
            </a:pPr>
            <a:r>
              <a:t>│  │        const cached = this.cache.get(serverId, toolName, args); │   │</a:t>
            </a:r>
          </a:p>
          <a:p>
            <a:pPr>
              <a:lnSpc>
                <a:spcPct val="100000"/>
              </a:lnSpc>
              <a:spcBef>
                <a:spcPts val="0"/>
              </a:spcBef>
              <a:spcAft>
                <a:spcPts val="100"/>
              </a:spcAft>
              <a:defRPr sz="800">
                <a:solidFill>
                  <a:srgbClr val="000000"/>
                </a:solidFill>
                <a:latin typeface="Courier New"/>
              </a:defRPr>
            </a:pPr>
            <a:r>
              <a:t>│  │        if (cached) return cached;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Execute with timeout                              │   │</a:t>
            </a:r>
          </a:p>
          <a:p>
            <a:pPr>
              <a:lnSpc>
                <a:spcPct val="100000"/>
              </a:lnSpc>
              <a:spcBef>
                <a:spcPts val="0"/>
              </a:spcBef>
              <a:spcAft>
                <a:spcPts val="100"/>
              </a:spcAft>
              <a:defRPr sz="800">
                <a:solidFill>
                  <a:srgbClr val="000000"/>
                </a:solidFill>
                <a:latin typeface="Courier New"/>
              </a:defRPr>
            </a:pPr>
            <a:r>
              <a:t>│  │      const timeout = options.timeout || 30000;            │   │</a:t>
            </a:r>
          </a:p>
          <a:p>
            <a:pPr>
              <a:lnSpc>
                <a:spcPct val="100000"/>
              </a:lnSpc>
              <a:spcBef>
                <a:spcPts val="0"/>
              </a:spcBef>
              <a:spcAft>
                <a:spcPts val="100"/>
              </a:spcAft>
              <a:defRPr sz="800">
                <a:solidFill>
                  <a:srgbClr val="000000"/>
                </a:solidFill>
                <a:latin typeface="Courier New"/>
              </a:defRPr>
            </a:pPr>
            <a:r>
              <a:t>│  │      const result = await this.executeWithTimeout(       │   │</a:t>
            </a:r>
          </a:p>
          <a:p>
            <a:pPr>
              <a:lnSpc>
                <a:spcPct val="100000"/>
              </a:lnSpc>
              <a:spcBef>
                <a:spcPts val="0"/>
              </a:spcBef>
              <a:spcAft>
                <a:spcPts val="100"/>
              </a:spcAft>
              <a:defRPr sz="800">
                <a:solidFill>
                  <a:srgbClr val="000000"/>
                </a:solidFill>
                <a:latin typeface="Courier New"/>
              </a:defRPr>
            </a:pPr>
            <a:r>
              <a:t>│  │        serverId, toolName, args, timeout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Cache result                                      │   │</a:t>
            </a:r>
          </a:p>
          <a:p>
            <a:pPr>
              <a:lnSpc>
                <a:spcPct val="100000"/>
              </a:lnSpc>
              <a:spcBef>
                <a:spcPts val="0"/>
              </a:spcBef>
              <a:spcAft>
                <a:spcPts val="100"/>
              </a:spcAft>
              <a:defRPr sz="800">
                <a:solidFill>
                  <a:srgbClr val="000000"/>
                </a:solidFill>
                <a:latin typeface="Courier New"/>
              </a:defRPr>
            </a:pPr>
            <a:r>
              <a:t>│  │      if (options.cache !== false &amp;&amp; result.success) {     │   │</a:t>
            </a:r>
          </a:p>
          <a:p>
            <a:pPr>
              <a:lnSpc>
                <a:spcPct val="100000"/>
              </a:lnSpc>
              <a:spcBef>
                <a:spcPts val="0"/>
              </a:spcBef>
              <a:spcAft>
                <a:spcPts val="100"/>
              </a:spcAft>
              <a:defRPr sz="800">
                <a:solidFill>
                  <a:srgbClr val="000000"/>
                </a:solidFill>
                <a:latin typeface="Courier New"/>
              </a:defRPr>
            </a:pPr>
            <a:r>
              <a:t>│  │        this.cache.set(serverId, toolName, args, result);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return result;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EXECUTION FEATURES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Caching                                                │   │</a:t>
            </a:r>
          </a:p>
          <a:p>
            <a:pPr>
              <a:lnSpc>
                <a:spcPct val="100000"/>
              </a:lnSpc>
              <a:spcBef>
                <a:spcPts val="0"/>
              </a:spcBef>
              <a:spcAft>
                <a:spcPts val="100"/>
              </a:spcAft>
              <a:defRPr sz="800">
                <a:solidFill>
                  <a:srgbClr val="000000"/>
                </a:solidFill>
                <a:latin typeface="Courier New"/>
              </a:defRPr>
            </a:pPr>
            <a:r>
              <a:t>│  │  ✅ Timeouts                                               │   │</a:t>
            </a:r>
          </a:p>
          <a:p>
            <a:pPr>
              <a:lnSpc>
                <a:spcPct val="100000"/>
              </a:lnSpc>
              <a:spcBef>
                <a:spcPts val="0"/>
              </a:spcBef>
              <a:spcAft>
                <a:spcPts val="100"/>
              </a:spcAft>
              <a:defRPr sz="800">
                <a:solidFill>
                  <a:srgbClr val="000000"/>
                </a:solidFill>
                <a:latin typeface="Courier New"/>
              </a:defRPr>
            </a:pPr>
            <a:r>
              <a:t>│  │  ✅ Retry logic                                            │   │</a:t>
            </a:r>
          </a:p>
          <a:p>
            <a:pPr>
              <a:lnSpc>
                <a:spcPct val="100000"/>
              </a:lnSpc>
              <a:spcBef>
                <a:spcPts val="0"/>
              </a:spcBef>
              <a:spcAft>
                <a:spcPts val="100"/>
              </a:spcAft>
              <a:defRPr sz="800">
                <a:solidFill>
                  <a:srgbClr val="000000"/>
                </a:solidFill>
                <a:latin typeface="Courier New"/>
              </a:defRPr>
            </a:pPr>
            <a:r>
              <a:t>│  │  ✅ Validation                                            │   │</a:t>
            </a:r>
          </a:p>
          <a:p>
            <a:pPr>
              <a:lnSpc>
                <a:spcPct val="100000"/>
              </a:lnSpc>
              <a:spcBef>
                <a:spcPts val="0"/>
              </a:spcBef>
              <a:spcAft>
                <a:spcPts val="100"/>
              </a:spcAft>
              <a:defRPr sz="800">
                <a:solidFill>
                  <a:srgbClr val="000000"/>
                </a:solidFill>
                <a:latin typeface="Courier New"/>
              </a:defRPr>
            </a:pPr>
            <a:r>
              <a:t>│  │  ✅ Error recovery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S4.4  Multi-Server Orchestration</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MULTI-SERVER ORCHESTRATION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ORCHESTRATION PATTERN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AI Agent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MCP Client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Server A   │  │  Server B   │  │  Server C   │        │   │</a:t>
            </a:r>
          </a:p>
          <a:p>
            <a:pPr>
              <a:lnSpc>
                <a:spcPct val="100000"/>
              </a:lnSpc>
              <a:spcBef>
                <a:spcPts val="0"/>
              </a:spcBef>
              <a:spcAft>
                <a:spcPts val="100"/>
              </a:spcAft>
              <a:defRPr sz="800">
                <a:solidFill>
                  <a:srgbClr val="000000"/>
                </a:solidFill>
                <a:latin typeface="Courier New"/>
              </a:defRPr>
            </a:pPr>
            <a:r>
              <a:t>│  │  │(Knowledge)  │  │(Database)   │  │(GitHub)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USE CASE: SEARCH ACROSS SOURCES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1. AI Agent requests search across all sources            │   │</a:t>
            </a:r>
          </a:p>
          <a:p>
            <a:pPr>
              <a:lnSpc>
                <a:spcPct val="100000"/>
              </a:lnSpc>
              <a:spcBef>
                <a:spcPts val="0"/>
              </a:spcBef>
              <a:spcAft>
                <a:spcPts val="100"/>
              </a:spcAft>
              <a:defRPr sz="800">
                <a:solidFill>
                  <a:srgbClr val="000000"/>
                </a:solidFill>
                <a:latin typeface="Courier New"/>
              </a:defRPr>
            </a:pPr>
            <a:r>
              <a:t>│  │  2. Client calls Server A (Knowledge) → results           │   │</a:t>
            </a:r>
          </a:p>
          <a:p>
            <a:pPr>
              <a:lnSpc>
                <a:spcPct val="100000"/>
              </a:lnSpc>
              <a:spcBef>
                <a:spcPts val="0"/>
              </a:spcBef>
              <a:spcAft>
                <a:spcPts val="100"/>
              </a:spcAft>
              <a:defRPr sz="800">
                <a:solidFill>
                  <a:srgbClr val="000000"/>
                </a:solidFill>
                <a:latin typeface="Courier New"/>
              </a:defRPr>
            </a:pPr>
            <a:r>
              <a:t>│  │  3. Client calls Server B (Database) → results            │   │</a:t>
            </a:r>
          </a:p>
          <a:p>
            <a:pPr>
              <a:lnSpc>
                <a:spcPct val="100000"/>
              </a:lnSpc>
              <a:spcBef>
                <a:spcPts val="0"/>
              </a:spcBef>
              <a:spcAft>
                <a:spcPts val="100"/>
              </a:spcAft>
              <a:defRPr sz="800">
                <a:solidFill>
                  <a:srgbClr val="000000"/>
                </a:solidFill>
                <a:latin typeface="Courier New"/>
              </a:defRPr>
            </a:pPr>
            <a:r>
              <a:t>│  │  4. Client calls Server C (GitHub) → results             │   │</a:t>
            </a:r>
          </a:p>
          <a:p>
            <a:pPr>
              <a:lnSpc>
                <a:spcPct val="100000"/>
              </a:lnSpc>
              <a:spcBef>
                <a:spcPts val="0"/>
              </a:spcBef>
              <a:spcAft>
                <a:spcPts val="100"/>
              </a:spcAft>
              <a:defRPr sz="800">
                <a:solidFill>
                  <a:srgbClr val="000000"/>
                </a:solidFill>
                <a:latin typeface="Courier New"/>
              </a:defRPr>
            </a:pPr>
            <a:r>
              <a:t>│  │  5. Client aggregates all results                         │   │</a:t>
            </a:r>
          </a:p>
          <a:p>
            <a:pPr>
              <a:lnSpc>
                <a:spcPct val="100000"/>
              </a:lnSpc>
              <a:spcBef>
                <a:spcPts val="0"/>
              </a:spcBef>
              <a:spcAft>
                <a:spcPts val="100"/>
              </a:spcAft>
              <a:defRPr sz="800">
                <a:solidFill>
                  <a:srgbClr val="000000"/>
                </a:solidFill>
                <a:latin typeface="Courier New"/>
              </a:defRPr>
            </a:pPr>
            <a:r>
              <a:t>│  │  6. Client returns unified result to AI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S4.5  Client Configuration</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CLIENT CONFIGURATION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CLIENT CONFIG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src/mcp-client.ts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export interface ClientConfig {                           │   │</a:t>
            </a:r>
          </a:p>
          <a:p>
            <a:pPr>
              <a:lnSpc>
                <a:spcPct val="100000"/>
              </a:lnSpc>
              <a:spcBef>
                <a:spcPts val="0"/>
              </a:spcBef>
              <a:spcAft>
                <a:spcPts val="100"/>
              </a:spcAft>
              <a:defRPr sz="800">
                <a:solidFill>
                  <a:srgbClr val="000000"/>
                </a:solidFill>
                <a:latin typeface="Courier New"/>
              </a:defRPr>
            </a:pPr>
            <a:r>
              <a:t>│  │    // Server configurations                                │   │</a:t>
            </a:r>
          </a:p>
          <a:p>
            <a:pPr>
              <a:lnSpc>
                <a:spcPct val="100000"/>
              </a:lnSpc>
              <a:spcBef>
                <a:spcPts val="0"/>
              </a:spcBef>
              <a:spcAft>
                <a:spcPts val="100"/>
              </a:spcAft>
              <a:defRPr sz="800">
                <a:solidFill>
                  <a:srgbClr val="000000"/>
                </a:solidFill>
                <a:latin typeface="Courier New"/>
              </a:defRPr>
            </a:pPr>
            <a:r>
              <a:t>│  │    servers?: MCPServerConfig[];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Global timeouts                                      │   │</a:t>
            </a:r>
          </a:p>
          <a:p>
            <a:pPr>
              <a:lnSpc>
                <a:spcPct val="100000"/>
              </a:lnSpc>
              <a:spcBef>
                <a:spcPts val="0"/>
              </a:spcBef>
              <a:spcAft>
                <a:spcPts val="100"/>
              </a:spcAft>
              <a:defRPr sz="800">
                <a:solidFill>
                  <a:srgbClr val="000000"/>
                </a:solidFill>
                <a:latin typeface="Courier New"/>
              </a:defRPr>
            </a:pPr>
            <a:r>
              <a:t>│  │    defaultTimeout?: number;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Caching settings                                     │   │</a:t>
            </a:r>
          </a:p>
          <a:p>
            <a:pPr>
              <a:lnSpc>
                <a:spcPct val="100000"/>
              </a:lnSpc>
              <a:spcBef>
                <a:spcPts val="0"/>
              </a:spcBef>
              <a:spcAft>
                <a:spcPts val="100"/>
              </a:spcAft>
              <a:defRPr sz="800">
                <a:solidFill>
                  <a:srgbClr val="000000"/>
                </a:solidFill>
                <a:latin typeface="Courier New"/>
              </a:defRPr>
            </a:pPr>
            <a:r>
              <a:t>│  │    cacheEnabled?: boolean;                                 │   │</a:t>
            </a:r>
          </a:p>
          <a:p>
            <a:pPr>
              <a:lnSpc>
                <a:spcPct val="100000"/>
              </a:lnSpc>
              <a:spcBef>
                <a:spcPts val="0"/>
              </a:spcBef>
              <a:spcAft>
                <a:spcPts val="100"/>
              </a:spcAft>
              <a:defRPr sz="800">
                <a:solidFill>
                  <a:srgbClr val="000000"/>
                </a:solidFill>
                <a:latin typeface="Courier New"/>
              </a:defRPr>
            </a:pPr>
            <a:r>
              <a:t>│  │    cacheTTL?: number;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Retry settings                                       │   │</a:t>
            </a:r>
          </a:p>
          <a:p>
            <a:pPr>
              <a:lnSpc>
                <a:spcPct val="100000"/>
              </a:lnSpc>
              <a:spcBef>
                <a:spcPts val="0"/>
              </a:spcBef>
              <a:spcAft>
                <a:spcPts val="100"/>
              </a:spcAft>
              <a:defRPr sz="800">
                <a:solidFill>
                  <a:srgbClr val="000000"/>
                </a:solidFill>
                <a:latin typeface="Courier New"/>
              </a:defRPr>
            </a:pPr>
            <a:r>
              <a:t>│  │    maxRetries?: number;                                    │   │</a:t>
            </a:r>
          </a:p>
          <a:p>
            <a:pPr>
              <a:lnSpc>
                <a:spcPct val="100000"/>
              </a:lnSpc>
              <a:spcBef>
                <a:spcPts val="0"/>
              </a:spcBef>
              <a:spcAft>
                <a:spcPts val="100"/>
              </a:spcAft>
              <a:defRPr sz="800">
                <a:solidFill>
                  <a:srgbClr val="000000"/>
                </a:solidFill>
                <a:latin typeface="Courier New"/>
              </a:defRPr>
            </a:pPr>
            <a:r>
              <a:t>│  │    retryDelay?: number;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Logging                                              │   │</a:t>
            </a:r>
          </a:p>
          <a:p>
            <a:pPr>
              <a:lnSpc>
                <a:spcPct val="100000"/>
              </a:lnSpc>
              <a:spcBef>
                <a:spcPts val="0"/>
              </a:spcBef>
              <a:spcAft>
                <a:spcPts val="100"/>
              </a:spcAft>
              <a:defRPr sz="800">
                <a:solidFill>
                  <a:srgbClr val="000000"/>
                </a:solidFill>
                <a:latin typeface="Courier New"/>
              </a:defRPr>
            </a:pPr>
            <a:r>
              <a:t>│  │    logLevel?: 'debug' | 'info' | 'warn' | 'error';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Event handlers                                      │   │</a:t>
            </a:r>
          </a:p>
          <a:p>
            <a:pPr>
              <a:lnSpc>
                <a:spcPct val="100000"/>
              </a:lnSpc>
              <a:spcBef>
                <a:spcPts val="0"/>
              </a:spcBef>
              <a:spcAft>
                <a:spcPts val="100"/>
              </a:spcAft>
              <a:defRPr sz="800">
                <a:solidFill>
                  <a:srgbClr val="000000"/>
                </a:solidFill>
                <a:latin typeface="Courier New"/>
              </a:defRPr>
            </a:pPr>
            <a:r>
              <a:t>│  │    eventHandlers?: ClientEventHandler[];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CONFIGURATION EXAMPLE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const client = new MCPClient({                             │   │</a:t>
            </a:r>
          </a:p>
          <a:p>
            <a:pPr>
              <a:lnSpc>
                <a:spcPct val="100000"/>
              </a:lnSpc>
              <a:spcBef>
                <a:spcPts val="0"/>
              </a:spcBef>
              <a:spcAft>
                <a:spcPts val="100"/>
              </a:spcAft>
              <a:defRPr sz="800">
                <a:solidFill>
                  <a:srgbClr val="000000"/>
                </a:solidFill>
                <a:latin typeface="Courier New"/>
              </a:defRPr>
            </a:pPr>
            <a:r>
              <a:t>│  │    servers: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id: 'knowledge',                                     │   │</a:t>
            </a:r>
          </a:p>
          <a:p>
            <a:pPr>
              <a:lnSpc>
                <a:spcPct val="100000"/>
              </a:lnSpc>
              <a:spcBef>
                <a:spcPts val="0"/>
              </a:spcBef>
              <a:spcAft>
                <a:spcPts val="100"/>
              </a:spcAft>
              <a:defRPr sz="800">
                <a:solidFill>
                  <a:srgbClr val="000000"/>
                </a:solidFill>
                <a:latin typeface="Courier New"/>
              </a:defRPr>
            </a:pPr>
            <a:r>
              <a:t>│  │        transport: { type: 'stdio', command: 'node',        │   │</a:t>
            </a:r>
          </a:p>
          <a:p>
            <a:pPr>
              <a:lnSpc>
                <a:spcPct val="100000"/>
              </a:lnSpc>
              <a:spcBef>
                <a:spcPts val="0"/>
              </a:spcBef>
              <a:spcAft>
                <a:spcPts val="100"/>
              </a:spcAft>
              <a:defRPr sz="800">
                <a:solidFill>
                  <a:srgbClr val="000000"/>
                </a:solidFill>
                <a:latin typeface="Courier New"/>
              </a:defRPr>
            </a:pPr>
            <a:r>
              <a:t>│  │          args: ['knowledge-server.js']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id: 'database',                                      │   │</a:t>
            </a:r>
          </a:p>
          <a:p>
            <a:pPr>
              <a:lnSpc>
                <a:spcPct val="100000"/>
              </a:lnSpc>
              <a:spcBef>
                <a:spcPts val="0"/>
              </a:spcBef>
              <a:spcAft>
                <a:spcPts val="100"/>
              </a:spcAft>
              <a:defRPr sz="800">
                <a:solidFill>
                  <a:srgbClr val="000000"/>
                </a:solidFill>
                <a:latin typeface="Courier New"/>
              </a:defRPr>
            </a:pPr>
            <a:r>
              <a:t>│  │        transport: { type: 'http', baseUrl: 'http://...' }, │   │</a:t>
            </a:r>
          </a:p>
          <a:p>
            <a:pPr>
              <a:lnSpc>
                <a:spcPct val="100000"/>
              </a:lnSpc>
              <a:spcBef>
                <a:spcPts val="0"/>
              </a:spcBef>
              <a:spcAft>
                <a:spcPts val="100"/>
              </a:spcAft>
              <a:defRPr sz="800">
                <a:solidFill>
                  <a:srgbClr val="000000"/>
                </a:solidFill>
                <a:latin typeface="Courier New"/>
              </a:defRPr>
            </a:pPr>
            <a:r>
              <a:t>│  │        auth: { type: 'apiKey', credentials: 'key-123'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defaultTimeout: 30000,                                  │   │</a:t>
            </a:r>
          </a:p>
          <a:p>
            <a:pPr>
              <a:lnSpc>
                <a:spcPct val="100000"/>
              </a:lnSpc>
              <a:spcBef>
                <a:spcPts val="0"/>
              </a:spcBef>
              <a:spcAft>
                <a:spcPts val="100"/>
              </a:spcAft>
              <a:defRPr sz="800">
                <a:solidFill>
                  <a:srgbClr val="000000"/>
                </a:solidFill>
                <a:latin typeface="Courier New"/>
              </a:defRPr>
            </a:pPr>
            <a:r>
              <a:t>│  │    cacheEnabled: true,                                     │   │</a:t>
            </a:r>
          </a:p>
          <a:p>
            <a:pPr>
              <a:lnSpc>
                <a:spcPct val="100000"/>
              </a:lnSpc>
              <a:spcBef>
                <a:spcPts val="0"/>
              </a:spcBef>
              <a:spcAft>
                <a:spcPts val="100"/>
              </a:spcAft>
              <a:defRPr sz="800">
                <a:solidFill>
                  <a:srgbClr val="000000"/>
                </a:solidFill>
                <a:latin typeface="Courier New"/>
              </a:defRPr>
            </a:pPr>
            <a:r>
              <a:t>│  │    maxRetries: 3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S5.1  SQLite Database Server Architecture</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SQLITE DATABASE SERVER ARCHITECTURE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SERVER COMPONENTS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MCP Interface Layer                    │   │   │</a:t>
            </a:r>
          </a:p>
          <a:p>
            <a:pPr>
              <a:lnSpc>
                <a:spcPct val="100000"/>
              </a:lnSpc>
              <a:spcBef>
                <a:spcPts val="0"/>
              </a:spcBef>
              <a:spcAft>
                <a:spcPts val="100"/>
              </a:spcAft>
              <a:defRPr sz="800">
                <a:solidFill>
                  <a:srgbClr val="000000"/>
                </a:solidFill>
                <a:latin typeface="Courier New"/>
              </a:defRPr>
            </a:pPr>
            <a:r>
              <a:t>│  │  │  ┌──────────┐  ┌──────────┐  ┌──────────┐        │   │   │</a:t>
            </a:r>
          </a:p>
          <a:p>
            <a:pPr>
              <a:lnSpc>
                <a:spcPct val="100000"/>
              </a:lnSpc>
              <a:spcBef>
                <a:spcPts val="0"/>
              </a:spcBef>
              <a:spcAft>
                <a:spcPts val="100"/>
              </a:spcAft>
              <a:defRPr sz="800">
                <a:solidFill>
                  <a:srgbClr val="000000"/>
                </a:solidFill>
                <a:latin typeface="Courier New"/>
              </a:defRPr>
            </a:pPr>
            <a:r>
              <a:t>│  │  │  │  Tools   │  │Resources │  │ Prompts  │        │   │   │</a:t>
            </a:r>
          </a:p>
          <a:p>
            <a:pPr>
              <a:lnSpc>
                <a:spcPct val="100000"/>
              </a:lnSpc>
              <a:spcBef>
                <a:spcPts val="0"/>
              </a:spcBef>
              <a:spcAft>
                <a:spcPts val="100"/>
              </a:spcAft>
              <a:defRPr sz="800">
                <a:solidFill>
                  <a:srgbClr val="000000"/>
                </a:solidFill>
                <a:latin typeface="Courier New"/>
              </a:defRPr>
            </a:pPr>
            <a:r>
              <a:t>│  │  │  └──────────┘  └──────────┘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Connection Manager                     │   │   │</a:t>
            </a:r>
          </a:p>
          <a:p>
            <a:pPr>
              <a:lnSpc>
                <a:spcPct val="100000"/>
              </a:lnSpc>
              <a:spcBef>
                <a:spcPts val="0"/>
              </a:spcBef>
              <a:spcAft>
                <a:spcPts val="100"/>
              </a:spcAft>
              <a:defRPr sz="800">
                <a:solidFill>
                  <a:srgbClr val="000000"/>
                </a:solidFill>
                <a:latin typeface="Courier New"/>
              </a:defRPr>
            </a:pPr>
            <a:r>
              <a:t>│  │  │  ┌──────────┐  ┌──────────┐  ┌──────────┐        │   │   │</a:t>
            </a:r>
          </a:p>
          <a:p>
            <a:pPr>
              <a:lnSpc>
                <a:spcPct val="100000"/>
              </a:lnSpc>
              <a:spcBef>
                <a:spcPts val="0"/>
              </a:spcBef>
              <a:spcAft>
                <a:spcPts val="100"/>
              </a:spcAft>
              <a:defRPr sz="800">
                <a:solidFill>
                  <a:srgbClr val="000000"/>
                </a:solidFill>
                <a:latin typeface="Courier New"/>
              </a:defRPr>
            </a:pPr>
            <a:r>
              <a:t>│  │  │  │   Pool   │  │  Query   │  │  Backup  │        │   │   │</a:t>
            </a:r>
          </a:p>
          <a:p>
            <a:pPr>
              <a:lnSpc>
                <a:spcPct val="100000"/>
              </a:lnSpc>
              <a:spcBef>
                <a:spcPts val="0"/>
              </a:spcBef>
              <a:spcAft>
                <a:spcPts val="100"/>
              </a:spcAft>
              <a:defRPr sz="800">
                <a:solidFill>
                  <a:srgbClr val="000000"/>
                </a:solidFill>
                <a:latin typeface="Courier New"/>
              </a:defRPr>
            </a:pPr>
            <a:r>
              <a:t>│  │  │  │ Manager  │  │Executor  │  │ Manager  │        │   │   │</a:t>
            </a:r>
          </a:p>
          <a:p>
            <a:pPr>
              <a:lnSpc>
                <a:spcPct val="100000"/>
              </a:lnSpc>
              <a:spcBef>
                <a:spcPts val="0"/>
              </a:spcBef>
              <a:spcAft>
                <a:spcPts val="100"/>
              </a:spcAft>
              <a:defRPr sz="800">
                <a:solidFill>
                  <a:srgbClr val="000000"/>
                </a:solidFill>
                <a:latin typeface="Courier New"/>
              </a:defRPr>
            </a:pPr>
            <a:r>
              <a:t>│  │  │  └──────────┘  └──────────┘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SQLite Database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KEY FEATURES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Connection pooling                                     │   │</a:t>
            </a:r>
          </a:p>
          <a:p>
            <a:pPr>
              <a:lnSpc>
                <a:spcPct val="100000"/>
              </a:lnSpc>
              <a:spcBef>
                <a:spcPts val="0"/>
              </a:spcBef>
              <a:spcAft>
                <a:spcPts val="100"/>
              </a:spcAft>
              <a:defRPr sz="800">
                <a:solidFill>
                  <a:srgbClr val="000000"/>
                </a:solidFill>
                <a:latin typeface="Courier New"/>
              </a:defRPr>
            </a:pPr>
            <a:r>
              <a:t>│  │  ✅ Query timeout protection                               │   │</a:t>
            </a:r>
          </a:p>
          <a:p>
            <a:pPr>
              <a:lnSpc>
                <a:spcPct val="100000"/>
              </a:lnSpc>
              <a:spcBef>
                <a:spcPts val="0"/>
              </a:spcBef>
              <a:spcAft>
                <a:spcPts val="100"/>
              </a:spcAft>
              <a:defRPr sz="800">
                <a:solidFill>
                  <a:srgbClr val="000000"/>
                </a:solidFill>
                <a:latin typeface="Courier New"/>
              </a:defRPr>
            </a:pPr>
            <a:r>
              <a:t>│  │  ✅ Automatic backups                                       │   │</a:t>
            </a:r>
          </a:p>
          <a:p>
            <a:pPr>
              <a:lnSpc>
                <a:spcPct val="100000"/>
              </a:lnSpc>
              <a:spcBef>
                <a:spcPts val="0"/>
              </a:spcBef>
              <a:spcAft>
                <a:spcPts val="100"/>
              </a:spcAft>
              <a:defRPr sz="800">
                <a:solidFill>
                  <a:srgbClr val="000000"/>
                </a:solidFill>
                <a:latin typeface="Courier New"/>
              </a:defRPr>
            </a:pPr>
            <a:r>
              <a:t>│  │  ✅ Read-only mode                                         │   │</a:t>
            </a:r>
          </a:p>
          <a:p>
            <a:pPr>
              <a:lnSpc>
                <a:spcPct val="100000"/>
              </a:lnSpc>
              <a:spcBef>
                <a:spcPts val="0"/>
              </a:spcBef>
              <a:spcAft>
                <a:spcPts val="100"/>
              </a:spcAft>
              <a:defRPr sz="800">
                <a:solidFill>
                  <a:srgbClr val="000000"/>
                </a:solidFill>
                <a:latin typeface="Courier New"/>
              </a:defRPr>
            </a:pPr>
            <a:r>
              <a:t>│  │  ✅ DDL control                                            │   │</a:t>
            </a:r>
          </a:p>
          <a:p>
            <a:pPr>
              <a:lnSpc>
                <a:spcPct val="100000"/>
              </a:lnSpc>
              <a:spcBef>
                <a:spcPts val="0"/>
              </a:spcBef>
              <a:spcAft>
                <a:spcPts val="100"/>
              </a:spcAft>
              <a:defRPr sz="800">
                <a:solidFill>
                  <a:srgbClr val="000000"/>
                </a:solidFill>
                <a:latin typeface="Courier New"/>
              </a:defRPr>
            </a:pPr>
            <a:r>
              <a:t>│  │  ✅ Query whitelist/blacklist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S5.2  Connection Manager Implementation</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CONNECTION MANAGER IMPLEMENTATION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CONNECTION MANAGER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src/db/connection-manager.ts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import sqlite3 from 'sqlite3';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export class ConnectionManager {                           │   │</a:t>
            </a:r>
          </a:p>
          <a:p>
            <a:pPr>
              <a:lnSpc>
                <a:spcPct val="100000"/>
              </a:lnSpc>
              <a:spcBef>
                <a:spcPts val="0"/>
              </a:spcBef>
              <a:spcAft>
                <a:spcPts val="100"/>
              </a:spcAft>
              <a:defRPr sz="800">
                <a:solidFill>
                  <a:srgbClr val="000000"/>
                </a:solidFill>
                <a:latin typeface="Courier New"/>
              </a:defRPr>
            </a:pPr>
            <a:r>
              <a:t>│  │    private pool: ConnectionEntry[] = [];                   │   │</a:t>
            </a:r>
          </a:p>
          <a:p>
            <a:pPr>
              <a:lnSpc>
                <a:spcPct val="100000"/>
              </a:lnSpc>
              <a:spcBef>
                <a:spcPts val="0"/>
              </a:spcBef>
              <a:spcAft>
                <a:spcPts val="100"/>
              </a:spcAft>
              <a:defRPr sz="800">
                <a:solidFill>
                  <a:srgbClr val="000000"/>
                </a:solidFill>
                <a:latin typeface="Courier New"/>
              </a:defRPr>
            </a:pPr>
            <a:r>
              <a:t>│  │    private config: DBConfig;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async executeQuery(sql: string, params: any[] = []): Promise&lt;QueryResult&gt; { │   │</a:t>
            </a:r>
          </a:p>
          <a:p>
            <a:pPr>
              <a:lnSpc>
                <a:spcPct val="100000"/>
              </a:lnSpc>
              <a:spcBef>
                <a:spcPts val="0"/>
              </a:spcBef>
              <a:spcAft>
                <a:spcPts val="100"/>
              </a:spcAft>
              <a:defRPr sz="800">
                <a:solidFill>
                  <a:srgbClr val="000000"/>
                </a:solidFill>
                <a:latin typeface="Courier New"/>
              </a:defRPr>
            </a:pPr>
            <a:r>
              <a:t>│  │      // Validate query                                     │   │</a:t>
            </a:r>
          </a:p>
          <a:p>
            <a:pPr>
              <a:lnSpc>
                <a:spcPct val="100000"/>
              </a:lnSpc>
              <a:spcBef>
                <a:spcPts val="0"/>
              </a:spcBef>
              <a:spcAft>
                <a:spcPts val="100"/>
              </a:spcAft>
              <a:defRPr sz="800">
                <a:solidFill>
                  <a:srgbClr val="000000"/>
                </a:solidFill>
                <a:latin typeface="Courier New"/>
              </a:defRPr>
            </a:pPr>
            <a:r>
              <a:t>│  │      this.validateQuery(sql);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Get connection from pool                          │   │</a:t>
            </a:r>
          </a:p>
          <a:p>
            <a:pPr>
              <a:lnSpc>
                <a:spcPct val="100000"/>
              </a:lnSpc>
              <a:spcBef>
                <a:spcPts val="0"/>
              </a:spcBef>
              <a:spcAft>
                <a:spcPts val="100"/>
              </a:spcAft>
              <a:defRPr sz="800">
                <a:solidFill>
                  <a:srgbClr val="000000"/>
                </a:solidFill>
                <a:latin typeface="Courier New"/>
              </a:defRPr>
            </a:pPr>
            <a:r>
              <a:t>│  │      const conn = await this.getConnection();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try {                                                 │   │</a:t>
            </a:r>
          </a:p>
          <a:p>
            <a:pPr>
              <a:lnSpc>
                <a:spcPct val="100000"/>
              </a:lnSpc>
              <a:spcBef>
                <a:spcPts val="0"/>
              </a:spcBef>
              <a:spcAft>
                <a:spcPts val="100"/>
              </a:spcAft>
              <a:defRPr sz="800">
                <a:solidFill>
                  <a:srgbClr val="000000"/>
                </a:solidFill>
                <a:latin typeface="Courier New"/>
              </a:defRPr>
            </a:pPr>
            <a:r>
              <a:t>│  │        // Execute with timeout                            │   │</a:t>
            </a:r>
          </a:p>
          <a:p>
            <a:pPr>
              <a:lnSpc>
                <a:spcPct val="100000"/>
              </a:lnSpc>
              <a:spcBef>
                <a:spcPts val="0"/>
              </a:spcBef>
              <a:spcAft>
                <a:spcPts val="100"/>
              </a:spcAft>
              <a:defRPr sz="800">
                <a:solidFill>
                  <a:srgbClr val="000000"/>
                </a:solidFill>
                <a:latin typeface="Courier New"/>
              </a:defRPr>
            </a:pPr>
            <a:r>
              <a:t>│  │        const result = await this.executeWithTimeout(     │   │</a:t>
            </a:r>
          </a:p>
          <a:p>
            <a:pPr>
              <a:lnSpc>
                <a:spcPct val="100000"/>
              </a:lnSpc>
              <a:spcBef>
                <a:spcPts val="0"/>
              </a:spcBef>
              <a:spcAft>
                <a:spcPts val="100"/>
              </a:spcAft>
              <a:defRPr sz="800">
                <a:solidFill>
                  <a:srgbClr val="000000"/>
                </a:solidFill>
                <a:latin typeface="Courier New"/>
              </a:defRPr>
            </a:pPr>
            <a:r>
              <a:t>│  │          conn, sql, params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return result;                                      │   │</a:t>
            </a:r>
          </a:p>
          <a:p>
            <a:pPr>
              <a:lnSpc>
                <a:spcPct val="100000"/>
              </a:lnSpc>
              <a:spcBef>
                <a:spcPts val="0"/>
              </a:spcBef>
              <a:spcAft>
                <a:spcPts val="100"/>
              </a:spcAft>
              <a:defRPr sz="800">
                <a:solidFill>
                  <a:srgbClr val="000000"/>
                </a:solidFill>
                <a:latin typeface="Courier New"/>
              </a:defRPr>
            </a:pPr>
            <a:r>
              <a:t>│  │      } finally {                                           │   │</a:t>
            </a:r>
          </a:p>
          <a:p>
            <a:pPr>
              <a:lnSpc>
                <a:spcPct val="100000"/>
              </a:lnSpc>
              <a:spcBef>
                <a:spcPts val="0"/>
              </a:spcBef>
              <a:spcAft>
                <a:spcPts val="100"/>
              </a:spcAft>
              <a:defRPr sz="800">
                <a:solidFill>
                  <a:srgbClr val="000000"/>
                </a:solidFill>
                <a:latin typeface="Courier New"/>
              </a:defRPr>
            </a:pPr>
            <a:r>
              <a:t>│  │        // Release connection                               │   │</a:t>
            </a:r>
          </a:p>
          <a:p>
            <a:pPr>
              <a:lnSpc>
                <a:spcPct val="100000"/>
              </a:lnSpc>
              <a:spcBef>
                <a:spcPts val="0"/>
              </a:spcBef>
              <a:spcAft>
                <a:spcPts val="100"/>
              </a:spcAft>
              <a:defRPr sz="800">
                <a:solidFill>
                  <a:srgbClr val="000000"/>
                </a:solidFill>
                <a:latin typeface="Courier New"/>
              </a:defRPr>
            </a:pPr>
            <a:r>
              <a:t>│  │        this.releaseConnection(conn);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private validateQuery(sql: string): void {             │   │</a:t>
            </a:r>
          </a:p>
          <a:p>
            <a:pPr>
              <a:lnSpc>
                <a:spcPct val="100000"/>
              </a:lnSpc>
              <a:spcBef>
                <a:spcPts val="0"/>
              </a:spcBef>
              <a:spcAft>
                <a:spcPts val="100"/>
              </a:spcAft>
              <a:defRPr sz="800">
                <a:solidFill>
                  <a:srgbClr val="000000"/>
                </a:solidFill>
                <a:latin typeface="Courier New"/>
              </a:defRPr>
            </a:pPr>
            <a:r>
              <a:t>│  │      // Prevent DROP, TRUNCATE, etc.                     │   │</a:t>
            </a:r>
          </a:p>
          <a:p>
            <a:pPr>
              <a:lnSpc>
                <a:spcPct val="100000"/>
              </a:lnSpc>
              <a:spcBef>
                <a:spcPts val="0"/>
              </a:spcBef>
              <a:spcAft>
                <a:spcPts val="100"/>
              </a:spcAft>
              <a:defRPr sz="800">
                <a:solidFill>
                  <a:srgbClr val="000000"/>
                </a:solidFill>
                <a:latin typeface="Courier New"/>
              </a:defRPr>
            </a:pPr>
            <a:r>
              <a:t>│  │      const dangerous = ['drop', 'truncate'];             │   │</a:t>
            </a:r>
          </a:p>
          <a:p>
            <a:pPr>
              <a:lnSpc>
                <a:spcPct val="100000"/>
              </a:lnSpc>
              <a:spcBef>
                <a:spcPts val="0"/>
              </a:spcBef>
              <a:spcAft>
                <a:spcPts val="100"/>
              </a:spcAft>
              <a:defRPr sz="800">
                <a:solidFill>
                  <a:srgbClr val="000000"/>
                </a:solidFill>
                <a:latin typeface="Courier New"/>
              </a:defRPr>
            </a:pPr>
            <a:r>
              <a:t>│  │      for (const pattern of dangerous) {                  │   │</a:t>
            </a:r>
          </a:p>
          <a:p>
            <a:pPr>
              <a:lnSpc>
                <a:spcPct val="100000"/>
              </a:lnSpc>
              <a:spcBef>
                <a:spcPts val="0"/>
              </a:spcBef>
              <a:spcAft>
                <a:spcPts val="100"/>
              </a:spcAft>
              <a:defRPr sz="800">
                <a:solidFill>
                  <a:srgbClr val="000000"/>
                </a:solidFill>
                <a:latin typeface="Courier New"/>
              </a:defRPr>
            </a:pPr>
            <a:r>
              <a:t>│  │        if (sql.toLowerCase().includes(pattern)) {        │   │</a:t>
            </a:r>
          </a:p>
          <a:p>
            <a:pPr>
              <a:lnSpc>
                <a:spcPct val="100000"/>
              </a:lnSpc>
              <a:spcBef>
                <a:spcPts val="0"/>
              </a:spcBef>
              <a:spcAft>
                <a:spcPts val="100"/>
              </a:spcAft>
              <a:defRPr sz="800">
                <a:solidFill>
                  <a:srgbClr val="000000"/>
                </a:solidFill>
                <a:latin typeface="Courier New"/>
              </a:defRPr>
            </a:pPr>
            <a:r>
              <a:t>│  │          throw new Error(`Dangerous query detected: ${pattern}`);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S5.3  Database Tools</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DATABASE TOOLS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TOOL DEFINITIONS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src/tools/query-tools.ts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export const createQueryTool = () =&gt; ({                   │   │</a:t>
            </a:r>
          </a:p>
          <a:p>
            <a:pPr>
              <a:lnSpc>
                <a:spcPct val="100000"/>
              </a:lnSpc>
              <a:spcBef>
                <a:spcPts val="0"/>
              </a:spcBef>
              <a:spcAft>
                <a:spcPts val="100"/>
              </a:spcAft>
              <a:defRPr sz="800">
                <a:solidFill>
                  <a:srgbClr val="000000"/>
                </a:solidFill>
                <a:latin typeface="Courier New"/>
              </a:defRPr>
            </a:pPr>
            <a:r>
              <a:t>│  │    name: 'execute_query',                                   │   │</a:t>
            </a:r>
          </a:p>
          <a:p>
            <a:pPr>
              <a:lnSpc>
                <a:spcPct val="100000"/>
              </a:lnSpc>
              <a:spcBef>
                <a:spcPts val="0"/>
              </a:spcBef>
              <a:spcAft>
                <a:spcPts val="100"/>
              </a:spcAft>
              <a:defRPr sz="800">
                <a:solidFill>
                  <a:srgbClr val="000000"/>
                </a:solidFill>
                <a:latin typeface="Courier New"/>
              </a:defRPr>
            </a:pPr>
            <a:r>
              <a:t>│  │    description: 'Execute a SQL query against the database', │   │</a:t>
            </a:r>
          </a:p>
          <a:p>
            <a:pPr>
              <a:lnSpc>
                <a:spcPct val="100000"/>
              </a:lnSpc>
              <a:spcBef>
                <a:spcPts val="0"/>
              </a:spcBef>
              <a:spcAft>
                <a:spcPts val="100"/>
              </a:spcAft>
              <a:defRPr sz="800">
                <a:solidFill>
                  <a:srgbClr val="000000"/>
                </a:solidFill>
                <a:latin typeface="Courier New"/>
              </a:defRPr>
            </a:pPr>
            <a:r>
              <a:t>│  │    inputSchema: {                                           │   │</a:t>
            </a:r>
          </a:p>
          <a:p>
            <a:pPr>
              <a:lnSpc>
                <a:spcPct val="100000"/>
              </a:lnSpc>
              <a:spcBef>
                <a:spcPts val="0"/>
              </a:spcBef>
              <a:spcAft>
                <a:spcPts val="100"/>
              </a:spcAft>
              <a:defRPr sz="800">
                <a:solidFill>
                  <a:srgbClr val="000000"/>
                </a:solidFill>
                <a:latin typeface="Courier New"/>
              </a:defRPr>
            </a:pPr>
            <a:r>
              <a:t>│  │      type: 'object',                                        │   │</a:t>
            </a:r>
          </a:p>
          <a:p>
            <a:pPr>
              <a:lnSpc>
                <a:spcPct val="100000"/>
              </a:lnSpc>
              <a:spcBef>
                <a:spcPts val="0"/>
              </a:spcBef>
              <a:spcAft>
                <a:spcPts val="100"/>
              </a:spcAft>
              <a:defRPr sz="800">
                <a:solidFill>
                  <a:srgbClr val="000000"/>
                </a:solidFill>
                <a:latin typeface="Courier New"/>
              </a:defRPr>
            </a:pPr>
            <a:r>
              <a:t>│  │      properties: {                                          │   │</a:t>
            </a:r>
          </a:p>
          <a:p>
            <a:pPr>
              <a:lnSpc>
                <a:spcPct val="100000"/>
              </a:lnSpc>
              <a:spcBef>
                <a:spcPts val="0"/>
              </a:spcBef>
              <a:spcAft>
                <a:spcPts val="100"/>
              </a:spcAft>
              <a:defRPr sz="800">
                <a:solidFill>
                  <a:srgbClr val="000000"/>
                </a:solidFill>
                <a:latin typeface="Courier New"/>
              </a:defRPr>
            </a:pPr>
            <a:r>
              <a:t>│  │        sql: { type: 'string', description: 'The SQL query' }, │   │</a:t>
            </a:r>
          </a:p>
          <a:p>
            <a:pPr>
              <a:lnSpc>
                <a:spcPct val="100000"/>
              </a:lnSpc>
              <a:spcBef>
                <a:spcPts val="0"/>
              </a:spcBef>
              <a:spcAft>
                <a:spcPts val="100"/>
              </a:spcAft>
              <a:defRPr sz="800">
                <a:solidFill>
                  <a:srgbClr val="000000"/>
                </a:solidFill>
                <a:latin typeface="Courier New"/>
              </a:defRPr>
            </a:pPr>
            <a:r>
              <a:t>│  │        params: { type: 'array', description: 'Parameters' }, │   │</a:t>
            </a:r>
          </a:p>
          <a:p>
            <a:pPr>
              <a:lnSpc>
                <a:spcPct val="100000"/>
              </a:lnSpc>
              <a:spcBef>
                <a:spcPts val="0"/>
              </a:spcBef>
              <a:spcAft>
                <a:spcPts val="100"/>
              </a:spcAft>
              <a:defRPr sz="800">
                <a:solidFill>
                  <a:srgbClr val="000000"/>
                </a:solidFill>
                <a:latin typeface="Courier New"/>
              </a:defRPr>
            </a:pPr>
            <a:r>
              <a:t>│  │        limit: { type: 'integer', description: 'Max rows'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required: ['sql']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handler: async ({ sql, params = [], limit }) =&gt; {       │   │</a:t>
            </a:r>
          </a:p>
          <a:p>
            <a:pPr>
              <a:lnSpc>
                <a:spcPct val="100000"/>
              </a:lnSpc>
              <a:spcBef>
                <a:spcPts val="0"/>
              </a:spcBef>
              <a:spcAft>
                <a:spcPts val="100"/>
              </a:spcAft>
              <a:defRPr sz="800">
                <a:solidFill>
                  <a:srgbClr val="000000"/>
                </a:solidFill>
                <a:latin typeface="Courier New"/>
              </a:defRPr>
            </a:pPr>
            <a:r>
              <a:t>│  │      const db = getConnectionManager();                    │   │</a:t>
            </a:r>
          </a:p>
          <a:p>
            <a:pPr>
              <a:lnSpc>
                <a:spcPct val="100000"/>
              </a:lnSpc>
              <a:spcBef>
                <a:spcPts val="0"/>
              </a:spcBef>
              <a:spcAft>
                <a:spcPts val="100"/>
              </a:spcAft>
              <a:defRPr sz="800">
                <a:solidFill>
                  <a:srgbClr val="000000"/>
                </a:solidFill>
                <a:latin typeface="Courier New"/>
              </a:defRPr>
            </a:pPr>
            <a:r>
              <a:t>│  │      const result = await db.executeQuery(sql, params, limit); │   │</a:t>
            </a:r>
          </a:p>
          <a:p>
            <a:pPr>
              <a:lnSpc>
                <a:spcPct val="100000"/>
              </a:lnSpc>
              <a:spcBef>
                <a:spcPts val="0"/>
              </a:spcBef>
              <a:spcAft>
                <a:spcPts val="100"/>
              </a:spcAft>
              <a:defRPr sz="800">
                <a:solidFill>
                  <a:srgbClr val="000000"/>
                </a:solidFill>
                <a:latin typeface="Courier New"/>
              </a:defRPr>
            </a:pPr>
            <a:r>
              <a:t>│  │      return {                                               │   │</a:t>
            </a:r>
          </a:p>
          <a:p>
            <a:pPr>
              <a:lnSpc>
                <a:spcPct val="100000"/>
              </a:lnSpc>
              <a:spcBef>
                <a:spcPts val="0"/>
              </a:spcBef>
              <a:spcAft>
                <a:spcPts val="100"/>
              </a:spcAft>
              <a:defRPr sz="800">
                <a:solidFill>
                  <a:srgbClr val="000000"/>
                </a:solidFill>
                <a:latin typeface="Courier New"/>
              </a:defRPr>
            </a:pPr>
            <a:r>
              <a:t>│  │        content: [{ type: 'text', text: JSON.stringify(result)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AVAILABLE TOOLS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execute_query — Execute SQL queries                    │   │</a:t>
            </a:r>
          </a:p>
          <a:p>
            <a:pPr>
              <a:lnSpc>
                <a:spcPct val="100000"/>
              </a:lnSpc>
              <a:spcBef>
                <a:spcPts val="0"/>
              </a:spcBef>
              <a:spcAft>
                <a:spcPts val="100"/>
              </a:spcAft>
              <a:defRPr sz="800">
                <a:solidFill>
                  <a:srgbClr val="000000"/>
                </a:solidFill>
                <a:latin typeface="Courier New"/>
              </a:defRPr>
            </a:pPr>
            <a:r>
              <a:t>│  │  🔹 get_schema — Get database schema                      │   │</a:t>
            </a:r>
          </a:p>
          <a:p>
            <a:pPr>
              <a:lnSpc>
                <a:spcPct val="100000"/>
              </a:lnSpc>
              <a:spcBef>
                <a:spcPts val="0"/>
              </a:spcBef>
              <a:spcAft>
                <a:spcPts val="100"/>
              </a:spcAft>
              <a:defRPr sz="800">
                <a:solidFill>
                  <a:srgbClr val="000000"/>
                </a:solidFill>
                <a:latin typeface="Courier New"/>
              </a:defRPr>
            </a:pPr>
            <a:r>
              <a:t>│  │  🔹 create_table — Create new tables                      │   │</a:t>
            </a:r>
          </a:p>
          <a:p>
            <a:pPr>
              <a:lnSpc>
                <a:spcPct val="100000"/>
              </a:lnSpc>
              <a:spcBef>
                <a:spcPts val="0"/>
              </a:spcBef>
              <a:spcAft>
                <a:spcPts val="100"/>
              </a:spcAft>
              <a:defRPr sz="800">
                <a:solidFill>
                  <a:srgbClr val="000000"/>
                </a:solidFill>
                <a:latin typeface="Courier New"/>
              </a:defRPr>
            </a:pPr>
            <a:r>
              <a:t>│  │  🔹 describe_table — Get table metadata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S6.1  Autonomous Agent Architecture</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AUTONOMOUS AGENT ARCHITECTURE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AGENT COMPONENTS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Agent Core                            │   │   │</a:t>
            </a:r>
          </a:p>
          <a:p>
            <a:pPr>
              <a:lnSpc>
                <a:spcPct val="100000"/>
              </a:lnSpc>
              <a:spcBef>
                <a:spcPts val="0"/>
              </a:spcBef>
              <a:spcAft>
                <a:spcPts val="100"/>
              </a:spcAft>
              <a:defRPr sz="800">
                <a:solidFill>
                  <a:srgbClr val="000000"/>
                </a:solidFill>
                <a:latin typeface="Courier New"/>
              </a:defRPr>
            </a:pPr>
            <a:r>
              <a:t>│  │  │  ┌──────────┐  ┌──────────┐  ┌──────────┐        │   │   │</a:t>
            </a:r>
          </a:p>
          <a:p>
            <a:pPr>
              <a:lnSpc>
                <a:spcPct val="100000"/>
              </a:lnSpc>
              <a:spcBef>
                <a:spcPts val="0"/>
              </a:spcBef>
              <a:spcAft>
                <a:spcPts val="100"/>
              </a:spcAft>
              <a:defRPr sz="800">
                <a:solidFill>
                  <a:srgbClr val="000000"/>
                </a:solidFill>
                <a:latin typeface="Courier New"/>
              </a:defRPr>
            </a:pPr>
            <a:r>
              <a:t>│  │  │  │ Planner  │  │Executor  │  │ Reflector│        │   │   │</a:t>
            </a:r>
          </a:p>
          <a:p>
            <a:pPr>
              <a:lnSpc>
                <a:spcPct val="100000"/>
              </a:lnSpc>
              <a:spcBef>
                <a:spcPts val="0"/>
              </a:spcBef>
              <a:spcAft>
                <a:spcPts val="100"/>
              </a:spcAft>
              <a:defRPr sz="800">
                <a:solidFill>
                  <a:srgbClr val="000000"/>
                </a:solidFill>
                <a:latin typeface="Courier New"/>
              </a:defRPr>
            </a:pPr>
            <a:r>
              <a:t>│  │  │  └──────────┘  └──────────┘  └──────────┘        │   │   │</a:t>
            </a:r>
          </a:p>
          <a:p>
            <a:pPr>
              <a:lnSpc>
                <a:spcPct val="100000"/>
              </a:lnSpc>
              <a:spcBef>
                <a:spcPts val="0"/>
              </a:spcBef>
              <a:spcAft>
                <a:spcPts val="100"/>
              </a:spcAft>
              <a:defRPr sz="800">
                <a:solidFill>
                  <a:srgbClr val="000000"/>
                </a:solidFill>
                <a:latin typeface="Courier New"/>
              </a:defRPr>
            </a:pPr>
            <a:r>
              <a:t>│  │  │  ┌──────────┐  ┌──────────┐  ┌──────────┐        │   │   │</a:t>
            </a:r>
          </a:p>
          <a:p>
            <a:pPr>
              <a:lnSpc>
                <a:spcPct val="100000"/>
              </a:lnSpc>
              <a:spcBef>
                <a:spcPts val="0"/>
              </a:spcBef>
              <a:spcAft>
                <a:spcPts val="100"/>
              </a:spcAft>
              <a:defRPr sz="800">
                <a:solidFill>
                  <a:srgbClr val="000000"/>
                </a:solidFill>
                <a:latin typeface="Courier New"/>
              </a:defRPr>
            </a:pPr>
            <a:r>
              <a:t>│  │  │  │ Memory   │  │ Context  │  │  Tools   │        │   │   │</a:t>
            </a:r>
          </a:p>
          <a:p>
            <a:pPr>
              <a:lnSpc>
                <a:spcPct val="100000"/>
              </a:lnSpc>
              <a:spcBef>
                <a:spcPts val="0"/>
              </a:spcBef>
              <a:spcAft>
                <a:spcPts val="100"/>
              </a:spcAft>
              <a:defRPr sz="800">
                <a:solidFill>
                  <a:srgbClr val="000000"/>
                </a:solidFill>
                <a:latin typeface="Courier New"/>
              </a:defRPr>
            </a:pPr>
            <a:r>
              <a:t>│  │  │  │ Manager  │  │ Manager  │  │ Manager  │        │   │   │</a:t>
            </a:r>
          </a:p>
          <a:p>
            <a:pPr>
              <a:lnSpc>
                <a:spcPct val="100000"/>
              </a:lnSpc>
              <a:spcBef>
                <a:spcPts val="0"/>
              </a:spcBef>
              <a:spcAft>
                <a:spcPts val="100"/>
              </a:spcAft>
              <a:defRPr sz="800">
                <a:solidFill>
                  <a:srgbClr val="000000"/>
                </a:solidFill>
                <a:latin typeface="Courier New"/>
              </a:defRPr>
            </a:pPr>
            <a:r>
              <a:t>│  │  │  └──────────┘  └──────────┘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MCP Client Layer                       │   │   │</a:t>
            </a:r>
          </a:p>
          <a:p>
            <a:pPr>
              <a:lnSpc>
                <a:spcPct val="100000"/>
              </a:lnSpc>
              <a:spcBef>
                <a:spcPts val="0"/>
              </a:spcBef>
              <a:spcAft>
                <a:spcPts val="100"/>
              </a:spcAft>
              <a:defRPr sz="800">
                <a:solidFill>
                  <a:srgbClr val="000000"/>
                </a:solidFill>
                <a:latin typeface="Courier New"/>
              </a:defRPr>
            </a:pPr>
            <a:r>
              <a:t>│  │  │  ┌──────────┐  ┌──────────┐  ┌──────────┐        │   │   │</a:t>
            </a:r>
          </a:p>
          <a:p>
            <a:pPr>
              <a:lnSpc>
                <a:spcPct val="100000"/>
              </a:lnSpc>
              <a:spcBef>
                <a:spcPts val="0"/>
              </a:spcBef>
              <a:spcAft>
                <a:spcPts val="100"/>
              </a:spcAft>
              <a:defRPr sz="800">
                <a:solidFill>
                  <a:srgbClr val="000000"/>
                </a:solidFill>
                <a:latin typeface="Courier New"/>
              </a:defRPr>
            </a:pPr>
            <a:r>
              <a:t>│  │  │  │Knowledge │  │Database  │  │  GitHub  │        │   │   │</a:t>
            </a:r>
          </a:p>
          <a:p>
            <a:pPr>
              <a:lnSpc>
                <a:spcPct val="100000"/>
              </a:lnSpc>
              <a:spcBef>
                <a:spcPts val="0"/>
              </a:spcBef>
              <a:spcAft>
                <a:spcPts val="100"/>
              </a:spcAft>
              <a:defRPr sz="800">
                <a:solidFill>
                  <a:srgbClr val="000000"/>
                </a:solidFill>
                <a:latin typeface="Courier New"/>
              </a:defRPr>
            </a:pPr>
            <a:r>
              <a:t>│  │  │  │ Server   │  │ Servers  │  │ Adapter  │        │   │   │</a:t>
            </a:r>
          </a:p>
          <a:p>
            <a:pPr>
              <a:lnSpc>
                <a:spcPct val="100000"/>
              </a:lnSpc>
              <a:spcBef>
                <a:spcPts val="0"/>
              </a:spcBef>
              <a:spcAft>
                <a:spcPts val="100"/>
              </a:spcAft>
              <a:defRPr sz="800">
                <a:solidFill>
                  <a:srgbClr val="000000"/>
                </a:solidFill>
                <a:latin typeface="Courier New"/>
              </a:defRPr>
            </a:pPr>
            <a:r>
              <a:t>│  │  │  └──────────┘  └──────────┘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AGENT CAPABILITIES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Planning — Break down tasks into steps                │   │</a:t>
            </a:r>
          </a:p>
          <a:p>
            <a:pPr>
              <a:lnSpc>
                <a:spcPct val="100000"/>
              </a:lnSpc>
              <a:spcBef>
                <a:spcPts val="0"/>
              </a:spcBef>
              <a:spcAft>
                <a:spcPts val="100"/>
              </a:spcAft>
              <a:defRPr sz="800">
                <a:solidFill>
                  <a:srgbClr val="000000"/>
                </a:solidFill>
                <a:latin typeface="Courier New"/>
              </a:defRPr>
            </a:pPr>
            <a:r>
              <a:t>│  │  ✅ Reasoning — Use LLM for decision making              │   │</a:t>
            </a:r>
          </a:p>
          <a:p>
            <a:pPr>
              <a:lnSpc>
                <a:spcPct val="100000"/>
              </a:lnSpc>
              <a:spcBef>
                <a:spcPts val="0"/>
              </a:spcBef>
              <a:spcAft>
                <a:spcPts val="100"/>
              </a:spcAft>
              <a:defRPr sz="800">
                <a:solidFill>
                  <a:srgbClr val="000000"/>
                </a:solidFill>
                <a:latin typeface="Courier New"/>
              </a:defRPr>
            </a:pPr>
            <a:r>
              <a:t>│  │  ✅ Execution — Use tools to perform actions              │   │</a:t>
            </a:r>
          </a:p>
          <a:p>
            <a:pPr>
              <a:lnSpc>
                <a:spcPct val="100000"/>
              </a:lnSpc>
              <a:spcBef>
                <a:spcPts val="0"/>
              </a:spcBef>
              <a:spcAft>
                <a:spcPts val="100"/>
              </a:spcAft>
              <a:defRPr sz="800">
                <a:solidFill>
                  <a:srgbClr val="000000"/>
                </a:solidFill>
                <a:latin typeface="Courier New"/>
              </a:defRPr>
            </a:pPr>
            <a:r>
              <a:t>│  │  ✅ Reflection — Evaluate outcomes and adjust             │   │</a:t>
            </a:r>
          </a:p>
          <a:p>
            <a:pPr>
              <a:lnSpc>
                <a:spcPct val="100000"/>
              </a:lnSpc>
              <a:spcBef>
                <a:spcPts val="0"/>
              </a:spcBef>
              <a:spcAft>
                <a:spcPts val="100"/>
              </a:spcAft>
              <a:defRPr sz="800">
                <a:solidFill>
                  <a:srgbClr val="000000"/>
                </a:solidFill>
                <a:latin typeface="Courier New"/>
              </a:defRPr>
            </a:pPr>
            <a:r>
              <a:t>│  │  ✅ Memory — Store and retrieve context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S6.2  The Agent Loop</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THE AGENT LOOP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AGENT EXECUTION CYCLE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1. PLAN                         │   │   │   │</a:t>
            </a:r>
          </a:p>
          <a:p>
            <a:pPr>
              <a:lnSpc>
                <a:spcPct val="100000"/>
              </a:lnSpc>
              <a:spcBef>
                <a:spcPts val="0"/>
              </a:spcBef>
              <a:spcAft>
                <a:spcPts val="100"/>
              </a:spcAft>
              <a:defRPr sz="800">
                <a:solidFill>
                  <a:srgbClr val="000000"/>
                </a:solidFill>
                <a:latin typeface="Courier New"/>
              </a:defRPr>
            </a:pPr>
            <a:r>
              <a:t>│  │  │  │   Break goal into steps                      │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2. EXECUTE                      │   │   │   │</a:t>
            </a:r>
          </a:p>
          <a:p>
            <a:pPr>
              <a:lnSpc>
                <a:spcPct val="100000"/>
              </a:lnSpc>
              <a:spcBef>
                <a:spcPts val="0"/>
              </a:spcBef>
              <a:spcAft>
                <a:spcPts val="100"/>
              </a:spcAft>
              <a:defRPr sz="800">
                <a:solidFill>
                  <a:srgbClr val="000000"/>
                </a:solidFill>
                <a:latin typeface="Courier New"/>
              </a:defRPr>
            </a:pPr>
            <a:r>
              <a:t>│  │  │  │   Perform each step using tools              │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3. OBSERVE                      │   │   │   │</a:t>
            </a:r>
          </a:p>
          <a:p>
            <a:pPr>
              <a:lnSpc>
                <a:spcPct val="100000"/>
              </a:lnSpc>
              <a:spcBef>
                <a:spcPts val="0"/>
              </a:spcBef>
              <a:spcAft>
                <a:spcPts val="100"/>
              </a:spcAft>
              <a:defRPr sz="800">
                <a:solidFill>
                  <a:srgbClr val="000000"/>
                </a:solidFill>
                <a:latin typeface="Courier New"/>
              </a:defRPr>
            </a:pPr>
            <a:r>
              <a:t>│  │  │  │   Collect and analyze results               │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4. REFLECT                      │   │   │   │</a:t>
            </a:r>
          </a:p>
          <a:p>
            <a:pPr>
              <a:lnSpc>
                <a:spcPct val="100000"/>
              </a:lnSpc>
              <a:spcBef>
                <a:spcPts val="0"/>
              </a:spcBef>
              <a:spcAft>
                <a:spcPts val="100"/>
              </a:spcAft>
              <a:defRPr sz="800">
                <a:solidFill>
                  <a:srgbClr val="000000"/>
                </a:solidFill>
                <a:latin typeface="Courier New"/>
              </a:defRPr>
            </a:pPr>
            <a:r>
              <a:t>│  │  │  │   Evaluate progress, adjust plan            │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5. REPEAT                       │   │   │   │</a:t>
            </a:r>
          </a:p>
          <a:p>
            <a:pPr>
              <a:lnSpc>
                <a:spcPct val="100000"/>
              </a:lnSpc>
              <a:spcBef>
                <a:spcPts val="0"/>
              </a:spcBef>
              <a:spcAft>
                <a:spcPts val="100"/>
              </a:spcAft>
              <a:defRPr sz="800">
                <a:solidFill>
                  <a:srgbClr val="000000"/>
                </a:solidFill>
                <a:latin typeface="Courier New"/>
              </a:defRPr>
            </a:pPr>
            <a:r>
              <a:t>│  │  │  │   Continue until goal achieved              │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ANALOGY: COOKING DINNER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1. Plan: Decide what to cook and gather recipe            │   │</a:t>
            </a:r>
          </a:p>
          <a:p>
            <a:pPr>
              <a:lnSpc>
                <a:spcPct val="100000"/>
              </a:lnSpc>
              <a:spcBef>
                <a:spcPts val="0"/>
              </a:spcBef>
              <a:spcAft>
                <a:spcPts val="100"/>
              </a:spcAft>
              <a:defRPr sz="800">
                <a:solidFill>
                  <a:srgbClr val="000000"/>
                </a:solidFill>
                <a:latin typeface="Courier New"/>
              </a:defRPr>
            </a:pPr>
            <a:r>
              <a:t>│  │  2. Execute: Chop vegetables, cook pasta                   │   │</a:t>
            </a:r>
          </a:p>
          <a:p>
            <a:pPr>
              <a:lnSpc>
                <a:spcPct val="100000"/>
              </a:lnSpc>
              <a:spcBef>
                <a:spcPts val="0"/>
              </a:spcBef>
              <a:spcAft>
                <a:spcPts val="100"/>
              </a:spcAft>
              <a:defRPr sz="800">
                <a:solidFill>
                  <a:srgbClr val="000000"/>
                </a:solidFill>
                <a:latin typeface="Courier New"/>
              </a:defRPr>
            </a:pPr>
            <a:r>
              <a:t>│  │  3. Observe: Check if pasta is al dente                   │   │</a:t>
            </a:r>
          </a:p>
          <a:p>
            <a:pPr>
              <a:lnSpc>
                <a:spcPct val="100000"/>
              </a:lnSpc>
              <a:spcBef>
                <a:spcPts val="0"/>
              </a:spcBef>
              <a:spcAft>
                <a:spcPts val="100"/>
              </a:spcAft>
              <a:defRPr sz="800">
                <a:solidFill>
                  <a:srgbClr val="000000"/>
                </a:solidFill>
                <a:latin typeface="Courier New"/>
              </a:defRPr>
            </a:pPr>
            <a:r>
              <a:t>│  │  4. Reflect: Add more salt if needed                      │   │</a:t>
            </a:r>
          </a:p>
          <a:p>
            <a:pPr>
              <a:lnSpc>
                <a:spcPct val="100000"/>
              </a:lnSpc>
              <a:spcBef>
                <a:spcPts val="0"/>
              </a:spcBef>
              <a:spcAft>
                <a:spcPts val="100"/>
              </a:spcAft>
              <a:defRPr sz="800">
                <a:solidFill>
                  <a:srgbClr val="000000"/>
                </a:solidFill>
                <a:latin typeface="Courier New"/>
              </a:defRPr>
            </a:pPr>
            <a:r>
              <a:t>│  │  5. Repeat: Continue until dinner is ready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S6.3  Planner Implementation</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PLANNER IMPLEMENTATION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PLANNER CLASS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src/planner.ts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export class Planner {                                     │   │</a:t>
            </a:r>
          </a:p>
          <a:p>
            <a:pPr>
              <a:lnSpc>
                <a:spcPct val="100000"/>
              </a:lnSpc>
              <a:spcBef>
                <a:spcPts val="0"/>
              </a:spcBef>
              <a:spcAft>
                <a:spcPts val="100"/>
              </a:spcAft>
              <a:defRPr sz="800">
                <a:solidFill>
                  <a:srgbClr val="000000"/>
                </a:solidFill>
                <a:latin typeface="Courier New"/>
              </a:defRPr>
            </a:pPr>
            <a:r>
              <a:t>│  │    private memory: SemanticMemory;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createPlan(goal: string): ResearchPlan {               │   │</a:t>
            </a:r>
          </a:p>
          <a:p>
            <a:pPr>
              <a:lnSpc>
                <a:spcPct val="100000"/>
              </a:lnSpc>
              <a:spcBef>
                <a:spcPts val="0"/>
              </a:spcBef>
              <a:spcAft>
                <a:spcPts val="100"/>
              </a:spcAft>
              <a:defRPr sz="800">
                <a:solidFill>
                  <a:srgbClr val="000000"/>
                </a:solidFill>
                <a:latin typeface="Courier New"/>
              </a:defRPr>
            </a:pPr>
            <a:r>
              <a:t>│  │      // Store goal in memory                              │   │</a:t>
            </a:r>
          </a:p>
          <a:p>
            <a:pPr>
              <a:lnSpc>
                <a:spcPct val="100000"/>
              </a:lnSpc>
              <a:spcBef>
                <a:spcPts val="0"/>
              </a:spcBef>
              <a:spcAft>
                <a:spcPts val="100"/>
              </a:spcAft>
              <a:defRPr sz="800">
                <a:solidFill>
                  <a:srgbClr val="000000"/>
                </a:solidFill>
                <a:latin typeface="Courier New"/>
              </a:defRPr>
            </a:pPr>
            <a:r>
              <a:t>│  │      this.memory.add(`Goal: ${goal}`, 'plan', 8);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const plan = {                                        │   │</a:t>
            </a:r>
          </a:p>
          <a:p>
            <a:pPr>
              <a:lnSpc>
                <a:spcPct val="100000"/>
              </a:lnSpc>
              <a:spcBef>
                <a:spcPts val="0"/>
              </a:spcBef>
              <a:spcAft>
                <a:spcPts val="100"/>
              </a:spcAft>
              <a:defRPr sz="800">
                <a:solidFill>
                  <a:srgbClr val="000000"/>
                </a:solidFill>
                <a:latin typeface="Courier New"/>
              </a:defRPr>
            </a:pPr>
            <a:r>
              <a:t>│  │        id: `plan-${Date.now()}`,                           │   │</a:t>
            </a:r>
          </a:p>
          <a:p>
            <a:pPr>
              <a:lnSpc>
                <a:spcPct val="100000"/>
              </a:lnSpc>
              <a:spcBef>
                <a:spcPts val="0"/>
              </a:spcBef>
              <a:spcAft>
                <a:spcPts val="100"/>
              </a:spcAft>
              <a:defRPr sz="800">
                <a:solidFill>
                  <a:srgbClr val="000000"/>
                </a:solidFill>
                <a:latin typeface="Courier New"/>
              </a:defRPr>
            </a:pPr>
            <a:r>
              <a:t>│  │        goal,                                               │   │</a:t>
            </a:r>
          </a:p>
          <a:p>
            <a:pPr>
              <a:lnSpc>
                <a:spcPct val="100000"/>
              </a:lnSpc>
              <a:spcBef>
                <a:spcPts val="0"/>
              </a:spcBef>
              <a:spcAft>
                <a:spcPts val="100"/>
              </a:spcAft>
              <a:defRPr sz="800">
                <a:solidFill>
                  <a:srgbClr val="000000"/>
                </a:solidFill>
                <a:latin typeface="Courier New"/>
              </a:defRPr>
            </a:pPr>
            <a:r>
              <a:t>│  │        steps: this.generateSteps(goal),                    │   │</a:t>
            </a:r>
          </a:p>
          <a:p>
            <a:pPr>
              <a:lnSpc>
                <a:spcPct val="100000"/>
              </a:lnSpc>
              <a:spcBef>
                <a:spcPts val="0"/>
              </a:spcBef>
              <a:spcAft>
                <a:spcPts val="100"/>
              </a:spcAft>
              <a:defRPr sz="800">
                <a:solidFill>
                  <a:srgbClr val="000000"/>
                </a:solidFill>
                <a:latin typeface="Courier New"/>
              </a:defRPr>
            </a:pPr>
            <a:r>
              <a:t>│  │        status: 'planning',                                 │   │</a:t>
            </a:r>
          </a:p>
          <a:p>
            <a:pPr>
              <a:lnSpc>
                <a:spcPct val="100000"/>
              </a:lnSpc>
              <a:spcBef>
                <a:spcPts val="0"/>
              </a:spcBef>
              <a:spcAft>
                <a:spcPts val="100"/>
              </a:spcAft>
              <a:defRPr sz="800">
                <a:solidFill>
                  <a:srgbClr val="000000"/>
                </a:solidFill>
                <a:latin typeface="Courier New"/>
              </a:defRPr>
            </a:pPr>
            <a:r>
              <a:t>│  │        createdAt: new Date()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return plan;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private generateSteps(goal: string): PlanStep[] {     │   │</a:t>
            </a:r>
          </a:p>
          <a:p>
            <a:pPr>
              <a:lnSpc>
                <a:spcPct val="100000"/>
              </a:lnSpc>
              <a:spcBef>
                <a:spcPts val="0"/>
              </a:spcBef>
              <a:spcAft>
                <a:spcPts val="100"/>
              </a:spcAft>
              <a:defRPr sz="800">
                <a:solidFill>
                  <a:srgbClr val="000000"/>
                </a:solidFill>
                <a:latin typeface="Courier New"/>
              </a:defRPr>
            </a:pPr>
            <a:r>
              <a:t>│  │      const steps: PlanStep[]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Step 1: Understand the request                   │   │</a:t>
            </a:r>
          </a:p>
          <a:p>
            <a:pPr>
              <a:lnSpc>
                <a:spcPct val="100000"/>
              </a:lnSpc>
              <a:spcBef>
                <a:spcPts val="0"/>
              </a:spcBef>
              <a:spcAft>
                <a:spcPts val="100"/>
              </a:spcAft>
              <a:defRPr sz="800">
                <a:solidFill>
                  <a:srgbClr val="000000"/>
                </a:solidFill>
                <a:latin typeface="Courier New"/>
              </a:defRPr>
            </a:pPr>
            <a:r>
              <a:t>│  │      steps.push({                                           │   │</a:t>
            </a:r>
          </a:p>
          <a:p>
            <a:pPr>
              <a:lnSpc>
                <a:spcPct val="100000"/>
              </a:lnSpc>
              <a:spcBef>
                <a:spcPts val="0"/>
              </a:spcBef>
              <a:spcAft>
                <a:spcPts val="100"/>
              </a:spcAft>
              <a:defRPr sz="800">
                <a:solidFill>
                  <a:srgbClr val="000000"/>
                </a:solidFill>
                <a:latin typeface="Courier New"/>
              </a:defRPr>
            </a:pPr>
            <a:r>
              <a:t>│  │        id: 'step-1',                                       │   │</a:t>
            </a:r>
          </a:p>
          <a:p>
            <a:pPr>
              <a:lnSpc>
                <a:spcPct val="100000"/>
              </a:lnSpc>
              <a:spcBef>
                <a:spcPts val="0"/>
              </a:spcBef>
              <a:spcAft>
                <a:spcPts val="100"/>
              </a:spcAft>
              <a:defRPr sz="800">
                <a:solidFill>
                  <a:srgbClr val="000000"/>
                </a:solidFill>
                <a:latin typeface="Courier New"/>
              </a:defRPr>
            </a:pPr>
            <a:r>
              <a:t>│  │        description: 'Understand the research request',     │   │</a:t>
            </a:r>
          </a:p>
          <a:p>
            <a:pPr>
              <a:lnSpc>
                <a:spcPct val="100000"/>
              </a:lnSpc>
              <a:spcBef>
                <a:spcPts val="0"/>
              </a:spcBef>
              <a:spcAft>
                <a:spcPts val="100"/>
              </a:spcAft>
              <a:defRPr sz="800">
                <a:solidFill>
                  <a:srgbClr val="000000"/>
                </a:solidFill>
                <a:latin typeface="Courier New"/>
              </a:defRPr>
            </a:pPr>
            <a:r>
              <a:t>│  │        action: 'reflect',                                  │   │</a:t>
            </a:r>
          </a:p>
          <a:p>
            <a:pPr>
              <a:lnSpc>
                <a:spcPct val="100000"/>
              </a:lnSpc>
              <a:spcBef>
                <a:spcPts val="0"/>
              </a:spcBef>
              <a:spcAft>
                <a:spcPts val="100"/>
              </a:spcAft>
              <a:defRPr sz="800">
                <a:solidFill>
                  <a:srgbClr val="000000"/>
                </a:solidFill>
                <a:latin typeface="Courier New"/>
              </a:defRPr>
            </a:pPr>
            <a:r>
              <a:t>│  │        dependencies: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Step 2: Determine data sources                   │   │</a:t>
            </a:r>
          </a:p>
          <a:p>
            <a:pPr>
              <a:lnSpc>
                <a:spcPct val="100000"/>
              </a:lnSpc>
              <a:spcBef>
                <a:spcPts val="0"/>
              </a:spcBef>
              <a:spcAft>
                <a:spcPts val="100"/>
              </a:spcAft>
              <a:defRPr sz="800">
                <a:solidFill>
                  <a:srgbClr val="000000"/>
                </a:solidFill>
                <a:latin typeface="Courier New"/>
              </a:defRPr>
            </a:pPr>
            <a:r>
              <a:t>│  │      steps.push({                                           │   │</a:t>
            </a:r>
          </a:p>
          <a:p>
            <a:pPr>
              <a:lnSpc>
                <a:spcPct val="100000"/>
              </a:lnSpc>
              <a:spcBef>
                <a:spcPts val="0"/>
              </a:spcBef>
              <a:spcAft>
                <a:spcPts val="100"/>
              </a:spcAft>
              <a:defRPr sz="800">
                <a:solidFill>
                  <a:srgbClr val="000000"/>
                </a:solidFill>
                <a:latin typeface="Courier New"/>
              </a:defRPr>
            </a:pPr>
            <a:r>
              <a:t>│  │        id: 'step-2',                                       │   │</a:t>
            </a:r>
          </a:p>
          <a:p>
            <a:pPr>
              <a:lnSpc>
                <a:spcPct val="100000"/>
              </a:lnSpc>
              <a:spcBef>
                <a:spcPts val="0"/>
              </a:spcBef>
              <a:spcAft>
                <a:spcPts val="100"/>
              </a:spcAft>
              <a:defRPr sz="800">
                <a:solidFill>
                  <a:srgbClr val="000000"/>
                </a:solidFill>
                <a:latin typeface="Courier New"/>
              </a:defRPr>
            </a:pPr>
            <a:r>
              <a:t>│  │        description: 'Determine needed data sources',       │   │</a:t>
            </a:r>
          </a:p>
          <a:p>
            <a:pPr>
              <a:lnSpc>
                <a:spcPct val="100000"/>
              </a:lnSpc>
              <a:spcBef>
                <a:spcPts val="0"/>
              </a:spcBef>
              <a:spcAft>
                <a:spcPts val="100"/>
              </a:spcAft>
              <a:defRPr sz="800">
                <a:solidFill>
                  <a:srgbClr val="000000"/>
                </a:solidFill>
                <a:latin typeface="Courier New"/>
              </a:defRPr>
            </a:pPr>
            <a:r>
              <a:t>│  │        action: 'search_knowledge',                         │   │</a:t>
            </a:r>
          </a:p>
          <a:p>
            <a:pPr>
              <a:lnSpc>
                <a:spcPct val="100000"/>
              </a:lnSpc>
              <a:spcBef>
                <a:spcPts val="0"/>
              </a:spcBef>
              <a:spcAft>
                <a:spcPts val="100"/>
              </a:spcAft>
              <a:defRPr sz="800">
                <a:solidFill>
                  <a:srgbClr val="000000"/>
                </a:solidFill>
                <a:latin typeface="Courier New"/>
              </a:defRPr>
            </a:pPr>
            <a:r>
              <a:t>│  │        dependencies: ['step-1']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Step 3: Query data sources                       │   │</a:t>
            </a:r>
          </a:p>
          <a:p>
            <a:pPr>
              <a:lnSpc>
                <a:spcPct val="100000"/>
              </a:lnSpc>
              <a:spcBef>
                <a:spcPts val="0"/>
              </a:spcBef>
              <a:spcAft>
                <a:spcPts val="100"/>
              </a:spcAft>
              <a:defRPr sz="800">
                <a:solidFill>
                  <a:srgbClr val="000000"/>
                </a:solidFill>
                <a:latin typeface="Courier New"/>
              </a:defRPr>
            </a:pPr>
            <a:r>
              <a:t>│  │      steps.push({                                           │   │</a:t>
            </a:r>
          </a:p>
          <a:p>
            <a:pPr>
              <a:lnSpc>
                <a:spcPct val="100000"/>
              </a:lnSpc>
              <a:spcBef>
                <a:spcPts val="0"/>
              </a:spcBef>
              <a:spcAft>
                <a:spcPts val="100"/>
              </a:spcAft>
              <a:defRPr sz="800">
                <a:solidFill>
                  <a:srgbClr val="000000"/>
                </a:solidFill>
                <a:latin typeface="Courier New"/>
              </a:defRPr>
            </a:pPr>
            <a:r>
              <a:t>│  │        id: 'step-3',                                       │   │</a:t>
            </a:r>
          </a:p>
          <a:p>
            <a:pPr>
              <a:lnSpc>
                <a:spcPct val="100000"/>
              </a:lnSpc>
              <a:spcBef>
                <a:spcPts val="0"/>
              </a:spcBef>
              <a:spcAft>
                <a:spcPts val="100"/>
              </a:spcAft>
              <a:defRPr sz="800">
                <a:solidFill>
                  <a:srgbClr val="000000"/>
                </a:solidFill>
                <a:latin typeface="Courier New"/>
              </a:defRPr>
            </a:pPr>
            <a:r>
              <a:t>│  │        description: 'Query data sources',                  │   │</a:t>
            </a:r>
          </a:p>
          <a:p>
            <a:pPr>
              <a:lnSpc>
                <a:spcPct val="100000"/>
              </a:lnSpc>
              <a:spcBef>
                <a:spcPts val="0"/>
              </a:spcBef>
              <a:spcAft>
                <a:spcPts val="100"/>
              </a:spcAft>
              <a:defRPr sz="800">
                <a:solidFill>
                  <a:srgbClr val="000000"/>
                </a:solidFill>
                <a:latin typeface="Courier New"/>
              </a:defRPr>
            </a:pPr>
            <a:r>
              <a:t>│  │        action: 'execute_query',                            │   │</a:t>
            </a:r>
          </a:p>
          <a:p>
            <a:pPr>
              <a:lnSpc>
                <a:spcPct val="100000"/>
              </a:lnSpc>
              <a:spcBef>
                <a:spcPts val="0"/>
              </a:spcBef>
              <a:spcAft>
                <a:spcPts val="100"/>
              </a:spcAft>
              <a:defRPr sz="800">
                <a:solidFill>
                  <a:srgbClr val="000000"/>
                </a:solidFill>
                <a:latin typeface="Courier New"/>
              </a:defRPr>
            </a:pPr>
            <a:r>
              <a:t>│  │        dependencies: ['step-2']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return steps;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S6.4  Memory System</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MEMORY SYSTEM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MEMORY CLASS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src/memory.ts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export class SemanticMemory {                              │   │</a:t>
            </a:r>
          </a:p>
          <a:p>
            <a:pPr>
              <a:lnSpc>
                <a:spcPct val="100000"/>
              </a:lnSpc>
              <a:spcBef>
                <a:spcPts val="0"/>
              </a:spcBef>
              <a:spcAft>
                <a:spcPts val="100"/>
              </a:spcAft>
              <a:defRPr sz="800">
                <a:solidFill>
                  <a:srgbClr val="000000"/>
                </a:solidFill>
                <a:latin typeface="Courier New"/>
              </a:defRPr>
            </a:pPr>
            <a:r>
              <a:t>│  │    private shortTerm: MemoryEntry[] = [];                   │   │</a:t>
            </a:r>
          </a:p>
          <a:p>
            <a:pPr>
              <a:lnSpc>
                <a:spcPct val="100000"/>
              </a:lnSpc>
              <a:spcBef>
                <a:spcPts val="0"/>
              </a:spcBef>
              <a:spcAft>
                <a:spcPts val="100"/>
              </a:spcAft>
              <a:defRPr sz="800">
                <a:solidFill>
                  <a:srgbClr val="000000"/>
                </a:solidFill>
                <a:latin typeface="Courier New"/>
              </a:defRPr>
            </a:pPr>
            <a:r>
              <a:t>│  │    private longTerm: MemoryEntry[] = [];                    │   │</a:t>
            </a:r>
          </a:p>
          <a:p>
            <a:pPr>
              <a:lnSpc>
                <a:spcPct val="100000"/>
              </a:lnSpc>
              <a:spcBef>
                <a:spcPts val="0"/>
              </a:spcBef>
              <a:spcAft>
                <a:spcPts val="100"/>
              </a:spcAft>
              <a:defRPr sz="800">
                <a:solidFill>
                  <a:srgbClr val="000000"/>
                </a:solidFill>
                <a:latin typeface="Courier New"/>
              </a:defRPr>
            </a:pPr>
            <a:r>
              <a:t>│  │    private maxShortTerm: number = 10;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add(content: string, type: MemoryType,                   │   │</a:t>
            </a:r>
          </a:p>
          <a:p>
            <a:pPr>
              <a:lnSpc>
                <a:spcPct val="100000"/>
              </a:lnSpc>
              <a:spcBef>
                <a:spcPts val="0"/>
              </a:spcBef>
              <a:spcAft>
                <a:spcPts val="100"/>
              </a:spcAft>
              <a:defRPr sz="800">
                <a:solidFill>
                  <a:srgbClr val="000000"/>
                </a:solidFill>
                <a:latin typeface="Courier New"/>
              </a:defRPr>
            </a:pPr>
            <a:r>
              <a:t>│  │        importance: number = 5): void {                     │   │</a:t>
            </a:r>
          </a:p>
          <a:p>
            <a:pPr>
              <a:lnSpc>
                <a:spcPct val="100000"/>
              </a:lnSpc>
              <a:spcBef>
                <a:spcPts val="0"/>
              </a:spcBef>
              <a:spcAft>
                <a:spcPts val="100"/>
              </a:spcAft>
              <a:defRPr sz="800">
                <a:solidFill>
                  <a:srgbClr val="000000"/>
                </a:solidFill>
                <a:latin typeface="Courier New"/>
              </a:defRPr>
            </a:pPr>
            <a:r>
              <a:t>│  │      const entry = {                                        │   │</a:t>
            </a:r>
          </a:p>
          <a:p>
            <a:pPr>
              <a:lnSpc>
                <a:spcPct val="100000"/>
              </a:lnSpc>
              <a:spcBef>
                <a:spcPts val="0"/>
              </a:spcBef>
              <a:spcAft>
                <a:spcPts val="100"/>
              </a:spcAft>
              <a:defRPr sz="800">
                <a:solidFill>
                  <a:srgbClr val="000000"/>
                </a:solidFill>
                <a:latin typeface="Courier New"/>
              </a:defRPr>
            </a:pPr>
            <a:r>
              <a:t>│  │        id: `mem-${Date.now()}`,                             │   │</a:t>
            </a:r>
          </a:p>
          <a:p>
            <a:pPr>
              <a:lnSpc>
                <a:spcPct val="100000"/>
              </a:lnSpc>
              <a:spcBef>
                <a:spcPts val="0"/>
              </a:spcBef>
              <a:spcAft>
                <a:spcPts val="100"/>
              </a:spcAft>
              <a:defRPr sz="800">
                <a:solidFill>
                  <a:srgbClr val="000000"/>
                </a:solidFill>
                <a:latin typeface="Courier New"/>
              </a:defRPr>
            </a:pPr>
            <a:r>
              <a:t>│  │        content,                                             │   │</a:t>
            </a:r>
          </a:p>
          <a:p>
            <a:pPr>
              <a:lnSpc>
                <a:spcPct val="100000"/>
              </a:lnSpc>
              <a:spcBef>
                <a:spcPts val="0"/>
              </a:spcBef>
              <a:spcAft>
                <a:spcPts val="100"/>
              </a:spcAft>
              <a:defRPr sz="800">
                <a:solidFill>
                  <a:srgbClr val="000000"/>
                </a:solidFill>
                <a:latin typeface="Courier New"/>
              </a:defRPr>
            </a:pPr>
            <a:r>
              <a:t>│  │        type,                                                │   │</a:t>
            </a:r>
          </a:p>
          <a:p>
            <a:pPr>
              <a:lnSpc>
                <a:spcPct val="100000"/>
              </a:lnSpc>
              <a:spcBef>
                <a:spcPts val="0"/>
              </a:spcBef>
              <a:spcAft>
                <a:spcPts val="100"/>
              </a:spcAft>
              <a:defRPr sz="800">
                <a:solidFill>
                  <a:srgbClr val="000000"/>
                </a:solidFill>
                <a:latin typeface="Courier New"/>
              </a:defRPr>
            </a:pPr>
            <a:r>
              <a:t>│  │        importance,                                          │   │</a:t>
            </a:r>
          </a:p>
          <a:p>
            <a:pPr>
              <a:lnSpc>
                <a:spcPct val="100000"/>
              </a:lnSpc>
              <a:spcBef>
                <a:spcPts val="0"/>
              </a:spcBef>
              <a:spcAft>
                <a:spcPts val="100"/>
              </a:spcAft>
              <a:defRPr sz="800">
                <a:solidFill>
                  <a:srgbClr val="000000"/>
                </a:solidFill>
                <a:latin typeface="Courier New"/>
              </a:defRPr>
            </a:pPr>
            <a:r>
              <a:t>│  │        timestamp: new Date()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this.shortTerm.unshift(entry);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if (this.shortTerm.length &gt; this.maxShortTerm) {     │   │</a:t>
            </a:r>
          </a:p>
          <a:p>
            <a:pPr>
              <a:lnSpc>
                <a:spcPct val="100000"/>
              </a:lnSpc>
              <a:spcBef>
                <a:spcPts val="0"/>
              </a:spcBef>
              <a:spcAft>
                <a:spcPts val="100"/>
              </a:spcAft>
              <a:defRPr sz="800">
                <a:solidFill>
                  <a:srgbClr val="000000"/>
                </a:solidFill>
                <a:latin typeface="Courier New"/>
              </a:defRPr>
            </a:pPr>
            <a:r>
              <a:t>│  │        const moved = this.shortTerm.pop()!;               │   │</a:t>
            </a:r>
          </a:p>
          <a:p>
            <a:pPr>
              <a:lnSpc>
                <a:spcPct val="100000"/>
              </a:lnSpc>
              <a:spcBef>
                <a:spcPts val="0"/>
              </a:spcBef>
              <a:spcAft>
                <a:spcPts val="100"/>
              </a:spcAft>
              <a:defRPr sz="800">
                <a:solidFill>
                  <a:srgbClr val="000000"/>
                </a:solidFill>
                <a:latin typeface="Courier New"/>
              </a:defRPr>
            </a:pPr>
            <a:r>
              <a:t>│  │        if (moved.importance &gt;= 4) {                       │   │</a:t>
            </a:r>
          </a:p>
          <a:p>
            <a:pPr>
              <a:lnSpc>
                <a:spcPct val="100000"/>
              </a:lnSpc>
              <a:spcBef>
                <a:spcPts val="0"/>
              </a:spcBef>
              <a:spcAft>
                <a:spcPts val="100"/>
              </a:spcAft>
              <a:defRPr sz="800">
                <a:solidFill>
                  <a:srgbClr val="000000"/>
                </a:solidFill>
                <a:latin typeface="Courier New"/>
              </a:defRPr>
            </a:pPr>
            <a:r>
              <a:t>│  │          this.longTerm.unshift(moved);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getContext(limit: number = 10): string {              │   │</a:t>
            </a:r>
          </a:p>
          <a:p>
            <a:pPr>
              <a:lnSpc>
                <a:spcPct val="100000"/>
              </a:lnSpc>
              <a:spcBef>
                <a:spcPts val="0"/>
              </a:spcBef>
              <a:spcAft>
                <a:spcPts val="100"/>
              </a:spcAft>
              <a:defRPr sz="800">
                <a:solidFill>
                  <a:srgbClr val="000000"/>
                </a:solidFill>
                <a:latin typeface="Courier New"/>
              </a:defRPr>
            </a:pPr>
            <a:r>
              <a:t>│  │      return this.shortTerm.slice(0, limit).map(e =&gt;      │   │</a:t>
            </a:r>
          </a:p>
          <a:p>
            <a:pPr>
              <a:lnSpc>
                <a:spcPct val="100000"/>
              </a:lnSpc>
              <a:spcBef>
                <a:spcPts val="0"/>
              </a:spcBef>
              <a:spcAft>
                <a:spcPts val="100"/>
              </a:spcAft>
              <a:defRPr sz="800">
                <a:solidFill>
                  <a:srgbClr val="000000"/>
                </a:solidFill>
                <a:latin typeface="Courier New"/>
              </a:defRPr>
            </a:pPr>
            <a:r>
              <a:t>│  │        `[${e.type}] ${e.content}`                         │   │</a:t>
            </a:r>
          </a:p>
          <a:p>
            <a:pPr>
              <a:lnSpc>
                <a:spcPct val="100000"/>
              </a:lnSpc>
              <a:spcBef>
                <a:spcPts val="0"/>
              </a:spcBef>
              <a:spcAft>
                <a:spcPts val="100"/>
              </a:spcAft>
              <a:defRPr sz="800">
                <a:solidFill>
                  <a:srgbClr val="000000"/>
                </a:solidFill>
                <a:latin typeface="Courier New"/>
              </a:defRPr>
            </a:pPr>
            <a:r>
              <a:t>│  │      ).join('\n');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MEMORY TYPES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observation  │  Facts the agent discovered        │   │   │</a:t>
            </a:r>
          </a:p>
          <a:p>
            <a:pPr>
              <a:lnSpc>
                <a:spcPct val="100000"/>
              </a:lnSpc>
              <a:spcBef>
                <a:spcPts val="0"/>
              </a:spcBef>
              <a:spcAft>
                <a:spcPts val="100"/>
              </a:spcAft>
              <a:defRPr sz="800">
                <a:solidFill>
                  <a:srgbClr val="000000"/>
                </a:solidFill>
                <a:latin typeface="Courier New"/>
              </a:defRPr>
            </a:pPr>
            <a:r>
              <a:t>│  │  │  conclusion   │  Insights drawn from observations  │   │   │</a:t>
            </a:r>
          </a:p>
          <a:p>
            <a:pPr>
              <a:lnSpc>
                <a:spcPct val="100000"/>
              </a:lnSpc>
              <a:spcBef>
                <a:spcPts val="0"/>
              </a:spcBef>
              <a:spcAft>
                <a:spcPts val="100"/>
              </a:spcAft>
              <a:defRPr sz="800">
                <a:solidFill>
                  <a:srgbClr val="000000"/>
                </a:solidFill>
                <a:latin typeface="Courier New"/>
              </a:defRPr>
            </a:pPr>
            <a:r>
              <a:t>│  │  │  plan         │  Steps to achieve goals            │   │   │</a:t>
            </a:r>
          </a:p>
          <a:p>
            <a:pPr>
              <a:lnSpc>
                <a:spcPct val="100000"/>
              </a:lnSpc>
              <a:spcBef>
                <a:spcPts val="0"/>
              </a:spcBef>
              <a:spcAft>
                <a:spcPts val="100"/>
              </a:spcAft>
              <a:defRPr sz="800">
                <a:solidFill>
                  <a:srgbClr val="000000"/>
                </a:solidFill>
                <a:latin typeface="Courier New"/>
              </a:defRPr>
            </a:pPr>
            <a:r>
              <a:t>│  │  │  reflection   │  Analysis of progress              │   │   │</a:t>
            </a:r>
          </a:p>
          <a:p>
            <a:pPr>
              <a:lnSpc>
                <a:spcPct val="100000"/>
              </a:lnSpc>
              <a:spcBef>
                <a:spcPts val="0"/>
              </a:spcBef>
              <a:spcAft>
                <a:spcPts val="100"/>
              </a:spcAft>
              <a:defRPr sz="800">
                <a:solidFill>
                  <a:srgbClr val="000000"/>
                </a:solidFill>
                <a:latin typeface="Courier New"/>
              </a:defRPr>
            </a:pPr>
            <a:r>
              <a:t>│  │  │  result       │  Outcomes of actions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S7.1  A2A Architecture</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A2A ARCHITECTURE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MULTI-AGENT SYSTEM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Research   │  │    Coding    │  │   Database   │    │   │</a:t>
            </a:r>
          </a:p>
          <a:p>
            <a:pPr>
              <a:lnSpc>
                <a:spcPct val="100000"/>
              </a:lnSpc>
              <a:spcBef>
                <a:spcPts val="0"/>
              </a:spcBef>
              <a:spcAft>
                <a:spcPts val="100"/>
              </a:spcAft>
              <a:defRPr sz="800">
                <a:solidFill>
                  <a:srgbClr val="000000"/>
                </a:solidFill>
                <a:latin typeface="Courier New"/>
              </a:defRPr>
            </a:pPr>
            <a:r>
              <a:t>│  │  │    Agent     │◄─┼──►  Agent    │◄─┼──►  Agent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A2A Protocol Layer                    │   │   │</a:t>
            </a:r>
          </a:p>
          <a:p>
            <a:pPr>
              <a:lnSpc>
                <a:spcPct val="100000"/>
              </a:lnSpc>
              <a:spcBef>
                <a:spcPts val="0"/>
              </a:spcBef>
              <a:spcAft>
                <a:spcPts val="100"/>
              </a:spcAft>
              <a:defRPr sz="800">
                <a:solidFill>
                  <a:srgbClr val="000000"/>
                </a:solidFill>
                <a:latin typeface="Courier New"/>
              </a:defRPr>
            </a:pPr>
            <a:r>
              <a:t>│  │  │  ┌──────────┐  ┌──────────┐  ┌──────────┐        │   │   │</a:t>
            </a:r>
          </a:p>
          <a:p>
            <a:pPr>
              <a:lnSpc>
                <a:spcPct val="100000"/>
              </a:lnSpc>
              <a:spcBef>
                <a:spcPts val="0"/>
              </a:spcBef>
              <a:spcAft>
                <a:spcPts val="100"/>
              </a:spcAft>
              <a:defRPr sz="800">
                <a:solidFill>
                  <a:srgbClr val="000000"/>
                </a:solidFill>
                <a:latin typeface="Courier New"/>
              </a:defRPr>
            </a:pPr>
            <a:r>
              <a:t>│  │  │  │ Registry │  │  Router  │  │  Message │        │   │   │</a:t>
            </a:r>
          </a:p>
          <a:p>
            <a:pPr>
              <a:lnSpc>
                <a:spcPct val="100000"/>
              </a:lnSpc>
              <a:spcBef>
                <a:spcPts val="0"/>
              </a:spcBef>
              <a:spcAft>
                <a:spcPts val="100"/>
              </a:spcAft>
              <a:defRPr sz="800">
                <a:solidFill>
                  <a:srgbClr val="000000"/>
                </a:solidFill>
                <a:latin typeface="Courier New"/>
              </a:defRPr>
            </a:pPr>
            <a:r>
              <a:t>│  │  │  │          │  │          │  │  Queue   │        │   │   │</a:t>
            </a:r>
          </a:p>
          <a:p>
            <a:pPr>
              <a:lnSpc>
                <a:spcPct val="100000"/>
              </a:lnSpc>
              <a:spcBef>
                <a:spcPts val="0"/>
              </a:spcBef>
              <a:spcAft>
                <a:spcPts val="100"/>
              </a:spcAft>
              <a:defRPr sz="800">
                <a:solidFill>
                  <a:srgbClr val="000000"/>
                </a:solidFill>
                <a:latin typeface="Courier New"/>
              </a:defRPr>
            </a:pPr>
            <a:r>
              <a:t>│  │  │  └──────────┘  └──────────┘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MCP Layer                       │   │   │</a:t>
            </a:r>
          </a:p>
          <a:p>
            <a:pPr>
              <a:lnSpc>
                <a:spcPct val="100000"/>
              </a:lnSpc>
              <a:spcBef>
                <a:spcPts val="0"/>
              </a:spcBef>
              <a:spcAft>
                <a:spcPts val="100"/>
              </a:spcAft>
              <a:defRPr sz="800">
                <a:solidFill>
                  <a:srgbClr val="000000"/>
                </a:solidFill>
                <a:latin typeface="Courier New"/>
              </a:defRPr>
            </a:pPr>
            <a:r>
              <a:t>│  │  │  ┌──────────┐  ┌──────────┐  ┌──────────┐        │   │   │</a:t>
            </a:r>
          </a:p>
          <a:p>
            <a:pPr>
              <a:lnSpc>
                <a:spcPct val="100000"/>
              </a:lnSpc>
              <a:spcBef>
                <a:spcPts val="0"/>
              </a:spcBef>
              <a:spcAft>
                <a:spcPts val="100"/>
              </a:spcAft>
              <a:defRPr sz="800">
                <a:solidFill>
                  <a:srgbClr val="000000"/>
                </a:solidFill>
                <a:latin typeface="Courier New"/>
              </a:defRPr>
            </a:pPr>
            <a:r>
              <a:t>│  │  │  │Knowledge │  │Database  │  │  GitHub  │        │   │   │</a:t>
            </a:r>
          </a:p>
          <a:p>
            <a:pPr>
              <a:lnSpc>
                <a:spcPct val="100000"/>
              </a:lnSpc>
              <a:spcBef>
                <a:spcPts val="0"/>
              </a:spcBef>
              <a:spcAft>
                <a:spcPts val="100"/>
              </a:spcAft>
              <a:defRPr sz="800">
                <a:solidFill>
                  <a:srgbClr val="000000"/>
                </a:solidFill>
                <a:latin typeface="Courier New"/>
              </a:defRPr>
            </a:pPr>
            <a:r>
              <a:t>│  │  │  │ Server   │  │ Server   │  │ Adapter  │        │   │   │</a:t>
            </a:r>
          </a:p>
          <a:p>
            <a:pPr>
              <a:lnSpc>
                <a:spcPct val="100000"/>
              </a:lnSpc>
              <a:spcBef>
                <a:spcPts val="0"/>
              </a:spcBef>
              <a:spcAft>
                <a:spcPts val="100"/>
              </a:spcAft>
              <a:defRPr sz="800">
                <a:solidFill>
                  <a:srgbClr val="000000"/>
                </a:solidFill>
                <a:latin typeface="Courier New"/>
              </a:defRPr>
            </a:pPr>
            <a:r>
              <a:t>│  │  │  └──────────┘  └──────────┘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S7.2  Agent Roles</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AGENT ROLES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ROLE DEFINITIONS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COORDINATOR                                        │   │   │</a:t>
            </a:r>
          </a:p>
          <a:p>
            <a:pPr>
              <a:lnSpc>
                <a:spcPct val="100000"/>
              </a:lnSpc>
              <a:spcBef>
                <a:spcPts val="0"/>
              </a:spcBef>
              <a:spcAft>
                <a:spcPts val="100"/>
              </a:spcAft>
              <a:defRPr sz="800">
                <a:solidFill>
                  <a:srgbClr val="000000"/>
                </a:solidFill>
                <a:latin typeface="Courier New"/>
              </a:defRPr>
            </a:pPr>
            <a:r>
              <a:t>│  │  │  Orchestrates multi-agent workflows                 │   │   │</a:t>
            </a:r>
          </a:p>
          <a:p>
            <a:pPr>
              <a:lnSpc>
                <a:spcPct val="100000"/>
              </a:lnSpc>
              <a:spcBef>
                <a:spcPts val="0"/>
              </a:spcBef>
              <a:spcAft>
                <a:spcPts val="100"/>
              </a:spcAft>
              <a:defRPr sz="800">
                <a:solidFill>
                  <a:srgbClr val="000000"/>
                </a:solidFill>
                <a:latin typeface="Courier New"/>
              </a:defRPr>
            </a:pPr>
            <a:r>
              <a:t>│  │  │  Breaks down goals into tasks                      │   │   │</a:t>
            </a:r>
          </a:p>
          <a:p>
            <a:pPr>
              <a:lnSpc>
                <a:spcPct val="100000"/>
              </a:lnSpc>
              <a:spcBef>
                <a:spcPts val="0"/>
              </a:spcBef>
              <a:spcAft>
                <a:spcPts val="100"/>
              </a:spcAft>
              <a:defRPr sz="800">
                <a:solidFill>
                  <a:srgbClr val="000000"/>
                </a:solidFill>
                <a:latin typeface="Courier New"/>
              </a:defRPr>
            </a:pPr>
            <a:r>
              <a:t>│  │  │  Delegates work to specialized agents              │   │   │</a:t>
            </a:r>
          </a:p>
          <a:p>
            <a:pPr>
              <a:lnSpc>
                <a:spcPct val="100000"/>
              </a:lnSpc>
              <a:spcBef>
                <a:spcPts val="0"/>
              </a:spcBef>
              <a:spcAft>
                <a:spcPts val="100"/>
              </a:spcAft>
              <a:defRPr sz="800">
                <a:solidFill>
                  <a:srgbClr val="000000"/>
                </a:solidFill>
                <a:latin typeface="Courier New"/>
              </a:defRPr>
            </a:pPr>
            <a:r>
              <a:t>│  │  │  Monitors progress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RESEARCHER                                         │   │   │</a:t>
            </a:r>
          </a:p>
          <a:p>
            <a:pPr>
              <a:lnSpc>
                <a:spcPct val="100000"/>
              </a:lnSpc>
              <a:spcBef>
                <a:spcPts val="0"/>
              </a:spcBef>
              <a:spcAft>
                <a:spcPts val="100"/>
              </a:spcAft>
              <a:defRPr sz="800">
                <a:solidFill>
                  <a:srgbClr val="000000"/>
                </a:solidFill>
                <a:latin typeface="Courier New"/>
              </a:defRPr>
            </a:pPr>
            <a:r>
              <a:t>│  │  │  Gathers and analyzes information                   │   │   │</a:t>
            </a:r>
          </a:p>
          <a:p>
            <a:pPr>
              <a:lnSpc>
                <a:spcPct val="100000"/>
              </a:lnSpc>
              <a:spcBef>
                <a:spcPts val="0"/>
              </a:spcBef>
              <a:spcAft>
                <a:spcPts val="100"/>
              </a:spcAft>
              <a:defRPr sz="800">
                <a:solidFill>
                  <a:srgbClr val="000000"/>
                </a:solidFill>
                <a:latin typeface="Courier New"/>
              </a:defRPr>
            </a:pPr>
            <a:r>
              <a:t>│  │  │  Queries knowledge bases and APIs                  │   │   │</a:t>
            </a:r>
          </a:p>
          <a:p>
            <a:pPr>
              <a:lnSpc>
                <a:spcPct val="100000"/>
              </a:lnSpc>
              <a:spcBef>
                <a:spcPts val="0"/>
              </a:spcBef>
              <a:spcAft>
                <a:spcPts val="100"/>
              </a:spcAft>
              <a:defRPr sz="800">
                <a:solidFill>
                  <a:srgbClr val="000000"/>
                </a:solidFill>
                <a:latin typeface="Courier New"/>
              </a:defRPr>
            </a:pPr>
            <a:r>
              <a:t>│  │  │  Synthesizes findings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CODER                                              │   │   │</a:t>
            </a:r>
          </a:p>
          <a:p>
            <a:pPr>
              <a:lnSpc>
                <a:spcPct val="100000"/>
              </a:lnSpc>
              <a:spcBef>
                <a:spcPts val="0"/>
              </a:spcBef>
              <a:spcAft>
                <a:spcPts val="100"/>
              </a:spcAft>
              <a:defRPr sz="800">
                <a:solidFill>
                  <a:srgbClr val="000000"/>
                </a:solidFill>
                <a:latin typeface="Courier New"/>
              </a:defRPr>
            </a:pPr>
            <a:r>
              <a:t>│  │  │  Writes and reviews code                            │   │   │</a:t>
            </a:r>
          </a:p>
          <a:p>
            <a:pPr>
              <a:lnSpc>
                <a:spcPct val="100000"/>
              </a:lnSpc>
              <a:spcBef>
                <a:spcPts val="0"/>
              </a:spcBef>
              <a:spcAft>
                <a:spcPts val="100"/>
              </a:spcAft>
              <a:defRPr sz="800">
                <a:solidFill>
                  <a:srgbClr val="000000"/>
                </a:solidFill>
                <a:latin typeface="Courier New"/>
              </a:defRPr>
            </a:pPr>
            <a:r>
              <a:t>│  │  │  Generates tests                                    │   │   │</a:t>
            </a:r>
          </a:p>
          <a:p>
            <a:pPr>
              <a:lnSpc>
                <a:spcPct val="100000"/>
              </a:lnSpc>
              <a:spcBef>
                <a:spcPts val="0"/>
              </a:spcBef>
              <a:spcAft>
                <a:spcPts val="100"/>
              </a:spcAft>
              <a:defRPr sz="800">
                <a:solidFill>
                  <a:srgbClr val="000000"/>
                </a:solidFill>
                <a:latin typeface="Courier New"/>
              </a:defRPr>
            </a:pPr>
            <a:r>
              <a:t>│  │  │  Refactors and optimizes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DATABASE                                           │   │   │</a:t>
            </a:r>
          </a:p>
          <a:p>
            <a:pPr>
              <a:lnSpc>
                <a:spcPct val="100000"/>
              </a:lnSpc>
              <a:spcBef>
                <a:spcPts val="0"/>
              </a:spcBef>
              <a:spcAft>
                <a:spcPts val="100"/>
              </a:spcAft>
              <a:defRPr sz="800">
                <a:solidFill>
                  <a:srgbClr val="000000"/>
                </a:solidFill>
                <a:latin typeface="Courier New"/>
              </a:defRPr>
            </a:pPr>
            <a:r>
              <a:t>│  │  │  Manages database operations                        │   │   │</a:t>
            </a:r>
          </a:p>
          <a:p>
            <a:pPr>
              <a:lnSpc>
                <a:spcPct val="100000"/>
              </a:lnSpc>
              <a:spcBef>
                <a:spcPts val="0"/>
              </a:spcBef>
              <a:spcAft>
                <a:spcPts val="100"/>
              </a:spcAft>
              <a:defRPr sz="800">
                <a:solidFill>
                  <a:srgbClr val="000000"/>
                </a:solidFill>
                <a:latin typeface="Courier New"/>
              </a:defRPr>
            </a:pPr>
            <a:r>
              <a:t>│  │  │  Executes queries                                   │   │   │</a:t>
            </a:r>
          </a:p>
          <a:p>
            <a:pPr>
              <a:lnSpc>
                <a:spcPct val="100000"/>
              </a:lnSpc>
              <a:spcBef>
                <a:spcPts val="0"/>
              </a:spcBef>
              <a:spcAft>
                <a:spcPts val="100"/>
              </a:spcAft>
              <a:defRPr sz="800">
                <a:solidFill>
                  <a:srgbClr val="000000"/>
                </a:solidFill>
                <a:latin typeface="Courier New"/>
              </a:defRPr>
            </a:pPr>
            <a:r>
              <a:t>│  │  │  Maintains schema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S7.3  A2A Message Flow</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A2A MESSAGE FLOW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DELEGATION PATTERN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Agent   │     │ Coordinator │     │  Agent   │        │   │</a:t>
            </a:r>
          </a:p>
          <a:p>
            <a:pPr>
              <a:lnSpc>
                <a:spcPct val="100000"/>
              </a:lnSpc>
              <a:spcBef>
                <a:spcPts val="0"/>
              </a:spcBef>
              <a:spcAft>
                <a:spcPts val="100"/>
              </a:spcAft>
              <a:defRPr sz="800">
                <a:solidFill>
                  <a:srgbClr val="000000"/>
                </a:solidFill>
                <a:latin typeface="Courier New"/>
              </a:defRPr>
            </a:pPr>
            <a:r>
              <a:t>│  │  │   (A)    │     │    Agent    │     │   (C)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1. Delegate      │                  │              │   │</a:t>
            </a:r>
          </a:p>
          <a:p>
            <a:pPr>
              <a:lnSpc>
                <a:spcPct val="100000"/>
              </a:lnSpc>
              <a:spcBef>
                <a:spcPts val="0"/>
              </a:spcBef>
              <a:spcAft>
                <a:spcPts val="100"/>
              </a:spcAft>
              <a:defRPr sz="800">
                <a:solidFill>
                  <a:srgbClr val="000000"/>
                </a:solidFill>
                <a:latin typeface="Courier New"/>
              </a:defRPr>
            </a:pPr>
            <a:r>
              <a:t>│  │       │─────────────────►│                  │              │   │</a:t>
            </a:r>
          </a:p>
          <a:p>
            <a:pPr>
              <a:lnSpc>
                <a:spcPct val="100000"/>
              </a:lnSpc>
              <a:spcBef>
                <a:spcPts val="0"/>
              </a:spcBef>
              <a:spcAft>
                <a:spcPts val="100"/>
              </a:spcAft>
              <a:defRPr sz="800">
                <a:solidFill>
                  <a:srgbClr val="000000"/>
                </a:solidFill>
                <a:latin typeface="Courier New"/>
              </a:defRPr>
            </a:pPr>
            <a:r>
              <a:t>│  │       │                  │ 2. Find best     │              │   │</a:t>
            </a:r>
          </a:p>
          <a:p>
            <a:pPr>
              <a:lnSpc>
                <a:spcPct val="100000"/>
              </a:lnSpc>
              <a:spcBef>
                <a:spcPts val="0"/>
              </a:spcBef>
              <a:spcAft>
                <a:spcPts val="100"/>
              </a:spcAft>
              <a:defRPr sz="800">
                <a:solidFill>
                  <a:srgbClr val="000000"/>
                </a:solidFill>
                <a:latin typeface="Courier New"/>
              </a:defRPr>
            </a:pPr>
            <a:r>
              <a:t>│  │       │                  │    agent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3. Delegate      │              │   │</a:t>
            </a:r>
          </a:p>
          <a:p>
            <a:pPr>
              <a:lnSpc>
                <a:spcPct val="100000"/>
              </a:lnSpc>
              <a:spcBef>
                <a:spcPts val="0"/>
              </a:spcBef>
              <a:spcAft>
                <a:spcPts val="100"/>
              </a:spcAft>
              <a:defRPr sz="800">
                <a:solidFill>
                  <a:srgbClr val="000000"/>
                </a:solidFill>
                <a:latin typeface="Courier New"/>
              </a:defRPr>
            </a:pPr>
            <a:r>
              <a:t>│  │       │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4. Process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5. Result        │              │   │</a:t>
            </a:r>
          </a:p>
          <a:p>
            <a:pPr>
              <a:lnSpc>
                <a:spcPct val="100000"/>
              </a:lnSpc>
              <a:spcBef>
                <a:spcPts val="0"/>
              </a:spcBef>
              <a:spcAft>
                <a:spcPts val="100"/>
              </a:spcAft>
              <a:defRPr sz="800">
                <a:solidFill>
                  <a:srgbClr val="000000"/>
                </a:solidFill>
                <a:latin typeface="Courier New"/>
              </a:defRPr>
            </a:pPr>
            <a:r>
              <a:t>│  │       │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6. Result        │                  │              │   │</a:t>
            </a:r>
          </a:p>
          <a:p>
            <a:pPr>
              <a:lnSpc>
                <a:spcPct val="100000"/>
              </a:lnSpc>
              <a:spcBef>
                <a:spcPts val="0"/>
              </a:spcBef>
              <a:spcAft>
                <a:spcPts val="100"/>
              </a:spcAft>
              <a:defRPr sz="800">
                <a:solidFill>
                  <a:srgbClr val="000000"/>
                </a:solidFill>
                <a:latin typeface="Courier New"/>
              </a:defRPr>
            </a:pPr>
            <a:r>
              <a:t>│  │       │◄─────────────────│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MESSAGE TYPES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REQUEST     │  Ask for information or action       │   │   │</a:t>
            </a:r>
          </a:p>
          <a:p>
            <a:pPr>
              <a:lnSpc>
                <a:spcPct val="100000"/>
              </a:lnSpc>
              <a:spcBef>
                <a:spcPts val="0"/>
              </a:spcBef>
              <a:spcAft>
                <a:spcPts val="100"/>
              </a:spcAft>
              <a:defRPr sz="800">
                <a:solidFill>
                  <a:srgbClr val="000000"/>
                </a:solidFill>
                <a:latin typeface="Courier New"/>
              </a:defRPr>
            </a:pPr>
            <a:r>
              <a:t>│  │  │  RESPONSE    │  Reply to a request                  │   │   │</a:t>
            </a:r>
          </a:p>
          <a:p>
            <a:pPr>
              <a:lnSpc>
                <a:spcPct val="100000"/>
              </a:lnSpc>
              <a:spcBef>
                <a:spcPts val="0"/>
              </a:spcBef>
              <a:spcAft>
                <a:spcPts val="100"/>
              </a:spcAft>
              <a:defRPr sz="800">
                <a:solidFill>
                  <a:srgbClr val="000000"/>
                </a:solidFill>
                <a:latin typeface="Courier New"/>
              </a:defRPr>
            </a:pPr>
            <a:r>
              <a:t>│  │  │  DELEGATION  │  Assign a task to another agent      │   │   │</a:t>
            </a:r>
          </a:p>
          <a:p>
            <a:pPr>
              <a:lnSpc>
                <a:spcPct val="100000"/>
              </a:lnSpc>
              <a:spcBef>
                <a:spcPts val="0"/>
              </a:spcBef>
              <a:spcAft>
                <a:spcPts val="100"/>
              </a:spcAft>
              <a:defRPr sz="800">
                <a:solidFill>
                  <a:srgbClr val="000000"/>
                </a:solidFill>
                <a:latin typeface="Courier New"/>
              </a:defRPr>
            </a:pPr>
            <a:r>
              <a:t>│  │  │  NOTIFICATION│  Inform of an event                  │   │   │</a:t>
            </a:r>
          </a:p>
          <a:p>
            <a:pPr>
              <a:lnSpc>
                <a:spcPct val="100000"/>
              </a:lnSpc>
              <a:spcBef>
                <a:spcPts val="0"/>
              </a:spcBef>
              <a:spcAft>
                <a:spcPts val="100"/>
              </a:spcAft>
              <a:defRPr sz="800">
                <a:solidFill>
                  <a:srgbClr val="000000"/>
                </a:solidFill>
                <a:latin typeface="Courier New"/>
              </a:defRPr>
            </a:pPr>
            <a:r>
              <a:t>│  │  │  BROADCAST   │  Send to all agents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S8.1  Hierarchical Architecture</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HIERARCHICAL ARCHITECTURE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PYRAMID STRUCTURE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COORDINATOR AGENT                     │   │   │</a:t>
            </a:r>
          </a:p>
          <a:p>
            <a:pPr>
              <a:lnSpc>
                <a:spcPct val="100000"/>
              </a:lnSpc>
              <a:spcBef>
                <a:spcPts val="0"/>
              </a:spcBef>
              <a:spcAft>
                <a:spcPts val="100"/>
              </a:spcAft>
              <a:defRPr sz="800">
                <a:solidFill>
                  <a:srgbClr val="000000"/>
                </a:solidFill>
                <a:latin typeface="Courier New"/>
              </a:defRPr>
            </a:pPr>
            <a:r>
              <a:t>│  │  │   - Receives project requirements                   │   │   │</a:t>
            </a:r>
          </a:p>
          <a:p>
            <a:pPr>
              <a:lnSpc>
                <a:spcPct val="100000"/>
              </a:lnSpc>
              <a:spcBef>
                <a:spcPts val="0"/>
              </a:spcBef>
              <a:spcAft>
                <a:spcPts val="100"/>
              </a:spcAft>
              <a:defRPr sz="800">
                <a:solidFill>
                  <a:srgbClr val="000000"/>
                </a:solidFill>
                <a:latin typeface="Courier New"/>
              </a:defRPr>
            </a:pPr>
            <a:r>
              <a:t>│  │  │   - Creates high-level plan                         │   │   │</a:t>
            </a:r>
          </a:p>
          <a:p>
            <a:pPr>
              <a:lnSpc>
                <a:spcPct val="100000"/>
              </a:lnSpc>
              <a:spcBef>
                <a:spcPts val="0"/>
              </a:spcBef>
              <a:spcAft>
                <a:spcPts val="100"/>
              </a:spcAft>
              <a:defRPr sz="800">
                <a:solidFill>
                  <a:srgbClr val="000000"/>
                </a:solidFill>
                <a:latin typeface="Courier New"/>
              </a:defRPr>
            </a:pPr>
            <a:r>
              <a:t>│  │  │   - Monitors overall progress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SUPERVISOR AGENT                      │   │   │</a:t>
            </a:r>
          </a:p>
          <a:p>
            <a:pPr>
              <a:lnSpc>
                <a:spcPct val="100000"/>
              </a:lnSpc>
              <a:spcBef>
                <a:spcPts val="0"/>
              </a:spcBef>
              <a:spcAft>
                <a:spcPts val="100"/>
              </a:spcAft>
              <a:defRPr sz="800">
                <a:solidFill>
                  <a:srgbClr val="000000"/>
                </a:solidFill>
                <a:latin typeface="Courier New"/>
              </a:defRPr>
            </a:pPr>
            <a:r>
              <a:t>│  │  │   - Breaks down into tasks                          │   │   │</a:t>
            </a:r>
          </a:p>
          <a:p>
            <a:pPr>
              <a:lnSpc>
                <a:spcPct val="100000"/>
              </a:lnSpc>
              <a:spcBef>
                <a:spcPts val="0"/>
              </a:spcBef>
              <a:spcAft>
                <a:spcPts val="100"/>
              </a:spcAft>
              <a:defRPr sz="800">
                <a:solidFill>
                  <a:srgbClr val="000000"/>
                </a:solidFill>
                <a:latin typeface="Courier New"/>
              </a:defRPr>
            </a:pPr>
            <a:r>
              <a:t>│  │  │   - Assigns to workers                              │   │   │</a:t>
            </a:r>
          </a:p>
          <a:p>
            <a:pPr>
              <a:lnSpc>
                <a:spcPct val="100000"/>
              </a:lnSpc>
              <a:spcBef>
                <a:spcPts val="0"/>
              </a:spcBef>
              <a:spcAft>
                <a:spcPts val="100"/>
              </a:spcAft>
              <a:defRPr sz="800">
                <a:solidFill>
                  <a:srgbClr val="000000"/>
                </a:solidFill>
                <a:latin typeface="Courier New"/>
              </a:defRPr>
            </a:pPr>
            <a:r>
              <a:t>│  │  │   - Reviews and merges work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  ┌──────────┐  │   │</a:t>
            </a:r>
          </a:p>
          <a:p>
            <a:pPr>
              <a:lnSpc>
                <a:spcPct val="100000"/>
              </a:lnSpc>
              <a:spcBef>
                <a:spcPts val="0"/>
              </a:spcBef>
              <a:spcAft>
                <a:spcPts val="100"/>
              </a:spcAft>
              <a:defRPr sz="800">
                <a:solidFill>
                  <a:srgbClr val="000000"/>
                </a:solidFill>
                <a:latin typeface="Courier New"/>
              </a:defRPr>
            </a:pPr>
            <a:r>
              <a:t>│  │  │ Research │  │  Coding  │  │  Review  │  │  DevOps  │  │   │</a:t>
            </a:r>
          </a:p>
          <a:p>
            <a:pPr>
              <a:lnSpc>
                <a:spcPct val="100000"/>
              </a:lnSpc>
              <a:spcBef>
                <a:spcPts val="0"/>
              </a:spcBef>
              <a:spcAft>
                <a:spcPts val="100"/>
              </a:spcAft>
              <a:defRPr sz="800">
                <a:solidFill>
                  <a:srgbClr val="000000"/>
                </a:solidFill>
                <a:latin typeface="Courier New"/>
              </a:defRPr>
            </a:pPr>
            <a:r>
              <a:t>│  │  │  Agent   │  │  Agent   │  │  Agent   │  │  Agent   │  │   │</a:t>
            </a:r>
          </a:p>
          <a:p>
            <a:pPr>
              <a:lnSpc>
                <a:spcPct val="100000"/>
              </a:lnSpc>
              <a:spcBef>
                <a:spcPts val="0"/>
              </a:spcBef>
              <a:spcAft>
                <a:spcPts val="100"/>
              </a:spcAft>
              <a:defRPr sz="800">
                <a:solidFill>
                  <a:srgbClr val="000000"/>
                </a:solidFill>
                <a:latin typeface="Courier New"/>
              </a:defRPr>
            </a:pPr>
            <a:r>
              <a:t>│  │  └──────────┘  └──────────┘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BENEFITS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Clear chain of command                                 │   │</a:t>
            </a:r>
          </a:p>
          <a:p>
            <a:pPr>
              <a:lnSpc>
                <a:spcPct val="100000"/>
              </a:lnSpc>
              <a:spcBef>
                <a:spcPts val="0"/>
              </a:spcBef>
              <a:spcAft>
                <a:spcPts val="100"/>
              </a:spcAft>
              <a:defRPr sz="800">
                <a:solidFill>
                  <a:srgbClr val="000000"/>
                </a:solidFill>
                <a:latin typeface="Courier New"/>
              </a:defRPr>
            </a:pPr>
            <a:r>
              <a:t>│  │  ✅ Scalable architecture                                  │   │</a:t>
            </a:r>
          </a:p>
          <a:p>
            <a:pPr>
              <a:lnSpc>
                <a:spcPct val="100000"/>
              </a:lnSpc>
              <a:spcBef>
                <a:spcPts val="0"/>
              </a:spcBef>
              <a:spcAft>
                <a:spcPts val="100"/>
              </a:spcAft>
              <a:defRPr sz="800">
                <a:solidFill>
                  <a:srgbClr val="000000"/>
                </a:solidFill>
                <a:latin typeface="Courier New"/>
              </a:defRPr>
            </a:pPr>
            <a:r>
              <a:t>│  │  ✅ Specialization at each level                          │   │</a:t>
            </a:r>
          </a:p>
          <a:p>
            <a:pPr>
              <a:lnSpc>
                <a:spcPct val="100000"/>
              </a:lnSpc>
              <a:spcBef>
                <a:spcPts val="0"/>
              </a:spcBef>
              <a:spcAft>
                <a:spcPts val="100"/>
              </a:spcAft>
              <a:defRPr sz="800">
                <a:solidFill>
                  <a:srgbClr val="000000"/>
                </a:solidFill>
                <a:latin typeface="Courier New"/>
              </a:defRPr>
            </a:pPr>
            <a:r>
              <a:t>│  │  ✅ Efficient delegation                                   │   │</a:t>
            </a:r>
          </a:p>
          <a:p>
            <a:pPr>
              <a:lnSpc>
                <a:spcPct val="100000"/>
              </a:lnSpc>
              <a:spcBef>
                <a:spcPts val="0"/>
              </a:spcBef>
              <a:spcAft>
                <a:spcPts val="100"/>
              </a:spcAft>
              <a:defRPr sz="800">
                <a:solidFill>
                  <a:srgbClr val="000000"/>
                </a:solidFill>
                <a:latin typeface="Courier New"/>
              </a:defRPr>
            </a:pPr>
            <a:r>
              <a:t>│  │  ✅ Centralized monitoring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S8.2  Shared Memory System</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SHARED MEMORY SYSTEM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SHARED MEMORY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SHARED MEMORY HUB                      │   │   │</a:t>
            </a:r>
          </a:p>
          <a:p>
            <a:pPr>
              <a:lnSpc>
                <a:spcPct val="100000"/>
              </a:lnSpc>
              <a:spcBef>
                <a:spcPts val="0"/>
              </a:spcBef>
              <a:spcAft>
                <a:spcPts val="100"/>
              </a:spcAft>
              <a:defRPr sz="800">
                <a:solidFill>
                  <a:srgbClr val="000000"/>
                </a:solidFill>
                <a:latin typeface="Courier New"/>
              </a:defRPr>
            </a:pPr>
            <a:r>
              <a:t>│  │  │  ┌──────────┐  ┌──────────┐  ┌──────────┐        │   │   │</a:t>
            </a:r>
          </a:p>
          <a:p>
            <a:pPr>
              <a:lnSpc>
                <a:spcPct val="100000"/>
              </a:lnSpc>
              <a:spcBef>
                <a:spcPts val="0"/>
              </a:spcBef>
              <a:spcAft>
                <a:spcPts val="100"/>
              </a:spcAft>
              <a:defRPr sz="800">
                <a:solidFill>
                  <a:srgbClr val="000000"/>
                </a:solidFill>
                <a:latin typeface="Courier New"/>
              </a:defRPr>
            </a:pPr>
            <a:r>
              <a:t>│  │  │  │ Context  │  │Artifacts │  │ Decisions│        │   │   │</a:t>
            </a:r>
          </a:p>
          <a:p>
            <a:pPr>
              <a:lnSpc>
                <a:spcPct val="100000"/>
              </a:lnSpc>
              <a:spcBef>
                <a:spcPts val="0"/>
              </a:spcBef>
              <a:spcAft>
                <a:spcPts val="100"/>
              </a:spcAft>
              <a:defRPr sz="800">
                <a:solidFill>
                  <a:srgbClr val="000000"/>
                </a:solidFill>
                <a:latin typeface="Courier New"/>
              </a:defRPr>
            </a:pPr>
            <a:r>
              <a:t>│  │  │  │ Manager  │  │ Manager  │  │ Manager  │        │   │   │</a:t>
            </a:r>
          </a:p>
          <a:p>
            <a:pPr>
              <a:lnSpc>
                <a:spcPct val="100000"/>
              </a:lnSpc>
              <a:spcBef>
                <a:spcPts val="0"/>
              </a:spcBef>
              <a:spcAft>
                <a:spcPts val="100"/>
              </a:spcAft>
              <a:defRPr sz="800">
                <a:solidFill>
                  <a:srgbClr val="000000"/>
                </a:solidFill>
                <a:latin typeface="Courier New"/>
              </a:defRPr>
            </a:pPr>
            <a:r>
              <a:t>│  │  │  └──────────┘  └──────────┘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  ┌──────────┐       │   │   │</a:t>
            </a:r>
          </a:p>
          <a:p>
            <a:pPr>
              <a:lnSpc>
                <a:spcPct val="100000"/>
              </a:lnSpc>
              <a:spcBef>
                <a:spcPts val="0"/>
              </a:spcBef>
              <a:spcAft>
                <a:spcPts val="100"/>
              </a:spcAft>
              <a:defRPr sz="800">
                <a:solidFill>
                  <a:srgbClr val="000000"/>
                </a:solidFill>
                <a:latin typeface="Courier New"/>
              </a:defRPr>
            </a:pPr>
            <a:r>
              <a:t>│  │  │    │ Research │  │  Coding  │  │Database  │       │   │   │</a:t>
            </a:r>
          </a:p>
          <a:p>
            <a:pPr>
              <a:lnSpc>
                <a:spcPct val="100000"/>
              </a:lnSpc>
              <a:spcBef>
                <a:spcPts val="0"/>
              </a:spcBef>
              <a:spcAft>
                <a:spcPts val="100"/>
              </a:spcAft>
              <a:defRPr sz="800">
                <a:solidFill>
                  <a:srgbClr val="000000"/>
                </a:solidFill>
                <a:latin typeface="Courier New"/>
              </a:defRPr>
            </a:pPr>
            <a:r>
              <a:t>│  │  │    │  Agent   │  │  Agent   │  │  Agent   │       │   │   │</a:t>
            </a:r>
          </a:p>
          <a:p>
            <a:pPr>
              <a:lnSpc>
                <a:spcPct val="100000"/>
              </a:lnSpc>
              <a:spcBef>
                <a:spcPts val="0"/>
              </a:spcBef>
              <a:spcAft>
                <a:spcPts val="100"/>
              </a:spcAft>
              <a:defRPr sz="800">
                <a:solidFill>
                  <a:srgbClr val="000000"/>
                </a:solidFill>
                <a:latin typeface="Courier New"/>
              </a:defRPr>
            </a:pPr>
            <a:r>
              <a:t>│  │  │    └──────────┘  └──────────┘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USE CASES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Project context sharing                                 │   │</a:t>
            </a:r>
          </a:p>
          <a:p>
            <a:pPr>
              <a:lnSpc>
                <a:spcPct val="100000"/>
              </a:lnSpc>
              <a:spcBef>
                <a:spcPts val="0"/>
              </a:spcBef>
              <a:spcAft>
                <a:spcPts val="100"/>
              </a:spcAft>
              <a:defRPr sz="800">
                <a:solidFill>
                  <a:srgbClr val="000000"/>
                </a:solidFill>
                <a:latin typeface="Courier New"/>
              </a:defRPr>
            </a:pPr>
            <a:r>
              <a:t>│  │  ✅ Code artifact storage                                   │   │</a:t>
            </a:r>
          </a:p>
          <a:p>
            <a:pPr>
              <a:lnSpc>
                <a:spcPct val="100000"/>
              </a:lnSpc>
              <a:spcBef>
                <a:spcPts val="0"/>
              </a:spcBef>
              <a:spcAft>
                <a:spcPts val="100"/>
              </a:spcAft>
              <a:defRPr sz="800">
                <a:solidFill>
                  <a:srgbClr val="000000"/>
                </a:solidFill>
                <a:latin typeface="Courier New"/>
              </a:defRPr>
            </a:pPr>
            <a:r>
              <a:t>│  │  ✅ Decision tracking                                       │   │</a:t>
            </a:r>
          </a:p>
          <a:p>
            <a:pPr>
              <a:lnSpc>
                <a:spcPct val="100000"/>
              </a:lnSpc>
              <a:spcBef>
                <a:spcPts val="0"/>
              </a:spcBef>
              <a:spcAft>
                <a:spcPts val="100"/>
              </a:spcAft>
              <a:defRPr sz="800">
                <a:solidFill>
                  <a:srgbClr val="000000"/>
                </a:solidFill>
                <a:latin typeface="Courier New"/>
              </a:defRPr>
            </a:pPr>
            <a:r>
              <a:t>│  │  ✅ State management                                        │   │</a:t>
            </a:r>
          </a:p>
          <a:p>
            <a:pPr>
              <a:lnSpc>
                <a:spcPct val="100000"/>
              </a:lnSpc>
              <a:spcBef>
                <a:spcPts val="0"/>
              </a:spcBef>
              <a:spcAft>
                <a:spcPts val="100"/>
              </a:spcAft>
              <a:defRPr sz="800">
                <a:solidFill>
                  <a:srgbClr val="000000"/>
                </a:solidFill>
                <a:latin typeface="Courier New"/>
              </a:defRPr>
            </a:pPr>
            <a:r>
              <a:t>│  │  ✅ Cross-agent communication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S9.1  Production Architecture</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PRODUCTION ARCHITECTURE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PRODUCTION STACK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LOAD BALANCER                          │   │   │</a:t>
            </a:r>
          </a:p>
          <a:p>
            <a:pPr>
              <a:lnSpc>
                <a:spcPct val="100000"/>
              </a:lnSpc>
              <a:spcBef>
                <a:spcPts val="0"/>
              </a:spcBef>
              <a:spcAft>
                <a:spcPts val="100"/>
              </a:spcAft>
              <a:defRPr sz="800">
                <a:solidFill>
                  <a:srgbClr val="000000"/>
                </a:solidFill>
                <a:latin typeface="Courier New"/>
              </a:defRPr>
            </a:pPr>
            <a:r>
              <a:t>│  │  │         (HAProxy / NGINX)                           │   │   │</a:t>
            </a:r>
          </a:p>
          <a:p>
            <a:pPr>
              <a:lnSpc>
                <a:spcPct val="100000"/>
              </a:lnSpc>
              <a:spcBef>
                <a:spcPts val="0"/>
              </a:spcBef>
              <a:spcAft>
                <a:spcPts val="100"/>
              </a:spcAft>
              <a:defRPr sz="800">
                <a:solidFill>
                  <a:srgbClr val="000000"/>
                </a:solidFill>
                <a:latin typeface="Courier New"/>
              </a:defRPr>
            </a:pPr>
            <a:r>
              <a:t>│  │  │   - SSL Termination                                 │   │   │</a:t>
            </a:r>
          </a:p>
          <a:p>
            <a:pPr>
              <a:lnSpc>
                <a:spcPct val="100000"/>
              </a:lnSpc>
              <a:spcBef>
                <a:spcPts val="0"/>
              </a:spcBef>
              <a:spcAft>
                <a:spcPts val="100"/>
              </a:spcAft>
              <a:defRPr sz="800">
                <a:solidFill>
                  <a:srgbClr val="000000"/>
                </a:solidFill>
                <a:latin typeface="Courier New"/>
              </a:defRPr>
            </a:pPr>
            <a:r>
              <a:t>│  │  │   - Load Balancing                                  │   │   │</a:t>
            </a:r>
          </a:p>
          <a:p>
            <a:pPr>
              <a:lnSpc>
                <a:spcPct val="100000"/>
              </a:lnSpc>
              <a:spcBef>
                <a:spcPts val="0"/>
              </a:spcBef>
              <a:spcAft>
                <a:spcPts val="100"/>
              </a:spcAft>
              <a:defRPr sz="800">
                <a:solidFill>
                  <a:srgbClr val="000000"/>
                </a:solidFill>
                <a:latin typeface="Courier New"/>
              </a:defRPr>
            </a:pPr>
            <a:r>
              <a:t>│  │  │   - Rate Limiting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KUBERNETES CLUSTER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INGRESS CONTROLLER             │   │   │   │</a:t>
            </a:r>
          </a:p>
          <a:p>
            <a:pPr>
              <a:lnSpc>
                <a:spcPct val="100000"/>
              </a:lnSpc>
              <a:spcBef>
                <a:spcPts val="0"/>
              </a:spcBef>
              <a:spcAft>
                <a:spcPts val="100"/>
              </a:spcAft>
              <a:defRPr sz="800">
                <a:solidFill>
                  <a:srgbClr val="000000"/>
                </a:solidFill>
                <a:latin typeface="Courier New"/>
              </a:defRPr>
            </a:pPr>
            <a:r>
              <a:t>│  │  │  │         (Nginx Ingress)                     │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   │   │</a:t>
            </a:r>
          </a:p>
          <a:p>
            <a:pPr>
              <a:lnSpc>
                <a:spcPct val="100000"/>
              </a:lnSpc>
              <a:spcBef>
                <a:spcPts val="0"/>
              </a:spcBef>
              <a:spcAft>
                <a:spcPts val="100"/>
              </a:spcAft>
              <a:defRPr sz="800">
                <a:solidFill>
                  <a:srgbClr val="000000"/>
                </a:solidFill>
                <a:latin typeface="Courier New"/>
              </a:defRPr>
            </a:pPr>
            <a:r>
              <a:t>│  │  │  ┌──────────┐  ┌──────────┐  ┌──────────┐        │   │   │</a:t>
            </a:r>
          </a:p>
          <a:p>
            <a:pPr>
              <a:lnSpc>
                <a:spcPct val="100000"/>
              </a:lnSpc>
              <a:spcBef>
                <a:spcPts val="0"/>
              </a:spcBef>
              <a:spcAft>
                <a:spcPts val="100"/>
              </a:spcAft>
              <a:defRPr sz="800">
                <a:solidFill>
                  <a:srgbClr val="000000"/>
                </a:solidFill>
                <a:latin typeface="Courier New"/>
              </a:defRPr>
            </a:pPr>
            <a:r>
              <a:t>│  │  │  │Knowledge │  │  Agent   │  │  A2A     │        │   │   │</a:t>
            </a:r>
          </a:p>
          <a:p>
            <a:pPr>
              <a:lnSpc>
                <a:spcPct val="100000"/>
              </a:lnSpc>
              <a:spcBef>
                <a:spcPts val="0"/>
              </a:spcBef>
              <a:spcAft>
                <a:spcPts val="100"/>
              </a:spcAft>
              <a:defRPr sz="800">
                <a:solidFill>
                  <a:srgbClr val="000000"/>
                </a:solidFill>
                <a:latin typeface="Courier New"/>
              </a:defRPr>
            </a:pPr>
            <a:r>
              <a:t>│  │  │  │ Service  │  │ Service  │  │ Service  │        │   │   │</a:t>
            </a:r>
          </a:p>
          <a:p>
            <a:pPr>
              <a:lnSpc>
                <a:spcPct val="100000"/>
              </a:lnSpc>
              <a:spcBef>
                <a:spcPts val="0"/>
              </a:spcBef>
              <a:spcAft>
                <a:spcPts val="100"/>
              </a:spcAft>
              <a:defRPr sz="800">
                <a:solidFill>
                  <a:srgbClr val="000000"/>
                </a:solidFill>
                <a:latin typeface="Courier New"/>
              </a:defRPr>
            </a:pPr>
            <a:r>
              <a:t>│  │  │  │ (3 pods) │  │ (2 pods) │  │ (3 pods) │        │   │   │</a:t>
            </a:r>
          </a:p>
          <a:p>
            <a:pPr>
              <a:lnSpc>
                <a:spcPct val="100000"/>
              </a:lnSpc>
              <a:spcBef>
                <a:spcPts val="0"/>
              </a:spcBef>
              <a:spcAft>
                <a:spcPts val="100"/>
              </a:spcAft>
              <a:defRPr sz="800">
                <a:solidFill>
                  <a:srgbClr val="000000"/>
                </a:solidFill>
                <a:latin typeface="Courier New"/>
              </a:defRPr>
            </a:pPr>
            <a:r>
              <a:t>│  │  │  └──────────┘  └──────────┘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OBSERVABILITY STACK                    │   │   │</a:t>
            </a:r>
          </a:p>
          <a:p>
            <a:pPr>
              <a:lnSpc>
                <a:spcPct val="100000"/>
              </a:lnSpc>
              <a:spcBef>
                <a:spcPts val="0"/>
              </a:spcBef>
              <a:spcAft>
                <a:spcPts val="100"/>
              </a:spcAft>
              <a:defRPr sz="800">
                <a:solidFill>
                  <a:srgbClr val="000000"/>
                </a:solidFill>
                <a:latin typeface="Courier New"/>
              </a:defRPr>
            </a:pPr>
            <a:r>
              <a:t>│  │  │  ┌──────────┐  ┌──────────┐  ┌──────────┐        │   │   │</a:t>
            </a:r>
          </a:p>
          <a:p>
            <a:pPr>
              <a:lnSpc>
                <a:spcPct val="100000"/>
              </a:lnSpc>
              <a:spcBef>
                <a:spcPts val="0"/>
              </a:spcBef>
              <a:spcAft>
                <a:spcPts val="100"/>
              </a:spcAft>
              <a:defRPr sz="800">
                <a:solidFill>
                  <a:srgbClr val="000000"/>
                </a:solidFill>
                <a:latin typeface="Courier New"/>
              </a:defRPr>
            </a:pPr>
            <a:r>
              <a:t>│  │  │  │Prometheus│  │ Grafana  │  │   ELK    │        │   │   │</a:t>
            </a:r>
          </a:p>
          <a:p>
            <a:pPr>
              <a:lnSpc>
                <a:spcPct val="100000"/>
              </a:lnSpc>
              <a:spcBef>
                <a:spcPts val="0"/>
              </a:spcBef>
              <a:spcAft>
                <a:spcPts val="100"/>
              </a:spcAft>
              <a:defRPr sz="800">
                <a:solidFill>
                  <a:srgbClr val="000000"/>
                </a:solidFill>
                <a:latin typeface="Courier New"/>
              </a:defRPr>
            </a:pPr>
            <a:r>
              <a:t>│  │  │  │(Metrics) │  │(Dashboards)│ │  (Logs)  │        │   │   │</a:t>
            </a:r>
          </a:p>
          <a:p>
            <a:pPr>
              <a:lnSpc>
                <a:spcPct val="100000"/>
              </a:lnSpc>
              <a:spcBef>
                <a:spcPts val="0"/>
              </a:spcBef>
              <a:spcAft>
                <a:spcPts val="100"/>
              </a:spcAft>
              <a:defRPr sz="800">
                <a:solidFill>
                  <a:srgbClr val="000000"/>
                </a:solidFill>
                <a:latin typeface="Courier New"/>
              </a:defRPr>
            </a:pPr>
            <a:r>
              <a:t>│  │  │  └──────────┘  └──────────┘  └──────────┘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S9.2  Docker Containerization</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DOCKER CONTAINERIZATION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DOCKERFILE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Stage 1: Builder                                        │   │</a:t>
            </a:r>
          </a:p>
          <a:p>
            <a:pPr>
              <a:lnSpc>
                <a:spcPct val="100000"/>
              </a:lnSpc>
              <a:spcBef>
                <a:spcPts val="0"/>
              </a:spcBef>
              <a:spcAft>
                <a:spcPts val="100"/>
              </a:spcAft>
              <a:defRPr sz="800">
                <a:solidFill>
                  <a:srgbClr val="000000"/>
                </a:solidFill>
                <a:latin typeface="Courier New"/>
              </a:defRPr>
            </a:pPr>
            <a:r>
              <a:t>│  │  FROM node:20-alpine AS builder                            │   │</a:t>
            </a:r>
          </a:p>
          <a:p>
            <a:pPr>
              <a:lnSpc>
                <a:spcPct val="100000"/>
              </a:lnSpc>
              <a:spcBef>
                <a:spcPts val="0"/>
              </a:spcBef>
              <a:spcAft>
                <a:spcPts val="100"/>
              </a:spcAft>
              <a:defRPr sz="800">
                <a:solidFill>
                  <a:srgbClr val="000000"/>
                </a:solidFill>
                <a:latin typeface="Courier New"/>
              </a:defRPr>
            </a:pPr>
            <a:r>
              <a:t>│  │  WORKDIR /app                                              │   │</a:t>
            </a:r>
          </a:p>
          <a:p>
            <a:pPr>
              <a:lnSpc>
                <a:spcPct val="100000"/>
              </a:lnSpc>
              <a:spcBef>
                <a:spcPts val="0"/>
              </a:spcBef>
              <a:spcAft>
                <a:spcPts val="100"/>
              </a:spcAft>
              <a:defRPr sz="800">
                <a:solidFill>
                  <a:srgbClr val="000000"/>
                </a:solidFill>
                <a:latin typeface="Courier New"/>
              </a:defRPr>
            </a:pPr>
            <a:r>
              <a:t>│  │  COPY package*.json ./                                     │   │</a:t>
            </a:r>
          </a:p>
          <a:p>
            <a:pPr>
              <a:lnSpc>
                <a:spcPct val="100000"/>
              </a:lnSpc>
              <a:spcBef>
                <a:spcPts val="0"/>
              </a:spcBef>
              <a:spcAft>
                <a:spcPts val="100"/>
              </a:spcAft>
              <a:defRPr sz="800">
                <a:solidFill>
                  <a:srgbClr val="000000"/>
                </a:solidFill>
                <a:latin typeface="Courier New"/>
              </a:defRPr>
            </a:pPr>
            <a:r>
              <a:t>│  │  RUN npm ci                                                │   │</a:t>
            </a:r>
          </a:p>
          <a:p>
            <a:pPr>
              <a:lnSpc>
                <a:spcPct val="100000"/>
              </a:lnSpc>
              <a:spcBef>
                <a:spcPts val="0"/>
              </a:spcBef>
              <a:spcAft>
                <a:spcPts val="100"/>
              </a:spcAft>
              <a:defRPr sz="800">
                <a:solidFill>
                  <a:srgbClr val="000000"/>
                </a:solidFill>
                <a:latin typeface="Courier New"/>
              </a:defRPr>
            </a:pPr>
            <a:r>
              <a:t>│  │  COPY src/ ./src/                                          │   │</a:t>
            </a:r>
          </a:p>
          <a:p>
            <a:pPr>
              <a:lnSpc>
                <a:spcPct val="100000"/>
              </a:lnSpc>
              <a:spcBef>
                <a:spcPts val="0"/>
              </a:spcBef>
              <a:spcAft>
                <a:spcPts val="100"/>
              </a:spcAft>
              <a:defRPr sz="800">
                <a:solidFill>
                  <a:srgbClr val="000000"/>
                </a:solidFill>
                <a:latin typeface="Courier New"/>
              </a:defRPr>
            </a:pPr>
            <a:r>
              <a:t>│  │  RUN npm run build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Stage 2: Production                                     │   │</a:t>
            </a:r>
          </a:p>
          <a:p>
            <a:pPr>
              <a:lnSpc>
                <a:spcPct val="100000"/>
              </a:lnSpc>
              <a:spcBef>
                <a:spcPts val="0"/>
              </a:spcBef>
              <a:spcAft>
                <a:spcPts val="100"/>
              </a:spcAft>
              <a:defRPr sz="800">
                <a:solidFill>
                  <a:srgbClr val="000000"/>
                </a:solidFill>
                <a:latin typeface="Courier New"/>
              </a:defRPr>
            </a:pPr>
            <a:r>
              <a:t>│  │  FROM node:20-alpine                                       │   │</a:t>
            </a:r>
          </a:p>
          <a:p>
            <a:pPr>
              <a:lnSpc>
                <a:spcPct val="100000"/>
              </a:lnSpc>
              <a:spcBef>
                <a:spcPts val="0"/>
              </a:spcBef>
              <a:spcAft>
                <a:spcPts val="100"/>
              </a:spcAft>
              <a:defRPr sz="800">
                <a:solidFill>
                  <a:srgbClr val="000000"/>
                </a:solidFill>
                <a:latin typeface="Courier New"/>
              </a:defRPr>
            </a:pPr>
            <a:r>
              <a:t>│  │  WORKDIR /app                                              │   │</a:t>
            </a:r>
          </a:p>
          <a:p>
            <a:pPr>
              <a:lnSpc>
                <a:spcPct val="100000"/>
              </a:lnSpc>
              <a:spcBef>
                <a:spcPts val="0"/>
              </a:spcBef>
              <a:spcAft>
                <a:spcPts val="100"/>
              </a:spcAft>
              <a:defRPr sz="800">
                <a:solidFill>
                  <a:srgbClr val="000000"/>
                </a:solidFill>
                <a:latin typeface="Courier New"/>
              </a:defRPr>
            </a:pPr>
            <a:r>
              <a:t>│  │  COPY --from=builder /app/dist ./dist                     │   │</a:t>
            </a:r>
          </a:p>
          <a:p>
            <a:pPr>
              <a:lnSpc>
                <a:spcPct val="100000"/>
              </a:lnSpc>
              <a:spcBef>
                <a:spcPts val="0"/>
              </a:spcBef>
              <a:spcAft>
                <a:spcPts val="100"/>
              </a:spcAft>
              <a:defRPr sz="800">
                <a:solidFill>
                  <a:srgbClr val="000000"/>
                </a:solidFill>
                <a:latin typeface="Courier New"/>
              </a:defRPr>
            </a:pPr>
            <a:r>
              <a:t>│  │  COPY --from=builder /app/node_modules ./node_modules     │   │</a:t>
            </a:r>
          </a:p>
          <a:p>
            <a:pPr>
              <a:lnSpc>
                <a:spcPct val="100000"/>
              </a:lnSpc>
              <a:spcBef>
                <a:spcPts val="0"/>
              </a:spcBef>
              <a:spcAft>
                <a:spcPts val="100"/>
              </a:spcAft>
              <a:defRPr sz="800">
                <a:solidFill>
                  <a:srgbClr val="000000"/>
                </a:solidFill>
                <a:latin typeface="Courier New"/>
              </a:defRPr>
            </a:pPr>
            <a:r>
              <a:t>│  │  USER nodejs                                               │   │</a:t>
            </a:r>
          </a:p>
          <a:p>
            <a:pPr>
              <a:lnSpc>
                <a:spcPct val="100000"/>
              </a:lnSpc>
              <a:spcBef>
                <a:spcPts val="0"/>
              </a:spcBef>
              <a:spcAft>
                <a:spcPts val="100"/>
              </a:spcAft>
              <a:defRPr sz="800">
                <a:solidFill>
                  <a:srgbClr val="000000"/>
                </a:solidFill>
                <a:latin typeface="Courier New"/>
              </a:defRPr>
            </a:pPr>
            <a:r>
              <a:t>│  │  EXPOSE 3000                                               │   │</a:t>
            </a:r>
          </a:p>
          <a:p>
            <a:pPr>
              <a:lnSpc>
                <a:spcPct val="100000"/>
              </a:lnSpc>
              <a:spcBef>
                <a:spcPts val="0"/>
              </a:spcBef>
              <a:spcAft>
                <a:spcPts val="100"/>
              </a:spcAft>
              <a:defRPr sz="800">
                <a:solidFill>
                  <a:srgbClr val="000000"/>
                </a:solidFill>
                <a:latin typeface="Courier New"/>
              </a:defRPr>
            </a:pPr>
            <a:r>
              <a:t>│  │  CMD ["node", "dist/index.js"]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BEST PRACTICES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Multi-stage builds (smaller images)                    │   │</a:t>
            </a:r>
          </a:p>
          <a:p>
            <a:pPr>
              <a:lnSpc>
                <a:spcPct val="100000"/>
              </a:lnSpc>
              <a:spcBef>
                <a:spcPts val="0"/>
              </a:spcBef>
              <a:spcAft>
                <a:spcPts val="100"/>
              </a:spcAft>
              <a:defRPr sz="800">
                <a:solidFill>
                  <a:srgbClr val="000000"/>
                </a:solidFill>
                <a:latin typeface="Courier New"/>
              </a:defRPr>
            </a:pPr>
            <a:r>
              <a:t>│  │  ✅ Use Alpine base images (smaller)                       │   │</a:t>
            </a:r>
          </a:p>
          <a:p>
            <a:pPr>
              <a:lnSpc>
                <a:spcPct val="100000"/>
              </a:lnSpc>
              <a:spcBef>
                <a:spcPts val="0"/>
              </a:spcBef>
              <a:spcAft>
                <a:spcPts val="100"/>
              </a:spcAft>
              <a:defRPr sz="800">
                <a:solidFill>
                  <a:srgbClr val="000000"/>
                </a:solidFill>
                <a:latin typeface="Courier New"/>
              </a:defRPr>
            </a:pPr>
            <a:r>
              <a:t>│  │  ✅ Run as non-root user                                   │   │</a:t>
            </a:r>
          </a:p>
          <a:p>
            <a:pPr>
              <a:lnSpc>
                <a:spcPct val="100000"/>
              </a:lnSpc>
              <a:spcBef>
                <a:spcPts val="0"/>
              </a:spcBef>
              <a:spcAft>
                <a:spcPts val="100"/>
              </a:spcAft>
              <a:defRPr sz="800">
                <a:solidFill>
                  <a:srgbClr val="000000"/>
                </a:solidFill>
                <a:latin typeface="Courier New"/>
              </a:defRPr>
            </a:pPr>
            <a:r>
              <a:t>│  │  ✅ Copy only what's needed                                │   │</a:t>
            </a:r>
          </a:p>
          <a:p>
            <a:pPr>
              <a:lnSpc>
                <a:spcPct val="100000"/>
              </a:lnSpc>
              <a:spcBef>
                <a:spcPts val="0"/>
              </a:spcBef>
              <a:spcAft>
                <a:spcPts val="100"/>
              </a:spcAft>
              <a:defRPr sz="800">
                <a:solidFill>
                  <a:srgbClr val="000000"/>
                </a:solidFill>
                <a:latin typeface="Courier New"/>
              </a:defRPr>
            </a:pPr>
            <a:r>
              <a:t>│  │  ✅ Use .dockerignore                                      │   │</a:t>
            </a:r>
          </a:p>
          <a:p>
            <a:pPr>
              <a:lnSpc>
                <a:spcPct val="100000"/>
              </a:lnSpc>
              <a:spcBef>
                <a:spcPts val="0"/>
              </a:spcBef>
              <a:spcAft>
                <a:spcPts val="100"/>
              </a:spcAft>
              <a:defRPr sz="800">
                <a:solidFill>
                  <a:srgbClr val="000000"/>
                </a:solidFill>
                <a:latin typeface="Courier New"/>
              </a:defRPr>
            </a:pPr>
            <a:r>
              <a:t>│  │  ✅ Layer caching for faster builds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S9.3  Kubernetes Deployment</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KUBERNETES DEPLOYMENT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DEPLOYMENT YAML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apiVersion: apps/v1                                        │   │</a:t>
            </a:r>
          </a:p>
          <a:p>
            <a:pPr>
              <a:lnSpc>
                <a:spcPct val="100000"/>
              </a:lnSpc>
              <a:spcBef>
                <a:spcPts val="0"/>
              </a:spcBef>
              <a:spcAft>
                <a:spcPts val="100"/>
              </a:spcAft>
              <a:defRPr sz="800">
                <a:solidFill>
                  <a:srgbClr val="000000"/>
                </a:solidFill>
                <a:latin typeface="Courier New"/>
              </a:defRPr>
            </a:pPr>
            <a:r>
              <a:t>│  │  kind: Deployment                                           │   │</a:t>
            </a:r>
          </a:p>
          <a:p>
            <a:pPr>
              <a:lnSpc>
                <a:spcPct val="100000"/>
              </a:lnSpc>
              <a:spcBef>
                <a:spcPts val="0"/>
              </a:spcBef>
              <a:spcAft>
                <a:spcPts val="100"/>
              </a:spcAft>
              <a:defRPr sz="800">
                <a:solidFill>
                  <a:srgbClr val="000000"/>
                </a:solidFill>
                <a:latin typeface="Courier New"/>
              </a:defRPr>
            </a:pPr>
            <a:r>
              <a:t>│  │  metadata:                                                  │   │</a:t>
            </a:r>
          </a:p>
          <a:p>
            <a:pPr>
              <a:lnSpc>
                <a:spcPct val="100000"/>
              </a:lnSpc>
              <a:spcBef>
                <a:spcPts val="0"/>
              </a:spcBef>
              <a:spcAft>
                <a:spcPts val="100"/>
              </a:spcAft>
              <a:defRPr sz="800">
                <a:solidFill>
                  <a:srgbClr val="000000"/>
                </a:solidFill>
                <a:latin typeface="Courier New"/>
              </a:defRPr>
            </a:pPr>
            <a:r>
              <a:t>│  │    name: knowledge-server                                   │   │</a:t>
            </a:r>
          </a:p>
          <a:p>
            <a:pPr>
              <a:lnSpc>
                <a:spcPct val="100000"/>
              </a:lnSpc>
              <a:spcBef>
                <a:spcPts val="0"/>
              </a:spcBef>
              <a:spcAft>
                <a:spcPts val="100"/>
              </a:spcAft>
              <a:defRPr sz="800">
                <a:solidFill>
                  <a:srgbClr val="000000"/>
                </a:solidFill>
                <a:latin typeface="Courier New"/>
              </a:defRPr>
            </a:pPr>
            <a:r>
              <a:t>│  │    namespace: ai-platform                                   │   │</a:t>
            </a:r>
          </a:p>
          <a:p>
            <a:pPr>
              <a:lnSpc>
                <a:spcPct val="100000"/>
              </a:lnSpc>
              <a:spcBef>
                <a:spcPts val="0"/>
              </a:spcBef>
              <a:spcAft>
                <a:spcPts val="100"/>
              </a:spcAft>
              <a:defRPr sz="800">
                <a:solidFill>
                  <a:srgbClr val="000000"/>
                </a:solidFill>
                <a:latin typeface="Courier New"/>
              </a:defRPr>
            </a:pPr>
            <a:r>
              <a:t>│  │  spec:                                                      │   │</a:t>
            </a:r>
          </a:p>
          <a:p>
            <a:pPr>
              <a:lnSpc>
                <a:spcPct val="100000"/>
              </a:lnSpc>
              <a:spcBef>
                <a:spcPts val="0"/>
              </a:spcBef>
              <a:spcAft>
                <a:spcPts val="100"/>
              </a:spcAft>
              <a:defRPr sz="800">
                <a:solidFill>
                  <a:srgbClr val="000000"/>
                </a:solidFill>
                <a:latin typeface="Courier New"/>
              </a:defRPr>
            </a:pPr>
            <a:r>
              <a:t>│  │    replicas: 3                                              │   │</a:t>
            </a:r>
          </a:p>
          <a:p>
            <a:pPr>
              <a:lnSpc>
                <a:spcPct val="100000"/>
              </a:lnSpc>
              <a:spcBef>
                <a:spcPts val="0"/>
              </a:spcBef>
              <a:spcAft>
                <a:spcPts val="100"/>
              </a:spcAft>
              <a:defRPr sz="800">
                <a:solidFill>
                  <a:srgbClr val="000000"/>
                </a:solidFill>
                <a:latin typeface="Courier New"/>
              </a:defRPr>
            </a:pPr>
            <a:r>
              <a:t>│  │    selector:                                                │   │</a:t>
            </a:r>
          </a:p>
          <a:p>
            <a:pPr>
              <a:lnSpc>
                <a:spcPct val="100000"/>
              </a:lnSpc>
              <a:spcBef>
                <a:spcPts val="0"/>
              </a:spcBef>
              <a:spcAft>
                <a:spcPts val="100"/>
              </a:spcAft>
              <a:defRPr sz="800">
                <a:solidFill>
                  <a:srgbClr val="000000"/>
                </a:solidFill>
                <a:latin typeface="Courier New"/>
              </a:defRPr>
            </a:pPr>
            <a:r>
              <a:t>│  │      matchLabels:                                           │   │</a:t>
            </a:r>
          </a:p>
          <a:p>
            <a:pPr>
              <a:lnSpc>
                <a:spcPct val="100000"/>
              </a:lnSpc>
              <a:spcBef>
                <a:spcPts val="0"/>
              </a:spcBef>
              <a:spcAft>
                <a:spcPts val="100"/>
              </a:spcAft>
              <a:defRPr sz="800">
                <a:solidFill>
                  <a:srgbClr val="000000"/>
                </a:solidFill>
                <a:latin typeface="Courier New"/>
              </a:defRPr>
            </a:pPr>
            <a:r>
              <a:t>│  │        app: knowledge-server                                │   │</a:t>
            </a:r>
          </a:p>
          <a:p>
            <a:pPr>
              <a:lnSpc>
                <a:spcPct val="100000"/>
              </a:lnSpc>
              <a:spcBef>
                <a:spcPts val="0"/>
              </a:spcBef>
              <a:spcAft>
                <a:spcPts val="100"/>
              </a:spcAft>
              <a:defRPr sz="800">
                <a:solidFill>
                  <a:srgbClr val="000000"/>
                </a:solidFill>
                <a:latin typeface="Courier New"/>
              </a:defRPr>
            </a:pPr>
            <a:r>
              <a:t>│  │    template:                                                │   │</a:t>
            </a:r>
          </a:p>
          <a:p>
            <a:pPr>
              <a:lnSpc>
                <a:spcPct val="100000"/>
              </a:lnSpc>
              <a:spcBef>
                <a:spcPts val="0"/>
              </a:spcBef>
              <a:spcAft>
                <a:spcPts val="100"/>
              </a:spcAft>
              <a:defRPr sz="800">
                <a:solidFill>
                  <a:srgbClr val="000000"/>
                </a:solidFill>
                <a:latin typeface="Courier New"/>
              </a:defRPr>
            </a:pPr>
            <a:r>
              <a:t>│  │      metadata:                                              │   │</a:t>
            </a:r>
          </a:p>
          <a:p>
            <a:pPr>
              <a:lnSpc>
                <a:spcPct val="100000"/>
              </a:lnSpc>
              <a:spcBef>
                <a:spcPts val="0"/>
              </a:spcBef>
              <a:spcAft>
                <a:spcPts val="100"/>
              </a:spcAft>
              <a:defRPr sz="800">
                <a:solidFill>
                  <a:srgbClr val="000000"/>
                </a:solidFill>
                <a:latin typeface="Courier New"/>
              </a:defRPr>
            </a:pPr>
            <a:r>
              <a:t>│  │        labels:                                              │   │</a:t>
            </a:r>
          </a:p>
          <a:p>
            <a:pPr>
              <a:lnSpc>
                <a:spcPct val="100000"/>
              </a:lnSpc>
              <a:spcBef>
                <a:spcPts val="0"/>
              </a:spcBef>
              <a:spcAft>
                <a:spcPts val="100"/>
              </a:spcAft>
              <a:defRPr sz="800">
                <a:solidFill>
                  <a:srgbClr val="000000"/>
                </a:solidFill>
                <a:latin typeface="Courier New"/>
              </a:defRPr>
            </a:pPr>
            <a:r>
              <a:t>│  │          app: knowledge-server                              │   │</a:t>
            </a:r>
          </a:p>
          <a:p>
            <a:pPr>
              <a:lnSpc>
                <a:spcPct val="100000"/>
              </a:lnSpc>
              <a:spcBef>
                <a:spcPts val="0"/>
              </a:spcBef>
              <a:spcAft>
                <a:spcPts val="100"/>
              </a:spcAft>
              <a:defRPr sz="800">
                <a:solidFill>
                  <a:srgbClr val="000000"/>
                </a:solidFill>
                <a:latin typeface="Courier New"/>
              </a:defRPr>
            </a:pPr>
            <a:r>
              <a:t>│  │      spec:                                                  │   │</a:t>
            </a:r>
          </a:p>
          <a:p>
            <a:pPr>
              <a:lnSpc>
                <a:spcPct val="100000"/>
              </a:lnSpc>
              <a:spcBef>
                <a:spcPts val="0"/>
              </a:spcBef>
              <a:spcAft>
                <a:spcPts val="100"/>
              </a:spcAft>
              <a:defRPr sz="800">
                <a:solidFill>
                  <a:srgbClr val="000000"/>
                </a:solidFill>
                <a:latin typeface="Courier New"/>
              </a:defRPr>
            </a:pPr>
            <a:r>
              <a:t>│  │        containers:                                          │   │</a:t>
            </a:r>
          </a:p>
          <a:p>
            <a:pPr>
              <a:lnSpc>
                <a:spcPct val="100000"/>
              </a:lnSpc>
              <a:spcBef>
                <a:spcPts val="0"/>
              </a:spcBef>
              <a:spcAft>
                <a:spcPts val="100"/>
              </a:spcAft>
              <a:defRPr sz="800">
                <a:solidFill>
                  <a:srgbClr val="000000"/>
                </a:solidFill>
                <a:latin typeface="Courier New"/>
              </a:defRPr>
            </a:pPr>
            <a:r>
              <a:t>│  │        - name: knowledge-server                             │   │</a:t>
            </a:r>
          </a:p>
          <a:p>
            <a:pPr>
              <a:lnSpc>
                <a:spcPct val="100000"/>
              </a:lnSpc>
              <a:spcBef>
                <a:spcPts val="0"/>
              </a:spcBef>
              <a:spcAft>
                <a:spcPts val="100"/>
              </a:spcAft>
              <a:defRPr sz="800">
                <a:solidFill>
                  <a:srgbClr val="000000"/>
                </a:solidFill>
                <a:latin typeface="Courier New"/>
              </a:defRPr>
            </a:pPr>
            <a:r>
              <a:t>│  │          image: ${REGISTRY}/knowledge-server:${TAG}       │   │</a:t>
            </a:r>
          </a:p>
          <a:p>
            <a:pPr>
              <a:lnSpc>
                <a:spcPct val="100000"/>
              </a:lnSpc>
              <a:spcBef>
                <a:spcPts val="0"/>
              </a:spcBef>
              <a:spcAft>
                <a:spcPts val="100"/>
              </a:spcAft>
              <a:defRPr sz="800">
                <a:solidFill>
                  <a:srgbClr val="000000"/>
                </a:solidFill>
                <a:latin typeface="Courier New"/>
              </a:defRPr>
            </a:pPr>
            <a:r>
              <a:t>│  │          ports:                                             │   │</a:t>
            </a:r>
          </a:p>
          <a:p>
            <a:pPr>
              <a:lnSpc>
                <a:spcPct val="100000"/>
              </a:lnSpc>
              <a:spcBef>
                <a:spcPts val="0"/>
              </a:spcBef>
              <a:spcAft>
                <a:spcPts val="100"/>
              </a:spcAft>
              <a:defRPr sz="800">
                <a:solidFill>
                  <a:srgbClr val="000000"/>
                </a:solidFill>
                <a:latin typeface="Courier New"/>
              </a:defRPr>
            </a:pPr>
            <a:r>
              <a:t>│  │          - containerPort: 3000                              │   │</a:t>
            </a:r>
          </a:p>
          <a:p>
            <a:pPr>
              <a:lnSpc>
                <a:spcPct val="100000"/>
              </a:lnSpc>
              <a:spcBef>
                <a:spcPts val="0"/>
              </a:spcBef>
              <a:spcAft>
                <a:spcPts val="100"/>
              </a:spcAft>
              <a:defRPr sz="800">
                <a:solidFill>
                  <a:srgbClr val="000000"/>
                </a:solidFill>
                <a:latin typeface="Courier New"/>
              </a:defRPr>
            </a:pPr>
            <a:r>
              <a:t>│  │          env:                                               │   │</a:t>
            </a:r>
          </a:p>
          <a:p>
            <a:pPr>
              <a:lnSpc>
                <a:spcPct val="100000"/>
              </a:lnSpc>
              <a:spcBef>
                <a:spcPts val="0"/>
              </a:spcBef>
              <a:spcAft>
                <a:spcPts val="100"/>
              </a:spcAft>
              <a:defRPr sz="800">
                <a:solidFill>
                  <a:srgbClr val="000000"/>
                </a:solidFill>
                <a:latin typeface="Courier New"/>
              </a:defRPr>
            </a:pPr>
            <a:r>
              <a:t>│  │          - name: NODE_ENV                                   │   │</a:t>
            </a:r>
          </a:p>
          <a:p>
            <a:pPr>
              <a:lnSpc>
                <a:spcPct val="100000"/>
              </a:lnSpc>
              <a:spcBef>
                <a:spcPts val="0"/>
              </a:spcBef>
              <a:spcAft>
                <a:spcPts val="100"/>
              </a:spcAft>
              <a:defRPr sz="800">
                <a:solidFill>
                  <a:srgbClr val="000000"/>
                </a:solidFill>
                <a:latin typeface="Courier New"/>
              </a:defRPr>
            </a:pPr>
            <a:r>
              <a:t>│  │            value: "production"                              │   │</a:t>
            </a:r>
          </a:p>
          <a:p>
            <a:pPr>
              <a:lnSpc>
                <a:spcPct val="100000"/>
              </a:lnSpc>
              <a:spcBef>
                <a:spcPts val="0"/>
              </a:spcBef>
              <a:spcAft>
                <a:spcPts val="100"/>
              </a:spcAft>
              <a:defRPr sz="800">
                <a:solidFill>
                  <a:srgbClr val="000000"/>
                </a:solidFill>
                <a:latin typeface="Courier New"/>
              </a:defRPr>
            </a:pPr>
            <a:r>
              <a:t>│  │          resources:                                         │   │</a:t>
            </a:r>
          </a:p>
          <a:p>
            <a:pPr>
              <a:lnSpc>
                <a:spcPct val="100000"/>
              </a:lnSpc>
              <a:spcBef>
                <a:spcPts val="0"/>
              </a:spcBef>
              <a:spcAft>
                <a:spcPts val="100"/>
              </a:spcAft>
              <a:defRPr sz="800">
                <a:solidFill>
                  <a:srgbClr val="000000"/>
                </a:solidFill>
                <a:latin typeface="Courier New"/>
              </a:defRPr>
            </a:pPr>
            <a:r>
              <a:t>│  │            requests:                                        │   │</a:t>
            </a:r>
          </a:p>
          <a:p>
            <a:pPr>
              <a:lnSpc>
                <a:spcPct val="100000"/>
              </a:lnSpc>
              <a:spcBef>
                <a:spcPts val="0"/>
              </a:spcBef>
              <a:spcAft>
                <a:spcPts val="100"/>
              </a:spcAft>
              <a:defRPr sz="800">
                <a:solidFill>
                  <a:srgbClr val="000000"/>
                </a:solidFill>
                <a:latin typeface="Courier New"/>
              </a:defRPr>
            </a:pPr>
            <a:r>
              <a:t>│  │              memory: "256Mi"                                │   │</a:t>
            </a:r>
          </a:p>
          <a:p>
            <a:pPr>
              <a:lnSpc>
                <a:spcPct val="100000"/>
              </a:lnSpc>
              <a:spcBef>
                <a:spcPts val="0"/>
              </a:spcBef>
              <a:spcAft>
                <a:spcPts val="100"/>
              </a:spcAft>
              <a:defRPr sz="800">
                <a:solidFill>
                  <a:srgbClr val="000000"/>
                </a:solidFill>
                <a:latin typeface="Courier New"/>
              </a:defRPr>
            </a:pPr>
            <a:r>
              <a:t>│  │              cpu: "250m"                                    │   │</a:t>
            </a:r>
          </a:p>
          <a:p>
            <a:pPr>
              <a:lnSpc>
                <a:spcPct val="100000"/>
              </a:lnSpc>
              <a:spcBef>
                <a:spcPts val="0"/>
              </a:spcBef>
              <a:spcAft>
                <a:spcPts val="100"/>
              </a:spcAft>
              <a:defRPr sz="800">
                <a:solidFill>
                  <a:srgbClr val="000000"/>
                </a:solidFill>
                <a:latin typeface="Courier New"/>
              </a:defRPr>
            </a:pPr>
            <a:r>
              <a:t>│  │            limits:                                          │   │</a:t>
            </a:r>
          </a:p>
          <a:p>
            <a:pPr>
              <a:lnSpc>
                <a:spcPct val="100000"/>
              </a:lnSpc>
              <a:spcBef>
                <a:spcPts val="0"/>
              </a:spcBef>
              <a:spcAft>
                <a:spcPts val="100"/>
              </a:spcAft>
              <a:defRPr sz="800">
                <a:solidFill>
                  <a:srgbClr val="000000"/>
                </a:solidFill>
                <a:latin typeface="Courier New"/>
              </a:defRPr>
            </a:pPr>
            <a:r>
              <a:t>│  │              memory: "1Gi"                                  │   │</a:t>
            </a:r>
          </a:p>
          <a:p>
            <a:pPr>
              <a:lnSpc>
                <a:spcPct val="100000"/>
              </a:lnSpc>
              <a:spcBef>
                <a:spcPts val="0"/>
              </a:spcBef>
              <a:spcAft>
                <a:spcPts val="100"/>
              </a:spcAft>
              <a:defRPr sz="800">
                <a:solidFill>
                  <a:srgbClr val="000000"/>
                </a:solidFill>
                <a:latin typeface="Courier New"/>
              </a:defRPr>
            </a:pPr>
            <a:r>
              <a:t>│  │              cpu: "1000m"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S9.4  HPA &amp; Scaling</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HPA &amp; SCALING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HORIZONTAL POD AUTOSCALER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apiVersion: autoscaling/v2                                │   │</a:t>
            </a:r>
          </a:p>
          <a:p>
            <a:pPr>
              <a:lnSpc>
                <a:spcPct val="100000"/>
              </a:lnSpc>
              <a:spcBef>
                <a:spcPts val="0"/>
              </a:spcBef>
              <a:spcAft>
                <a:spcPts val="100"/>
              </a:spcAft>
              <a:defRPr sz="800">
                <a:solidFill>
                  <a:srgbClr val="000000"/>
                </a:solidFill>
                <a:latin typeface="Courier New"/>
              </a:defRPr>
            </a:pPr>
            <a:r>
              <a:t>│  │  kind: HorizontalPodAutoscaler                             │   │</a:t>
            </a:r>
          </a:p>
          <a:p>
            <a:pPr>
              <a:lnSpc>
                <a:spcPct val="100000"/>
              </a:lnSpc>
              <a:spcBef>
                <a:spcPts val="0"/>
              </a:spcBef>
              <a:spcAft>
                <a:spcPts val="100"/>
              </a:spcAft>
              <a:defRPr sz="800">
                <a:solidFill>
                  <a:srgbClr val="000000"/>
                </a:solidFill>
                <a:latin typeface="Courier New"/>
              </a:defRPr>
            </a:pPr>
            <a:r>
              <a:t>│  │  metadata:                                                 │   │</a:t>
            </a:r>
          </a:p>
          <a:p>
            <a:pPr>
              <a:lnSpc>
                <a:spcPct val="100000"/>
              </a:lnSpc>
              <a:spcBef>
                <a:spcPts val="0"/>
              </a:spcBef>
              <a:spcAft>
                <a:spcPts val="100"/>
              </a:spcAft>
              <a:defRPr sz="800">
                <a:solidFill>
                  <a:srgbClr val="000000"/>
                </a:solidFill>
                <a:latin typeface="Courier New"/>
              </a:defRPr>
            </a:pPr>
            <a:r>
              <a:t>│  │    name: knowledge-server-hpa                              │   │</a:t>
            </a:r>
          </a:p>
          <a:p>
            <a:pPr>
              <a:lnSpc>
                <a:spcPct val="100000"/>
              </a:lnSpc>
              <a:spcBef>
                <a:spcPts val="0"/>
              </a:spcBef>
              <a:spcAft>
                <a:spcPts val="100"/>
              </a:spcAft>
              <a:defRPr sz="800">
                <a:solidFill>
                  <a:srgbClr val="000000"/>
                </a:solidFill>
                <a:latin typeface="Courier New"/>
              </a:defRPr>
            </a:pPr>
            <a:r>
              <a:t>│  │  spec:                                                     │   │</a:t>
            </a:r>
          </a:p>
          <a:p>
            <a:pPr>
              <a:lnSpc>
                <a:spcPct val="100000"/>
              </a:lnSpc>
              <a:spcBef>
                <a:spcPts val="0"/>
              </a:spcBef>
              <a:spcAft>
                <a:spcPts val="100"/>
              </a:spcAft>
              <a:defRPr sz="800">
                <a:solidFill>
                  <a:srgbClr val="000000"/>
                </a:solidFill>
                <a:latin typeface="Courier New"/>
              </a:defRPr>
            </a:pPr>
            <a:r>
              <a:t>│  │    scaleTargetRef:                                         │   │</a:t>
            </a:r>
          </a:p>
          <a:p>
            <a:pPr>
              <a:lnSpc>
                <a:spcPct val="100000"/>
              </a:lnSpc>
              <a:spcBef>
                <a:spcPts val="0"/>
              </a:spcBef>
              <a:spcAft>
                <a:spcPts val="100"/>
              </a:spcAft>
              <a:defRPr sz="800">
                <a:solidFill>
                  <a:srgbClr val="000000"/>
                </a:solidFill>
                <a:latin typeface="Courier New"/>
              </a:defRPr>
            </a:pPr>
            <a:r>
              <a:t>│  │      apiVersion: apps/v1                                   │   │</a:t>
            </a:r>
          </a:p>
          <a:p>
            <a:pPr>
              <a:lnSpc>
                <a:spcPct val="100000"/>
              </a:lnSpc>
              <a:spcBef>
                <a:spcPts val="0"/>
              </a:spcBef>
              <a:spcAft>
                <a:spcPts val="100"/>
              </a:spcAft>
              <a:defRPr sz="800">
                <a:solidFill>
                  <a:srgbClr val="000000"/>
                </a:solidFill>
                <a:latin typeface="Courier New"/>
              </a:defRPr>
            </a:pPr>
            <a:r>
              <a:t>│  │      kind: Deployment                                      │   │</a:t>
            </a:r>
          </a:p>
          <a:p>
            <a:pPr>
              <a:lnSpc>
                <a:spcPct val="100000"/>
              </a:lnSpc>
              <a:spcBef>
                <a:spcPts val="0"/>
              </a:spcBef>
              <a:spcAft>
                <a:spcPts val="100"/>
              </a:spcAft>
              <a:defRPr sz="800">
                <a:solidFill>
                  <a:srgbClr val="000000"/>
                </a:solidFill>
                <a:latin typeface="Courier New"/>
              </a:defRPr>
            </a:pPr>
            <a:r>
              <a:t>│  │      name: knowledge-server                                │   │</a:t>
            </a:r>
          </a:p>
          <a:p>
            <a:pPr>
              <a:lnSpc>
                <a:spcPct val="100000"/>
              </a:lnSpc>
              <a:spcBef>
                <a:spcPts val="0"/>
              </a:spcBef>
              <a:spcAft>
                <a:spcPts val="100"/>
              </a:spcAft>
              <a:defRPr sz="800">
                <a:solidFill>
                  <a:srgbClr val="000000"/>
                </a:solidFill>
                <a:latin typeface="Courier New"/>
              </a:defRPr>
            </a:pPr>
            <a:r>
              <a:t>│  │    minReplicas: 2                                          │   │</a:t>
            </a:r>
          </a:p>
          <a:p>
            <a:pPr>
              <a:lnSpc>
                <a:spcPct val="100000"/>
              </a:lnSpc>
              <a:spcBef>
                <a:spcPts val="0"/>
              </a:spcBef>
              <a:spcAft>
                <a:spcPts val="100"/>
              </a:spcAft>
              <a:defRPr sz="800">
                <a:solidFill>
                  <a:srgbClr val="000000"/>
                </a:solidFill>
                <a:latin typeface="Courier New"/>
              </a:defRPr>
            </a:pPr>
            <a:r>
              <a:t>│  │    maxReplicas: 10                                         │   │</a:t>
            </a:r>
          </a:p>
          <a:p>
            <a:pPr>
              <a:lnSpc>
                <a:spcPct val="100000"/>
              </a:lnSpc>
              <a:spcBef>
                <a:spcPts val="0"/>
              </a:spcBef>
              <a:spcAft>
                <a:spcPts val="100"/>
              </a:spcAft>
              <a:defRPr sz="800">
                <a:solidFill>
                  <a:srgbClr val="000000"/>
                </a:solidFill>
                <a:latin typeface="Courier New"/>
              </a:defRPr>
            </a:pPr>
            <a:r>
              <a:t>│  │    metrics:                                                │   │</a:t>
            </a:r>
          </a:p>
          <a:p>
            <a:pPr>
              <a:lnSpc>
                <a:spcPct val="100000"/>
              </a:lnSpc>
              <a:spcBef>
                <a:spcPts val="0"/>
              </a:spcBef>
              <a:spcAft>
                <a:spcPts val="100"/>
              </a:spcAft>
              <a:defRPr sz="800">
                <a:solidFill>
                  <a:srgbClr val="000000"/>
                </a:solidFill>
                <a:latin typeface="Courier New"/>
              </a:defRPr>
            </a:pPr>
            <a:r>
              <a:t>│  │    - type: Resource                                        │   │</a:t>
            </a:r>
          </a:p>
          <a:p>
            <a:pPr>
              <a:lnSpc>
                <a:spcPct val="100000"/>
              </a:lnSpc>
              <a:spcBef>
                <a:spcPts val="0"/>
              </a:spcBef>
              <a:spcAft>
                <a:spcPts val="100"/>
              </a:spcAft>
              <a:defRPr sz="800">
                <a:solidFill>
                  <a:srgbClr val="000000"/>
                </a:solidFill>
                <a:latin typeface="Courier New"/>
              </a:defRPr>
            </a:pPr>
            <a:r>
              <a:t>│  │      resource:                                             │   │</a:t>
            </a:r>
          </a:p>
          <a:p>
            <a:pPr>
              <a:lnSpc>
                <a:spcPct val="100000"/>
              </a:lnSpc>
              <a:spcBef>
                <a:spcPts val="0"/>
              </a:spcBef>
              <a:spcAft>
                <a:spcPts val="100"/>
              </a:spcAft>
              <a:defRPr sz="800">
                <a:solidFill>
                  <a:srgbClr val="000000"/>
                </a:solidFill>
                <a:latin typeface="Courier New"/>
              </a:defRPr>
            </a:pPr>
            <a:r>
              <a:t>│  │        name: cpu                                           │   │</a:t>
            </a:r>
          </a:p>
          <a:p>
            <a:pPr>
              <a:lnSpc>
                <a:spcPct val="100000"/>
              </a:lnSpc>
              <a:spcBef>
                <a:spcPts val="0"/>
              </a:spcBef>
              <a:spcAft>
                <a:spcPts val="100"/>
              </a:spcAft>
              <a:defRPr sz="800">
                <a:solidFill>
                  <a:srgbClr val="000000"/>
                </a:solidFill>
                <a:latin typeface="Courier New"/>
              </a:defRPr>
            </a:pPr>
            <a:r>
              <a:t>│  │        target:                                             │   │</a:t>
            </a:r>
          </a:p>
          <a:p>
            <a:pPr>
              <a:lnSpc>
                <a:spcPct val="100000"/>
              </a:lnSpc>
              <a:spcBef>
                <a:spcPts val="0"/>
              </a:spcBef>
              <a:spcAft>
                <a:spcPts val="100"/>
              </a:spcAft>
              <a:defRPr sz="800">
                <a:solidFill>
                  <a:srgbClr val="000000"/>
                </a:solidFill>
                <a:latin typeface="Courier New"/>
              </a:defRPr>
            </a:pPr>
            <a:r>
              <a:t>│  │          type: Utilization                                 │   │</a:t>
            </a:r>
          </a:p>
          <a:p>
            <a:pPr>
              <a:lnSpc>
                <a:spcPct val="100000"/>
              </a:lnSpc>
              <a:spcBef>
                <a:spcPts val="0"/>
              </a:spcBef>
              <a:spcAft>
                <a:spcPts val="100"/>
              </a:spcAft>
              <a:defRPr sz="800">
                <a:solidFill>
                  <a:srgbClr val="000000"/>
                </a:solidFill>
                <a:latin typeface="Courier New"/>
              </a:defRPr>
            </a:pPr>
            <a:r>
              <a:t>│  │          averageUtilization: 70                            │   │</a:t>
            </a:r>
          </a:p>
          <a:p>
            <a:pPr>
              <a:lnSpc>
                <a:spcPct val="100000"/>
              </a:lnSpc>
              <a:spcBef>
                <a:spcPts val="0"/>
              </a:spcBef>
              <a:spcAft>
                <a:spcPts val="100"/>
              </a:spcAft>
              <a:defRPr sz="800">
                <a:solidFill>
                  <a:srgbClr val="000000"/>
                </a:solidFill>
                <a:latin typeface="Courier New"/>
              </a:defRPr>
            </a:pPr>
            <a:r>
              <a:t>│  │    - type: Resource                                        │   │</a:t>
            </a:r>
          </a:p>
          <a:p>
            <a:pPr>
              <a:lnSpc>
                <a:spcPct val="100000"/>
              </a:lnSpc>
              <a:spcBef>
                <a:spcPts val="0"/>
              </a:spcBef>
              <a:spcAft>
                <a:spcPts val="100"/>
              </a:spcAft>
              <a:defRPr sz="800">
                <a:solidFill>
                  <a:srgbClr val="000000"/>
                </a:solidFill>
                <a:latin typeface="Courier New"/>
              </a:defRPr>
            </a:pPr>
            <a:r>
              <a:t>│  │      resource:                                             │   │</a:t>
            </a:r>
          </a:p>
          <a:p>
            <a:pPr>
              <a:lnSpc>
                <a:spcPct val="100000"/>
              </a:lnSpc>
              <a:spcBef>
                <a:spcPts val="0"/>
              </a:spcBef>
              <a:spcAft>
                <a:spcPts val="100"/>
              </a:spcAft>
              <a:defRPr sz="800">
                <a:solidFill>
                  <a:srgbClr val="000000"/>
                </a:solidFill>
                <a:latin typeface="Courier New"/>
              </a:defRPr>
            </a:pPr>
            <a:r>
              <a:t>│  │        name: memory                                        │   │</a:t>
            </a:r>
          </a:p>
          <a:p>
            <a:pPr>
              <a:lnSpc>
                <a:spcPct val="100000"/>
              </a:lnSpc>
              <a:spcBef>
                <a:spcPts val="0"/>
              </a:spcBef>
              <a:spcAft>
                <a:spcPts val="100"/>
              </a:spcAft>
              <a:defRPr sz="800">
                <a:solidFill>
                  <a:srgbClr val="000000"/>
                </a:solidFill>
                <a:latin typeface="Courier New"/>
              </a:defRPr>
            </a:pPr>
            <a:r>
              <a:t>│  │        target:                                             │   │</a:t>
            </a:r>
          </a:p>
          <a:p>
            <a:pPr>
              <a:lnSpc>
                <a:spcPct val="100000"/>
              </a:lnSpc>
              <a:spcBef>
                <a:spcPts val="0"/>
              </a:spcBef>
              <a:spcAft>
                <a:spcPts val="100"/>
              </a:spcAft>
              <a:defRPr sz="800">
                <a:solidFill>
                  <a:srgbClr val="000000"/>
                </a:solidFill>
                <a:latin typeface="Courier New"/>
              </a:defRPr>
            </a:pPr>
            <a:r>
              <a:t>│  │          type: Utilization                                 │   │</a:t>
            </a:r>
          </a:p>
          <a:p>
            <a:pPr>
              <a:lnSpc>
                <a:spcPct val="100000"/>
              </a:lnSpc>
              <a:spcBef>
                <a:spcPts val="0"/>
              </a:spcBef>
              <a:spcAft>
                <a:spcPts val="100"/>
              </a:spcAft>
              <a:defRPr sz="800">
                <a:solidFill>
                  <a:srgbClr val="000000"/>
                </a:solidFill>
                <a:latin typeface="Courier New"/>
              </a:defRPr>
            </a:pPr>
            <a:r>
              <a:t>│  │          averageUtilization: 80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SCALING BEHAVIOR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CPU &gt; 70%  →  Scale up                             │   │   │</a:t>
            </a:r>
          </a:p>
          <a:p>
            <a:pPr>
              <a:lnSpc>
                <a:spcPct val="100000"/>
              </a:lnSpc>
              <a:spcBef>
                <a:spcPts val="0"/>
              </a:spcBef>
              <a:spcAft>
                <a:spcPts val="100"/>
              </a:spcAft>
              <a:defRPr sz="800">
                <a:solidFill>
                  <a:srgbClr val="000000"/>
                </a:solidFill>
                <a:latin typeface="Courier New"/>
              </a:defRPr>
            </a:pPr>
            <a:r>
              <a:t>│  │  │  CPU &lt; 50%  →  Scale down                           │   │   │</a:t>
            </a:r>
          </a:p>
          <a:p>
            <a:pPr>
              <a:lnSpc>
                <a:spcPct val="100000"/>
              </a:lnSpc>
              <a:spcBef>
                <a:spcPts val="0"/>
              </a:spcBef>
              <a:spcAft>
                <a:spcPts val="100"/>
              </a:spcAft>
              <a:defRPr sz="800">
                <a:solidFill>
                  <a:srgbClr val="000000"/>
                </a:solidFill>
                <a:latin typeface="Courier New"/>
              </a:defRPr>
            </a:pPr>
            <a:r>
              <a:t>│  │  │  Memory &gt; 80% → Scale up                           │   │   │</a:t>
            </a:r>
          </a:p>
          <a:p>
            <a:pPr>
              <a:lnSpc>
                <a:spcPct val="100000"/>
              </a:lnSpc>
              <a:spcBef>
                <a:spcPts val="0"/>
              </a:spcBef>
              <a:spcAft>
                <a:spcPts val="100"/>
              </a:spcAft>
              <a:defRPr sz="800">
                <a:solidFill>
                  <a:srgbClr val="000000"/>
                </a:solidFill>
                <a:latin typeface="Courier New"/>
              </a:defRPr>
            </a:pPr>
            <a:r>
              <a:t>│  │  │  Memory &lt; 60% → Scale down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S10.1  GitHub Coding Assistant</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GITHUB CODING ASSISTANT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PROJECT OVERVIEW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An AI-powered coding assistant that connects to GitHub    │   │</a:t>
            </a:r>
          </a:p>
          <a:p>
            <a:pPr>
              <a:lnSpc>
                <a:spcPct val="100000"/>
              </a:lnSpc>
              <a:spcBef>
                <a:spcPts val="0"/>
              </a:spcBef>
              <a:spcAft>
                <a:spcPts val="100"/>
              </a:spcAft>
              <a:defRPr sz="800">
                <a:solidFill>
                  <a:srgbClr val="000000"/>
                </a:solidFill>
                <a:latin typeface="Courier New"/>
              </a:defRPr>
            </a:pPr>
            <a:r>
              <a:t>│  │  repositories, reads code, suggests improvements, and      │   │</a:t>
            </a:r>
          </a:p>
          <a:p>
            <a:pPr>
              <a:lnSpc>
                <a:spcPct val="100000"/>
              </a:lnSpc>
              <a:spcBef>
                <a:spcPts val="0"/>
              </a:spcBef>
              <a:spcAft>
                <a:spcPts val="100"/>
              </a:spcAft>
              <a:defRPr sz="800">
                <a:solidFill>
                  <a:srgbClr val="000000"/>
                </a:solidFill>
                <a:latin typeface="Courier New"/>
              </a:defRPr>
            </a:pPr>
            <a:r>
              <a:t>│  │  can even write code based on natural language             │   │</a:t>
            </a:r>
          </a:p>
          <a:p>
            <a:pPr>
              <a:lnSpc>
                <a:spcPct val="100000"/>
              </a:lnSpc>
              <a:spcBef>
                <a:spcPts val="0"/>
              </a:spcBef>
              <a:spcAft>
                <a:spcPts val="100"/>
              </a:spcAft>
              <a:defRPr sz="800">
                <a:solidFill>
                  <a:srgbClr val="000000"/>
                </a:solidFill>
                <a:latin typeface="Courier New"/>
              </a:defRPr>
            </a:pPr>
            <a:r>
              <a:t>│  │  descriptions.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FEATURES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Read code from GitHub                                   │   │</a:t>
            </a:r>
          </a:p>
          <a:p>
            <a:pPr>
              <a:lnSpc>
                <a:spcPct val="100000"/>
              </a:lnSpc>
              <a:spcBef>
                <a:spcPts val="0"/>
              </a:spcBef>
              <a:spcAft>
                <a:spcPts val="100"/>
              </a:spcAft>
              <a:defRPr sz="800">
                <a:solidFill>
                  <a:srgbClr val="000000"/>
                </a:solidFill>
                <a:latin typeface="Courier New"/>
              </a:defRPr>
            </a:pPr>
            <a:r>
              <a:t>│  │  ✅ Write code to GitHub                                    │   │</a:t>
            </a:r>
          </a:p>
          <a:p>
            <a:pPr>
              <a:lnSpc>
                <a:spcPct val="100000"/>
              </a:lnSpc>
              <a:spcBef>
                <a:spcPts val="0"/>
              </a:spcBef>
              <a:spcAft>
                <a:spcPts val="100"/>
              </a:spcAft>
              <a:defRPr sz="800">
                <a:solidFill>
                  <a:srgbClr val="000000"/>
                </a:solidFill>
                <a:latin typeface="Courier New"/>
              </a:defRPr>
            </a:pPr>
            <a:r>
              <a:t>│  │  ✅ Review code quality                                     │   │</a:t>
            </a:r>
          </a:p>
          <a:p>
            <a:pPr>
              <a:lnSpc>
                <a:spcPct val="100000"/>
              </a:lnSpc>
              <a:spcBef>
                <a:spcPts val="0"/>
              </a:spcBef>
              <a:spcAft>
                <a:spcPts val="100"/>
              </a:spcAft>
              <a:defRPr sz="800">
                <a:solidFill>
                  <a:srgbClr val="000000"/>
                </a:solidFill>
                <a:latin typeface="Courier New"/>
              </a:defRPr>
            </a:pPr>
            <a:r>
              <a:t>│  │  ✅ Generate new code                                       │   │</a:t>
            </a:r>
          </a:p>
          <a:p>
            <a:pPr>
              <a:lnSpc>
                <a:spcPct val="100000"/>
              </a:lnSpc>
              <a:spcBef>
                <a:spcPts val="0"/>
              </a:spcBef>
              <a:spcAft>
                <a:spcPts val="100"/>
              </a:spcAft>
              <a:defRPr sz="800">
                <a:solidFill>
                  <a:srgbClr val="000000"/>
                </a:solidFill>
                <a:latin typeface="Courier New"/>
              </a:defRPr>
            </a:pPr>
            <a:r>
              <a:t>│  │  ✅ Get repository structure                               │   │</a:t>
            </a:r>
          </a:p>
          <a:p>
            <a:pPr>
              <a:lnSpc>
                <a:spcPct val="100000"/>
              </a:lnSpc>
              <a:spcBef>
                <a:spcPts val="0"/>
              </a:spcBef>
              <a:spcAft>
                <a:spcPts val="100"/>
              </a:spcAft>
              <a:defRPr sz="800">
                <a:solidFill>
                  <a:srgbClr val="000000"/>
                </a:solidFill>
                <a:latin typeface="Courier New"/>
              </a:defRPr>
            </a:pPr>
            <a:r>
              <a:t>│  │  ✅ Suggest improvements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USE CASE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User: "Review the authentication code in the auth.js file" │   │</a:t>
            </a:r>
          </a:p>
          <a:p>
            <a:pPr>
              <a:lnSpc>
                <a:spcPct val="100000"/>
              </a:lnSpc>
              <a:spcBef>
                <a:spcPts val="0"/>
              </a:spcBef>
              <a:spcAft>
                <a:spcPts val="100"/>
              </a:spcAft>
              <a:defRPr sz="800">
                <a:solidFill>
                  <a:srgbClr val="000000"/>
                </a:solidFill>
                <a:latin typeface="Courier New"/>
              </a:defRPr>
            </a:pPr>
            <a:r>
              <a:t>│  │  → Assistant reads the file                                │   │</a:t>
            </a:r>
          </a:p>
          <a:p>
            <a:pPr>
              <a:lnSpc>
                <a:spcPct val="100000"/>
              </a:lnSpc>
              <a:spcBef>
                <a:spcPts val="0"/>
              </a:spcBef>
              <a:spcAft>
                <a:spcPts val="100"/>
              </a:spcAft>
              <a:defRPr sz="800">
                <a:solidFill>
                  <a:srgbClr val="000000"/>
                </a:solidFill>
                <a:latin typeface="Courier New"/>
              </a:defRPr>
            </a:pPr>
            <a:r>
              <a:t>│  │  → Assistant analyzes for security issues                  │   │</a:t>
            </a:r>
          </a:p>
          <a:p>
            <a:pPr>
              <a:lnSpc>
                <a:spcPct val="100000"/>
              </a:lnSpc>
              <a:spcBef>
                <a:spcPts val="0"/>
              </a:spcBef>
              <a:spcAft>
                <a:spcPts val="100"/>
              </a:spcAft>
              <a:defRPr sz="800">
                <a:solidFill>
                  <a:srgbClr val="000000"/>
                </a:solidFill>
                <a:latin typeface="Courier New"/>
              </a:defRPr>
            </a:pPr>
            <a:r>
              <a:t>│  │  → Assistant provides review and suggestions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S10.2  Enterprise Documentation Assistant</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ENTERPRISE DOCUMENTATION ASSISTANT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PROJECT OVERVIEW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An AI assistant that helps create, maintain, and search   │   │</a:t>
            </a:r>
          </a:p>
          <a:p>
            <a:pPr>
              <a:lnSpc>
                <a:spcPct val="100000"/>
              </a:lnSpc>
              <a:spcBef>
                <a:spcPts val="0"/>
              </a:spcBef>
              <a:spcAft>
                <a:spcPts val="100"/>
              </a:spcAft>
              <a:defRPr sz="800">
                <a:solidFill>
                  <a:srgbClr val="000000"/>
                </a:solidFill>
                <a:latin typeface="Courier New"/>
              </a:defRPr>
            </a:pPr>
            <a:r>
              <a:t>│  │  enterprise documentation across multiple systems          │   │</a:t>
            </a:r>
          </a:p>
          <a:p>
            <a:pPr>
              <a:lnSpc>
                <a:spcPct val="100000"/>
              </a:lnSpc>
              <a:spcBef>
                <a:spcPts val="0"/>
              </a:spcBef>
              <a:spcAft>
                <a:spcPts val="100"/>
              </a:spcAft>
              <a:defRPr sz="800">
                <a:solidFill>
                  <a:srgbClr val="000000"/>
                </a:solidFill>
                <a:latin typeface="Courier New"/>
              </a:defRPr>
            </a:pPr>
            <a:r>
              <a:t>│  │  including Confluence, SharePoint, and Markdown files.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ADAPTERS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Confluence Adapter │  Read/write Confluence pages  │   │   │</a:t>
            </a:r>
          </a:p>
          <a:p>
            <a:pPr>
              <a:lnSpc>
                <a:spcPct val="100000"/>
              </a:lnSpc>
              <a:spcBef>
                <a:spcPts val="0"/>
              </a:spcBef>
              <a:spcAft>
                <a:spcPts val="100"/>
              </a:spcAft>
              <a:defRPr sz="800">
                <a:solidFill>
                  <a:srgbClr val="000000"/>
                </a:solidFill>
                <a:latin typeface="Courier New"/>
              </a:defRPr>
            </a:pPr>
            <a:r>
              <a:t>│  │  │  SharePoint Adapter │  Read/write SharePoint docs   │   │   │</a:t>
            </a:r>
          </a:p>
          <a:p>
            <a:pPr>
              <a:lnSpc>
                <a:spcPct val="100000"/>
              </a:lnSpc>
              <a:spcBef>
                <a:spcPts val="0"/>
              </a:spcBef>
              <a:spcAft>
                <a:spcPts val="100"/>
              </a:spcAft>
              <a:defRPr sz="800">
                <a:solidFill>
                  <a:srgbClr val="000000"/>
                </a:solidFill>
                <a:latin typeface="Courier New"/>
              </a:defRPr>
            </a:pPr>
            <a:r>
              <a:t>│  │  │  Markdown Adapter   │  Read/write Markdown files    │   │   │</a:t>
            </a:r>
          </a:p>
          <a:p>
            <a:pPr>
              <a:lnSpc>
                <a:spcPct val="100000"/>
              </a:lnSpc>
              <a:spcBef>
                <a:spcPts val="0"/>
              </a:spcBef>
              <a:spcAft>
                <a:spcPts val="100"/>
              </a:spcAft>
              <a:defRPr sz="800">
                <a:solidFill>
                  <a:srgbClr val="000000"/>
                </a:solidFill>
                <a:latin typeface="Courier New"/>
              </a:defRPr>
            </a:pPr>
            <a:r>
              <a:t>│  │  │  Search Engine      │  Search across all sources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USE CASE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User: "Find all documentation about authentication"       │   │</a:t>
            </a:r>
          </a:p>
          <a:p>
            <a:pPr>
              <a:lnSpc>
                <a:spcPct val="100000"/>
              </a:lnSpc>
              <a:spcBef>
                <a:spcPts val="0"/>
              </a:spcBef>
              <a:spcAft>
                <a:spcPts val="100"/>
              </a:spcAft>
              <a:defRPr sz="800">
                <a:solidFill>
                  <a:srgbClr val="000000"/>
                </a:solidFill>
                <a:latin typeface="Courier New"/>
              </a:defRPr>
            </a:pPr>
            <a:r>
              <a:t>│  │  → Assistant searches Confluence                           │   │</a:t>
            </a:r>
          </a:p>
          <a:p>
            <a:pPr>
              <a:lnSpc>
                <a:spcPct val="100000"/>
              </a:lnSpc>
              <a:spcBef>
                <a:spcPts val="0"/>
              </a:spcBef>
              <a:spcAft>
                <a:spcPts val="100"/>
              </a:spcAft>
              <a:defRPr sz="800">
                <a:solidFill>
                  <a:srgbClr val="000000"/>
                </a:solidFill>
                <a:latin typeface="Courier New"/>
              </a:defRPr>
            </a:pPr>
            <a:r>
              <a:t>│  │  → Assistant searches SharePoint                           │   │</a:t>
            </a:r>
          </a:p>
          <a:p>
            <a:pPr>
              <a:lnSpc>
                <a:spcPct val="100000"/>
              </a:lnSpc>
              <a:spcBef>
                <a:spcPts val="0"/>
              </a:spcBef>
              <a:spcAft>
                <a:spcPts val="100"/>
              </a:spcAft>
              <a:defRPr sz="800">
                <a:solidFill>
                  <a:srgbClr val="000000"/>
                </a:solidFill>
                <a:latin typeface="Courier New"/>
              </a:defRPr>
            </a:pPr>
            <a:r>
              <a:t>│  │  → Assistant searches Markdown files                      │   │</a:t>
            </a:r>
          </a:p>
          <a:p>
            <a:pPr>
              <a:lnSpc>
                <a:spcPct val="100000"/>
              </a:lnSpc>
              <a:spcBef>
                <a:spcPts val="0"/>
              </a:spcBef>
              <a:spcAft>
                <a:spcPts val="100"/>
              </a:spcAft>
              <a:defRPr sz="800">
                <a:solidFill>
                  <a:srgbClr val="000000"/>
                </a:solidFill>
                <a:latin typeface="Courier New"/>
              </a:defRPr>
            </a:pPr>
            <a:r>
              <a:t>│  │  → Assistant returns aggregated results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S10.3  AI DevOps Engineer</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AI DEVOPS ENGINEER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PROJECT OVERVIEW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An AI DevOps agent that can manage Docker containers,     │   │</a:t>
            </a:r>
          </a:p>
          <a:p>
            <a:pPr>
              <a:lnSpc>
                <a:spcPct val="100000"/>
              </a:lnSpc>
              <a:spcBef>
                <a:spcPts val="0"/>
              </a:spcBef>
              <a:spcAft>
                <a:spcPts val="100"/>
              </a:spcAft>
              <a:defRPr sz="800">
                <a:solidFill>
                  <a:srgbClr val="000000"/>
                </a:solidFill>
                <a:latin typeface="Courier New"/>
              </a:defRPr>
            </a:pPr>
            <a:r>
              <a:t>│  │  Kubernetes deployments, and infrastructure-as-code.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CAPABILITIES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Deploy services to Docker/Kubernetes                   │   │</a:t>
            </a:r>
          </a:p>
          <a:p>
            <a:pPr>
              <a:lnSpc>
                <a:spcPct val="100000"/>
              </a:lnSpc>
              <a:spcBef>
                <a:spcPts val="0"/>
              </a:spcBef>
              <a:spcAft>
                <a:spcPts val="100"/>
              </a:spcAft>
              <a:defRPr sz="800">
                <a:solidFill>
                  <a:srgbClr val="000000"/>
                </a:solidFill>
                <a:latin typeface="Courier New"/>
              </a:defRPr>
            </a:pPr>
            <a:r>
              <a:t>│  │  ✅ Scale services up and down                             │   │</a:t>
            </a:r>
          </a:p>
          <a:p>
            <a:pPr>
              <a:lnSpc>
                <a:spcPct val="100000"/>
              </a:lnSpc>
              <a:spcBef>
                <a:spcPts val="0"/>
              </a:spcBef>
              <a:spcAft>
                <a:spcPts val="100"/>
              </a:spcAft>
              <a:defRPr sz="800">
                <a:solidFill>
                  <a:srgbClr val="000000"/>
                </a:solidFill>
                <a:latin typeface="Courier New"/>
              </a:defRPr>
            </a:pPr>
            <a:r>
              <a:t>│  │  ✅ View service logs                                      │   │</a:t>
            </a:r>
          </a:p>
          <a:p>
            <a:pPr>
              <a:lnSpc>
                <a:spcPct val="100000"/>
              </a:lnSpc>
              <a:spcBef>
                <a:spcPts val="0"/>
              </a:spcBef>
              <a:spcAft>
                <a:spcPts val="100"/>
              </a:spcAft>
              <a:defRPr sz="800">
                <a:solidFill>
                  <a:srgbClr val="000000"/>
                </a:solidFill>
                <a:latin typeface="Courier New"/>
              </a:defRPr>
            </a:pPr>
            <a:r>
              <a:t>│  │  ✅ Health checks                                          │   │</a:t>
            </a:r>
          </a:p>
          <a:p>
            <a:pPr>
              <a:lnSpc>
                <a:spcPct val="100000"/>
              </a:lnSpc>
              <a:spcBef>
                <a:spcPts val="0"/>
              </a:spcBef>
              <a:spcAft>
                <a:spcPts val="100"/>
              </a:spcAft>
              <a:defRPr sz="800">
                <a:solidFill>
                  <a:srgbClr val="000000"/>
                </a:solidFill>
                <a:latin typeface="Courier New"/>
              </a:defRPr>
            </a:pPr>
            <a:r>
              <a:t>│  │  ✅ Rollback deployments                                    │   │</a:t>
            </a:r>
          </a:p>
          <a:p>
            <a:pPr>
              <a:lnSpc>
                <a:spcPct val="100000"/>
              </a:lnSpc>
              <a:spcBef>
                <a:spcPts val="0"/>
              </a:spcBef>
              <a:spcAft>
                <a:spcPts val="100"/>
              </a:spcAft>
              <a:defRPr sz="800">
                <a:solidFill>
                  <a:srgbClr val="000000"/>
                </a:solidFill>
                <a:latin typeface="Courier New"/>
              </a:defRPr>
            </a:pPr>
            <a:r>
              <a:t>│  │  ✅ Get service status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USE CASE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User: "Deploy the authentication service to production"   │   │</a:t>
            </a:r>
          </a:p>
          <a:p>
            <a:pPr>
              <a:lnSpc>
                <a:spcPct val="100000"/>
              </a:lnSpc>
              <a:spcBef>
                <a:spcPts val="0"/>
              </a:spcBef>
              <a:spcAft>
                <a:spcPts val="100"/>
              </a:spcAft>
              <a:defRPr sz="800">
                <a:solidFill>
                  <a:srgbClr val="000000"/>
                </a:solidFill>
                <a:latin typeface="Courier New"/>
              </a:defRPr>
            </a:pPr>
            <a:r>
              <a:t>│  │  → Agent deploys service with 3 replicas                   │   │</a:t>
            </a:r>
          </a:p>
          <a:p>
            <a:pPr>
              <a:lnSpc>
                <a:spcPct val="100000"/>
              </a:lnSpc>
              <a:spcBef>
                <a:spcPts val="0"/>
              </a:spcBef>
              <a:spcAft>
                <a:spcPts val="100"/>
              </a:spcAft>
              <a:defRPr sz="800">
                <a:solidFill>
                  <a:srgbClr val="000000"/>
                </a:solidFill>
                <a:latin typeface="Courier New"/>
              </a:defRPr>
            </a:pPr>
            <a:r>
              <a:t>│  │  → Agent performs health check                             │   │</a:t>
            </a:r>
          </a:p>
          <a:p>
            <a:pPr>
              <a:lnSpc>
                <a:spcPct val="100000"/>
              </a:lnSpc>
              <a:spcBef>
                <a:spcPts val="0"/>
              </a:spcBef>
              <a:spcAft>
                <a:spcPts val="100"/>
              </a:spcAft>
              <a:defRPr sz="800">
                <a:solidFill>
                  <a:srgbClr val="000000"/>
                </a:solidFill>
                <a:latin typeface="Courier New"/>
              </a:defRPr>
            </a:pPr>
            <a:r>
              <a:t>│  │  → Agent confirms deployment successful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S10.4  AI Data Analyst</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AI DATA ANALYST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PROJECT OVERVIEW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An AI assistant that can query databases, generate        │   │</a:t>
            </a:r>
          </a:p>
          <a:p>
            <a:pPr>
              <a:lnSpc>
                <a:spcPct val="100000"/>
              </a:lnSpc>
              <a:spcBef>
                <a:spcPts val="0"/>
              </a:spcBef>
              <a:spcAft>
                <a:spcPts val="100"/>
              </a:spcAft>
              <a:defRPr sz="800">
                <a:solidFill>
                  <a:srgbClr val="000000"/>
                </a:solidFill>
                <a:latin typeface="Courier New"/>
              </a:defRPr>
            </a:pPr>
            <a:r>
              <a:t>│  │  reports, visualize data, and provide insights using       │   │</a:t>
            </a:r>
          </a:p>
          <a:p>
            <a:pPr>
              <a:lnSpc>
                <a:spcPct val="100000"/>
              </a:lnSpc>
              <a:spcBef>
                <a:spcPts val="0"/>
              </a:spcBef>
              <a:spcAft>
                <a:spcPts val="100"/>
              </a:spcAft>
              <a:defRPr sz="800">
                <a:solidFill>
                  <a:srgbClr val="000000"/>
                </a:solidFill>
                <a:latin typeface="Courier New"/>
              </a:defRPr>
            </a:pPr>
            <a:r>
              <a:t>│  │  natural language.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CAPABILITIES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Query PostgreSQL/SQLite databases                       │   │</a:t>
            </a:r>
          </a:p>
          <a:p>
            <a:pPr>
              <a:lnSpc>
                <a:spcPct val="100000"/>
              </a:lnSpc>
              <a:spcBef>
                <a:spcPts val="0"/>
              </a:spcBef>
              <a:spcAft>
                <a:spcPts val="100"/>
              </a:spcAft>
              <a:defRPr sz="800">
                <a:solidFill>
                  <a:srgbClr val="000000"/>
                </a:solidFill>
                <a:latin typeface="Courier New"/>
              </a:defRPr>
            </a:pPr>
            <a:r>
              <a:t>│  │  ✅ Analyze data for trends and patterns                   │   │</a:t>
            </a:r>
          </a:p>
          <a:p>
            <a:pPr>
              <a:lnSpc>
                <a:spcPct val="100000"/>
              </a:lnSpc>
              <a:spcBef>
                <a:spcPts val="0"/>
              </a:spcBef>
              <a:spcAft>
                <a:spcPts val="100"/>
              </a:spcAft>
              <a:defRPr sz="800">
                <a:solidFill>
                  <a:srgbClr val="000000"/>
                </a:solidFill>
                <a:latin typeface="Courier New"/>
              </a:defRPr>
            </a:pPr>
            <a:r>
              <a:t>│  │  ✅ Generate reports                                       │   │</a:t>
            </a:r>
          </a:p>
          <a:p>
            <a:pPr>
              <a:lnSpc>
                <a:spcPct val="100000"/>
              </a:lnSpc>
              <a:spcBef>
                <a:spcPts val="0"/>
              </a:spcBef>
              <a:spcAft>
                <a:spcPts val="100"/>
              </a:spcAft>
              <a:defRPr sz="800">
                <a:solidFill>
                  <a:srgbClr val="000000"/>
                </a:solidFill>
                <a:latin typeface="Courier New"/>
              </a:defRPr>
            </a:pPr>
            <a:r>
              <a:t>│  │  ✅ Visualize data (charts, graphs)                        │   │</a:t>
            </a:r>
          </a:p>
          <a:p>
            <a:pPr>
              <a:lnSpc>
                <a:spcPct val="100000"/>
              </a:lnSpc>
              <a:spcBef>
                <a:spcPts val="0"/>
              </a:spcBef>
              <a:spcAft>
                <a:spcPts val="100"/>
              </a:spcAft>
              <a:defRPr sz="800">
                <a:solidFill>
                  <a:srgbClr val="000000"/>
                </a:solidFill>
                <a:latin typeface="Courier New"/>
              </a:defRPr>
            </a:pPr>
            <a:r>
              <a:t>│  │  ✅ Provide business insights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USE CASE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User: "What were the sales trends for Q4 2024?"          │   │</a:t>
            </a:r>
          </a:p>
          <a:p>
            <a:pPr>
              <a:lnSpc>
                <a:spcPct val="100000"/>
              </a:lnSpc>
              <a:spcBef>
                <a:spcPts val="0"/>
              </a:spcBef>
              <a:spcAft>
                <a:spcPts val="100"/>
              </a:spcAft>
              <a:defRPr sz="800">
                <a:solidFill>
                  <a:srgbClr val="000000"/>
                </a:solidFill>
                <a:latin typeface="Courier New"/>
              </a:defRPr>
            </a:pPr>
            <a:r>
              <a:t>│  │  → Assistant queries the database                          │   │</a:t>
            </a:r>
          </a:p>
          <a:p>
            <a:pPr>
              <a:lnSpc>
                <a:spcPct val="100000"/>
              </a:lnSpc>
              <a:spcBef>
                <a:spcPts val="0"/>
              </a:spcBef>
              <a:spcAft>
                <a:spcPts val="100"/>
              </a:spcAft>
              <a:defRPr sz="800">
                <a:solidFill>
                  <a:srgbClr val="000000"/>
                </a:solidFill>
                <a:latin typeface="Courier New"/>
              </a:defRPr>
            </a:pPr>
            <a:r>
              <a:t>│  │  → Assistant analyzes the data                            │   │</a:t>
            </a:r>
          </a:p>
          <a:p>
            <a:pPr>
              <a:lnSpc>
                <a:spcPct val="100000"/>
              </a:lnSpc>
              <a:spcBef>
                <a:spcPts val="0"/>
              </a:spcBef>
              <a:spcAft>
                <a:spcPts val="100"/>
              </a:spcAft>
              <a:defRPr sz="800">
                <a:solidFill>
                  <a:srgbClr val="000000"/>
                </a:solidFill>
                <a:latin typeface="Courier New"/>
              </a:defRPr>
            </a:pPr>
            <a:r>
              <a:t>│  │  → Assistant generates a report with trends               │   │</a:t>
            </a:r>
          </a:p>
          <a:p>
            <a:pPr>
              <a:lnSpc>
                <a:spcPct val="100000"/>
              </a:lnSpc>
              <a:spcBef>
                <a:spcPts val="0"/>
              </a:spcBef>
              <a:spcAft>
                <a:spcPts val="100"/>
              </a:spcAft>
              <a:defRPr sz="800">
                <a:solidFill>
                  <a:srgbClr val="000000"/>
                </a:solidFill>
                <a:latin typeface="Courier New"/>
              </a:defRPr>
            </a:pPr>
            <a:r>
              <a:t>│  │  → Assistant creates a visualization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C.1  The Complete Journey</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THE COMPLETE JOURNEY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WHAT YOU'VE LEARNED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Built MCP servers with tools, resources, and prompts   │   │</a:t>
            </a:r>
          </a:p>
          <a:p>
            <a:pPr>
              <a:lnSpc>
                <a:spcPct val="100000"/>
              </a:lnSpc>
              <a:spcBef>
                <a:spcPts val="0"/>
              </a:spcBef>
              <a:spcAft>
                <a:spcPts val="100"/>
              </a:spcAft>
              <a:defRPr sz="800">
                <a:solidFill>
                  <a:srgbClr val="000000"/>
                </a:solidFill>
                <a:latin typeface="Courier New"/>
              </a:defRPr>
            </a:pPr>
            <a:r>
              <a:t>│  │  ✅ Created production-grade MCP clients                   │   │</a:t>
            </a:r>
          </a:p>
          <a:p>
            <a:pPr>
              <a:lnSpc>
                <a:spcPct val="100000"/>
              </a:lnSpc>
              <a:spcBef>
                <a:spcPts val="0"/>
              </a:spcBef>
              <a:spcAft>
                <a:spcPts val="100"/>
              </a:spcAft>
              <a:defRPr sz="800">
                <a:solidFill>
                  <a:srgbClr val="000000"/>
                </a:solidFill>
                <a:latin typeface="Courier New"/>
              </a:defRPr>
            </a:pPr>
            <a:r>
              <a:t>│  │  ✅ Integrated enterprise databases (SQLite, PostgreSQL)   │   │</a:t>
            </a:r>
          </a:p>
          <a:p>
            <a:pPr>
              <a:lnSpc>
                <a:spcPct val="100000"/>
              </a:lnSpc>
              <a:spcBef>
                <a:spcPts val="0"/>
              </a:spcBef>
              <a:spcAft>
                <a:spcPts val="100"/>
              </a:spcAft>
              <a:defRPr sz="800">
                <a:solidFill>
                  <a:srgbClr val="000000"/>
                </a:solidFill>
                <a:latin typeface="Courier New"/>
              </a:defRPr>
            </a:pPr>
            <a:r>
              <a:t>│  │  ✅ Built autonomous AI agents                            │   │</a:t>
            </a:r>
          </a:p>
          <a:p>
            <a:pPr>
              <a:lnSpc>
                <a:spcPct val="100000"/>
              </a:lnSpc>
              <a:spcBef>
                <a:spcPts val="0"/>
              </a:spcBef>
              <a:spcAft>
                <a:spcPts val="100"/>
              </a:spcAft>
              <a:defRPr sz="800">
                <a:solidFill>
                  <a:srgbClr val="000000"/>
                </a:solidFill>
                <a:latin typeface="Courier New"/>
              </a:defRPr>
            </a:pPr>
            <a:r>
              <a:t>│  │  ✅ Implemented A2A multi-agent collaboration             │   │</a:t>
            </a:r>
          </a:p>
          <a:p>
            <a:pPr>
              <a:lnSpc>
                <a:spcPct val="100000"/>
              </a:lnSpc>
              <a:spcBef>
                <a:spcPts val="0"/>
              </a:spcBef>
              <a:spcAft>
                <a:spcPts val="100"/>
              </a:spcAft>
              <a:defRPr sz="800">
                <a:solidFill>
                  <a:srgbClr val="000000"/>
                </a:solidFill>
                <a:latin typeface="Courier New"/>
              </a:defRPr>
            </a:pPr>
            <a:r>
              <a:t>│  │  ✅ Designed advanced multi-agent architectures           │   │</a:t>
            </a:r>
          </a:p>
          <a:p>
            <a:pPr>
              <a:lnSpc>
                <a:spcPct val="100000"/>
              </a:lnSpc>
              <a:spcBef>
                <a:spcPts val="0"/>
              </a:spcBef>
              <a:spcAft>
                <a:spcPts val="100"/>
              </a:spcAft>
              <a:defRPr sz="800">
                <a:solidFill>
                  <a:srgbClr val="000000"/>
                </a:solidFill>
                <a:latin typeface="Courier New"/>
              </a:defRPr>
            </a:pPr>
            <a:r>
              <a:t>│  │  ✅ Deployed production-ready AI systems                  │   │</a:t>
            </a:r>
          </a:p>
          <a:p>
            <a:pPr>
              <a:lnSpc>
                <a:spcPct val="100000"/>
              </a:lnSpc>
              <a:spcBef>
                <a:spcPts val="0"/>
              </a:spcBef>
              <a:spcAft>
                <a:spcPts val="100"/>
              </a:spcAft>
              <a:defRPr sz="800">
                <a:solidFill>
                  <a:srgbClr val="000000"/>
                </a:solidFill>
                <a:latin typeface="Courier New"/>
              </a:defRPr>
            </a:pPr>
            <a:r>
              <a:t>│  │  ✅ Built real-world AI applications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SKILLS ACQUIRED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Production-grade AI development                       │   │</a:t>
            </a:r>
          </a:p>
          <a:p>
            <a:pPr>
              <a:lnSpc>
                <a:spcPct val="100000"/>
              </a:lnSpc>
              <a:spcBef>
                <a:spcPts val="0"/>
              </a:spcBef>
              <a:spcAft>
                <a:spcPts val="100"/>
              </a:spcAft>
              <a:defRPr sz="800">
                <a:solidFill>
                  <a:srgbClr val="000000"/>
                </a:solidFill>
                <a:latin typeface="Courier New"/>
              </a:defRPr>
            </a:pPr>
            <a:r>
              <a:t>│  │  🚀 Enterprise system integration                         │   │</a:t>
            </a:r>
          </a:p>
          <a:p>
            <a:pPr>
              <a:lnSpc>
                <a:spcPct val="100000"/>
              </a:lnSpc>
              <a:spcBef>
                <a:spcPts val="0"/>
              </a:spcBef>
              <a:spcAft>
                <a:spcPts val="100"/>
              </a:spcAft>
              <a:defRPr sz="800">
                <a:solidFill>
                  <a:srgbClr val="000000"/>
                </a:solidFill>
                <a:latin typeface="Courier New"/>
              </a:defRPr>
            </a:pPr>
            <a:r>
              <a:t>│  │  🚀 Autonomous agent engineering                          │   │</a:t>
            </a:r>
          </a:p>
          <a:p>
            <a:pPr>
              <a:lnSpc>
                <a:spcPct val="100000"/>
              </a:lnSpc>
              <a:spcBef>
                <a:spcPts val="0"/>
              </a:spcBef>
              <a:spcAft>
                <a:spcPts val="100"/>
              </a:spcAft>
              <a:defRPr sz="800">
                <a:solidFill>
                  <a:srgbClr val="000000"/>
                </a:solidFill>
                <a:latin typeface="Courier New"/>
              </a:defRPr>
            </a:pPr>
            <a:r>
              <a:t>│  │  🚀 Multi-agent system design                             │   │</a:t>
            </a:r>
          </a:p>
          <a:p>
            <a:pPr>
              <a:lnSpc>
                <a:spcPct val="100000"/>
              </a:lnSpc>
              <a:spcBef>
                <a:spcPts val="0"/>
              </a:spcBef>
              <a:spcAft>
                <a:spcPts val="100"/>
              </a:spcAft>
              <a:defRPr sz="800">
                <a:solidFill>
                  <a:srgbClr val="000000"/>
                </a:solidFill>
                <a:latin typeface="Courier New"/>
              </a:defRPr>
            </a:pPr>
            <a:r>
              <a:t>│  │  🚀 Cloud deployment and orchestration                    │   │</a:t>
            </a:r>
          </a:p>
          <a:p>
            <a:pPr>
              <a:lnSpc>
                <a:spcPct val="100000"/>
              </a:lnSpc>
              <a:spcBef>
                <a:spcPts val="0"/>
              </a:spcBef>
              <a:spcAft>
                <a:spcPts val="100"/>
              </a:spcAft>
              <a:defRPr sz="800">
                <a:solidFill>
                  <a:srgbClr val="000000"/>
                </a:solidFill>
                <a:latin typeface="Courier New"/>
              </a:defRPr>
            </a:pPr>
            <a:r>
              <a:t>│  │  🚀 Security and observability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C.2  Next Steps</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NEXT STEPS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CONTINUE YOUR JOURNEY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1. EXTEND THE SYSTEM                               │   │   │</a:t>
            </a:r>
          </a:p>
          <a:p>
            <a:pPr>
              <a:lnSpc>
                <a:spcPct val="100000"/>
              </a:lnSpc>
              <a:spcBef>
                <a:spcPts val="0"/>
              </a:spcBef>
              <a:spcAft>
                <a:spcPts val="100"/>
              </a:spcAft>
              <a:defRPr sz="800">
                <a:solidFill>
                  <a:srgbClr val="000000"/>
                </a:solidFill>
                <a:latin typeface="Courier New"/>
              </a:defRPr>
            </a:pPr>
            <a:r>
              <a:t>│  │  │     Add more specialized agents                    │   │   │</a:t>
            </a:r>
          </a:p>
          <a:p>
            <a:pPr>
              <a:lnSpc>
                <a:spcPct val="100000"/>
              </a:lnSpc>
              <a:spcBef>
                <a:spcPts val="0"/>
              </a:spcBef>
              <a:spcAft>
                <a:spcPts val="100"/>
              </a:spcAft>
              <a:defRPr sz="800">
                <a:solidFill>
                  <a:srgbClr val="000000"/>
                </a:solidFill>
                <a:latin typeface="Courier New"/>
              </a:defRPr>
            </a:pPr>
            <a:r>
              <a:t>│  │  │     Integrate more data sources                     │   │   │</a:t>
            </a:r>
          </a:p>
          <a:p>
            <a:pPr>
              <a:lnSpc>
                <a:spcPct val="100000"/>
              </a:lnSpc>
              <a:spcBef>
                <a:spcPts val="0"/>
              </a:spcBef>
              <a:spcAft>
                <a:spcPts val="100"/>
              </a:spcAft>
              <a:defRPr sz="800">
                <a:solidFill>
                  <a:srgbClr val="000000"/>
                </a:solidFill>
                <a:latin typeface="Courier New"/>
              </a:defRPr>
            </a:pPr>
            <a:r>
              <a:t>│  │  │     Build custom tools for your domain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2. ADD MORE LLM PROVIDERS                          │   │   │</a:t>
            </a:r>
          </a:p>
          <a:p>
            <a:pPr>
              <a:lnSpc>
                <a:spcPct val="100000"/>
              </a:lnSpc>
              <a:spcBef>
                <a:spcPts val="0"/>
              </a:spcBef>
              <a:spcAft>
                <a:spcPts val="100"/>
              </a:spcAft>
              <a:defRPr sz="800">
                <a:solidFill>
                  <a:srgbClr val="000000"/>
                </a:solidFill>
                <a:latin typeface="Courier New"/>
              </a:defRPr>
            </a:pPr>
            <a:r>
              <a:t>│  │  │     Support Claude, Gemini, and others              │   │   │</a:t>
            </a:r>
          </a:p>
          <a:p>
            <a:pPr>
              <a:lnSpc>
                <a:spcPct val="100000"/>
              </a:lnSpc>
              <a:spcBef>
                <a:spcPts val="0"/>
              </a:spcBef>
              <a:spcAft>
                <a:spcPts val="100"/>
              </a:spcAft>
              <a:defRPr sz="800">
                <a:solidFill>
                  <a:srgbClr val="000000"/>
                </a:solidFill>
                <a:latin typeface="Courier New"/>
              </a:defRPr>
            </a:pPr>
            <a:r>
              <a:t>│  │  │     Compare model performance                      │   │   │</a:t>
            </a:r>
          </a:p>
          <a:p>
            <a:pPr>
              <a:lnSpc>
                <a:spcPct val="100000"/>
              </a:lnSpc>
              <a:spcBef>
                <a:spcPts val="0"/>
              </a:spcBef>
              <a:spcAft>
                <a:spcPts val="100"/>
              </a:spcAft>
              <a:defRPr sz="800">
                <a:solidFill>
                  <a:srgbClr val="000000"/>
                </a:solidFill>
                <a:latin typeface="Courier New"/>
              </a:defRPr>
            </a:pPr>
            <a:r>
              <a:t>│  │  │     Build fallback strategies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3. CONTRIBUTE TO OPEN SOURCE                       │   │   │</a:t>
            </a:r>
          </a:p>
          <a:p>
            <a:pPr>
              <a:lnSpc>
                <a:spcPct val="100000"/>
              </a:lnSpc>
              <a:spcBef>
                <a:spcPts val="0"/>
              </a:spcBef>
              <a:spcAft>
                <a:spcPts val="100"/>
              </a:spcAft>
              <a:defRPr sz="800">
                <a:solidFill>
                  <a:srgbClr val="000000"/>
                </a:solidFill>
                <a:latin typeface="Courier New"/>
              </a:defRPr>
            </a:pPr>
            <a:r>
              <a:t>│  │  │     Share improvements to MCP and A2A              │   │   │</a:t>
            </a:r>
          </a:p>
          <a:p>
            <a:pPr>
              <a:lnSpc>
                <a:spcPct val="100000"/>
              </a:lnSpc>
              <a:spcBef>
                <a:spcPts val="0"/>
              </a:spcBef>
              <a:spcAft>
                <a:spcPts val="100"/>
              </a:spcAft>
              <a:defRPr sz="800">
                <a:solidFill>
                  <a:srgbClr val="000000"/>
                </a:solidFill>
                <a:latin typeface="Courier New"/>
              </a:defRPr>
            </a:pPr>
            <a:r>
              <a:t>│  │  │     Build new MCP servers                          │   │   │</a:t>
            </a:r>
          </a:p>
          <a:p>
            <a:pPr>
              <a:lnSpc>
                <a:spcPct val="100000"/>
              </a:lnSpc>
              <a:spcBef>
                <a:spcPts val="0"/>
              </a:spcBef>
              <a:spcAft>
                <a:spcPts val="100"/>
              </a:spcAft>
              <a:defRPr sz="800">
                <a:solidFill>
                  <a:srgbClr val="000000"/>
                </a:solidFill>
                <a:latin typeface="Courier New"/>
              </a:defRPr>
            </a:pPr>
            <a:r>
              <a:t>│  │  │     Help grow the ecosystem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4. JOIN THE COMMUNITY                              │   │   │</a:t>
            </a:r>
          </a:p>
          <a:p>
            <a:pPr>
              <a:lnSpc>
                <a:spcPct val="100000"/>
              </a:lnSpc>
              <a:spcBef>
                <a:spcPts val="0"/>
              </a:spcBef>
              <a:spcAft>
                <a:spcPts val="100"/>
              </a:spcAft>
              <a:defRPr sz="800">
                <a:solidFill>
                  <a:srgbClr val="000000"/>
                </a:solidFill>
                <a:latin typeface="Courier New"/>
              </a:defRPr>
            </a:pPr>
            <a:r>
              <a:t>│  │  │     Connect with other AI engineers                 │   │   │</a:t>
            </a:r>
          </a:p>
          <a:p>
            <a:pPr>
              <a:lnSpc>
                <a:spcPct val="100000"/>
              </a:lnSpc>
              <a:spcBef>
                <a:spcPts val="0"/>
              </a:spcBef>
              <a:spcAft>
                <a:spcPts val="100"/>
              </a:spcAft>
              <a:defRPr sz="800">
                <a:solidFill>
                  <a:srgbClr val="000000"/>
                </a:solidFill>
                <a:latin typeface="Courier New"/>
              </a:defRPr>
            </a:pPr>
            <a:r>
              <a:t>│  │  │     Share your projects                             │   │   │</a:t>
            </a:r>
          </a:p>
          <a:p>
            <a:pPr>
              <a:lnSpc>
                <a:spcPct val="100000"/>
              </a:lnSpc>
              <a:spcBef>
                <a:spcPts val="0"/>
              </a:spcBef>
              <a:spcAft>
                <a:spcPts val="100"/>
              </a:spcAft>
              <a:defRPr sz="800">
                <a:solidFill>
                  <a:srgbClr val="000000"/>
                </a:solidFill>
                <a:latin typeface="Courier New"/>
              </a:defRPr>
            </a:pPr>
            <a:r>
              <a:t>│  │  │     Stay updated on protocol developments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20040"/>
            <a:ext cx="11460175" cy="594360"/>
          </a:xfrm>
          <a:prstGeom prst="rect">
            <a:avLst/>
          </a:prstGeom>
          <a:noFill/>
        </p:spPr>
        <p:txBody>
          <a:bodyPr wrap="square">
            <a:spAutoFit/>
          </a:bodyPr>
          <a:lstStyle/>
          <a:p>
            <a:pPr algn="l">
              <a:defRPr sz="2400" b="1">
                <a:solidFill>
                  <a:srgbClr val="000000"/>
                </a:solidFill>
                <a:latin typeface="Calibri"/>
              </a:defRPr>
            </a:pPr>
            <a:r>
              <a:t>C.3  Thank You</a:t>
            </a:r>
          </a:p>
        </p:txBody>
      </p:sp>
      <p:sp>
        <p:nvSpPr>
          <p:cNvPr id="3" name="TextBox 2"/>
          <p:cNvSpPr txBox="1"/>
          <p:nvPr/>
        </p:nvSpPr>
        <p:spPr>
          <a:xfrm>
            <a:off x="365760" y="1005840"/>
            <a:ext cx="11460175" cy="5486400"/>
          </a:xfrm>
          <a:prstGeom prst="rect">
            <a:avLst/>
          </a:prstGeom>
          <a:noFill/>
        </p:spPr>
        <p:txBody>
          <a:bodyPr wrap="none">
            <a:spAutoFit/>
          </a:bodyPr>
          <a:lstStyle/>
          <a:p>
            <a:pPr>
              <a:lnSpc>
                <a:spcPct val="100000"/>
              </a:lnSpc>
              <a:spcBef>
                <a:spcPts val="0"/>
              </a:spcBef>
              <a:spcAft>
                <a:spcPts val="100"/>
              </a:spcAft>
              <a:defRPr sz="800">
                <a:solidFill>
                  <a:srgbClr val="000000"/>
                </a:solidFill>
                <a:latin typeface="Courier New"/>
              </a:defRPr>
            </a:pPr>
            <a:r>
              <a:t>┌─────────────────────────────────────────────────────────────────────┐</a:t>
            </a:r>
          </a:p>
          <a:p>
            <a:pPr>
              <a:lnSpc>
                <a:spcPct val="100000"/>
              </a:lnSpc>
              <a:spcBef>
                <a:spcPts val="0"/>
              </a:spcBef>
              <a:spcAft>
                <a:spcPts val="100"/>
              </a:spcAft>
              <a:defRPr sz="800">
                <a:solidFill>
                  <a:srgbClr val="000000"/>
                </a:solidFill>
                <a:latin typeface="Courier New"/>
              </a:defRPr>
            </a:pPr>
            <a:r>
              <a:t>│              THANK YOU                                              │</a:t>
            </a:r>
          </a:p>
          <a:p>
            <a:pPr>
              <a:lnSpc>
                <a:spcPct val="100000"/>
              </a:lnSpc>
              <a:spcBef>
                <a:spcPts val="0"/>
              </a:spcBef>
              <a:spcAft>
                <a:spcPts val="100"/>
              </a:spcAft>
              <a:defRPr sz="800">
                <a:solidFill>
                  <a:srgbClr val="000000"/>
                </a:solidFill>
                <a:latin typeface="Courier New"/>
              </a:defRPr>
            </a:pPr>
            <a:r>
              <a:t>│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MASTERING AI INTEGRATION WITH MCP AND A2A            │   │</a:t>
            </a:r>
          </a:p>
          <a:p>
            <a:pPr>
              <a:lnSpc>
                <a:spcPct val="100000"/>
              </a:lnSpc>
              <a:spcBef>
                <a:spcPts val="0"/>
              </a:spcBef>
              <a:spcAft>
                <a:spcPts val="100"/>
              </a:spcAft>
              <a:defRPr sz="800">
                <a:solidFill>
                  <a:srgbClr val="000000"/>
                </a:solidFill>
                <a:latin typeface="Courier New"/>
              </a:defRPr>
            </a:pPr>
            <a:r>
              <a:t>│  │                     USING JAVASCRIPT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SERIES COMPLETE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"The best way to predict the future is to        │   │   │</a:t>
            </a:r>
          </a:p>
          <a:p>
            <a:pPr>
              <a:lnSpc>
                <a:spcPct val="100000"/>
              </a:lnSpc>
              <a:spcBef>
                <a:spcPts val="0"/>
              </a:spcBef>
              <a:spcAft>
                <a:spcPts val="100"/>
              </a:spcAft>
              <a:defRPr sz="800">
                <a:solidFill>
                  <a:srgbClr val="000000"/>
                </a:solidFill>
                <a:latin typeface="Courier New"/>
              </a:defRPr>
            </a:pPr>
            <a:r>
              <a:t>│  │  │   build it yourself."                             │   │   │</a:t>
            </a:r>
          </a:p>
          <a:p>
            <a:pPr>
              <a:lnSpc>
                <a:spcPct val="100000"/>
              </a:lnSpc>
              <a:spcBef>
                <a:spcPts val="0"/>
              </a:spcBef>
              <a:spcAft>
                <a:spcPts val="100"/>
              </a:spcAft>
              <a:defRPr sz="800">
                <a:solidFill>
                  <a:srgbClr val="000000"/>
                </a:solidFill>
                <a:latin typeface="Courier New"/>
              </a:defRPr>
            </a:pPr>
            <a:r>
              <a:t>│  │  │                          — Alan Kay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QUESTIONS?                                        │   │   │</a:t>
            </a:r>
          </a:p>
          <a:p>
            <a:pPr>
              <a:lnSpc>
                <a:spcPct val="100000"/>
              </a:lnSpc>
              <a:spcBef>
                <a:spcPts val="0"/>
              </a:spcBef>
              <a:spcAft>
                <a:spcPts val="100"/>
              </a:spcAft>
              <a:defRPr sz="800">
                <a:solidFill>
                  <a:srgbClr val="000000"/>
                </a:solidFill>
                <a:latin typeface="Courier New"/>
              </a:defRPr>
            </a:pPr>
            <a:r>
              <a:t>│  │  │  Let's keep building the future of AI together!   │   │   │</a:t>
            </a:r>
          </a:p>
          <a:p>
            <a:pPr>
              <a:lnSpc>
                <a:spcPct val="100000"/>
              </a:lnSpc>
              <a:spcBef>
                <a:spcPts val="0"/>
              </a:spcBef>
              <a:spcAft>
                <a:spcPts val="100"/>
              </a:spcAft>
              <a:defRPr sz="800">
                <a:solidFill>
                  <a:srgbClr val="000000"/>
                </a:solidFill>
                <a:latin typeface="Courier New"/>
              </a:defRPr>
            </a:pPr>
            <a:r>
              <a:t>│  │  └─────────────────────────────────────────────────────┘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 Resources:                                             │   │</a:t>
            </a:r>
          </a:p>
          <a:p>
            <a:pPr>
              <a:lnSpc>
                <a:spcPct val="100000"/>
              </a:lnSpc>
              <a:spcBef>
                <a:spcPts val="0"/>
              </a:spcBef>
              <a:spcAft>
                <a:spcPts val="100"/>
              </a:spcAft>
              <a:defRPr sz="800">
                <a:solidFill>
                  <a:srgbClr val="000000"/>
                </a:solidFill>
                <a:latin typeface="Courier New"/>
              </a:defRPr>
            </a:pPr>
            <a:r>
              <a:t>│  │  • MCP Specification: modelcontextprotocol.io              │   │</a:t>
            </a:r>
          </a:p>
          <a:p>
            <a:pPr>
              <a:lnSpc>
                <a:spcPct val="100000"/>
              </a:lnSpc>
              <a:spcBef>
                <a:spcPts val="0"/>
              </a:spcBef>
              <a:spcAft>
                <a:spcPts val="100"/>
              </a:spcAft>
              <a:defRPr sz="800">
                <a:solidFill>
                  <a:srgbClr val="000000"/>
                </a:solidFill>
                <a:latin typeface="Courier New"/>
              </a:defRPr>
            </a:pPr>
            <a:r>
              <a:t>│  │  • A2A Protocol: a2a-protocol.org                         │   │</a:t>
            </a:r>
          </a:p>
          <a:p>
            <a:pPr>
              <a:lnSpc>
                <a:spcPct val="100000"/>
              </a:lnSpc>
              <a:spcBef>
                <a:spcPts val="0"/>
              </a:spcBef>
              <a:spcAft>
                <a:spcPts val="100"/>
              </a:spcAft>
              <a:defRPr sz="800">
                <a:solidFill>
                  <a:srgbClr val="000000"/>
                </a:solidFill>
                <a:latin typeface="Courier New"/>
              </a:defRPr>
            </a:pPr>
            <a:r>
              <a:t>│  │  • GitHub: github.com/modelcontextprotocol                │   │</a:t>
            </a:r>
          </a:p>
          <a:p>
            <a:pPr>
              <a:lnSpc>
                <a:spcPct val="100000"/>
              </a:lnSpc>
              <a:spcBef>
                <a:spcPts val="0"/>
              </a:spcBef>
              <a:spcAft>
                <a:spcPts val="100"/>
              </a:spcAft>
              <a:defRPr sz="800">
                <a:solidFill>
                  <a:srgbClr val="000000"/>
                </a:solidFill>
                <a:latin typeface="Courier New"/>
              </a:defRPr>
            </a:pPr>
            <a:r>
              <a:t>│  │                                                             │   │</a:t>
            </a:r>
          </a:p>
          <a:p>
            <a:pPr>
              <a:lnSpc>
                <a:spcPct val="100000"/>
              </a:lnSpc>
              <a:spcBef>
                <a:spcPts val="0"/>
              </a:spcBef>
              <a:spcAft>
                <a:spcPts val="100"/>
              </a:spcAft>
              <a:defRPr sz="800">
                <a:solidFill>
                  <a:srgbClr val="000000"/>
                </a:solidFill>
                <a:latin typeface="Courier New"/>
              </a:defRPr>
            </a:pPr>
            <a:r>
              <a:t>│  └─────────────────────────────────────────────────────────────┘   │</a:t>
            </a:r>
          </a:p>
          <a:p>
            <a:pPr>
              <a:lnSpc>
                <a:spcPct val="100000"/>
              </a:lnSpc>
              <a:spcBef>
                <a:spcPts val="0"/>
              </a:spcBef>
              <a:spcAft>
                <a:spcPts val="100"/>
              </a:spcAft>
              <a:defRPr sz="800">
                <a:solidFill>
                  <a:srgbClr val="000000"/>
                </a:solidFill>
                <a:latin typeface="Courier New"/>
              </a:defRPr>
            </a:pPr>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