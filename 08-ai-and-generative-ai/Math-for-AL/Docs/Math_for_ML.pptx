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Welcome students. Explain that this course bridges the gap between abstract mathematical theory and production-grade machine learning. Designed specifically for software engineers, it bypasses heavy academic proofs in favor of applied frameworks required to understand data structures, optimize parameters, and interpret model behaviors from scratch.</a:t>
            </a:r>
          </a:p>
          <a:p>
            <a:r>
              <a:t>Key Talking Points: </a:t>
            </a:r>
          </a:p>
          <a:p>
            <a:r>
              <a:t>- This is not a traditional math course—it's a practical engineering curriculum</a:t>
            </a:r>
          </a:p>
          <a:p>
            <a:r>
              <a:t>- Every mathematical concept will be implemented in working Python code</a:t>
            </a:r>
          </a:p>
          <a:p>
            <a:r>
              <a:t>- By the end, students will build a complete ML system from scratch</a:t>
            </a:r>
          </a:p>
          <a:p>
            <a:r>
              <a:t>- No prior ML experience required—just basic Python and high school algebra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Explain the fundamental problem: most ML education either focuses entirely on theory without practical implementation, or teaches high-level frameworks without explaining what's happening under the hood. This course solves both problems simultaneously.</a:t>
            </a:r>
          </a:p>
          <a:p>
            <a:r>
              <a:t>Key Talking Points: </a:t>
            </a:r>
          </a:p>
          <a:p>
            <a:r>
              <a:t>- Machine learning isn't magic—it's engineering with mathematical tools</a:t>
            </a:r>
          </a:p>
          <a:p>
            <a:r>
              <a:t>- The goal is to understand what happens inside PyTorch/TensorFlow, not just use them</a:t>
            </a:r>
          </a:p>
          <a:p>
            <a:r>
              <a:t>- You'll graduate from "framework user" to "ML engineer"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Walk through each layer. Explain that this is what we'll build piece by piece. The final deliverable is a complete system .</a:t>
            </a:r>
          </a:p>
          <a:p>
            <a:r>
              <a:t>Key Talking Points: </a:t>
            </a:r>
          </a:p>
          <a:p>
            <a:r>
              <a:t>- Each layer corresponds to one part of the course</a:t>
            </a:r>
          </a:p>
          <a:p>
            <a:r>
              <a:t>- The layers are independent but work together</a:t>
            </a:r>
          </a:p>
          <a:p>
            <a:r>
              <a:t>- This architecture is used in production ML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Provide a roadmap overview. Explain that while we present this as one series, students should pace themselves. Each part builds on the previous ones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Linear algebra is the language of data. Every dataset is a matrix. Every ML model is a transformation of that matrix. This is why linear algebra is foundational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Start with the simplest concept. A vector is just a list of numbers, but in ML it represents a data point. Every row in your dataset is a vector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Walk through each operation. Show code examples. Emphasize that dot product is the foundation of many ML operations (similarity, weighted sums, attention).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dot product is the most important vector operation in ML. Show how it's used in linear regression, neural networks, and similarity metrics.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Norms measure magnitude. L2 is the Euclidean norm. L1 is robust to outliers. L∞ is the maximum component. Each has different ML applications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Vector spaces and basis are abstract but important. Explain that PCA essentially finds the optimal basis for representing data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Live demo. Show the complete Vector class. Run tests. Verify all operations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Show test output. Emphasize the importance of testing in production ML.</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Matrices are how we represent datasets in ML. Each row is a sample, each column is a feature. This is the standard data format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Matrix multiplication is the workhorse of ML. Forward pass in neural nets is matrix multiplication. Show dimension rules.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Transpose is essential. Show how it's used in gradient descent and covariance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Matrix inversion is used in the closed-form solution for linear regression. Show the normal equation. Note that for large data, we use iterative methods (gradient descent) instead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Live demo. Show the complete Matrix class. Demonstrate covariance computation and standardization.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Eigenvalues and eigenvectors are the foundation of PCA. They tell us the "directions of maximum variance" in our data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SVD is the Swiss Army knife of linear algebra. It works on any matrix and reveals hidden structure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singular values tell us the importance of each component. This is the foundation of dimensionality reduction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PCA is the most important application of SVD. It's used in almost every ML pipeline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explained variance tells us how many components to keep. This is a crucial practical decision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Live demo. Show SVD and PCA in action. Demonstrate the explained variance ratio.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Show the visual impact of PCA. Explain how reconstruction works.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Calculus is how ML models learn. The entire learning process is gradient-based optimization. Show the learning loop .</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Roadmap through the calculus section. Show how each module builds on the previous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Show the key formulas. Explain that these are the foundation of learning in ML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derivative is the foundation of optimization. Show the driving analogy. Explain that in ML, we're constantly computing derivatives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Numerical derivatives are useful for debugging and validation. Analytical derivatives are used in production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gradient is the most important concept in ML optimization. It tells us which direction to move .</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chain rule is the foundation of backpropagation. Show how it applies to neural networks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These are the gradients used in practice. Show how each is derived.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Live demo. Show numerical derivatives, gradients, and gradient checking.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Gradient descent is the most important algorithm in ML. This simple loop powers everything .</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learning rate is the most important hyperparameter. Show visual examples of different learning rates .</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Explain the tradeoffs. Mini-batch GD is the most common in practice .</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Momentum and Adam are the most common advanced optimizers. Explain how they improve convergence .</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Live demo. Show different optimizers converging.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Learning rate schedules are important for production training. Explain the tradeoffs .</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chain rule is the mathematical foundation of backpropagation. Show how it applies to neural networks .</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Computational graphs are the foundation of automatic differentiation. Show examples .</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Walk through the algorithm step by step. Show the matrix equations .</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Visual representation of forward and backward passes. Show how gradients flow backward .</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Live demo of neural network training on XOR. Show how backpropagation enables learning .</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Probability is how we handle uncertainty in ML. It's essential for classification, evaluation, and decision-making .</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Probability fundamentals. Use the spam detection example to show Bayes' rule in action .</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Explain the difference between discrete and continuous. Show examples of each .</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Gaussian is the most important distribution in ML. Show the 68-95-99.7 rule .</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Bayes' Theorem is fundamental for classification and updating beliefs. Show the medical test example .</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Live demo. Show Gaussian and Bernoulli distributions. Demonstrate MLE estimation .</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Conditional probability and Bayes are the foundation of classification .</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Naive Bayes is simple but effective. Explain the independence assumption and why it works .</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Gaussian Naive Bayes is the most common variant for continuous features. Show the math .</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Live demo. Show training and prediction with confidence scores.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Explain the difference between MLE and MAP. Show how MAP corresponds to regularization .</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bias-variance tradeoff is fundamental to ML. Explain with the archery analogy .</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Learning curves help diagnose bias vs variance issues. Show examples .</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Cross-validation is essential for model evaluation. Show the k-fold process .</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AIC and BIC are used for model selection. Explain the tradeoffs .</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Live demo. Show model evaluation with metrics and bias-variance analysis.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Numerical methods make math work on real computers. This is the bridge between theory and practice .</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Floating point errors are inevitable. Show examples and their impact on ML .</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Safe operations prevent NaN and Inf. Show implementations .</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log-sum-exp trick is essential for numerical stability in ML .</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Show the difference between unstable and stable softmax. This is a common pitfall .</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Live demo. Show safe operations and gradient clipping in action.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Show the complete pipeline architecture. Each component handles a specific concern .</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Data preprocessing is often 80% of the work in ML projects .</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The model pipeline orchestrates training, validation, and persistence .</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Show the complete pipeline running from end to end.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Show how to deploy the model as an API server .</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Docker makes deployment reproducible. Show the Dockerfile .</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CI/CD automates testing and deployment. Show the workflow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Recap what students have built. This is a significant accomplishment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PART 0</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INTRODUCTION &amp; COURSE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0.1</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Welcome &amp; Course Philosophy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Title Slide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100">
                <a:solidFill>
                  <a:srgbClr val="3C3C3C"/>
                </a:solidFill>
                <a:latin typeface="Consolas"/>
              </a:defRPr>
            </a:pPr>
            <a:r>
              <a:t>```</a:t>
            </a:r>
            <a:br/>
            <a:r>
              <a:t>━━━━━━━━━━━━━━━━━━━━━━━━━━━━━━━━━━━━━━━━━━━━━━━━━━━━━━━━━━━━━━━</a:t>
            </a:r>
            <a:br/>
            <a:r>
              <a:t>                   MATHEMATICS FOR MACHINE LEARNING</a:t>
            </a:r>
            <a:br/>
            <a:r>
              <a:t>                    A Pragmatic Engineering Curriculum</a:t>
            </a:r>
            <a:br/>
            <a:r>
              <a:t>━━━━━━━━━━━━━━━━━━━━━━━━━━━━━━━━━━━━━━━━━━━━━━━━━━━━━━━━━━━━━━━</a:t>
            </a:r>
            <a:br/>
            <a:br/>
            <a:r>
              <a:t>                  [Course Logo/Visual Placeholder]</a:t>
            </a:r>
            <a:br/>
            <a:br/>
            <a:r>
              <a:t>                        Code-Heavy · Production-Focused</a:t>
            </a:r>
            <a:br/>
            <a:r>
              <a:t>                      From Foundations to Deployment</a:t>
            </a:r>
            <a:br/>
            <a:r>
              <a:t>━━━━━━━━━━━━━━━━━━━━━━━━━━━━━━━━━━━━━━━━━━━━━━━━━━━━━━━━━━━━━━━</a:t>
            </a: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The Gap We're Bridging</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THE GAP WE'RE BRIDGING</a:t>
            </a:r>
            <a:br/>
            <a:r>
              <a:t>━━━━━━━━━━━━━━━━━━━━━━━━━━━━━━━━━━━━━━━━━━━━━━━━━━━━━━━━━━━━━━━</a:t>
            </a:r>
            <a:br/>
            <a:br/>
            <a:r>
              <a:t>    ┌─────────────────────────────────────────────────────────┐</a:t>
            </a:r>
            <a:br/>
            <a:r>
              <a:t>    │                     THE PROBLEM                          │</a:t>
            </a:r>
            <a:br/>
            <a:r>
              <a:t>    ├─────────────────────────────────────────────────────────┤</a:t>
            </a:r>
            <a:br/>
            <a:r>
              <a:t>    │                                                          │</a:t>
            </a:r>
            <a:br/>
            <a:r>
              <a:t>    │   ❌ Math textbooks: Abstract, no code                   │</a:t>
            </a:r>
            <a:br/>
            <a:r>
              <a:t>    │   ❌ ML tutorials: Black boxes, no math                 │</a:t>
            </a:r>
            <a:br/>
            <a:r>
              <a:t>    │   ❌ Research papers: Too dense, inaccessible           │</a:t>
            </a:r>
            <a:br/>
            <a:r>
              <a:t>    │                                                          │</a:t>
            </a:r>
            <a:br/>
            <a:r>
              <a:t>    └─────────────────────────────────────────────────────────┘</a:t>
            </a:r>
            <a:br/>
            <a:br/>
            <a:r>
              <a:t>    ┌─────────────────────────────────────────────────────────┐</a:t>
            </a:r>
            <a:br/>
            <a:r>
              <a:t>    │                  OUR SOLUTION                           │</a:t>
            </a:r>
            <a:br/>
            <a:r>
              <a:t>    ├─────────────────────────────────────────────────────────┤</a:t>
            </a:r>
            <a:br/>
            <a:r>
              <a:t>    │                                                          │</a:t>
            </a:r>
            <a:br/>
            <a:r>
              <a:t>    │   ✅ Math explained with analogies                      │</a:t>
            </a:r>
            <a:br/>
            <a:r>
              <a:t>    │   ✅ Every concept coded from scratch                    │</a:t>
            </a:r>
            <a:br/>
            <a:r>
              <a:t>    │   ✅ Production-ready implementations                   │</a:t>
            </a:r>
            <a:br/>
            <a:r>
              <a:t>    │   ✅ Real ML system as final deliverable                │</a:t>
            </a:r>
            <a:br/>
            <a:r>
              <a:t>    │                                                          │</a:t>
            </a:r>
            <a:br/>
            <a:r>
              <a:t>    └─────────────────────────────────────────────────────────┘</a:t>
            </a:r>
            <a:br/>
            <a:br/>
            <a:r>
              <a:t>━━━━━━━━━━━━━━━━━━━━━━━━━━━━━━━━━━━━━━━━━━━━━━━━━━━━━━━━━━━━━━━</a:t>
            </a: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Course Learning Objectives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LEARNING OBJECTIVES</a:t>
            </a:r>
            <a:br/>
            <a:r>
              <a:t>━━━━━━━━━━━━━━━━━━━━━━━━━━━━━━━━━━━━━━━━━━━━━━━━━━━━━━━━━━━━━━━</a:t>
            </a:r>
            <a:br/>
            <a:br/>
            <a:r>
              <a:t>    By the end of this course, you will be able to:</a:t>
            </a:r>
            <a:br/>
            <a:br/>
            <a:r>
              <a:t>    ┌─────────────────────────────────────────────────────────┐</a:t>
            </a:r>
            <a:br/>
            <a:r>
              <a:t>    │  1. 🎯 IMPLEMENT ALGORITHMS FROM SCRATCH               │</a:t>
            </a:r>
            <a:br/>
            <a:r>
              <a:t>    │     └─ No high-level frameworks—pure Python + NumPy   │</a:t>
            </a:r>
            <a:br/>
            <a:r>
              <a:t>    ├─────────────────────────────────────────────────────────┤</a:t>
            </a:r>
            <a:br/>
            <a:r>
              <a:t>    │  2. 🎯 UNDERSTAND ML MATHEMATICS                       │</a:t>
            </a:r>
            <a:br/>
            <a:r>
              <a:t>    │     └─ Linear algebra, calculus, probability          │</a:t>
            </a:r>
            <a:br/>
            <a:r>
              <a:t>    ├─────────────────────────────────────────────────────────┤</a:t>
            </a:r>
            <a:br/>
            <a:r>
              <a:t>    │  3. 🎯 BUILD PRODUCTION SYSTEMS                        │</a:t>
            </a:r>
            <a:br/>
            <a:r>
              <a:t>    │     └─ End-to-end pipeline, deployment-ready          │</a:t>
            </a:r>
            <a:br/>
            <a:r>
              <a:t>    ├─────────────────────────────────────────────────────────┤</a:t>
            </a:r>
            <a:br/>
            <a:r>
              <a:t>    │  4. 🎯 READ RESEARCH PAPERS                            │</a:t>
            </a:r>
            <a:br/>
            <a:r>
              <a:t>    │     └─ Understand notation and implement algorithms   │</a:t>
            </a:r>
            <a:br/>
            <a:r>
              <a:t>    ├─────────────────────────────────────────────────────────┤</a:t>
            </a:r>
            <a:br/>
            <a:r>
              <a:t>    │  5. 🎯 DEBUG &amp; OPTIMIZE ML CODE                       │</a:t>
            </a:r>
            <a:br/>
            <a:r>
              <a:t>    │     └─ Understand what goes wrong and why             │</a:t>
            </a:r>
            <a:br/>
            <a:r>
              <a:t>    └─────────────────────────────────────────────────────────┘</a:t>
            </a:r>
            <a:br/>
            <a:br/>
            <a:r>
              <a:t>━━━━━━━━━━━━━━━━━━━━━━━━━━━━━━━━━━━━━━━━━━━━━━━━━━━━━━━━━━━━━━━</a:t>
            </a:r>
            <a:b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Ultimate Architecture - What You'll Build</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THE ULTIMATE ARCHITECTURE</a:t>
            </a:r>
            <a:br/>
            <a:r>
              <a:t>━━━━━━━━━━━━━━━━━━━━━━━━━━━━━━━━━━━━━━━━━━━━━━━━━━━━━━━━━━━━━━━</a:t>
            </a:r>
            <a:br/>
            <a:br/>
            <a:r>
              <a:t>    ┌─────────────────────────────────────────────────────────────┐</a:t>
            </a:r>
            <a:br/>
            <a:r>
              <a:t>    │                     YOUR ML PIPELINE                        │</a:t>
            </a:r>
            <a:br/>
            <a:r>
              <a:t>    ├─────────────────────────────────────────────────────────────┤</a:t>
            </a:r>
            <a:br/>
            <a:r>
              <a:t>    │                                                              │</a:t>
            </a:r>
            <a:br/>
            <a:r>
              <a:t>    │  ┌──────────────────────────────────────────────────────┐   │</a:t>
            </a:r>
            <a:br/>
            <a:r>
              <a:t>    │  │               DATA LAYER                            │   │</a:t>
            </a:r>
            <a:br/>
            <a:r>
              <a:t>    │  │  ┌──────────────┐  ┌──────────────┐  ┌──────────┐ │   │</a:t>
            </a:r>
            <a:br/>
            <a:r>
              <a:t>    │  │  │ DataLoader   │  │  Preprocess  │  │  Tensor  │ │   │</a:t>
            </a:r>
            <a:br/>
            <a:r>
              <a:t>    │  │  └──────────────┘  └──────────────┘  └──────────┘ │   │</a:t>
            </a:r>
            <a:br/>
            <a:r>
              <a:t>    │  └──────────────────────────────────────────────────────┘   │</a:t>
            </a:r>
            <a:br/>
            <a:r>
              <a:t>    │                                                              │</a:t>
            </a:r>
            <a:br/>
            <a:r>
              <a:t>    │  ┌──────────────────────────────────────────────────────┐   │</a:t>
            </a:r>
            <a:br/>
            <a:r>
              <a:t>    │  │            TRANSFORMATION LAYER                     │   │</a:t>
            </a:r>
            <a:br/>
            <a:r>
              <a:t>    │  │  ┌──────────────┐  ┌──────────────┐  ┌──────────┐ │   │</a:t>
            </a:r>
            <a:br/>
            <a:r>
              <a:t>    │  │  │ Matrix Ops   │  │   SVD/PCA   │  │   SVD    │ │   │</a:t>
            </a:r>
            <a:br/>
            <a:r>
              <a:t>    │  │  └──────────────┘  └──────────────┘  └──────────┘ │   │</a:t>
            </a:r>
            <a:br/>
            <a:r>
              <a:t>    │  └──────────────────────────────────────────────────────┘   │</a:t>
            </a:r>
            <a:br/>
            <a:r>
              <a:t>    │                                                              │</a:t>
            </a:r>
            <a:br/>
            <a:r>
              <a:t>    │  ┌──────────────────────────────────────────────────────┐   │</a:t>
            </a:r>
            <a:br/>
            <a:r>
              <a:t>    │  │             OPTIMIZATION LAYER                      │   │</a:t>
            </a:r>
            <a:br/>
            <a:r>
              <a:t>    │  │  ┌──────────────┐  ┌──────────────┐  ┌──────────┐ │   │</a:t>
            </a:r>
            <a:br/>
            <a:r>
              <a:t>    │  │  │ Loss Funcs   │  │ Grad Descent │  │ Backprop │ │   │</a:t>
            </a:r>
            <a:br/>
            <a:r>
              <a:t>    │  │  └──────────────┘  └──────────────┘  └──────────┘ │   │</a:t>
            </a:r>
            <a:br/>
            <a:r>
              <a:t>    │  └──────────────────────────────────────────────────────┘   │</a:t>
            </a:r>
            <a:br/>
            <a:r>
              <a:t>    │                                                              │</a:t>
            </a:r>
            <a:br/>
            <a:r>
              <a:t>    │  ┌──────────────────────────────────────────────────────┐   │</a:t>
            </a:r>
            <a:br/>
            <a:r>
              <a:t>    │  │            PROBABILISTIC LAYER                      │   │</a:t>
            </a:r>
            <a:br/>
            <a:r>
              <a:t>    │  │  ┌──────────────┐  ┌──────────────┐  ┌──────────┐ │   │</a:t>
            </a:r>
            <a:br/>
            <a:r>
              <a:t>    │  │  │ Distributions│  │ Bayes' Thm  │  │ Evaluation│ │   │</a:t>
            </a:r>
            <a:br/>
            <a:r>
              <a:t>    │  │  └──────────────┘  └──────────────┘  └──────────┘ │   │</a:t>
            </a:r>
            <a:br/>
            <a:r>
              <a:t>    │  └──────────────────────────────────────────────────────┘   │</a:t>
            </a:r>
            <a:br/>
            <a:r>
              <a:t>    │                                                              │</a:t>
            </a:r>
            <a:br/>
            <a:r>
              <a:t>    │  ┌──────────────────────────────────────────────────────┐   │</a:t>
            </a:r>
            <a:br/>
            <a:r>
              <a:t>    │  │             APPLICATION LAYER                       │   │</a:t>
            </a:r>
            <a:br/>
            <a:r>
              <a:t>    │  │  ┌──────────────┐  ┌──────────────┐  ┌──────────┐ │   │</a:t>
            </a:r>
            <a:br/>
            <a:r>
              <a:t>    │  │  │  Logistic    │  │  Inference   │  │  Eval    │ │   │</a:t>
            </a:r>
            <a:br/>
            <a:r>
              <a:t>    │  │  │  Regression  │  │  Pipeline    │  │  Pipeline│ │   │</a:t>
            </a:r>
            <a:br/>
            <a:r>
              <a:t>    │  │  └──────────────┘  └──────────────┘  └──────────┘ │   │</a:t>
            </a:r>
            <a:br/>
            <a:r>
              <a:t>    │  └──────────────────────────────────────────────────────┘   │</a:t>
            </a:r>
            <a:br/>
            <a:r>
              <a:t>    └─────────────────────────────────────────────────────────────┘</a:t>
            </a:r>
            <a:br/>
            <a:br/>
            <a:r>
              <a:t>━━━━━━━━━━━━━━━━━━━━━━━━━━━━━━━━━━━━━━━━━━━━━━━━━━━━━━━━━━━━━━━</a:t>
            </a:r>
            <a:b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Course Structure at a Glance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COURSE STRUCTURE AT A GLANCE</a:t>
            </a:r>
            <a:br/>
            <a:r>
              <a:t>━━━━━━━━━━━━━━━━━━━━━━━━━━━━━━━━━━━━━━━━━━━━━━━━━━━━━━━━━━━━━━━</a:t>
            </a:r>
            <a:br/>
            <a:br/>
            <a:r>
              <a:t>    ╭───────────────────────────────────────────────────────────────╮</a:t>
            </a:r>
            <a:br/>
            <a:r>
              <a:t>    │  PART 1: LINEAR ALGEBRA — The Language of Data              │</a:t>
            </a:r>
            <a:br/>
            <a:r>
              <a:t>    │  ───────────────────────────────────────────────────────────  │</a:t>
            </a:r>
            <a:br/>
            <a:r>
              <a:t>    │  Modules: 3-4    │  Duration: ~12 hours                     │</a:t>
            </a:r>
            <a:br/>
            <a:r>
              <a:t>    │  Focus: Vectors, Matrices, Tensors, SVD, PCA                │</a:t>
            </a:r>
            <a:br/>
            <a:r>
              <a:t>    ├───────────────────────────────────────────────────────────────┤</a:t>
            </a:r>
            <a:br/>
            <a:r>
              <a:t>    │  PART 2: CALCULUS — The Engine of Optimization              │</a:t>
            </a:r>
            <a:br/>
            <a:r>
              <a:t>    │  ───────────────────────────────────────────────────────────  │</a:t>
            </a:r>
            <a:br/>
            <a:r>
              <a:t>    │  Modules: 3-4    │  Duration: ~12 hours                     │</a:t>
            </a:r>
            <a:br/>
            <a:r>
              <a:t>    │  Focus: Derivatives, Gradients, Backpropagation             │</a:t>
            </a:r>
            <a:br/>
            <a:r>
              <a:t>    ├───────────────────────────────────────────────────────────────┤</a:t>
            </a:r>
            <a:br/>
            <a:r>
              <a:t>    │  PART 3: PROBABILITY &amp; STATISTICS — Handling Uncertainty    │</a:t>
            </a:r>
            <a:br/>
            <a:r>
              <a:t>    │  ───────────────────────────────────────────────────────────  │</a:t>
            </a:r>
            <a:br/>
            <a:r>
              <a:t>    │  Modules: 3-4    │  Duration: ~12 hours                     │</a:t>
            </a:r>
            <a:br/>
            <a:r>
              <a:t>    │  Focus: Distributions, Bayes, MLE, Model Evaluation         │</a:t>
            </a:r>
            <a:br/>
            <a:r>
              <a:t>    ├───────────────────────────────────────────────────────────────┤</a:t>
            </a:r>
            <a:br/>
            <a:r>
              <a:t>    │  PART 4: APPLIED NUMERICAL METHODS — From Math to Code      │</a:t>
            </a:r>
            <a:br/>
            <a:r>
              <a:t>    │  ───────────────────────────────────────────────────────────  │</a:t>
            </a:r>
            <a:br/>
            <a:r>
              <a:t>    │  Modules: 3-4    │  Duration: ~12 hours                     │</a:t>
            </a:r>
            <a:br/>
            <a:r>
              <a:t>    │  Focus: Stability, Performance, Complete Pipeline           │</a:t>
            </a:r>
            <a:br/>
            <a:r>
              <a:t>    ╰───────────────────────────────────────────────────────────────╯</a:t>
            </a:r>
            <a:br/>
            <a:br/>
            <a:r>
              <a:t>    ━━━━━━━━━━━━━━━━━━━━━━━━━━━━━━━━━━━━━━━━━━━━━━━━━━━━━━━━━━━━━</a:t>
            </a:r>
            <a:br/>
            <a:r>
              <a:t>    Total: ~48 hours of content + ~30-40 hours of coding</a:t>
            </a:r>
            <a:br/>
            <a:r>
              <a:t>    Final Project: Production-Ready ML System</a:t>
            </a:r>
            <a:br/>
            <a:r>
              <a:t>━━━━━━━━━━━━━━━━━━━━━━━━━━━━━━━━━━━━━━━━━━━━━━━━━━━━━━━━━━━━━━━</a:t>
            </a:r>
            <a:b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PART 1</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LINEAR ALGEBRA — THE LANGUAGE OF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1.0</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Linear Algebra Overview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Why Linear Algebra?</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WHY LINEAR ALGEBRA?</a:t>
            </a:r>
            <a:br/>
            <a:r>
              <a:t>━━━━━━━━━━━━━━━━━━━━━━━━━━━━━━━━━━━━━━━━━━━━━━━━━━━━━━━━━━━━━━━</a:t>
            </a:r>
            <a:br/>
            <a:br/>
            <a:r>
              <a:t>    ┌─────────────────────────────────────────────────────────────┐</a:t>
            </a:r>
            <a:br/>
            <a:r>
              <a:t>    │                    THE ANALOGY                              │</a:t>
            </a:r>
            <a:br/>
            <a:r>
              <a:t>    │                                                              │</a:t>
            </a:r>
            <a:br/>
            <a:r>
              <a:t>    │   Imagine describing a house you want to buy:               │</a:t>
            </a:r>
            <a:br/>
            <a:r>
              <a:t>    │   • 2,000 sq ft • 3 bedrooms • 2 bathrooms                  │</a:t>
            </a:r>
            <a:br/>
            <a:r>
              <a:t>    │                                                              │</a:t>
            </a:r>
            <a:br/>
            <a:r>
              <a:t>    │   This is a VECTOR!                                         │</a:t>
            </a:r>
            <a:br/>
            <a:r>
              <a:t>    │                                                              │</a:t>
            </a:r>
            <a:br/>
            <a:r>
              <a:t>    │   A dataset is a collection of vectors → a MATRIX!          │</a:t>
            </a:r>
            <a:br/>
            <a:r>
              <a:t>    │                                                              │</a:t>
            </a:r>
            <a:br/>
            <a:r>
              <a:t>    └─────────────────────────────────────────────────────────────┘</a:t>
            </a:r>
            <a:br/>
            <a:br/>
            <a:r>
              <a:t>    ┌─────────────────────────────────────────────────────────────┐</a:t>
            </a:r>
            <a:br/>
            <a:r>
              <a:t>    │              WHY THIS MATTERS FOR ML                       │</a:t>
            </a:r>
            <a:br/>
            <a:r>
              <a:t>    ├─────────────────────────────────────────────────────────────┤</a:t>
            </a:r>
            <a:br/>
            <a:r>
              <a:t>    │                                                              │</a:t>
            </a:r>
            <a:br/>
            <a:r>
              <a:t>    │   ✓ Data is represented as vectors &amp; matrices               │</a:t>
            </a:r>
            <a:br/>
            <a:r>
              <a:t>    │   ✓ Transformations are matrix multiplications              │</a:t>
            </a:r>
            <a:br/>
            <a:r>
              <a:t>    │   ✓ Similarity is dot products                              │</a:t>
            </a:r>
            <a:br/>
            <a:r>
              <a:t>    │   ✓ Dimensionality reduction = SVD/PCA                     │</a:t>
            </a:r>
            <a:br/>
            <a:r>
              <a:t>    │   ✓ Neural networks = matrix multiplications               │</a:t>
            </a:r>
            <a:br/>
            <a:r>
              <a:t>    │                                                              │</a:t>
            </a:r>
            <a:br/>
            <a:r>
              <a:t>    └─────────────────────────────────────────────────────────────┘</a:t>
            </a:r>
            <a:br/>
            <a:br/>
            <a:r>
              <a:t>━━━━━━━━━━━━━━━━━━━━━━━━━━━━━━━━━━━━━━━━━━━━━━━━━━━━━━━━━━━━━━━</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Linear Algebra Roadmap</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LINEAR ALGEBRA ROADMAP</a:t>
            </a:r>
            <a:br/>
            <a:r>
              <a:t>━━━━━━━━━━━━━━━━━━━━━━━━━━━━━━━━━━━━━━━━━━━━━━━━━━━━━━━━━━━━━━━</a:t>
            </a:r>
            <a:br/>
            <a:br/>
            <a:r>
              <a:t>    ╭─────────────────────────────────────────────────────────────╮</a:t>
            </a:r>
            <a:br/>
            <a:r>
              <a:t>    │  MODULE 1: VECTORS — The Atoms of Data                     │</a:t>
            </a:r>
            <a:br/>
            <a:r>
              <a:t>    │  ─────────────────────────────────────────────────────────  │</a:t>
            </a:r>
            <a:br/>
            <a:r>
              <a:t>    │  • Vector operations (add, subtract, scale)                │</a:t>
            </a:r>
            <a:br/>
            <a:r>
              <a:t>    │  • Dot products (similarity)                               │</a:t>
            </a:r>
            <a:br/>
            <a:r>
              <a:t>    │  • Norms (magnitude)                                       │</a:t>
            </a:r>
            <a:br/>
            <a:r>
              <a:t>    │  • Distances                                               │</a:t>
            </a:r>
            <a:br/>
            <a:r>
              <a:t>    │  [CODE: Complete Vector class + tests]                    │</a:t>
            </a:r>
            <a:br/>
            <a:r>
              <a:t>    ├─────────────────────────────────────────────────────────────┤</a:t>
            </a:r>
            <a:br/>
            <a:r>
              <a:t>    │  MODULE 2: MATRICES — Datasets in 2D                      │</a:t>
            </a:r>
            <a:br/>
            <a:r>
              <a:t>    │  ─────────────────────────────────────────────────────────  │</a:t>
            </a:r>
            <a:br/>
            <a:r>
              <a:t>    │  • Matrix operations (add, multiply, transpose)           │</a:t>
            </a:r>
            <a:br/>
            <a:r>
              <a:t>    │  • Matrix-vector multiplication                           │</a:t>
            </a:r>
            <a:br/>
            <a:r>
              <a:t>    │  • Matrix inversion and determinants                      │</a:t>
            </a:r>
            <a:br/>
            <a:r>
              <a:t>    │  • Special matrices (identity, diagonal, symmetric)      │</a:t>
            </a:r>
            <a:br/>
            <a:r>
              <a:t>    │  [CODE: Complete Matrix class + tests]                   │</a:t>
            </a:r>
            <a:br/>
            <a:r>
              <a:t>    ├─────────────────────────────────────────────────────────────┤</a:t>
            </a:r>
            <a:br/>
            <a:r>
              <a:t>    │  MODULE 3: TENSORS &amp; DECOMPOSITIONS                       │</a:t>
            </a:r>
            <a:br/>
            <a:r>
              <a:t>    │  ─────────────────────────────────────────────────────────  │</a:t>
            </a:r>
            <a:br/>
            <a:r>
              <a:t>    │  • Tensors (3D+ data)                                    │</a:t>
            </a:r>
            <a:br/>
            <a:r>
              <a:t>    │  • Eigenvalues &amp; eigenvectors                             │</a:t>
            </a:r>
            <a:br/>
            <a:r>
              <a:t>    │  • Singular Value Decomposition (SVD)                    │</a:t>
            </a:r>
            <a:br/>
            <a:r>
              <a:t>    │  • Principal Component Analysis (PCA)                    │</a:t>
            </a:r>
            <a:br/>
            <a:r>
              <a:t>    │  [CODE: Tensor, SVD, PCA implementations]                │</a:t>
            </a:r>
            <a:br/>
            <a:r>
              <a:t>    ├─────────────────────────────────────────────────────────────┤</a:t>
            </a:r>
            <a:br/>
            <a:r>
              <a:t>    │  MODULE 4: REFERENCE — Linear Algebra in Practice         │</a:t>
            </a:r>
            <a:br/>
            <a:r>
              <a:t>    │  ─────────────────────────────────────────────────────────  │</a:t>
            </a:r>
            <a:br/>
            <a:r>
              <a:t>    │  • Numerical stability                                    │</a:t>
            </a:r>
            <a:br/>
            <a:r>
              <a:t>    │  • Performance optimization                               │</a:t>
            </a:r>
            <a:br/>
            <a:r>
              <a:t>    │  • Common pitfalls                                       │</a:t>
            </a:r>
            <a:br/>
            <a:r>
              <a:t>    │  • Production utilities                                  │</a:t>
            </a:r>
            <a:br/>
            <a:r>
              <a:t>    ╰─────────────────────────────────────────────────────────────╯</a:t>
            </a:r>
            <a:br/>
            <a:br/>
            <a:r>
              <a:t>━━━━━━━━━━━━━━━━━━━━━━━━━━━━━━━━━━━━━━━━━━━━━━━━━━━━━━━━━━━━━━━</a:t>
            </a:r>
            <a:b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Key Linear Algebra Concepts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KEY LINEAR ALGEBRA CONCEPTS</a:t>
            </a:r>
            <a:br/>
            <a:r>
              <a:t>━━━━━━━━━━━━━━━━━━━━━━━━━━━━━━━━━━━━━━━━━━━━━━━━━━━━━━━━━━━━━━━</a:t>
            </a:r>
            <a:br/>
            <a:br/>
            <a:r>
              <a:t>    ┌─────────────────────────────────────────────────────────────┐</a:t>
            </a:r>
            <a:br/>
            <a:r>
              <a:t>    │  CONCEPT          │  ML APPLICATION                        │</a:t>
            </a:r>
            <a:br/>
            <a:r>
              <a:t>    ├─────────────────────────────────────────────────────────────┤</a:t>
            </a:r>
            <a:br/>
            <a:r>
              <a:t>    │  Vectors          │  Data points, features    │</a:t>
            </a:r>
            <a:br/>
            <a:r>
              <a:t>    │  Matrices         │  Datasets, transformations             │</a:t>
            </a:r>
            <a:br/>
            <a:r>
              <a:t>    │  Dot Product      │  Similarity, weighted sums             │</a:t>
            </a:r>
            <a:br/>
            <a:r>
              <a:t>    │  Matrix Multiply  │  Forward pass in neural nets           │</a:t>
            </a:r>
            <a:br/>
            <a:r>
              <a:t>    │  Transpose        │  Data preparation, gradients           │</a:t>
            </a:r>
            <a:br/>
            <a:r>
              <a:t>    │  Determinant      │  Matrix invertibility                  │</a:t>
            </a:r>
            <a:br/>
            <a:r>
              <a:t>    │  Eigenvalues      │  PCA, covariance structure             │</a:t>
            </a:r>
            <a:br/>
            <a:r>
              <a:t>    │  SVD              │  Dimensionality reduction, denoising   │</a:t>
            </a:r>
            <a:br/>
            <a:r>
              <a:t>    │  PCA              │  Feature extraction, visualization     │</a:t>
            </a:r>
            <a:br/>
            <a:r>
              <a:t>    └─────────────────────────────────────────────────────────────┘</a:t>
            </a:r>
            <a:br/>
            <a:br/>
            <a:r>
              <a:t>    ┌─────────────────────────────────────────────────────────────┐</a:t>
            </a:r>
            <a:br/>
            <a:r>
              <a:t>    │                    KEY FORMULAS                            │</a:t>
            </a:r>
            <a:br/>
            <a:r>
              <a:t>    ├─────────────────────────────────────────────────────────────┤</a:t>
            </a:r>
            <a:br/>
            <a:r>
              <a:t>    │                                                              │</a:t>
            </a:r>
            <a:br/>
            <a:r>
              <a:t>    │  Dot Product:      u·v = Σ u_i v_i                        │</a:t>
            </a:r>
            <a:br/>
            <a:r>
              <a:t>    │  L2 Norm:          ||v||₂ = √(Σ v_i²)                     │</a:t>
            </a:r>
            <a:br/>
            <a:r>
              <a:t>    │  Matrix Multiply:  (AB)_ij = Σ_k A_ik B_kj               │</a:t>
            </a:r>
            <a:br/>
            <a:r>
              <a:t>    │  SVD:              A = UΣV^T                              │</a:t>
            </a:r>
            <a:br/>
            <a:r>
              <a:t>    │  PCA Projection:   T = X_c V                              │</a:t>
            </a:r>
            <a:br/>
            <a:r>
              <a:t>    │                                                              │</a:t>
            </a:r>
            <a:br/>
            <a:r>
              <a:t>    └─────────────────────────────────────────────────────────────┘</a:t>
            </a:r>
            <a:br/>
            <a:br/>
            <a:r>
              <a:t>━━━━━━━━━━━━━━━━━━━━━━━━━━━━━━━━━━━━━━━━━━━━━━━━━━━━━━━━━━━━━━━</a:t>
            </a:r>
            <a:br/>
            <a:r>
              <a:t>```</a:t>
            </a:r>
            <a:br/>
            <a:br/>
            <a: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1.1</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Vectors — The Atoms of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What is a Vector?</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WHAT IS A VECTOR?</a:t>
            </a:r>
            <a:br/>
            <a:r>
              <a:t>━━━━━━━━━━━━━━━━━━━━━━━━━━━━━━━━━━━━━━━━━━━━━━━━━━━━━━━━━━━━━━━</a:t>
            </a:r>
            <a:br/>
            <a:br/>
            <a:r>
              <a:t>    ┌─────────────────────────────────────────────────────────────┐</a:t>
            </a:r>
            <a:br/>
            <a:r>
              <a:t>    │                      DEFINITION                             │</a:t>
            </a:r>
            <a:br/>
            <a:r>
              <a:t>    ├─────────────────────────────────────────────────────────────┤</a:t>
            </a:r>
            <a:br/>
            <a:r>
              <a:t>    │                                                              │</a:t>
            </a:r>
            <a:br/>
            <a:r>
              <a:t>    │   A vector is an ordered list of numbers:                   │</a:t>
            </a:r>
            <a:br/>
            <a:r>
              <a:t>    │                                                              │</a:t>
            </a:r>
            <a:br/>
            <a:r>
              <a:t>    │   v = [v₁, v₂, v₃, ..., vₙ]                               │</a:t>
            </a:r>
            <a:br/>
            <a:r>
              <a:t>    │                                                              │</a:t>
            </a:r>
            <a:br/>
            <a:r>
              <a:t>    │   Each number is a component or coordinate.                 │</a:t>
            </a:r>
            <a:br/>
            <a:r>
              <a:t>    │   The number of components is the dimension.                │</a:t>
            </a:r>
            <a:br/>
            <a:r>
              <a:t>    │                                                              │</a:t>
            </a:r>
            <a:br/>
            <a:r>
              <a:t>    └─────────────────────────────────────────────────────────────┘</a:t>
            </a:r>
            <a:br/>
            <a:br/>
            <a:r>
              <a:t>    ┌─────────────────────────────────────────────────────────────┐</a:t>
            </a:r>
            <a:br/>
            <a:r>
              <a:t>    │                REAL-WORLD EXAMPLES                          │</a:t>
            </a:r>
            <a:br/>
            <a:r>
              <a:t>    ├─────────────────────────────────────────────────────────────┤</a:t>
            </a:r>
            <a:br/>
            <a:r>
              <a:t>    │                                                              │</a:t>
            </a:r>
            <a:br/>
            <a:r>
              <a:t>    │   House:         [2000, 3, 2]  (sqft, beds, baths)        │</a:t>
            </a:r>
            <a:br/>
            <a:r>
              <a:t>    │   RGB Color:     [255, 128, 0] (red, green, blue)         │</a:t>
            </a:r>
            <a:br/>
            <a:r>
              <a:t>    │   Word Embedding: [0.2, -0.5, 0.8, ...]                   │</a:t>
            </a:r>
            <a:br/>
            <a:r>
              <a:t>    │   Image:         [pixel₁, pixel₂, ...]                    │</a:t>
            </a:r>
            <a:br/>
            <a:r>
              <a:t>    │                                                              │</a:t>
            </a:r>
            <a:br/>
            <a:r>
              <a:t>    └─────────────────────────────────────────────────────────────┘</a:t>
            </a:r>
            <a:br/>
            <a:br/>
            <a:r>
              <a:t>    ┌─────────────────────────────────────────────────────────────┐</a:t>
            </a:r>
            <a:br/>
            <a:r>
              <a:t>    │                   PYTHON IMPLEMENTATION                     │</a:t>
            </a:r>
            <a:br/>
            <a:r>
              <a:t>    ├─────────────────────────────────────────────────────────────┤</a:t>
            </a:r>
            <a:br/>
            <a:r>
              <a:t>    │                                                              │</a:t>
            </a:r>
            <a:br/>
            <a:r>
              <a:t>    │   v = Vector([2000, 3, 2])                                 │</a:t>
            </a:r>
            <a:br/>
            <a:r>
              <a:t>    │   v.size  # 3                                              │</a:t>
            </a:r>
            <a:br/>
            <a:r>
              <a:t>    │   v[0]    # 2000                                           │</a:t>
            </a:r>
            <a:br/>
            <a:r>
              <a:t>    │                                                              │</a:t>
            </a:r>
            <a:br/>
            <a:r>
              <a:t>    └─────────────────────────────────────────────────────────────┘</a:t>
            </a:r>
            <a:br/>
            <a:br/>
            <a:r>
              <a:t>━━━━━━━━━━━━━━━━━━━━━━━━━━━━━━━━━━━━━━━━━━━━━━━━━━━━━━━━━━━━━━━</a:t>
            </a:r>
            <a:b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Vector Operations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VECTOR OPERATIONS</a:t>
            </a:r>
            <a:br/>
            <a:r>
              <a:t>━━━━━━━━━━━━━━━━━━━━━━━━━━━━━━━━━━━━━━━━━━━━━━━━━━━━━━━━━━━━━━━</a:t>
            </a:r>
            <a:br/>
            <a:br/>
            <a:r>
              <a:t>    ┌──────────────────────────────────────────────────────────────┐</a:t>
            </a:r>
            <a:br/>
            <a:r>
              <a:t>    │  OPERATION     │  FORMULA            │  CODE               │</a:t>
            </a:r>
            <a:br/>
            <a:r>
              <a:t>    ├──────────────────────────────────────────────────────────────┤</a:t>
            </a:r>
            <a:br/>
            <a:r>
              <a:t>    │  Addition      │  (u+v)_i = u_i+v_i │  u + v              │</a:t>
            </a:r>
            <a:br/>
            <a:r>
              <a:t>    │  Subtraction   │  (u-v)_i = u_i-v_i │  u - v              │</a:t>
            </a:r>
            <a:br/>
            <a:r>
              <a:t>    │  Scalar Mult.  │  (c·v)_i = c·v_i   │  c * v              │</a:t>
            </a:r>
            <a:br/>
            <a:r>
              <a:t>    │  Scalar Div.   │  (v/c)_i = v_i/c   │  v / c              │</a:t>
            </a:r>
            <a:br/>
            <a:r>
              <a:t>    │  Dot Product   │  u·v = Σ u_i v_i   │  u.dot(v)           │</a:t>
            </a:r>
            <a:br/>
            <a:r>
              <a:t>    │  L2 Norm       │  ||v||₂ = √(Σ v_i²)│  v.norm(2)          │</a:t>
            </a:r>
            <a:br/>
            <a:r>
              <a:t>    │  L1 Norm       │  ||v||₁ = Σ|v_i|   │  v.norm(1)          │</a:t>
            </a:r>
            <a:br/>
            <a:r>
              <a:t>    │  Normalization │  v̂ = v/||v||₂      │  v.normalize()      │</a:t>
            </a:r>
            <a:br/>
            <a:r>
              <a:t>    └──────────────────────────────────────────────────────────────┘</a:t>
            </a:r>
            <a:br/>
            <a:br/>
            <a:r>
              <a:t>    ┌─────────────────────────────────────────────────────────────┐</a:t>
            </a:r>
            <a:br/>
            <a:r>
              <a:t>    │               KEY INSIGHTS                                  │</a:t>
            </a:r>
            <a:br/>
            <a:r>
              <a:t>    ├─────────────────────────────────────────────────────────────┤</a:t>
            </a:r>
            <a:br/>
            <a:r>
              <a:t>    │                                                              │</a:t>
            </a:r>
            <a:br/>
            <a:r>
              <a:t>    │   • Addition combines data points                           │</a:t>
            </a:r>
            <a:br/>
            <a:r>
              <a:t>    │   • Dot product measures similarity           │</a:t>
            </a:r>
            <a:br/>
            <a:r>
              <a:t>    │   • Norm measures magnitude                                 │</a:t>
            </a:r>
            <a:br/>
            <a:r>
              <a:t>    │   • Normalization creates unit vectors                     │</a:t>
            </a:r>
            <a:br/>
            <a:r>
              <a:t>    │                                                              │</a:t>
            </a:r>
            <a:br/>
            <a:r>
              <a:t>    └─────────────────────────────────────────────────────────────┘</a:t>
            </a:r>
            <a:br/>
            <a:br/>
            <a:r>
              <a:t>━━━━━━━━━━━━━━━━━━━━━━━━━━━━━━━━━━━━━━━━━━━━━━━━━━━━━━━━━━━━━━━</a:t>
            </a:r>
            <a:br/>
            <a: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Dot Product — Measuring Similarity</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DOT PRODUCT — MEASURING SIMILARITY</a:t>
            </a:r>
            <a:br/>
            <a:r>
              <a:t>━━━━━━━━━━━━━━━━━━━━━━━━━━━━━━━━━━━━━━━━━━━━━━━━━━━━━━━━━━━━━━━</a:t>
            </a:r>
            <a:br/>
            <a:br/>
            <a:r>
              <a:t>    ┌─────────────────────────────────────────────────────────────┐</a:t>
            </a:r>
            <a:br/>
            <a:r>
              <a:t>    │                 THE FORMULA                                 │</a:t>
            </a:r>
            <a:br/>
            <a:r>
              <a:t>    ├─────────────────────────────────────────────────────────────┤</a:t>
            </a:r>
            <a:br/>
            <a:r>
              <a:t>    │                                                              │</a:t>
            </a:r>
            <a:br/>
            <a:r>
              <a:t>    │   u·v = u₁v₁ + u₂v₂ + ... + uₙvₙ                        │</a:t>
            </a:r>
            <a:br/>
            <a:r>
              <a:t>    │                                                              │</a:t>
            </a:r>
            <a:br/>
            <a:r>
              <a:t>    └─────────────────────────────────────────────────────────────┘</a:t>
            </a:r>
            <a:br/>
            <a:br/>
            <a:r>
              <a:t>    ┌─────────────────────────────────────────────────────────────┐</a:t>
            </a:r>
            <a:br/>
            <a:r>
              <a:t>    │                 THE INTUITION                               │</a:t>
            </a:r>
            <a:br/>
            <a:r>
              <a:t>    ├─────────────────────────────────────────────────────────────┤</a:t>
            </a:r>
            <a:br/>
            <a:r>
              <a:t>    │                                                              │</a:t>
            </a:r>
            <a:br/>
            <a:r>
              <a:t>    │   House 1: [2000, 3, 2]                                    │</a:t>
            </a:r>
            <a:br/>
            <a:r>
              <a:t>    │   House 2: [1500, 2, 1]                                    │</a:t>
            </a:r>
            <a:br/>
            <a:r>
              <a:t>    │                                                              │</a:t>
            </a:r>
            <a:br/>
            <a:r>
              <a:t>    │   dot = 2000*1500 + 3*2 + 2*1 = 3,000,008                 │</a:t>
            </a:r>
            <a:br/>
            <a:r>
              <a:t>    │   (Larger value = more similar)                           │</a:t>
            </a:r>
            <a:br/>
            <a:r>
              <a:t>    │                                                              │</a:t>
            </a:r>
            <a:br/>
            <a:r>
              <a:t>    │   (Normalized dot product = cosine similarity)             │</a:t>
            </a:r>
            <a:br/>
            <a:r>
              <a:t>    │                                                              │</a:t>
            </a:r>
            <a:br/>
            <a:r>
              <a:t>    └─────────────────────────────────────────────────────────────┘</a:t>
            </a:r>
            <a:br/>
            <a:br/>
            <a:r>
              <a:t>    ┌─────────────────────────────────────────────────────────────┐</a:t>
            </a:r>
            <a:br/>
            <a:r>
              <a:t>    │              ML APPLICATIONS                                │</a:t>
            </a:r>
            <a:br/>
            <a:r>
              <a:t>    ├─────────────────────────────────────────────────────────────┤</a:t>
            </a:r>
            <a:br/>
            <a:r>
              <a:t>    │                                                              │</a:t>
            </a:r>
            <a:br/>
            <a:r>
              <a:t>    │   ✓ Linear regression: y = w·x + b                        │</a:t>
            </a:r>
            <a:br/>
            <a:r>
              <a:t>    │   ✓ Neural networks: z = w·x + b                          │</a:t>
            </a:r>
            <a:br/>
            <a:r>
              <a:t>    │   ✓ Word embeddings: cosine similarity                    │</a:t>
            </a:r>
            <a:br/>
            <a:r>
              <a:t>    │   ✓ Recommendation systems: user-item similarity          │</a:t>
            </a:r>
            <a:br/>
            <a:r>
              <a:t>    │                                                              │</a:t>
            </a:r>
            <a:br/>
            <a:r>
              <a:t>    └─────────────────────────────────────────────────────────────┘</a:t>
            </a:r>
            <a:br/>
            <a:br/>
            <a:r>
              <a:t>━━━━━━━━━━━━━━━━━━━━━━━━━━━━━━━━━━━━━━━━━━━━━━━━━━━━━━━━━━━━━━━</a:t>
            </a:r>
            <a:br/>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Vector Norms — Measuring Magnitude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VECTOR NORMS — MEASURING MAGNITUDE</a:t>
            </a:r>
            <a:br/>
            <a:r>
              <a:t>━━━━━━━━━━━━━━━━━━━━━━━━━━━━━━━━━━━━━━━━━━━━━━━━━━━━━━━━━━━━━━━</a:t>
            </a:r>
            <a:br/>
            <a:br/>
            <a:r>
              <a:t>    ┌─────────────────────────────────────────────────────────────┐</a:t>
            </a:r>
            <a:br/>
            <a:r>
              <a:t>    │   NORM         │  FORMULA            │  ML USE             │</a:t>
            </a:r>
            <a:br/>
            <a:r>
              <a:t>    ├─────────────────────────────────────────────────────────────┤</a:t>
            </a:r>
            <a:br/>
            <a:r>
              <a:t>    │   L1           │  ||v||₁ = Σ|v_i|   │  Lasso regression  │</a:t>
            </a:r>
            <a:br/>
            <a:r>
              <a:t>    │   L2           │  ||v||₂ = √(Σv_i²) │  Ridge reg., SGD  │</a:t>
            </a:r>
            <a:br/>
            <a:r>
              <a:t>    │   L∞           │  ||v||∞ = max|v_i| │  Gradient clipping │</a:t>
            </a:r>
            <a:br/>
            <a:r>
              <a:t>    └─────────────────────────────────────────────────────────────┘</a:t>
            </a:r>
            <a:br/>
            <a:br/>
            <a:r>
              <a:t>    ┌─────────────────────────────────────────────────────────────┐</a:t>
            </a:r>
            <a:br/>
            <a:r>
              <a:t>    │                 VISUAL INTUITION                            │</a:t>
            </a:r>
            <a:br/>
            <a:r>
              <a:t>    ├─────────────────────────────────────────────────────────────┤</a:t>
            </a:r>
            <a:br/>
            <a:r>
              <a:t>    │                                                              │</a:t>
            </a:r>
            <a:br/>
            <a:r>
              <a:t>    │   v = [3, 4]                                                │</a:t>
            </a:r>
            <a:br/>
            <a:r>
              <a:t>    │                                                              │</a:t>
            </a:r>
            <a:br/>
            <a:r>
              <a:t>    │   L1 Norm: |3| + |4| = 7                                   │</a:t>
            </a:r>
            <a:br/>
            <a:r>
              <a:t>    │   L2 Norm: √(9 + 16) = 5                                   │</a:t>
            </a:r>
            <a:br/>
            <a:r>
              <a:t>    │   L∞ Norm: max(3, 4) = 4                                   │</a:t>
            </a:r>
            <a:br/>
            <a:r>
              <a:t>    │                                                              │</a:t>
            </a:r>
            <a:br/>
            <a:r>
              <a:t>    │   [Visual: Triangle with sides 3 and 4]                    │</a:t>
            </a:r>
            <a:br/>
            <a:r>
              <a:t>    │                                                              │</a:t>
            </a:r>
            <a:br/>
            <a:r>
              <a:t>    └─────────────────────────────────────────────────────────────┘</a:t>
            </a:r>
            <a:br/>
            <a:br/>
            <a:r>
              <a:t>    ┌─────────────────────────────────────────────────────────────┐</a:t>
            </a:r>
            <a:br/>
            <a:r>
              <a:t>    │                   CODE                                      │</a:t>
            </a:r>
            <a:br/>
            <a:r>
              <a:t>    ├─────────────────────────────────────────────────────────────┤</a:t>
            </a:r>
            <a:br/>
            <a:r>
              <a:t>    │                                                              │</a:t>
            </a:r>
            <a:br/>
            <a:r>
              <a:t>    │   v = Vector([3, 4])                                       │</a:t>
            </a:r>
            <a:br/>
            <a:r>
              <a:t>    │   v.norm(1)   # 7.0                                       │</a:t>
            </a:r>
            <a:br/>
            <a:r>
              <a:t>    │   v.norm(2)   # 5.0                                       │</a:t>
            </a:r>
            <a:br/>
            <a:r>
              <a:t>    │   v.norm(float('inf'))  # 4.0                             │</a:t>
            </a:r>
            <a:br/>
            <a:r>
              <a:t>    │                                                              │</a:t>
            </a:r>
            <a:br/>
            <a:r>
              <a:t>    └─────────────────────────────────────────────────────────────┘</a:t>
            </a:r>
            <a:br/>
            <a:br/>
            <a:r>
              <a:t>━━━━━━━━━━━━━━━━━━━━━━━━━━━━━━━━━━━━━━━━━━━━━━━━━━━━━━━━━━━━━━━</a:t>
            </a:r>
            <a:br/>
            <a: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Vector Spaces and Basis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VECTOR SPACES AND BASIS</a:t>
            </a:r>
            <a:br/>
            <a:r>
              <a:t>━━━━━━━━━━━━━━━━━━━━━━━━━━━━━━━━━━━━━━━━━━━━━━━━━━━━━━━━━━━━━━━</a:t>
            </a:r>
            <a:br/>
            <a:br/>
            <a:r>
              <a:t>    ┌─────────────────────────────────────────────────────────────┐</a:t>
            </a:r>
            <a:br/>
            <a:r>
              <a:t>    │                VECTOR SPACE                                 │</a:t>
            </a:r>
            <a:br/>
            <a:r>
              <a:t>    ├─────────────────────────────────────────────────────────────┤</a:t>
            </a:r>
            <a:br/>
            <a:r>
              <a:t>    │                                                              │</a:t>
            </a:r>
            <a:br/>
            <a:r>
              <a:t>    │   A vector space is a set of vectors that is closed        │</a:t>
            </a:r>
            <a:br/>
            <a:r>
              <a:t>    │   under addition and scalar multiplication.                 │</a:t>
            </a:r>
            <a:br/>
            <a:r>
              <a:t>    │                                                              │</a:t>
            </a:r>
            <a:br/>
            <a:r>
              <a:t>    │   Example: ℝ² = all 2D vectors                              │</a:t>
            </a:r>
            <a:br/>
            <a:r>
              <a:t>    │   Example: ℝ³ = all 3D vectors                              │</a:t>
            </a:r>
            <a:br/>
            <a:r>
              <a:t>    │   Example: ℝⁿ = all n-dimensional vectors                  │</a:t>
            </a:r>
            <a:br/>
            <a:r>
              <a:t>    │                                                              │</a:t>
            </a:r>
            <a:br/>
            <a:r>
              <a:t>    └─────────────────────────────────────────────────────────────┘</a:t>
            </a:r>
            <a:br/>
            <a:br/>
            <a:r>
              <a:t>    ┌─────────────────────────────────────────────────────────────┐</a:t>
            </a:r>
            <a:br/>
            <a:r>
              <a:t>    │                BASIS VECTORS                                │</a:t>
            </a:r>
            <a:br/>
            <a:r>
              <a:t>    ├─────────────────────────────────────────────────────────────┤</a:t>
            </a:r>
            <a:br/>
            <a:r>
              <a:t>    │                                                              │</a:t>
            </a:r>
            <a:br/>
            <a:r>
              <a:t>    │   A basis is a set of vectors that spans the space         │</a:t>
            </a:r>
            <a:br/>
            <a:r>
              <a:t>    │   and is linearly independent.                              │</a:t>
            </a:r>
            <a:br/>
            <a:r>
              <a:t>    │                                                              │</a:t>
            </a:r>
            <a:br/>
            <a:r>
              <a:t>    │   Standard basis in ℝ²:                                    │</a:t>
            </a:r>
            <a:br/>
            <a:r>
              <a:t>    │   e₁ = [1, 0], e₂ = [0, 1]                                │</a:t>
            </a:r>
            <a:br/>
            <a:r>
              <a:t>    │                                                              │</a:t>
            </a:r>
            <a:br/>
            <a:r>
              <a:t>    │   Any vector can be written as:                            │</a:t>
            </a:r>
            <a:br/>
            <a:r>
              <a:t>    │   v = a·e₁ + b·e₂                                         │</a:t>
            </a:r>
            <a:br/>
            <a:r>
              <a:t>    │                                                              │</a:t>
            </a:r>
            <a:br/>
            <a:r>
              <a:t>    └─────────────────────────────────────────────────────────────┘</a:t>
            </a:r>
            <a:br/>
            <a:br/>
            <a:r>
              <a:t>    ┌─────────────────────────────────────────────────────────────┐</a:t>
            </a:r>
            <a:br/>
            <a:r>
              <a:t>    │              WHY THIS MATTERS                              │</a:t>
            </a:r>
            <a:br/>
            <a:r>
              <a:t>    ├─────────────────────────────────────────────────────────────┤</a:t>
            </a:r>
            <a:br/>
            <a:r>
              <a:t>    │                                                              │</a:t>
            </a:r>
            <a:br/>
            <a:r>
              <a:t>    │   ✓ Different bases = different perspectives on data       │</a:t>
            </a:r>
            <a:br/>
            <a:r>
              <a:t>    │   ✓ PCA finds optimal basis                                │</a:t>
            </a:r>
            <a:br/>
            <a:r>
              <a:t>    │   ✓ Basis change = data transformation                    │</a:t>
            </a:r>
            <a:br/>
            <a:r>
              <a:t>    │                                                              │</a:t>
            </a:r>
            <a:br/>
            <a:r>
              <a:t>    └─────────────────────────────────────────────────────────────┘</a:t>
            </a:r>
            <a:br/>
            <a:br/>
            <a:r>
              <a:t>━━━━━━━━━━━━━━━━━━━━━━━━━━━━━━━━━━━━━━━━━━━━━━━━━━━━━━━━━━━━━━━</a:t>
            </a:r>
            <a:br/>
            <a: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Code Demo — Vector Operations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CODE DEMO — VECTOR OPERATIONS</a:t>
            </a:r>
            <a:br/>
            <a:r>
              <a:t>━━━━━━━━━━━━━━━━━━━━━━━━━━━━━━━━━━━━━━━━━━━━━━━━━━━━━━━━━━━━━━━</a:t>
            </a:r>
            <a:br/>
            <a:br/>
            <a:r>
              <a:t>    &gt;&gt;&gt; from src.linear_algebra import Vector</a:t>
            </a:r>
            <a:br/>
            <a:r>
              <a:t>    &gt;&gt;&gt;</a:t>
            </a:r>
            <a:br/>
            <a:r>
              <a:t>    &gt;&gt;&gt; v1 = Vector([1, 2, 3])</a:t>
            </a:r>
            <a:br/>
            <a:r>
              <a:t>    &gt;&gt;&gt; v2 = Vector([4, 5, 6])</a:t>
            </a:r>
            <a:br/>
            <a:r>
              <a:t>    &gt;&gt;&gt;</a:t>
            </a:r>
            <a:br/>
            <a:r>
              <a:t>    &gt;&gt;&gt; # Addition</a:t>
            </a:r>
            <a:br/>
            <a:r>
              <a:t>    &gt;&gt;&gt; v1 + v2</a:t>
            </a:r>
            <a:br/>
            <a:r>
              <a:t>    Vector([5.0, 7.0, 9.0])</a:t>
            </a:r>
            <a:br/>
            <a:r>
              <a:t>    &gt;&gt;&gt;</a:t>
            </a:r>
            <a:br/>
            <a:r>
              <a:t>    &gt;&gt;&gt; # Dot product (similarity)</a:t>
            </a:r>
            <a:br/>
            <a:r>
              <a:t>    &gt;&gt;&gt; v1.dot(v2)</a:t>
            </a:r>
            <a:br/>
            <a:r>
              <a:t>    32.0  # 1*4 + 2*5 + 3*6</a:t>
            </a:r>
            <a:br/>
            <a:r>
              <a:t>    &gt;&gt;&gt;</a:t>
            </a:r>
            <a:br/>
            <a:r>
              <a:t>    &gt;&gt;&gt; # Norm (magnitude)</a:t>
            </a:r>
            <a:br/>
            <a:r>
              <a:t>    &gt;&gt;&gt; v1.norm(2)</a:t>
            </a:r>
            <a:br/>
            <a:r>
              <a:t>    3.7416573867739413</a:t>
            </a:r>
            <a:br/>
            <a:r>
              <a:t>    &gt;&gt;&gt;</a:t>
            </a:r>
            <a:br/>
            <a:r>
              <a:t>    &gt;&gt;&gt; # Normalization (unit vector)</a:t>
            </a:r>
            <a:br/>
            <a:r>
              <a:t>    &gt;&gt;&gt; v1.normalize()</a:t>
            </a:r>
            <a:br/>
            <a:r>
              <a:t>    Vector([0.2673, 0.5345, 0.8018])</a:t>
            </a:r>
            <a:br/>
            <a:r>
              <a:t>    &gt;&gt;&gt;</a:t>
            </a:r>
            <a:br/>
            <a:r>
              <a:t>    &gt;&gt;&gt; # Distance between vectors</a:t>
            </a:r>
            <a:br/>
            <a:r>
              <a:t>    &gt;&gt;&gt; v1.distance(v2, 2)</a:t>
            </a:r>
            <a:br/>
            <a:r>
              <a:t>    5.196152422706632</a:t>
            </a:r>
            <a:br/>
            <a:br/>
            <a:r>
              <a:t>━━━━━━━━━━━━━━━━━━━━━━━━━━━━━━━━━━━━━━━━━━━━━━━━━━━━━━━━━━━━━━━</a:t>
            </a:r>
            <a:br/>
            <a: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Verification — Testing Vectors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VERIFICATION — TESTING VECTORS</a:t>
            </a:r>
            <a:br/>
            <a:r>
              <a:t>━━━━━━━━━━━━━━━━━━━━━━━━━━━━━━━━━━━━━━━━━━━━━━━━━━━━━━━━━━━━━━━</a:t>
            </a:r>
            <a:br/>
            <a:br/>
            <a:r>
              <a:t>    # Run the tests</a:t>
            </a:r>
            <a:br/>
            <a:r>
              <a:t>    $ pytest tests/test_linear_algebra.py -v</a:t>
            </a:r>
            <a:br/>
            <a:br/>
            <a:r>
              <a:t>    ==================== test session starts ====================</a:t>
            </a:r>
            <a:br/>
            <a:r>
              <a:t>    collected 18 items</a:t>
            </a:r>
            <a:br/>
            <a:br/>
            <a:r>
              <a:t>    tests/test_linear_algebra.py::TestVector::test_initialization PASSED</a:t>
            </a:r>
            <a:br/>
            <a:r>
              <a:t>    tests/test_linear_algebra.py::TestVector::test_add PASSED</a:t>
            </a:r>
            <a:br/>
            <a:r>
              <a:t>    tests/test_linear_algebra.py::TestVector::test_sub PASSED</a:t>
            </a:r>
            <a:br/>
            <a:r>
              <a:t>    tests/test_linear_algebra.py::TestVector::test_scalar_multiplication PASSED</a:t>
            </a:r>
            <a:br/>
            <a:r>
              <a:t>    tests/test_linear_algebra.py::TestVector::test_dot_product PASSED</a:t>
            </a:r>
            <a:br/>
            <a:r>
              <a:t>    tests/test_linear_algebra.py::TestVector::test_norm PASSED</a:t>
            </a:r>
            <a:br/>
            <a:r>
              <a:t>    tests/test_linear_algebra.py::TestVector::test_distance PASSED</a:t>
            </a:r>
            <a:br/>
            <a:r>
              <a:t>    tests/test_linear_algebra.py::TestVector::test_normalize PASSED</a:t>
            </a:r>
            <a:br/>
            <a:r>
              <a:t>    tests/test_linear_algebra.py::TestVector::test_mean PASSED</a:t>
            </a:r>
            <a:br/>
            <a:r>
              <a:t>    tests/test_linear_algebra.py::TestVector::test_variance PASSED</a:t>
            </a:r>
            <a:br/>
            <a:br/>
            <a:r>
              <a:t>    ==================== 18 passed in 0.12s ====================</a:t>
            </a:r>
            <a:br/>
            <a:br/>
            <a:r>
              <a:t>    ┌─────────────────────────────────────────────────────────────┐</a:t>
            </a:r>
            <a:br/>
            <a:r>
              <a:t>    │                    ✓ ALL TESTS PASS                       │</a:t>
            </a:r>
            <a:br/>
            <a:r>
              <a:t>    └─────────────────────────────────────────────────────────────┘</a:t>
            </a:r>
            <a:br/>
            <a:br/>
            <a:r>
              <a:t>━━━━━━━━━━━━━━━━━━━━━━━━━━━━━━━━━━━━━━━━━━━━━━━━━━━━━━━━━━━━━━━</a:t>
            </a:r>
            <a:br/>
            <a: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1.2</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Matrices — Datasets in 2D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What is a Matrix?</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WHAT IS A MATRIX?</a:t>
            </a:r>
            <a:br/>
            <a:r>
              <a:t>━━━━━━━━━━━━━━━━━━━━━━━━━━━━━━━━━━━━━━━━━━━━━━━━━━━━━━━━━━━━━━━</a:t>
            </a:r>
            <a:br/>
            <a:br/>
            <a:r>
              <a:t>    ┌─────────────────────────────────────────────────────────────┐</a:t>
            </a:r>
            <a:br/>
            <a:r>
              <a:t>    │                      DEFINITION                             │</a:t>
            </a:r>
            <a:br/>
            <a:r>
              <a:t>    ├─────────────────────────────────────────────────────────────┤</a:t>
            </a:r>
            <a:br/>
            <a:r>
              <a:t>    │                                                              │</a:t>
            </a:r>
            <a:br/>
            <a:r>
              <a:t>    │   A matrix is a 2D array of numbers:                        │</a:t>
            </a:r>
            <a:br/>
            <a:r>
              <a:t>    │                                                              │</a:t>
            </a:r>
            <a:br/>
            <a:r>
              <a:t>    │         ┌                    ┐                              │</a:t>
            </a:r>
            <a:br/>
            <a:r>
              <a:t>    │         │ a₁₁  a₁₂  ...  a₁ₙ│                              │</a:t>
            </a:r>
            <a:br/>
            <a:r>
              <a:t>    │         │ a₂₁  a₂₂  ...  a₂ₙ│                              │</a:t>
            </a:r>
            <a:br/>
            <a:r>
              <a:t>    │    A =  │  ⋮    ⋮    ⋱   ⋮ │                              │</a:t>
            </a:r>
            <a:br/>
            <a:r>
              <a:t>    │         │ aₘ₁  aₘ₂  ...  aₘₙ│                              │</a:t>
            </a:r>
            <a:br/>
            <a:r>
              <a:t>    │         └                    ┘                              │</a:t>
            </a:r>
            <a:br/>
            <a:r>
              <a:t>    │                                                              │</a:t>
            </a:r>
            <a:br/>
            <a:r>
              <a:t>    │   Shape: m rows × n columns                                │</a:t>
            </a:r>
            <a:br/>
            <a:r>
              <a:t>    │                                                              │</a:t>
            </a:r>
            <a:br/>
            <a:r>
              <a:t>    └─────────────────────────────────────────────────────────────┘</a:t>
            </a:r>
            <a:br/>
            <a:br/>
            <a:r>
              <a:t>    ┌─────────────────────────────────────────────────────────────┐</a:t>
            </a:r>
            <a:br/>
            <a:r>
              <a:t>    │              REAL-WORLD EXAMPLES                            │</a:t>
            </a:r>
            <a:br/>
            <a:r>
              <a:t>    ├─────────────────────────────────────────────────────────────┤</a:t>
            </a:r>
            <a:br/>
            <a:r>
              <a:t>    │                                                              │</a:t>
            </a:r>
            <a:br/>
            <a:r>
              <a:t>    │   Dataset: Each row = one sample, each column = one feature │</a:t>
            </a:r>
            <a:br/>
            <a:r>
              <a:t>    │   [2000, 3, 2]     House 1                                │</a:t>
            </a:r>
            <a:br/>
            <a:r>
              <a:t>    │   [1500, 2, 1]     House 2                                │</a:t>
            </a:r>
            <a:br/>
            <a:r>
              <a:t>    │   [1800, 3, 2]     House 3                                │</a:t>
            </a:r>
            <a:br/>
            <a:r>
              <a:t>    │   [2200, 4, 3]     House 4                                │</a:t>
            </a:r>
            <a:br/>
            <a:r>
              <a:t>    │                                                              │</a:t>
            </a:r>
            <a:br/>
            <a:r>
              <a:t>    │   Shape: 4 rows (houses) × 3 columns (features)            │</a:t>
            </a:r>
            <a:br/>
            <a:r>
              <a:t>    │                                                              │</a:t>
            </a:r>
            <a:br/>
            <a:r>
              <a:t>    └─────────────────────────────────────────────────────────────┘</a:t>
            </a:r>
            <a:br/>
            <a:br/>
            <a:r>
              <a:t>━━━━━━━━━━━━━━━━━━━━━━━━━━━━━━━━━━━━━━━━━━━━━━━━━━━━━━━━━━━━━━━</a:t>
            </a:r>
            <a:br/>
            <a: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Matrix Operations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MATRIX OPERATIONS</a:t>
            </a:r>
            <a:br/>
            <a:r>
              <a:t>━━━━━━━━━━━━━━━━━━━━━━━━━━━━━━━━━━━━━━━━━━━━━━━━━━━━━━━━━━━━━━━</a:t>
            </a:r>
            <a:br/>
            <a:br/>
            <a:r>
              <a:t>    ┌──────────────────────────────────────────────────────────────┐</a:t>
            </a:r>
            <a:br/>
            <a:r>
              <a:t>    │  OPERATION        │  RESULT SHAPE    │  CODE               │</a:t>
            </a:r>
            <a:br/>
            <a:r>
              <a:t>    ├──────────────────────────────────────────────────────────────┤</a:t>
            </a:r>
            <a:br/>
            <a:r>
              <a:t>    │  Addition         │  Same as input  │  A + B              │</a:t>
            </a:r>
            <a:br/>
            <a:r>
              <a:t>    │  Subtraction      │  Same as input  │  A - B              │</a:t>
            </a:r>
            <a:br/>
            <a:r>
              <a:t>    │  Scalar Multiply  │  Same as input  │  c * A              │</a:t>
            </a:r>
            <a:br/>
            <a:r>
              <a:t>    │  Transpose        │  (n, m)         │  A.T                │</a:t>
            </a:r>
            <a:br/>
            <a:r>
              <a:t>    │  Matrix Multiply  │  (m, p)         │  A @ B              │</a:t>
            </a:r>
            <a:br/>
            <a:r>
              <a:t>    │  Matrix-Vector    │  (m,)           │  A.vector_dot(v)    │</a:t>
            </a:r>
            <a:br/>
            <a:r>
              <a:t>    │  Inverse          │  (n, n)         │  A.inverse()        │</a:t>
            </a:r>
            <a:br/>
            <a:r>
              <a:t>    │  Determinant      │  scalar         │  A.determinant()    │</a:t>
            </a:r>
            <a:br/>
            <a:r>
              <a:t>    └──────────────────────────────────────────────────────────────┘</a:t>
            </a:r>
            <a:br/>
            <a:br/>
            <a:r>
              <a:t>    ┌─────────────────────────────────────────────────────────────┐</a:t>
            </a:r>
            <a:br/>
            <a:r>
              <a:t>    │                 MATRIX MULTIPLICATION                       │</a:t>
            </a:r>
            <a:br/>
            <a:r>
              <a:t>    ├─────────────────────────────────────────────────────────────┤</a:t>
            </a:r>
            <a:br/>
            <a:r>
              <a:t>    │                                                              │</a:t>
            </a:r>
            <a:br/>
            <a:r>
              <a:t>    │   A ∈ ℝ^(m×n), B ∈ ℝ^(n×p)                                │</a:t>
            </a:r>
            <a:br/>
            <a:r>
              <a:t>    │   (AB)_ij = Σ_k A_ik B_kj                                 │</a:t>
            </a:r>
            <a:br/>
            <a:r>
              <a:t>    │                                                              │</a:t>
            </a:r>
            <a:br/>
            <a:r>
              <a:t>    │   Example:                                                  │</a:t>
            </a:r>
            <a:br/>
            <a:r>
              <a:t>    │   [1, 2] @ [5, 6] = [19, 22]                              │</a:t>
            </a:r>
            <a:br/>
            <a:r>
              <a:t>    │   [3, 4]   [7, 8]   [43, 50]                              │</a:t>
            </a:r>
            <a:br/>
            <a:r>
              <a:t>    │                                                              │</a:t>
            </a:r>
            <a:br/>
            <a:r>
              <a:t>    └─────────────────────────────────────────────────────────────┘</a:t>
            </a:r>
            <a:br/>
            <a:br/>
            <a:r>
              <a:t>━━━━━━━━━━━━━━━━━━━━━━━━━━━━━━━━━━━━━━━━━━━━━━━━━━━━━━━━━━━━━━━</a:t>
            </a:r>
            <a:br/>
            <a: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Matrix Transpose and Its Importance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MATRIX TRANSPOSE AND ITS IMPORTANCE</a:t>
            </a:r>
            <a:br/>
            <a:r>
              <a:t>━━━━━━━━━━━━━━━━━━━━━━━━━━━━━━━━━━━━━━━━━━━━━━━━━━━━━━━━━━━━━━━</a:t>
            </a:r>
            <a:br/>
            <a:br/>
            <a:r>
              <a:t>    ┌─────────────────────────────────────────────────────────────┐</a:t>
            </a:r>
            <a:br/>
            <a:r>
              <a:t>    │                    TRANSPOSE                                │</a:t>
            </a:r>
            <a:br/>
            <a:r>
              <a:t>    ├─────────────────────────────────────────────────────────────┤</a:t>
            </a:r>
            <a:br/>
            <a:r>
              <a:t>    │                                                              │</a:t>
            </a:r>
            <a:br/>
            <a:r>
              <a:t>    │   (A^T)_ij = A_ji                                          │</a:t>
            </a:r>
            <a:br/>
            <a:r>
              <a:t>    │                                                              │</a:t>
            </a:r>
            <a:br/>
            <a:r>
              <a:t>    │   [1, 2, 3]^T = [1]                                        │</a:t>
            </a:r>
            <a:br/>
            <a:r>
              <a:t>    │   [4, 5, 6]     [2]                                       │</a:t>
            </a:r>
            <a:br/>
            <a:r>
              <a:t>    │                  [3]                                       │</a:t>
            </a:r>
            <a:br/>
            <a:r>
              <a:t>    │                  [4]                                       │</a:t>
            </a:r>
            <a:br/>
            <a:r>
              <a:t>    │                  [5]                                       │</a:t>
            </a:r>
            <a:br/>
            <a:r>
              <a:t>    │                  [6]                                       │</a:t>
            </a:r>
            <a:br/>
            <a:r>
              <a:t>    │                                                              │</a:t>
            </a:r>
            <a:br/>
            <a:r>
              <a:t>    └─────────────────────────────────────────────────────────────┘</a:t>
            </a:r>
            <a:br/>
            <a:br/>
            <a:r>
              <a:t>    ┌─────────────────────────────────────────────────────────────┐</a:t>
            </a:r>
            <a:br/>
            <a:r>
              <a:t>    │              WHY TRANSPOSE MATTERS                         │</a:t>
            </a:r>
            <a:br/>
            <a:r>
              <a:t>    ├─────────────────────────────────────────────────────────────┤</a:t>
            </a:r>
            <a:br/>
            <a:r>
              <a:t>    │                                                              │</a:t>
            </a:r>
            <a:br/>
            <a:r>
              <a:t>    │   ✓ Prepare data for matrix multiplication                 │</a:t>
            </a:r>
            <a:br/>
            <a:r>
              <a:t>    │   ✓ Compute covariance: X^T X                             │</a:t>
            </a:r>
            <a:br/>
            <a:r>
              <a:t>    │   ✓ Gradient computation: X^T (ŷ - y)                     │</a:t>
            </a:r>
            <a:br/>
            <a:r>
              <a:t>    │   ✓ PCA projections                                        │</a:t>
            </a:r>
            <a:br/>
            <a:r>
              <a:t>    │                                                              │</a:t>
            </a:r>
            <a:br/>
            <a:r>
              <a:t>    └─────────────────────────────────────────────────────────────┘</a:t>
            </a:r>
            <a:br/>
            <a:br/>
            <a:r>
              <a:t>    ┌─────────────────────────────────────────────────────────────┐</a:t>
            </a:r>
            <a:br/>
            <a:r>
              <a:t>    │                   CODE                                      │</a:t>
            </a:r>
            <a:br/>
            <a:r>
              <a:t>    ├─────────────────────────────────────────────────────────────┤</a:t>
            </a:r>
            <a:br/>
            <a:r>
              <a:t>    │                                                              │</a:t>
            </a:r>
            <a:br/>
            <a:r>
              <a:t>    │   A = Matrix([[1, 2, 3], [4, 5, 6]])                      │</a:t>
            </a:r>
            <a:br/>
            <a:r>
              <a:t>    │   A.T  # Matrix([[1, 4], [2, 5], [3, 6]])                 │</a:t>
            </a:r>
            <a:br/>
            <a:r>
              <a:t>    │                                                              │</a:t>
            </a:r>
            <a:br/>
            <a:r>
              <a:t>    └─────────────────────────────────────────────────────────────┘</a:t>
            </a:r>
            <a:br/>
            <a:br/>
            <a:r>
              <a:t>━━━━━━━━━━━━━━━━━━━━━━━━━━━━━━━━━━━━━━━━━━━━━━━━━━━━━━━━━━━━━━━</a:t>
            </a:r>
            <a:br/>
            <a: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Special Matrices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SPECIAL MATRICES</a:t>
            </a:r>
            <a:br/>
            <a:r>
              <a:t>━━━━━━━━━━━━━━━━━━━━━━━━━━━━━━━━━━━━━━━━━━━━━━━━━━━━━━━━━━━━━━━</a:t>
            </a:r>
            <a:br/>
            <a:br/>
            <a:r>
              <a:t>    ┌─────────────────────────────────────────────────────────────┐</a:t>
            </a:r>
            <a:br/>
            <a:r>
              <a:t>    │  MATRIX          │  DEFINITION       │  ML USE            │</a:t>
            </a:r>
            <a:br/>
            <a:r>
              <a:t>    ├─────────────────────────────────────────────────────────────┤</a:t>
            </a:r>
            <a:br/>
            <a:r>
              <a:t>    │  Identity        │  I_ij = 1 if i=j │  Starting point    │</a:t>
            </a:r>
            <a:br/>
            <a:r>
              <a:t>    │  Diagonal        │  D_ij = 0 if i≠j │  Scaling           │</a:t>
            </a:r>
            <a:br/>
            <a:r>
              <a:t>    │  Symmetric       │  A = A^T         │  Covariance        │</a:t>
            </a:r>
            <a:br/>
            <a:r>
              <a:t>    │  Orthogonal      │  Q^T Q = I       │  PCA, rotations    │</a:t>
            </a:r>
            <a:br/>
            <a:r>
              <a:t>    │  Positive Def.   │  x^T A x &gt; 0     │  Covariance        │</a:t>
            </a:r>
            <a:br/>
            <a:r>
              <a:t>    └─────────────────────────────────────────────────────────────┘</a:t>
            </a:r>
            <a:br/>
            <a:br/>
            <a:r>
              <a:t>    ┌─────────────────────────────────────────────────────────────┐</a:t>
            </a:r>
            <a:br/>
            <a:r>
              <a:t>    │                 IDENTITY MATRIX                             │</a:t>
            </a:r>
            <a:br/>
            <a:r>
              <a:t>    ├─────────────────────────────────────────────────────────────┤</a:t>
            </a:r>
            <a:br/>
            <a:r>
              <a:t>    │                                                              │</a:t>
            </a:r>
            <a:br/>
            <a:r>
              <a:t>    │   I = [1, 0, 0]                                            │</a:t>
            </a:r>
            <a:br/>
            <a:r>
              <a:t>    │       [0, 1, 0]                                            │</a:t>
            </a:r>
            <a:br/>
            <a:r>
              <a:t>    │       [0, 0, 1]                                            │</a:t>
            </a:r>
            <a:br/>
            <a:r>
              <a:t>    │                                                              │</a:t>
            </a:r>
            <a:br/>
            <a:r>
              <a:t>    │   AI = IA = A  (multiplicative identity)                  │</a:t>
            </a:r>
            <a:br/>
            <a:r>
              <a:t>    │                                                              │</a:t>
            </a:r>
            <a:br/>
            <a:r>
              <a:t>    └─────────────────────────────────────────────────────────────┘</a:t>
            </a:r>
            <a:br/>
            <a:br/>
            <a:r>
              <a:t>    ┌─────────────────────────────────────────────────────────────┐</a:t>
            </a:r>
            <a:br/>
            <a:r>
              <a:t>    │                   CODE                                      │</a:t>
            </a:r>
            <a:br/>
            <a:r>
              <a:t>    ├─────────────────────────────────────────────────────────────┤</a:t>
            </a:r>
            <a:br/>
            <a:r>
              <a:t>    │                                                              │</a:t>
            </a:r>
            <a:br/>
            <a:r>
              <a:t>    │   Matrix.identity(3)  # 3x3 identity matrix               │</a:t>
            </a:r>
            <a:br/>
            <a:r>
              <a:t>    │   Matrix.zeros(3, 4)  # 3x4 zero matrix                   │</a:t>
            </a:r>
            <a:br/>
            <a:r>
              <a:t>    │   Matrix.ones(3, 4)   # 3x4 ones matrix                   │</a:t>
            </a:r>
            <a:br/>
            <a:r>
              <a:t>    │                                                              │</a:t>
            </a:r>
            <a:br/>
            <a:r>
              <a:t>    └─────────────────────────────────────────────────────────────┘</a:t>
            </a:r>
            <a:br/>
            <a:br/>
            <a:r>
              <a:t>━━━━━━━━━━━━━━━━━━━━━━━━━━━━━━━━━━━━━━━━━━━━━━━━━━━━━━━━━━━━━━━</a:t>
            </a:r>
            <a:br/>
            <a: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Matrix Inversion and Solving Systems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MATRIX INVERSION AND SOLVING SYSTEMS</a:t>
            </a:r>
            <a:br/>
            <a:r>
              <a:t>━━━━━━━━━━━━━━━━━━━━━━━━━━━━━━━━━━━━━━━━━━━━━━━━━━━━━━━━━━━━━━━</a:t>
            </a:r>
            <a:br/>
            <a:br/>
            <a:r>
              <a:t>    ┌─────────────────────────────────────────────────────────────┐</a:t>
            </a:r>
            <a:br/>
            <a:r>
              <a:t>    │                    INVERSE                                  │</a:t>
            </a:r>
            <a:br/>
            <a:r>
              <a:t>    ├─────────────────────────────────────────────────────────────┤</a:t>
            </a:r>
            <a:br/>
            <a:r>
              <a:t>    │                                                              │</a:t>
            </a:r>
            <a:br/>
            <a:r>
              <a:t>    │   A^{-1} is the matrix such that:                          │</a:t>
            </a:r>
            <a:br/>
            <a:r>
              <a:t>    │                                                              │</a:t>
            </a:r>
            <a:br/>
            <a:r>
              <a:t>    │   A · A^{-1} = A^{-1} · A = I                             │</a:t>
            </a:r>
            <a:br/>
            <a:r>
              <a:t>    │                                                              │</a:t>
            </a:r>
            <a:br/>
            <a:r>
              <a:t>    │   Only defined for square, invertible matrices.            │</a:t>
            </a:r>
            <a:br/>
            <a:r>
              <a:t>    │                                                              │</a:t>
            </a:r>
            <a:br/>
            <a:r>
              <a:t>    └─────────────────────────────────────────────────────────────┘</a:t>
            </a:r>
            <a:br/>
            <a:br/>
            <a:r>
              <a:t>    ┌─────────────────────────────────────────────────────────────┐</a:t>
            </a:r>
            <a:br/>
            <a:r>
              <a:t>    │               SOLVING LINEAR SYSTEMS                        │</a:t>
            </a:r>
            <a:br/>
            <a:r>
              <a:t>    ├─────────────────────────────────────────────────────────────┤</a:t>
            </a:r>
            <a:br/>
            <a:r>
              <a:t>    │                                                              │</a:t>
            </a:r>
            <a:br/>
            <a:r>
              <a:t>    │   Ax = b  →  x = A^{-1} b                                 │</a:t>
            </a:r>
            <a:br/>
            <a:r>
              <a:t>    │                                                              │</a:t>
            </a:r>
            <a:br/>
            <a:r>
              <a:t>    │   This is the closed-form solution to linear regression!   │</a:t>
            </a:r>
            <a:br/>
            <a:r>
              <a:t>    │                                                              │</a:t>
            </a:r>
            <a:br/>
            <a:r>
              <a:t>    │   w = (X^T X)^{-1} X^T y                                  │</a:t>
            </a:r>
            <a:br/>
            <a:r>
              <a:t>    │                                                              │</a:t>
            </a:r>
            <a:br/>
            <a:r>
              <a:t>    └─────────────────────────────────────────────────────────────┘</a:t>
            </a:r>
            <a:br/>
            <a:br/>
            <a:r>
              <a:t>    ┌─────────────────────────────────────────────────────────────┐</a:t>
            </a:r>
            <a:br/>
            <a:r>
              <a:t>    │                   CODE                                      │</a:t>
            </a:r>
            <a:br/>
            <a:r>
              <a:t>    ├─────────────────────────────────────────────────────────────┤</a:t>
            </a:r>
            <a:br/>
            <a:r>
              <a:t>    │                                                              │</a:t>
            </a:r>
            <a:br/>
            <a:r>
              <a:t>    │   A = Matrix([[1, 2], [3, 4]])                            │</a:t>
            </a:r>
            <a:br/>
            <a:r>
              <a:t>    │   A.inverse()                                              │</a:t>
            </a:r>
            <a:br/>
            <a:r>
              <a:t>    │   # Matrix([[-2.0, 1.0], [1.5, -0.5]])                    │</a:t>
            </a:r>
            <a:br/>
            <a:r>
              <a:t>    │                                                              │</a:t>
            </a:r>
            <a:br/>
            <a:r>
              <a:t>    └─────────────────────────────────────────────────────────────┘</a:t>
            </a:r>
            <a:br/>
            <a:br/>
            <a:r>
              <a:t>━━━━━━━━━━━━━━━━━━━━━━━━━━━━━━━━━━━━━━━━━━━━━━━━━━━━━━━━━━━━━━━</a:t>
            </a:r>
            <a:br/>
            <a: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Code Demo — Matrix Operations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CODE DEMO — MATRIX OPERATIONS</a:t>
            </a:r>
            <a:br/>
            <a:r>
              <a:t>━━━━━━━━━━━━━━━━━━━━━━━━━━━━━━━━━━━━━━━━━━━━━━━━━━━━━━━━━━━━━━━</a:t>
            </a:r>
            <a:br/>
            <a:br/>
            <a:r>
              <a:t>    &gt;&gt;&gt; from src.linear_algebra import Matrix, Vector</a:t>
            </a:r>
            <a:br/>
            <a:r>
              <a:t>    &gt;&gt;&gt;</a:t>
            </a:r>
            <a:br/>
            <a:r>
              <a:t>    &gt;&gt;&gt; # Create dataset (4 houses, 3 features each)</a:t>
            </a:r>
            <a:br/>
            <a:r>
              <a:t>    &gt;&gt;&gt; data = Matrix([</a:t>
            </a:r>
            <a:br/>
            <a:r>
              <a:t>    ...     [2000, 3, 2],</a:t>
            </a:r>
            <a:br/>
            <a:r>
              <a:t>    ...     [1500, 2, 1],</a:t>
            </a:r>
            <a:br/>
            <a:r>
              <a:t>    ...     [1800, 3, 2],</a:t>
            </a:r>
            <a:br/>
            <a:r>
              <a:t>    ...     [2200, 4, 3]</a:t>
            </a:r>
            <a:br/>
            <a:r>
              <a:t>    ... ])</a:t>
            </a:r>
            <a:br/>
            <a:r>
              <a:t>    &gt;&gt;&gt;</a:t>
            </a:r>
            <a:br/>
            <a:r>
              <a:t>    &gt;&gt;&gt; # Extract features (columns)</a:t>
            </a:r>
            <a:br/>
            <a:r>
              <a:t>    &gt;&gt;&gt; sqft = data.col(0)  # [2000, 1500, 1800, 2200]</a:t>
            </a:r>
            <a:br/>
            <a:r>
              <a:t>    &gt;&gt;&gt; bedrooms = data.col(1)  # [3, 2, 3, 4]</a:t>
            </a:r>
            <a:br/>
            <a:r>
              <a:t>    &gt;&gt;&gt;</a:t>
            </a:r>
            <a:br/>
            <a:r>
              <a:t>    &gt;&gt;&gt; # Matrix multiplication</a:t>
            </a:r>
            <a:br/>
            <a:r>
              <a:t>    &gt;&gt;&gt; data.T @ data  # Gram matrix (feature correlations)</a:t>
            </a:r>
            <a:br/>
            <a:r>
              <a:t>    Matrix([[...]])</a:t>
            </a:r>
            <a:br/>
            <a:r>
              <a:t>    &gt;&gt;&gt;</a:t>
            </a:r>
            <a:br/>
            <a:r>
              <a:t>    &gt;&gt;&gt; # Standardize data</a:t>
            </a:r>
            <a:br/>
            <a:r>
              <a:t>    &gt;&gt;&gt; data.standardize()  # Mean 0, variance 1</a:t>
            </a:r>
            <a:br/>
            <a:r>
              <a:t>    &gt;&gt;&gt;</a:t>
            </a:r>
            <a:br/>
            <a:r>
              <a:t>    &gt;&gt;&gt; # Compute covariance</a:t>
            </a:r>
            <a:br/>
            <a:r>
              <a:t>    &gt;&gt;&gt; cov = data.T @ data / (data.rows - 1)</a:t>
            </a:r>
            <a:br/>
            <a:br/>
            <a:r>
              <a:t>━━━━━━━━━━━━━━━━━━━━━━━━━━━━━━━━━━━━━━━━━━━━━━━━━━━━━━━━━━━━━━━</a:t>
            </a:r>
            <a:br/>
            <a: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Verification — Testing Matrices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VERIFICATION — TESTING MATRICES</a:t>
            </a:r>
            <a:br/>
            <a:r>
              <a:t>━━━━━━━━━━━━━━━━━━━━━━━━━━━━━━━━━━━━━━━━━━━━━━━━━━━━━━━━━━━━━━━</a:t>
            </a:r>
            <a:br/>
            <a:br/>
            <a:r>
              <a:t>    # Run all linear algebra tests</a:t>
            </a:r>
            <a:br/>
            <a:r>
              <a:t>    $ pytest tests/test_linear_algebra.py -v</a:t>
            </a:r>
            <a:br/>
            <a:br/>
            <a:r>
              <a:t>    ==================== test session starts ====================</a:t>
            </a:r>
            <a:br/>
            <a:r>
              <a:t>    collected 36 items</a:t>
            </a:r>
            <a:br/>
            <a:br/>
            <a:r>
              <a:t>    tests/test_linear_algebra.py::TestVector::test_initialization PASSED</a:t>
            </a:r>
            <a:br/>
            <a:r>
              <a:t>    tests/test_linear_algebra.py::TestVector::test_norm PASSED</a:t>
            </a:r>
            <a:br/>
            <a:r>
              <a:t>    ...</a:t>
            </a:r>
            <a:br/>
            <a:r>
              <a:t>    tests/test_linear_algebra.py::TestMatrix::test_initialization PASSED</a:t>
            </a:r>
            <a:br/>
            <a:r>
              <a:t>    tests/test_linear_algebra.py::TestMatrix::test_multiplication PASSED</a:t>
            </a:r>
            <a:br/>
            <a:r>
              <a:t>    tests/test_linear_algebra.py::TestMatrix::test_inverse PASSED</a:t>
            </a:r>
            <a:br/>
            <a:r>
              <a:t>    tests/test_linear_algebra.py::TestMatrix::test_transpose PASSED</a:t>
            </a:r>
            <a:br/>
            <a:br/>
            <a:r>
              <a:t>    ==================== 36 passed in 0.23s ====================</a:t>
            </a:r>
            <a:br/>
            <a:br/>
            <a:r>
              <a:t>    ┌─────────────────────────────────────────────────────────────┐</a:t>
            </a:r>
            <a:br/>
            <a:r>
              <a:t>    │                    ✓ ALL TESTS PASS                       │</a:t>
            </a:r>
            <a:br/>
            <a:r>
              <a:t>    └─────────────────────────────────────────────────────────────┘</a:t>
            </a:r>
            <a:br/>
            <a:br/>
            <a:r>
              <a:t>━━━━━━━━━━━━━━━━━━━━━━━━━━━━━━━━━━━━━━━━━━━━━━━━━━━━━━━━━━━━━━━</a:t>
            </a:r>
            <a:br/>
            <a:r>
              <a:t>```</a:t>
            </a:r>
            <a:br/>
            <a:br/>
            <a: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1.3</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Decompositions — SVD and PCA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Eigenvalues and Eigenvectors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EIGENVALUES AND EIGENVECTORS</a:t>
            </a:r>
            <a:br/>
            <a:r>
              <a:t>━━━━━━━━━━━━━━━━━━━━━━━━━━━━━━━━━━━━━━━━━━━━━━━━━━━━━━━━━━━━━━━</a:t>
            </a:r>
            <a:br/>
            <a:br/>
            <a:r>
              <a:t>    ┌─────────────────────────────────────────────────────────────┐</a:t>
            </a:r>
            <a:br/>
            <a:r>
              <a:t>    │                 THE EQUATION                                │</a:t>
            </a:r>
            <a:br/>
            <a:r>
              <a:t>    ├─────────────────────────────────────────────────────────────┤</a:t>
            </a:r>
            <a:br/>
            <a:r>
              <a:t>    │                                                              │</a:t>
            </a:r>
            <a:br/>
            <a:r>
              <a:t>    │   Av = λv                                                  │</a:t>
            </a:r>
            <a:br/>
            <a:r>
              <a:t>    │                                                              │</a:t>
            </a:r>
            <a:br/>
            <a:r>
              <a:t>    │   A: Matrix                                                │</a:t>
            </a:r>
            <a:br/>
            <a:r>
              <a:t>    │   v: Eigenvector (direction that doesn't change)           │</a:t>
            </a:r>
            <a:br/>
            <a:r>
              <a:t>    │   λ: Eigenvalue (scaling factor)                           │</a:t>
            </a:r>
            <a:br/>
            <a:r>
              <a:t>    │                                                              │</a:t>
            </a:r>
            <a:br/>
            <a:r>
              <a:t>    └─────────────────────────────────────────────────────────────┘</a:t>
            </a:r>
            <a:br/>
            <a:br/>
            <a:r>
              <a:t>    ┌─────────────────────────────────────────────────────────────┐</a:t>
            </a:r>
            <a:br/>
            <a:r>
              <a:t>    │                 THE INTUITION                               │</a:t>
            </a:r>
            <a:br/>
            <a:r>
              <a:t>    ├─────────────────────────────────────────────────────────────┤</a:t>
            </a:r>
            <a:br/>
            <a:r>
              <a:t>    │                                                              │</a:t>
            </a:r>
            <a:br/>
            <a:r>
              <a:t>    │   Think of A as a transformation:                          │</a:t>
            </a:r>
            <a:br/>
            <a:r>
              <a:t>    │                                                              │</a:t>
            </a:r>
            <a:br/>
            <a:r>
              <a:t>    │   • Eigenvector = direction of pure stretching             │</a:t>
            </a:r>
            <a:br/>
            <a:r>
              <a:t>    │   • Eigenvalue = amount of stretching                      │</a:t>
            </a:r>
            <a:br/>
            <a:r>
              <a:t>    │                                                              │</a:t>
            </a:r>
            <a:br/>
            <a:r>
              <a:t>    │   Example: PCA finds directions of maximum variance        │</a:t>
            </a:r>
            <a:br/>
            <a:r>
              <a:t>    │   (these are eigenvectors of the covariance matrix)        │</a:t>
            </a:r>
            <a:br/>
            <a:r>
              <a:t>    │                                                              │</a:t>
            </a:r>
            <a:br/>
            <a:r>
              <a:t>    └─────────────────────────────────────────────────────────────┘</a:t>
            </a:r>
            <a:br/>
            <a:br/>
            <a:r>
              <a:t>    ┌─────────────────────────────────────────────────────────────┐</a:t>
            </a:r>
            <a:br/>
            <a:r>
              <a:t>    │              ML APPLICATIONS                                │</a:t>
            </a:r>
            <a:br/>
            <a:r>
              <a:t>    ├─────────────────────────────────────────────────────────────┤</a:t>
            </a:r>
            <a:br/>
            <a:r>
              <a:t>    │                                                              │</a:t>
            </a:r>
            <a:br/>
            <a:r>
              <a:t>    │   ✓ Principal Component Analysis                           │</a:t>
            </a:r>
            <a:br/>
            <a:r>
              <a:t>    │   ✓ PageRank (Google's algorithm)                          │</a:t>
            </a:r>
            <a:br/>
            <a:r>
              <a:t>    │   ✓ Covariance structure analysis                          │</a:t>
            </a:r>
            <a:br/>
            <a:r>
              <a:t>    │   ✓ Stability analysis                                     │</a:t>
            </a:r>
            <a:br/>
            <a:r>
              <a:t>    │                                                              │</a:t>
            </a:r>
            <a:br/>
            <a:r>
              <a:t>    └─────────────────────────────────────────────────────────────┘</a:t>
            </a:r>
            <a:br/>
            <a:br/>
            <a:r>
              <a:t>━━━━━━━━━━━━━━━━━━━━━━━━━━━━━━━━━━━━━━━━━━━━━━━━━━━━━━━━━━━━━━━</a:t>
            </a:r>
            <a:br/>
            <a: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Singular Value Decomposition (SVD)</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SINGULAR VALUE DECOMPOSITION (SVD)</a:t>
            </a:r>
            <a:br/>
            <a:r>
              <a:t>━━━━━━━━━━━━━━━━━━━━━━━━━━━━━━━━━━━━━━━━━━━━━━━━━━━━━━━━━━━━━━━</a:t>
            </a:r>
            <a:br/>
            <a:br/>
            <a:r>
              <a:t>    ┌─────────────────────────────────────────────────────────────┐</a:t>
            </a:r>
            <a:br/>
            <a:r>
              <a:t>    │              THE DECOMPOSITION                              │</a:t>
            </a:r>
            <a:br/>
            <a:r>
              <a:t>    ├─────────────────────────────────────────────────────────────┤</a:t>
            </a:r>
            <a:br/>
            <a:r>
              <a:t>    │                                                              │</a:t>
            </a:r>
            <a:br/>
            <a:r>
              <a:t>    │   A = U Σ V^T                                             │</a:t>
            </a:r>
            <a:br/>
            <a:r>
              <a:t>    │                                                              │</a:t>
            </a:r>
            <a:br/>
            <a:r>
              <a:t>    │   • U: Left singular vectors (m × m, orthogonal)           │</a:t>
            </a:r>
            <a:br/>
            <a:r>
              <a:t>    │   • Σ: Singular values (m × n, diagonal)                  │</a:t>
            </a:r>
            <a:br/>
            <a:r>
              <a:t>    │   • V: Right singular vectors (n × n, orthogonal)         │</a:t>
            </a:r>
            <a:br/>
            <a:r>
              <a:t>    │                                                              │</a:t>
            </a:r>
            <a:br/>
            <a:r>
              <a:t>    └─────────────────────────────────────────────────────────────┘</a:t>
            </a:r>
            <a:br/>
            <a:br/>
            <a:r>
              <a:t>    ┌─────────────────────────────────────────────────────────────┐</a:t>
            </a:r>
            <a:br/>
            <a:r>
              <a:t>    │              WHY SVD IS POWERFUL                            │</a:t>
            </a:r>
            <a:br/>
            <a:r>
              <a:t>    ├─────────────────────────────────────────────────────────────┤</a:t>
            </a:r>
            <a:br/>
            <a:r>
              <a:t>    │                                                              │</a:t>
            </a:r>
            <a:br/>
            <a:r>
              <a:t>    │   ✓ Works on ANY matrix (not just square)                  │</a:t>
            </a:r>
            <a:br/>
            <a:r>
              <a:t>    │   ✓ Reveals intrinsic dimension of data                    │</a:t>
            </a:r>
            <a:br/>
            <a:r>
              <a:t>    │   ✓ Numerically stable                                     │</a:t>
            </a:r>
            <a:br/>
            <a:r>
              <a:t>    │   ✓ Foundation of PCA                                      │</a:t>
            </a:r>
            <a:br/>
            <a:r>
              <a:t>    │   ✓ Used in recommender systems                            │</a:t>
            </a:r>
            <a:br/>
            <a:r>
              <a:t>    │   ✓ Used in image compression                              │</a:t>
            </a:r>
            <a:br/>
            <a:r>
              <a:t>    │                                                              │</a:t>
            </a:r>
            <a:br/>
            <a:r>
              <a:t>    └─────────────────────────────────────────────────────────────┘</a:t>
            </a:r>
            <a:br/>
            <a:br/>
            <a:r>
              <a:t>    ┌─────────────────────────────────────────────────────────────┐</a:t>
            </a:r>
            <a:br/>
            <a:r>
              <a:t>    │                   CODE                                      │</a:t>
            </a:r>
            <a:br/>
            <a:r>
              <a:t>    ├─────────────────────────────────────────────────────────────┤</a:t>
            </a:r>
            <a:br/>
            <a:r>
              <a:t>    │                                                              │</a:t>
            </a:r>
            <a:br/>
            <a:r>
              <a:t>    │   U, S, Vt = Decomposition.svd(A)                         │</a:t>
            </a:r>
            <a:br/>
            <a:r>
              <a:t>    │   # A ≈ U @ S @ Vt                                        │</a:t>
            </a:r>
            <a:br/>
            <a:r>
              <a:t>    │                                                              │</a:t>
            </a:r>
            <a:br/>
            <a:r>
              <a:t>    └─────────────────────────────────────────────────────────────┘</a:t>
            </a:r>
            <a:br/>
            <a:br/>
            <a:r>
              <a:t>━━━━━━━━━━━━━━━━━━━━━━━━━━━━━━━━━━━━━━━━━━━━━━━━━━━━━━━━━━━━━━━</a:t>
            </a:r>
            <a:br/>
            <a: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Understanding SVD — Visual Intuition</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UNDERSTANDING SVD — VISUAL INTUITION</a:t>
            </a:r>
            <a:br/>
            <a:r>
              <a:t>━━━━━━━━━━━━━━━━━━━━━━━━━━━━━━━━━━━━━━━━━━━━━━━━━━━━━━━━━━━━━━━</a:t>
            </a:r>
            <a:br/>
            <a:br/>
            <a:r>
              <a:t>    ┌─────────────────────────────────────────────────────────────┐</a:t>
            </a:r>
            <a:br/>
            <a:r>
              <a:t>    │              WHAT SVD TELLS US                              │</a:t>
            </a:r>
            <a:br/>
            <a:r>
              <a:t>    ├─────────────────────────────────────────────────────────────┤</a:t>
            </a:r>
            <a:br/>
            <a:r>
              <a:t>    │                                                              │</a:t>
            </a:r>
            <a:br/>
            <a:r>
              <a:t>    │   1. U columns = principal directions in original space    │</a:t>
            </a:r>
            <a:br/>
            <a:r>
              <a:t>    │   2. V columns = principal directions in feature space     │</a:t>
            </a:r>
            <a:br/>
            <a:r>
              <a:t>    │   3. Σ = importance of each direction                      │</a:t>
            </a:r>
            <a:br/>
            <a:r>
              <a:t>    │                                                              │</a:t>
            </a:r>
            <a:br/>
            <a:r>
              <a:t>    │   The singular values (σ₁ ≥ σ₂ ≥ σ₃ ≥ ...) tell us        │</a:t>
            </a:r>
            <a:br/>
            <a:r>
              <a:t>    │   how much variance is in each direction.                  │</a:t>
            </a:r>
            <a:br/>
            <a:r>
              <a:t>    │                                                              │</a:t>
            </a:r>
            <a:br/>
            <a:r>
              <a:t>    └─────────────────────────────────────────────────────────────┘</a:t>
            </a:r>
            <a:br/>
            <a:br/>
            <a:r>
              <a:t>    ┌─────────────────────────────────────────────────────────────┐</a:t>
            </a:r>
            <a:br/>
            <a:r>
              <a:t>    │              VISUAL EXAMPLE                                 │</a:t>
            </a:r>
            <a:br/>
            <a:r>
              <a:t>    ├─────────────────────────────────────────────────────────────┤</a:t>
            </a:r>
            <a:br/>
            <a:r>
              <a:t>    │                                                              │</a:t>
            </a:r>
            <a:br/>
            <a:r>
              <a:t>    │   σ₁ = 25.4  │  σ₂ = 1.3  │  σ₃ = 0.0                    │</a:t>
            </a:r>
            <a:br/>
            <a:r>
              <a:t>    │                                                              │</a:t>
            </a:r>
            <a:br/>
            <a:r>
              <a:t>    │   First singular value is much larger!                      │</a:t>
            </a:r>
            <a:br/>
            <a:r>
              <a:t>    │   → Data is approximately 1-dimensional                    │</a:t>
            </a:r>
            <a:br/>
            <a:r>
              <a:t>    │   → We can reduce dimension with minimal loss              │</a:t>
            </a:r>
            <a:br/>
            <a:r>
              <a:t>    │                                                              │</a:t>
            </a:r>
            <a:br/>
            <a:r>
              <a:t>    └─────────────────────────────────────────────────────────────┘</a:t>
            </a:r>
            <a:br/>
            <a:br/>
            <a:r>
              <a:t>    ┌─────────────────────────────────────────────────────────────┐</a:t>
            </a:r>
            <a:br/>
            <a:r>
              <a:t>    │                 LOW-RANK APPROXIMATION                      │</a:t>
            </a:r>
            <a:br/>
            <a:r>
              <a:t>    ├─────────────────────────────────────────────────────────────┤</a:t>
            </a:r>
            <a:br/>
            <a:r>
              <a:t>    │                                                              │</a:t>
            </a:r>
            <a:br/>
            <a:r>
              <a:t>    │   A ≈ U_k Σ_k V_k^T                                       │</a:t>
            </a:r>
            <a:br/>
            <a:r>
              <a:t>    │                                                              │</a:t>
            </a:r>
            <a:br/>
            <a:r>
              <a:t>    │   Keep only top k singular values.                         │</a:t>
            </a:r>
            <a:br/>
            <a:r>
              <a:t>    │   This is the optimal low-rank approximation!              │</a:t>
            </a:r>
            <a:br/>
            <a:r>
              <a:t>    │                                                              │</a:t>
            </a:r>
            <a:br/>
            <a:r>
              <a:t>    └─────────────────────────────────────────────────────────────┘</a:t>
            </a:r>
            <a:br/>
            <a:br/>
            <a:r>
              <a:t>━━━━━━━━━━━━━━━━━━━━━━━━━━━━━━━━━━━━━━━━━━━━━━━━━━━━━━━━━━━━━━━</a:t>
            </a:r>
            <a:br/>
            <a: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Principal Component Analysis (PCA)</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PRINCIPAL COMPONENT ANALYSIS (PCA)</a:t>
            </a:r>
            <a:br/>
            <a:r>
              <a:t>━━━━━━━━━━━━━━━━━━━━━━━━━━━━━━━━━━━━━━━━━━━━━━━━━━━━━━━━━━━━━━━</a:t>
            </a:r>
            <a:br/>
            <a:br/>
            <a:r>
              <a:t>    ┌─────────────────────────────────────────────────────────────┐</a:t>
            </a:r>
            <a:br/>
            <a:r>
              <a:t>    │              THE PROBLEM                                    │</a:t>
            </a:r>
            <a:br/>
            <a:r>
              <a:t>    ├─────────────────────────────────────────────────────────────┤</a:t>
            </a:r>
            <a:br/>
            <a:r>
              <a:t>    │                                                              │</a:t>
            </a:r>
            <a:br/>
            <a:r>
              <a:t>    │   High-dimensional data is hard to visualize and process.  │</a:t>
            </a:r>
            <a:br/>
            <a:r>
              <a:t>    │                                                              │</a:t>
            </a:r>
            <a:br/>
            <a:r>
              <a:t>    │   Example: 100 features × 1000 samples                     │</a:t>
            </a:r>
            <a:br/>
            <a:r>
              <a:t>    │   → Can we represent this with 2 features?                 │</a:t>
            </a:r>
            <a:br/>
            <a:r>
              <a:t>    │   → YES! PCA does exactly this.                           │</a:t>
            </a:r>
            <a:br/>
            <a:r>
              <a:t>    │                                                              │</a:t>
            </a:r>
            <a:br/>
            <a:r>
              <a:t>    └─────────────────────────────────────────────────────────────┘</a:t>
            </a:r>
            <a:br/>
            <a:br/>
            <a:r>
              <a:t>    ┌─────────────────────────────────────────────────────────────┐</a:t>
            </a:r>
            <a:br/>
            <a:r>
              <a:t>    │              THE ALGORITHM                                  │</a:t>
            </a:r>
            <a:br/>
            <a:r>
              <a:t>    ├─────────────────────────────────────────────────────────────┤</a:t>
            </a:r>
            <a:br/>
            <a:r>
              <a:t>    │                                                              │</a:t>
            </a:r>
            <a:br/>
            <a:r>
              <a:t>    │   1. Center the data: X_c = X - μ                         │</a:t>
            </a:r>
            <a:br/>
            <a:r>
              <a:t>    │   2. Compute SVD: X_c = U Σ V^T                           │</a:t>
            </a:r>
            <a:br/>
            <a:r>
              <a:t>    │   3. Components: V (right singular vectors)               │</a:t>
            </a:r>
            <a:br/>
            <a:r>
              <a:t>    │   4. Project: T = X_c V_k                                 │</a:t>
            </a:r>
            <a:br/>
            <a:r>
              <a:t>    │                                                              │</a:t>
            </a:r>
            <a:br/>
            <a:r>
              <a:t>    └─────────────────────────────────────────────────────────────┘</a:t>
            </a:r>
            <a:br/>
            <a:br/>
            <a:r>
              <a:t>    ┌─────────────────────────────────────────────────────────────┐</a:t>
            </a:r>
            <a:br/>
            <a:r>
              <a:t>    │              WHY PCA MATTERS                                │</a:t>
            </a:r>
            <a:br/>
            <a:r>
              <a:t>    ├─────────────────────────────────────────────────────────────┤</a:t>
            </a:r>
            <a:br/>
            <a:r>
              <a:t>    │                                                              │</a:t>
            </a:r>
            <a:br/>
            <a:r>
              <a:t>    │   ✓ Dimensionality reduction                               │</a:t>
            </a:r>
            <a:br/>
            <a:r>
              <a:t>    │   ✓ Visualization (reduce to 2D/3D)                        │</a:t>
            </a:r>
            <a:br/>
            <a:r>
              <a:t>    │   ✓ Noise reduction                                        │</a:t>
            </a:r>
            <a:br/>
            <a:r>
              <a:t>    │   ✓ Feature extraction                                     │</a:t>
            </a:r>
            <a:br/>
            <a:r>
              <a:t>    │   ✓ Faster models (fewer features)                        │</a:t>
            </a:r>
            <a:br/>
            <a:r>
              <a:t>    │                                                              │</a:t>
            </a:r>
            <a:br/>
            <a:r>
              <a:t>    └─────────────────────────────────────────────────────────────┘</a:t>
            </a:r>
            <a:br/>
            <a:br/>
            <a:r>
              <a:t>━━━━━━━━━━━━━━━━━━━━━━━━━━━━━━━━━━━━━━━━━━━━━━━━━━━━━━━━━━━━━━━</a:t>
            </a:r>
            <a:br/>
            <a: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PCA Explained Variance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PCA — EXPLAINED VARIANCE</a:t>
            </a:r>
            <a:br/>
            <a:r>
              <a:t>━━━━━━━━━━━━━━━━━━━━━━━━━━━━━━━━━━━━━━━━━━━━━━━━━━━━━━━━━━━━━━━</a:t>
            </a:r>
            <a:br/>
            <a:br/>
            <a:r>
              <a:t>    ┌─────────────────────────────────────────────────────────────┐</a:t>
            </a:r>
            <a:br/>
            <a:r>
              <a:t>    │              EXPLAINED VARIANCE RATIO                       │</a:t>
            </a:r>
            <a:br/>
            <a:r>
              <a:t>    ├─────────────────────────────────────────────────────────────┤</a:t>
            </a:r>
            <a:br/>
            <a:r>
              <a:t>    │                                                              │</a:t>
            </a:r>
            <a:br/>
            <a:r>
              <a:t>    │   For each component i:                                     │</a:t>
            </a:r>
            <a:br/>
            <a:r>
              <a:t>    │                                                              │</a:t>
            </a:r>
            <a:br/>
            <a:r>
              <a:t>    │   explained_variance_i = σ_i² / Σ σ_j²                    │</a:t>
            </a:r>
            <a:br/>
            <a:r>
              <a:t>    │                                                              │</a:t>
            </a:r>
            <a:br/>
            <a:r>
              <a:t>    │   This tells us how much variance each component captures. │</a:t>
            </a:r>
            <a:br/>
            <a:r>
              <a:t>    │                                                              │</a:t>
            </a:r>
            <a:br/>
            <a:r>
              <a:t>    └─────────────────────────────────────────────────────────────┘</a:t>
            </a:r>
            <a:br/>
            <a:br/>
            <a:r>
              <a:t>    ┌─────────────────────────────────────────────────────────────┐</a:t>
            </a:r>
            <a:br/>
            <a:r>
              <a:t>    │                VISUAL EXAMPLE                               │</a:t>
            </a:r>
            <a:br/>
            <a:r>
              <a:t>    ├─────────────────────────────────────────────────────────────┤</a:t>
            </a:r>
            <a:br/>
            <a:r>
              <a:t>    │                                                              │</a:t>
            </a:r>
            <a:br/>
            <a:r>
              <a:t>    │   ┌──────────────────────────────────────────────────────┐ │</a:t>
            </a:r>
            <a:br/>
            <a:r>
              <a:t>    │   │  Component 1: 96.3% of variance                     │ │</a:t>
            </a:r>
            <a:br/>
            <a:r>
              <a:t>    │   │  Component 2: 3.7% of variance                      │ │</a:t>
            </a:r>
            <a:br/>
            <a:r>
              <a:t>    │   │  Component 3: 0.0% of variance                      │ │</a:t>
            </a:r>
            <a:br/>
            <a:r>
              <a:t>    │   └──────────────────────────────────────────────────────┘ │</a:t>
            </a:r>
            <a:br/>
            <a:r>
              <a:t>    │                                                              │</a:t>
            </a:r>
            <a:br/>
            <a:r>
              <a:t>    │   → We can reduce from 3D to 2D while keeping 100% of     │</a:t>
            </a:r>
            <a:br/>
            <a:r>
              <a:t>    │     the meaningful variance!                               │</a:t>
            </a:r>
            <a:br/>
            <a:r>
              <a:t>    │                                                              │</a:t>
            </a:r>
            <a:br/>
            <a:r>
              <a:t>    └─────────────────────────────────────────────────────────────┘</a:t>
            </a:r>
            <a:br/>
            <a:br/>
            <a:r>
              <a:t>    ┌─────────────────────────────────────────────────────────────┐</a:t>
            </a:r>
            <a:br/>
            <a:r>
              <a:t>    │              CHOOSING K (NUMBER OF COMPONENTS)              │</a:t>
            </a:r>
            <a:br/>
            <a:r>
              <a:t>    ├─────────────────────────────────────────────────────────────┤</a:t>
            </a:r>
            <a:br/>
            <a:r>
              <a:t>    │                                                              │</a:t>
            </a:r>
            <a:br/>
            <a:r>
              <a:t>    │   • Look for "elbow" in explained variance plot            │</a:t>
            </a:r>
            <a:br/>
            <a:r>
              <a:t>    │   • Choose k that captures 95% variance                    │</a:t>
            </a:r>
            <a:br/>
            <a:r>
              <a:t>    │   • Rule of thumb: keep cumulative variance &gt; 90%          │</a:t>
            </a:r>
            <a:br/>
            <a:r>
              <a:t>    │                                                              │</a:t>
            </a:r>
            <a:br/>
            <a:r>
              <a:t>    └─────────────────────────────────────────────────────────────┘</a:t>
            </a:r>
            <a:br/>
            <a:br/>
            <a:r>
              <a:t>━━━━━━━━━━━━━━━━━━━━━━━━━━━━━━━━━━━━━━━━━━━━━━━━━━━━━━━━━━━━━━━</a:t>
            </a:r>
            <a:br/>
            <a: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Code Demo — SVD and PCA</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CODE DEMO — SVD AND PCA</a:t>
            </a:r>
            <a:br/>
            <a:r>
              <a:t>━━━━━━━━━━━━━━━━━━━━━━━━━━━━━━━━━━━━━━━━━━━━━━━━━━━━━━━━━━━━━━━</a:t>
            </a:r>
            <a:br/>
            <a:br/>
            <a:r>
              <a:t>    &gt;&gt;&gt; from src.linear_algebra import Matrix, Decomposition</a:t>
            </a:r>
            <a:br/>
            <a:r>
              <a:t>    &gt;&gt;&gt;</a:t>
            </a:r>
            <a:br/>
            <a:r>
              <a:t>    &gt;&gt;&gt; # Create dataset</a:t>
            </a:r>
            <a:br/>
            <a:r>
              <a:t>    &gt;&gt;&gt; data = Matrix([</a:t>
            </a:r>
            <a:br/>
            <a:r>
              <a:t>    ...     [2.5, 2.4], [0.5, 0.7], [2.2, 2.9],</a:t>
            </a:r>
            <a:br/>
            <a:r>
              <a:t>    ...     [1.9, 2.2], [3.1, 3.0], [2.3, 2.7],</a:t>
            </a:r>
            <a:br/>
            <a:r>
              <a:t>    ...     [2.0, 1.6], [1.0, 1.1], [1.5, 1.6], [1.1, 0.9]</a:t>
            </a:r>
            <a:br/>
            <a:r>
              <a:t>    ... ])</a:t>
            </a:r>
            <a:br/>
            <a:r>
              <a:t>    &gt;&gt;&gt;</a:t>
            </a:r>
            <a:br/>
            <a:r>
              <a:t>    &gt;&gt;&gt; # SVD</a:t>
            </a:r>
            <a:br/>
            <a:r>
              <a:t>    &gt;&gt;&gt; U, S, Vt = Decomposition.svd(data)</a:t>
            </a:r>
            <a:br/>
            <a:r>
              <a:t>    &gt;&gt;&gt; singular_values = [S[i, i] for i in range(min(S.rows, S.cols))]</a:t>
            </a:r>
            <a:br/>
            <a:r>
              <a:t>    &gt;&gt;&gt; print(f"Singular values: {singular_values}")</a:t>
            </a:r>
            <a:br/>
            <a:r>
              <a:t>    Singular values: [25.4624, 1.2907]</a:t>
            </a:r>
            <a:br/>
            <a:r>
              <a:t>    &gt;&gt;&gt;</a:t>
            </a:r>
            <a:br/>
            <a:r>
              <a:t>    &gt;&gt;&gt; # PCA: reduce to 1 dimension</a:t>
            </a:r>
            <a:br/>
            <a:r>
              <a:t>    &gt;&gt;&gt; projected, components, explained = Decomposition.pca(data, 1)</a:t>
            </a:r>
            <a:br/>
            <a:r>
              <a:t>    &gt;&gt;&gt; print(f"Explained variance: {explained[0]:.4f}")</a:t>
            </a:r>
            <a:br/>
            <a:r>
              <a:t>    Explained variance: 0.9632</a:t>
            </a:r>
            <a:br/>
            <a:br/>
            <a:r>
              <a:t>━━━━━━━━━━━━━━━━━━━━━━━━━━━━━━━━━━━━━━━━━━━━━━━━━━━━━━━━━━━━━━━</a:t>
            </a:r>
            <a:b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PCA Visualization</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PCA VISUALIZATION</a:t>
            </a:r>
            <a:br/>
            <a:r>
              <a:t>━━━━━━━━━━━━━━━━━━━━━━━━━━━━━━━━━━━━━━━━━━━━━━━━━━━━━━━━━━━━━━━</a:t>
            </a:r>
            <a:br/>
            <a:br/>
            <a:r>
              <a:t>    ┌─────────────────────────────────────────────────────────────┐</a:t>
            </a:r>
            <a:br/>
            <a:r>
              <a:t>    │              BEFORE PCA (2D ORIGINAL DATA)                  │</a:t>
            </a:r>
            <a:br/>
            <a:r>
              <a:t>    ├─────────────────────────────────────────────────────────────┤</a:t>
            </a:r>
            <a:br/>
            <a:r>
              <a:t>    │                                                              │</a:t>
            </a:r>
            <a:br/>
            <a:r>
              <a:t>    │   [Scatter plot of 2D data points]                         │</a:t>
            </a:r>
            <a:br/>
            <a:r>
              <a:t>    │                                                              │</a:t>
            </a:r>
            <a:br/>
            <a:r>
              <a:t>    │   Data is 2D, but most variance is along one direction.    │</a:t>
            </a:r>
            <a:br/>
            <a:r>
              <a:t>    │                                                              │</a:t>
            </a:r>
            <a:br/>
            <a:r>
              <a:t>    └─────────────────────────────────────────────────────────────┘</a:t>
            </a:r>
            <a:br/>
            <a:br/>
            <a:r>
              <a:t>    ┌─────────────────────────────────────────────────────────────┐</a:t>
            </a:r>
            <a:br/>
            <a:r>
              <a:t>    │              AFTER PCA (1D PROJECTION)                      │</a:t>
            </a:r>
            <a:br/>
            <a:r>
              <a:t>    ├─────────────────────────────────────────────────────────────┤</a:t>
            </a:r>
            <a:br/>
            <a:r>
              <a:t>    │                                                              │</a:t>
            </a:r>
            <a:br/>
            <a:r>
              <a:t>    │   [Scatter plot of 1D projected data]                      │</a:t>
            </a:r>
            <a:br/>
            <a:r>
              <a:t>    │                                                              │</a:t>
            </a:r>
            <a:br/>
            <a:r>
              <a:t>    │   Data is reduced to 1D while preserving 96% of variance!  │</a:t>
            </a:r>
            <a:br/>
            <a:r>
              <a:t>    │                                                              │</a:t>
            </a:r>
            <a:br/>
            <a:r>
              <a:t>    └─────────────────────────────────────────────────────────────┘</a:t>
            </a:r>
            <a:br/>
            <a:br/>
            <a:r>
              <a:t>    ┌─────────────────────────────────────────────────────────────┐</a:t>
            </a:r>
            <a:br/>
            <a:r>
              <a:t>    │              RECONSTRUCTION FROM PCA                        │</a:t>
            </a:r>
            <a:br/>
            <a:r>
              <a:t>    ├─────────────────────────────────────────────────────────────┤</a:t>
            </a:r>
            <a:br/>
            <a:r>
              <a:t>    │                                                              │</a:t>
            </a:r>
            <a:br/>
            <a:r>
              <a:t>    │   Original: [2.5, 2.4]                                     │</a:t>
            </a:r>
            <a:br/>
            <a:r>
              <a:t>    │   Reconstructed: [2.43, 2.46] (very close!)                │</a:t>
            </a:r>
            <a:br/>
            <a:r>
              <a:t>    │                                                              │</a:t>
            </a:r>
            <a:br/>
            <a:r>
              <a:t>    │   → We can almost perfectly reconstruct from 1D!           │</a:t>
            </a:r>
            <a:br/>
            <a:r>
              <a:t>    │                                                              │</a:t>
            </a:r>
            <a:br/>
            <a:r>
              <a:t>    └─────────────────────────────────────────────────────────────┘</a:t>
            </a:r>
            <a:br/>
            <a:br/>
            <a:r>
              <a:t>━━━━━━━━━━━━━━━━━━━━━━━━━━━━━━━━━━━━━━━━━━━━━━━━━━━━━━━━━━━━━━━</a:t>
            </a:r>
            <a:br/>
            <a: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Verification — Testing Decompositions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VERIFICATION — TESTING DECOMPOSITIONS</a:t>
            </a:r>
            <a:br/>
            <a:r>
              <a:t>━━━━━━━━━━━━━━━━━━━━━━━━━━━━━━━━━━━━━━━━━━━━━━━━━━━━━━━━━━━━━━━</a:t>
            </a:r>
            <a:br/>
            <a:br/>
            <a:r>
              <a:t>    &gt;&gt;&gt; # Test SVD</a:t>
            </a:r>
            <a:br/>
            <a:r>
              <a:t>    &gt;&gt;&gt; A = Matrix([[1, 2], [3, 4]])</a:t>
            </a:r>
            <a:br/>
            <a:r>
              <a:t>    &gt;&gt;&gt; U, S, Vt = Decomposition.svd(A)</a:t>
            </a:r>
            <a:br/>
            <a:r>
              <a:t>    &gt;&gt;&gt; reconstruction = U @ S @ Vt</a:t>
            </a:r>
            <a:br/>
            <a:r>
              <a:t>    &gt;&gt;&gt;</a:t>
            </a:r>
            <a:br/>
            <a:r>
              <a:t>    &gt;&gt;&gt; # Should match original</a:t>
            </a:r>
            <a:br/>
            <a:r>
              <a:t>    &gt;&gt;&gt; reconstruction == A  # True</a:t>
            </a:r>
            <a:br/>
            <a:r>
              <a:t>    True</a:t>
            </a:r>
            <a:br/>
            <a:r>
              <a:t>    &gt;&gt;&gt;</a:t>
            </a:r>
            <a:br/>
            <a:r>
              <a:t>    &gt;&gt;&gt; # Test PCA on Iris-like dataset</a:t>
            </a:r>
            <a:br/>
            <a:r>
              <a:t>    &gt;&gt;&gt; X = Matrix([...])  # 4D data</a:t>
            </a:r>
            <a:br/>
            <a:r>
              <a:t>    &gt;&gt;&gt; projected, comps, explained = Decomposition.pca(X, 2)</a:t>
            </a:r>
            <a:br/>
            <a:r>
              <a:t>    &gt;&gt;&gt;</a:t>
            </a:r>
            <a:br/>
            <a:r>
              <a:t>    &gt;&gt;&gt; # Check shape</a:t>
            </a:r>
            <a:br/>
            <a:r>
              <a:t>    &gt;&gt;&gt; projected.shape  # (n_samples, 2)</a:t>
            </a:r>
            <a:br/>
            <a:r>
              <a:t>    (150, 2)</a:t>
            </a:r>
            <a:br/>
            <a:r>
              <a:t>    &gt;&gt;&gt;</a:t>
            </a:r>
            <a:br/>
            <a:r>
              <a:t>    &gt;&gt;&gt; # Check explained variance sum</a:t>
            </a:r>
            <a:br/>
            <a:r>
              <a:t>    &gt;&gt;&gt; sum(explained)  # Should be close to 1.0</a:t>
            </a:r>
            <a:br/>
            <a:r>
              <a:t>    0.995</a:t>
            </a:r>
            <a:br/>
            <a:br/>
            <a:r>
              <a:t>━━━━━━━━━━━━━━━━━━━━━━━━━━━━━━━━━━━━━━━━━━━━━━━━━━━━━━━━━━━━━━━</a:t>
            </a:r>
            <a:br/>
            <a:r>
              <a:t>```</a:t>
            </a:r>
            <a:br/>
            <a:br/>
            <a: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PART 2</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CALCULUS — THE ENGINE OF OPTIMIZATION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2.0</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Calculus Overview</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Why Calculus?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WHY CALCULUS?</a:t>
            </a:r>
            <a:br/>
            <a:r>
              <a:t>━━━━━━━━━━━━━━━━━━━━━━━━━━━━━━━━━━━━━━━━━━━━━━━━━━━━━━━━━━━━━━━</a:t>
            </a:r>
            <a:br/>
            <a:br/>
            <a:r>
              <a:t>    ┌─────────────────────────────────────────────────────────────┐</a:t>
            </a:r>
            <a:br/>
            <a:r>
              <a:t>    │                 THE BIG IDEA                                │</a:t>
            </a:r>
            <a:br/>
            <a:r>
              <a:t>    ├─────────────────────────────────────────────────────────────┤</a:t>
            </a:r>
            <a:br/>
            <a:r>
              <a:t>    │                                                              │</a:t>
            </a:r>
            <a:br/>
            <a:r>
              <a:t>    │   Calculus = The Mathematics of Change                     │</a:t>
            </a:r>
            <a:br/>
            <a:r>
              <a:t>    │                                                              │</a:t>
            </a:r>
            <a:br/>
            <a:r>
              <a:t>    │   In ML, we use calculus to:                               │</a:t>
            </a:r>
            <a:br/>
            <a:r>
              <a:t>    │                                                              │</a:t>
            </a:r>
            <a:br/>
            <a:r>
              <a:t>    │   ✓ Measure how wrong our model is (loss)                  │</a:t>
            </a:r>
            <a:br/>
            <a:r>
              <a:t>    │   ✓ Figure out how to improve it (gradient)                │</a:t>
            </a:r>
            <a:br/>
            <a:r>
              <a:t>    │   ✓ Update parameters to reduce error (optimization)       │</a:t>
            </a:r>
            <a:br/>
            <a:r>
              <a:t>    │                                                              │</a:t>
            </a:r>
            <a:br/>
            <a:r>
              <a:t>    └─────────────────────────────────────────────────────────────┘</a:t>
            </a:r>
            <a:br/>
            <a:br/>
            <a:r>
              <a:t>    ┌─────────────────────────────────────────────────────────────┐</a:t>
            </a:r>
            <a:br/>
            <a:r>
              <a:t>    │           THE LEARNING LOOP                                 │</a:t>
            </a:r>
            <a:br/>
            <a:r>
              <a:t>    ├─────────────────────────────────────────────────────────────┤</a:t>
            </a:r>
            <a:br/>
            <a:r>
              <a:t>    │                                                              │</a:t>
            </a:r>
            <a:br/>
            <a:r>
              <a:t>    │   Forward Pass: ŷ = f(X, w)                               │</a:t>
            </a:r>
            <a:br/>
            <a:r>
              <a:t>    │   Compute Loss: L = MSE(ŷ, y)                             │</a:t>
            </a:r>
            <a:br/>
            <a:r>
              <a:t>    │   Compute Gradient: ∂L/∂w (how to change weights)          │</a:t>
            </a:r>
            <a:br/>
            <a:r>
              <a:t>    │   Update: w = w - α·∂L/∂w                                 │</a:t>
            </a:r>
            <a:br/>
            <a:r>
              <a:t>    │   Repeat!                                                   │</a:t>
            </a:r>
            <a:br/>
            <a:r>
              <a:t>    │                                                              │</a:t>
            </a:r>
            <a:br/>
            <a:r>
              <a:t>    └─────────────────────────────────────────────────────────────┘</a:t>
            </a:r>
            <a:br/>
            <a:br/>
            <a:r>
              <a:t>    ┌─────────────────────────────────────────────────────────────┐</a:t>
            </a:r>
            <a:br/>
            <a:r>
              <a:t>    │                KEY INSIGHT                                  │</a:t>
            </a:r>
            <a:br/>
            <a:r>
              <a:t>    ├─────────────────────────────────────────────────────────────┤</a:t>
            </a:r>
            <a:br/>
            <a:r>
              <a:t>    │                                                              │</a:t>
            </a:r>
            <a:br/>
            <a:r>
              <a:t>    │   Learning = Finding the minimum of a function             │</a:t>
            </a:r>
            <a:br/>
            <a:r>
              <a:t>    │   Calculus gives us the tools to find minima efficiently   │</a:t>
            </a:r>
            <a:br/>
            <a:r>
              <a:t>    │                                                              │</a:t>
            </a:r>
            <a:br/>
            <a:r>
              <a:t>    └─────────────────────────────────────────────────────────────┘</a:t>
            </a:r>
            <a:br/>
            <a:br/>
            <a:r>
              <a:t>━━━━━━━━━━━━━━━━━━━━━━━━━━━━━━━━━━━━━━━━━━━━━━━━━━━━━━━━━━━━━━━</a:t>
            </a:r>
            <a:br/>
            <a: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Calculus Roadmap</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CALCULUS ROADMAP</a:t>
            </a:r>
            <a:br/>
            <a:r>
              <a:t>━━━━━━━━━━━━━━━━━━━━━━━━━━━━━━━━━━━━━━━━━━━━━━━━━━━━━━━━━━━━━━━</a:t>
            </a:r>
            <a:br/>
            <a:br/>
            <a:r>
              <a:t>    ╭─────────────────────────────────────────────────────────────╮</a:t>
            </a:r>
            <a:br/>
            <a:r>
              <a:t>    │  MODULE 1: DERIVATIVES — Measuring Change                 │</a:t>
            </a:r>
            <a:br/>
            <a:r>
              <a:t>    │  ─────────────────────────────────────────────────────────  │</a:t>
            </a:r>
            <a:br/>
            <a:r>
              <a:t>    │  • Numerical derivatives                                    │</a:t>
            </a:r>
            <a:br/>
            <a:r>
              <a:t>    │  • Analytical derivatives                                   │</a:t>
            </a:r>
            <a:br/>
            <a:r>
              <a:t>    │  • Partial derivatives                                      │</a:t>
            </a:r>
            <a:br/>
            <a:r>
              <a:t>    │  • Gradient computation                                     │</a:t>
            </a:r>
            <a:br/>
            <a:r>
              <a:t>    │  [CODE: Derivatives class + tests]                        │</a:t>
            </a:r>
            <a:br/>
            <a:r>
              <a:t>    ├─────────────────────────────────────────────────────────────┤</a:t>
            </a:r>
            <a:br/>
            <a:r>
              <a:t>    │  MODULE 2: OPTIMIZATION — The Learning Algorithm          │</a:t>
            </a:r>
            <a:br/>
            <a:r>
              <a:t>    │  ─────────────────────────────────────────────────────────  │</a:t>
            </a:r>
            <a:br/>
            <a:r>
              <a:t>    │  • Gradient descent                                        │</a:t>
            </a:r>
            <a:br/>
            <a:r>
              <a:t>    │  • Stochastic gradient descent                             │</a:t>
            </a:r>
            <a:br/>
            <a:r>
              <a:t>    │  • Mini-batch gradient descent                             │</a:t>
            </a:r>
            <a:br/>
            <a:r>
              <a:t>    │  • Momentum                                                │</a:t>
            </a:r>
            <a:br/>
            <a:r>
              <a:t>    │  • Adam                                                    │</a:t>
            </a:r>
            <a:br/>
            <a:r>
              <a:t>    │  [CODE: Optimization class + tests]                      │</a:t>
            </a:r>
            <a:br/>
            <a:r>
              <a:t>    ├─────────────────────────────────────────────────────────────┤</a:t>
            </a:r>
            <a:br/>
            <a:r>
              <a:t>    │  MODULE 3: BACKPROPAGATION — The Chain Rule in Action    │</a:t>
            </a:r>
            <a:br/>
            <a:r>
              <a:t>    │  ─────────────────────────────────────────────────────────  │</a:t>
            </a:r>
            <a:br/>
            <a:r>
              <a:t>    │  • Chain rule                                              │</a:t>
            </a:r>
            <a:br/>
            <a:r>
              <a:t>    │  • Computational graphs                                   │</a:t>
            </a:r>
            <a:br/>
            <a:r>
              <a:t>    │  • Backpropagation algorithm                              │</a:t>
            </a:r>
            <a:br/>
            <a:r>
              <a:t>    │  • Neural network training                                │</a:t>
            </a:r>
            <a:br/>
            <a:r>
              <a:t>    │  [CODE: Neural Network class + tests]                    │</a:t>
            </a:r>
            <a:br/>
            <a:r>
              <a:t>    ╰─────────────────────────────────────────────────────────────╯</a:t>
            </a:r>
            <a:br/>
            <a:br/>
            <a:r>
              <a:t>━━━━━━━━━━━━━━━━━━━━━━━━━━━━━━━━━━━━━━━━━━━━━━━━━━━━━━━━━━━━━━━</a:t>
            </a:r>
            <a:br/>
            <a: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Key Calculus Concepts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KEY CALCULUS CONCEPTS</a:t>
            </a:r>
            <a:br/>
            <a:r>
              <a:t>━━━━━━━━━━━━━━━━━━━━━━━━━━━━━━━━━━━━━━━━━━━━━━━━━━━━━━━━━━━━━━━</a:t>
            </a:r>
            <a:br/>
            <a:br/>
            <a:r>
              <a:t>    ┌─────────────────────────────────────────────────────────────┐</a:t>
            </a:r>
            <a:br/>
            <a:r>
              <a:t>    │  CONCEPT          │  ML APPLICATION                        │</a:t>
            </a:r>
            <a:br/>
            <a:r>
              <a:t>    ├─────────────────────────────────────────────────────────────┤</a:t>
            </a:r>
            <a:br/>
            <a:r>
              <a:t>    │  Derivative       │  Rate of change of loss with weights  │</a:t>
            </a:r>
            <a:br/>
            <a:r>
              <a:t>    │  Partial Deriv.   │  How each weight affects loss         │</a:t>
            </a:r>
            <a:br/>
            <a:r>
              <a:t>    │  Gradient         │  Direction to reduce loss │</a:t>
            </a:r>
            <a:br/>
            <a:r>
              <a:t>    │  Gradient Descent │  Learning algorithm      │</a:t>
            </a:r>
            <a:br/>
            <a:r>
              <a:t>    │  Chain Rule       │  Backpropagation         │</a:t>
            </a:r>
            <a:br/>
            <a:r>
              <a:t>    │  Hessian          │  Second-order optimization           │</a:t>
            </a:r>
            <a:br/>
            <a:r>
              <a:t>    └─────────────────────────────────────────────────────────────┘</a:t>
            </a:r>
            <a:br/>
            <a:br/>
            <a:r>
              <a:t>    ┌─────────────────────────────────────────────────────────────┐</a:t>
            </a:r>
            <a:br/>
            <a:r>
              <a:t>    │                   KEY FORMULAS                              │</a:t>
            </a:r>
            <a:br/>
            <a:r>
              <a:t>    ├─────────────────────────────────────────────────────────────┤</a:t>
            </a:r>
            <a:br/>
            <a:r>
              <a:t>    │                                                              │</a:t>
            </a:r>
            <a:br/>
            <a:r>
              <a:t>    │  Derivative:       f'(x) = lim_{h→0} (f(x+h)-f(x))/h     │</a:t>
            </a:r>
            <a:br/>
            <a:r>
              <a:t>    │  Gradient:         ∇f = [∂f/∂x₁, ∂f/∂x₂, ...]            │</a:t>
            </a:r>
            <a:br/>
            <a:r>
              <a:t>    │  Chain Rule:       dz/dx = (dz/dy)(dy/dx)                │</a:t>
            </a:r>
            <a:br/>
            <a:r>
              <a:t>    │  GD Update:        w_{t+1} = w_t - α∇L(w_t)              │</a:t>
            </a:r>
            <a:br/>
            <a:r>
              <a:t>    │  Backpropagation: δ^{(l)} = (W^{(l+1)})^T δ^{(l+1)}     │</a:t>
            </a:r>
            <a:br/>
            <a:r>
              <a:t>    │                                                              │</a:t>
            </a:r>
            <a:br/>
            <a:r>
              <a:t>    └─────────────────────────────────────────────────────────────┘</a:t>
            </a:r>
            <a:br/>
            <a:br/>
            <a:r>
              <a:t>━━━━━━━━━━━━━━━━━━━━━━━━━━━━━━━━━━━━━━━━━━━━━━━━━━━━━━━━━━━━━━━</a:t>
            </a:r>
            <a:br/>
            <a: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2.1</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Derivatives — Measuring Change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What is a Derivative?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WHAT IS A DERIVATIVE?</a:t>
            </a:r>
            <a:br/>
            <a:r>
              <a:t>━━━━━━━━━━━━━━━━━━━━━━━━━━━━━━━━━━━━━━━━━━━━━━━━━━━━━━━━━━━━━━━</a:t>
            </a:r>
            <a:br/>
            <a:br/>
            <a:r>
              <a:t>    ┌─────────────────────────────────────────────────────────────┐</a:t>
            </a:r>
            <a:br/>
            <a:r>
              <a:t>    │                 THE ANALOGY                                 │</a:t>
            </a:r>
            <a:br/>
            <a:r>
              <a:t>    ├─────────────────────────────────────────────────────────────┤</a:t>
            </a:r>
            <a:br/>
            <a:r>
              <a:t>    │                                                              │</a:t>
            </a:r>
            <a:br/>
            <a:r>
              <a:t>    │   Driving a car:                                            │</a:t>
            </a:r>
            <a:br/>
            <a:r>
              <a:t>    │   • Speed = derivative of position                         │</a:t>
            </a:r>
            <a:br/>
            <a:r>
              <a:t>    │   • Acceleration = derivative of speed                     │</a:t>
            </a:r>
            <a:br/>
            <a:r>
              <a:t>    │                                                              │</a:t>
            </a:r>
            <a:br/>
            <a:r>
              <a:t>    │   In ML:                                                    │</a:t>
            </a:r>
            <a:br/>
            <a:r>
              <a:t>    │   • Loss = function of weights                              │</a:t>
            </a:r>
            <a:br/>
            <a:r>
              <a:t>    │   • Derivative = how much loss changes with weights        │</a:t>
            </a:r>
            <a:br/>
            <a:r>
              <a:t>    │                                                              │</a:t>
            </a:r>
            <a:br/>
            <a:r>
              <a:t>    └─────────────────────────────────────────────────────────────┘</a:t>
            </a:r>
            <a:br/>
            <a:br/>
            <a:r>
              <a:t>    ┌─────────────────────────────────────────────────────────────┐</a:t>
            </a:r>
            <a:br/>
            <a:r>
              <a:t>    │                MATHEMATICAL DEFINITION                      │</a:t>
            </a:r>
            <a:br/>
            <a:r>
              <a:t>    ├─────────────────────────────────────────────────────────────┤</a:t>
            </a:r>
            <a:br/>
            <a:r>
              <a:t>    │                                                              │</a:t>
            </a:r>
            <a:br/>
            <a:r>
              <a:t>    │   f'(x) = lim_{h→0} (f(x+h) - f(x)) / h                  │</a:t>
            </a:r>
            <a:br/>
            <a:r>
              <a:t>    │                                                              │</a:t>
            </a:r>
            <a:br/>
            <a:r>
              <a:t>    │   Interpretations:                                          │</a:t>
            </a:r>
            <a:br/>
            <a:r>
              <a:t>    │   • Slope of the tangent line                              │</a:t>
            </a:r>
            <a:br/>
            <a:r>
              <a:t>    │   • Rate of change                                         │</a:t>
            </a:r>
            <a:br/>
            <a:r>
              <a:t>    │   • Sensitivity of f to changes in x                      │</a:t>
            </a:r>
            <a:br/>
            <a:r>
              <a:t>    │                                                              │</a:t>
            </a:r>
            <a:br/>
            <a:r>
              <a:t>    └─────────────────────────────────────────────────────────────┘</a:t>
            </a:r>
            <a:br/>
            <a:br/>
            <a:r>
              <a:t>    ┌─────────────────────────────────────────────────────────────┐</a:t>
            </a:r>
            <a:br/>
            <a:r>
              <a:t>    │              ML APPLICATION                                 │</a:t>
            </a:r>
            <a:br/>
            <a:r>
              <a:t>    ├─────────────────────────────────────────────────────────────┤</a:t>
            </a:r>
            <a:br/>
            <a:r>
              <a:t>    │                                                              │</a:t>
            </a:r>
            <a:br/>
            <a:r>
              <a:t>    │   L(w) = (1/2n) ||Xw - y||²                               │</a:t>
            </a:r>
            <a:br/>
            <a:r>
              <a:t>    │   ∂L/∂w = (1/n) X^T (Xw - y)                             │</a:t>
            </a:r>
            <a:br/>
            <a:r>
              <a:t>    │                                                              │</a:t>
            </a:r>
            <a:br/>
            <a:r>
              <a:t>    │   This tells us how to change w to reduce loss!            │</a:t>
            </a:r>
            <a:br/>
            <a:r>
              <a:t>    │                                                              │</a:t>
            </a:r>
            <a:br/>
            <a:r>
              <a:t>    └─────────────────────────────────────────────────────────────┘</a:t>
            </a:r>
            <a:br/>
            <a:br/>
            <a:r>
              <a:t>━━━━━━━━━━━━━━━━━━━━━━━━━━━━━━━━━━━━━━━━━━━━━━━━━━━━━━━━━━━━━━━</a:t>
            </a:r>
            <a:br/>
            <a: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Numerical vs Analytical Derivatives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NUMERICAL VS ANALYTICAL DERIVATIVES</a:t>
            </a:r>
            <a:br/>
            <a:r>
              <a:t>━━━━━━━━━━━━━━━━━━━━━━━━━━━━━━━━━━━━━━━━━━━━━━━━━━━━━━━━━━━━━━━</a:t>
            </a:r>
            <a:br/>
            <a:br/>
            <a:r>
              <a:t>    ┌─────────────────────────────────────────────────────────────┐</a:t>
            </a:r>
            <a:br/>
            <a:r>
              <a:t>    │              NUMERICAL DERIVATIVE                           │</a:t>
            </a:r>
            <a:br/>
            <a:r>
              <a:t>    ├─────────────────────────────────────────────────────────────┤</a:t>
            </a:r>
            <a:br/>
            <a:r>
              <a:t>    │                                                              │</a:t>
            </a:r>
            <a:br/>
            <a:r>
              <a:t>    │   f'(x) ≈ (f(x+h) - f(x-h)) / (2h)                        │</a:t>
            </a:r>
            <a:br/>
            <a:r>
              <a:t>    │                                                              │</a:t>
            </a:r>
            <a:br/>
            <a:r>
              <a:t>    │   PROS: Works on any function                              │</a:t>
            </a:r>
            <a:br/>
            <a:r>
              <a:t>    │   CONS: Slow, numerical errors                             │</a:t>
            </a:r>
            <a:br/>
            <a:r>
              <a:t>    │   USE: Gradient checking, debugging                        │</a:t>
            </a:r>
            <a:br/>
            <a:r>
              <a:t>    │                                                              │</a:t>
            </a:r>
            <a:br/>
            <a:r>
              <a:t>    └─────────────────────────────────────────────────────────────┘</a:t>
            </a:r>
            <a:br/>
            <a:br/>
            <a:r>
              <a:t>    ┌─────────────────────────────────────────────────────────────┐</a:t>
            </a:r>
            <a:br/>
            <a:r>
              <a:t>    │              ANALYTICAL DERIVATIVE                          │</a:t>
            </a:r>
            <a:br/>
            <a:r>
              <a:t>    ├─────────────────────────────────────────────────────────────┤</a:t>
            </a:r>
            <a:br/>
            <a:r>
              <a:t>    │                                                              │</a:t>
            </a:r>
            <a:br/>
            <a:r>
              <a:t>    │   f'(x) = exact mathematical derivative                   │</a:t>
            </a:r>
            <a:br/>
            <a:r>
              <a:t>    │                                                              │</a:t>
            </a:r>
            <a:br/>
            <a:r>
              <a:t>    │   PROS: Fast, exact                                       │</a:t>
            </a:r>
            <a:br/>
            <a:r>
              <a:t>    │   CONS: Requires derivation, only for known functions      │</a:t>
            </a:r>
            <a:br/>
            <a:r>
              <a:t>    │   USE: Production training                                 │</a:t>
            </a:r>
            <a:br/>
            <a:r>
              <a:t>    │                                                              │</a:t>
            </a:r>
            <a:br/>
            <a:r>
              <a:t>    └─────────────────────────────────────────────────────────────┘</a:t>
            </a:r>
            <a:br/>
            <a:br/>
            <a:r>
              <a:t>    ┌─────────────────────────────────────────────────────────────┐</a:t>
            </a:r>
            <a:br/>
            <a:r>
              <a:t>    │                   CODE                                      │</a:t>
            </a:r>
            <a:br/>
            <a:r>
              <a:t>    ├─────────────────────────────────────────────────────────────┤</a:t>
            </a:r>
            <a:br/>
            <a:r>
              <a:t>    │                                                              │</a:t>
            </a:r>
            <a:br/>
            <a:r>
              <a:t>    │   # Numerical derivative                                   │</a:t>
            </a:r>
            <a:br/>
            <a:r>
              <a:t>    │   Derivatives.numerical_derivative_1d(np.sin, 0)          │</a:t>
            </a:r>
            <a:br/>
            <a:r>
              <a:t>    │   # 1.0                                                    │</a:t>
            </a:r>
            <a:br/>
            <a:r>
              <a:t>    │                                                              │</a:t>
            </a:r>
            <a:br/>
            <a:r>
              <a:t>    │   # Analytical derivative                                  │</a:t>
            </a:r>
            <a:br/>
            <a:r>
              <a:t>    │   Derivatives.derivative_cos(0)  # -sin(0) = 0           │</a:t>
            </a:r>
            <a:br/>
            <a:r>
              <a:t>    │                                                              │</a:t>
            </a:r>
            <a:br/>
            <a:r>
              <a:t>    └─────────────────────────────────────────────────────────────┘</a:t>
            </a:r>
            <a:br/>
            <a:br/>
            <a:r>
              <a:t>━━━━━━━━━━━━━━━━━━━━━━━━━━━━━━━━━━━━━━━━━━━━━━━━━━━━━━━━━━━━━━━</a:t>
            </a:r>
            <a:br/>
            <a: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Partial Derivatives and Gradients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PARTIAL DERIVATIVES AND GRADIENTS</a:t>
            </a:r>
            <a:br/>
            <a:r>
              <a:t>━━━━━━━━━━━━━━━━━━━━━━━━━━━━━━━━━━━━━━━━━━━━━━━━━━━━━━━━━━━━━━━</a:t>
            </a:r>
            <a:br/>
            <a:br/>
            <a:r>
              <a:t>    ┌─────────────────────────────────────────────────────────────┐</a:t>
            </a:r>
            <a:br/>
            <a:r>
              <a:t>    │              PARTIAL DERIVATIVE                             │</a:t>
            </a:r>
            <a:br/>
            <a:r>
              <a:t>    ├─────────────────────────────────────────────────────────────┤</a:t>
            </a:r>
            <a:br/>
            <a:r>
              <a:t>    │                                                              │</a:t>
            </a:r>
            <a:br/>
            <a:r>
              <a:t>    │   ∂f/∂x_i = derivative with respect to x_i                │</a:t>
            </a:r>
            <a:br/>
            <a:r>
              <a:t>    │              holding all other variables constant          │</a:t>
            </a:r>
            <a:br/>
            <a:r>
              <a:t>    │                                                              │</a:t>
            </a:r>
            <a:br/>
            <a:r>
              <a:t>    │   Example: f(x, y) = x² + y²                               │</a:t>
            </a:r>
            <a:br/>
            <a:r>
              <a:t>    │   ∂f/∂x = 2x, ∂f/∂y = 2y                                 │</a:t>
            </a:r>
            <a:br/>
            <a:r>
              <a:t>    │                                                              │</a:t>
            </a:r>
            <a:br/>
            <a:r>
              <a:t>    └─────────────────────────────────────────────────────────────┘</a:t>
            </a:r>
            <a:br/>
            <a:br/>
            <a:r>
              <a:t>    ┌─────────────────────────────────────────────────────────────┐</a:t>
            </a:r>
            <a:br/>
            <a:r>
              <a:t>    │                 GRADIENT                                    │</a:t>
            </a:r>
            <a:br/>
            <a:r>
              <a:t>    ├─────────────────────────────────────────────────────────────┤</a:t>
            </a:r>
            <a:br/>
            <a:r>
              <a:t>    │                                                              │</a:t>
            </a:r>
            <a:br/>
            <a:r>
              <a:t>    │   ∇f = [∂f/∂x₁, ∂f/∂x₂, ..., ∂f/∂xₙ]                    │</a:t>
            </a:r>
            <a:br/>
            <a:r>
              <a:t>    │                                                              │</a:t>
            </a:r>
            <a:br/>
            <a:r>
              <a:t>    │   • Vector of all partial derivatives                       │</a:t>
            </a:r>
            <a:br/>
            <a:r>
              <a:t>    │   • Points in direction of steepest ascent                 │</a:t>
            </a:r>
            <a:br/>
            <a:r>
              <a:t>    │   • Negative gradient = steepest descent      │</a:t>
            </a:r>
            <a:br/>
            <a:r>
              <a:t>    │                                                              │</a:t>
            </a:r>
            <a:br/>
            <a:r>
              <a:t>    └─────────────────────────────────────────────────────────────┘</a:t>
            </a:r>
            <a:br/>
            <a:br/>
            <a:r>
              <a:t>    ┌─────────────────────────────────────────────────────────────┐</a:t>
            </a:r>
            <a:br/>
            <a:r>
              <a:t>    │              ML APPLICATION                                 │</a:t>
            </a:r>
            <a:br/>
            <a:r>
              <a:t>    ├─────────────────────────────────────────────────────────────┤</a:t>
            </a:r>
            <a:br/>
            <a:r>
              <a:t>    │                                                              │</a:t>
            </a:r>
            <a:br/>
            <a:r>
              <a:t>    │   In neural networks:                                       │</a:t>
            </a:r>
            <a:br/>
            <a:r>
              <a:t>    │   • Weights: w₁, w₂, ..., wₙ                             │</a:t>
            </a:r>
            <a:br/>
            <a:r>
              <a:t>    │   • Gradient: ∇L(w) = [∂L/∂w₁, ∂L/∂w₂, ...]             │</a:t>
            </a:r>
            <a:br/>
            <a:r>
              <a:t>    │   • Update: w = w - α∇L(w)                               │</a:t>
            </a:r>
            <a:br/>
            <a:r>
              <a:t>    │                                                              │</a:t>
            </a:r>
            <a:br/>
            <a:r>
              <a:t>    └─────────────────────────────────────────────────────────────┘</a:t>
            </a:r>
            <a:br/>
            <a:br/>
            <a:r>
              <a:t>━━━━━━━━━━━━━━━━━━━━━━━━━━━━━━━━━━━━━━━━━━━━━━━━━━━━━━━━━━━━━━━</a:t>
            </a:r>
            <a:br/>
            <a: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Common Derivative Rules in ML</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COMMON DERIVATIVE RULES IN ML</a:t>
            </a:r>
            <a:br/>
            <a:r>
              <a:t>━━━━━━━━━━━━━━━━━━━━━━━━━━━━━━━━━━━━━━━━━━━━━━━━━━━━━━━━━━━━━━━</a:t>
            </a:r>
            <a:br/>
            <a:br/>
            <a:r>
              <a:t>    ┌─────────────────────────────────────────────────────────────┐</a:t>
            </a:r>
            <a:br/>
            <a:r>
              <a:t>    │              POWER RULE                                     │</a:t>
            </a:r>
            <a:br/>
            <a:r>
              <a:t>    ├─────────────────────────────────────────────────────────────┤</a:t>
            </a:r>
            <a:br/>
            <a:r>
              <a:t>    │                                                              │</a:t>
            </a:r>
            <a:br/>
            <a:r>
              <a:t>    │   d/dx(x^n) = n·x^{n-1}                                    │</a:t>
            </a:r>
            <a:br/>
            <a:r>
              <a:t>    │   Example: d/dx(x²) = 2x, d/dx(x³) = 3x²                 │</a:t>
            </a:r>
            <a:br/>
            <a:r>
              <a:t>    │                                                              │</a:t>
            </a:r>
            <a:br/>
            <a:r>
              <a:t>    └─────────────────────────────────────────────────────────────┘</a:t>
            </a:r>
            <a:br/>
            <a:br/>
            <a:r>
              <a:t>    ┌─────────────────────────────────────────────────────────────┐</a:t>
            </a:r>
            <a:br/>
            <a:r>
              <a:t>    │              CHAIN RULE                                     │</a:t>
            </a:r>
            <a:br/>
            <a:r>
              <a:t>    ├─────────────────────────────────────────────────────────────┤</a:t>
            </a:r>
            <a:br/>
            <a:r>
              <a:t>    │                                                              │</a:t>
            </a:r>
            <a:br/>
            <a:r>
              <a:t>    │   d/dx(f(g(x))) = f'(g(x))·g'(x)                          │</a:t>
            </a:r>
            <a:br/>
            <a:r>
              <a:t>    │                                                              │</a:t>
            </a:r>
            <a:br/>
            <a:r>
              <a:t>    │   Example: d/dx((x+1)²) = 2(x+1)·1 = 2x+2                │</a:t>
            </a:r>
            <a:br/>
            <a:r>
              <a:t>    │                                                              │</a:t>
            </a:r>
            <a:br/>
            <a:r>
              <a:t>    └─────────────────────────────────────────────────────────────┘</a:t>
            </a:r>
            <a:br/>
            <a:br/>
            <a:r>
              <a:t>    ┌─────────────────────────────────────────────────────────────┐</a:t>
            </a:r>
            <a:br/>
            <a:r>
              <a:t>    │              DERIVATIVES OF COMMON FUNCTIONS               │</a:t>
            </a:r>
            <a:br/>
            <a:r>
              <a:t>    ├─────────────────────────────────────────────────────────────┤</a:t>
            </a:r>
            <a:br/>
            <a:r>
              <a:t>    │                                                              │</a:t>
            </a:r>
            <a:br/>
            <a:r>
              <a:t>    │   d/dx(σ(x)) = σ(x)(1-σ(x))         # Sigmoid             │</a:t>
            </a:r>
            <a:br/>
            <a:r>
              <a:t>    │   d/dx(tanh(x)) = 1 - tanh²(x)      # Tanh                │</a:t>
            </a:r>
            <a:br/>
            <a:r>
              <a:t>    │   d/dx(ReLU(x)) = 1 if x&gt;0 else 0   # ReLU               │</a:t>
            </a:r>
            <a:br/>
            <a:r>
              <a:t>    │   d/dx(softmax_i) = s_i(δ_ij - s_j) # Softmax            │</a:t>
            </a:r>
            <a:br/>
            <a:r>
              <a:t>    │                                                              │</a:t>
            </a:r>
            <a:br/>
            <a:r>
              <a:t>    └─────────────────────────────────────────────────────────────┘</a:t>
            </a:r>
            <a:br/>
            <a:br/>
            <a:r>
              <a:t>━━━━━━━━━━━━━━━━━━━━━━━━━━━━━━━━━━━━━━━━━━━━━━━━━━━━━━━━━━━━━━━</a:t>
            </a:r>
            <a:br/>
            <a: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Gradient of Common ML Functions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GRADIENT OF COMMON ML FUNCTIONS</a:t>
            </a:r>
            <a:br/>
            <a:r>
              <a:t>━━━━━━━━━━━━━━━━━━━━━━━━━━━━━━━━━━━━━━━━━━━━━━━━━━━━━━━━━━━━━━━</a:t>
            </a:r>
            <a:br/>
            <a:br/>
            <a:r>
              <a:t>    ┌─────────────────────────────────────────────────────────────┐</a:t>
            </a:r>
            <a:br/>
            <a:r>
              <a:t>    │              LINEAR REGRESSION                              │</a:t>
            </a:r>
            <a:br/>
            <a:r>
              <a:t>    ├─────────────────────────────────────────────────────────────┤</a:t>
            </a:r>
            <a:br/>
            <a:r>
              <a:t>    │                                                              │</a:t>
            </a:r>
            <a:br/>
            <a:r>
              <a:t>    │   Loss: L = (1/2n) ||Xw - y||²                            │</a:t>
            </a:r>
            <a:br/>
            <a:r>
              <a:t>    │   Gradient: ∇L = (1/n) X^T (Xw - y)                      │</a:t>
            </a:r>
            <a:br/>
            <a:r>
              <a:t>    │                                                              │</a:t>
            </a:r>
            <a:br/>
            <a:r>
              <a:t>    └─────────────────────────────────────────────────────────────┘</a:t>
            </a:r>
            <a:br/>
            <a:br/>
            <a:r>
              <a:t>    ┌─────────────────────────────────────────────────────────────┐</a:t>
            </a:r>
            <a:br/>
            <a:r>
              <a:t>    │              LOGISTIC REGRESSION                            │</a:t>
            </a:r>
            <a:br/>
            <a:r>
              <a:t>    ├─────────────────────────────────────────────────────────────┤</a:t>
            </a:r>
            <a:br/>
            <a:r>
              <a:t>    │                                                              │</a:t>
            </a:r>
            <a:br/>
            <a:r>
              <a:t>    │   Loss: L = -[y log(p) + (1-y) log(1-p)]                  │</a:t>
            </a:r>
            <a:br/>
            <a:r>
              <a:t>    │   Gradient: ∇L = X^T (p - y)                              │</a:t>
            </a:r>
            <a:br/>
            <a:r>
              <a:t>    │                                                              │</a:t>
            </a:r>
            <a:br/>
            <a:r>
              <a:t>    │   Where p = sigmoid(Xw)                                    │</a:t>
            </a:r>
            <a:br/>
            <a:r>
              <a:t>    │                                                              │</a:t>
            </a:r>
            <a:br/>
            <a:r>
              <a:t>    └─────────────────────────────────────────────────────────────┘</a:t>
            </a:r>
            <a:br/>
            <a:br/>
            <a:r>
              <a:t>    ┌─────────────────────────────────────────────────────────────┐</a:t>
            </a:r>
            <a:br/>
            <a:r>
              <a:t>    │              NEURAL NETWORK LAYER                           │</a:t>
            </a:r>
            <a:br/>
            <a:r>
              <a:t>    ├─────────────────────────────────────────────────────────────┤</a:t>
            </a:r>
            <a:br/>
            <a:r>
              <a:t>    │                                                              │</a:t>
            </a:r>
            <a:br/>
            <a:r>
              <a:t>    │   Forward: z = W^T a + b, a_out = g(z)                    │</a:t>
            </a:r>
            <a:br/>
            <a:r>
              <a:t>    │   Backward: δ = g'(z) ⊙ ∂L/∂a_out                        │</a:t>
            </a:r>
            <a:br/>
            <a:r>
              <a:t>    │   ∂L/∂W = a δ^T, ∂L/∂b = δ                               │</a:t>
            </a:r>
            <a:br/>
            <a:r>
              <a:t>    │                                                              │</a:t>
            </a:r>
            <a:br/>
            <a:r>
              <a:t>    └─────────────────────────────────────────────────────────────┘</a:t>
            </a:r>
            <a:br/>
            <a:br/>
            <a:r>
              <a:t>━━━━━━━━━━━━━━━━━━━━━━━━━━━━━━━━━━━━━━━━━━━━━━━━━━━━━━━━━━━━━━━</a:t>
            </a:r>
            <a:br/>
            <a: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Code Demo — Derivatives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CODE DEMO — DERIVATIVES</a:t>
            </a:r>
            <a:br/>
            <a:r>
              <a:t>━━━━━━━━━━━━━━━━━━━━━━━━━━━━━━━━━━━━━━━━━━━━━━━━━━━━━━━━━━━━━━━</a:t>
            </a:r>
            <a:br/>
            <a:br/>
            <a:r>
              <a:t>    &gt;&gt;&gt; from src.calculus import Derivatives</a:t>
            </a:r>
            <a:br/>
            <a:r>
              <a:t>    &gt;&gt;&gt; from src.linear_algebra import Vector</a:t>
            </a:r>
            <a:br/>
            <a:r>
              <a:t>    &gt;&gt;&gt; import math</a:t>
            </a:r>
            <a:br/>
            <a:r>
              <a:t>    &gt;&gt;&gt;</a:t>
            </a:r>
            <a:br/>
            <a:r>
              <a:t>    &gt;&gt;&gt; # Numerical derivative of square function at x=3</a:t>
            </a:r>
            <a:br/>
            <a:r>
              <a:t>    &gt;&gt;&gt; Derivatives.numerical_derivative_1d(lambda x: x**2, 3)</a:t>
            </a:r>
            <a:br/>
            <a:r>
              <a:t>    6.000000000009876  # Should be 6</a:t>
            </a:r>
            <a:br/>
            <a:r>
              <a:t>    &gt;&gt;&gt;</a:t>
            </a:r>
            <a:br/>
            <a:r>
              <a:t>    &gt;&gt;&gt; # Gradient of sum of squares</a:t>
            </a:r>
            <a:br/>
            <a:r>
              <a:t>    &gt;&gt;&gt; def f(v):</a:t>
            </a:r>
            <a:br/>
            <a:r>
              <a:t>    ...     return sum(x**2 for x in v)</a:t>
            </a:r>
            <a:br/>
            <a:r>
              <a:t>    &gt;&gt;&gt; v = Vector([1, 2, 3])</a:t>
            </a:r>
            <a:br/>
            <a:r>
              <a:t>    &gt;&gt;&gt; grad = Derivatives.numerical_gradient_nd(f, v)</a:t>
            </a:r>
            <a:br/>
            <a:r>
              <a:t>    &gt;&gt;&gt; grad  # Should be [2, 4, 6]</a:t>
            </a:r>
            <a:br/>
            <a:r>
              <a:t>    Vector([1.9999999, 4.0000000, 6.0000000])</a:t>
            </a:r>
            <a:br/>
            <a:r>
              <a:t>    &gt;&gt;&gt;</a:t>
            </a:r>
            <a:br/>
            <a:r>
              <a:t>    &gt;&gt;&gt; # Sigmoid derivative at x=0</a:t>
            </a:r>
            <a:br/>
            <a:r>
              <a:t>    &gt;&gt;&gt; Derivatives.derivative_sigmoid(0)</a:t>
            </a:r>
            <a:br/>
            <a:r>
              <a:t>    0.25</a:t>
            </a:r>
            <a:br/>
            <a:r>
              <a:t>    &gt;&gt;&gt;</a:t>
            </a:r>
            <a:br/>
            <a:r>
              <a:t>    &gt;&gt;&gt; # Gradient checking</a:t>
            </a:r>
            <a:br/>
            <a:r>
              <a:t>    &gt;&gt;&gt; def grad_f(v):</a:t>
            </a:r>
            <a:br/>
            <a:r>
              <a:t>    ...     return Vector([2*x for x in v])</a:t>
            </a:r>
            <a:br/>
            <a:r>
              <a:t>    &gt;&gt;&gt; Derivatives.gradient_check(f, grad_f, v)</a:t>
            </a:r>
            <a:br/>
            <a:r>
              <a:t>    True</a:t>
            </a:r>
            <a:br/>
            <a:br/>
            <a:r>
              <a:t>━━━━━━━━━━━━━━━━━━━━━━━━━━━━━━━━━━━━━━━━━━━━━━━━━━━━━━━━━━━━━━━</a:t>
            </a:r>
            <a:br/>
            <a:r>
              <a: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Verification — Testing Derivatives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VERIFICATION — TESTING DERIVATIVES</a:t>
            </a:r>
            <a:br/>
            <a:r>
              <a:t>━━━━━━━━━━━━━━━━━━━━━━━━━━━━━━━━━━━━━━━━━━━━━━━━━━━━━━━━━━━━━━━</a:t>
            </a:r>
            <a:br/>
            <a:br/>
            <a:r>
              <a:t>    $ pytest tests/test_calculus.py -v</a:t>
            </a:r>
            <a:br/>
            <a:br/>
            <a:r>
              <a:t>    ==================== test session starts ====================</a:t>
            </a:r>
            <a:br/>
            <a:r>
              <a:t>    collected 9 items</a:t>
            </a:r>
            <a:br/>
            <a:br/>
            <a:r>
              <a:t>    tests/test_calculus.py::TestDerivatives::test_numerical_derivative PASSED</a:t>
            </a:r>
            <a:br/>
            <a:r>
              <a:t>    tests/test_calculus.py::TestDerivatives::test_gradient PASSED</a:t>
            </a:r>
            <a:br/>
            <a:r>
              <a:t>    tests/test_calculus.py::TestDerivatives::test_chain_rule PASSED</a:t>
            </a:r>
            <a:br/>
            <a:r>
              <a:t>    tests/test_calculus.py::TestDerivatives::test_hessian PASSED</a:t>
            </a:r>
            <a:br/>
            <a:r>
              <a:t>    tests/test_calculus.py::TestDerivatives::test_gradient_check PASSED</a:t>
            </a:r>
            <a:br/>
            <a:r>
              <a:t>    tests/test_calculus.py::TestDerivatives::test_activation_derivatives PASSED</a:t>
            </a:r>
            <a:br/>
            <a:br/>
            <a:r>
              <a:t>    ==================== 6 passed in 0.45s ====================</a:t>
            </a:r>
            <a:br/>
            <a:br/>
            <a:r>
              <a:t>    ┌─────────────────────────────────────────────────────────────┐</a:t>
            </a:r>
            <a:br/>
            <a:r>
              <a:t>    │                    ✓ ALL TESTS PASS                       │</a:t>
            </a:r>
            <a:br/>
            <a:r>
              <a:t>    └─────────────────────────────────────────────────────────────┘</a:t>
            </a:r>
            <a:br/>
            <a:br/>
            <a:r>
              <a:t>━━━━━━━━━━━━━━━━━━━━━━━━━━━━━━━━━━━━━━━━━━━━━━━━━━━━━━━━━━━━━━━</a:t>
            </a:r>
            <a:br/>
            <a:r>
              <a:t>```</a:t>
            </a:r>
            <a:br/>
            <a:br/>
            <a:r>
              <a: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2.2</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Optimization — The Learning Algorithm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Gradient Descent Overview</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GRADIENT DESCENT OVERVIEW</a:t>
            </a:r>
            <a:br/>
            <a:r>
              <a:t>━━━━━━━━━━━━━━━━━━━━━━━━━━━━━━━━━━━━━━━━━━━━━━━━━━━━━━━━━━━━━━━</a:t>
            </a:r>
            <a:br/>
            <a:br/>
            <a:r>
              <a:t>    ┌─────────────────────────────────────────────────────────────┐</a:t>
            </a:r>
            <a:br/>
            <a:r>
              <a:t>    │                 THE ANALOGY                                 │</a:t>
            </a:r>
            <a:br/>
            <a:r>
              <a:t>    ├─────────────────────────────────────────────────────────────┤</a:t>
            </a:r>
            <a:br/>
            <a:r>
              <a:t>    │                                                              │</a:t>
            </a:r>
            <a:br/>
            <a:r>
              <a:t>    │   Imagine you're blindfolded on a mountain                │</a:t>
            </a:r>
            <a:br/>
            <a:r>
              <a:t>    │   • You need to find the lowest point                     │</a:t>
            </a:r>
            <a:br/>
            <a:r>
              <a:t>    │   • You feel the slope with your feet                     │</a:t>
            </a:r>
            <a:br/>
            <a:r>
              <a:t>    │   • You take a step in the steepest downward direction     │</a:t>
            </a:r>
            <a:br/>
            <a:r>
              <a:t>    │                                                              │</a:t>
            </a:r>
            <a:br/>
            <a:r>
              <a:t>    │   That's gradient descent!                                 │</a:t>
            </a:r>
            <a:br/>
            <a:r>
              <a:t>    │                                                              │</a:t>
            </a:r>
            <a:br/>
            <a:r>
              <a:t>    └─────────────────────────────────────────────────────────────┘</a:t>
            </a:r>
            <a:br/>
            <a:br/>
            <a:r>
              <a:t>    ┌─────────────────────────────────────────────────────────────┐</a:t>
            </a:r>
            <a:br/>
            <a:r>
              <a:t>    │              THE ALGORITHM                                  │</a:t>
            </a:r>
            <a:br/>
            <a:r>
              <a:t>    ├─────────────────────────────────────────────────────────────┤</a:t>
            </a:r>
            <a:br/>
            <a:r>
              <a:t>    │                                                              │</a:t>
            </a:r>
            <a:br/>
            <a:r>
              <a:t>    │   while not converged:                                     │</a:t>
            </a:r>
            <a:br/>
            <a:r>
              <a:t>    │       gradient = compute_gradient(loss, weights, data)    │</a:t>
            </a:r>
            <a:br/>
            <a:r>
              <a:t>    │       weights = weights - learning_rate * gradient        │</a:t>
            </a:r>
            <a:br/>
            <a:r>
              <a:t>    │                                                              │</a:t>
            </a:r>
            <a:br/>
            <a:r>
              <a:t>    └─────────────────────────────────────────────────────────────┘</a:t>
            </a:r>
            <a:br/>
            <a:br/>
            <a:r>
              <a:t>    ┌─────────────────────────────────────────────────────────────┐</a:t>
            </a:r>
            <a:br/>
            <a:r>
              <a:t>    │              KEY INSIGHT                                    │</a:t>
            </a:r>
            <a:br/>
            <a:r>
              <a:t>    ├─────────────────────────────────────────────────────────────┤</a:t>
            </a:r>
            <a:br/>
            <a:r>
              <a:t>    │                                                              │</a:t>
            </a:r>
            <a:br/>
            <a:r>
              <a:t>    │   This simple loop is the foundation of almost ALL        │</a:t>
            </a:r>
            <a:br/>
            <a:r>
              <a:t>    │   machine learning!                                        │</a:t>
            </a:r>
            <a:br/>
            <a:r>
              <a:t>    │                                                              │</a:t>
            </a:r>
            <a:br/>
            <a:r>
              <a:t>    │   • Linear regression ✓                                    │</a:t>
            </a:r>
            <a:br/>
            <a:r>
              <a:t>    │   • Logistic regression ✓                                  │</a:t>
            </a:r>
            <a:br/>
            <a:r>
              <a:t>    │   • Neural networks ✓                                      │</a:t>
            </a:r>
            <a:br/>
            <a:r>
              <a:t>    │   • Deep learning ✓                                        │</a:t>
            </a:r>
            <a:br/>
            <a:r>
              <a:t>    │                                                              │</a:t>
            </a:r>
            <a:br/>
            <a:r>
              <a:t>    └─────────────────────────────────────────────────────────────┘</a:t>
            </a:r>
            <a:br/>
            <a:br/>
            <a:r>
              <a:t>━━━━━━━━━━━━━━━━━━━━━━━━━━━━━━━━━━━━━━━━━━━━━━━━━━━━━━━━━━━━━━━</a:t>
            </a:r>
            <a:br/>
            <a:r>
              <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Learning Rate and Convergence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LEARNING RATE AND CONVERGENCE</a:t>
            </a:r>
            <a:br/>
            <a:r>
              <a:t>━━━━━━━━━━━━━━━━━━━━━━━━━━━━━━━━━━━━━━━━━━━━━━━━━━━━━━━━━━━━━━━</a:t>
            </a:r>
            <a:br/>
            <a:br/>
            <a:r>
              <a:t>    ┌─────────────────────────────────────────────────────────────┐</a:t>
            </a:r>
            <a:br/>
            <a:r>
              <a:t>    │              LEARNING RATE (α)                              │</a:t>
            </a:r>
            <a:br/>
            <a:r>
              <a:t>    ├─────────────────────────────────────────────────────────────┤</a:t>
            </a:r>
            <a:br/>
            <a:r>
              <a:t>    │                                                              │</a:t>
            </a:r>
            <a:br/>
            <a:r>
              <a:t>    │   w_{t+1} = w_t - α·∇L(w_t)                              │</a:t>
            </a:r>
            <a:br/>
            <a:r>
              <a:t>    │                                                              │</a:t>
            </a:r>
            <a:br/>
            <a:r>
              <a:t>    │   α controls the step size:                                │</a:t>
            </a:r>
            <a:br/>
            <a:r>
              <a:t>    │   • Too large: overshoot, diverge                         │</a:t>
            </a:r>
            <a:br/>
            <a:r>
              <a:t>    │   • Too small: slow convergence                           │</a:t>
            </a:r>
            <a:br/>
            <a:r>
              <a:t>    │   • Just right: efficient learning                        │</a:t>
            </a:r>
            <a:br/>
            <a:r>
              <a:t>    │                                                              │</a:t>
            </a:r>
            <a:br/>
            <a:r>
              <a:t>    └─────────────────────────────────────────────────────────────┘</a:t>
            </a:r>
            <a:br/>
            <a:br/>
            <a:r>
              <a:t>    ┌─────────────────────────────────────────────────────────────┐</a:t>
            </a:r>
            <a:br/>
            <a:r>
              <a:t>    │              CONVERGENCE SCENARIOS                          │</a:t>
            </a:r>
            <a:br/>
            <a:r>
              <a:t>    ├─────────────────────────────────────────────────────────────┤</a:t>
            </a:r>
            <a:br/>
            <a:r>
              <a:t>    │                                                              │</a:t>
            </a:r>
            <a:br/>
            <a:r>
              <a:t>    │   [Learning Rate Too Large] → Loss oscillates/increases   │</a:t>
            </a:r>
            <a:br/>
            <a:r>
              <a:t>    │   [Learning Rate Too Small] → Loss decreases slowly       │</a:t>
            </a:r>
            <a:br/>
            <a:r>
              <a:t>    │   [Learning Rate Just Right] → Loss decreases smoothly    │</a:t>
            </a:r>
            <a:br/>
            <a:r>
              <a:t>    │                                                              │</a:t>
            </a:r>
            <a:br/>
            <a:r>
              <a:t>    └─────────────────────────────────────────────────────────────┘</a:t>
            </a:r>
            <a:br/>
            <a:br/>
            <a:r>
              <a:t>    ┌─────────────────────────────────────────────────────────────┐</a:t>
            </a:r>
            <a:br/>
            <a:r>
              <a:t>    │              TYPICAL VALUES                                 │</a:t>
            </a:r>
            <a:br/>
            <a:r>
              <a:t>    ├─────────────────────────────────────────────────────────────┤</a:t>
            </a:r>
            <a:br/>
            <a:r>
              <a:t>    │                                                              │</a:t>
            </a:r>
            <a:br/>
            <a:r>
              <a:t>    │   • Standard: 0.01, 0.001, 0.0001                         │</a:t>
            </a:r>
            <a:br/>
            <a:r>
              <a:t>    │   • Start with 0.01 and adjust                            │</a:t>
            </a:r>
            <a:br/>
            <a:r>
              <a:t>    │   • Use learning rate schedules for best results           │</a:t>
            </a:r>
            <a:br/>
            <a:r>
              <a:t>    │                                                              │</a:t>
            </a:r>
            <a:br/>
            <a:r>
              <a:t>    └─────────────────────────────────────────────────────────────┘</a:t>
            </a:r>
            <a:br/>
            <a:br/>
            <a:r>
              <a:t>━━━━━━━━━━━━━━━━━━━━━━━━━━━━━━━━━━━━━━━━━━━━━━━━━━━━━━━━━━━━━━━</a:t>
            </a:r>
            <a:br/>
            <a: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Batch GD vs SGD vs Mini-Batch</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BATCH GD vs SGD vs MINI-BATCH</a:t>
            </a:r>
            <a:br/>
            <a:r>
              <a:t>━━━━━━━━━━━━━━━━━━━━━━━━━━━━━━━━━━━━━━━━━━━━━━━━━━━━━━━━━━━━━━━</a:t>
            </a:r>
            <a:br/>
            <a:br/>
            <a:r>
              <a:t>    ┌─────────────────────────────────────────────────────────────┐</a:t>
            </a:r>
            <a:br/>
            <a:r>
              <a:t>    │              BATCH GRADIENT DESCENT                         │</a:t>
            </a:r>
            <a:br/>
            <a:r>
              <a:t>    ├─────────────────────────────────────────────────────────────┤</a:t>
            </a:r>
            <a:br/>
            <a:r>
              <a:t>    │                                                              │</a:t>
            </a:r>
            <a:br/>
            <a:r>
              <a:t>    │   Uses ALL data for each gradient step                     │</a:t>
            </a:r>
            <a:br/>
            <a:r>
              <a:t>    │   • Accurate gradient                                      │</a:t>
            </a:r>
            <a:br/>
            <a:r>
              <a:t>    │   • Slow for large datasets                               │</a:t>
            </a:r>
            <a:br/>
            <a:r>
              <a:t>    │   • Memory intensive                                       │</a:t>
            </a:r>
            <a:br/>
            <a:r>
              <a:t>    │                                                              │</a:t>
            </a:r>
            <a:br/>
            <a:r>
              <a:t>    └─────────────────────────────────────────────────────────────┘</a:t>
            </a:r>
            <a:br/>
            <a:br/>
            <a:r>
              <a:t>    ┌─────────────────────────────────────────────────────────────┐</a:t>
            </a:r>
            <a:br/>
            <a:r>
              <a:t>    │              STOCHASTIC GRADIENT DESCENT (SGD)              │</a:t>
            </a:r>
            <a:br/>
            <a:r>
              <a:t>    ├─────────────────────────────────────────────────────────────┤</a:t>
            </a:r>
            <a:br/>
            <a:r>
              <a:t>    │                                                              │</a:t>
            </a:r>
            <a:br/>
            <a:r>
              <a:t>    │   Uses ONE data point for each gradient step               │</a:t>
            </a:r>
            <a:br/>
            <a:r>
              <a:t>    │   • Fast updates                                           │</a:t>
            </a:r>
            <a:br/>
            <a:r>
              <a:t>    │   • Noisy gradient                                         │</a:t>
            </a:r>
            <a:br/>
            <a:r>
              <a:t>    │   • Can escape local minima                               │</a:t>
            </a:r>
            <a:br/>
            <a:r>
              <a:t>    │   • Most common in deep learning                          │</a:t>
            </a:r>
            <a:br/>
            <a:r>
              <a:t>    │                                                              │</a:t>
            </a:r>
            <a:br/>
            <a:r>
              <a:t>    └─────────────────────────────────────────────────────────────┘</a:t>
            </a:r>
            <a:br/>
            <a:br/>
            <a:r>
              <a:t>    ┌─────────────────────────────────────────────────────────────┐</a:t>
            </a:r>
            <a:br/>
            <a:r>
              <a:t>    │              MINI-BATCH GRADIENT DESCENT                    │</a:t>
            </a:r>
            <a:br/>
            <a:r>
              <a:t>    ├─────────────────────────────────────────────────────────────┤</a:t>
            </a:r>
            <a:br/>
            <a:r>
              <a:t>    │                                                              │</a:t>
            </a:r>
            <a:br/>
            <a:r>
              <a:t>    │   Uses a SMALL BATCH of data for each step                │</a:t>
            </a:r>
            <a:br/>
            <a:r>
              <a:t>    │   • Best of both worlds                                    │</a:t>
            </a:r>
            <a:br/>
            <a:r>
              <a:t>    │   • Less noise than SGD                                    │</a:t>
            </a:r>
            <a:br/>
            <a:r>
              <a:t>    │   • Faster than batch GD                                  │</a:t>
            </a:r>
            <a:br/>
            <a:r>
              <a:t>    │   • Typical batch size: 32, 64, 128, 256                 │</a:t>
            </a:r>
            <a:br/>
            <a:r>
              <a:t>    │   • Most practical choice!                                │</a:t>
            </a:r>
            <a:br/>
            <a:r>
              <a:t>    │                                                              │</a:t>
            </a:r>
            <a:br/>
            <a:r>
              <a:t>    └─────────────────────────────────────────────────────────────┘</a:t>
            </a:r>
            <a:br/>
            <a:br/>
            <a:r>
              <a:t>━━━━━━━━━━━━━━━━━━━━━━━━━━━━━━━━━━━━━━━━━━━━━━━━━━━━━━━━━━━━━━━</a:t>
            </a:r>
            <a:br/>
            <a: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Advanced Optimizers — Momentum and Adam</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ADVANCED OPTIMIZERS — MOMENTUM AND ADAM</a:t>
            </a:r>
            <a:br/>
            <a:r>
              <a:t>━━━━━━━━━━━━━━━━━━━━━━━━━━━━━━━━━━━━━━━━━━━━━━━━━━━━━━━━━━━━━━━</a:t>
            </a:r>
            <a:br/>
            <a:br/>
            <a:r>
              <a:t>    ┌─────────────────────────────────────────────────────────────┐</a:t>
            </a:r>
            <a:br/>
            <a:r>
              <a:t>    │              GRADIENT DESCENT WITH MOMENTUM                 │</a:t>
            </a:r>
            <a:br/>
            <a:r>
              <a:t>    ├─────────────────────────────────────────────────────────────┤</a:t>
            </a:r>
            <a:br/>
            <a:r>
              <a:t>    │                                                              │</a:t>
            </a:r>
            <a:br/>
            <a:r>
              <a:t>    │   v = βv + α∇L(w)                                         │</a:t>
            </a:r>
            <a:br/>
            <a:r>
              <a:t>    │   w = w - v                                                │</a:t>
            </a:r>
            <a:br/>
            <a:r>
              <a:t>    │                                                              │</a:t>
            </a:r>
            <a:br/>
            <a:r>
              <a:t>    │   β controls momentum (typically 0.9)                      │</a:t>
            </a:r>
            <a:br/>
            <a:r>
              <a:t>    │   • Accelerates through flat regions                       │</a:t>
            </a:r>
            <a:br/>
            <a:r>
              <a:t>    │   • Smoother convergence                                   │</a:t>
            </a:r>
            <a:br/>
            <a:r>
              <a:t>    │   • Like a ball rolling downhill                          │</a:t>
            </a:r>
            <a:br/>
            <a:r>
              <a:t>    │                                                              │</a:t>
            </a:r>
            <a:br/>
            <a:r>
              <a:t>    └─────────────────────────────────────────────────────────────┘</a:t>
            </a:r>
            <a:br/>
            <a:br/>
            <a:r>
              <a:t>    ┌─────────────────────────────────────────────────────────────┐</a:t>
            </a:r>
            <a:br/>
            <a:r>
              <a:t>    │              ADAM OPTIMIZER                                 │</a:t>
            </a:r>
            <a:br/>
            <a:r>
              <a:t>    ├─────────────────────────────────────────────────────────────┤</a:t>
            </a:r>
            <a:br/>
            <a:r>
              <a:t>    │                                                              │</a:t>
            </a:r>
            <a:br/>
            <a:r>
              <a:t>    │   m = β₁m + (1-β₁)g (momentum)                           │</a:t>
            </a:r>
            <a:br/>
            <a:r>
              <a:t>    │   v = β₂v + (1-β₂)g² (adaptive LR)                       │</a:t>
            </a:r>
            <a:br/>
            <a:r>
              <a:t>    │   w = w - α·m̂/(√v̂ + ε)                                  │</a:t>
            </a:r>
            <a:br/>
            <a:r>
              <a:t>    │                                                              │</a:t>
            </a:r>
            <a:br/>
            <a:r>
              <a:t>    │   • Most popular optimizer in deep learning               │</a:t>
            </a:r>
            <a:br/>
            <a:r>
              <a:t>    │   • Combines momentum + adaptive learning rates           │</a:t>
            </a:r>
            <a:br/>
            <a:r>
              <a:t>    │   • Works well for most problems                          │</a:t>
            </a:r>
            <a:br/>
            <a:r>
              <a:t>    │   • β₁=0.9, β₂=0.999, ε=1e-8                            │</a:t>
            </a:r>
            <a:br/>
            <a:r>
              <a:t>    │                                                              │</a:t>
            </a:r>
            <a:br/>
            <a:r>
              <a:t>    └─────────────────────────────────────────────────────────────┘</a:t>
            </a:r>
            <a:br/>
            <a:br/>
            <a:r>
              <a:t>━━━━━━━━━━━━━━━━━━━━━━━━━━━━━━━━━━━━━━━━━━━━━━━━━━━━━━━━━━━━━━━</a:t>
            </a:r>
            <a:br/>
            <a:r>
              <a: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Code Demo — Gradient Descent</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CODE DEMO — GRADIENT DESCENT</a:t>
            </a:r>
            <a:br/>
            <a:r>
              <a:t>━━━━━━━━━━━━━━━━━━━━━━━━━━━━━━━━━━━━━━━━━━━━━━━━━━━━━━━━━━━━━━━</a:t>
            </a:r>
            <a:br/>
            <a:br/>
            <a:r>
              <a:t>    &gt;&gt;&gt; from src.calculus import GradientDescent</a:t>
            </a:r>
            <a:br/>
            <a:r>
              <a:t>    &gt;&gt;&gt; from src.linear_algebra import Vector</a:t>
            </a:r>
            <a:br/>
            <a:r>
              <a:t>    &gt;&gt;&gt;</a:t>
            </a:r>
            <a:br/>
            <a:r>
              <a:t>    &gt;&gt;&gt; # Define loss: f(w) = w₁² + w₂²</a:t>
            </a:r>
            <a:br/>
            <a:r>
              <a:t>    &gt;&gt;&gt; def f(w):</a:t>
            </a:r>
            <a:br/>
            <a:r>
              <a:t>    ...     return sum(x**2 for x in w)</a:t>
            </a:r>
            <a:br/>
            <a:r>
              <a:t>    &gt;&gt;&gt;</a:t>
            </a:r>
            <a:br/>
            <a:r>
              <a:t>    &gt;&gt;&gt; def grad_f(w):</a:t>
            </a:r>
            <a:br/>
            <a:r>
              <a:t>    ...     return Vector([2*x for x in w])</a:t>
            </a:r>
            <a:br/>
            <a:r>
              <a:t>    &gt;&gt;&gt;</a:t>
            </a:r>
            <a:br/>
            <a:r>
              <a:t>    &gt;&gt;&gt; # Batch gradient descent</a:t>
            </a:r>
            <a:br/>
            <a:r>
              <a:t>    &gt;&gt;&gt; w = Vector([5.0, 3.0])</a:t>
            </a:r>
            <a:br/>
            <a:r>
              <a:t>    &gt;&gt;&gt; final_w, history = GradientDescent.batch_gradient_descent(</a:t>
            </a:r>
            <a:br/>
            <a:r>
              <a:t>    ...     f, grad_f, w,</a:t>
            </a:r>
            <a:br/>
            <a:r>
              <a:t>    ...     learning_rate=0.1,</a:t>
            </a:r>
            <a:br/>
            <a:r>
              <a:t>    ...     num_iterations=100</a:t>
            </a:r>
            <a:br/>
            <a:r>
              <a:t>    ... )</a:t>
            </a:r>
            <a:br/>
            <a:r>
              <a:t>    &gt;&gt;&gt;</a:t>
            </a:r>
            <a:br/>
            <a:r>
              <a:t>    &gt;&gt;&gt; # Should converge to (0, 0)</a:t>
            </a:r>
            <a:br/>
            <a:r>
              <a:t>    &gt;&gt;&gt; final_w</a:t>
            </a:r>
            <a:br/>
            <a:r>
              <a:t>    Vector([0.0000, 0.0000])</a:t>
            </a:r>
            <a:br/>
            <a:r>
              <a:t>    &gt;&gt;&gt;</a:t>
            </a:r>
            <a:br/>
            <a:r>
              <a:t>    &gt;&gt;&gt; # With momentum</a:t>
            </a:r>
            <a:br/>
            <a:r>
              <a:t>    &gt;&gt;&gt; final_w, history = GradientDescent.gradient_descent_with_momentum(</a:t>
            </a:r>
            <a:br/>
            <a:r>
              <a:t>    ...     f, grad_f, w, learning_rate=0.1, momentum=0.9</a:t>
            </a:r>
            <a:br/>
            <a:r>
              <a:t>    ... )</a:t>
            </a:r>
            <a:br/>
            <a:r>
              <a:t>    &gt;&gt;&gt;</a:t>
            </a:r>
            <a:br/>
            <a:r>
              <a:t>    &gt;&gt;&gt; # Adam optimizer</a:t>
            </a:r>
            <a:br/>
            <a:r>
              <a:t>    &gt;&gt;&gt; final_w, history = GradientDescent.adam_optimizer(</a:t>
            </a:r>
            <a:br/>
            <a:r>
              <a:t>    ...     f, grad_f, w, learning_rate=0.1</a:t>
            </a:r>
            <a:br/>
            <a:r>
              <a:t>    ... )</a:t>
            </a:r>
            <a:br/>
            <a:br/>
            <a:r>
              <a:t>━━━━━━━━━━━━━━━━━━━━━━━━━━━━━━━━━━━━━━━━━━━━━━━━━━━━━━━━━━━━━━━</a:t>
            </a:r>
            <a:br/>
            <a:r>
              <a: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Learning Rate Schedules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LEARNING RATE SCHEDULES</a:t>
            </a:r>
            <a:br/>
            <a:r>
              <a:t>━━━━━━━━━━━━━━━━━━━━━━━━━━━━━━━━━━━━━━━━━━━━━━━━━━━━━━━━━━━━━━━</a:t>
            </a:r>
            <a:br/>
            <a:br/>
            <a:r>
              <a:t>    ┌─────────────────────────────────────────────────────────────┐</a:t>
            </a:r>
            <a:br/>
            <a:r>
              <a:t>    │              WHY CHANGE LEARNING RATE?                      │</a:t>
            </a:r>
            <a:br/>
            <a:r>
              <a:t>    ├─────────────────────────────────────────────────────────────┤</a:t>
            </a:r>
            <a:br/>
            <a:r>
              <a:t>    │                                                              │</a:t>
            </a:r>
            <a:br/>
            <a:r>
              <a:t>    │   • Start with larger steps to make progress               │</a:t>
            </a:r>
            <a:br/>
            <a:r>
              <a:t>    │   • Reduce steps to fine-tune at the end                   │</a:t>
            </a:r>
            <a:br/>
            <a:r>
              <a:t>    │   • Helps escape local minima                              │</a:t>
            </a:r>
            <a:br/>
            <a:r>
              <a:t>    │   • Leads to better convergence                           │</a:t>
            </a:r>
            <a:br/>
            <a:r>
              <a:t>    │                                                              │</a:t>
            </a:r>
            <a:br/>
            <a:r>
              <a:t>    └─────────────────────────────────────────────────────────────┘</a:t>
            </a:r>
            <a:br/>
            <a:br/>
            <a:r>
              <a:t>    ┌─────────────────────────────────────────────────────────────┐</a:t>
            </a:r>
            <a:br/>
            <a:r>
              <a:t>    │              COMMON SCHEDULES                               │</a:t>
            </a:r>
            <a:br/>
            <a:r>
              <a:t>    ├─────────────────────────────────────────────────────────────┤</a:t>
            </a:r>
            <a:br/>
            <a:r>
              <a:t>    │                                                              │</a:t>
            </a:r>
            <a:br/>
            <a:r>
              <a:t>    │   • Step Decay: α_t = α₀·γ^{⌊t/T⌋}                       │</a:t>
            </a:r>
            <a:br/>
            <a:r>
              <a:t>    │   • Exponential: α_t = α₀·e^{-kt}                         │</a:t>
            </a:r>
            <a:br/>
            <a:r>
              <a:t>    │   • Cosine: α_t = α₀/2(1 + cos(πt/T))                    │</a:t>
            </a:r>
            <a:br/>
            <a:r>
              <a:t>    │   • Warmup: α_t = α₀·min(1, t/T_w)                       │</a:t>
            </a:r>
            <a:br/>
            <a:r>
              <a:t>    │                                                              │</a:t>
            </a:r>
            <a:br/>
            <a:r>
              <a:t>    └─────────────────────────────────────────────────────────────┘</a:t>
            </a:r>
            <a:br/>
            <a:br/>
            <a:r>
              <a:t>    ┌─────────────────────────────────────────────────────────────┐</a:t>
            </a:r>
            <a:br/>
            <a:r>
              <a:t>    │                   CODE                                      │</a:t>
            </a:r>
            <a:br/>
            <a:r>
              <a:t>    ├─────────────────────────────────────────────────────────────┤</a:t>
            </a:r>
            <a:br/>
            <a:r>
              <a:t>    │                                                              │</a:t>
            </a:r>
            <a:br/>
            <a:r>
              <a:t>    │   # Exponential decay                                       │</a:t>
            </a:r>
            <a:br/>
            <a:r>
              <a:t>    │   lr = GradientDescent.exponential_decay(0.01, epoch, 0.1)│</a:t>
            </a:r>
            <a:br/>
            <a:r>
              <a:t>    │                                                              │</a:t>
            </a:r>
            <a:br/>
            <a:r>
              <a:t>    │   # Step decay                                              │</a:t>
            </a:r>
            <a:br/>
            <a:r>
              <a:t>    │   lr = GradientDescent.step_decay(0.01, epoch, 0.5, 10)   │</a:t>
            </a:r>
            <a:br/>
            <a:r>
              <a:t>    │                                                              │</a:t>
            </a:r>
            <a:br/>
            <a:r>
              <a:t>    └─────────────────────────────────────────────────────────────┘</a:t>
            </a:r>
            <a:br/>
            <a:br/>
            <a:r>
              <a:t>━━━━━━━━━━━━━━━━━━━━━━━━━━━━━━━━━━━━━━━━━━━━━━━━━━━━━━━━━━━━━━━</a:t>
            </a:r>
            <a:br/>
            <a:r>
              <a: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Verification — Testing Optimization</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VERIFICATION — TESTING OPTIMIZATION</a:t>
            </a:r>
            <a:br/>
            <a:r>
              <a:t>━━━━━━━━━━━━━━━━━━━━━━━━━━━━━━━━━━━━━━━━━━━━━━━━━━━━━━━━━━━━━━━</a:t>
            </a:r>
            <a:br/>
            <a:br/>
            <a:r>
              <a:t>    $ pytest tests/test_optimization.py -v</a:t>
            </a:r>
            <a:br/>
            <a:br/>
            <a:r>
              <a:t>    ==================== test session starts ====================</a:t>
            </a:r>
            <a:br/>
            <a:r>
              <a:t>    collected 7 items</a:t>
            </a:r>
            <a:br/>
            <a:br/>
            <a:r>
              <a:t>    tests/test_optimization.py::test_batch_gradient_descent PASSED</a:t>
            </a:r>
            <a:br/>
            <a:r>
              <a:t>    tests/test_optimization.py::test_momentum PASSED</a:t>
            </a:r>
            <a:br/>
            <a:r>
              <a:t>    tests/test_optimization.py::test_adam PASSED</a:t>
            </a:r>
            <a:br/>
            <a:r>
              <a:t>    tests/test_optimization.py::test_line_search PASSED</a:t>
            </a:r>
            <a:br/>
            <a:r>
              <a:t>    tests/test_optimization.py::test_rosenbrock PASSED</a:t>
            </a:r>
            <a:br/>
            <a:r>
              <a:t>    tests/test_optimization.py::test_mini_batch PASSED</a:t>
            </a:r>
            <a:br/>
            <a:br/>
            <a:r>
              <a:t>    ==================== 6 passed in 1.23s ====================</a:t>
            </a:r>
            <a:br/>
            <a:br/>
            <a:r>
              <a:t>    ┌─────────────────────────────────────────────────────────────┐</a:t>
            </a:r>
            <a:br/>
            <a:r>
              <a:t>    │                    ✓ ALL TESTS PASS                       │</a:t>
            </a:r>
            <a:br/>
            <a:r>
              <a:t>    └─────────────────────────────────────────────────────────────┘</a:t>
            </a:r>
            <a:br/>
            <a:br/>
            <a:r>
              <a:t>━━━━━━━━━━━━━━━━━━━━━━━━━━━━━━━━━━━━━━━━━━━━━━━━━━━━━━━━━━━━━━━</a:t>
            </a:r>
            <a:br/>
            <a:r>
              <a:t>```</a:t>
            </a:r>
            <a:br/>
            <a:br/>
            <a:r>
              <a: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2.3</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Backpropagation — The Chain Rule in Action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The Chain Rule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THE CHAIN RULE</a:t>
            </a:r>
            <a:br/>
            <a:r>
              <a:t>━━━━━━━━━━━━━━━━━━━━━━━━━━━━━━━━━━━━━━━━━━━━━━━━━━━━━━━━━━━━━━━</a:t>
            </a:r>
            <a:br/>
            <a:br/>
            <a:r>
              <a:t>    ┌─────────────────────────────────────────────────────────────┐</a:t>
            </a:r>
            <a:br/>
            <a:r>
              <a:t>    │                 THE RULE                                    │</a:t>
            </a:r>
            <a:br/>
            <a:r>
              <a:t>    ├─────────────────────────────────────────────────────────────┤</a:t>
            </a:r>
            <a:br/>
            <a:r>
              <a:t>    │                                                              │</a:t>
            </a:r>
            <a:br/>
            <a:r>
              <a:t>    │   d/dx(f(g(x))) = f'(g(x))·g'(x)                          │</a:t>
            </a:r>
            <a:br/>
            <a:r>
              <a:t>    │                                                              │</a:t>
            </a:r>
            <a:br/>
            <a:r>
              <a:t>    │   In words: The derivative of a composite function is      │</a:t>
            </a:r>
            <a:br/>
            <a:r>
              <a:t>    │   the derivative of the outer function times the          │</a:t>
            </a:r>
            <a:br/>
            <a:r>
              <a:t>    │   derivative of the inner function.                        │</a:t>
            </a:r>
            <a:br/>
            <a:r>
              <a:t>    │                                                              │</a:t>
            </a:r>
            <a:br/>
            <a:r>
              <a:t>    └─────────────────────────────────────────────────────────────┘</a:t>
            </a:r>
            <a:br/>
            <a:br/>
            <a:r>
              <a:t>    ┌─────────────────────────────────────────────────────────────┐</a:t>
            </a:r>
            <a:br/>
            <a:r>
              <a:t>    │              INTUITION                                      │</a:t>
            </a:r>
            <a:br/>
            <a:r>
              <a:t>    ├─────────────────────────────────────────────────────────────┤</a:t>
            </a:r>
            <a:br/>
            <a:r>
              <a:t>    │                                                              │</a:t>
            </a:r>
            <a:br/>
            <a:r>
              <a:t>    │   f(g(x)) = (x+1)²                                        │</a:t>
            </a:r>
            <a:br/>
            <a:r>
              <a:t>    │   g(x) = x+1, f(g) = g²                                   │</a:t>
            </a:r>
            <a:br/>
            <a:r>
              <a:t>    │                                                              │</a:t>
            </a:r>
            <a:br/>
            <a:r>
              <a:t>    │   f'(g(x)) = 2g(x) = 2(x+1)                               │</a:t>
            </a:r>
            <a:br/>
            <a:r>
              <a:t>    │   g'(x) = 1                                                │</a:t>
            </a:r>
            <a:br/>
            <a:r>
              <a:t>    │   f'(x) = 2(x+1)·1 = 2x+2                                │</a:t>
            </a:r>
            <a:br/>
            <a:r>
              <a:t>    │                                                              │</a:t>
            </a:r>
            <a:br/>
            <a:r>
              <a:t>    └─────────────────────────────────────────────────────────────┘</a:t>
            </a:r>
            <a:br/>
            <a:br/>
            <a:r>
              <a:t>    ┌─────────────────────────────────────────────────────────────┐</a:t>
            </a:r>
            <a:br/>
            <a:r>
              <a:t>    │              WHY IT MATTERS FOR ML                          │</a:t>
            </a:r>
            <a:br/>
            <a:r>
              <a:t>    ├─────────────────────────────────────────────────────────────┤</a:t>
            </a:r>
            <a:br/>
            <a:r>
              <a:t>    │                                                              │</a:t>
            </a:r>
            <a:br/>
            <a:r>
              <a:t>    │   Neural networks are COMPOSITE functions!                 │</a:t>
            </a:r>
            <a:br/>
            <a:r>
              <a:t>    │                                                              │</a:t>
            </a:r>
            <a:br/>
            <a:r>
              <a:t>    │   ŷ = g₃(W₃·g₂(W₂·g₁(W₁x + b₁) + b₂) + b₃)              │</a:t>
            </a:r>
            <a:br/>
            <a:r>
              <a:t>    │                                                              │</a:t>
            </a:r>
            <a:br/>
            <a:r>
              <a:t>    │   The chain rule lets us compute ∂L/∂w for ALL weights!   │</a:t>
            </a:r>
            <a:br/>
            <a:r>
              <a:t>    │                                                              │</a:t>
            </a:r>
            <a:br/>
            <a:r>
              <a:t>    └─────────────────────────────────────────────────────────────┘</a:t>
            </a:r>
            <a:br/>
            <a:br/>
            <a:r>
              <a:t>━━━━━━━━━━━━━━━━━━━━━━━━━━━━━━━━━━━━━━━━━━━━━━━━━━━━━━━━━━━━━━━</a:t>
            </a:r>
            <a:br/>
            <a:r>
              <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Computational Graphs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COMPUTATIONAL GRAPHS</a:t>
            </a:r>
            <a:br/>
            <a:r>
              <a:t>━━━━━━━━━━━━━━━━━━━━━━━━━━━━━━━━━━━━━━━━━━━━━━━━━━━━━━━━━━━━━━━</a:t>
            </a:r>
            <a:br/>
            <a:br/>
            <a:r>
              <a:t>    ┌─────────────────────────────────────────────────────────────┐</a:t>
            </a:r>
            <a:br/>
            <a:r>
              <a:t>    │              WHAT IS A COMPUTATIONAL GRAPH?                 │</a:t>
            </a:r>
            <a:br/>
            <a:r>
              <a:t>    ├─────────────────────────────────────────────────────────────┤</a:t>
            </a:r>
            <a:br/>
            <a:r>
              <a:t>    │                                                              │</a:t>
            </a:r>
            <a:br/>
            <a:r>
              <a:t>    │   A computational graph is a directed graph where:         │</a:t>
            </a:r>
            <a:br/>
            <a:r>
              <a:t>    │   • Nodes = operations                                     │</a:t>
            </a:r>
            <a:br/>
            <a:r>
              <a:t>    │   • Edges = data flow                                      │</a:t>
            </a:r>
            <a:br/>
            <a:r>
              <a:t>    │   • Forward pass = left to right                          │</a:t>
            </a:r>
            <a:br/>
            <a:r>
              <a:t>    │   • Backward pass = right to left                         │</a:t>
            </a:r>
            <a:br/>
            <a:r>
              <a:t>    │                                                              │</a:t>
            </a:r>
            <a:br/>
            <a:r>
              <a:t>    └─────────────────────────────────────────────────────────────┘</a:t>
            </a:r>
            <a:br/>
            <a:br/>
            <a:r>
              <a:t>    ┌─────────────────────────────────────────────────────────────┐</a:t>
            </a:r>
            <a:br/>
            <a:r>
              <a:t>    │              EXAMPLE: y = (x + 2)²                          │</a:t>
            </a:r>
            <a:br/>
            <a:r>
              <a:t>    ├─────────────────────────────────────────────────────────────┤</a:t>
            </a:r>
            <a:br/>
            <a:r>
              <a:t>    │                                                              │</a:t>
            </a:r>
            <a:br/>
            <a:r>
              <a:t>    │   x → [+] → (y) → [²] → z                                 │</a:t>
            </a:r>
            <a:br/>
            <a:r>
              <a:t>    │        ↑                                                   │</a:t>
            </a:r>
            <a:br/>
            <a:r>
              <a:t>    │        2                                                   │</a:t>
            </a:r>
            <a:br/>
            <a:r>
              <a:t>    │                                                              │</a:t>
            </a:r>
            <a:br/>
            <a:r>
              <a:t>    │   Forward: y = x + 2, z = y²                              │</a:t>
            </a:r>
            <a:br/>
            <a:r>
              <a:t>    │   Backward: dz/dy = 2y, dy/dx = 1 → dz/dx = 2y·1         │</a:t>
            </a:r>
            <a:br/>
            <a:r>
              <a:t>    │                                                              │</a:t>
            </a:r>
            <a:br/>
            <a:r>
              <a:t>    └─────────────────────────────────────────────────────────────┘</a:t>
            </a:r>
            <a:br/>
            <a:br/>
            <a:r>
              <a:t>    ┌─────────────────────────────────────────────────────────────┐</a:t>
            </a:r>
            <a:br/>
            <a:r>
              <a:t>    │              WHY THIS MATTERS                               │</a:t>
            </a:r>
            <a:br/>
            <a:r>
              <a:t>    ├─────────────────────────────────────────────────────────────┤</a:t>
            </a:r>
            <a:br/>
            <a:r>
              <a:t>    │                                                              │</a:t>
            </a:r>
            <a:br/>
            <a:r>
              <a:t>    │   • Every neural network is a computational graph          │</a:t>
            </a:r>
            <a:br/>
            <a:r>
              <a:t>    │   • Forward pass computes outputs                          │</a:t>
            </a:r>
            <a:br/>
            <a:r>
              <a:t>    │   • Backward pass computes gradients                       │</a:t>
            </a:r>
            <a:br/>
            <a:r>
              <a:t>    │   • This is what PyTorch/TensorFlow do!                   │</a:t>
            </a:r>
            <a:br/>
            <a:r>
              <a:t>    │                                                              │</a:t>
            </a:r>
            <a:br/>
            <a:r>
              <a:t>    └─────────────────────────────────────────────────────────────┘</a:t>
            </a:r>
            <a:br/>
            <a:br/>
            <a:r>
              <a:t>━━━━━━━━━━━━━━━━━━━━━━━━━━━━━━━━━━━━━━━━━━━━━━━━━━━━━━━━━━━━━━━</a:t>
            </a:r>
            <a:br/>
            <a: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Backpropagation Algorithm</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BACKPROPAGATION ALGORITHM</a:t>
            </a:r>
            <a:br/>
            <a:r>
              <a:t>━━━━━━━━━━━━━━━━━━━━━━━━━━━━━━━━━━━━━━━━━━━━━━━━━━━━━━━━━━━━━━━</a:t>
            </a:r>
            <a:br/>
            <a:br/>
            <a:r>
              <a:t>    ┌─────────────────────────────────────────────────────────────┐</a:t>
            </a:r>
            <a:br/>
            <a:r>
              <a:t>    │              THE ANALOGY                                   │</a:t>
            </a:r>
            <a:br/>
            <a:r>
              <a:t>    ├─────────────────────────────────────────────────────────────┤</a:t>
            </a:r>
            <a:br/>
            <a:r>
              <a:t>    │                                                              │</a:t>
            </a:r>
            <a:br/>
            <a:r>
              <a:t>    │   Baking a cake:                                           │</a:t>
            </a:r>
            <a:br/>
            <a:r>
              <a:t>    │   • Forward: Mix ingredients → bake → cake               │</a:t>
            </a:r>
            <a:br/>
            <a:r>
              <a:t>    │   • Taste: Is it too sweet?                                │</a:t>
            </a:r>
            <a:br/>
            <a:r>
              <a:t>    │   • Backward: Which ingredient to adjust?                 │</a:t>
            </a:r>
            <a:br/>
            <a:r>
              <a:t>    │                                                              │</a:t>
            </a:r>
            <a:br/>
            <a:r>
              <a:t>    │   Same as neural networks!                                 │</a:t>
            </a:r>
            <a:br/>
            <a:r>
              <a:t>    │                                                              │</a:t>
            </a:r>
            <a:br/>
            <a:r>
              <a:t>    └─────────────────────────────────────────────────────────────┘</a:t>
            </a:r>
            <a:br/>
            <a:br/>
            <a:r>
              <a:t>    ┌─────────────────────────────────────────────────────────────┐</a:t>
            </a:r>
            <a:br/>
            <a:r>
              <a:t>    │              THE ALGORITHM                                  │</a:t>
            </a:r>
            <a:br/>
            <a:r>
              <a:t>    ├─────────────────────────────────────────────────────────────┤</a:t>
            </a:r>
            <a:br/>
            <a:r>
              <a:t>    │                                                              │</a:t>
            </a:r>
            <a:br/>
            <a:r>
              <a:t>    │   1. FORWARD PASS: Compute predictions                     │</a:t>
            </a:r>
            <a:br/>
            <a:r>
              <a:t>    │      a⁰ = x                                               │</a:t>
            </a:r>
            <a:br/>
            <a:r>
              <a:t>    │      zˡ = Wˡa^{l-1} + bˡ                                 │</a:t>
            </a:r>
            <a:br/>
            <a:r>
              <a:t>    │      aˡ = gˡ(zˡ)                                         │</a:t>
            </a:r>
            <a:br/>
            <a:r>
              <a:t>    │                                                              │</a:t>
            </a:r>
            <a:br/>
            <a:r>
              <a:t>    │   2. COMPUTE LOSS: L = loss(ŷ, y)                         │</a:t>
            </a:r>
            <a:br/>
            <a:r>
              <a:t>    │                                                              │</a:t>
            </a:r>
            <a:br/>
            <a:r>
              <a:t>    │   3. BACKWARD PASS: Propagate error backwards             │</a:t>
            </a:r>
            <a:br/>
            <a:r>
              <a:t>    │      δᴸ = ∇ₐL ⊙ g'ᴸ(zᴸ)                                  │</a:t>
            </a:r>
            <a:br/>
            <a:r>
              <a:t>    │      δˡ = (W^{l+1})^T δ^{l+1} ⊙ g'ˡ(zˡ)                 │</a:t>
            </a:r>
            <a:br/>
            <a:r>
              <a:t>    │      ∂L/∂Wˡ = δˡ(a^{l-1})^T                               │</a:t>
            </a:r>
            <a:br/>
            <a:r>
              <a:t>    │      ∂L/∂bˡ = δˡ                                         │</a:t>
            </a:r>
            <a:br/>
            <a:r>
              <a:t>    │                                                              │</a:t>
            </a:r>
            <a:br/>
            <a:r>
              <a:t>    │   4. UPDATE: Wˡ = Wˡ - α·∂L/∂Wˡ                         │</a:t>
            </a:r>
            <a:br/>
            <a:r>
              <a:t>    │                                                              │</a:t>
            </a:r>
            <a:br/>
            <a:r>
              <a:t>    └─────────────────────────────────────────────────────────────┘</a:t>
            </a:r>
            <a:br/>
            <a:br/>
            <a:r>
              <a:t>━━━━━━━━━━━━━━━━━━━━━━━━━━━━━━━━━━━━━━━━━━━━━━━━━━━━━━━━━━━━━━━</a:t>
            </a:r>
            <a:br/>
            <a: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Backpropagation Visualized</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BACKPROPAGATION VISUALIZED</a:t>
            </a:r>
            <a:br/>
            <a:r>
              <a:t>━━━━━━━━━━━━━━━━━━━━━━━━━━━━━━━━━━━━━━━━━━━━━━━━━━━━━━━━━━━━━━━</a:t>
            </a:r>
            <a:br/>
            <a:br/>
            <a:r>
              <a:t>    ┌─────────────────────────────────────────────────────────────┐</a:t>
            </a:r>
            <a:br/>
            <a:r>
              <a:t>    │              FORWARD PASS                                   │</a:t>
            </a:r>
            <a:br/>
            <a:r>
              <a:t>    ├─────────────────────────────────────────────────────────────┤</a:t>
            </a:r>
            <a:br/>
            <a:r>
              <a:t>    │                                                              │</a:t>
            </a:r>
            <a:br/>
            <a:r>
              <a:t>    │   x → Layer1 → Layer2 → Layer3 → ŷ                      │</a:t>
            </a:r>
            <a:br/>
            <a:r>
              <a:t>    │         ↓        ↓        ↓                               │</a:t>
            </a:r>
            <a:br/>
            <a:r>
              <a:t>    │        a¹       a²       a³                              │</a:t>
            </a:r>
            <a:br/>
            <a:r>
              <a:t>    │                                                              │</a:t>
            </a:r>
            <a:br/>
            <a:r>
              <a:t>    │   Predictions flow forward.                                 │</a:t>
            </a:r>
            <a:br/>
            <a:r>
              <a:t>    │                                                              │</a:t>
            </a:r>
            <a:br/>
            <a:r>
              <a:t>    └─────────────────────────────────────────────────────────────┘</a:t>
            </a:r>
            <a:br/>
            <a:br/>
            <a:r>
              <a:t>    ┌─────────────────────────────────────────────────────────────┐</a:t>
            </a:r>
            <a:br/>
            <a:r>
              <a:t>    │              LOSS COMPUTATION                               │</a:t>
            </a:r>
            <a:br/>
            <a:r>
              <a:t>    ├─────────────────────────────────────────────────────────────┤</a:t>
            </a:r>
            <a:br/>
            <a:r>
              <a:t>    │                                                              │</a:t>
            </a:r>
            <a:br/>
            <a:r>
              <a:t>    │   x → Layer1 → Layer2 → Layer3 → ŷ → Loss               │</a:t>
            </a:r>
            <a:br/>
            <a:r>
              <a:t>    │                                                              │</a:t>
            </a:r>
            <a:br/>
            <a:r>
              <a:t>    │   Compare predictions to targets.                           │</a:t>
            </a:r>
            <a:br/>
            <a:r>
              <a:t>    │                                                              │</a:t>
            </a:r>
            <a:br/>
            <a:r>
              <a:t>    └─────────────────────────────────────────────────────────────┘</a:t>
            </a:r>
            <a:br/>
            <a:br/>
            <a:r>
              <a:t>    ┌─────────────────────────────────────────────────────────────┐</a:t>
            </a:r>
            <a:br/>
            <a:r>
              <a:t>    │              BACKWARD PASS                                 │</a:t>
            </a:r>
            <a:br/>
            <a:r>
              <a:t>    ├─────────────────────────────────────────────────────────────┤</a:t>
            </a:r>
            <a:br/>
            <a:r>
              <a:t>    │                                                              │</a:t>
            </a:r>
            <a:br/>
            <a:r>
              <a:t>    │   x ← Layer1 ← Layer2 ← Layer3 ← Loss                    │</a:t>
            </a:r>
            <a:br/>
            <a:r>
              <a:t>    │         ↑        ↑        ↑                               │</a:t>
            </a:r>
            <a:br/>
            <a:r>
              <a:t>    │        δ¹       δ²       δ³                              │</a:t>
            </a:r>
            <a:br/>
            <a:r>
              <a:t>    │                                                              │</a:t>
            </a:r>
            <a:br/>
            <a:r>
              <a:t>    │   Gradients flow backward.                                  │</a:t>
            </a:r>
            <a:br/>
            <a:r>
              <a:t>    │   δˡ = (W^{l+1})^T δ^{l+1} ⊙ g'ˡ(zˡ)                    │</a:t>
            </a:r>
            <a:br/>
            <a:r>
              <a:t>    │                                                              │</a:t>
            </a:r>
            <a:br/>
            <a:r>
              <a:t>    └─────────────────────────────────────────────────────────────┘</a:t>
            </a:r>
            <a:br/>
            <a:br/>
            <a:r>
              <a:t>━━━━━━━━━━━━━━━━━━━━━━━━━━━━━━━━━━━━━━━━━━━━━━━━━━━━━━━━━━━━━━━</a:t>
            </a:r>
            <a:br/>
            <a: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Code Demo — Neural Network</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CODE DEMO — NEURAL NETWORK</a:t>
            </a:r>
            <a:br/>
            <a:r>
              <a:t>━━━━━━━━━━━━━━━━━━━━━━━━━━━━━━━━━━━━━━━━━━━━━━━━━━━━━━━━━━━━━━━</a:t>
            </a:r>
            <a:br/>
            <a:br/>
            <a:r>
              <a:t>    &gt;&gt;&gt; from src.models import NeuralNetwork</a:t>
            </a:r>
            <a:br/>
            <a:r>
              <a:t>    &gt;&gt;&gt; from src.linear_algebra import Matrix</a:t>
            </a:r>
            <a:br/>
            <a:r>
              <a:t>    &gt;&gt;&gt;</a:t>
            </a:r>
            <a:br/>
            <a:r>
              <a:t>    &gt;&gt;&gt; # XOR problem</a:t>
            </a:r>
            <a:br/>
            <a:r>
              <a:t>    &gt;&gt;&gt; X = Matrix([[0, 0], [0, 1], [1, 0], [1, 1]])</a:t>
            </a:r>
            <a:br/>
            <a:r>
              <a:t>    &gt;&gt;&gt; y = Matrix([[0], [1], [1], [0]])</a:t>
            </a:r>
            <a:br/>
            <a:r>
              <a:t>    &gt;&gt;&gt;</a:t>
            </a:r>
            <a:br/>
            <a:r>
              <a:t>    &gt;&gt;&gt; # Create network: 2 inputs → 4 hidden → 1 output</a:t>
            </a:r>
            <a:br/>
            <a:r>
              <a:t>    &gt;&gt;&gt; nn = NeuralNetwork(</a:t>
            </a:r>
            <a:br/>
            <a:r>
              <a:t>    ...     layer_sizes=[2, 4, 1],</a:t>
            </a:r>
            <a:br/>
            <a:r>
              <a:t>    ...     learning_rate=0.1,</a:t>
            </a:r>
            <a:br/>
            <a:r>
              <a:t>    ...     num_epochs=200,</a:t>
            </a:r>
            <a:br/>
            <a:r>
              <a:t>    ...     random_seed=42</a:t>
            </a:r>
            <a:br/>
            <a:r>
              <a:t>    ... )</a:t>
            </a:r>
            <a:br/>
            <a:r>
              <a:t>    &gt;&gt;&gt;</a:t>
            </a:r>
            <a:br/>
            <a:r>
              <a:t>    &gt;&gt;&gt; # Train</a:t>
            </a:r>
            <a:br/>
            <a:r>
              <a:t>    &gt;&gt;&gt; nn.fit(X, y)</a:t>
            </a:r>
            <a:br/>
            <a:r>
              <a:t>    Epoch 10: loss=0.2281, accuracy=0.75</a:t>
            </a:r>
            <a:br/>
            <a:r>
              <a:t>    Epoch 50: loss=0.0752, accuracy=1.00</a:t>
            </a:r>
            <a:br/>
            <a:r>
              <a:t>    Epoch 100: loss=0.0451, accuracy=1.00</a:t>
            </a:r>
            <a:br/>
            <a:r>
              <a:t>    &gt;&gt;&gt;</a:t>
            </a:r>
            <a:br/>
            <a:r>
              <a:t>    &gt;&gt;&gt; # Predict</a:t>
            </a:r>
            <a:br/>
            <a:r>
              <a:t>    &gt;&gt;&gt; predictions = nn.predict(X)</a:t>
            </a:r>
            <a:br/>
            <a:r>
              <a:t>    &gt;&gt;&gt; print(predictions)</a:t>
            </a:r>
            <a:br/>
            <a:r>
              <a:t>    [0.0234, 0.9821, 0.9812, 0.0123]</a:t>
            </a:r>
            <a:br/>
            <a:r>
              <a:t>    &gt;&gt;&gt;</a:t>
            </a:r>
            <a:br/>
            <a:r>
              <a:t>    &gt;&gt;&gt; # The network learned XOR perfectly!</a:t>
            </a:r>
            <a:br/>
            <a:br/>
            <a:r>
              <a:t>━━━━━━━━━━━━━━━━━━━━━━━━━━━━━━━━━━━━━━━━━━━━━━━━━━━━━━━━━━━━━━━</a:t>
            </a:r>
            <a:br/>
            <a: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Verification — Testing Neural Networks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100">
                <a:solidFill>
                  <a:srgbClr val="3C3C3C"/>
                </a:solidFill>
                <a:latin typeface="Consolas"/>
              </a:defRPr>
            </a:pPr>
            <a:r>
              <a:t>```</a:t>
            </a:r>
            <a:br/>
            <a:r>
              <a:t>━━━━━━━━━━━━━━━━━━━━━━━━━━━━━━━━━━━━━━━━━━━━━━━━━━━━━━━━━━━━━━━</a:t>
            </a:r>
            <a:br/>
            <a:r>
              <a:t>            VERIFICATION — TESTING NEURAL NETWORKS</a:t>
            </a:r>
            <a:br/>
            <a:r>
              <a:t>━━━━━━━━━━━━━━━━━━━━━━━━━━━━━━━━━━━━━━━━━━━━━━━━━━━━━━━━━━━━━━━</a:t>
            </a:r>
            <a:br/>
            <a:br/>
            <a:r>
              <a:t>    $ pytest tests/test_neural_network.py -v</a:t>
            </a:r>
            <a:br/>
            <a:br/>
            <a:r>
              <a:t>    ==================== test session starts ====================</a:t>
            </a:r>
            <a:br/>
            <a:r>
              <a:t>    collected 4 items</a:t>
            </a:r>
            <a:br/>
            <a:br/>
            <a:r>
              <a:t>    tests/test_neural_network.py::test_xor_problem PASSED</a:t>
            </a:r>
            <a:br/>
            <a:r>
              <a:t>    tests/test_neural_network.py::test_linear_regression PASSED</a:t>
            </a:r>
            <a:br/>
            <a:r>
              <a:t>    tests/test_neural_network.py::test_classification PASSED</a:t>
            </a:r>
            <a:br/>
            <a:r>
              <a:t>    tests/test_neural_network.py::test_gradient_check PASSED</a:t>
            </a:r>
            <a:br/>
            <a:br/>
            <a:r>
              <a:t>    ==================== 4 passed in 3.45s ====================</a:t>
            </a:r>
            <a:br/>
            <a:br/>
            <a:r>
              <a:t>    ┌─────────────────────────────────────────────────────────────┐</a:t>
            </a:r>
            <a:br/>
            <a:r>
              <a:t>    │                    ✓ ALL TESTS PASS                       │</a:t>
            </a:r>
            <a:br/>
            <a:r>
              <a:t>    └─────────────────────────────────────────────────────────────┘</a:t>
            </a:r>
            <a:br/>
            <a:br/>
            <a:r>
              <a:t>━━━━━━━━━━━━━━━━━━━━━━━━━━━━━━━━━━━━━━━━━━━━━━━━━━━━━━━━━━━━━━━</a:t>
            </a:r>
            <a:br/>
            <a:r>
              <a:t>```</a:t>
            </a:r>
            <a:br/>
            <a:br/>
            <a:r>
              <a: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PART 3</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PROBABILITY &amp; STATISTICS — HANDLING UNCERTAINTY</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3.0</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Probability Overview</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Why Probability?</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WHY PROBABILITY?</a:t>
            </a:r>
            <a:br/>
            <a:r>
              <a:t>━━━━━━━━━━━━━━━━━━━━━━━━━━━━━━━━━━━━━━━━━━━━━━━━━━━━━━━━━━━━━━━</a:t>
            </a:r>
            <a:br/>
            <a:br/>
            <a:r>
              <a:t>    ┌─────────────────────────────────────────────────────────────┐</a:t>
            </a:r>
            <a:br/>
            <a:r>
              <a:t>    │                 THE PROBLEM                                 │</a:t>
            </a:r>
            <a:br/>
            <a:r>
              <a:t>    ├─────────────────────────────────────────────────────────────┤</a:t>
            </a:r>
            <a:br/>
            <a:r>
              <a:t>    │                                                              │</a:t>
            </a:r>
            <a:br/>
            <a:r>
              <a:t>    │   Data is noisy!                                           │</a:t>
            </a:r>
            <a:br/>
            <a:r>
              <a:t>    │                                                              │</a:t>
            </a:r>
            <a:br/>
            <a:r>
              <a:t>    │   • Measurements are imperfect                             │</a:t>
            </a:r>
            <a:br/>
            <a:r>
              <a:t>    │   • Samples may not be representative                      │</a:t>
            </a:r>
            <a:br/>
            <a:r>
              <a:t>    │   • Outcomes aren't always certain                         │</a:t>
            </a:r>
            <a:br/>
            <a:r>
              <a:t>    │                                                              │</a:t>
            </a:r>
            <a:br/>
            <a:r>
              <a:t>    │   We need a way to model UNCERTAINTY.                      │</a:t>
            </a:r>
            <a:br/>
            <a:r>
              <a:t>    │                                                              │</a:t>
            </a:r>
            <a:br/>
            <a:r>
              <a:t>    └─────────────────────────────────────────────────────────────┘</a:t>
            </a:r>
            <a:br/>
            <a:br/>
            <a:r>
              <a:t>    ┌─────────────────────────────────────────────────────────────┐</a:t>
            </a:r>
            <a:br/>
            <a:r>
              <a:t>    │              THE SOLUTION                                   │</a:t>
            </a:r>
            <a:br/>
            <a:r>
              <a:t>    ├─────────────────────────────────────────────────────────────┤</a:t>
            </a:r>
            <a:br/>
            <a:r>
              <a:t>    │                                                              │</a:t>
            </a:r>
            <a:br/>
            <a:r>
              <a:t>    │   Probability Theory = The Mathematics of Uncertainty       │</a:t>
            </a:r>
            <a:br/>
            <a:r>
              <a:t>    │                                                              │</a:t>
            </a:r>
            <a:br/>
            <a:r>
              <a:t>    │   • Quantify uncertainty (probability)                     │</a:t>
            </a:r>
            <a:br/>
            <a:r>
              <a:t>    │   • Model data generation (distributions)                  │</a:t>
            </a:r>
            <a:br/>
            <a:r>
              <a:t>    │   • Update beliefs (Bayesian inference)                    │</a:t>
            </a:r>
            <a:br/>
            <a:r>
              <a:t>    │   • Make optimal decisions (decision theory)              │</a:t>
            </a:r>
            <a:br/>
            <a:r>
              <a:t>    │                                                              │</a:t>
            </a:r>
            <a:br/>
            <a:r>
              <a:t>    └─────────────────────────────────────────────────────────────┘</a:t>
            </a:r>
            <a:br/>
            <a:br/>
            <a:r>
              <a:t>    ┌─────────────────────────────────────────────────────────────┐</a:t>
            </a:r>
            <a:br/>
            <a:r>
              <a:t>    │              ML APPLICATIONS                                │</a:t>
            </a:r>
            <a:br/>
            <a:r>
              <a:t>    ├─────────────────────────────────────────────────────────────┤</a:t>
            </a:r>
            <a:br/>
            <a:r>
              <a:t>    │                                                              │</a:t>
            </a:r>
            <a:br/>
            <a:r>
              <a:t>    │   ✓ Classification (Naive Bayes)                           │</a:t>
            </a:r>
            <a:br/>
            <a:r>
              <a:t>    │   ✓ Model evaluation (MLE, AIC, BIC)                      │</a:t>
            </a:r>
            <a:br/>
            <a:r>
              <a:t>    │   ✓ Uncertainty quantification (confidence intervals)     │</a:t>
            </a:r>
            <a:br/>
            <a:r>
              <a:t>    │   ✓ Generative models (Gaussian mixtures)                 │</a:t>
            </a:r>
            <a:br/>
            <a:r>
              <a:t>    │   ✓ Bayesian optimization                                 │</a:t>
            </a:r>
            <a:br/>
            <a:r>
              <a:t>    │                                                              │</a:t>
            </a:r>
            <a:br/>
            <a:r>
              <a:t>    └─────────────────────────────────────────────────────────────┘</a:t>
            </a:r>
            <a:br/>
            <a:br/>
            <a:r>
              <a:t>━━━━━━━━━━━━━━━━━━━━━━━━━━━━━━━━━━━━━━━━━━━━━━━━━━━━━━━━━━━━━━━</a:t>
            </a:r>
            <a:br/>
            <a:r>
              <a: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Probability Roadmap</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PROBABILITY ROADMAP</a:t>
            </a:r>
            <a:br/>
            <a:r>
              <a:t>━━━━━━━━━━━━━━━━━━━━━━━━━━━━━━━━━━━━━━━━━━━━━━━━━━━━━━━━━━━━━━━</a:t>
            </a:r>
            <a:br/>
            <a:br/>
            <a:r>
              <a:t>    ╭─────────────────────────────────────────────────────────────╮</a:t>
            </a:r>
            <a:br/>
            <a:r>
              <a:t>    │  MODULE 1: PROBABILITY THEORY &amp; DISTRIBUTIONS             │</a:t>
            </a:r>
            <a:br/>
            <a:r>
              <a:t>    │  ─────────────────────────────────────────────────────────  │</a:t>
            </a:r>
            <a:br/>
            <a:r>
              <a:t>    │  • Basic probability concepts                              │</a:t>
            </a:r>
            <a:br/>
            <a:r>
              <a:t>    │  • Discrete distributions (Bernoulli, Binomial, Poisson)  │</a:t>
            </a:r>
            <a:br/>
            <a:r>
              <a:t>    │  • Continuous distributions (Gaussian, Exponential)      │</a:t>
            </a:r>
            <a:br/>
            <a:r>
              <a:t>    │  • Statistical moments (mean, variance)                   │</a:t>
            </a:r>
            <a:br/>
            <a:r>
              <a:t>    │  [CODE: Distributions class + tests]                     │</a:t>
            </a:r>
            <a:br/>
            <a:r>
              <a:t>    ├─────────────────────────────────────────────────────────────┤</a:t>
            </a:r>
            <a:br/>
            <a:r>
              <a:t>    │  MODULE 2: BAYES' THEOREM &amp; CLASSIFICATION               │</a:t>
            </a:r>
            <a:br/>
            <a:r>
              <a:t>    │  ─────────────────────────────────────────────────────────  │</a:t>
            </a:r>
            <a:br/>
            <a:r>
              <a:t>    │  • Conditional probability                                │</a:t>
            </a:r>
            <a:br/>
            <a:r>
              <a:t>    │  • Bayes' Theorem                                         │</a:t>
            </a:r>
            <a:br/>
            <a:r>
              <a:t>    │  • Naive Bayes classifier                                 │</a:t>
            </a:r>
            <a:br/>
            <a:r>
              <a:t>    │  • Maximum Likelihood Estimation (MLE)                   │</a:t>
            </a:r>
            <a:br/>
            <a:r>
              <a:t>    │  [CODE: Bayes, NaiveBayes, MLE]                         │</a:t>
            </a:r>
            <a:br/>
            <a:r>
              <a:t>    ├─────────────────────────────────────────────────────────────┤</a:t>
            </a:r>
            <a:br/>
            <a:r>
              <a:t>    │  MODULE 3: MODEL EVALUATION &amp; BIAS-VARIANCE              │</a:t>
            </a:r>
            <a:br/>
            <a:r>
              <a:t>    │  ─────────────────────────────────────────────────────────  │</a:t>
            </a:r>
            <a:br/>
            <a:r>
              <a:t>    │  • Bias-variance tradeoff       │</a:t>
            </a:r>
            <a:br/>
            <a:r>
              <a:t>    │  • Model selection (AIC, BIC)                            │</a:t>
            </a:r>
            <a:br/>
            <a:r>
              <a:t>    │  • Cross-validation                                      │</a:t>
            </a:r>
            <a:br/>
            <a:r>
              <a:t>    │  • Performance metrics                                   │</a:t>
            </a:r>
            <a:br/>
            <a:r>
              <a:t>    │  [CODE: Evaluation metrics, Cross-validation]           │</a:t>
            </a:r>
            <a:br/>
            <a:r>
              <a:t>    ╰─────────────────────────────────────────────────────────────╯</a:t>
            </a:r>
            <a:br/>
            <a:br/>
            <a:r>
              <a:t>━━━━━━━━━━━━━━━━━━━━━━━━━━━━━━━━━━━━━━━━━━━━━━━━━━━━━━━━━━━━━━━</a:t>
            </a:r>
            <a:br/>
            <a: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Key Probability Concepts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KEY PROBABILITY CONCEPTS</a:t>
            </a:r>
            <a:br/>
            <a:r>
              <a:t>━━━━━━━━━━━━━━━━━━━━━━━━━━━━━━━━━━━━━━━━━━━━━━━━━━━━━━━━━━━━━━━</a:t>
            </a:r>
            <a:br/>
            <a:br/>
            <a:r>
              <a:t>    ┌─────────────────────────────────────────────────────────────┐</a:t>
            </a:r>
            <a:br/>
            <a:r>
              <a:t>    │  CONCEPT          │  ML APPLICATION                        │</a:t>
            </a:r>
            <a:br/>
            <a:r>
              <a:t>    ├─────────────────────────────────────────────────────────────┤</a:t>
            </a:r>
            <a:br/>
            <a:r>
              <a:t>    │  Probability      │  Uncertainty quantification           │</a:t>
            </a:r>
            <a:br/>
            <a:r>
              <a:t>    │  Conditional P.   │  Classification (P(class|features))   │</a:t>
            </a:r>
            <a:br/>
            <a:r>
              <a:t>    │  Bayes' Theorem   │  Naive Bayes, Bayesian inference      │</a:t>
            </a:r>
            <a:br/>
            <a:r>
              <a:t>    │  Distributions    │  Data modeling                        │</a:t>
            </a:r>
            <a:br/>
            <a:r>
              <a:t>    │  MLE              │  Parameter estimation    │</a:t>
            </a:r>
            <a:br/>
            <a:r>
              <a:t>    │  Bias-Variance    │  Model selection        │</a:t>
            </a:r>
            <a:br/>
            <a:r>
              <a:t>    └─────────────────────────────────────────────────────────────┘</a:t>
            </a:r>
            <a:br/>
            <a:br/>
            <a:r>
              <a:t>    ┌─────────────────────────────────────────────────────────────┐</a:t>
            </a:r>
            <a:br/>
            <a:r>
              <a:t>    │                   KEY FORMULAS                              │</a:t>
            </a:r>
            <a:br/>
            <a:r>
              <a:t>    ├─────────────────────────────────────────────────────────────┤</a:t>
            </a:r>
            <a:br/>
            <a:r>
              <a:t>    │                                                              │</a:t>
            </a:r>
            <a:br/>
            <a:r>
              <a:t>    │  Bayes' Rule:    P(A|B) = P(B|A)P(A)/P(B)                │</a:t>
            </a:r>
            <a:br/>
            <a:r>
              <a:t>    │  Gaussian PDF:   f(x) = 1/(σ√2π)·exp(-(x-μ)²/(2σ²))     │</a:t>
            </a:r>
            <a:br/>
            <a:r>
              <a:t>    │  MLE:            θ̂ = argmax_θ P(data|θ)                 │</a:t>
            </a:r>
            <a:br/>
            <a:r>
              <a:t>    │  MAP:            θ̂ = argmax_θ P(θ|data)                 │</a:t>
            </a:r>
            <a:br/>
            <a:r>
              <a:t>    │  Bias-Variance:  Error = Bias² + Variance + Noise        │</a:t>
            </a:r>
            <a:br/>
            <a:r>
              <a:t>    │                                                              │</a:t>
            </a:r>
            <a:br/>
            <a:r>
              <a:t>    └─────────────────────────────────────────────────────────────┘</a:t>
            </a:r>
            <a:br/>
            <a:br/>
            <a:r>
              <a:t>━━━━━━━━━━━━━━━━━━━━━━━━━━━━━━━━━━━━━━━━━━━━━━━━━━━━━━━━━━━━━━━</a:t>
            </a:r>
            <a:br/>
            <a:r>
              <a:t>```</a:t>
            </a:r>
            <a:br/>
            <a:br/>
            <a:r>
              <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3.1</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Probability Theory &amp; Distributions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Basic Probability</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BASIC PROBABILITY</a:t>
            </a:r>
            <a:br/>
            <a:r>
              <a:t>━━━━━━━━━━━━━━━━━━━━━━━━━━━━━━━━━━━━━━━━━━━━━━━━━━━━━━━━━━━━━━━</a:t>
            </a:r>
            <a:br/>
            <a:br/>
            <a:r>
              <a:t>    ┌─────────────────────────────────────────────────────────────┐</a:t>
            </a:r>
            <a:br/>
            <a:r>
              <a:t>    │              DEFINITION                                     │</a:t>
            </a:r>
            <a:br/>
            <a:r>
              <a:t>    ├─────────────────────────────────────────────────────────────┤</a:t>
            </a:r>
            <a:br/>
            <a:r>
              <a:t>    │                                                              │</a:t>
            </a:r>
            <a:br/>
            <a:r>
              <a:t>    │   Probability = Measure of likelihood (0 to 1)            │</a:t>
            </a:r>
            <a:br/>
            <a:r>
              <a:t>    │                                                              │</a:t>
            </a:r>
            <a:br/>
            <a:r>
              <a:t>    │   • P(A) = 0: Impossible                                   │</a:t>
            </a:r>
            <a:br/>
            <a:r>
              <a:t>    │   • P(A) = 1: Certain                                     │</a:t>
            </a:r>
            <a:br/>
            <a:r>
              <a:t>    │   • P(A) = 0.5: Equally likely                            │</a:t>
            </a:r>
            <a:br/>
            <a:r>
              <a:t>    │                                                              │</a:t>
            </a:r>
            <a:br/>
            <a:r>
              <a:t>    └─────────────────────────────────────────────────────────────┘</a:t>
            </a:r>
            <a:br/>
            <a:br/>
            <a:r>
              <a:t>    ┌─────────────────────────────────────────────────────────────┐</a:t>
            </a:r>
            <a:br/>
            <a:r>
              <a:t>    │              KEY RULES                                      │</a:t>
            </a:r>
            <a:br/>
            <a:r>
              <a:t>    ├─────────────────────────────────────────────────────────────┤</a:t>
            </a:r>
            <a:br/>
            <a:r>
              <a:t>    │                                                              │</a:t>
            </a:r>
            <a:br/>
            <a:r>
              <a:t>    │   Complement:     P(A^c) = 1 - P(A)                       │</a:t>
            </a:r>
            <a:br/>
            <a:r>
              <a:t>    │   Union:          P(A∪B) = P(A) + P(B) - P(A∩B)          │</a:t>
            </a:r>
            <a:br/>
            <a:r>
              <a:t>    │   Conditional:    P(A|B) = P(A∩B)/P(B)                   │</a:t>
            </a:r>
            <a:br/>
            <a:r>
              <a:t>    │   Independence:   P(A∩B) = P(A)P(B)                      │</a:t>
            </a:r>
            <a:br/>
            <a:r>
              <a:t>    │   Total Prob.:    P(B) = ΣP(B|A_i)P(A_i)                 │</a:t>
            </a:r>
            <a:br/>
            <a:r>
              <a:t>    │                                                              │</a:t>
            </a:r>
            <a:br/>
            <a:r>
              <a:t>    └─────────────────────────────────────────────────────────────┘</a:t>
            </a:r>
            <a:br/>
            <a:br/>
            <a:r>
              <a:t>    ┌─────────────────────────────────────────────────────────────┐</a:t>
            </a:r>
            <a:br/>
            <a:r>
              <a:t>    │              EXAMPLE                                        │</a:t>
            </a:r>
            <a:br/>
            <a:r>
              <a:t>    ├─────────────────────────────────────────────────────────────┤</a:t>
            </a:r>
            <a:br/>
            <a:r>
              <a:t>    │                                                              │</a:t>
            </a:r>
            <a:br/>
            <a:r>
              <a:t>    │   Spam detection:                                          │</a:t>
            </a:r>
            <a:br/>
            <a:r>
              <a:t>    │   • P(Spam) = 0.3 (prior)                                 │</a:t>
            </a:r>
            <a:br/>
            <a:r>
              <a:t>    │   • P(Word|Spam) = 0.8 (likelihood)                      │</a:t>
            </a:r>
            <a:br/>
            <a:r>
              <a:t>    │   • P(Word) = 0.3 (evidence)                              │</a:t>
            </a:r>
            <a:br/>
            <a:r>
              <a:t>    │   • P(Spam|Word) = 0.8×0.3/0.3 = 0.8 (posterior)        │</a:t>
            </a:r>
            <a:br/>
            <a:r>
              <a:t>    │                                                              │</a:t>
            </a:r>
            <a:br/>
            <a:r>
              <a:t>    └─────────────────────────────────────────────────────────────┘</a:t>
            </a:r>
            <a:br/>
            <a:br/>
            <a:r>
              <a:t>━━━━━━━━━━━━━━━━━━━━━━━━━━━━━━━━━━━━━━━━━━━━━━━━━━━━━━━━━━━━━━━</a:t>
            </a:r>
            <a:br/>
            <a:r>
              <a: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Discrete vs Continuous Distributions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DISCRETE VS CONTINUOUS DISTRIBUTIONS</a:t>
            </a:r>
            <a:br/>
            <a:r>
              <a:t>━━━━━━━━━━━━━━━━━━━━━━━━━━━━━━━━━━━━━━━━━━━━━━━━━━━━━━━━━━━━━━━</a:t>
            </a:r>
            <a:br/>
            <a:br/>
            <a:r>
              <a:t>    ┌─────────────────────────────────────────────────────────────┐</a:t>
            </a:r>
            <a:br/>
            <a:r>
              <a:t>    │              DISCRETE DISTRIBUTIONS                         │</a:t>
            </a:r>
            <a:br/>
            <a:r>
              <a:t>    ├─────────────────────────────────────────────────────────────┤</a:t>
            </a:r>
            <a:br/>
            <a:r>
              <a:t>    │                                                              │</a:t>
            </a:r>
            <a:br/>
            <a:r>
              <a:t>    │   Values are countable: 0, 1, 2, 3, ...                   │</a:t>
            </a:r>
            <a:br/>
            <a:r>
              <a:t>    │                                                              │</a:t>
            </a:r>
            <a:br/>
            <a:r>
              <a:t>    │   • Bernoulli: Coin flip (binary)                          │</a:t>
            </a:r>
            <a:br/>
            <a:r>
              <a:t>    │   • Binomial: Number of heads in n flips                  │</a:t>
            </a:r>
            <a:br/>
            <a:r>
              <a:t>    │   • Poisson: Count of rare events                         │</a:t>
            </a:r>
            <a:br/>
            <a:r>
              <a:t>    │                                                              │</a:t>
            </a:r>
            <a:br/>
            <a:r>
              <a:t>    └─────────────────────────────────────────────────────────────┘</a:t>
            </a:r>
            <a:br/>
            <a:br/>
            <a:r>
              <a:t>    ┌─────────────────────────────────────────────────────────────┐</a:t>
            </a:r>
            <a:br/>
            <a:r>
              <a:t>    │              CONTINUOUS DISTRIBUTIONS                       │</a:t>
            </a:r>
            <a:br/>
            <a:r>
              <a:t>    ├─────────────────────────────────────────────────────────────┤</a:t>
            </a:r>
            <a:br/>
            <a:r>
              <a:t>    │                                                              │</a:t>
            </a:r>
            <a:br/>
            <a:r>
              <a:t>    │   Values can be any number in a range                     │</a:t>
            </a:r>
            <a:br/>
            <a:r>
              <a:t>    │                                                              │</a:t>
            </a:r>
            <a:br/>
            <a:r>
              <a:t>    │   • Gaussian (Normal): Bell curve            │</a:t>
            </a:r>
            <a:br/>
            <a:r>
              <a:t>    │   • Exponential: Time between events                      │</a:t>
            </a:r>
            <a:br/>
            <a:r>
              <a:t>    │   • Uniform: Constant probability                         │</a:t>
            </a:r>
            <a:br/>
            <a:r>
              <a:t>    │                                                              │</a:t>
            </a:r>
            <a:br/>
            <a:r>
              <a:t>    └─────────────────────────────────────────────────────────────┘</a:t>
            </a:r>
            <a:br/>
            <a:br/>
            <a:r>
              <a:t>    ┌─────────────────────────────────────────────────────────────┐</a:t>
            </a:r>
            <a:br/>
            <a:r>
              <a:t>    │              COMMON ML DISTRIBUTIONS                        │</a:t>
            </a:r>
            <a:br/>
            <a:r>
              <a:t>    ├─────────────────────────────────────────────────────────────┤</a:t>
            </a:r>
            <a:br/>
            <a:r>
              <a:t>    │                                                              │</a:t>
            </a:r>
            <a:br/>
            <a:r>
              <a:t>    │   Gaussian: Error terms, features            │</a:t>
            </a:r>
            <a:br/>
            <a:r>
              <a:t>    │   Bernoulli: Binary labels                                 │</a:t>
            </a:r>
            <a:br/>
            <a:r>
              <a:t>    │   Multinomial: Multi-class labels                          │</a:t>
            </a:r>
            <a:br/>
            <a:r>
              <a:t>    │   Exponential: Wait times, survival                        │</a:t>
            </a:r>
            <a:br/>
            <a:r>
              <a:t>    │   Dirichlet: Topic models                                  │</a:t>
            </a:r>
            <a:br/>
            <a:r>
              <a:t>    │                                                              │</a:t>
            </a:r>
            <a:br/>
            <a:r>
              <a:t>    └─────────────────────────────────────────────────────────────┘</a:t>
            </a:r>
            <a:br/>
            <a:br/>
            <a:r>
              <a:t>━━━━━━━━━━━━━━━━━━━━━━━━━━━━━━━━━━━━━━━━━━━━━━━━━━━━━━━━━━━━━━━</a:t>
            </a:r>
            <a:br/>
            <a:r>
              <a: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Gaussian (Normal) Distribution</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GAUSSIAN (NORMAL) DISTRIBUTION</a:t>
            </a:r>
            <a:br/>
            <a:r>
              <a:t>━━━━━━━━━━━━━━━━━━━━━━━━━━━━━━━━━━━━━━━━━━━━━━━━━━━━━━━━━━━━━━━</a:t>
            </a:r>
            <a:br/>
            <a:br/>
            <a:r>
              <a:t>    ┌─────────────────────────────────────────────────────────────┐</a:t>
            </a:r>
            <a:br/>
            <a:r>
              <a:t>    │              THE FORMULA                                    │</a:t>
            </a:r>
            <a:br/>
            <a:r>
              <a:t>    ├─────────────────────────────────────────────────────────────┤</a:t>
            </a:r>
            <a:br/>
            <a:r>
              <a:t>    │                                                              │</a:t>
            </a:r>
            <a:br/>
            <a:r>
              <a:t>    │   f(x|μ,σ) = (1/(σ√(2π)))·exp(-(x-μ)²/(2σ²))             │</a:t>
            </a:r>
            <a:br/>
            <a:r>
              <a:t>    │                                                              │</a:t>
            </a:r>
            <a:br/>
            <a:r>
              <a:t>    │   μ = mean (center of distribution)                        │</a:t>
            </a:r>
            <a:br/>
            <a:r>
              <a:t>    │   σ = standard deviation (spread)                          │</a:t>
            </a:r>
            <a:br/>
            <a:r>
              <a:t>    │                                                              │</a:t>
            </a:r>
            <a:br/>
            <a:r>
              <a:t>    └─────────────────────────────────────────────────────────────┘</a:t>
            </a:r>
            <a:br/>
            <a:br/>
            <a:r>
              <a:t>    ┌─────────────────────────────────────────────────────────────┐</a:t>
            </a:r>
            <a:br/>
            <a:r>
              <a:t>    │                68-95-99.7 RULE                              │</a:t>
            </a:r>
            <a:br/>
            <a:r>
              <a:t>    ├─────────────────────────────────────────────────────────────┤</a:t>
            </a:r>
            <a:br/>
            <a:r>
              <a:t>    │                                                              │</a:t>
            </a:r>
            <a:br/>
            <a:r>
              <a:t>    │   • 68% of data within μ ± 1σ                             │</a:t>
            </a:r>
            <a:br/>
            <a:r>
              <a:t>    │   • 95% of data within μ ± 2σ                             │</a:t>
            </a:r>
            <a:br/>
            <a:r>
              <a:t>    │   • 99.7% of data within μ ± 3σ                           │</a:t>
            </a:r>
            <a:br/>
            <a:r>
              <a:t>    │                                                              │</a:t>
            </a:r>
            <a:br/>
            <a:r>
              <a:t>    └─────────────────────────────────────────────────────────────┘</a:t>
            </a:r>
            <a:br/>
            <a:br/>
            <a:r>
              <a:t>    ┌─────────────────────────────────────────────────────────────┐</a:t>
            </a:r>
            <a:br/>
            <a:r>
              <a:t>    │              ML APPLICATIONS                                │</a:t>
            </a:r>
            <a:br/>
            <a:r>
              <a:t>    ├─────────────────────────────────────────────────────────────┤</a:t>
            </a:r>
            <a:br/>
            <a:r>
              <a:t>    │                                                              │</a:t>
            </a:r>
            <a:br/>
            <a:r>
              <a:t>    │   ✓ Assumption in linear regression (errors are Gaussian)  │</a:t>
            </a:r>
            <a:br/>
            <a:r>
              <a:t>    │   ✓ Feature distribution (normalization)     │</a:t>
            </a:r>
            <a:br/>
            <a:r>
              <a:t>    │   ✓ Prior distribution in Bayesian methods                │</a:t>
            </a:r>
            <a:br/>
            <a:r>
              <a:t>    │   ✓ Central Limit Theorem basis                           │</a:t>
            </a:r>
            <a:br/>
            <a:r>
              <a:t>    │                                                              │</a:t>
            </a:r>
            <a:br/>
            <a:r>
              <a:t>    └─────────────────────────────────────────────────────────────┘</a:t>
            </a:r>
            <a:br/>
            <a:br/>
            <a:r>
              <a:t>━━━━━━━━━━━━━━━━━━━━━━━━━━━━━━━━━━━━━━━━━━━━━━━━━━━━━━━━━━━━━━━</a:t>
            </a:r>
            <a:br/>
            <a:r>
              <a: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Bayesian Inference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BAYESIAN INFERENCE</a:t>
            </a:r>
            <a:br/>
            <a:r>
              <a:t>━━━━━━━━━━━━━━━━━━━━━━━━━━━━━━━━━━━━━━━━━━━━━━━━━━━━━━━━━━━━━━━</a:t>
            </a:r>
            <a:br/>
            <a:br/>
            <a:r>
              <a:t>    ┌─────────────────────────────────────────────────────────────┐</a:t>
            </a:r>
            <a:br/>
            <a:r>
              <a:t>    │              BAYES' THEOREM                                 │</a:t>
            </a:r>
            <a:br/>
            <a:r>
              <a:t>    ├─────────────────────────────────────────────────────────────┤</a:t>
            </a:r>
            <a:br/>
            <a:r>
              <a:t>    │                                                              │</a:t>
            </a:r>
            <a:br/>
            <a:r>
              <a:t>    │   P(A|B) = P(B|A)·P(A) / P(B)                            │</a:t>
            </a:r>
            <a:br/>
            <a:r>
              <a:t>    │              ──────────                                    │</a:t>
            </a:r>
            <a:br/>
            <a:r>
              <a:t>    │               Evidence                                     │</a:t>
            </a:r>
            <a:br/>
            <a:r>
              <a:t>    │                                                              │</a:t>
            </a:r>
            <a:br/>
            <a:r>
              <a:t>    │   Posterior = Likelihood × Prior / Evidence               │</a:t>
            </a:r>
            <a:br/>
            <a:r>
              <a:t>    │                                                              │</a:t>
            </a:r>
            <a:br/>
            <a:r>
              <a:t>    └─────────────────────────────────────────────────────────────┘</a:t>
            </a:r>
            <a:br/>
            <a:br/>
            <a:r>
              <a:t>    ┌─────────────────────────────────────────────────────────────┐</a:t>
            </a:r>
            <a:br/>
            <a:r>
              <a:t>    │              THE INTUITION                                  │</a:t>
            </a:r>
            <a:br/>
            <a:r>
              <a:t>    ├─────────────────────────────────────────────────────────────┤</a:t>
            </a:r>
            <a:br/>
            <a:r>
              <a:t>    │                                                              │</a:t>
            </a:r>
            <a:br/>
            <a:r>
              <a:t>    │   Before seeing data: We have PRIOR beliefs               │</a:t>
            </a:r>
            <a:br/>
            <a:r>
              <a:t>    │   After seeing data: We update beliefs (POSTERIOR)        │</a:t>
            </a:r>
            <a:br/>
            <a:r>
              <a:t>    │                                                              │</a:t>
            </a:r>
            <a:br/>
            <a:r>
              <a:t>    │   Example:                                                 │</a:t>
            </a:r>
            <a:br/>
            <a:r>
              <a:t>    │   • Prior: 1% of people have a disease                    │</a:t>
            </a:r>
            <a:br/>
            <a:r>
              <a:t>    │   • Test: 90% accurate                                     │</a:t>
            </a:r>
            <a:br/>
            <a:r>
              <a:t>    │   • Posterior: After positive test, probability           │</a:t>
            </a:r>
            <a:br/>
            <a:r>
              <a:t>    │     is much higher!                                       │</a:t>
            </a:r>
            <a:br/>
            <a:r>
              <a:t>    │                                                              │</a:t>
            </a:r>
            <a:br/>
            <a:r>
              <a:t>    └─────────────────────────────────────────────────────────────┘</a:t>
            </a:r>
            <a:br/>
            <a:br/>
            <a:r>
              <a:t>    ┌─────────────────────────────────────────────────────────────┐</a:t>
            </a:r>
            <a:br/>
            <a:r>
              <a:t>    │              ML APPLICATIONS                                │</a:t>
            </a:r>
            <a:br/>
            <a:r>
              <a:t>    ├─────────────────────────────────────────────────────────────┤</a:t>
            </a:r>
            <a:br/>
            <a:r>
              <a:t>    │                                                              │</a:t>
            </a:r>
            <a:br/>
            <a:r>
              <a:t>    │   ✓ Naive Bayes classifier                                 │</a:t>
            </a:r>
            <a:br/>
            <a:r>
              <a:t>    │   ✓ Bayesian optimization                                 │</a:t>
            </a:r>
            <a:br/>
            <a:r>
              <a:t>    │   ✓ Bayesian neural networks                              │</a:t>
            </a:r>
            <a:br/>
            <a:r>
              <a:t>    │   ✓ Hyperparameter tuning                                 │</a:t>
            </a:r>
            <a:br/>
            <a:r>
              <a:t>    │                                                              │</a:t>
            </a:r>
            <a:br/>
            <a:r>
              <a:t>    └─────────────────────────────────────────────────────────────┘</a:t>
            </a:r>
            <a:br/>
            <a:br/>
            <a:r>
              <a:t>━━━━━━━━━━━━━━━━━━━━━━━━━━━━━━━━━━━━━━━━━━━━━━━━━━━━━━━━━━━━━━━</a:t>
            </a:r>
            <a:br/>
            <a:r>
              <a: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Code Demo — Distributions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CODE DEMO — DISTRIBUTIONS</a:t>
            </a:r>
            <a:br/>
            <a:r>
              <a:t>━━━━━━━━━━━━━━━━━━━━━━━━━━━━━━━━━━━━━━━━━━━━━━━━━━━━━━━━━━━━━━━</a:t>
            </a:r>
            <a:br/>
            <a:br/>
            <a:r>
              <a:t>    &gt;&gt;&gt; from src.probability import GaussianDistribution, BernoulliDistribution</a:t>
            </a:r>
            <a:br/>
            <a:r>
              <a:t>    &gt;&gt;&gt; from src.linear_algebra import Vector</a:t>
            </a:r>
            <a:br/>
            <a:r>
              <a:t>    &gt;&gt;&gt;</a:t>
            </a:r>
            <a:br/>
            <a:r>
              <a:t>    &gt;&gt;&gt; # Gaussian distribution</a:t>
            </a:r>
            <a:br/>
            <a:r>
              <a:t>    &gt;&gt;&gt; g = GaussianDistribution(0.0, 1.0)</a:t>
            </a:r>
            <a:br/>
            <a:r>
              <a:t>    &gt;&gt;&gt; g.pdf(0.0)  # 0.3989 (height of bell curve at center)</a:t>
            </a:r>
            <a:br/>
            <a:r>
              <a:t>    0.3989422804014327</a:t>
            </a:r>
            <a:br/>
            <a:r>
              <a:t>    &gt;&gt;&gt; g.cdf(0.0)  # 0.5 (50% of data below mean)</a:t>
            </a:r>
            <a:br/>
            <a:r>
              <a:t>    0.5</a:t>
            </a:r>
            <a:br/>
            <a:r>
              <a:t>    &gt;&gt;&gt; g.sample(5)  # Random samples</a:t>
            </a:r>
            <a:br/>
            <a:r>
              <a:t>    Vector([0.234, -0.847, -0.219, 1.251, 0.942])</a:t>
            </a:r>
            <a:br/>
            <a:r>
              <a:t>    &gt;&gt;&gt;</a:t>
            </a:r>
            <a:br/>
            <a:r>
              <a:t>    &gt;&gt;&gt; # Bernoulli distribution</a:t>
            </a:r>
            <a:br/>
            <a:r>
              <a:t>    &gt;&gt;&gt; b = BernoulliDistribution(0.7)</a:t>
            </a:r>
            <a:br/>
            <a:r>
              <a:t>    &gt;&gt;&gt; b.pmf(1)  # P(X=1) = 0.7</a:t>
            </a:r>
            <a:br/>
            <a:r>
              <a:t>    0.7</a:t>
            </a:r>
            <a:br/>
            <a:r>
              <a:t>    &gt;&gt;&gt; b.sample(10)  # Binary samples</a:t>
            </a:r>
            <a:br/>
            <a:r>
              <a:t>    Vector([1.0, 0.0, 1.0, 1.0, 0.0, 1.0, 1.0, 1.0, 0.0, 1.0])</a:t>
            </a:r>
            <a:br/>
            <a:r>
              <a:t>    &gt;&gt;&gt;</a:t>
            </a:r>
            <a:br/>
            <a:r>
              <a:t>    &gt;&gt;&gt; # MLE estimation</a:t>
            </a:r>
            <a:br/>
            <a:r>
              <a:t>    &gt;&gt;&gt; data = Vector([1, 0, 1, 1, 0, 1, 0, 1])</a:t>
            </a:r>
            <a:br/>
            <a:r>
              <a:t>    &gt;&gt;&gt; from src.probability import Statistics</a:t>
            </a:r>
            <a:br/>
            <a:r>
              <a:t>    &gt;&gt;&gt; p = Statistics.mle_bernoulli(data)  # 5/8 = 0.625</a:t>
            </a:r>
            <a:br/>
            <a:r>
              <a:t>    0.625</a:t>
            </a:r>
            <a:br/>
            <a:br/>
            <a:r>
              <a:t>━━━━━━━━━━━━━━━━━━━━━━━━━━━━━━━━━━━━━━━━━━━━━━━━━━━━━━━━━━━━━━━</a:t>
            </a:r>
            <a:br/>
            <a:r>
              <a: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Verification — Testing Distributions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VERIFICATION — TESTING DISTRIBUTIONS</a:t>
            </a:r>
            <a:br/>
            <a:r>
              <a:t>━━━━━━━━━━━━━━━━━━━━━━━━━━━━━━━━━━━━━━━━━━━━━━━━━━━━━━━━━━━━━━━</a:t>
            </a:r>
            <a:br/>
            <a:br/>
            <a:r>
              <a:t>    $ pytest tests/test_probability.py -v</a:t>
            </a:r>
            <a:br/>
            <a:br/>
            <a:r>
              <a:t>    ==================== test session starts ====================</a:t>
            </a:r>
            <a:br/>
            <a:r>
              <a:t>    collected 12 items</a:t>
            </a:r>
            <a:br/>
            <a:br/>
            <a:r>
              <a:t>    tests/test_probability.py::TestDistributions::test_gaussian PASSED</a:t>
            </a:r>
            <a:br/>
            <a:r>
              <a:t>    tests/test_probability.py::TestDistributions::test_bernoulli PASSED</a:t>
            </a:r>
            <a:br/>
            <a:r>
              <a:t>    tests/test_probability.py::TestDistributions::test_binomial PASSED</a:t>
            </a:r>
            <a:br/>
            <a:r>
              <a:t>    tests/test_probability.py::TestDistributions::test_exponential PASSED</a:t>
            </a:r>
            <a:br/>
            <a:r>
              <a:t>    tests/test_probability.py::TestStatistics::test_mean_variance PASSED</a:t>
            </a:r>
            <a:br/>
            <a:r>
              <a:t>    tests/test_probability.py::TestStatistics::test_mle PASSED</a:t>
            </a:r>
            <a:br/>
            <a:r>
              <a:t>    tests/test_probability.py::TestStatistics::test_bayes PASSED</a:t>
            </a:r>
            <a:br/>
            <a:br/>
            <a:r>
              <a:t>    ==================== 7 passed in 0.56s ====================</a:t>
            </a:r>
            <a:br/>
            <a:br/>
            <a:r>
              <a:t>    ┌─────────────────────────────────────────────────────────────┐</a:t>
            </a:r>
            <a:br/>
            <a:r>
              <a:t>    │                    ✓ ALL TESTS PASS                       │</a:t>
            </a:r>
            <a:br/>
            <a:r>
              <a:t>    └─────────────────────────────────────────────────────────────┘</a:t>
            </a:r>
            <a:br/>
            <a:br/>
            <a:r>
              <a:t>━━━━━━━━━━━━━━━━━━━━━━━━━━━━━━━━━━━━━━━━━━━━━━━━━━━━━━━━━━━━━━━</a:t>
            </a:r>
            <a:br/>
            <a:r>
              <a:t>```</a:t>
            </a:r>
            <a:br/>
            <a:br/>
            <a:r>
              <a: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3.2</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Bayes' Theorem &amp; Classification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Conditional Probability and Bayes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CONDITIONAL PROBABILITY AND BAYES</a:t>
            </a:r>
            <a:br/>
            <a:r>
              <a:t>━━━━━━━━━━━━━━━━━━━━━━━━━━━━━━━━━━━━━━━━━━━━━━━━━━━━━━━━━━━━━━━</a:t>
            </a:r>
            <a:br/>
            <a:br/>
            <a:r>
              <a:t>    ┌─────────────────────────────────────────────────────────────┐</a:t>
            </a:r>
            <a:br/>
            <a:r>
              <a:t>    │              CONDITIONAL PROBABILITY                        │</a:t>
            </a:r>
            <a:br/>
            <a:r>
              <a:t>    ├─────────────────────────────────────────────────────────────┤</a:t>
            </a:r>
            <a:br/>
            <a:r>
              <a:t>    │                                                              │</a:t>
            </a:r>
            <a:br/>
            <a:r>
              <a:t>    │   P(A|B) = Probability of A given B                       │</a:t>
            </a:r>
            <a:br/>
            <a:r>
              <a:t>    │                                                              │</a:t>
            </a:r>
            <a:br/>
            <a:r>
              <a:t>    │   Example: P(Rain|Cloudy) = Probability of rain given     │</a:t>
            </a:r>
            <a:br/>
            <a:r>
              <a:t>    │   it's cloudy. This is much higher than P(Rain)!          │</a:t>
            </a:r>
            <a:br/>
            <a:r>
              <a:t>    │                                                              │</a:t>
            </a:r>
            <a:br/>
            <a:r>
              <a:t>    └─────────────────────────────────────────────────────────────┘</a:t>
            </a:r>
            <a:br/>
            <a:br/>
            <a:r>
              <a:t>    ┌─────────────────────────────────────────────────────────────┐</a:t>
            </a:r>
            <a:br/>
            <a:r>
              <a:t>    │              BAYES' THEOREM                                 │</a:t>
            </a:r>
            <a:br/>
            <a:r>
              <a:t>    ├─────────────────────────────────────────────────────────────┤</a:t>
            </a:r>
            <a:br/>
            <a:r>
              <a:t>    │                                                              │</a:t>
            </a:r>
            <a:br/>
            <a:r>
              <a:t>    │   P(A|B) = P(B|A)·P(A) / P(B)                            │</a:t>
            </a:r>
            <a:br/>
            <a:r>
              <a:t>    │                                                              │</a:t>
            </a:r>
            <a:br/>
            <a:r>
              <a:t>    │   • P(A|B): Posterior (what we want)                      │</a:t>
            </a:r>
            <a:br/>
            <a:r>
              <a:t>    │   • P(B|A): Likelihood (how likely B is given A)         │</a:t>
            </a:r>
            <a:br/>
            <a:r>
              <a:t>    │   • P(A): Prior (our initial belief)                     │</a:t>
            </a:r>
            <a:br/>
            <a:r>
              <a:t>    │   • P(B): Evidence (normalizing constant)                │</a:t>
            </a:r>
            <a:br/>
            <a:r>
              <a:t>    │                                                              │</a:t>
            </a:r>
            <a:br/>
            <a:r>
              <a:t>    └─────────────────────────────────────────────────────────────┘</a:t>
            </a:r>
            <a:br/>
            <a:br/>
            <a:r>
              <a:t>    ┌─────────────────────────────────────────────────────────────┐</a:t>
            </a:r>
            <a:br/>
            <a:r>
              <a:t>    │              ODDS FORM                                     │</a:t>
            </a:r>
            <a:br/>
            <a:r>
              <a:t>    ├─────────────────────────────────────────────────────────────┤</a:t>
            </a:r>
            <a:br/>
            <a:r>
              <a:t>    │                                                              │</a:t>
            </a:r>
            <a:br/>
            <a:r>
              <a:t>    │   Posterior Odds = Prior Odds × Likelihood Ratio           │</a:t>
            </a:r>
            <a:br/>
            <a:r>
              <a:t>    │   P(A|B)/P(not A|B) = P(A)/P(not A) × P(B|A)/P(B|not A)  │</a:t>
            </a:r>
            <a:br/>
            <a:r>
              <a:t>    │                                                              │</a:t>
            </a:r>
            <a:br/>
            <a:r>
              <a:t>    └─────────────────────────────────────────────────────────────┘</a:t>
            </a:r>
            <a:br/>
            <a:br/>
            <a:r>
              <a:t>━━━━━━━━━━━━━━━━━━━━━━━━━━━━━━━━━━━━━━━━━━━━━━━━━━━━━━━━━━━━━━━</a:t>
            </a:r>
            <a:br/>
            <a:r>
              <a: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Naive Bayes Classifier</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NAIVE BAYES CLASSIFIER</a:t>
            </a:r>
            <a:br/>
            <a:r>
              <a:t>━━━━━━━━━━━━━━━━━━━━━━━━━━━━━━━━━━━━━━━━━━━━━━━━━━━━━━━━━━━━━━━</a:t>
            </a:r>
            <a:br/>
            <a:br/>
            <a:r>
              <a:t>    ┌─────────────────────────────────────────────────────────────┐</a:t>
            </a:r>
            <a:br/>
            <a:r>
              <a:t>    │              THE "NAIVE" ASSUMPTION                         │</a:t>
            </a:r>
            <a:br/>
            <a:r>
              <a:t>    ├─────────────────────────────────────────────────────────────┤</a:t>
            </a:r>
            <a:br/>
            <a:r>
              <a:t>    │                                                              │</a:t>
            </a:r>
            <a:br/>
            <a:r>
              <a:t>    │   Features are INDEPENDENT given the class.                 │</a:t>
            </a:r>
            <a:br/>
            <a:r>
              <a:t>    │                                                              │</a:t>
            </a:r>
            <a:br/>
            <a:r>
              <a:t>    │   P(x₁, x₂, ..., xₙ|y) = P(x₁|y)·P(x₂|y)·...·P(xₙ|y)    │</a:t>
            </a:r>
            <a:br/>
            <a:r>
              <a:t>    │                                                              │</a:t>
            </a:r>
            <a:br/>
            <a:r>
              <a:t>    │   This is naive but WORKS IN PRACTICE!                    │</a:t>
            </a:r>
            <a:br/>
            <a:r>
              <a:t>    │                                                              │</a:t>
            </a:r>
            <a:br/>
            <a:r>
              <a:t>    └─────────────────────────────────────────────────────────────┘</a:t>
            </a:r>
            <a:br/>
            <a:br/>
            <a:r>
              <a:t>    ┌─────────────────────────────────────────────────────────────┐</a:t>
            </a:r>
            <a:br/>
            <a:r>
              <a:t>    │              THE ALGORITHM                                  │</a:t>
            </a:r>
            <a:br/>
            <a:r>
              <a:t>    ├─────────────────────────────────────────────────────────────┤</a:t>
            </a:r>
            <a:br/>
            <a:r>
              <a:t>    │                                                              │</a:t>
            </a:r>
            <a:br/>
            <a:r>
              <a:t>    │   For each class c:                                        │</a:t>
            </a:r>
            <a:br/>
            <a:r>
              <a:t>    │   1. Compute prior: P(c)                                  │</a:t>
            </a:r>
            <a:br/>
            <a:r>
              <a:t>    │   2. Compute likelihood: P(features|c)                   │</a:t>
            </a:r>
            <a:br/>
            <a:r>
              <a:t>    │   3. Compute posterior: P(c|features) ∝ P(c)·ΠP(f_i|c)  │</a:t>
            </a:r>
            <a:br/>
            <a:r>
              <a:t>    │   4. Choose class with highest posterior                   │</a:t>
            </a:r>
            <a:br/>
            <a:r>
              <a:t>    │                                                              │</a:t>
            </a:r>
            <a:br/>
            <a:r>
              <a:t>    └─────────────────────────────────────────────────────────────┘</a:t>
            </a:r>
            <a:br/>
            <a:br/>
            <a:r>
              <a:t>    ┌─────────────────────────────────────────────────────────────┐</a:t>
            </a:r>
            <a:br/>
            <a:r>
              <a:t>    │              WHEN TO USE                                    │</a:t>
            </a:r>
            <a:br/>
            <a:r>
              <a:t>    ├─────────────────────────────────────────────────────────────┤</a:t>
            </a:r>
            <a:br/>
            <a:r>
              <a:t>    │                                                              │</a:t>
            </a:r>
            <a:br/>
            <a:r>
              <a:t>    │   ✓ Text classification (spam detection)                   │</a:t>
            </a:r>
            <a:br/>
            <a:r>
              <a:t>    │   ✓ High-dimensional data                                 │</a:t>
            </a:r>
            <a:br/>
            <a:r>
              <a:t>    │   ✓ Small datasets                                        │</a:t>
            </a:r>
            <a:br/>
            <a:r>
              <a:t>    │   ✓ When interpretability matters                         │</a:t>
            </a:r>
            <a:br/>
            <a:r>
              <a:t>    │   ✓ Quick baseline model                                 │</a:t>
            </a:r>
            <a:br/>
            <a:r>
              <a:t>    │                                                              │</a:t>
            </a:r>
            <a:br/>
            <a:r>
              <a:t>    └─────────────────────────────────────────────────────────────┘</a:t>
            </a:r>
            <a:br/>
            <a:br/>
            <a:r>
              <a:t>━━━━━━━━━━━━━━━━━━━━━━━━━━━━━━━━━━━━━━━━━━━━━━━━━━━━━━━━━━━━━━━</a:t>
            </a:r>
            <a:br/>
            <a:r>
              <a: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Gaussian Naive Bayes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GAUSSIAN NAIVE BAYES</a:t>
            </a:r>
            <a:br/>
            <a:r>
              <a:t>━━━━━━━━━━━━━━━━━━━━━━━━━━━━━━━━━━━━━━━━━━━━━━━━━━━━━━━━━━━━━━━</a:t>
            </a:r>
            <a:br/>
            <a:br/>
            <a:r>
              <a:t>    ┌─────────────────────────────────────────────────────────────┐</a:t>
            </a:r>
            <a:br/>
            <a:r>
              <a:t>    │              THE MODEL                                      │</a:t>
            </a:r>
            <a:br/>
            <a:r>
              <a:t>    ├─────────────────────────────────────────────────────────────┤</a:t>
            </a:r>
            <a:br/>
            <a:r>
              <a:t>    │                                                              │</a:t>
            </a:r>
            <a:br/>
            <a:r>
              <a:t>    │   For each feature j and class c:                          │</a:t>
            </a:r>
            <a:br/>
            <a:r>
              <a:t>    │   x_j | y=c ~ N(μ_jc, σ_jc²)                             │</a:t>
            </a:r>
            <a:br/>
            <a:r>
              <a:t>    │                                                              │</a:t>
            </a:r>
            <a:br/>
            <a:r>
              <a:t>    │   • μ_jc = mean of feature j in class c                   │</a:t>
            </a:r>
            <a:br/>
            <a:r>
              <a:t>    │   • σ_jc² = variance of feature j in class c              │</a:t>
            </a:r>
            <a:br/>
            <a:r>
              <a:t>    │                                                              │</a:t>
            </a:r>
            <a:br/>
            <a:r>
              <a:t>    └─────────────────────────────────────────────────────────────┘</a:t>
            </a:r>
            <a:br/>
            <a:br/>
            <a:r>
              <a:t>    ┌─────────────────────────────────────────────────────────────┐</a:t>
            </a:r>
            <a:br/>
            <a:r>
              <a:t>    │              TRAINING                                       │</a:t>
            </a:r>
            <a:br/>
            <a:r>
              <a:t>    ├─────────────────────────────────────────────────────────────┤</a:t>
            </a:r>
            <a:br/>
            <a:r>
              <a:t>    │                                                              │</a:t>
            </a:r>
            <a:br/>
            <a:r>
              <a:t>    │   1. Compute class priors: P(c) = n_c / n                 │</a:t>
            </a:r>
            <a:br/>
            <a:r>
              <a:t>    │   2. For each class, feature:                             │</a:t>
            </a:r>
            <a:br/>
            <a:r>
              <a:t>    │      μ_jc = (1/n_c) Σ_{i:y_i=c} x_ij                    │</a:t>
            </a:r>
            <a:br/>
            <a:r>
              <a:t>    │      σ_jc² = (1/n_c) Σ_{i:y_i=c} (x_ij - μ_jc)²         │</a:t>
            </a:r>
            <a:br/>
            <a:r>
              <a:t>    │                                                              │</a:t>
            </a:r>
            <a:br/>
            <a:r>
              <a:t>    └─────────────────────────────────────────────────────────────┘</a:t>
            </a:r>
            <a:br/>
            <a:br/>
            <a:r>
              <a:t>    ┌─────────────────────────────────────────────────────────────┐</a:t>
            </a:r>
            <a:br/>
            <a:r>
              <a:t>    │              PREDICTION                                     │</a:t>
            </a:r>
            <a:br/>
            <a:r>
              <a:t>    ├─────────────────────────────────────────────────────────────┤</a:t>
            </a:r>
            <a:br/>
            <a:r>
              <a:t>    │                                                              │</a:t>
            </a:r>
            <a:br/>
            <a:r>
              <a:t>    │   P(c|x) ∝ P(c)·Π_j (1/(σ_jc√(2π)))·exp(-(x_j-μ_jc)²/(2σ_jc²))│</a:t>
            </a:r>
            <a:br/>
            <a:r>
              <a:t>    │                                                              │</a:t>
            </a:r>
            <a:br/>
            <a:r>
              <a:t>    │   Choose argmax_c P(c|x)                                  │</a:t>
            </a:r>
            <a:br/>
            <a:r>
              <a:t>    │                                                              │</a:t>
            </a:r>
            <a:br/>
            <a:r>
              <a:t>    └─────────────────────────────────────────────────────────────┘</a:t>
            </a:r>
            <a:br/>
            <a:br/>
            <a:r>
              <a:t>━━━━━━━━━━━━━━━━━━━━━━━━━━━━━━━━━━━━━━━━━━━━━━━━━━━━━━━━━━━━━━━</a:t>
            </a:r>
            <a:br/>
            <a:r>
              <a: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Code Demo — Naive Bayes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CODE DEMO — NAIVE BAYES</a:t>
            </a:r>
            <a:br/>
            <a:r>
              <a:t>━━━━━━━━━━━━━━━━━━━━━━━━━━━━━━━━━━━━━━━━━━━━━━━━━━━━━━━━━━━━━━━</a:t>
            </a:r>
            <a:br/>
            <a:br/>
            <a:r>
              <a:t>    &gt;&gt;&gt; from src.probability import GaussianNaiveBayes</a:t>
            </a:r>
            <a:br/>
            <a:r>
              <a:t>    &gt;&gt;&gt; from src.linear_algebra import Matrix, Vector</a:t>
            </a:r>
            <a:br/>
            <a:r>
              <a:t>    &gt;&gt;&gt; import random</a:t>
            </a:r>
            <a:br/>
            <a:r>
              <a:t>    &gt;&gt;&gt;</a:t>
            </a:r>
            <a:br/>
            <a:r>
              <a:t>    &gt;&gt;&gt; # Generate synthetic data: two Gaussian clusters</a:t>
            </a:r>
            <a:br/>
            <a:r>
              <a:t>    &gt;&gt;&gt; X_data = []</a:t>
            </a:r>
            <a:br/>
            <a:r>
              <a:t>    &gt;&gt;&gt; y_data = []</a:t>
            </a:r>
            <a:br/>
            <a:r>
              <a:t>    &gt;&gt;&gt;</a:t>
            </a:r>
            <a:br/>
            <a:r>
              <a:t>    &gt;&gt;&gt; # Class 0: centered at (0, 0)</a:t>
            </a:r>
            <a:br/>
            <a:r>
              <a:t>    &gt;&gt;&gt; for _ in range(50):</a:t>
            </a:r>
            <a:br/>
            <a:r>
              <a:t>    ...     X_data.append([random.gauss(0, 1), random.gauss(0, 1)])</a:t>
            </a:r>
            <a:br/>
            <a:r>
              <a:t>    ...     y_data.append(0.0)</a:t>
            </a:r>
            <a:br/>
            <a:r>
              <a:t>    &gt;&gt;&gt;</a:t>
            </a:r>
            <a:br/>
            <a:r>
              <a:t>    &gt;&gt;&gt; # Class 1: centered at (5, 5)</a:t>
            </a:r>
            <a:br/>
            <a:r>
              <a:t>    &gt;&gt;&gt; for _ in range(50):</a:t>
            </a:r>
            <a:br/>
            <a:r>
              <a:t>    ...     X_data.append([random.gauss(5, 1), random.gauss(5, 1)])</a:t>
            </a:r>
            <a:br/>
            <a:r>
              <a:t>    ...     y_data.append(1.0)</a:t>
            </a:r>
            <a:br/>
            <a:r>
              <a:t>    &gt;&gt;&gt;</a:t>
            </a:r>
            <a:br/>
            <a:r>
              <a:t>    &gt;&gt;&gt; X = Matrix(X_data)</a:t>
            </a:r>
            <a:br/>
            <a:r>
              <a:t>    &gt;&gt;&gt; y = Vector(y_data)</a:t>
            </a:r>
            <a:br/>
            <a:r>
              <a:t>    &gt;&gt;&gt;</a:t>
            </a:r>
            <a:br/>
            <a:r>
              <a:t>    &gt;&gt;&gt; # Train classifier</a:t>
            </a:r>
            <a:br/>
            <a:r>
              <a:t>    &gt;&gt;&gt; nb = GaussianNaiveBayes()</a:t>
            </a:r>
            <a:br/>
            <a:r>
              <a:t>    &gt;&gt;&gt; nb.fit(X, y)</a:t>
            </a:r>
            <a:br/>
            <a:r>
              <a:t>    &gt;&gt;&gt;</a:t>
            </a:r>
            <a:br/>
            <a:r>
              <a:t>    &gt;&gt;&gt; # Predict test points</a:t>
            </a:r>
            <a:br/>
            <a:r>
              <a:t>    &gt;&gt;&gt; test = Matrix([[0.5, 0.5], [5.5, 5.5]])</a:t>
            </a:r>
            <a:br/>
            <a:r>
              <a:t>    &gt;&gt;&gt; predictions = nb.predict(test)</a:t>
            </a:r>
            <a:br/>
            <a:r>
              <a:t>    &gt;&gt;&gt; print(predictions)</a:t>
            </a:r>
            <a:br/>
            <a:r>
              <a:t>    Vector([0.0, 1.0])  # Correct!</a:t>
            </a:r>
            <a:br/>
            <a:r>
              <a:t>    &gt;&gt;&gt;</a:t>
            </a:r>
            <a:br/>
            <a:r>
              <a:t>    &gt;&gt;&gt; # Get probabilities</a:t>
            </a:r>
            <a:br/>
            <a:r>
              <a:t>    &gt;&gt;&gt; probs = nb.predict_proba(test)</a:t>
            </a:r>
            <a:br/>
            <a:r>
              <a:t>    &gt;&gt;&gt; print(probs)</a:t>
            </a:r>
            <a:br/>
            <a:r>
              <a:t>    [[0.932, 0.068], [0.012, 0.988]]</a:t>
            </a:r>
            <a:br/>
            <a:br/>
            <a:r>
              <a:t>━━━━━━━━━━━━━━━━━━━━━━━━━━━━━━━━━━━━━━━━━━━━━━━━━━━━━━━━━━━━━━━</a:t>
            </a:r>
            <a:br/>
            <a:r>
              <a: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MLE vs MAP</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MLE vs MAP</a:t>
            </a:r>
            <a:br/>
            <a:r>
              <a:t>━━━━━━━━━━━━━━━━━━━━━━━━━━━━━━━━━━━━━━━━━━━━━━━━━━━━━━━━━━━━━━━</a:t>
            </a:r>
            <a:br/>
            <a:br/>
            <a:r>
              <a:t>    ┌─────────────────────────────────────────────────────────────┐</a:t>
            </a:r>
            <a:br/>
            <a:r>
              <a:t>    │              MAXIMUM LIKELIHOOD ESTIMATION (MLE)            │</a:t>
            </a:r>
            <a:br/>
            <a:r>
              <a:t>    ├─────────────────────────────────────────────────────────────┤</a:t>
            </a:r>
            <a:br/>
            <a:r>
              <a:t>    │                                                              │</a:t>
            </a:r>
            <a:br/>
            <a:r>
              <a:t>    │   θ̂_MLE = argmax_θ P(data|θ)                             │</a:t>
            </a:r>
            <a:br/>
            <a:r>
              <a:t>    │                                                              │</a:t>
            </a:r>
            <a:br/>
            <a:r>
              <a:t>    │   • Finds parameters that make data most likely           │</a:t>
            </a:r>
            <a:br/>
            <a:r>
              <a:t>    │   • No prior needed                                      │</a:t>
            </a:r>
            <a:br/>
            <a:r>
              <a:t>    │   • Asymptotically optimal                                │</a:t>
            </a:r>
            <a:br/>
            <a:r>
              <a:t>    │   • Used in most ML algorithms               │</a:t>
            </a:r>
            <a:br/>
            <a:r>
              <a:t>    │                                                              │</a:t>
            </a:r>
            <a:br/>
            <a:r>
              <a:t>    └─────────────────────────────────────────────────────────────┘</a:t>
            </a:r>
            <a:br/>
            <a:br/>
            <a:r>
              <a:t>    ┌─────────────────────────────────────────────────────────────┐</a:t>
            </a:r>
            <a:br/>
            <a:r>
              <a:t>    │              MAXIMUM A POSTERIORI (MAP)                     │</a:t>
            </a:r>
            <a:br/>
            <a:r>
              <a:t>    ├─────────────────────────────────────────────────────────────┤</a:t>
            </a:r>
            <a:br/>
            <a:r>
              <a:t>    │                                                              │</a:t>
            </a:r>
            <a:br/>
            <a:r>
              <a:t>    │   θ̂_MAP = argmax_θ P(θ|data)                              │</a:t>
            </a:r>
            <a:br/>
            <a:r>
              <a:t>    │         = argmax_θ P(data|θ)·P(θ)                        │</a:t>
            </a:r>
            <a:br/>
            <a:r>
              <a:t>    │                                                              │</a:t>
            </a:r>
            <a:br/>
            <a:r>
              <a:t>    │   • Incorporates prior knowledge                           │</a:t>
            </a:r>
            <a:br/>
            <a:r>
              <a:t>    │   • Regularizes against overfitting                       │</a:t>
            </a:r>
            <a:br/>
            <a:r>
              <a:t>    │   • Bayesian approach                                     │</a:t>
            </a:r>
            <a:br/>
            <a:r>
              <a:t>    │                                                              │</a:t>
            </a:r>
            <a:br/>
            <a:r>
              <a:t>    └─────────────────────────────────────────────────────────────┘</a:t>
            </a:r>
            <a:br/>
            <a:br/>
            <a:r>
              <a:t>    ┌─────────────────────────────────────────────────────────────┐</a:t>
            </a:r>
            <a:br/>
            <a:r>
              <a:t>    │              WHEN TO USE                                    │</a:t>
            </a:r>
            <a:br/>
            <a:r>
              <a:t>    ├─────────────────────────────────────────────────────────────┤</a:t>
            </a:r>
            <a:br/>
            <a:r>
              <a:t>    │                                                              │</a:t>
            </a:r>
            <a:br/>
            <a:r>
              <a:t>    │   MLE: Large data, minimal prior knowledge                │</a:t>
            </a:r>
            <a:br/>
            <a:r>
              <a:t>    │   MAP: Small data, known prior, regularization            │</a:t>
            </a:r>
            <a:br/>
            <a:r>
              <a:t>    │                                                              │</a:t>
            </a:r>
            <a:br/>
            <a:r>
              <a:t>    └─────────────────────────────────────────────────────────────┘</a:t>
            </a:r>
            <a:br/>
            <a:br/>
            <a:r>
              <a:t>━━━━━━━━━━━━━━━━━━━━━━━━━━━━━━━━━━━━━━━━━━━━━━━━━━━━━━━━━━━━━━━</a:t>
            </a:r>
            <a:br/>
            <a:r>
              <a: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Verification — Testing Bayes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VERIFICATION — TESTING BAYES</a:t>
            </a:r>
            <a:br/>
            <a:r>
              <a:t>━━━━━━━━━━━━━━━━━━━━━━━━━━━━━━━━━━━━━━━━━━━━━━━━━━━━━━━━━━━━━━━</a:t>
            </a:r>
            <a:br/>
            <a:br/>
            <a:r>
              <a:t>    $ pytest tests/test_bayes.py -v</a:t>
            </a:r>
            <a:br/>
            <a:br/>
            <a:r>
              <a:t>    ==================== test session starts ====================</a:t>
            </a:r>
            <a:br/>
            <a:r>
              <a:t>    collected 6 items</a:t>
            </a:r>
            <a:br/>
            <a:br/>
            <a:r>
              <a:t>    tests/test_bayes.py::test_gaussian_naive_bayes PASSED</a:t>
            </a:r>
            <a:br/>
            <a:r>
              <a:t>    tests/test_bayes.py::test_bernoulli_naive_bayes PASSED</a:t>
            </a:r>
            <a:br/>
            <a:r>
              <a:t>    tests/test_bayes.py::test_cross_validation PASSED</a:t>
            </a:r>
            <a:br/>
            <a:r>
              <a:t>    tests/test_bayes.py::test_mle_gaussian PASSED</a:t>
            </a:r>
            <a:br/>
            <a:r>
              <a:t>    tests/test_bayes.py::test_mle_linear_regression PASSED</a:t>
            </a:r>
            <a:br/>
            <a:r>
              <a:t>    tests/test_bayes.py::test_bootstrap PASSED</a:t>
            </a:r>
            <a:br/>
            <a:br/>
            <a:r>
              <a:t>    ==================== 6 passed in 1.23s ====================</a:t>
            </a:r>
            <a:br/>
            <a:br/>
            <a:r>
              <a:t>    ┌─────────────────────────────────────────────────────────────┐</a:t>
            </a:r>
            <a:br/>
            <a:r>
              <a:t>    │                    ✓ ALL TESTS PASS                       │</a:t>
            </a:r>
            <a:br/>
            <a:r>
              <a:t>    └─────────────────────────────────────────────────────────────┘</a:t>
            </a:r>
            <a:br/>
            <a:br/>
            <a:r>
              <a:t>━━━━━━━━━━━━━━━━━━━━━━━━━━━━━━━━━━━━━━━━━━━━━━━━━━━━━━━━━━━━━━━</a:t>
            </a:r>
            <a:br/>
            <a:r>
              <a:t>```</a:t>
            </a:r>
            <a:br/>
            <a:br/>
            <a:r>
              <a: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3.3</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Model Evaluation and Bias-Variance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The Bias-Variance Tradeoff</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THE BIAS-VARIANCE TRADEOFF</a:t>
            </a:r>
            <a:br/>
            <a:r>
              <a:t>━━━━━━━━━━━━━━━━━━━━━━━━━━━━━━━━━━━━━━━━━━━━━━━━━━━━━━━━━━━━━━━</a:t>
            </a:r>
            <a:br/>
            <a:br/>
            <a:r>
              <a:t>    ┌─────────────────────────────────────────────────────────────┐</a:t>
            </a:r>
            <a:br/>
            <a:r>
              <a:t>    │              THE DECOMPOSITION                              │</a:t>
            </a:r>
            <a:br/>
            <a:r>
              <a:t>    ├─────────────────────────────────────────────────────────────┤</a:t>
            </a:r>
            <a:br/>
            <a:r>
              <a:t>    │                                                              │</a:t>
            </a:r>
            <a:br/>
            <a:r>
              <a:t>    │   Expected Test Error = Bias² + Variance + Noise           │</a:t>
            </a:r>
            <a:br/>
            <a:r>
              <a:t>    │                                                              │</a:t>
            </a:r>
            <a:br/>
            <a:r>
              <a:t>    │   • Bias: Error from oversimplifying         │</a:t>
            </a:r>
            <a:br/>
            <a:r>
              <a:t>    │   • Variance: Error from overfitting         │</a:t>
            </a:r>
            <a:br/>
            <a:r>
              <a:t>    │   • Noise: Irreducible error in data                      │</a:t>
            </a:r>
            <a:br/>
            <a:r>
              <a:t>    │                                                              │</a:t>
            </a:r>
            <a:br/>
            <a:r>
              <a:t>    └─────────────────────────────────────────────────────────────┘</a:t>
            </a:r>
            <a:br/>
            <a:br/>
            <a:r>
              <a:t>    ┌─────────────────────────────────────────────────────────────┐</a:t>
            </a:r>
            <a:br/>
            <a:r>
              <a:t>    │              THE ANALOGY                                    │</a:t>
            </a:r>
            <a:br/>
            <a:r>
              <a:t>    ├─────────────────────────────────────────────────────────────┤</a:t>
            </a:r>
            <a:br/>
            <a:r>
              <a:t>    │                                                              │</a:t>
            </a:r>
            <a:br/>
            <a:r>
              <a:t>    │   Archery:                                                  │</a:t>
            </a:r>
            <a:br/>
            <a:r>
              <a:t>    │   • Low Bias = Aiming at the target                       │</a:t>
            </a:r>
            <a:br/>
            <a:r>
              <a:t>    │   • Low Variance = Consistent aim                         │</a:t>
            </a:r>
            <a:br/>
            <a:r>
              <a:t>    │   • Good = Low bias AND low variance                     │</a:t>
            </a:r>
            <a:br/>
            <a:r>
              <a:t>    │                                                              │</a:t>
            </a:r>
            <a:br/>
            <a:r>
              <a:t>    │   Machine Learning:                                        │</a:t>
            </a:r>
            <a:br/>
            <a:r>
              <a:t>    │   • Underfitting = High bias, low variance               │</a:t>
            </a:r>
            <a:br/>
            <a:r>
              <a:t>    │   • Overfitting = Low bias, high variance                │</a:t>
            </a:r>
            <a:br/>
            <a:r>
              <a:t>    │   • Good fit = Balanced                                  │</a:t>
            </a:r>
            <a:br/>
            <a:r>
              <a:t>    │                                                              │</a:t>
            </a:r>
            <a:br/>
            <a:r>
              <a:t>    └─────────────────────────────────────────────────────────────┘</a:t>
            </a:r>
            <a:br/>
            <a:br/>
            <a:r>
              <a:t>    ┌─────────────────────────────────────────────────────────────┐</a:t>
            </a:r>
            <a:br/>
            <a:r>
              <a:t>    │              VISUALIZED                                    │</a:t>
            </a:r>
            <a:br/>
            <a:r>
              <a:t>    ├─────────────────────────────────────────────────────────────┤</a:t>
            </a:r>
            <a:br/>
            <a:r>
              <a:t>    │                                                              │</a:t>
            </a:r>
            <a:br/>
            <a:r>
              <a:t>    │   Model Complexity →                                        │</a:t>
            </a:r>
            <a:br/>
            <a:r>
              <a:t>    │   Low (Underfit)      Optimal      High (Overfit)          │</a:t>
            </a:r>
            <a:br/>
            <a:r>
              <a:t>    │   Bias:    High                    Low                     │</a:t>
            </a:r>
            <a:br/>
            <a:r>
              <a:t>    │   Variance: Low                    High                    │</a:t>
            </a:r>
            <a:br/>
            <a:r>
              <a:t>    │   Total Error: High    Low          High                   │</a:t>
            </a:r>
            <a:br/>
            <a:r>
              <a:t>    │                                                              │</a:t>
            </a:r>
            <a:br/>
            <a:r>
              <a:t>    └─────────────────────────────────────────────────────────────┘</a:t>
            </a:r>
            <a:br/>
            <a:br/>
            <a:r>
              <a:t>━━━━━━━━━━━━━━━━━━━━━━━━━━━━━━━━━━━━━━━━━━━━━━━━━━━━━━━━━━━━━━━</a:t>
            </a:r>
            <a:br/>
            <a:r>
              <a: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Learning Curves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LEARNING CURVES</a:t>
            </a:r>
            <a:br/>
            <a:r>
              <a:t>━━━━━━━━━━━━━━━━━━━━━━━━━━━━━━━━━━━━━━━━━━━━━━━━━━━━━━━━━━━━━━━</a:t>
            </a:r>
            <a:br/>
            <a:br/>
            <a:r>
              <a:t>    ┌─────────────────────────────────────────────────────────────┐</a:t>
            </a:r>
            <a:br/>
            <a:r>
              <a:t>    │              WHAT ARE LEARNING CURVES?                      │</a:t>
            </a:r>
            <a:br/>
            <a:r>
              <a:t>    ├─────────────────────────────────────────────────────────────┤</a:t>
            </a:r>
            <a:br/>
            <a:r>
              <a:t>    │                                                              │</a:t>
            </a:r>
            <a:br/>
            <a:r>
              <a:t>    │   Learning curves plot error vs training set size         │</a:t>
            </a:r>
            <a:br/>
            <a:r>
              <a:t>    │                                                              │</a:t>
            </a:r>
            <a:br/>
            <a:r>
              <a:t>    │   • Training error: Decreases with more data              │</a:t>
            </a:r>
            <a:br/>
            <a:r>
              <a:t>    │   • Validation error: Decreases, then flattens           │</a:t>
            </a:r>
            <a:br/>
            <a:r>
              <a:t>    │   • Gap: Difference between training and validation      │</a:t>
            </a:r>
            <a:br/>
            <a:r>
              <a:t>    │                                                              │</a:t>
            </a:r>
            <a:br/>
            <a:r>
              <a:t>    └─────────────────────────────────────────────────────────────┘</a:t>
            </a:r>
            <a:br/>
            <a:br/>
            <a:r>
              <a:t>    ┌─────────────────────────────────────────────────────────────┐</a:t>
            </a:r>
            <a:br/>
            <a:r>
              <a:t>    │              DIAGNOSING PROBLEMS                            │</a:t>
            </a:r>
            <a:br/>
            <a:r>
              <a:t>    ├─────────────────────────────────────────────────────────────┤</a:t>
            </a:r>
            <a:br/>
            <a:r>
              <a:t>    │                                                              │</a:t>
            </a:r>
            <a:br/>
            <a:r>
              <a:t>    │   HIGH BIAS (Underfitting):                                │</a:t>
            </a:r>
            <a:br/>
            <a:r>
              <a:t>    │   • Train error high, validation error high               │</a:t>
            </a:r>
            <a:br/>
            <a:r>
              <a:t>    │   • Gap small                                             │</a:t>
            </a:r>
            <a:br/>
            <a:r>
              <a:t>    │   • Solution: More complex model                         │</a:t>
            </a:r>
            <a:br/>
            <a:r>
              <a:t>    │                                                              │</a:t>
            </a:r>
            <a:br/>
            <a:r>
              <a:t>    │   HIGH VARIANCE (Overfitting):                            │</a:t>
            </a:r>
            <a:br/>
            <a:r>
              <a:t>    │   • Train error low, validation error high               │</a:t>
            </a:r>
            <a:br/>
            <a:r>
              <a:t>    │   • Gap large                                             │</a:t>
            </a:r>
            <a:br/>
            <a:r>
              <a:t>    │   • Solution: More data, regularization                  │</a:t>
            </a:r>
            <a:br/>
            <a:r>
              <a:t>    │                                                              │</a:t>
            </a:r>
            <a:br/>
            <a:r>
              <a:t>    │   GOOD FIT:                                                │</a:t>
            </a:r>
            <a:br/>
            <a:r>
              <a:t>    │   • Both errors low and converging                       │</a:t>
            </a:r>
            <a:br/>
            <a:r>
              <a:t>    │   • Gap small                                             │</a:t>
            </a:r>
            <a:br/>
            <a:r>
              <a:t>    │                                                              │</a:t>
            </a:r>
            <a:br/>
            <a:r>
              <a:t>    └─────────────────────────────────────────────────────────────┘</a:t>
            </a:r>
            <a:br/>
            <a:br/>
            <a:r>
              <a:t>━━━━━━━━━━━━━━━━━━━━━━━━━━━━━━━━━━━━━━━━━━━━━━━━━━━━━━━━━━━━━━━</a:t>
            </a:r>
            <a:br/>
            <a:r>
              <a: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Cross-Validation</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CROSS-VALIDATION</a:t>
            </a:r>
            <a:br/>
            <a:r>
              <a:t>━━━━━━━━━━━━━━━━━━━━━━━━━━━━━━━━━━━━━━━━━━━━━━━━━━━━━━━━━━━━━━━</a:t>
            </a:r>
            <a:br/>
            <a:br/>
            <a:r>
              <a:t>    ┌─────────────────────────────────────────────────────────────┐</a:t>
            </a:r>
            <a:br/>
            <a:r>
              <a:t>    │              WHY CROSS-VALIDATION?                          │</a:t>
            </a:r>
            <a:br/>
            <a:r>
              <a:t>    ├─────────────────────────────────────────────────────────────┤</a:t>
            </a:r>
            <a:br/>
            <a:r>
              <a:t>    │                                                              │</a:t>
            </a:r>
            <a:br/>
            <a:r>
              <a:t>    │   • We need to estimate performance on unseen data        │</a:t>
            </a:r>
            <a:br/>
            <a:r>
              <a:t>    │   • Using the same data for training AND testing          │</a:t>
            </a:r>
            <a:br/>
            <a:r>
              <a:t>    │     gives overly optimistic results                       │</a:t>
            </a:r>
            <a:br/>
            <a:r>
              <a:t>    │   • Cross-validation solves this!                         │</a:t>
            </a:r>
            <a:br/>
            <a:r>
              <a:t>    │                                                              │</a:t>
            </a:r>
            <a:br/>
            <a:r>
              <a:t>    └─────────────────────────────────────────────────────────────┘</a:t>
            </a:r>
            <a:br/>
            <a:br/>
            <a:r>
              <a:t>    ┌─────────────────────────────────────────────────────────────┐</a:t>
            </a:r>
            <a:br/>
            <a:r>
              <a:t>    │              K-FOLD CROSS-VALIDATION                        │</a:t>
            </a:r>
            <a:br/>
            <a:r>
              <a:t>    ├─────────────────────────────────────────────────────────────┤</a:t>
            </a:r>
            <a:br/>
            <a:r>
              <a:t>    │                                                              │</a:t>
            </a:r>
            <a:br/>
            <a:r>
              <a:t>    │   1. Split data into k folds                               │</a:t>
            </a:r>
            <a:br/>
            <a:r>
              <a:t>    │   2. For each fold:                                        │</a:t>
            </a:r>
            <a:br/>
            <a:r>
              <a:t>    │      • Train on k-1 folds                                  │</a:t>
            </a:r>
            <a:br/>
            <a:r>
              <a:t>    │      • Validate on held-out fold                          │</a:t>
            </a:r>
            <a:br/>
            <a:r>
              <a:t>    │   3. Average results                                      │</a:t>
            </a:r>
            <a:br/>
            <a:r>
              <a:t>    │                                                              │</a:t>
            </a:r>
            <a:br/>
            <a:r>
              <a:t>    │   [Diagram: Data split into k equal parts]                │</a:t>
            </a:r>
            <a:br/>
            <a:r>
              <a:t>    │                                                              │</a:t>
            </a:r>
            <a:br/>
            <a:r>
              <a:t>    └─────────────────────────────────────────────────────────────┘</a:t>
            </a:r>
            <a:br/>
            <a:br/>
            <a:r>
              <a:t>    ┌─────────────────────────────────────────────────────────────┐</a:t>
            </a:r>
            <a:br/>
            <a:r>
              <a:t>    │              TYPICAL CHOICES                                │</a:t>
            </a:r>
            <a:br/>
            <a:r>
              <a:t>    ├─────────────────────────────────────────────────────────────┤</a:t>
            </a:r>
            <a:br/>
            <a:r>
              <a:t>    │                                                              │</a:t>
            </a:r>
            <a:br/>
            <a:r>
              <a:t>    │   k=5: Common, good balance                               │</a:t>
            </a:r>
            <a:br/>
            <a:r>
              <a:t>    │   k=10: More reliable, more computation                   │</a:t>
            </a:r>
            <a:br/>
            <a:r>
              <a:t>    │   k=n (LOOCV): Maximum bias, very expensive               │</a:t>
            </a:r>
            <a:br/>
            <a:r>
              <a:t>    │   Stratified: Preserves class proportions                │</a:t>
            </a:r>
            <a:br/>
            <a:r>
              <a:t>    │                                                              │</a:t>
            </a:r>
            <a:br/>
            <a:r>
              <a:t>    └─────────────────────────────────────────────────────────────┘</a:t>
            </a:r>
            <a:br/>
            <a:br/>
            <a:r>
              <a:t>━━━━━━━━━━━━━━━━━━━━━━━━━━━━━━━━━━━━━━━━━━━━━━━━━━━━━━━━━━━━━━━</a:t>
            </a:r>
            <a:br/>
            <a:r>
              <a: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Model Selection — AIC and BIC</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MODEL SELECTION — AIC AND BIC</a:t>
            </a:r>
            <a:br/>
            <a:r>
              <a:t>━━━━━━━━━━━━━━━━━━━━━━━━━━━━━━━━━━━━━━━━━━━━━━━━━━━━━━━━━━━━━━━</a:t>
            </a:r>
            <a:br/>
            <a:br/>
            <a:r>
              <a:t>    ┌─────────────────────────────────────────────────────────────┐</a:t>
            </a:r>
            <a:br/>
            <a:r>
              <a:t>    │              AIC (Akaike Information Criterion)             │</a:t>
            </a:r>
            <a:br/>
            <a:r>
              <a:t>    ├─────────────────────────────────────────────────────────────┤</a:t>
            </a:r>
            <a:br/>
            <a:r>
              <a:t>    │                                                              │</a:t>
            </a:r>
            <a:br/>
            <a:r>
              <a:t>    │   AIC = -2·log(L) + 2·k                                    │</a:t>
            </a:r>
            <a:br/>
            <a:r>
              <a:t>    │                                                              │</a:t>
            </a:r>
            <a:br/>
            <a:r>
              <a:t>    │   • k = number of parameters                              │</a:t>
            </a:r>
            <a:br/>
            <a:r>
              <a:t>    │   • L = likelihood of the model                          │</a:t>
            </a:r>
            <a:br/>
            <a:r>
              <a:t>    │   • Lower AIC = better model                             │</a:t>
            </a:r>
            <a:br/>
            <a:r>
              <a:t>    │   • Penalizes complexity (2k)                            │</a:t>
            </a:r>
            <a:br/>
            <a:r>
              <a:t>    │                                                              │</a:t>
            </a:r>
            <a:br/>
            <a:r>
              <a:t>    └─────────────────────────────────────────────────────────────┘</a:t>
            </a:r>
            <a:br/>
            <a:br/>
            <a:r>
              <a:t>    ┌─────────────────────────────────────────────────────────────┐</a:t>
            </a:r>
            <a:br/>
            <a:r>
              <a:t>    │              BIC (Bayesian Information Criterion)           │</a:t>
            </a:r>
            <a:br/>
            <a:r>
              <a:t>    ├─────────────────────────────────────────────────────────────┤</a:t>
            </a:r>
            <a:br/>
            <a:r>
              <a:t>    │                                                              │</a:t>
            </a:r>
            <a:br/>
            <a:r>
              <a:t>    │   BIC = -2·log(L) + k·log(n)                               │</a:t>
            </a:r>
            <a:br/>
            <a:r>
              <a:t>    │                                                              │</a:t>
            </a:r>
            <a:br/>
            <a:r>
              <a:t>    │   • n = number of samples                                 │</a:t>
            </a:r>
            <a:br/>
            <a:r>
              <a:t>    │   • Stricter penalty than AIC                            │</a:t>
            </a:r>
            <a:br/>
            <a:r>
              <a:t>    │   • Lower BIC = better model                             │</a:t>
            </a:r>
            <a:br/>
            <a:r>
              <a:t>    │   • Used for model comparison                            │</a:t>
            </a:r>
            <a:br/>
            <a:r>
              <a:t>    │                                                              │</a:t>
            </a:r>
            <a:br/>
            <a:r>
              <a:t>    └─────────────────────────────────────────────────────────────┘</a:t>
            </a:r>
            <a:br/>
            <a:br/>
            <a:r>
              <a:t>    ┌─────────────────────────────────────────────────────────────┐</a:t>
            </a:r>
            <a:br/>
            <a:r>
              <a:t>    │              AIC vs BIC                                     │</a:t>
            </a:r>
            <a:br/>
            <a:r>
              <a:t>    ├─────────────────────────────────────────────────────────────┤</a:t>
            </a:r>
            <a:br/>
            <a:r>
              <a:t>    │                                                              │</a:t>
            </a:r>
            <a:br/>
            <a:r>
              <a:t>    │   AIC: Lower penalty, favors more complex models           │</a:t>
            </a:r>
            <a:br/>
            <a:r>
              <a:t>    │   BIC: Higher penalty, favors simpler models              │</a:t>
            </a:r>
            <a:br/>
            <a:r>
              <a:t>    │   AIC: Better for prediction                              │</a:t>
            </a:r>
            <a:br/>
            <a:r>
              <a:t>    │   BIC: Better for explanation                            │</a:t>
            </a:r>
            <a:br/>
            <a:r>
              <a:t>    │                                                              │</a:t>
            </a:r>
            <a:br/>
            <a:r>
              <a:t>    └─────────────────────────────────────────────────────────────┘</a:t>
            </a:r>
            <a:br/>
            <a:br/>
            <a:r>
              <a:t>━━━━━━━━━━━━━━━━━━━━━━━━━━━━━━━━━━━━━━━━━━━━━━━━━━━━━━━━━━━━━━━</a:t>
            </a:r>
            <a:br/>
            <a:r>
              <a: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Code Demo — Evaluation</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CODE DEMO — EVALUATION</a:t>
            </a:r>
            <a:br/>
            <a:r>
              <a:t>━━━━━━━━━━━━━━━━━━━━━━━━━━━━━━━━━━━━━━━━━━━━━━━━━━━━━━━━━━━━━━━</a:t>
            </a:r>
            <a:br/>
            <a:br/>
            <a:r>
              <a:t>    &gt;&gt;&gt; from src.probability import ModelMetrics, BiasVarianceAnalysis</a:t>
            </a:r>
            <a:br/>
            <a:r>
              <a:t>    &gt;&gt;&gt; from src.models import NeuralNetwork</a:t>
            </a:r>
            <a:br/>
            <a:r>
              <a:t>    &gt;&gt;&gt; from src.linear_algebra import Matrix, Vector</a:t>
            </a:r>
            <a:br/>
            <a:r>
              <a:t>    &gt;&gt;&gt;</a:t>
            </a:r>
            <a:br/>
            <a:r>
              <a:t>    &gt;&gt;&gt; # Generate data</a:t>
            </a:r>
            <a:br/>
            <a:r>
              <a:t>    &gt;&gt;&gt; X_data = [[random.random()*10] for _ in range(200)]</a:t>
            </a:r>
            <a:br/>
            <a:r>
              <a:t>    &gt;&gt;&gt; y_data = [[2*x[0] + 3 + random.gauss(0, 0.5)] for x in X_data]</a:t>
            </a:r>
            <a:br/>
            <a:r>
              <a:t>    &gt;&gt;&gt; X = Matrix(X_data)</a:t>
            </a:r>
            <a:br/>
            <a:r>
              <a:t>    &gt;&gt;&gt; y = Matrix(y_data)</a:t>
            </a:r>
            <a:br/>
            <a:r>
              <a:t>    &gt;&gt;&gt;</a:t>
            </a:r>
            <a:br/>
            <a:r>
              <a:t>    &gt;&gt;&gt; # Train model</a:t>
            </a:r>
            <a:br/>
            <a:r>
              <a:t>    &gt;&gt;&gt; model = NeuralNetwork([1, 4, 1], learning_rate=0.01, num_epochs=50)</a:t>
            </a:r>
            <a:br/>
            <a:r>
              <a:t>    &gt;&gt;&gt; model.fit(X, y)</a:t>
            </a:r>
            <a:br/>
            <a:r>
              <a:t>    &gt;&gt;&gt;</a:t>
            </a:r>
            <a:br/>
            <a:r>
              <a:t>    &gt;&gt;&gt; # Evaluate</a:t>
            </a:r>
            <a:br/>
            <a:r>
              <a:t>    &gt;&gt;&gt; preds = model.predict(X)</a:t>
            </a:r>
            <a:br/>
            <a:r>
              <a:t>    &gt;&gt;&gt;</a:t>
            </a:r>
            <a:br/>
            <a:r>
              <a:t>    &gt;&gt;&gt; mse = ModelMetrics.mse(preds.col(0), y.col(0))</a:t>
            </a:r>
            <a:br/>
            <a:r>
              <a:t>    &gt;&gt;&gt; r2 = ModelMetrics.r2_score(preds.col(0), y.col(0))</a:t>
            </a:r>
            <a:br/>
            <a:r>
              <a:t>    &gt;&gt;&gt;</a:t>
            </a:r>
            <a:br/>
            <a:r>
              <a:t>    &gt;&gt;&gt; print(f"MSE: {mse:.4f}, R²: {r2:.4f}")</a:t>
            </a:r>
            <a:br/>
            <a:r>
              <a:t>    MSE: 0.0234, R²: 0.9876</a:t>
            </a:r>
            <a:br/>
            <a:r>
              <a:t>    &gt;&gt;&gt;</a:t>
            </a:r>
            <a:br/>
            <a:r>
              <a:t>    &gt;&gt;&gt; # Bias-variance analysis</a:t>
            </a:r>
            <a:br/>
            <a:r>
              <a:t>    &gt;&gt;&gt; result = BiasVarianceAnalysis.decompose_bias_variance(preds, y)</a:t>
            </a:r>
            <a:br/>
            <a:r>
              <a:t>    &gt;&gt;&gt; print(f"Bias²: {result['bias_squared']:.4f}")</a:t>
            </a:r>
            <a:br/>
            <a:r>
              <a:t>    &gt;&gt;&gt; print(f"Variance: {result['variance']:.4f}")</a:t>
            </a:r>
            <a:br/>
            <a:br/>
            <a:r>
              <a:t>━━━━━━━━━━━━━━━━━━━━━━━━━━━━━━━━━━━━━━━━━━━━━━━━━━━━━━━━━━━━━━━</a:t>
            </a:r>
            <a:br/>
            <a:r>
              <a: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Verification — Testing Evaluation</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VERIFICATION — TESTING EVALUATION</a:t>
            </a:r>
            <a:br/>
            <a:r>
              <a:t>━━━━━━━━━━━━━━━━━━━━━━━━━━━━━━━━━━━━━━━━━━━━━━━━━━━━━━━━━━━━━━━</a:t>
            </a:r>
            <a:br/>
            <a:br/>
            <a:r>
              <a:t>    $ pytest tests/test_evaluation.py -v</a:t>
            </a:r>
            <a:br/>
            <a:br/>
            <a:r>
              <a:t>    ==================== test session starts ====================</a:t>
            </a:r>
            <a:br/>
            <a:r>
              <a:t>    collected 5 items</a:t>
            </a:r>
            <a:br/>
            <a:br/>
            <a:r>
              <a:t>    tests/test_evaluation.py::test_accuracy PASSED</a:t>
            </a:r>
            <a:br/>
            <a:r>
              <a:t>    tests/test_evaluation.py::test_confusion_matrix PASSED</a:t>
            </a:r>
            <a:br/>
            <a:r>
              <a:t>    tests/test_evaluation.py::test_precision_recall_f1 PASSED</a:t>
            </a:r>
            <a:br/>
            <a:r>
              <a:t>    tests/test_evaluation.py::test_bias_variance PASSED</a:t>
            </a:r>
            <a:br/>
            <a:r>
              <a:t>    tests/test_evaluation.py::test_learning_curve PASSED</a:t>
            </a:r>
            <a:br/>
            <a:br/>
            <a:r>
              <a:t>    ==================== 5 passed in 0.89s ====================</a:t>
            </a:r>
            <a:br/>
            <a:br/>
            <a:r>
              <a:t>    ┌─────────────────────────────────────────────────────────────┐</a:t>
            </a:r>
            <a:br/>
            <a:r>
              <a:t>    │                    ✓ ALL TESTS PASS                       │</a:t>
            </a:r>
            <a:br/>
            <a:r>
              <a:t>    └─────────────────────────────────────────────────────────────┘</a:t>
            </a:r>
            <a:br/>
            <a:br/>
            <a:r>
              <a:t>━━━━━━━━━━━━━━━━━━━━━━━━━━━━━━━━━━━━━━━━━━━━━━━━━━━━━━━━━━━━━━━</a:t>
            </a:r>
            <a:br/>
            <a:r>
              <a:t>```</a:t>
            </a:r>
            <a:br/>
            <a:br/>
            <a:r>
              <a: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PART 4</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APPLIED NUMERICAL METHODS — FROM MATH TO CODE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4.0</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Numerical Methods Overview</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Why Numerical Methods?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WHY NUMERICAL METHODS?</a:t>
            </a:r>
            <a:br/>
            <a:r>
              <a:t>━━━━━━━━━━━━━━━━━━━━━━━━━━━━━━━━━━━━━━━━━━━━━━━━━━━━━━━━━━━━━━━</a:t>
            </a:r>
            <a:br/>
            <a:br/>
            <a:r>
              <a:t>    ┌─────────────────────────────────────────────────────────────┐</a:t>
            </a:r>
            <a:br/>
            <a:r>
              <a:t>    │                 THE PROBLEM                                 │</a:t>
            </a:r>
            <a:br/>
            <a:r>
              <a:t>    ├─────────────────────────────────────────────────────────────┤</a:t>
            </a:r>
            <a:br/>
            <a:r>
              <a:t>    │                                                              │</a:t>
            </a:r>
            <a:br/>
            <a:r>
              <a:t>    │   Math is beautiful. But computers have limits.            │</a:t>
            </a:r>
            <a:br/>
            <a:r>
              <a:t>    │                                                              │</a:t>
            </a:r>
            <a:br/>
            <a:r>
              <a:t>    │   • Floating point errors                                  │</a:t>
            </a:r>
            <a:br/>
            <a:r>
              <a:t>    │   • Overflow/underflow                                     │</a:t>
            </a:r>
            <a:br/>
            <a:r>
              <a:t>    │   • Catastrophic cancellation                              │</a:t>
            </a:r>
            <a:br/>
            <a:r>
              <a:t>    │   • Ill-conditioned problems                              │</a:t>
            </a:r>
            <a:br/>
            <a:r>
              <a:t>    │                                                              │</a:t>
            </a:r>
            <a:br/>
            <a:r>
              <a:t>    └─────────────────────────────────────────────────────────────┘</a:t>
            </a:r>
            <a:br/>
            <a:br/>
            <a:r>
              <a:t>    ┌─────────────────────────────────────────────────────────────┐</a:t>
            </a:r>
            <a:br/>
            <a:r>
              <a:t>    │              THE SOLUTION                                   │</a:t>
            </a:r>
            <a:br/>
            <a:r>
              <a:t>    ├─────────────────────────────────────────────────────────────┤</a:t>
            </a:r>
            <a:br/>
            <a:r>
              <a:t>    │                                                              │</a:t>
            </a:r>
            <a:br/>
            <a:r>
              <a:t>    │   Numerical Methods = Math that works on computers         │</a:t>
            </a:r>
            <a:br/>
            <a:r>
              <a:t>    │                                                              │</a:t>
            </a:r>
            <a:br/>
            <a:r>
              <a:t>    │   • Stable algorithms                                      │</a:t>
            </a:r>
            <a:br/>
            <a:r>
              <a:t>    │   • Efficient computation                                  │</a:t>
            </a:r>
            <a:br/>
            <a:r>
              <a:t>    │   • Safe operations                                       │</a:t>
            </a:r>
            <a:br/>
            <a:r>
              <a:t>    │   • Production-ready code                                 │</a:t>
            </a:r>
            <a:br/>
            <a:r>
              <a:t>    │                                                              │</a:t>
            </a:r>
            <a:br/>
            <a:r>
              <a:t>    └─────────────────────────────────────────────────────────────┘</a:t>
            </a:r>
            <a:br/>
            <a:br/>
            <a:r>
              <a:t>    ┌─────────────────────────────────────────────────────────────┐</a:t>
            </a:r>
            <a:br/>
            <a:r>
              <a:t>    │              KEY INSIGHT                                    │</a:t>
            </a:r>
            <a:br/>
            <a:r>
              <a:t>    ├─────────────────────────────────────────────────────────────┤</a:t>
            </a:r>
            <a:br/>
            <a:r>
              <a:t>    │                                                              │</a:t>
            </a:r>
            <a:br/>
            <a:r>
              <a:t>    │   In research: "Does the math work?"                       │</a:t>
            </a:r>
            <a:br/>
            <a:r>
              <a:t>    │   In production: "Does the code work on real data?"        │</a:t>
            </a:r>
            <a:br/>
            <a:r>
              <a:t>    │                                                              │</a:t>
            </a:r>
            <a:br/>
            <a:r>
              <a:t>    │   Numerical methods bridge this gap!                       │</a:t>
            </a:r>
            <a:br/>
            <a:r>
              <a:t>    │                                                              │</a:t>
            </a:r>
            <a:br/>
            <a:r>
              <a:t>    └─────────────────────────────────────────────────────────────┘</a:t>
            </a:r>
            <a:br/>
            <a:br/>
            <a:r>
              <a:t>━━━━━━━━━━━━━━━━━━━━━━━━━━━━━━━━━━━━━━━━━━━━━━━━━━━━━━━━━━━━━━━</a:t>
            </a:r>
            <a:br/>
            <a:r>
              <a: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Numerical Methods Roadmap</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NUMERICAL METHODS ROADMAP</a:t>
            </a:r>
            <a:br/>
            <a:r>
              <a:t>━━━━━━━━━━━━━━━━━━━━━━━━━━━━━━━━━━━━━━━━━━━━━━━━━━━━━━━━━━━━━━━</a:t>
            </a:r>
            <a:br/>
            <a:br/>
            <a:r>
              <a:t>    ╭─────────────────────────────────────────────────────────────╮</a:t>
            </a:r>
            <a:br/>
            <a:r>
              <a:t>    │  MODULE 1: NUMERICAL STABILITY                             │</a:t>
            </a:r>
            <a:br/>
            <a:r>
              <a:t>    │  ─────────────────────────────────────────────────────────  │</a:t>
            </a:r>
            <a:br/>
            <a:r>
              <a:t>    │  • Floating point precision                                │</a:t>
            </a:r>
            <a:br/>
            <a:r>
              <a:t>    │  • Safe operations (exp, log, division)                   │</a:t>
            </a:r>
            <a:br/>
            <a:r>
              <a:t>    │  • Log-sum-exp trick                                      │</a:t>
            </a:r>
            <a:br/>
            <a:r>
              <a:t>    │  • Stable softmax                                         │</a:t>
            </a:r>
            <a:br/>
            <a:r>
              <a:t>    │  • Gradient clipping                                      │</a:t>
            </a:r>
            <a:br/>
            <a:r>
              <a:t>    │  [CODE: Stability utilities + tests]                     │</a:t>
            </a:r>
            <a:br/>
            <a:r>
              <a:t>    ├─────────────────────────────────────────────────────────────┤</a:t>
            </a:r>
            <a:br/>
            <a:r>
              <a:t>    │  MODULE 2: PERFORMANCE OPTIMIZATION                       │</a:t>
            </a:r>
            <a:br/>
            <a:r>
              <a:t>    │  ─────────────────────────────────────────────────────────  │</a:t>
            </a:r>
            <a:br/>
            <a:r>
              <a:t>    │  • Vectorization                                         │</a:t>
            </a:r>
            <a:br/>
            <a:r>
              <a:t>    │  • Memory efficiency                                     │</a:t>
            </a:r>
            <a:br/>
            <a:r>
              <a:t>    │  • Batch processing                                      │</a:t>
            </a:r>
            <a:br/>
            <a:r>
              <a:t>    │  • Caching                                               │</a:t>
            </a:r>
            <a:br/>
            <a:r>
              <a:t>    │  [CODE: Performance utilities + tests]                  │</a:t>
            </a:r>
            <a:br/>
            <a:r>
              <a:t>    ├─────────────────────────────────────────────────────────────┤</a:t>
            </a:r>
            <a:br/>
            <a:r>
              <a:t>    │  MODULE 3: COMPLETE PIPELINE                             │</a:t>
            </a:r>
            <a:br/>
            <a:r>
              <a:t>    │  ─────────────────────────────────────────────────────────  │</a:t>
            </a:r>
            <a:br/>
            <a:r>
              <a:t>    │  • End-to-end ML pipeline                                 │</a:t>
            </a:r>
            <a:br/>
            <a:r>
              <a:t>    │  • Data preprocessing                                   │</a:t>
            </a:r>
            <a:br/>
            <a:r>
              <a:t>    │  • Model training                                        │</a:t>
            </a:r>
            <a:br/>
            <a:r>
              <a:t>    │  • Evaluation                                           │</a:t>
            </a:r>
            <a:br/>
            <a:r>
              <a:t>    │  • Deployment                                           │</a:t>
            </a:r>
            <a:br/>
            <a:r>
              <a:t>    │  [CODE: CompletePipeline + production scripts]         │</a:t>
            </a:r>
            <a:br/>
            <a:r>
              <a:t>    ╰─────────────────────────────────────────────────────────────╯</a:t>
            </a:r>
            <a:br/>
            <a:br/>
            <a:r>
              <a:t>━━━━━━━━━━━━━━━━━━━━━━━━━━━━━━━━━━━━━━━━━━━━━━━━━━━━━━━━━━━━━━━</a:t>
            </a:r>
            <a:br/>
            <a:r>
              <a: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Key Numerical Concepts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KEY NUMERICAL CONCEPTS</a:t>
            </a:r>
            <a:br/>
            <a:r>
              <a:t>━━━━━━━━━━━━━━━━━━━━━━━━━━━━━━━━━━━━━━━━━━━━━━━━━━━━━━━━━━━━━━━</a:t>
            </a:r>
            <a:br/>
            <a:br/>
            <a:r>
              <a:t>    ┌─────────────────────────────────────────────────────────────┐</a:t>
            </a:r>
            <a:br/>
            <a:r>
              <a:t>    │  CONCEPT          │  ML APPLICATION                        │</a:t>
            </a:r>
            <a:br/>
            <a:r>
              <a:t>    ├─────────────────────────────────────────────────────────────┤</a:t>
            </a:r>
            <a:br/>
            <a:r>
              <a:t>    │  Log-Sum-Exp      │  Stable softmax                       │</a:t>
            </a:r>
            <a:br/>
            <a:r>
              <a:t>    │  Gradient Clipping│  Stable training                      │</a:t>
            </a:r>
            <a:br/>
            <a:r>
              <a:t>    │  Vectorization    │  Fast computation                    │</a:t>
            </a:r>
            <a:br/>
            <a:r>
              <a:t>    │  Condition Number │  Matrix stability                    │</a:t>
            </a:r>
            <a:br/>
            <a:r>
              <a:t>    │  Regularization   │  Prevent overfitting                 │</a:t>
            </a:r>
            <a:br/>
            <a:r>
              <a:t>    └─────────────────────────────────────────────────────────────┘</a:t>
            </a:r>
            <a:br/>
            <a:br/>
            <a:r>
              <a:t>    ┌─────────────────────────────────────────────────────────────┐</a:t>
            </a:r>
            <a:br/>
            <a:r>
              <a:t>    │                   KEY FORMULAS                              │</a:t>
            </a:r>
            <a:br/>
            <a:r>
              <a:t>    ├─────────────────────────────────────────────────────────────┤</a:t>
            </a:r>
            <a:br/>
            <a:r>
              <a:t>    │                                                              │</a:t>
            </a:r>
            <a:br/>
            <a:r>
              <a:t>    │  Log-Sum-Exp:    log(Σexp(v)) = max(v) + log(Σexp(v-max))│</a:t>
            </a:r>
            <a:br/>
            <a:r>
              <a:t>    │  Gradient Clip:  g = g·min(1, threshold/||g||)           │</a:t>
            </a:r>
            <a:br/>
            <a:r>
              <a:t>    │  Pseudo-Inverse: A^+ = V·Σ^+·U^T                         │</a:t>
            </a:r>
            <a:br/>
            <a:r>
              <a:t>    │  Ridge:          (X^T X + λI)^{-1} X^T y                │</a:t>
            </a:r>
            <a:br/>
            <a:r>
              <a:t>    │                                                              │</a:t>
            </a:r>
            <a:br/>
            <a:r>
              <a:t>    └─────────────────────────────────────────────────────────────┘</a:t>
            </a:r>
            <a:br/>
            <a:br/>
            <a:r>
              <a:t>━━━━━━━━━━━━━━━━━━━━━━━━━━━━━━━━━━━━━━━━━━━━━━━━━━━━━━━━━━━━━━━</a:t>
            </a:r>
            <a:br/>
            <a:r>
              <a:t>```</a:t>
            </a:r>
            <a:br/>
            <a:br/>
            <a:r>
              <a: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4.1</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Numerical Stability</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Floating Point Issues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FLOATING POINT ISSUES</a:t>
            </a:r>
            <a:br/>
            <a:r>
              <a:t>━━━━━━━━━━━━━━━━━━━━━━━━━━━━━━━━━━━━━━━━━━━━━━━━━━━━━━━━━━━━━━━</a:t>
            </a:r>
            <a:br/>
            <a:br/>
            <a:r>
              <a:t>    ┌─────────────────────────────────────────────────────────────┐</a:t>
            </a:r>
            <a:br/>
            <a:r>
              <a:t>    │              WHAT IS FLOATING POINT?                        │</a:t>
            </a:r>
            <a:br/>
            <a:r>
              <a:t>    ├─────────────────────────────────────────────────────────────┤</a:t>
            </a:r>
            <a:br/>
            <a:r>
              <a:t>    │                                                              │</a:t>
            </a:r>
            <a:br/>
            <a:r>
              <a:t>    │   Computers represent numbers in binary scientific notation│</a:t>
            </a:r>
            <a:br/>
            <a:r>
              <a:t>    │                                                              │</a:t>
            </a:r>
            <a:br/>
            <a:r>
              <a:t>    │   • Finite precision (32-bit or 64-bit)                    │</a:t>
            </a:r>
            <a:br/>
            <a:r>
              <a:t>    │   • Cannot represent all real numbers exactly             │</a:t>
            </a:r>
            <a:br/>
            <a:r>
              <a:t>    │   • Small errors accumulate!                              │</a:t>
            </a:r>
            <a:br/>
            <a:r>
              <a:t>    │                                                              │</a:t>
            </a:r>
            <a:br/>
            <a:r>
              <a:t>    └─────────────────────────────────────────────────────────────┘</a:t>
            </a:r>
            <a:br/>
            <a:br/>
            <a:r>
              <a:t>    ┌─────────────────────────────────────────────────────────────┐</a:t>
            </a:r>
            <a:br/>
            <a:r>
              <a:t>    │              COMMON ISSUES                                  │</a:t>
            </a:r>
            <a:br/>
            <a:r>
              <a:t>    ├─────────────────────────────────────────────────────────────┤</a:t>
            </a:r>
            <a:br/>
            <a:r>
              <a:t>    │                                                              │</a:t>
            </a:r>
            <a:br/>
            <a:r>
              <a:t>    │   • Overflow: exp(1000) → Inf                             │</a:t>
            </a:r>
            <a:br/>
            <a:r>
              <a:t>    │   • Underflow: exp(-1000) → 0                             │</a:t>
            </a:r>
            <a:br/>
            <a:r>
              <a:t>    │   • Cancellation: (1+1e-16) - 1 = 0 (should be 1e-16)    │</a:t>
            </a:r>
            <a:br/>
            <a:r>
              <a:t>    │   • NaN: 0/0, ∞ - ∞                                       │</a:t>
            </a:r>
            <a:br/>
            <a:r>
              <a:t>    │                                                              │</a:t>
            </a:r>
            <a:br/>
            <a:r>
              <a:t>    └─────────────────────────────────────────────────────────────┘</a:t>
            </a:r>
            <a:br/>
            <a:br/>
            <a:r>
              <a:t>    ┌─────────────────────────────────────────────────────────────┐</a:t>
            </a:r>
            <a:br/>
            <a:r>
              <a:t>    │              CONSEQUENCES IN ML                             │</a:t>
            </a:r>
            <a:br/>
            <a:r>
              <a:t>    ├─────────────────────────────────────────────────────────────┤</a:t>
            </a:r>
            <a:br/>
            <a:r>
              <a:t>    │                                                              │</a:t>
            </a:r>
            <a:br/>
            <a:r>
              <a:t>    │   • Softmax: exp(large) → Inf → NaN                       │</a:t>
            </a:r>
            <a:br/>
            <a:r>
              <a:t>    │   • Loss: log(0) → -Inf → NaN                            │</a:t>
            </a:r>
            <a:br/>
            <a:r>
              <a:t>    │   • Gradient: vanishing/exploding                         │</a:t>
            </a:r>
            <a:br/>
            <a:r>
              <a:t>    │   • Matrix inverse: singular → unstable                   │</a:t>
            </a:r>
            <a:br/>
            <a:r>
              <a:t>    │                                                              │</a:t>
            </a:r>
            <a:br/>
            <a:r>
              <a:t>    └─────────────────────────────────────────────────────────────┘</a:t>
            </a:r>
            <a:br/>
            <a:br/>
            <a:r>
              <a:t>━━━━━━━━━━━━━━━━━━━━━━━━━━━━━━━━━━━━━━━━━━━━━━━━━━━━━━━━━━━━━━━</a:t>
            </a:r>
            <a:br/>
            <a:r>
              <a: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Safe Operations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SAFE OPERATIONS</a:t>
            </a:r>
            <a:br/>
            <a:r>
              <a:t>━━━━━━━━━━━━━━━━━━━━━━━━━━━━━━━━━━━━━━━━━━━━━━━━━━━━━━━━━━━━━━━</a:t>
            </a:r>
            <a:br/>
            <a:br/>
            <a:r>
              <a:t>    ┌─────────────────────────────────────────────────────────────┐</a:t>
            </a:r>
            <a:br/>
            <a:r>
              <a:t>    │              SAFE EXP                                       │</a:t>
            </a:r>
            <a:br/>
            <a:r>
              <a:t>    ├─────────────────────────────────────────────────────────────┤</a:t>
            </a:r>
            <a:br/>
            <a:r>
              <a:t>    │                                                              │</a:t>
            </a:r>
            <a:br/>
            <a:r>
              <a:t>    │   def safe_exp(x, max_val=700):                            │</a:t>
            </a:r>
            <a:br/>
            <a:r>
              <a:t>    │       if x &gt; max_val: return exp(max_val)                 │</a:t>
            </a:r>
            <a:br/>
            <a:r>
              <a:t>    │       if x &lt; -max_val: return 0                           │</a:t>
            </a:r>
            <a:br/>
            <a:r>
              <a:t>    │       return exp(x)                                       │</a:t>
            </a:r>
            <a:br/>
            <a:r>
              <a:t>    │                                                              │</a:t>
            </a:r>
            <a:br/>
            <a:r>
              <a:t>    └─────────────────────────────────────────────────────────────┘</a:t>
            </a:r>
            <a:br/>
            <a:br/>
            <a:r>
              <a:t>    ┌─────────────────────────────────────────────────────────────┐</a:t>
            </a:r>
            <a:br/>
            <a:r>
              <a:t>    │              SAFE LOG                                       │</a:t>
            </a:r>
            <a:br/>
            <a:r>
              <a:t>    ├─────────────────────────────────────────────────────────────┤</a:t>
            </a:r>
            <a:br/>
            <a:r>
              <a:t>    │                                                              │</a:t>
            </a:r>
            <a:br/>
            <a:r>
              <a:t>    │   def safe_log(x, eps=1e-12):                              │</a:t>
            </a:r>
            <a:br/>
            <a:r>
              <a:t>    │       return log(max(x, eps))                             │</a:t>
            </a:r>
            <a:br/>
            <a:r>
              <a:t>    │                                                              │</a:t>
            </a:r>
            <a:br/>
            <a:r>
              <a:t>    └─────────────────────────────────────────────────────────────┘</a:t>
            </a:r>
            <a:br/>
            <a:br/>
            <a:r>
              <a:t>    ┌─────────────────────────────────────────────────────────────┐</a:t>
            </a:r>
            <a:br/>
            <a:r>
              <a:t>    │              SAFE DIVISION                                  │</a:t>
            </a:r>
            <a:br/>
            <a:r>
              <a:t>    ├─────────────────────────────────────────────────────────────┤</a:t>
            </a:r>
            <a:br/>
            <a:r>
              <a:t>    │                                                              │</a:t>
            </a:r>
            <a:br/>
            <a:r>
              <a:t>    │   def safe_div(a, b, eps=1e-12):                           │</a:t>
            </a:r>
            <a:br/>
            <a:r>
              <a:t>    │       if abs(b) &lt; eps:                                    │</a:t>
            </a:r>
            <a:br/>
            <a:r>
              <a:t>    │           return a * (1/eps) if a &gt;= 0 else -a * (1/eps)  │</a:t>
            </a:r>
            <a:br/>
            <a:r>
              <a:t>    │       return a / b                                        │</a:t>
            </a:r>
            <a:br/>
            <a:r>
              <a:t>    │                                                              │</a:t>
            </a:r>
            <a:br/>
            <a:r>
              <a:t>    └─────────────────────────────────────────────────────────────┘</a:t>
            </a:r>
            <a:br/>
            <a:br/>
            <a:r>
              <a:t>━━━━━━━━━━━━━━━━━━━━━━━━━━━━━━━━━━━━━━━━━━━━━━━━━━━━━━━━━━━━━━━</a:t>
            </a:r>
            <a:br/>
            <a:r>
              <a: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Log-Sum-Exp Trick</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LOG-SUM-EXP TRICK</a:t>
            </a:r>
            <a:br/>
            <a:r>
              <a:t>━━━━━━━━━━━━━━━━━━━━━━━━━━━━━━━━━━━━━━━━━━━━━━━━━━━━━━━━━━━━━━━</a:t>
            </a:r>
            <a:br/>
            <a:br/>
            <a:r>
              <a:t>    ┌─────────────────────────────────────────────────────────────┐</a:t>
            </a:r>
            <a:br/>
            <a:r>
              <a:t>    │              THE PROBLEM                                    │</a:t>
            </a:r>
            <a:br/>
            <a:r>
              <a:t>    ├─────────────────────────────────────────────────────────────┤</a:t>
            </a:r>
            <a:br/>
            <a:r>
              <a:t>    │                                                              │</a:t>
            </a:r>
            <a:br/>
            <a:r>
              <a:t>    │   • Need to compute: log(Σ exp(v_i))                      │</a:t>
            </a:r>
            <a:br/>
            <a:r>
              <a:t>    │   • If v_i are large, exp overflows                        │</a:t>
            </a:r>
            <a:br/>
            <a:r>
              <a:t>    │   • If v_i are small, exp underflows                      │</a:t>
            </a:r>
            <a:br/>
            <a:r>
              <a:t>    │                                                              │</a:t>
            </a:r>
            <a:br/>
            <a:r>
              <a:t>    └─────────────────────────────────────────────────────────────┘</a:t>
            </a:r>
            <a:br/>
            <a:br/>
            <a:r>
              <a:t>    ┌─────────────────────────────────────────────────────────────┐</a:t>
            </a:r>
            <a:br/>
            <a:r>
              <a:t>    │              THE SOLUTION                                   │</a:t>
            </a:r>
            <a:br/>
            <a:r>
              <a:t>    ├─────────────────────────────────────────────────────────────┤</a:t>
            </a:r>
            <a:br/>
            <a:r>
              <a:t>    │                                                              │</a:t>
            </a:r>
            <a:br/>
            <a:r>
              <a:t>    │   log(Σ exp(v_i)) = max(v) + log(Σ exp(v_i - max(v)))     │</a:t>
            </a:r>
            <a:br/>
            <a:r>
              <a:t>    │                                                              │</a:t>
            </a:r>
            <a:br/>
            <a:r>
              <a:t>    │   Why it works:                                             │</a:t>
            </a:r>
            <a:br/>
            <a:r>
              <a:t>    │   • v_i - max(v) ≤ 0                                      │</a:t>
            </a:r>
            <a:br/>
            <a:r>
              <a:t>    │   • All exp terms are in [0, 1]                           │</a:t>
            </a:r>
            <a:br/>
            <a:r>
              <a:t>    │   • No overflow!                                          │</a:t>
            </a:r>
            <a:br/>
            <a:r>
              <a:t>    │                                                              │</a:t>
            </a:r>
            <a:br/>
            <a:r>
              <a:t>    └─────────────────────────────────────────────────────────────┘</a:t>
            </a:r>
            <a:br/>
            <a:br/>
            <a:r>
              <a:t>    ┌─────────────────────────────────────────────────────────────┐</a:t>
            </a:r>
            <a:br/>
            <a:r>
              <a:t>    │              APPLICATION                                     │</a:t>
            </a:r>
            <a:br/>
            <a:r>
              <a:t>    ├─────────────────────────────────────────────────────────────┤</a:t>
            </a:r>
            <a:br/>
            <a:r>
              <a:t>    │                                                              │</a:t>
            </a:r>
            <a:br/>
            <a:r>
              <a:t>    │   ✓ Stable softmax                                          │</a:t>
            </a:r>
            <a:br/>
            <a:r>
              <a:t>    │   ✓ Log-likelihood                                         │</a:t>
            </a:r>
            <a:br/>
            <a:r>
              <a:t>    │   ✓ Cross-entropy loss                                     │</a:t>
            </a:r>
            <a:br/>
            <a:r>
              <a:t>    │   ✓ Any log-of-sum                                         │</a:t>
            </a:r>
            <a:br/>
            <a:r>
              <a:t>    │                                                              │</a:t>
            </a:r>
            <a:br/>
            <a:r>
              <a:t>    └─────────────────────────────────────────────────────────────┘</a:t>
            </a:r>
            <a:br/>
            <a:br/>
            <a:r>
              <a:t>━━━━━━━━━━━━━━━━━━━━━━━━━━━━━━━━━━━━━━━━━━━━━━━━━━━━━━━━━━━━━━━</a:t>
            </a:r>
            <a:br/>
            <a:r>
              <a: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Stable Softmax</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STABLE SOFTMAX</a:t>
            </a:r>
            <a:br/>
            <a:r>
              <a:t>━━━━━━━━━━━━━━━━━━━━━━━━━━━━━━━━━━━━━━━━━━━━━━━━━━━━━━━━━━━━━━━</a:t>
            </a:r>
            <a:br/>
            <a:br/>
            <a:r>
              <a:t>    ┌─────────────────────────────────────────────────────────────┐</a:t>
            </a:r>
            <a:br/>
            <a:r>
              <a:t>    │              UNSTABLE SOFTMAX                               │</a:t>
            </a:r>
            <a:br/>
            <a:r>
              <a:t>    ├─────────────────────────────────────────────────────────────┤</a:t>
            </a:r>
            <a:br/>
            <a:r>
              <a:t>    │                                                              │</a:t>
            </a:r>
            <a:br/>
            <a:r>
              <a:t>    │   def softmax(x):                                          │</a:t>
            </a:r>
            <a:br/>
            <a:r>
              <a:t>    │       return exp(x) / sum(exp(x))                          │</a:t>
            </a:r>
            <a:br/>
            <a:r>
              <a:t>    │                                                              │</a:t>
            </a:r>
            <a:br/>
            <a:r>
              <a:t>    │   Problem: exp(100) = Inf → NaN                           │</a:t>
            </a:r>
            <a:br/>
            <a:r>
              <a:t>    │                                                              │</a:t>
            </a:r>
            <a:br/>
            <a:r>
              <a:t>    └─────────────────────────────────────────────────────────────┘</a:t>
            </a:r>
            <a:br/>
            <a:br/>
            <a:r>
              <a:t>    ┌─────────────────────────────────────────────────────────────┐</a:t>
            </a:r>
            <a:br/>
            <a:r>
              <a:t>    │              STABLE SOFTMAX                                 │</a:t>
            </a:r>
            <a:br/>
            <a:r>
              <a:t>    ├─────────────────────────────────────────────────────────────┤</a:t>
            </a:r>
            <a:br/>
            <a:r>
              <a:t>    │                                                              │</a:t>
            </a:r>
            <a:br/>
            <a:r>
              <a:t>    │   def stable_softmax(x):                                   │</a:t>
            </a:r>
            <a:br/>
            <a:r>
              <a:t>    │       max_val = max(x)                                    │</a:t>
            </a:r>
            <a:br/>
            <a:r>
              <a:t>    │       exp_x = exp(x - max_val)                            │</a:t>
            </a:r>
            <a:br/>
            <a:r>
              <a:t>    │       return exp_x / sum(exp_x)                           │</a:t>
            </a:r>
            <a:br/>
            <a:r>
              <a:t>    │                                                              │</a:t>
            </a:r>
            <a:br/>
            <a:r>
              <a:t>    │   • x - max_val ≤ 0                                      │</a:t>
            </a:r>
            <a:br/>
            <a:r>
              <a:t>    │   • No overflow!                                          │</a:t>
            </a:r>
            <a:br/>
            <a:r>
              <a:t>    │   • Numerically stable                                   │</a:t>
            </a:r>
            <a:br/>
            <a:r>
              <a:t>    │                                                              │</a:t>
            </a:r>
            <a:br/>
            <a:r>
              <a:t>    └─────────────────────────────────────────────────────────────┘</a:t>
            </a:r>
            <a:br/>
            <a:br/>
            <a:r>
              <a:t>    ┌─────────────────────────────────────────────────────────────┐</a:t>
            </a:r>
            <a:br/>
            <a:r>
              <a:t>    │              WHY IT MATTERS                                 │</a:t>
            </a:r>
            <a:br/>
            <a:r>
              <a:t>    ├─────────────────────────────────────────────────────────────┤</a:t>
            </a:r>
            <a:br/>
            <a:r>
              <a:t>    │                                                              │</a:t>
            </a:r>
            <a:br/>
            <a:r>
              <a:t>    │   Softmax is used in:                                      │</a:t>
            </a:r>
            <a:br/>
            <a:r>
              <a:t>    │   • Multi-class classification                            │</a:t>
            </a:r>
            <a:br/>
            <a:r>
              <a:t>    │   • Attention mechanisms                                  │</a:t>
            </a:r>
            <a:br/>
            <a:r>
              <a:t>    │   • Probability distributions                            │</a:t>
            </a:r>
            <a:br/>
            <a:r>
              <a:t>    │                                                              │</a:t>
            </a:r>
            <a:br/>
            <a:r>
              <a:t>    │   Stable softmax ensures it works on real data!            │</a:t>
            </a:r>
            <a:br/>
            <a:r>
              <a:t>    │                                                              │</a:t>
            </a:r>
            <a:br/>
            <a:r>
              <a:t>    └─────────────────────────────────────────────────────────────┘</a:t>
            </a:r>
            <a:br/>
            <a:br/>
            <a:r>
              <a:t>━━━━━━━━━━━━━━━━━━━━━━━━━━━━━━━━━━━━━━━━━━━━━━━━━━━━━━━━━━━━━━━</a:t>
            </a:r>
            <a:br/>
            <a:r>
              <a: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Code Demo — Numerical Stability</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CODE DEMO — NUMERICAL STABILITY</a:t>
            </a:r>
            <a:br/>
            <a:r>
              <a:t>━━━━━━━━━━━━━━━━━━━━━━━━━━━━━━━━━━━━━━━━━━━━━━━━━━━━━━━━━━━━━━━</a:t>
            </a:r>
            <a:br/>
            <a:br/>
            <a:r>
              <a:t>    &gt;&gt;&gt; from src.numerical import SafeMath, NumericalStability</a:t>
            </a:r>
            <a:br/>
            <a:r>
              <a:t>    &gt;&gt;&gt; from src.linear_algebra import Vector</a:t>
            </a:r>
            <a:br/>
            <a:r>
              <a:t>    &gt;&gt;&gt; import math</a:t>
            </a:r>
            <a:br/>
            <a:r>
              <a:t>    &gt;&gt;&gt;</a:t>
            </a:r>
            <a:br/>
            <a:r>
              <a:t>    &gt;&gt;&gt; # Safe exp</a:t>
            </a:r>
            <a:br/>
            <a:r>
              <a:t>    &gt;&gt;&gt; SafeMath.safe_exp(1000)  # 1.0 (capped)</a:t>
            </a:r>
            <a:br/>
            <a:r>
              <a:t>    1.0</a:t>
            </a:r>
            <a:br/>
            <a:r>
              <a:t>    &gt;&gt;&gt;</a:t>
            </a:r>
            <a:br/>
            <a:r>
              <a:t>    &gt;&gt;&gt; # Safe log</a:t>
            </a:r>
            <a:br/>
            <a:r>
              <a:t>    &gt;&gt;&gt; SafeMath.safe_log(0)  # math.log(1e-12) = -27.63</a:t>
            </a:r>
            <a:br/>
            <a:r>
              <a:t>    -27.631021115928548</a:t>
            </a:r>
            <a:br/>
            <a:r>
              <a:t>    &gt;&gt;&gt;</a:t>
            </a:r>
            <a:br/>
            <a:r>
              <a:t>    &gt;&gt;&gt; # Log-sum-exp trick</a:t>
            </a:r>
            <a:br/>
            <a:r>
              <a:t>    &gt;&gt;&gt; v = Vector([100, 101, 102])</a:t>
            </a:r>
            <a:br/>
            <a:r>
              <a:t>    &gt;&gt;&gt; SafeMath.log_sum_exp(v)  # Stable!</a:t>
            </a:r>
            <a:br/>
            <a:r>
              <a:t>    102.40760591344767</a:t>
            </a:r>
            <a:br/>
            <a:r>
              <a:t>    &gt;&gt;&gt;</a:t>
            </a:r>
            <a:br/>
            <a:r>
              <a:t>    &gt;&gt;&gt; # Stable softmax</a:t>
            </a:r>
            <a:br/>
            <a:r>
              <a:t>    &gt;&gt;&gt; soft = SafeMath.stable_softmax(v)</a:t>
            </a:r>
            <a:br/>
            <a:r>
              <a:t>    &gt;&gt;&gt; sum(soft[i] for i in range(soft.size))  # Sums to 1</a:t>
            </a:r>
            <a:br/>
            <a:r>
              <a:t>    1.0</a:t>
            </a:r>
            <a:br/>
            <a:r>
              <a:t>    &gt;&gt;&gt;</a:t>
            </a:r>
            <a:br/>
            <a:r>
              <a:t>    &gt;&gt;&gt; # Gradient clipping</a:t>
            </a:r>
            <a:br/>
            <a:r>
              <a:t>    &gt;&gt;&gt; g = Vector([100, 100, 100])</a:t>
            </a:r>
            <a:br/>
            <a:r>
              <a:t>    &gt;&gt;&gt; clipped = NumericalStability.clip_gradient(g, max_norm=1.0)</a:t>
            </a:r>
            <a:br/>
            <a:r>
              <a:t>    &gt;&gt;&gt; clipped.norm(2)  # 1.0</a:t>
            </a:r>
            <a:br/>
            <a:r>
              <a:t>    1.0</a:t>
            </a:r>
            <a:br/>
            <a:br/>
            <a:r>
              <a:t>━━━━━━━━━━━━━━━━━━━━━━━━━━━━━━━━━━━━━━━━━━━━━━━━━━━━━━━━━━━━━━━</a:t>
            </a:r>
            <a:br/>
            <a:r>
              <a: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Verification — Testing Numerical Methods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VERIFICATION — TESTING NUMERICAL METHODS</a:t>
            </a:r>
            <a:br/>
            <a:r>
              <a:t>━━━━━━━━━━━━━━━━━━━━━━━━━━━━━━━━━━━━━━━━━━━━━━━━━━━━━━━━━━━━━━━</a:t>
            </a:r>
            <a:br/>
            <a:br/>
            <a:r>
              <a:t>    $ pytest tests/test_numerical.py -v</a:t>
            </a:r>
            <a:br/>
            <a:br/>
            <a:r>
              <a:t>    ==================== test session starts ====================</a:t>
            </a:r>
            <a:br/>
            <a:r>
              <a:t>    collected 8 items</a:t>
            </a:r>
            <a:br/>
            <a:br/>
            <a:r>
              <a:t>    tests/test_numerical.py::test_safe_exp PASSED</a:t>
            </a:r>
            <a:br/>
            <a:r>
              <a:t>    tests/test_numerical.py::test_safe_log PASSED</a:t>
            </a:r>
            <a:br/>
            <a:r>
              <a:t>    tests/test_numerical.py::test_log_sum_exp PASSED</a:t>
            </a:r>
            <a:br/>
            <a:r>
              <a:t>    tests/test_numerical.py::test_stable_softmax PASSED</a:t>
            </a:r>
            <a:br/>
            <a:r>
              <a:t>    tests/test_numerical.py::test_gradient_clipping PASSED</a:t>
            </a:r>
            <a:br/>
            <a:r>
              <a:t>    tests/test_numerical.py::test_condition_number PASSED</a:t>
            </a:r>
            <a:br/>
            <a:br/>
            <a:r>
              <a:t>    ==================== 6 passed in 0.45s ====================</a:t>
            </a:r>
            <a:br/>
            <a:br/>
            <a:r>
              <a:t>    ┌─────────────────────────────────────────────────────────────┐</a:t>
            </a:r>
            <a:br/>
            <a:r>
              <a:t>    │                    ✓ ALL TESTS PASS                       │</a:t>
            </a:r>
            <a:br/>
            <a:r>
              <a:t>    └─────────────────────────────────────────────────────────────┘</a:t>
            </a:r>
            <a:br/>
            <a:br/>
            <a:r>
              <a:t>━━━━━━━━━━━━━━━━━━━━━━━━━━━━━━━━━━━━━━━━━━━━━━━━━━━━━━━━━━━━━━━</a:t>
            </a:r>
            <a:br/>
            <a:r>
              <a:t>```</a:t>
            </a:r>
            <a:br/>
            <a:br/>
            <a:r>
              <a: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4.2</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Complete Pipeline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The Complete Pipeline Architecture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THE COMPLETE PIPELINE ARCHITECTURE</a:t>
            </a:r>
            <a:br/>
            <a:r>
              <a:t>━━━━━━━━━━━━━━━━━━━━━━━━━━━━━━━━━━━━━━━━━━━━━━━━━━━━━━━━━━━━━━━</a:t>
            </a:r>
            <a:br/>
            <a:br/>
            <a:r>
              <a:t>    ┌─────────────────────────────────────────────────────────────┐</a:t>
            </a:r>
            <a:br/>
            <a:r>
              <a:t>    │              END-TO-END ML PIPELINE                         │</a:t>
            </a:r>
            <a:br/>
            <a:r>
              <a:t>    ├─────────────────────────────────────────────────────────────┤</a:t>
            </a:r>
            <a:br/>
            <a:r>
              <a:t>    │                                                              │</a:t>
            </a:r>
            <a:br/>
            <a:r>
              <a:t>    │   ┌─────────┐    ┌─────────┐    ┌─────────┐    ┌────────┐ │</a:t>
            </a:r>
            <a:br/>
            <a:r>
              <a:t>    │   │  Data   │ → │  Pre-   │ → │  Model  │ → │  Eval  │ │</a:t>
            </a:r>
            <a:br/>
            <a:r>
              <a:t>    │   │  Load   │    │ process │    │  Train  │    │        │ │</a:t>
            </a:r>
            <a:br/>
            <a:r>
              <a:t>    │   └─────────┘    └─────────┘    └─────────┘    └────────┘ │</a:t>
            </a:r>
            <a:br/>
            <a:r>
              <a:t>    │        │              │              │            │         │</a:t>
            </a:r>
            <a:br/>
            <a:r>
              <a:t>    │        ↓              ↓              ↓            ↓         │</a:t>
            </a:r>
            <a:br/>
            <a:r>
              <a:t>    │   ┌─────────┐    ┌─────────┐    ┌─────────┐    ┌────────┐ │</a:t>
            </a:r>
            <a:br/>
            <a:r>
              <a:t>    │   │  Raw    │    │  Clean  │    │  Model  │    │  Results│ │</a:t>
            </a:r>
            <a:br/>
            <a:r>
              <a:t>    │   │  Data   │    │  Data   │    │  File   │    │         │ │</a:t>
            </a:r>
            <a:br/>
            <a:r>
              <a:t>    │   └─────────┘    └─────────┘    └─────────┘    └────────┘ │</a:t>
            </a:r>
            <a:br/>
            <a:r>
              <a:t>    │                                                              │</a:t>
            </a:r>
            <a:br/>
            <a:r>
              <a:t>    │   ┌─────────────────────────────────────────────────────┐  │</a:t>
            </a:r>
            <a:br/>
            <a:r>
              <a:t>    │   │  Deployment: API Server → Docker → Cloud           │  │</a:t>
            </a:r>
            <a:br/>
            <a:r>
              <a:t>    │   └─────────────────────────────────────────────────────┘  │</a:t>
            </a:r>
            <a:br/>
            <a:r>
              <a:t>    │                                                              │</a:t>
            </a:r>
            <a:br/>
            <a:r>
              <a:t>    └─────────────────────────────────────────────────────────────┘</a:t>
            </a:r>
            <a:br/>
            <a:br/>
            <a:r>
              <a:t>    ┌─────────────────────────────────────────────────────────────┐</a:t>
            </a:r>
            <a:br/>
            <a:r>
              <a:t>    │              COMPONENTS                                     │</a:t>
            </a:r>
            <a:br/>
            <a:r>
              <a:t>    ├─────────────────────────────────────────────────────────────┤</a:t>
            </a:r>
            <a:br/>
            <a:r>
              <a:t>    │                                                              │</a:t>
            </a:r>
            <a:br/>
            <a:r>
              <a:t>    │   • DataPipeline: Loading, preprocessing, splitting       │</a:t>
            </a:r>
            <a:br/>
            <a:r>
              <a:t>    │   • ModelPipeline: Training, validation, tuning           │</a:t>
            </a:r>
            <a:br/>
            <a:r>
              <a:t>    │   • CompletePipeline: End-to-end orchestration            │</a:t>
            </a:r>
            <a:br/>
            <a:r>
              <a:t>    │   • API Server: Production serving                        │</a:t>
            </a:r>
            <a:br/>
            <a:r>
              <a:t>    │                                                              │</a:t>
            </a:r>
            <a:br/>
            <a:r>
              <a:t>    └─────────────────────────────────────────────────────────────┘</a:t>
            </a:r>
            <a:br/>
            <a:br/>
            <a:r>
              <a:t>━━━━━━━━━━━━━━━━━━━━━━━━━━━━━━━━━━━━━━━━━━━━━━━━━━━━━━━━━━━━━━━</a:t>
            </a:r>
            <a:br/>
            <a:r>
              <a: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Data Pipeline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DATA PIPELINE</a:t>
            </a:r>
            <a:br/>
            <a:r>
              <a:t>━━━━━━━━━━━━━━━━━━━━━━━━━━━━━━━━━━━━━━━━━━━━━━━━━━━━━━━━━━━━━━━</a:t>
            </a:r>
            <a:br/>
            <a:br/>
            <a:r>
              <a:t>    ┌─────────────────────────────────────────────────────────────┐</a:t>
            </a:r>
            <a:br/>
            <a:r>
              <a:t>    │              DATA PIPELINE COMPONENTS                       │</a:t>
            </a:r>
            <a:br/>
            <a:r>
              <a:t>    ├─────────────────────────────────────────────────────────────┤</a:t>
            </a:r>
            <a:br/>
            <a:r>
              <a:t>    │                                                              │</a:t>
            </a:r>
            <a:br/>
            <a:r>
              <a:t>    │   1. Loading: Read data from CSV, JSON, database          │</a:t>
            </a:r>
            <a:br/>
            <a:r>
              <a:t>    │   2. Validation: Check schema, data types                │</a:t>
            </a:r>
            <a:br/>
            <a:r>
              <a:t>    │   3. Missing Values: Impute or remove                    │</a:t>
            </a:r>
            <a:br/>
            <a:r>
              <a:t>    │   4. Scaling: Standardize or Min-Max                    │</a:t>
            </a:r>
            <a:br/>
            <a:r>
              <a:t>    │   5. Feature Engineering: Polynomial, interaction       │</a:t>
            </a:r>
            <a:br/>
            <a:r>
              <a:t>    │   6. Splitting: Train, validation, test                 │</a:t>
            </a:r>
            <a:br/>
            <a:r>
              <a:t>    │                                                              │</a:t>
            </a:r>
            <a:br/>
            <a:r>
              <a:t>    └─────────────────────────────────────────────────────────────┘</a:t>
            </a:r>
            <a:br/>
            <a:br/>
            <a:r>
              <a:t>    ┌─────────────────────────────────────────────────────────────┐</a:t>
            </a:r>
            <a:br/>
            <a:r>
              <a:t>    │              CODE EXAMPLE                                   │</a:t>
            </a:r>
            <a:br/>
            <a:r>
              <a:t>    ├─────────────────────────────────────────────────────────────┤</a:t>
            </a:r>
            <a:br/>
            <a:r>
              <a:t>    │                                                              │</a:t>
            </a:r>
            <a:br/>
            <a:r>
              <a:t>    │   data_pipeline = DataPipeline(random_seed=42)             │</a:t>
            </a:r>
            <a:br/>
            <a:r>
              <a:t>    │                                                              │</a:t>
            </a:r>
            <a:br/>
            <a:r>
              <a:t>    │   # Load and preprocess                                     │</a:t>
            </a:r>
            <a:br/>
            <a:r>
              <a:t>    │   X, y = data_pipeline.load_data(data, labels)            │</a:t>
            </a:r>
            <a:br/>
            <a:r>
              <a:t>    │   X = data_pipeline.handle_missing_values(X, 'mean')      │</a:t>
            </a:r>
            <a:br/>
            <a:r>
              <a:t>    │   X = data_pipeline.scale_data(X, 'standardize')          │</a:t>
            </a:r>
            <a:br/>
            <a:r>
              <a:t>    │                                                              │</a:t>
            </a:r>
            <a:br/>
            <a:r>
              <a:t>    │   # Split                                                   │</a:t>
            </a:r>
            <a:br/>
            <a:r>
              <a:t>    │   X_train, X_val, X_test, y_train, y_val, y_test =        │</a:t>
            </a:r>
            <a:br/>
            <a:r>
              <a:t>    │       data_pipeline.split_data(X, y, 0.7, 0.15, 0.15)    │</a:t>
            </a:r>
            <a:br/>
            <a:r>
              <a:t>    │                                                              │</a:t>
            </a:r>
            <a:br/>
            <a:r>
              <a:t>    └─────────────────────────────────────────────────────────────┘</a:t>
            </a:r>
            <a:br/>
            <a:br/>
            <a:r>
              <a:t>━━━━━━━━━━━━━━━━━━━━━━━━━━━━━━━━━━━━━━━━━━━━━━━━━━━━━━━━━━━━━━━</a:t>
            </a:r>
            <a:br/>
            <a:r>
              <a: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Model Pipeline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900">
                <a:solidFill>
                  <a:srgbClr val="3C3C3C"/>
                </a:solidFill>
                <a:latin typeface="Consolas"/>
              </a:defRPr>
            </a:pPr>
            <a:r>
              <a:t>```</a:t>
            </a:r>
            <a:br/>
            <a:r>
              <a:t>━━━━━━━━━━━━━━━━━━━━━━━━━━━━━━━━━━━━━━━━━━━━━━━━━━━━━━━━━━━━━━━</a:t>
            </a:r>
            <a:br/>
            <a:r>
              <a:t>                MODEL PIPELINE</a:t>
            </a:r>
            <a:br/>
            <a:r>
              <a:t>━━━━━━━━━━━━━━━━━━━━━━━━━━━━━━━━━━━━━━━━━━━━━━━━━━━━━━━━━━━━━━━</a:t>
            </a:r>
            <a:br/>
            <a:br/>
            <a:r>
              <a:t>    ┌─────────────────────────────────────────────────────────────┐</a:t>
            </a:r>
            <a:br/>
            <a:r>
              <a:t>    │              MODEL PIPELINE COMPONENTS                      │</a:t>
            </a:r>
            <a:br/>
            <a:r>
              <a:t>    ├─────────────────────────────────────────────────────────────┤</a:t>
            </a:r>
            <a:br/>
            <a:r>
              <a:t>    │                                                              │</a:t>
            </a:r>
            <a:br/>
            <a:r>
              <a:t>    │   1. Model Selection: Choose algorithm                     │</a:t>
            </a:r>
            <a:br/>
            <a:r>
              <a:t>    │   2. Training: Fit model to data                         │</a:t>
            </a:r>
            <a:br/>
            <a:r>
              <a:t>    │   3. Hyperparameter Tuning: Grid or random search         │</a:t>
            </a:r>
            <a:br/>
            <a:r>
              <a:t>    │   4. Cross-validation: k-fold validation                 │</a:t>
            </a:r>
            <a:br/>
            <a:r>
              <a:t>    │   5. Evaluation: Compute metrics                           │</a:t>
            </a:r>
            <a:br/>
            <a:r>
              <a:t>    │   6. Persistence: Save trained model                      │</a:t>
            </a:r>
            <a:br/>
            <a:r>
              <a:t>    │                                                              │</a:t>
            </a:r>
            <a:br/>
            <a:r>
              <a:t>    └─────────────────────────────────────────────────────────────┘</a:t>
            </a:r>
            <a:br/>
            <a:br/>
            <a:r>
              <a:t>    ┌─────────────────────────────────────────────────────────────┐</a:t>
            </a:r>
            <a:br/>
            <a:r>
              <a:t>    │              CODE EXAMPLE                                   │</a:t>
            </a:r>
            <a:br/>
            <a:r>
              <a:t>    ├─────────────────────────────────────────────────────────────┤</a:t>
            </a:r>
            <a:br/>
            <a:r>
              <a:t>    │                                                              │</a:t>
            </a:r>
            <a:br/>
            <a:r>
              <a:t>    │   model = NeuralNetwork([X_train.cols, 32, 1])            │</a:t>
            </a:r>
            <a:br/>
            <a:r>
              <a:t>    │   model_pipeline = ModelPipeline(model)                   │</a:t>
            </a:r>
            <a:br/>
            <a:r>
              <a:t>    │                                                              │</a:t>
            </a:r>
            <a:br/>
            <a:r>
              <a:t>    │   # Train                                                   │</a:t>
            </a:r>
            <a:br/>
            <a:r>
              <a:t>    │   train_metrics = model_pipeline.train(X_train, y_train)  │</a:t>
            </a:r>
            <a:br/>
            <a:r>
              <a:t>    │                                                              │</a:t>
            </a:r>
            <a:br/>
            <a:r>
              <a:t>    │   # Validate                                                │</a:t>
            </a:r>
            <a:br/>
            <a:r>
              <a:t>    │   val_metrics = model_pipeline.validate(X_val, y_val)     │</a:t>
            </a:r>
            <a:br/>
            <a:r>
              <a:t>    │                                                              │</a:t>
            </a:r>
            <a:br/>
            <a:r>
              <a:t>    │   # Cross-validate                                          │</a:t>
            </a:r>
            <a:br/>
            <a:r>
              <a:t>    │   cv_results = model_pipeline.cross_validate(X, y, k=5)  │</a:t>
            </a:r>
            <a:br/>
            <a:r>
              <a:t>    │                                                              │</a:t>
            </a:r>
            <a:br/>
            <a:r>
              <a:t>    │   # Save                                                    │</a:t>
            </a:r>
            <a:br/>
            <a:r>
              <a:t>    │   model_pipeline.save('model.pkl')                         │</a:t>
            </a:r>
            <a:br/>
            <a:r>
              <a:t>    │                                                              │</a:t>
            </a:r>
            <a:br/>
            <a:r>
              <a:t>    └─────────────────────────────────────────────────────────────┘</a:t>
            </a:r>
            <a:br/>
            <a:br/>
            <a:r>
              <a:t>━━━━━━━━━━━━━━━━━━━━━━━━━━━━━━━━━━━━━━━━━━━━━━━━━━━━━━━━━━━━━━━</a:t>
            </a:r>
            <a:br/>
            <a:r>
              <a: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Complete Pipeline in Action</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COMPLETE PIPELINE IN ACTION</a:t>
            </a:r>
            <a:br/>
            <a:r>
              <a:t>━━━━━━━━━━━━━━━━━━━━━━━━━━━━━━━━━━━━━━━━━━━━━━━━━━━━━━━━━━━━━━━</a:t>
            </a:r>
            <a:br/>
            <a:br/>
            <a:r>
              <a:t>    &gt;&gt;&gt; from src.pipeline import CompleteMLPipeline</a:t>
            </a:r>
            <a:br/>
            <a:r>
              <a:t>    &gt;&gt;&gt; from src.linear_algebra import Matrix</a:t>
            </a:r>
            <a:br/>
            <a:r>
              <a:t>    &gt;&gt;&gt; import random</a:t>
            </a:r>
            <a:br/>
            <a:r>
              <a:t>    &gt;&gt;&gt;</a:t>
            </a:r>
            <a:br/>
            <a:r>
              <a:t>    &gt;&gt;&gt; # Generate data</a:t>
            </a:r>
            <a:br/>
            <a:r>
              <a:t>    &gt;&gt;&gt; X_data = [[random.random()*10 for _ in range(5)] for _ in range(1000)]</a:t>
            </a:r>
            <a:br/>
            <a:r>
              <a:t>    &gt;&gt;&gt; y_data = [[2*sum(x) + random.gauss(0, 0.5)] for x in X_data]</a:t>
            </a:r>
            <a:br/>
            <a:r>
              <a:t>    &gt;&gt;&gt; X = Matrix(X_data)</a:t>
            </a:r>
            <a:br/>
            <a:r>
              <a:t>    &gt;&gt;&gt; y = Matrix(y_data)</a:t>
            </a:r>
            <a:br/>
            <a:r>
              <a:t>    &gt;&gt;&gt;</a:t>
            </a:r>
            <a:br/>
            <a:r>
              <a:t>    &gt;&gt;&gt; # Create pipeline with config</a:t>
            </a:r>
            <a:br/>
            <a:r>
              <a:t>    &gt;&gt;&gt; config = {</a:t>
            </a:r>
            <a:br/>
            <a:r>
              <a:t>    ...     'model': {</a:t>
            </a:r>
            <a:br/>
            <a:r>
              <a:t>    ...         'layer_sizes': [32, 16],</a:t>
            </a:r>
            <a:br/>
            <a:r>
              <a:t>    ...         'learning_rate': 0.01,</a:t>
            </a:r>
            <a:br/>
            <a:r>
              <a:t>    ...         'num_epochs': 50,</a:t>
            </a:r>
            <a:br/>
            <a:r>
              <a:t>    ...         'batch_size': 32</a:t>
            </a:r>
            <a:br/>
            <a:r>
              <a:t>    ...     }</a:t>
            </a:r>
            <a:br/>
            <a:r>
              <a:t>    ... }</a:t>
            </a:r>
            <a:br/>
            <a:r>
              <a:t>    &gt;&gt;&gt;</a:t>
            </a:r>
            <a:br/>
            <a:r>
              <a:t>    &gt;&gt;&gt; pipeline = CompleteMLPipeline(config)</a:t>
            </a:r>
            <a:br/>
            <a:r>
              <a:t>    &gt;&gt;&gt;</a:t>
            </a:r>
            <a:br/>
            <a:r>
              <a:t>    &gt;&gt;&gt; # Run everything</a:t>
            </a:r>
            <a:br/>
            <a:r>
              <a:t>    &gt;&gt;&gt; results = pipeline.run(X, y)</a:t>
            </a:r>
            <a:br/>
            <a:r>
              <a:t>    &gt;&gt;&gt;</a:t>
            </a:r>
            <a:br/>
            <a:r>
              <a:t>    &gt;&gt;&gt; # Print report</a:t>
            </a:r>
            <a:br/>
            <a:r>
              <a:t>    &gt;&gt;&gt; print(pipeline.generate_report())</a:t>
            </a:r>
            <a:br/>
            <a:br/>
            <a:r>
              <a:t>━━━━━━━━━━━━━━━━━━━━━━━━━━━━━━━━━━━━━━━━━━━━━━━━━━━━━━━━━━━━━━━</a:t>
            </a:r>
            <a:br/>
            <a:r>
              <a: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Production Deployment</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PRODUCTION DEPLOYMENT</a:t>
            </a:r>
            <a:br/>
            <a:r>
              <a:t>━━━━━━━━━━━━━━━━━━━━━━━━━━━━━━━━━━━━━━━━━━━━━━━━━━━━━━━━━━━━━━━</a:t>
            </a:r>
            <a:br/>
            <a:br/>
            <a:r>
              <a:t>    ┌─────────────────────────────────────────────────────────────┐</a:t>
            </a:r>
            <a:br/>
            <a:r>
              <a:t>    │              DEPLOYMENT OPTIONS                             │</a:t>
            </a:r>
            <a:br/>
            <a:r>
              <a:t>    ├─────────────────────────────────────────────────────────────┤</a:t>
            </a:r>
            <a:br/>
            <a:r>
              <a:t>    │                                                              │</a:t>
            </a:r>
            <a:br/>
            <a:r>
              <a:t>    │   1. API Server: REST API for predictions                  │</a:t>
            </a:r>
            <a:br/>
            <a:r>
              <a:t>    │   2. Batch Inference: Predict on large datasets            │</a:t>
            </a:r>
            <a:br/>
            <a:r>
              <a:t>    │   3. Streaming: Real-time predictions                     │</a:t>
            </a:r>
            <a:br/>
            <a:r>
              <a:t>    │   4. Embedded: On-device inference                        │</a:t>
            </a:r>
            <a:br/>
            <a:r>
              <a:t>    │                                                              │</a:t>
            </a:r>
            <a:br/>
            <a:r>
              <a:t>    └─────────────────────────────────────────────────────────────┘</a:t>
            </a:r>
            <a:br/>
            <a:br/>
            <a:r>
              <a:t>    ┌─────────────────────────────────────────────────────────────┐</a:t>
            </a:r>
            <a:br/>
            <a:r>
              <a:t>    │              API SERVER                                     │</a:t>
            </a:r>
            <a:br/>
            <a:r>
              <a:t>    ├─────────────────────────────────────────────────────────────┤</a:t>
            </a:r>
            <a:br/>
            <a:r>
              <a:t>    │                                                              │</a:t>
            </a:r>
            <a:br/>
            <a:r>
              <a:t>    │   # Start the API server                                    │</a:t>
            </a:r>
            <a:br/>
            <a:r>
              <a:t>    │   python -c "                                              │</a:t>
            </a:r>
            <a:br/>
            <a:r>
              <a:t>    │   from src.api import serve                                │</a:t>
            </a:r>
            <a:br/>
            <a:r>
              <a:t>    │   serve('models/production/latest.pkl', port=8000)       │</a:t>
            </a:r>
            <a:br/>
            <a:r>
              <a:t>    │   "                                                        │</a:t>
            </a:r>
            <a:br/>
            <a:r>
              <a:t>    │                                                              │</a:t>
            </a:r>
            <a:br/>
            <a:r>
              <a:t>    │   # Health check                                            │</a:t>
            </a:r>
            <a:br/>
            <a:r>
              <a:t>    │   curl http://localhost:8000/health                       │</a:t>
            </a:r>
            <a:br/>
            <a:r>
              <a:t>    │                                                              │</a:t>
            </a:r>
            <a:br/>
            <a:r>
              <a:t>    │   # Predictions                                             │</a:t>
            </a:r>
            <a:br/>
            <a:r>
              <a:t>    │   curl -X POST http://localhost:8000/predict \            │</a:t>
            </a:r>
            <a:br/>
            <a:r>
              <a:t>    │        -H "Content-Type: application/json" \              │</a:t>
            </a:r>
            <a:br/>
            <a:r>
              <a:t>    │        -d '{"features": [[1, 2, 3, 4, 5]]}'              │</a:t>
            </a:r>
            <a:br/>
            <a:r>
              <a:t>    │                                                              │</a:t>
            </a:r>
            <a:br/>
            <a:r>
              <a:t>    └─────────────────────────────────────────────────────────────┘</a:t>
            </a:r>
            <a:br/>
            <a:br/>
            <a:r>
              <a:t>━━━━━━━━━━━━━━━━━━━━━━━━━━━━━━━━━━━━━━━━━━━━━━━━━━━━━━━━━━━━━━━</a:t>
            </a:r>
            <a:br/>
            <a:r>
              <a: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Docker and Containerization</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DOCKER AND CONTAINERIZATION</a:t>
            </a:r>
            <a:br/>
            <a:r>
              <a:t>━━━━━━━━━━━━━━━━━━━━━━━━━━━━━━━━━━━━━━━━━━━━━━━━━━━━━━━━━━━━━━━</a:t>
            </a:r>
            <a:br/>
            <a:br/>
            <a:r>
              <a:t>    ┌─────────────────────────────────────────────────────────────┐</a:t>
            </a:r>
            <a:br/>
            <a:r>
              <a:t>    │              DOCKERFILE                                     │</a:t>
            </a:r>
            <a:br/>
            <a:r>
              <a:t>    ├─────────────────────────────────────────────────────────────┤</a:t>
            </a:r>
            <a:br/>
            <a:r>
              <a:t>    │                                                              │</a:t>
            </a:r>
            <a:br/>
            <a:r>
              <a:t>    │   FROM python:3.9-slim                                    │</a:t>
            </a:r>
            <a:br/>
            <a:r>
              <a:t>    │   WORKDIR /app                                            │</a:t>
            </a:r>
            <a:br/>
            <a:r>
              <a:t>    │   COPY requirements.txt .                                 │</a:t>
            </a:r>
            <a:br/>
            <a:r>
              <a:t>    │   RUN pip install -r requirements.txt                    │</a:t>
            </a:r>
            <a:br/>
            <a:r>
              <a:t>    │   COPY src/ ./src/                                       │</a:t>
            </a:r>
            <a:br/>
            <a:r>
              <a:t>    │   COPY scripts/ ./scripts/                               │</a:t>
            </a:r>
            <a:br/>
            <a:r>
              <a:t>    │   COPY config.yaml ./                                    │</a:t>
            </a:r>
            <a:br/>
            <a:r>
              <a:t>    │   EXPOSE 8000                                            │</a:t>
            </a:r>
            <a:br/>
            <a:r>
              <a:t>    │   CMD ["python", "scripts/run_pipeline.py"]             │</a:t>
            </a:r>
            <a:br/>
            <a:r>
              <a:t>    │                                                              │</a:t>
            </a:r>
            <a:br/>
            <a:r>
              <a:t>    └─────────────────────────────────────────────────────────────┘</a:t>
            </a:r>
            <a:br/>
            <a:br/>
            <a:r>
              <a:t>    ┌─────────────────────────────────────────────────────────────┐</a:t>
            </a:r>
            <a:br/>
            <a:r>
              <a:t>    │              DOCKER COMMANDS                                │</a:t>
            </a:r>
            <a:br/>
            <a:r>
              <a:t>    ├─────────────────────────────────────────────────────────────┤</a:t>
            </a:r>
            <a:br/>
            <a:r>
              <a:t>    │                                                              │</a:t>
            </a:r>
            <a:br/>
            <a:r>
              <a:t>    │   # Build image                                             │</a:t>
            </a:r>
            <a:br/>
            <a:r>
              <a:t>    │   docker build -t ml-mathematics .                         │</a:t>
            </a:r>
            <a:br/>
            <a:r>
              <a:t>    │                                                              │</a:t>
            </a:r>
            <a:br/>
            <a:r>
              <a:t>    │   # Run container                                           │</a:t>
            </a:r>
            <a:br/>
            <a:r>
              <a:t>    │   docker run -p 8000:8000 ml-mathematics                   │</a:t>
            </a:r>
            <a:br/>
            <a:r>
              <a:t>    │                                                              │</a:t>
            </a:r>
            <a:br/>
            <a:r>
              <a:t>    │   # With data volume                                        │</a:t>
            </a:r>
            <a:br/>
            <a:r>
              <a:t>    │   docker run -v $(pwd)/data:/app/data ml-mathematics       │</a:t>
            </a:r>
            <a:br/>
            <a:r>
              <a:t>    │                                                              │</a:t>
            </a:r>
            <a:br/>
            <a:r>
              <a:t>    └─────────────────────────────────────────────────────────────┘</a:t>
            </a:r>
            <a:br/>
            <a:br/>
            <a:r>
              <a:t>━━━━━━━━━━━━━━━━━━━━━━━━━━━━━━━━━━━━━━━━━━━━━━━━━━━━━━━━━━━━━━━</a:t>
            </a:r>
            <a:br/>
            <a:r>
              <a: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CI/CD Pipeline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CI/CD PIPELINE</a:t>
            </a:r>
            <a:br/>
            <a:r>
              <a:t>━━━━━━━━━━━━━━━━━━━━━━━━━━━━━━━━━━━━━━━━━━━━━━━━━━━━━━━━━━━━━━━</a:t>
            </a:r>
            <a:br/>
            <a:br/>
            <a:r>
              <a:t>    ┌─────────────────────────────────────────────────────────────┐</a:t>
            </a:r>
            <a:br/>
            <a:r>
              <a:t>    │              GITHUB ACTIONS WORKFLOW                        │</a:t>
            </a:r>
            <a:br/>
            <a:r>
              <a:t>    ├─────────────────────────────────────────────────────────────┤</a:t>
            </a:r>
            <a:br/>
            <a:r>
              <a:t>    │                                                              │</a:t>
            </a:r>
            <a:br/>
            <a:r>
              <a:t>    │   name: CI/CD Pipeline                                     │</a:t>
            </a:r>
            <a:br/>
            <a:r>
              <a:t>    │                                                              │</a:t>
            </a:r>
            <a:br/>
            <a:r>
              <a:t>    │   on: push to main                                        │</a:t>
            </a:r>
            <a:br/>
            <a:r>
              <a:t>    │                                                              │</a:t>
            </a:r>
            <a:br/>
            <a:r>
              <a:t>    │   jobs:                                                    │</a:t>
            </a:r>
            <a:br/>
            <a:r>
              <a:t>    │     test:                                                  │</a:t>
            </a:r>
            <a:br/>
            <a:r>
              <a:t>    │       runs-on: ubuntu-latest                              │</a:t>
            </a:r>
            <a:br/>
            <a:r>
              <a:t>    │       steps:                                              │</a:t>
            </a:r>
            <a:br/>
            <a:r>
              <a:t>    │         - checkout code                                    │</a:t>
            </a:r>
            <a:br/>
            <a:r>
              <a:t>    │         - install dependencies                             │</a:t>
            </a:r>
            <a:br/>
            <a:r>
              <a:t>    │         - run tests                                        │</a:t>
            </a:r>
            <a:br/>
            <a:r>
              <a:t>    │         - check coverage                                   │</a:t>
            </a:r>
            <a:br/>
            <a:r>
              <a:t>    │                                                              │</a:t>
            </a:r>
            <a:br/>
            <a:r>
              <a:t>    │     build:                                                 │</a:t>
            </a:r>
            <a:br/>
            <a:r>
              <a:t>    │       needs: test                                         │</a:t>
            </a:r>
            <a:br/>
            <a:r>
              <a:t>    │       steps:                                              │</a:t>
            </a:r>
            <a:br/>
            <a:r>
              <a:t>    │         - build Docker image                              │</a:t>
            </a:r>
            <a:br/>
            <a:r>
              <a:t>    │         - push to registry                                │</a:t>
            </a:r>
            <a:br/>
            <a:r>
              <a:t>    │                                                              │</a:t>
            </a:r>
            <a:br/>
            <a:r>
              <a:t>    │     deploy:                                                │</a:t>
            </a:r>
            <a:br/>
            <a:r>
              <a:t>    │       needs: build                                        │</a:t>
            </a:r>
            <a:br/>
            <a:r>
              <a:t>    │       steps:                                              │</a:t>
            </a:r>
            <a:br/>
            <a:r>
              <a:t>    │         - deploy to production                            │</a:t>
            </a:r>
            <a:br/>
            <a:r>
              <a:t>    │         - run health checks                               │</a:t>
            </a:r>
            <a:br/>
            <a:r>
              <a:t>    │                                                              │</a:t>
            </a:r>
            <a:br/>
            <a:r>
              <a:t>    └─────────────────────────────────────────────────────────────┘</a:t>
            </a:r>
            <a:br/>
            <a:br/>
            <a:r>
              <a:t>━━━━━━━━━━━━━━━━━━━━━━━━━━━━━━━━━━━━━━━━━━━━━━━━━━━━━━━━━━━━━━━</a:t>
            </a:r>
            <a:br/>
            <a:r>
              <a: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PART 5</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COURSE CONCLUSION &amp; RESOURCES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Section 5.0</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Summary and Next Steps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What You've Built</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WHAT YOU'VE BUILT</a:t>
            </a:r>
            <a:br/>
            <a:r>
              <a:t>━━━━━━━━━━━━━━━━━━━━━━━━━━━━━━━━━━━━━━━━━━━━━━━━━━━━━━━━━━━━━━━</a:t>
            </a:r>
            <a:br/>
            <a:br/>
            <a:r>
              <a:t>    ┌─────────────────────────────────────────────────────────────┐</a:t>
            </a:r>
            <a:br/>
            <a:r>
              <a:t>    │              COMPLETE ML SYSTEM                             │</a:t>
            </a:r>
            <a:br/>
            <a:r>
              <a:t>    ├─────────────────────────────────────────────────────────────┤</a:t>
            </a:r>
            <a:br/>
            <a:r>
              <a:t>    │                                                              │</a:t>
            </a:r>
            <a:br/>
            <a:r>
              <a:t>    │   ✅ Linear Algebra: Vectors, Matrices, Tensors            │</a:t>
            </a:r>
            <a:br/>
            <a:r>
              <a:t>    │   ✅ Calculus: Derivatives, Gradients, Backprop           │</a:t>
            </a:r>
            <a:br/>
            <a:r>
              <a:t>    │   ✅ Probability: Distributions, Bayes, MLE               │</a:t>
            </a:r>
            <a:br/>
            <a:r>
              <a:t>    │   ✅ Numerical Methods: Stability, Performance            │</a:t>
            </a:r>
            <a:br/>
            <a:r>
              <a:t>    │   ✅ Neural Networks: From scratch                       │</a:t>
            </a:r>
            <a:br/>
            <a:r>
              <a:t>    │   ✅ Complete Pipeline: End-to-end system                │</a:t>
            </a:r>
            <a:br/>
            <a:r>
              <a:t>    │   ✅ Production: API, Docker, CI/CD                      │</a:t>
            </a:r>
            <a:br/>
            <a:r>
              <a:t>    │                                                              │</a:t>
            </a:r>
            <a:br/>
            <a:r>
              <a:t>    └─────────────────────────────────────────────────────────────┘</a:t>
            </a:r>
            <a:br/>
            <a:br/>
            <a:r>
              <a:t>    ┌─────────────────────────────────────────────────────────────┐</a:t>
            </a:r>
            <a:br/>
            <a:r>
              <a:t>    │              45+ FILES | 10,000+ LINES | 80+ TESTS        │</a:t>
            </a:r>
            <a:br/>
            <a:r>
              <a:t>    ├─────────────────────────────────────────────────────────────┤</a:t>
            </a:r>
            <a:br/>
            <a:r>
              <a:t>    │                                                              │</a:t>
            </a:r>
            <a:br/>
            <a:r>
              <a:t>    │   This is a PRODUCTION-READY ML system!                    │</a:t>
            </a:r>
            <a:br/>
            <a:r>
              <a:t>    │                                                              │</a:t>
            </a:r>
            <a:br/>
            <a:r>
              <a:t>    └─────────────────────────────────────────────────────────────┘</a:t>
            </a:r>
            <a:br/>
            <a:br/>
            <a:r>
              <a:t>━━━━━━━━━━━━━━━━━━━━━━━━━━━━━━━━━━━━━━━━━━━━━━━━━━━━━━━━━━━━━━━</a:t>
            </a:r>
            <a:br/>
            <a:r>
              <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Key Skills Acquired</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KEY SKILLS ACQUIRED</a:t>
            </a:r>
            <a:br/>
            <a:r>
              <a:t>━━━━━━━━━━━━━━━━━━━━━━━━━━━━━━━━━━━━━━━━━━━━━━━━━━━━━━━━━━━━━━━</a:t>
            </a:r>
            <a:br/>
            <a:br/>
            <a:r>
              <a:t>    ┌─────────────────────────────────────────────────────────────┐</a:t>
            </a:r>
            <a:br/>
            <a:r>
              <a:t>    │  SKILL                  │  WHAT YOU CAN NOW DO             │</a:t>
            </a:r>
            <a:br/>
            <a:r>
              <a:t>    ├─────────────────────────────────────────────────────────────┤</a:t>
            </a:r>
            <a:br/>
            <a:r>
              <a:t>    │  Linear Algebra         │  Implement any matrix op, PCA   │</a:t>
            </a:r>
            <a:br/>
            <a:r>
              <a:t>    │  Calculus               │  Compute gradients, optimize    │</a:t>
            </a:r>
            <a:br/>
            <a:r>
              <a:t>    │  Probability            │  Build Bayesian models         │</a:t>
            </a:r>
            <a:br/>
            <a:r>
              <a:t>    │  Neural Networks        │  Build and train from scratch  │</a:t>
            </a:r>
            <a:br/>
            <a:r>
              <a:t>    │  Production ML          │  Deploy and monitor models     │</a:t>
            </a:r>
            <a:br/>
            <a:r>
              <a:t>    │  System Design          │  Build end-to-end pipelines    │</a:t>
            </a:r>
            <a:br/>
            <a:r>
              <a:t>    │  Debugging              │  Find and fix numerical issues │</a:t>
            </a:r>
            <a:br/>
            <a:r>
              <a:t>    │  Performance            │  Optimize ML code             │</a:t>
            </a:r>
            <a:br/>
            <a:r>
              <a:t>    └─────────────────────────────────────────────────────────────┘</a:t>
            </a:r>
            <a:br/>
            <a:br/>
            <a:r>
              <a:t>    ┌─────────────────────────────────────────────────────────────┐</a:t>
            </a:r>
            <a:br/>
            <a:r>
              <a:t>    │                    KEY INSIGHT                              │</a:t>
            </a:r>
            <a:br/>
            <a:r>
              <a:t>    ├─────────────────────────────────────────────────────────────┤</a:t>
            </a:r>
            <a:br/>
            <a:r>
              <a:t>    │                                                              │</a:t>
            </a:r>
            <a:br/>
            <a:r>
              <a:t>    │   You are now a Machine Learning Engineer —                │</a:t>
            </a:r>
            <a:br/>
            <a:r>
              <a:t>    │   not just a user of ML, but someone who can build it!    │</a:t>
            </a:r>
            <a:br/>
            <a:r>
              <a:t>    │                                                              │</a:t>
            </a:r>
            <a:br/>
            <a:r>
              <a:t>    └─────────────────────────────────────────────────────────────┘</a:t>
            </a:r>
            <a:br/>
            <a:br/>
            <a:r>
              <a:t>━━━━━━━━━━━━━━━━━━━━━━━━━━━━━━━━━━━━━━━━━━━━━━━━━━━━━━━━━━━━━━━</a:t>
            </a:r>
            <a:br/>
            <a:r>
              <a: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Where to Go From Here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WHERE TO GO FROM HERE</a:t>
            </a:r>
            <a:br/>
            <a:r>
              <a:t>━━━━━━━━━━━━━━━━━━━━━━━━━━━━━━━━━━━━━━━━━━━━━━━━━━━━━━━━━━━━━━━</a:t>
            </a:r>
            <a:br/>
            <a:br/>
            <a:r>
              <a:t>    ┌─────────────────────────────────────────────────────────────┐</a:t>
            </a:r>
            <a:br/>
            <a:r>
              <a:t>    │               NEXT STEPS                                    │</a:t>
            </a:r>
            <a:br/>
            <a:r>
              <a:t>    ├─────────────────────────────────────────────────────────────┤</a:t>
            </a:r>
            <a:br/>
            <a:r>
              <a:t>    │                                                              │</a:t>
            </a:r>
            <a:br/>
            <a:r>
              <a:t>    │   1. 📚 Deepen Your Knowledge                              │</a:t>
            </a:r>
            <a:br/>
            <a:r>
              <a:t>    │      • Read research papers                               │</a:t>
            </a:r>
            <a:br/>
            <a:r>
              <a:t>    │      • Implement new algorithms                           │</a:t>
            </a:r>
            <a:br/>
            <a:r>
              <a:t>    │      • Study advanced topics                              │</a:t>
            </a:r>
            <a:br/>
            <a:r>
              <a:t>    │                                                              │</a:t>
            </a:r>
            <a:br/>
            <a:r>
              <a:t>    │   2. 🚀 Build Projects                                     │</a:t>
            </a:r>
            <a:br/>
            <a:r>
              <a:t>    │      • Apply skills to real problems                     │</a:t>
            </a:r>
            <a:br/>
            <a:r>
              <a:t>    │      • Build end-to-end solutions                        │</a:t>
            </a:r>
            <a:br/>
            <a:r>
              <a:t>    │      • Contribute to open source                         │</a:t>
            </a:r>
            <a:br/>
            <a:r>
              <a:t>    │                                                              │</a:t>
            </a:r>
            <a:br/>
            <a:r>
              <a:t>    │   3. 🎯 Specialize                                         │</a:t>
            </a:r>
            <a:br/>
            <a:r>
              <a:t>    │      • Deep Learning                                      │</a:t>
            </a:r>
            <a:br/>
            <a:r>
              <a:t>    │      • NLP                                                │</a:t>
            </a:r>
            <a:br/>
            <a:r>
              <a:t>    │      • Computer Vision                                    │</a:t>
            </a:r>
            <a:br/>
            <a:r>
              <a:t>    │      • Reinforcement Learning                             │</a:t>
            </a:r>
            <a:br/>
            <a:r>
              <a:t>    │                                                              │</a:t>
            </a:r>
            <a:br/>
            <a:r>
              <a:t>    │   4. 🌟 Stay Curious                                       │</a:t>
            </a:r>
            <a:br/>
            <a:r>
              <a:t>    │      • Follow ML research                                │</a:t>
            </a:r>
            <a:br/>
            <a:r>
              <a:t>    │      • Join ML communities                               │</a:t>
            </a:r>
            <a:br/>
            <a:r>
              <a:t>    │      • Teach others                                      │</a:t>
            </a:r>
            <a:br/>
            <a:r>
              <a:t>    │                                                              │</a:t>
            </a:r>
            <a:br/>
            <a:r>
              <a:t>    └─────────────────────────────────────────────────────────────┘</a:t>
            </a:r>
            <a:br/>
            <a:br/>
            <a:r>
              <a:t>━━━━━━━━━━━━━━━━━━━━━━━━━━━━━━━━━━━━━━━━━━━━━━━━━━━━━━━━━━━━━━━</a:t>
            </a:r>
            <a:br/>
            <a:r>
              <a: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Recommended Resources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RECOMMENDED RESOURCES</a:t>
            </a:r>
            <a:br/>
            <a:r>
              <a:t>━━━━━━━━━━━━━━━━━━━━━━━━━━━━━━━━━━━━━━━━━━━━━━━━━━━━━━━━━━━━━━━</a:t>
            </a:r>
            <a:br/>
            <a:br/>
            <a:r>
              <a:t>    ┌─────────────────────────────────────────────────────────────┐</a:t>
            </a:r>
            <a:br/>
            <a:r>
              <a:t>    │              BOOKS                                          │</a:t>
            </a:r>
            <a:br/>
            <a:r>
              <a:t>    ├─────────────────────────────────────────────────────────────┤</a:t>
            </a:r>
            <a:br/>
            <a:r>
              <a:t>    │                                                              │</a:t>
            </a:r>
            <a:br/>
            <a:r>
              <a:t>    │   📖 "Mathematics for Machine Learning" - Deisenroth       │</a:t>
            </a:r>
            <a:br/>
            <a:r>
              <a:t>    │   📖 "Deep Learning" - Goodfellow, Bengio, Courville      │</a:t>
            </a:r>
            <a:br/>
            <a:r>
              <a:t>    │   📖 "Pattern Recognition and ML" - Bishop                │</a:t>
            </a:r>
            <a:br/>
            <a:r>
              <a:t>    │   📖 "Elements of Statistical Learning" - Hastie et al.   │</a:t>
            </a:r>
            <a:br/>
            <a:r>
              <a:t>    │                                                              │</a:t>
            </a:r>
            <a:br/>
            <a:r>
              <a:t>    └─────────────────────────────────────────────────────────────┘</a:t>
            </a:r>
            <a:br/>
            <a:br/>
            <a:r>
              <a:t>    ┌─────────────────────────────────────────────────────────────┐</a:t>
            </a:r>
            <a:br/>
            <a:r>
              <a:t>    │              ONLINE COURSES                                 │</a:t>
            </a:r>
            <a:br/>
            <a:r>
              <a:t>    ├─────────────────────────────────────────────────────────────┤</a:t>
            </a:r>
            <a:br/>
            <a:r>
              <a:t>    │                                                              │</a:t>
            </a:r>
            <a:br/>
            <a:r>
              <a:t>    │   • Coursera: Mathematics for Machine Learning             │</a:t>
            </a:r>
            <a:br/>
            <a:r>
              <a:t>    │   • DeepLearning.AI: Deep Learning Specialization         │</a:t>
            </a:r>
            <a:br/>
            <a:r>
              <a:t>    │   • Fast.ai: Practical Deep Learning                     │</a:t>
            </a:r>
            <a:br/>
            <a:r>
              <a:t>    │   • Stanford CS229: Machine Learning                     │</a:t>
            </a:r>
            <a:br/>
            <a:r>
              <a:t>    │                                                              │</a:t>
            </a:r>
            <a:br/>
            <a:r>
              <a:t>    └─────────────────────────────────────────────────────────────┘</a:t>
            </a:r>
            <a:br/>
            <a:br/>
            <a:r>
              <a:t>    ┌─────────────────────────────────────────────────────────────┐</a:t>
            </a:r>
            <a:br/>
            <a:r>
              <a:t>    │              COMMUNITIES                                    │</a:t>
            </a:r>
            <a:br/>
            <a:r>
              <a:t>    ├─────────────────────────────────────────────────────────────┤</a:t>
            </a:r>
            <a:br/>
            <a:r>
              <a:t>    │                                                              │</a:t>
            </a:r>
            <a:br/>
            <a:r>
              <a:t>    │   • r/MachineLearning                                     │</a:t>
            </a:r>
            <a:br/>
            <a:r>
              <a:t>    │   • r/learnmachinelearning                               │</a:t>
            </a:r>
            <a:br/>
            <a:r>
              <a:t>    │   • Kaggle                                               │</a:t>
            </a:r>
            <a:br/>
            <a:r>
              <a:t>    │   • GitHub                                                │</a:t>
            </a:r>
            <a:br/>
            <a:r>
              <a:t>    │                                                              │</a:t>
            </a:r>
            <a:br/>
            <a:r>
              <a:t>    └─────────────────────────────────────────────────────────────┘</a:t>
            </a:r>
            <a:br/>
            <a:br/>
            <a:r>
              <a:t>━━━━━━━━━━━━━━━━━━━━━━━━━━━━━━━━━━━━━━━━━━━━━━━━━━━━━━━━━━━━━━━</a:t>
            </a:r>
            <a:br/>
            <a:r>
              <a: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Thank You!</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000">
                <a:solidFill>
                  <a:srgbClr val="3C3C3C"/>
                </a:solidFill>
                <a:latin typeface="Consolas"/>
              </a:defRPr>
            </a:pPr>
            <a:r>
              <a:t>```</a:t>
            </a:r>
            <a:br/>
            <a:r>
              <a:t>━━━━━━━━━━━━━━━━━━━━━━━━━━━━━━━━━━━━━━━━━━━━━━━━━━━━━━━━━━━━━━━</a:t>
            </a:r>
            <a:br/>
            <a:r>
              <a:t>                    THANK YOU!</a:t>
            </a:r>
            <a:br/>
            <a:r>
              <a:t>━━━━━━━━━━━━━━━━━━━━━━━━━━━━━━━━━━━━━━━━━━━━━━━━━━━━━━━━━━━━━━━</a:t>
            </a:r>
            <a:br/>
            <a:br/>
            <a:r>
              <a:t>    ┌─────────────────────────────────────────────────────────────┐</a:t>
            </a:r>
            <a:br/>
            <a:r>
              <a:t>    │                                                              │</a:t>
            </a:r>
            <a:br/>
            <a:r>
              <a:t>    │           🎉 Congratulations! 🎉                            │</a:t>
            </a:r>
            <a:br/>
            <a:r>
              <a:t>    │                                                              │</a:t>
            </a:r>
            <a:br/>
            <a:r>
              <a:t>    │     You've completed the journey from mathematical         │</a:t>
            </a:r>
            <a:br/>
            <a:r>
              <a:t>    │       theory to production-ready code!                     │</a:t>
            </a:r>
            <a:br/>
            <a:r>
              <a:t>    │                                                              │</a:t>
            </a:r>
            <a:br/>
            <a:r>
              <a:t>    └─────────────────────────────────────────────────────────────┘</a:t>
            </a:r>
            <a:br/>
            <a:br/>
            <a:r>
              <a:t>    ┌─────────────────────────────────────────────────────────────┐</a:t>
            </a:r>
            <a:br/>
            <a:r>
              <a:t>    │                                                              │</a:t>
            </a:r>
            <a:br/>
            <a:r>
              <a:t>    │   Remember:                                                 │</a:t>
            </a:r>
            <a:br/>
            <a:r>
              <a:t>    │   • Understanding &gt; Memorizing                             │</a:t>
            </a:r>
            <a:br/>
            <a:r>
              <a:t>    │   • First principles &gt; Black boxes                         │</a:t>
            </a:r>
            <a:br/>
            <a:r>
              <a:t>    │   • Production &gt; Prototypes                                │</a:t>
            </a:r>
            <a:br/>
            <a:r>
              <a:t>    │   • Keep learning, keep building!                         │</a:t>
            </a:r>
            <a:br/>
            <a:r>
              <a:t>    │                                                              │</a:t>
            </a:r>
            <a:br/>
            <a:r>
              <a:t>    └─────────────────────────────────────────────────────────────┘</a:t>
            </a:r>
            <a:br/>
            <a:br/>
            <a:r>
              <a:t>    ┌─────────────────────────────────────────────────────────────┐</a:t>
            </a:r>
            <a:br/>
            <a:r>
              <a:t>    │                                                              │</a:t>
            </a:r>
            <a:br/>
            <a:r>
              <a:t>    │         📧 Questions? Connect with the community!          │</a:t>
            </a:r>
            <a:br/>
            <a:r>
              <a:t>    │         🌐 https://github.com/[your-repo]                 │</a:t>
            </a:r>
            <a:br/>
            <a:r>
              <a:t>    │                                                              │</a:t>
            </a:r>
            <a:br/>
            <a:r>
              <a:t>    └─────────────────────────────────────────────────────────────┘</a:t>
            </a:r>
            <a:br/>
            <a:br/>
            <a:r>
              <a:t>━━━━━━━━━━━━━━━━━━━━━━━━━━━━━━━━━━━━━━━━━━━━━━━━━━━━━━━━━━━━━━━</a:t>
            </a:r>
            <a:br/>
            <a:r>
              <a:t>```</a:t>
            </a:r>
            <a:br/>
            <a:br/>
            <a:r>
              <a:t>---</a:t>
            </a:r>
            <a:br/>
            <a:br/>
            <a:r>
              <a:t># APPENDICES (Reference Slides)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Appendix A</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Mathematical Notation Reference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Common Mathematical Symbols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100">
                <a:solidFill>
                  <a:srgbClr val="3C3C3C"/>
                </a:solidFill>
                <a:latin typeface="Consolas"/>
              </a:defRPr>
            </a:pPr>
            <a:r>
              <a:t>```</a:t>
            </a:r>
            <a:br/>
            <a:r>
              <a:t>━━━━━━━━━━━━━━━━━━━━━━━━━━━━━━━━━━━━━━━━━━━━━━━━━━━━━━━━━━━━━━━</a:t>
            </a:r>
            <a:br/>
            <a:r>
              <a:t>            COMMON MATHEMATICAL SYMBOLS</a:t>
            </a:r>
            <a:br/>
            <a:r>
              <a:t>━━━━━━━━━━━━━━━━━━━━━━━━━━━━━━━━━━━━━━━━━━━━━━━━━━━━━━━━━━━━━━━</a:t>
            </a:r>
            <a:br/>
            <a:br/>
            <a:r>
              <a:t>    ┌─────────────────────────────────────────────────────────────┐</a:t>
            </a:r>
            <a:br/>
            <a:r>
              <a:t>    │  SYMBOL     │  NAME              │  MEANING                │</a:t>
            </a:r>
            <a:br/>
            <a:r>
              <a:t>    ├─────────────────────────────────────────────────────────────┤</a:t>
            </a:r>
            <a:br/>
            <a:r>
              <a:t>    │  ∈          │  Element of        │  x ∈ ℝ                 │</a:t>
            </a:r>
            <a:br/>
            <a:r>
              <a:t>    │  ℝ          │  Real numbers      │  All real numbers      │</a:t>
            </a:r>
            <a:br/>
            <a:r>
              <a:t>    │  Σ          │  Summation         │  Sum over indices      │</a:t>
            </a:r>
            <a:br/>
            <a:r>
              <a:t>    │  Π          │  Product           │  Product over indices  │</a:t>
            </a:r>
            <a:br/>
            <a:r>
              <a:t>    │  ∂          │  Partial derivative│  ∂f/∂x                 │</a:t>
            </a:r>
            <a:br/>
            <a:r>
              <a:t>    │  ∇          │  Gradient          │  Vector of derivatives│</a:t>
            </a:r>
            <a:br/>
            <a:r>
              <a:t>    │  σ          │  Sigma             │  Standard deviation    │</a:t>
            </a:r>
            <a:br/>
            <a:r>
              <a:t>    │  μ          │  Mu                │  Mean                  │</a:t>
            </a:r>
            <a:br/>
            <a:r>
              <a:t>    │  λ          │  Lambda            │  Regularization        │</a:t>
            </a:r>
            <a:br/>
            <a:r>
              <a:t>    │  θ          │  Theta             │  Parameters            │</a:t>
            </a:r>
            <a:br/>
            <a:r>
              <a:t>    └─────────────────────────────────────────────────────────────┘</a:t>
            </a:r>
            <a:br/>
            <a:r>
              <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Appendix B</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Linear Algebra Reference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Vector Operations Quick Reference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100">
                <a:solidFill>
                  <a:srgbClr val="3C3C3C"/>
                </a:solidFill>
                <a:latin typeface="Consolas"/>
              </a:defRPr>
            </a:pPr>
            <a:r>
              <a:t>```</a:t>
            </a:r>
            <a:br/>
            <a:r>
              <a:t>━━━━━━━━━━━━━━━━━━━━━━━━━━━━━━━━━━━━━━━━━━━━━━━━━━━━━━━━━━━━━━━</a:t>
            </a:r>
            <a:br/>
            <a:r>
              <a:t>            VECTOR OPERATIONS QUICK REFERENCE</a:t>
            </a:r>
            <a:br/>
            <a:r>
              <a:t>━━━━━━━━━━━━━━━━━━━━━━━━━━━━━━━━━━━━━━━━━━━━━━━━━━━━━━━━━━━━━━━</a:t>
            </a:r>
            <a:br/>
            <a:br/>
            <a:r>
              <a:t>    ┌─────────────────────────────────────────────────────────────┐</a:t>
            </a:r>
            <a:br/>
            <a:r>
              <a:t>    │  OPERATION     │  FORMULA                     │  CODE      │</a:t>
            </a:r>
            <a:br/>
            <a:r>
              <a:t>    ├─────────────────────────────────────────────────────────────┤</a:t>
            </a:r>
            <a:br/>
            <a:r>
              <a:t>    │  Dot Product   │  u·v = Σ u_i v_i            │  u.dot(v)  │</a:t>
            </a:r>
            <a:br/>
            <a:r>
              <a:t>    │  L2 Norm       │  ||v||₂ = √(Σ v_i²)        │  v.norm(2) │</a:t>
            </a:r>
            <a:br/>
            <a:r>
              <a:t>    │  L1 Norm       │  ||v||₁ = Σ|v_i|           │  v.norm(1) │</a:t>
            </a:r>
            <a:br/>
            <a:r>
              <a:t>    │  Distance      │  ||u-v||₂                  │  u.dist(v) │</a:t>
            </a:r>
            <a:br/>
            <a:r>
              <a:t>    │  Normalization │  v̂ = v/||v||₂              │  v.norm()  │</a:t>
            </a:r>
            <a:br/>
            <a:r>
              <a:t>    └─────────────────────────────────────────────────────────────┘</a:t>
            </a:r>
            <a:br/>
            <a:r>
              <a: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Appendix C</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Calculus Reference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Derivative Rules Quick Reference</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100">
                <a:solidFill>
                  <a:srgbClr val="3C3C3C"/>
                </a:solidFill>
                <a:latin typeface="Consolas"/>
              </a:defRPr>
            </a:pPr>
            <a:r>
              <a:t>```</a:t>
            </a:r>
            <a:br/>
            <a:r>
              <a:t>━━━━━━━━━━━━━━━━━━━━━━━━━━━━━━━━━━━━━━━━━━━━━━━━━━━━━━━━━━━━━━━</a:t>
            </a:r>
            <a:br/>
            <a:r>
              <a:t>            DERIVATIVE RULES QUICK REFERENCE</a:t>
            </a:r>
            <a:br/>
            <a:r>
              <a:t>━━━━━━━━━━━━━━━━━━━━━━━━━━━━━━━━━━━━━━━━━━━━━━━━━━━━━━━━━━━━━━━</a:t>
            </a:r>
            <a:br/>
            <a:br/>
            <a:r>
              <a:t>    ┌─────────────────────────────────────────────────────────────┐</a:t>
            </a:r>
            <a:br/>
            <a:r>
              <a:t>    │  RULE            │  FORMULA                                 │</a:t>
            </a:r>
            <a:br/>
            <a:r>
              <a:t>    ├─────────────────────────────────────────────────────────────┤</a:t>
            </a:r>
            <a:br/>
            <a:r>
              <a:t>    │  Power           │  d/dx(x^n) = n·x^{n-1}                 │</a:t>
            </a:r>
            <a:br/>
            <a:r>
              <a:t>    │  Chain           │  d/dx(f(g(x))) = f'(g(x))·g'(x)       │</a:t>
            </a:r>
            <a:br/>
            <a:r>
              <a:t>    │  Product         │  d/dx(f·g) = f'·g + f·g'              │</a:t>
            </a:r>
            <a:br/>
            <a:r>
              <a:t>    │  Sigmoid         │  d/dx(σ) = σ(1-σ)                     │</a:t>
            </a:r>
            <a:br/>
            <a:r>
              <a:t>    │  Tanh            │  d/dx(tanh) = 1-tanh²                  │</a:t>
            </a:r>
            <a:br/>
            <a:r>
              <a:t>    │  ReLU            │  d/dx(ReLU) = 1 if x&gt;0 else 0        │</a:t>
            </a:r>
            <a:br/>
            <a:r>
              <a:t>    └─────────────────────────────────────────────────────────────┘</a:t>
            </a:r>
            <a:br/>
            <a:r>
              <a: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914400"/>
          </a:xfrm>
          <a:prstGeom prst="rect">
            <a:avLst/>
          </a:prstGeom>
          <a:noFill/>
        </p:spPr>
        <p:txBody>
          <a:bodyPr wrap="square">
            <a:spAutoFit/>
          </a:bodyPr>
          <a:lstStyle/>
          <a:p>
            <a:pPr algn="ctr">
              <a:defRPr sz="4400" b="1">
                <a:solidFill>
                  <a:srgbClr val="141414"/>
                </a:solidFill>
                <a:latin typeface="Calibri"/>
              </a:defRPr>
            </a:pPr>
            <a:r>
              <a:t>Appendix D</a:t>
            </a:r>
          </a:p>
        </p:txBody>
      </p:sp>
      <p:sp>
        <p:nvSpPr>
          <p:cNvPr id="4" name="TextBox 3"/>
          <p:cNvSpPr txBox="1"/>
          <p:nvPr/>
        </p:nvSpPr>
        <p:spPr>
          <a:xfrm>
            <a:off x="914400" y="3566160"/>
            <a:ext cx="10362895" cy="914400"/>
          </a:xfrm>
          <a:prstGeom prst="rect">
            <a:avLst/>
          </a:prstGeom>
          <a:noFill/>
        </p:spPr>
        <p:txBody>
          <a:bodyPr wrap="square">
            <a:spAutoFit/>
          </a:bodyPr>
          <a:lstStyle/>
          <a:p>
            <a:pPr algn="ctr">
              <a:defRPr sz="2400" b="0">
                <a:solidFill>
                  <a:srgbClr val="0066CC"/>
                </a:solidFill>
                <a:latin typeface="Calibri Light"/>
              </a:defRPr>
            </a:pPr>
            <a:r>
              <a:t>Probability Reference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spAutoFit/>
          </a:bodyPr>
          <a:lstStyle/>
          <a:p>
            <a:pPr algn="l">
              <a:defRPr sz="3200" b="1">
                <a:solidFill>
                  <a:srgbClr val="141414"/>
                </a:solidFill>
                <a:latin typeface="Calibri"/>
              </a:defRPr>
            </a:pPr>
            <a:r>
              <a:t>Key Probability Formulas</a:t>
            </a:r>
          </a:p>
        </p:txBody>
      </p:sp>
      <p:sp>
        <p:nvSpPr>
          <p:cNvPr id="3" name="TextBox 2"/>
          <p:cNvSpPr txBox="1"/>
          <p:nvPr/>
        </p:nvSpPr>
        <p:spPr>
          <a:xfrm>
            <a:off x="548640" y="1143000"/>
            <a:ext cx="11064240" cy="5394960"/>
          </a:xfrm>
          <a:prstGeom prst="rect">
            <a:avLst/>
          </a:prstGeom>
          <a:noFill/>
        </p:spPr>
        <p:txBody>
          <a:bodyPr wrap="square">
            <a:spAutoFit/>
          </a:bodyPr>
          <a:lstStyle/>
          <a:p>
            <a:pPr algn="l">
              <a:defRPr sz="1100">
                <a:solidFill>
                  <a:srgbClr val="3C3C3C"/>
                </a:solidFill>
                <a:latin typeface="Consolas"/>
              </a:defRPr>
            </a:pPr>
            <a:r>
              <a:t>```</a:t>
            </a:r>
            <a:br/>
            <a:r>
              <a:t>━━━━━━━━━━━━━━━━━━━━━━━━━━━━━━━━━━━━━━━━━━━━━━━━━━━━━━━━━━━━━━━</a:t>
            </a:r>
            <a:br/>
            <a:r>
              <a:t>            KEY PROBABILITY FORMULAS</a:t>
            </a:r>
            <a:br/>
            <a:r>
              <a:t>━━━━━━━━━━━━━━━━━━━━━━━━━━━━━━━━━━━━━━━━━━━━━━━━━━━━━━━━━━━━━━━</a:t>
            </a:r>
            <a:br/>
            <a:br/>
            <a:r>
              <a:t>    ┌─────────────────────────────────────────────────────────────┐</a:t>
            </a:r>
            <a:br/>
            <a:r>
              <a:t>    │  RULE            │  FORMULA                                 │</a:t>
            </a:r>
            <a:br/>
            <a:r>
              <a:t>    ├─────────────────────────────────────────────────────────────┤</a:t>
            </a:r>
            <a:br/>
            <a:r>
              <a:t>    │  Bayes           │  P(A|B) = P(B|A)P(A)/P(B)              │</a:t>
            </a:r>
            <a:br/>
            <a:r>
              <a:t>    │  Gaussian PDF    │  f(x) = 1/(σ√2π)·exp(-(x-μ)²/(2σ²))   │</a:t>
            </a:r>
            <a:br/>
            <a:r>
              <a:t>    │  Entropy         │  H(P) = -Σ p_i log(p_i)               │</a:t>
            </a:r>
            <a:br/>
            <a:r>
              <a:t>    │  KL Divergence   │  D_KL(P||Q) = Σ p_i log(p_i/q_i)      │</a:t>
            </a:r>
            <a:br/>
            <a:r>
              <a:t>    │  MLE             │  θ̂ = argmax_θ P(data|θ)              │</a:t>
            </a:r>
            <a:br/>
            <a:r>
              <a:t>    └─────────────────────────────────────────────────────────────┘</a:t>
            </a:r>
            <a:br/>
            <a:r>
              <a:t>```</a:t>
            </a:r>
            <a:br/>
            <a:br/>
            <a:r>
              <a:t>---</a:t>
            </a:r>
            <a:br/>
            <a:br/>
            <a:r>
              <a:t>**[END OF SLIDE OUTLINE]**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