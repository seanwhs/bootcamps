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A1A1A"/>
                </a:solidFill>
                <a:latin typeface="Helvetica Neue"/>
              </a:defRPr>
            </a:pPr>
            <a:r>
              <a:t>AI Tutorial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666666"/>
                </a:solidFill>
                <a:latin typeface="Helvetica Neue"/>
              </a:defRPr>
            </a:pPr>
            <a:r>
              <a:t>Developer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49039"/>
            <a:ext cx="18288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From "AI Magic" to Engineering Reality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Helvetica Neue"/>
              </a:defRPr>
            </a:pPr>
            <a:r>
              <a:t>Course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9728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  <a:latin typeface="Helvetica Neue"/>
              </a:defRPr>
            </a:pPr>
            <a:r>
              <a:t>•  Target Audience: Software engineers (1–5 years), technical product managers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  <a:latin typeface="Helvetica Neue"/>
              </a:defRPr>
            </a:pPr>
            <a:r>
              <a:t>•  Prerequisites: Basic Python, CLI, REST APIs, JSON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  <a:latin typeface="Helvetica Neue"/>
              </a:defRPr>
            </a:pPr>
            <a:r>
              <a:t>•  Format: Instructor-led or self-paced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  <a:latin typeface="Helvetica Neue"/>
              </a:defRPr>
            </a:pPr>
            <a:r>
              <a:t>•  Duration: 7 Phases × 3–4 hours ≈ 24–28 hours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  <a:latin typeface="Helvetica Neue"/>
              </a:defRPr>
            </a:pPr>
            <a:r>
              <a:t>•  Delivery: Lectures + hands-on coding + 8 capstone projects</a:t>
            </a:r>
          </a:p>
          <a:p>
            <a:pPr>
              <a:spcAft>
                <a:spcPts val="1400"/>
              </a:spcAft>
              <a:defRPr sz="2000">
                <a:solidFill>
                  <a:srgbClr val="666666"/>
                </a:solidFill>
                <a:latin typeface="Helvetica Neue"/>
              </a:defRPr>
            </a:pPr>
            <a:r>
              <a:t>•  Philosophy: Understand by building, not just reading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F8A"/>
                </a:solidFill>
                <a:latin typeface="Helvetica Neue"/>
              </a:defRPr>
            </a:pPr>
            <a:r>
              <a:t>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Understanding How LLMs Actually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3716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Modules 1–4  ·  Tokens · Embeddings · Inference · Context Windows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Phase 1: Core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LLMs are pattern-matching machines, not thinking entities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Transformers (Attention Is All You Need, 2017) made modern AI possible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Tokens: the atomic unit of text (~0.75 words each); token count = cost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Embeddings: vectors that capture semantic meaning mathematically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Inference: predict next token → softmax → temperature / top-k / top-p sampling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Temperature = creativity dial (0 = deterministic, 1+ = creative)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Context window = short-term memory; manage it via truncation, summarization, or hierarchy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F8A"/>
                </a:solidFill>
                <a:latin typeface="Helvetica Neue"/>
              </a:defRPr>
            </a:pPr>
            <a:r>
              <a:t>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Prompt Engineering &amp; Model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3716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Modules 5–8  ·  APIs · Prompting · Structured Outputs · Multimodal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Phase 2: Core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Unified multi-provider client abstracts API differences (OpenAI, Anthropic, Google, Ollama)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System prompt = persona; User prompt = task; Few-shot = examples; CoT = step-by-step reasoning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Good prompts need Role + Task + Conditions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Structured outputs (JSON / JSON Schema) turn LLMs into reliable data processors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Multimodal AI: vision-language, text-to-image, speech-to-text, text-to-speech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Rate limits (RPM/TPM) require exponential backoff, jitter, circuit breakers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F8A"/>
                </a:solidFill>
                <a:latin typeface="Helvetica Neue"/>
              </a:defRPr>
            </a:pPr>
            <a:r>
              <a:t>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AI Tool Use &amp; Function Calling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3716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Modules 9–11  ·  Function Calling · Tool Orchestration · MCP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Phase 3: Core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Function calling: LLM recognizes when to call a function, generates JSON args, your code executes it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Tool registry: register functions with JSON schemas; LLM selects tools dynamically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Orchestration patterns: Sequential, Parallel, Conditional, Loop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MCP (Model Context Protocol): USB-C for AI tools — standardizes discovery, resources, prompts, tools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MCP transports: Stdio, SSE, WebSocket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Security: authentication, authorization, input validation, tool abuse prevention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F8A"/>
                </a:solidFill>
                <a:latin typeface="Helvetica Neue"/>
              </a:defRPr>
            </a:pPr>
            <a:r>
              <a:t>Phase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Retrieval-Augmented Generation (RAG)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3716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Modules 12–14  ·  Embeddings &amp; Vector DBs · RAG Pipeline · Advanced RAG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Phase 4: Core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Vector databases store high-dimensional embeddings; search via Approximate Nearest Neighbor (ANN)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Chunking strategies: Fixed, Sentence, Paragraph, Semantic, Recursive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RAG Pipeline: Ingest → Chunk → Embed → Store → Retrieve → Context Build → Generate → Cite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Hybrid Search = semantic (embeddings) + keyword (BM25) for better recall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Context compression: summarize retrieved chunks to fit context window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Parent-Child Retrieval: search small chunks, return parent documents for coherence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Knowledge graphs add relationship data for richer answers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F8A"/>
                </a:solidFill>
                <a:latin typeface="Helvetica Neue"/>
              </a:defRPr>
            </a:pPr>
            <a:r>
              <a:t>Phase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Agentic AI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3716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Modules 15–17  ·  AI Agents · Multi-Agent (A2A) · Agent Memory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Phase 5: Core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Agent = Planning + Reasoning + Memory + Tool Use + Reflection + Learning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Frameworks: LangGraph (graph-based), AutoGen (multi-agent), CrewAI (role-based), OpenAI Agents SDK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Multi-Agent patterns: Hierarchical, Peer-to-Peer, Broadcast, Pipeline, Swarm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Memory types: Short-Term (context window), Long-Term (vector DB), Episodic (events), Semantic (facts)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Memory operations: Store, Retrieve, Prune, Consolidate, Forget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Retrieval strategies: Recency, Relevance, Frequency, Importance, Temporal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F8A"/>
                </a:solidFill>
                <a:latin typeface="Helvetica Neue"/>
              </a:defRPr>
            </a:pPr>
            <a:r>
              <a:t>Phase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AI Application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3716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Modules 18–21  ·  Async · Resilience · Observability · Security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Phase 6: Core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Async patterns: Fire-and-Forget, Request-Response, Streaming, Batching, Parallel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Technologies: asyncio, FastAPI, aiohttp, WebSockets, SSE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Resilience patterns: Retry (exponential + jitter), Circuit Breaker, Timeout, Rate Limiting, Bulkhead, Fallback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Circuit Breaker states: CLOSED → OPEN → HALF-OPEN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Observability: Logging (events), Tracing (flows), Metrics (performance), Cost/Latency tracking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Security: Prompt injection, Jailbreak, Data leakage, Tool abuse, DoS — defense in depth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Best practices: input sanitization, output validation, least privilege, rate limiting,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F8A"/>
                </a:solidFill>
                <a:latin typeface="Helvetica Neue"/>
              </a:defRPr>
            </a:pPr>
            <a:r>
              <a:t>Phase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  <a:latin typeface="Helvetica Neue"/>
              </a:defRPr>
            </a:pPr>
            <a:r>
              <a:t>Production AI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3716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Helvetica Neue"/>
              </a:defRPr>
            </a:pPr>
            <a:r>
              <a:t>Modules 22–24  ·  System Architecture · Deployment · Evaluation &amp; CI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Phase 7: Core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Architecture components: AI Gateway, Model Router, Response Cache, Load Balancer, Model Fallback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Routing: Round Robin, Weighted, Cost-Based, Quality-Based, Context-Aware, Dynamic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Caching: Exact Match, Semantic (similar meaning), TTL, LRU, Hybrid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Deployment: Docker (consistency), Kubernetes (scale), Serverless (cost), GPU (performance), CI/CD (automation)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Evaluation: Benchmarking, A/B Testing, LLM-as-a-Judge, Feedback Loops, Regression Testing</a:t>
            </a:r>
          </a:p>
          <a:p>
            <a:pPr>
              <a:spcAft>
                <a:spcPts val="1400"/>
              </a:spcAft>
              <a:defRPr sz="1900">
                <a:solidFill>
                  <a:srgbClr val="666666"/>
                </a:solidFill>
                <a:latin typeface="Helvetica Neue"/>
              </a:defRPr>
            </a:pPr>
            <a:r>
              <a:t>•  Continuous improvement: Collect → Measure → Identify → Prioritize → Implement → Test → Deploy → Monitor → Repeat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Capstone Projects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1. AI Chatbot with Memory — persistent conversational assistant with embeddings &amp; vector storage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2. Private Knowledge Assistant (RAG) — enterprise search across PDFs, docs, internal knowledge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3. AI Coding Assistant — code generation, explanation, debugging with repo awareness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4. Autonomous Research Agent — multi-agent research with synthesis, reports, citations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5. Document Intelligence Platform — OCR, structured extraction, classification, summarization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6. Customer Support Copilot — AI support assistant with CRM, ticketing, knowledge base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7. AI Workflow Automation Engine — tool-calling agents orchestrating email, DBs, calendars, APIs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8. Enterprise AI Platform — RAG + MCP + agent orchestration + observability + security + scale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Key Patterns &amp; Anti-Patterns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Prompt Engineering: Chain-of-Thought (reasoning), Few-Shot (structured output), Role Prompting (persona)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RAG &amp; Retrieval: Hybrid Search, Parent-Child Retrieval, Query Expansion, Context Compression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Agent Design: Tool Orchestration, Reflection &amp; Self-Correction, Hierarchical Planning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Architecture: Circuit Breaker, Exponential Backoff + Jitter, Bulkhead, Cache-First-API-Second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Anti-Patterns: "Be Helpful" trap, over-engineering prompts, assuming model knowledge, over-chunking, too many tools, no fallback, no observability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Deployment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Pre-Deploy: code reviews, tests, linting, env vars, secrets, Docker build, local test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Deploy: container registry, K8s manifests, storage, networking, GPU support, ConfigMap, replicas, HPA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Post-Deploy: liveness/readiness probes, logs, metrics, alerts, dashboards, auth, rate limiting, input validation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Common Issues: Rate Limit → backoff; Context overflow → truncate/summarize; High latency → streaming; High cost → caching; Hallucinations → RAG + guardrails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Helvetica Neue"/>
              </a:defRPr>
            </a:pPr>
            <a:r>
              <a:t>Further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25880"/>
            <a:ext cx="9144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Books: Deep Learning (Goodfellow), Designing ML Systems (Huyen), NLP with Transformers (Tunstall)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Courses: CS224N Stanford, Hugging Face NLP, Fast.ai, DeepLearning.AI LLM courses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Papers: Attention Is All You Need (2017), Few-Shot Learners (2020), RAG (2020), ReAct (2022)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Tools: LangChain / LangGraph, AutoGen, CrewAI, Chroma, Pinecone, LangSmith, Helicone</a:t>
            </a:r>
          </a:p>
          <a:p>
            <a:pPr>
              <a:spcAft>
                <a:spcPts val="1400"/>
              </a:spcAft>
              <a:defRPr sz="1800">
                <a:solidFill>
                  <a:srgbClr val="666666"/>
                </a:solidFill>
                <a:latin typeface="Helvetica Neue"/>
              </a:defRPr>
            </a:pPr>
            <a:r>
              <a:t>•  Communities: r/MachineLearning, r/LocalLLaMA, Hugging Face Discord, OpenAI Developer Forum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A1A1A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383280"/>
            <a:ext cx="1371600" cy="38100"/>
          </a:xfrm>
          <a:prstGeom prst="rect">
            <a:avLst/>
          </a:prstGeom>
          <a:solidFill>
            <a:srgbClr val="2D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  <a:latin typeface="Helvetica Neue"/>
              </a:defRPr>
            </a:pPr>
            <a:r>
              <a:t>Build something amazing.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