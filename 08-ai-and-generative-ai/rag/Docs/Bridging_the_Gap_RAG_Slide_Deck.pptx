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  <a:latin typeface="Helvetica Neue"/>
              </a:defRPr>
            </a:pPr>
            <a:r>
              <a:t>Bridging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0000"/>
                </a:solidFill>
                <a:latin typeface="Helvetica Neue"/>
              </a:defRPr>
            </a:pPr>
            <a:r>
              <a:t>Enterprise RAG, Vector Databases, and Agentic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Helvetica Neue"/>
              </a:defRPr>
            </a:pPr>
            <a:r>
              <a:t>Complete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Bridging the Gap — Enterprise RAG, Vector Databases, and Agentic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Complete tutorial series logo/subtitle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Presented by [Your Name/Organization]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Date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"From Basic LLM APIs to Production-Ready RAG Agents"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Set expectations for the series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Why RAG? The Context Deficit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LLM limitations: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Knowledge cutoff dates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Hallucinations on proprietary data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No source attribution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Can't access private information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Real-world example: Customer support chatbot with outdated docs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The gap: What models know vs. what they need to know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the fundamental problem RAG solves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Complete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See the complete picture of what we're building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Your Learning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Part 1: Context Deficit — Grounding Models with RAG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Part 2: Advanced Retrieval — Hybrid Search, Reranking, Governance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Part 3: Orchestration — LangChain.js Runnables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Part 4: Agents — LangGraph.js Stateful Workflows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Capstone: Complete Production System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the learning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Who Is This For?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Target Audience: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Node.js/TypeScript engineers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Full-stack developers adding AI capabilities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Platform engineers designing AI infrastructure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Backend developers moving from prototyping to production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Prerequisites: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JavaScript/TypeScript basics (functions, classes, types)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Async/await patterns and Promises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Basic LLM API experience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Node.js ecosystem familiarity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Self-assess readiness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Tools and Technologies We'll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Technology | Purpose | Version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||||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TypeScript | Type safety | 5.0+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Node.js | Runtime | 20+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LangChain.js | LLM orchestration | 0.3+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LangGraph.js | Stateful agents | 0.2+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pgvector | Vector database | 0.5+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OpenAI API | Embeddings + LLM | Latest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Zod | Schema validation | 3.0+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the tooling landscape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 Unique Learning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Code-Heavy: Complete, copy-pasteable code throughout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Beginner-Friendly Prose, Expert Code: Clear explanations, production-quality code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Real-World Architecture: Built for deployment, not just demos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Progressive Complexity: Each part builds on the previous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the teaching philosophy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1: The Context Deficit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Goal: Build a working RAG system from scratch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Topics: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Document loading and chunking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Embedding generation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Vector database setup (pgvector)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Similarity search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Basic generation pipeline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Outcome: Working RAG system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what we'll build in Part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Before We Begin — Let's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 ] Node.js 20+ installed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 ] Docker installed (for pgvector)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 ] OpenAI API key ready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 ] TypeScript familiarity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 ] Code editor ready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 ] Terminal ready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Ensure readiness before starting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Initialize Your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Directory Structure: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Set up the project foundation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Set Up Your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Configure environment variables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Running PostgreSQL with pgvector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Run the vector database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Understanding the RAG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the complete 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Understanding RAG Through Analogy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Without RAG: Assistant answers from memory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Might guess if they don't know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Outdated information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Can't cite sources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With RAG: Assistant goes to the library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Finds relevant books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Reads specific sections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Cites their sources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Gives accurate answer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RAG is like a research assistant with a library card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Ready to Build!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We have our project structure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Docker is running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Environment is configured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Next: Part 1 — Building the RAG System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Transition to Part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16-20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1 — Building the Foundation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Document loader (PDF, text, markdown)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Semantic chunking strategies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Embedding service with OpenAI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Vector database operations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Complete RAG pipeline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Preview what's coming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Context Deficit — Grounding Models with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Part 1 of the series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Building the foundation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Complete RAG system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Set the stage for Part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Knowledge Cutoff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LLMs are frozen at training time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GPT-4: Cutoff ~April 2023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No knowledge of recent events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No access to proprietary data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Consequences: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Hallucinations when asked about new topics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Outdated information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Can't cite sources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why RAG is necessary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Loading Documents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Load documents from various sources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Chunking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Too Large: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Exceeds context window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Contains irrelevant information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Slower search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Too Small: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Loses context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Broken meaning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Poor retrieval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Just Right: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Semantic unit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Fits context window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Good retrieval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Balance chunk size for optimal retrieval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Different Ways to Chunk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Different strategies for different needs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What Are Embeddings?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Concept: Converting text to numbers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Analogy: Zip codes for meaning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Properties: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Similar texts = Similar vectors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Different texts = Different vectors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Dimensionality: 1536 (text-embedding-3-small)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Example: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"king" → [0.2, 0.8, -0.3, 0.5, ...]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"queen" → [0.1, 0.9, -0.2, 0.6, ...]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"apple" → [-0.7, 0.1, 0.9, -0.4, ...]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what embeddings represent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Generating Embeddings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Generate embeddings for chunks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Setting Up pgvector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Database setup for vectors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Storing Documents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Store chunks in the vector database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Vector Similarity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Find similar documents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End-to-End Ingestion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Complete the ingestion pipeline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Retrieving Documents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Retrieve relevant documents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Generating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Generate answers from context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Putting It All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Complete RAG system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Testing Your RAG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Test the system interactively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36-40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Verify Your RAG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Ensure everything works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41-50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Understanding Vector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Cosine Similarity: Measures angle between vectors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Euclidean Distance: Measures straight-line distance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Dot Product: Measures projection of one vector on another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When to use each: Use cases and trade-offs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Deep understanding of vector search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51-60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Live Demo — RAG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Real-time demonstration of the RAG system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Ingesting documents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Querying the system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Analyzing results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Debugging retrieval issues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See the system working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61-70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1 —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Document ingestion pipeline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Chunking strategies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Embedding generation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Vector database with pgvector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Similarity search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Complete RAG pipeline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Interactive querying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Recap what was built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Advanced Retrieval &amp; Defense — Hybrid Search, Reranking, and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Part 2 of the series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Improving retrieval quality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Adding governance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Set the stage for Part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Problems with Pure Semantic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Semantic Search Limitations: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"FDA approval" vs. "FDA clearance" — semantic search might miss this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Specific terms like "async/await" get semantically diluted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Technical jargon needs exact matches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Ranking Issues: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Similarity scores aren't perfect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Most similar ≠ most useful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Context matters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the limitations of pure semantic search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Hybrid Search — Best of Both Worlds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Combine lexical and semantic search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Understanding BM25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BM25 = Best Matching 25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How it works: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Scores documents based on term frequency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Accounts for term rarity (rare terms are more important)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Applies diminishing returns (50 occurrences isn't 50x better than 1)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Formula: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BM25 scoring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BM25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BM25 search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Managing the BM25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Keep BM25 index current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Fusing Results with RRF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Problem: Scores from different search methods aren't comparable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Solution: RRF uses ranks instead of scores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 = 60 (standard constant)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Properties: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Doesn't require score normalization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Favors documents that appear high in both lists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Robust to one method being better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RRF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Implementing RRF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RRF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Precision Refinement with Cross-Encoders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Bi-Encoder (Dense Search):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Embed once, search fast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Good for initial retrieval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Less accurate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Cross-Encoder (Reranking):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Processes query + document together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More accurate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Slower (compute on-the-fly)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Good for refining top results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reranking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Implementing Reranking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cross-encoder reranking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Access Control and Filtering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access control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Complete Hybrid Retriever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Complete hybrid retrieval pipeline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83-90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Performance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Method | Speed | Accuracy | Use Case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|||||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Dense Only | Fast | Good | General queries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Lexical Only | Fast | Moderate | Exact matches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Hybrid (RRF) | Medium | Better | Most scenarios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Hybrid + Rerank | Slow | Best | High-precision needs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trade-offs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91-100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Live Demo — Hybrid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Compare semantic, lexical, and hybrid search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Show reranking improvement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Demonstrate governance filtering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Performance benchmarks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See hybrid search in action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101-110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Understanding RRF Mathematics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RRF proof and derivation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Why k=60 works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Weighted RRF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Comparison with other fusion methods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Deep understanding of RRF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111-120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2 —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BM25 lexical search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Reciprocal Rank Fusion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Cross-encoder reranking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Metadata governance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Complete hybrid retriever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Performance improvements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Recap Part 2 achievements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Orchestrating the Loop — LangChain.js and Composable Runnables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Part 3 of the series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Standardizing and professionalizing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Production-grade orchestration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Set the stage for Part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Moving from Custom to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Problems with custom code: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Tight coupling to specific implementations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No standardized pipeline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Scattered error handling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Hard to swap providers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LangChain.js Solutions: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Provider-agnostic abstractions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Composable runnables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Standardized error handling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Built-in telemetry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LangChain.js value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Understanding Runnables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the Runnable interface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Building Pipelines with `.pipe()`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Compose operations with .pipe()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Reusable Prompt Templates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Use prompt templates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Ensuring Valid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Validate and structure output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Runtime Monitoring and Tracing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comprehensive telemetry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Instrumenting Your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Instrument code with telemetry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Complete Orchestration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Complete orchestration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130-140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Advanced Runnable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Runnable branching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Runnable fallbacks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Runnable with retries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Runnable with timeouts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Custom runnables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Advanced runnable patterns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141-150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Live Demo —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Building pipelines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Switching providers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Structured output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Telemetry visualization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Error handling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See orchestration in action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151-160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Telemetry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Traces visualization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Metrics dashboard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Error tracking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Performance monitoring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telemetry output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161-170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3 —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LangChain.js runnables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Provider-agnostic abstraction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Prompt templates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Structured output with Zod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Runtime telemetry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Complete orchestrator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Recap Part 3 achievements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From Pipelines to Agents — Stateful Workflows with LangGraph.js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Part 4 of the series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Autonomous, self-correcting agents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Stateful workflows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Set the stage for Part 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Limitations of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Linear Execution: Fixed path, no branching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No State: No memory of previous steps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No Self-Correction: Can't try different approaches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No Human Interaction: Can't pause for input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Analogy: Pipeline = Conveyor belt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Agent = Workshop manager who can adapt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agent value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Stateful Agent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LangGraph.js = Extension of LangChain.js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Graph-based workflows (not linear)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State management built in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Cyclic execution (loops, branches)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Checkpointing for resumability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Human-in-the-loop support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LangGraph.js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Typed State Annotations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Define agent state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Defining the Agent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Build the agent graph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Search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the search node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Evaluate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the evaluate node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Generate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the generate node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Reflect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the reflect node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Human-in-the-Loop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HITL node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Intelligent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Route based on state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Making Agents Resumable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checkpointing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Fan-Out and Concurrency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parallel execution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Handling Long-Running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timeouts and cancellation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185-190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Live Demo — Agent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Running the agent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Watching self-correction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Human approval request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Checkpoint persistence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Streaming progress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See the agent working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191-200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Understanding Agent Decision 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How agents choose strategies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Evidence quality assessment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When to use HITL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Self-correction patterns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Deep understanding of agent decisions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201-210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Agent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Iterations per query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Evidence quality tracking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HITL frequency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Time to completion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Success rate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Measure agent performance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211-220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4 —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LangGraph.js state machines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Typed state annotations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Self-correcting agents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Parallel execution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Checkpoint persistence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Human-in-the-loop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Complete agent workflow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Recap Part 4 achievements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Asynchronous, Evidence-Gated RAG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Complete production system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Everything integrated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Ready for deployment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Set the stage for the capstone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Complete Production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the complete architecture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Fastify 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Build the REST API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Background Jobs with BullMQ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Implement async processing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Real-Time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Add real-time updates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Containerization with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Containerize the application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Prometheus + Grafana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Metrics: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Query volume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Response latency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Error rate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Queue depth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Token usage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Agent iterations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Monitor the system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228-240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Live Demo — Complete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Starting all services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Ingesting documents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API queries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Streaming responses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Agent execution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Checkpoint resume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Monitoring dashboard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See the complete system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241-250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Production Deployment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Environment 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Database setup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Service scaling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SSL/HTTPS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Backup strategy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Disaster recovery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Deploy to production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251-260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Performance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Metric | Value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|||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Query Latency (P50) | 200ms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Query Latency (P95) | 800ms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Ingestion Speed | 100 docs/min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Concurrent Queries | 50/sec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| Memory Usage | 2-4GB |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performance expectations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261-270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Capstone —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Complete production system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REST API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Async processing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WebSocket support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Docker deployment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Monitoring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✅ Everything integrated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Recap capstone achievements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Deep Dive Primers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Primer 1: Vector Embeddings &amp; Semantic Search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Primer 2: RAG Architecture &amp; Design Patterns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Primer 3: LLM Agents &amp; State Machines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available reference materials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Understanding Vector Embeddings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are embeddings?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How embeddings are generated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Cosine similarity mathematics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Semantic vs. lexical search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Embedding model comparison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Deep understanding of embeddings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RAG Design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Naive RAG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RAG with reranking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Iterative RAG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Agentic RAG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Chunking strategies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Retrieval strategies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Generation strategies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RAG patterns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Understanding LLM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What are agents?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ReAct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Plan-and-execute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Hierarchical agents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Reflection agents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State machines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Tool integration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HITL patterns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Understand agent architectures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275-290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Reference Materials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Appendix A: Complete File Structure &amp; Environment 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Appendix B: API Reference &amp; Endpoint Documentation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Appendix C: Deployment and Operations Guide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Appendix D: Troubleshooting and FAQ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Know where to find references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291-300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Where to Go From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Deploy to production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Add more document sources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Implement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Add analytics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Optimize performance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Scale horizontally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Add more tool types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Continue your learning journey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301-310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Complete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[code snippet]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See the complete picture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311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Questions &amp;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Open floor for questions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Common questions: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How to scale?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How to handle different document types?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How to reduce costs?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How to improve accuracy?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Address questions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312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Additional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Documentation: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LangChain.js: https://js.langchain.com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LangGraph.js: https://langchain-ai.github.io/langgraphjs/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pgvector: https://github.com/pgvector/pgvector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OpenAI: https://platform.openai.com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Community: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GitHub Issues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Stack Overflow (#langchainjs)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Discord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Slack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Know where to find help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313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Series complete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You now have: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Complete RAG system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Hybrid search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Orchestration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Autonomous agents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Production deployment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Happy building! 🎉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Celebrate completion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00000"/>
                </a:solidFill>
                <a:latin typeface="Helvetica Neue"/>
              </a:defRPr>
            </a:pPr>
            <a:r>
              <a:t>314-320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Bonus: Real-World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5156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Customer Support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Legal Document Review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Technical Documentation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Healthcare (with privacy considerations)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Financial Analysis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Research Assistant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Key Learning: Apply the system to real problems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