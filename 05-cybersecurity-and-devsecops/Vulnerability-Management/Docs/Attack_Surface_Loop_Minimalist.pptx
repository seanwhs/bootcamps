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The Attack Surface Loop: End-to-End 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1: Foundations &amp; The Discovery Engine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Vulnerability management is a continuous process, not a one-time activity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Understanding your attack surface is the first and most critical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Evolution of Vulnerability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Era  Period  Characteristics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Era 1: Reactive Scanning  1990s-2000s  Point-in-time scans, manual reporting, basic CVSS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Era 2: Managed VM  2000s-2010s  Regular scanning, patch management, basic metrics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Era 3: Risk-Based VM  2010s-2020  Prioritization engines, threat intelligence, business context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Era 4: CTEM (Current)  2020+  Continuous discovery, exposure validation, attack path analysis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 management has evolved from reactive to proactive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Modern approach requires continuous, context-aware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Core Concepts and Terminology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Terms: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Term  Definition  Example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  Anything of value that needs protection  Servers, workstations, databases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  Weakness in a system  Unpatched software, default credentials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Threat  Potential cause of an unwanted incident  Ransomware groups, nation-state actors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 Likelihood × Impact  Formula: Risk = Threat × Vulnerability × Impact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Exposure  Vulnerability exposed to a threat  Public-facing vulnerable web server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Understanding the precise definitions of these terms is essential for effective VM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is a combination of threat, vulnerability, and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Vulnerability Assessment vs. Vulnerability Management vs. Penetration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Activity  What It Is  Analogy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 Assessment  Point-in-time check for known vulnerabilities  Checking every door and window once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 Management  Continuous process of discovery, assessment, prioritization, remediation, verification  Having a security system that constantly monitors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Penetration Testing  Human-led attempt to exploit vulnerabilities  Hiring a burglar to try breaking in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Red Teaming  Full-scenario adversarial simulation  Running a drill where a team tries to steal assets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Purple Teaming  Red and Blue teams working together  Discussing how to make the house more secure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VM is the foundation—it's what you do every day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Without good VM, penetration tests are wasted—you already know you have problems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Enterprise Attack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Types of Attack Surfaces: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Internal Attack Surface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Employee workstations, internal servers, network devices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Where most breaches start (phishing, compromised credentials)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External Attack Surface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Public-facing websites, APIs, email servers, VPNs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Anyone on the internet can reach these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Cloud Attack Surface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AWS EC2, S3 buckets, Azure VMs, GCP Cloud Run, serverless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Ephemeral and often misconfigured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SaaS Attack Surface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Office 365, Salesforce, Slack, Zoom, GitHub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Shared security responsibility with vendors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Software Supply Chain Attack Surface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Open-source libraries, container images, base OS packages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SolarWinds and Log4j incidents demonstrated criticality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Attack surface is constantly changing—cloud, containers, and third-party services add complexity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You cannot protect what you do not know exists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Discovery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Discovery Methods: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Method  Pros  Cons  Tools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Active  Complete, reliable  Can cause disruption, may miss assets  Nmap, Masscan, ZMap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Passive  Non-disruptive  Only finds active assets  Zeek, network packet captures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Agent-Based  Finds everything with agent  Requires deployment and maintenance  EDR agents, asset management agents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Cloud API  Comprehensive, fast  Requires API credentials and permissions  AWS SDK, Azure CLI, GCP CLI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Multiple discovery methods are needed for complete coverage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method has trade-offs between completeness and disruption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Asset Discovery with Nmap and Masscan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Commands: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`bash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Ping sweep to discover live hosts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nmap -sn 192.168.1.0/24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Service and OS detection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nmap -sV -sC -O -A 192.168.1.10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High-speed scanning with Masscan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masscan -p80,443 --rate=10000 192.168.1.0/24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Script-based vulnerability detection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nmap --script vuln 192.168.1.10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Nmap is the Swiss Army knife of network discovery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Masscan enables high-speed scanning at scale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Discovery is the foundation of any VM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Cloud Asset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Capabilities: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AWS: EC2 instances, RDS databases, S3 buckets, Lambda functions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Azure: Virtual machines, SQL databases, App Services, Functions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GCP: Compute Engine instances, Cloud SQL, Cloud Run, Cloud Functions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Cloud environments require API-based discovery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Cloud assets are ephemeral—continuous discovery is essential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Security controls must span multiple cloud providers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Asset Classification and Tagging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Classification Categories: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Dimension  Categories  Example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Criticality  Critical, High, Medium, Low  Payment system = Critical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Data Sensitivity  Critical, High, Medium, Low, Public  Customer data =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Internet Exposure  Public, Internal, Restricted  Web server = Public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Compliance  PCI, HIPAA, GDPR, etc.  Healthcare data = HIPAA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Environment  Production, Staging, Dev, Test  Live system = Production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Classification enables business context for prioritization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Tags allow flexible grouping and filtering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Ownership must be assigned to enable accountability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Discovery Engine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Components: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DISCOVERY ENGINE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Network    │  │  Cloud      │  │   Asset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Discovery  │  │  Discovery  │  │   Normalizer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ASSET DATABASE (PostgreSQL)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Assets table   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Asset_tags table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Discovery_runs table                             │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discovery engine orchestrates multiple discovery methods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 normalization deduplicates and merges data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PostgreSQL provides persistent asset inventory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2: Automated Scanning &amp; Signal Generation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(Slides 2.1 – 2.10)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Part 2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2: Automated Scanning &amp; Signal Generation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Scanning is how we convert discovered assets into vulnerability findings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Automated scanning is essential for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Scanner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Components: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VULNERABILITY SCANNER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SCAN ENGINE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Orchestrates the scanning process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Manages plugins and probes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Handles concurrency and scheduling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                              │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▼                                                  ▼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PLUGIN ENGINE   │                    │   CREDENTIAL     ││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Vulnerability  │                    │   MANAGER        ││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detection      │                    │  • SSH/Windows   ││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Service        │                    │    credentials   ││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fingerprinting │                    │  • API keys      ││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OUTPUT PROCESSOR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Report generation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Database storage                                  │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Scanners consist of multiple components working together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Credentialed scanning provides much deeper visibility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Scan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 Type  What It Does  When to Use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Credentialed  Logs into the system with credentials  Most accurate, finds configuration issues, missing patches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Uncredentialed  Scans from the network without credentials  External scans, initial assessment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Agent-Based  Installed software reports from inside  Continuous monitoring, offline assets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Passive  Listens to network traffic  No disruption, finds what's actually being used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Authenticated Web  Logs into web applications  Finds application-specific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API Scan  Scans REST/GraphQL APIs  Finds API-specific issues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Credentialed scans find significantly more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scan types are appropriate for different environments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Combining scan types provides comprehensive coverage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Scanning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Lifecycle: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SCANNING LIFECYCLE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Pre-Scan   │───▶│  Port       │───▶│  Service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Planning   │    │  Scanning   │    │  Fingerprint│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│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▼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Result     │◀───│  Vuln       │◀───│  Plugin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Analysis   │    │  Detection  │    │  Execution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│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▼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Reporting  │───▶│  Remediation│───▶│  Rescan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Scanning is a continuous cycle, not a one-time event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phase builds on the previous 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Nessus Essentials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Features: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Industry-leading commercial scanner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Free for up to 16 IPs (Nessus Essentials)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Credentialed and uncredentialed scanning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Extensive plugin library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Multiple output formats (JSON, XML, CSV, HTML)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Nessus is the industry standard for vulnerability scanning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Essentials version is sufficient for learning and small deployments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OpenVAS / Greenbone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Features: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Open-source vulnerability scanner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Comprehensive vulnerability database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Community Edition available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GMP protocol for automation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Web-based management interface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OpenVAS provides a free, open-source alternative to commercial scanners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Community Edition is suitable for learning and small deployments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Credentialed Scanning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Credential Types: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Credential Type  Purpose  Example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SSH  Linux/Unix servers  Username, password or private key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Windows  Windows servers  Username, password, domain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Database  MySQL, PostgreSQL, MSSQL  Database username, password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API  Cloud services  API keys, tokens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Benefits of Credentialed Scanning: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Finds configuration issues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Detects missing patches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Identifies default credentials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More complete findings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Credentialed scanning is essential for accurate vulnerability assessment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Credentials must be stored securely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Scan Policy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Policy Settings: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Setting  Options  Description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Ports  Common ports, All ports, Custom  Which ports to scan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 Speed  Fast, Balanced, Thorough  Performance vs. depth trade-off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Detection  OS, Service, Version detection  What to detect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Bruteforce  Enabled/Disabled  Whether to test weak credentials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Categories  Application, Network, OS, Web  Which vulnerability categories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 policies balance speed, coverage, and disruption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Policies should be tailored to the environment (production vs. development)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Scan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Components: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Orchestrator: Manages scanners and scan jobs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Job Management: Create, monitor, and manage scan jobs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Scheduling: Support for immediate, daily, weekly scans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Result Normalization: Consistent format across scanners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Orchestration is essential for managing scanning at scale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Normalization enables consistent data across different scanners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Result Parsing and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Normalization Steps: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Parse scanner-specific format (JSON, XML, CSV)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Extract vulnerability data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Map severity levels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Store in database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Link to assets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scanners use different output formats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Normalization enables consistent analysis and reporting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3: The Intelligence Backbone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(Slides 3.1 – 3.9)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Part 3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3: The Intelligence Backbone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Vulnerability intelligence provides context for prioritization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Multiple data sources must be integrated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Vulnerability Intelligence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INTELLIGENCE ECOSYSTEM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CVE SYSTEM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MITRE Corporation maintains the CVE list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CNAs assign CVEs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Format: CVE-YYYY-NNNNN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NVD (NIST)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Enriches CVEs with CVSS scores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Adds CWE classifications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Provides CPE identifiers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CISA KEV Catalog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Known Exploited Vulnerabilities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Actively being exploited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Includes remediation deadlines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EPSS (FIRST)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Exploit Prediction Scoring System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Machine learning predicts exploitability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Score 0-1 (0 = no chance, 1 = very likely)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Multiple intelligence sources provide different perspectives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source has strengths and limitations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CVE and NVD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CVE (Common Vulnerabilities and Exposures):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Dictionary of publicly known cybersecurity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Format: CVE-YYYY-NNNNN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Assigned by MITRE through CNAs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Contains: description, references, disclosure date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NVD (National Vulnerability Database):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NIST's enrichment of the CVE list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Adds CVSS scores, CWE classifications, CPE identifiers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REST API for programmatic access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CVE provides the baseline identifier for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NVD adds critical context for prioritization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CVSS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CVSS v4 Components: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Group  Metrics  Purpose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Base  AV, AC, AT, PR, UI, VC, VI, VA, SC, SI, SA  Intrinsic characteristics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Threat  E, RL, RC  Time-based characteristics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Environmental  CR, IR, AR  Organizational context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Severity Mapping: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Critical: 9.0 – 10.0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High: 7.0 – 8.9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Medium: 4.0 – 6.9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Low: 0.1 – 3.9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 provides standardized severity scoring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Environmental metrics enable organizational context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 v4 adds subsequent system impact metrics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CISA KEV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Field  Description  Example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cveID  CVE identifier  CVE-2021-44228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vendorProject  Vendor or project name  Apache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product  Product name  Log4j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vulnerabilityName  Descriptive name  Apache Log4j Remote Code Execution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dateAdded  Date added to catalog  2021-12-10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dueDate  Remediation deadline  2021-12-17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requiredAction  Required remediation action  Apply updates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KEV catalog lists vulnerabilities actively being exploited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KEV vulnerabilities require immediate attention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Federal agencies must remediate by the due date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EPSS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EPSS (Exploit Prediction Scoring System):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Machine learning-based exploitability prediction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Provided by FIRST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Score Range: 0.0 – 1.0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Updated daily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EPSS Score  Percentile  Interpretation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&gt; 0.90  &gt; 99.9%  Extremely likely to be exploited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0.70 – 0.90  95-99.9%  Very likely to be exploited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0.50 – 0.70  80-95%  Likely to be exploited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0.10 – 0.30  20-50%  Somewhat likely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 0.10  &lt; 20%  Unlikely to be exploited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EPSS predicts likelihood of exploitation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EPSS helps prioritize based on real-world threat activity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Intelligence Enrichment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ENRICHMENT PIPELINE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SCAN FINDING (Vulnerability)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NVD Lookup (CVE Details)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CISA KEV Check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EPSS Score Retrieval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ENRICHED VULNERABILITY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• CVSS Scores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• CWE Classifications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• KEV Status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• EPSS Score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Enrichment combines multiple intelligence sources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Enriched data enables better prioritization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Caching and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Points: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Multi-layer caching (memory, Redis, disk) improves performance</a:t>
            </a:r>
          </a:p>
          <a:p>
            <a:pPr algn="l"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Cache TTLs: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NVD: 24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KEV: 1 hour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EPSS: 24 hours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Caching is critical for reducing API calls and improving performance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data has different update frequencies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Enriched Vulnerability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Enriched Vulnerability Attributes: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 finding data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CVE information (description, CVSS, CWE)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Threat intelligence (KEV, EPSS)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Business context (asset criticality, ownership)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score and priority level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Enrichment combines technical and business context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scoring is multi-dimensional (CVSS + EPSS + KEV + business context)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4: Modern Scanning Technologies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(Slides 4.1 – 4.9)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Part 4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4: Modern Scanning Technologies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Modern environments require specialized scanning tools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Containers, IaC, K8s, and supply chain security are critical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Modern Application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MODERN APPLICATION STACK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APPLICATIONS (SAST)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Tools: Semgrep, SonarQube, CodeQL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CONTAINERS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Tools: Trivy, Grype, Docker Scout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KUBERNETES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Tools: Kubescape, kube-bench, kube-hunter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INFRASTRUCTURE (IaC)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Tools: Checkov, tfsec, Terrascan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SUPPLY CHAIN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SBOM Generation 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Dependency Scanning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Sigstore/Cosign 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Modern applications require scanning at every layer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Specialized tools are needed for each layer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Container Scanning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Tools: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Tool  Description  Features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Trivy  Fast, comprehensive scanner  OS packages, dependencies, IaC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Grype  Vulnerability database from Anchore  Base image scanning, dependency scanning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Containers introduce new attack surfaces (base images, dependencies)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Multiple scanners provide better coverage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IaC Scanning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Tools: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Tool  Description  Supported Frameworks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Checkov  Comprehensive IaC scanning  Terraform, CloudFormation, Kubernetes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tfsec  Terraform-specific scanning  Terraform (HCL, JSON)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Terrascan  Multi-framework scanning  Terraform, Kubernetes, Helm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IaC defines infrastructure—if it's insecure, infrastructure is insecure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Shift-left: find issues before deployment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Kubernetes Scanning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Tools: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Tool  Description  Frameworks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Kubescape  Comprehensive K8s security scanning  NSA, CISA, MITRE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kube-bench  CIS benchmark compliance  CIS Benchmarks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kube-hunter  Active penetration testing  Security testing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Kubernetes misconfigurations are the #1 cause of container breaches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Multiple frameworks provide comprehensive coverage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SAST Scanning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Tools: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Tool  Description  Supported Languages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Semgrep  Fast, flexible SAST  Python, JavaScript, Go, Java, Ruby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SonarQube  Comprehensive SAST  20+ languages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CodeQL  GitHub's semantic code analysis  14+ languages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SAST finds vulnerabilities in source code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Shifting left finds issues earlier and cheaper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SBOM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Formats: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Format  Description  Use Case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CycloneDX  Lightweight format  Broad adoption, security focus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SPDX  Comprehensive format  Legal/compliance focus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Tools: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Syft: SBOM generation for containers and filesystems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Trivy: SBOM generation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CycloneDX CLI: Repository scanning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SBOMs are essential for software supply chain security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Multiple formats support different use cases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Software Supply Chain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Concepts: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Concept  Description  Benefit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SBOM  Software Bill of Materials  Visibility into dependencies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Dependency Scanning  Vulnerability scanning for dependencies  Detect vulnerable libraries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Package Signing  Cryptographic verification  Prevent tampering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SLSA  Supply-chain Levels for Software Artifacts  Framework for supply chain security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Sigstore  Free software signing infrastructure  Simplified signing and verification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Supply chain attacks are increasing (SolarWinds, Log4j)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SLSA provides a tiered security framework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Multi-Tool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Tool  Type  Key Finding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Trivy  Container  OS and dependency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Grype  Container  Additional vulnerability coverage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Checkov  IaC  Misconfigurations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Kubescape  K8s  Cluster misconfigurations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Semgrep  SAST  Code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Syft  SBOM  Dependency list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tools find different issues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Comprehensive coverage requires multiple tools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5: Contextual Prioritization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(Slides 5.1 – 5.9)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Part 5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5: Contextual Prioritization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Raw CVSS scores are not sufficient for effective prioritization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context transforms how we prioritize vulnerabilities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Problem with Raw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Points:</a:t>
            </a:r>
          </a:p>
          <a:p>
            <a:pPr algn="l"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 score alone doesn't account for: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 criticality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Business impact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Exploitability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Compensating controls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"Treat the highest score first" doesn't work in practice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Context is everything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Prioritization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PRIORITIZATION FRAMEWORK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TECHNICAL CONTEXT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CVSS Score (Base + Temporal + Environmental)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EPSS Score      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CISA KEV Catalog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Exploit Availability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BUSINESS CONTEXT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Asset Criticality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Data Sensitivity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Internet Exposure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Compliance Scope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AI-ASSISTED PRIORITIZATION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Pattern Recognition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Recommendation Generation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Impact Prediction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FINAL PRIORITY SCORE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Priority Score (0-100)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Priority Level (Critical, High, Medium, Low)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Recommended Action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Target Remediation Time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Prioritization combines multiple factors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 enhances but doesn't replace human judgment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CVSS v4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Base Metrics: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Metric  Abbrev  Values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Attack Vector  AV  NETWORK, ADJACENT, LOCAL, PHYSICAL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Attack Complexity  AC  LOW,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Attack Requirements  AT  NONE, PRESENT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Privileges Required  PR  NONE, LOW,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User Interaction  UI  NONE, PASSIVE, ACTIVE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Impact Metrics: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Metric  Abbrev  Values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VC Impact  VC  NONE, LOW,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VI Impact  VI  NONE, LOW,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VA Impact  VA  NONE, LOW,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 Impact  SC  NONE, LOW,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SI Impact  SI  NONE, LOW, HIGH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SA Impact  SA  NONE, LOW, HIGH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 v4 adds subsequent system impact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Environmental metrics enable organizational context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Business Context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Factors: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 Criticality: What is the business impact if compromised?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Data Sensitivity: What data is stored/processed?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Internet Exposure: Is the asset publicly accessible?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Compliance Scope: Does it fall under regulatory requirements?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Business Impact: Is it revenue-generating or customer-facing?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Business context is essential for effective prioritization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same vulnerability on different assets has different priority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Risk Score 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Risk Score Formula: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Score = (Technical Risk × 0.6) + (Business Risk × 0.4)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Technical Risk = (CVSS × 0.45) + (EPSS × 0.3) + (KEV × 0.25)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Business Risk = (Criticality × 0.3) + (Sensitivity × 0.25) + (Exposure × 0.25) + (Compliance × 0.2)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score combines multiple factors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Technical and business risk are weighted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 level maps to score ranges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AI-Assisted Prioritization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AI Applications: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Clustering: Group similar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Recommendations: Generate remediation guidance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Impact Prediction: Predict business impact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Executive Summaries: Natural language reports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Alert Fatigue Reduction: Group and summarize alerts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 reduces analyst workload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 enhances but doesn't replace human judgment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Priority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 Level  Score Range  Action  Target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  80-100  Immediate remediation  24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  60-79  Urgent remediation  48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Medium  40-59  Standard remediation  7 days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Low  20-39  Scheduled remediation  30 days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Info  0-19  Monitor  60+ days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 level drives urgency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priority levels have different SLAs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Practical Prioritization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Example 1: Critical RCE on Public Asset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CVSS: 10.0, EPSS: 0.975, KEV: Yes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Asset: Public-facing web server, Critical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Priority: Critical (Score: 100)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Action: Remediate immediately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Example 2: Medium Severity on Internal Asset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CVSS: 5.3, EPSS: 0.20, KEV: No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Asset: Internal database, Medium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Priority: Low (Score: 31)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Action: Monitor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Example 3: High Severity with KEV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CVSS: 9.8, EPSS: 0.972, KEV: Yes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Asset: Email server, Customer-facing, HIPAA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Priority: Critical (Score: 100)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Action: Remediate immediately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Context dramatically changes priority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 alone is not sufficient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6: Remediation &amp; Exception Management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(Slides 6.1 – 6.9)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Part 6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6: Remediation &amp; Exception Management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Remediation is where vulnerabilities are actually fixed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Structured workflows ensure consistent execution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Remediation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Lifecycle: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REMEDIATION LIFECYCLE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Discovery  │───▶│  Triage &amp;   │───▶│  Strategy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│    │  Analysis   │    │  Selection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│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▼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Approval &amp; │───▶│  Implemen-  │───▶│  Verific-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Scheduling │    │  tation     │    │  ation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│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▼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Closure   │◀───│  Monitoring │◀───│  Exception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Remediation is a structured lifecycle, not a single event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phase has specific activities and stakeholders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Remediation Strategy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Strategy Selection: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Question 1: Is there a patch?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Yes → Apply Patch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 No → Question 2: Is there a workaround?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Yes → Deploy Workaround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 No → Question 3: Can we mitigate?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Yes → Implement Mitigation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 No → Question 4: Is risk acceptable?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Yes → Formal Exception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 No → Business Justification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Strategy Options: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Patch: Apply official vendor patch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Upgrade: Upgrade to non-vulnerable version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Configuration Change: Modify configuration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Workaround: Temporary fix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Mitigation: Reduce exploitability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Network Isolation: Limit exposure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Exception: Accept the risk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vulnerabilities require different strategies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decision tree helps select the right strategy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Ticket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Features: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Ticket creation from vulnerabilities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Status transitions (OPEN → IN_PROGRESS → READY_FOR_TEST → TESTING → VERIFIED → CLOSED)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Assignment to owners and teams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SLA tracking and enforcement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Tickets track remediation from start to finish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Status transitions ensure consistent workflow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Patch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Patch Management Lifecycle: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Patch Availability: Vendor releases patch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Testing: Test in non-production environment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Approval: CAB review and scheduling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Deployment: Pilot → Canary → Production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Verification: Rescan and validate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Patch Type  SLA  Process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  24 hours  Emergency CAB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  72 hours  Expedited CAB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Medium  7 days  Standard CAB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Low  30 days  Standard CAB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Patching is the most common remediation strategy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Testing and staged deployment reduce risk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Exception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Exception Types: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Acceptance: Accept the risk (indefinite)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Temporary Exception: Short-term (90 days)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Compensating Control: Alternative control (indefinite)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Business Justification: Business need &gt; risk (indefinite)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Exception Process: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Submit exception request with justification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Technical review (security team)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Business review (asset owner)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Approval (CISO required)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Monitoring and review (quarterly)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Exceptions are sometimes necessary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Formal approval ensures accountability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CAB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Change Types: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Standard: Pre-approved, routine changes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Emergency: Critical security issues requiring immediate action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Normal: Routine changes requiring review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CAB Process: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Create change request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Submit for review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Review and approve/reject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Schedule implementation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Implement and verify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6. Close (or rollback if needed)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CAB ensures changes are properly reviewed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Emergency changes have expedited process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Policy as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Concepts: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Define policies in code (Rego)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Evaluate policies automatically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Enforce security gates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Provide audit trails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Example Policies: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 vulnerabilities must have tickets within 24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 tickets must meet SLA deadlines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Exceptions must be approved and valid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High-risk changes require CAB approval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Policy as Code enables automated enforcement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Audit trails provide evidence for compliance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SLA Definitions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  Remediation SLA  Patch SLA  Exception SLA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  24 hours  24 hours  4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  72 hours  72 hours  24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Medium  7 days  7 days  3 days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Low  30 days  30 days  7 days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SLAs create accountability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priorities have different deadlines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7: Verification, Metrics &amp; Governance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(Slides 7.1 – 7.9)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Part 7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7: Verification, Metrics &amp; Governance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Verification closes the loop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 drive improvement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Verification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Verification Types: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Type  Description  When to Use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Rescan  Scan the asset again  Most common verification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Regression  Check if fix broke anything  Critical systems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Manual  Human review of the fix  When automation isn't possible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Continuous  Ongoing monitoring  High-risk assets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Verification ensures fixes actually work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verification types for different contexts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Verification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Verification Workflow: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VERIFICATION WORKFLOW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Ticket     │───▶│  Trigger    │───▶│  Rescan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Ready      │    │  Verification│    │  Asset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│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▼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Compare    │───▶│  Regression │───▶│  Pass/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Findings   │    │  Testing    │    │  Fail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Verification is automated where possible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Manual verification is available when needed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Metrics: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Metric  Definition  Target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MTTR  Mean Time To Remediate  &lt; 48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SLA Compliance  % meeting SLA  &gt; 95%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Reopen Rate  % reopened  &lt; 5%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Exception Rate  % exceptions  &lt; 10%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 Aging  Average age of open vulnerabilities  &lt; 30 days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Reduction  Change in risk over time  Increasing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Metrics enable program measurement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metrics serve different audiences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Dashboard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Operational Dashboard (Analysts):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 vulnerabilities by severity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Tickets by status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SLA compliance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Recent activity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Executive Dashboard (Leadership):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reduction trend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KEV vulnerability count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Exception trends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Program effectiveness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Board Dashboard (Board):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High-level risk summary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Risk reduction in financial terms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Program maturity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audiences need different views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Dashboards should be actionable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Report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Report Types: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Executive Reports: Comprehensive program reports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Board Reports: High-level summaries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Compliance Reports: Framework-specific compliance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Operational Reports: Day-to-day operations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Reports should be professional and actionable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Different reports for different audiences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Governance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GOVERNANCE FRAMEWORK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POLICIES &amp; STANDARDS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VM Policy        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Scanning Standards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Remediation SLAs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Exception Policy 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RACI MATRIX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Responsible (Does the work)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Accountable (Has authority)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Consulted (Provides input)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Informed (Kept up to date)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METRICS &amp; REPORTING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Operational KPIs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Executive Dashboards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Board-Level Reports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Governance ensures program sustainability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Clear roles and responsibilities are essential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Maturity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Level  Name  Characteristics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0  Non-Existent  No VM program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  Initial  Ad-hoc scans, manual reporting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  Repeatable  Regular scans, basic prioritization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  Defined  Standardized process, metrics tracking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  Managed  Risk-based, continuous monitoring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  Optimizing  CTEM, AI integration, autonomous remediation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Maturity is a journey, not a destination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Regular assessment drives improvement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Audit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Audit Evidence: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Policies and standards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RACI matrix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Scanning evidence (reports, schedules)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Remediation evidence (tickets, approvals)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Exception approvals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Verification results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Metrics and dashboards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Training records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Audit readiness requires comprehensive evidence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Automation helps maintain audit evidence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8: Enterprise VM Program &amp; Future Trends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(Slides 8.1 – 8.9)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t>Part 8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8: The Enterprise VM Program &amp; Future Trends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Enterprise VM requires governance, process, and technology</a:t>
            </a:r>
          </a:p>
          <a:p>
            <a:pPr algn="ctr"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The future of VM is CTEM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Program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Governance Components: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Policies: High-level intent (VM Policy, Scanning Standard, Exception Policy)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Standards: Technical requirements (Scanning Standard, Remediation SLAs)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Procedures: Step-by-step processes (Discovery Procedure, Remediation Workflow)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RACI Matrix: Roles and responsibilities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Governance provides direction and accountability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Clear policies enable consistent execution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RACI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RACI Roles: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Responsible (R): Does the work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Accountable (A): Has authority/approval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Consulted (C): Provides input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Informed (I): Kept up to date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Activity  CISO  VM Lead  Security Analyst  IT Ops  App Owner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Asset Discovery  I  R  C  A  I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 Scanning  A  R  R  C  C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Prioritization  I  A  R  C  C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Remediation  I  C  I  R  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Exception Management  A  R  C  C  C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Verification  I  A  R  I  I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Clear roles and responsibilities prevent confusion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RACI matrix is essential for governance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Maturity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Assessment Domains: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Domain  Key Criteria  Weight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Governance  Policies, RACI, oversight  15%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Discovery  Coverage, accuracy, frequency  10%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Scanning  Credentialed, coverage, frequency  15%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Prioritization  Context, AI, risk scoring  15%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Remediation  MTTR, SLAs, automation  20%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Verification  Automated, coverage  15%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Metrics  Dashboards, reporting  10%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Regular assessment drives improvement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domain contributes to overall maturity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Capstone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Simulation Phases: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Phase 1: Setup - Create governance policies and RACI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Phase 2: Discovery - Discover assets across environments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Phase 3: Scanning - Run credentialed and uncredentialed scans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Phase 4: Enrichment - Add threat intelligence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Phase 5: Prioritization - Apply business context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6. Phase 6: Remediation - Create tickets and exceptions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7. Phase 7: Verification - Rescan and validate fixes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8. Phase 8: Governance - Run maturity assessment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9. Phase 9: Reporting - Generate executive reports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capstone brings everything together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Complete end-to-end simulation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Trends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Trends: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Trend  Description  Timeframe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CTEM  Continuous Threat Exposure Management  Current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AI-Powered VM  Autonomous remediation, predictive scoring  1-2 years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Exposure Validation  Attack path analysis, reachability assessment  1-2 years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Autonomous Remediation  Self-healing systems, automated patching  2-3 years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Continuous Compliance  Real-time compliance monitoring  2-3 years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Supply Chain Security  SBOM everywhere, SLSA compliance  1-2 years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VM landscape is rapidly evolving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CTEM represents the current state-of-the-art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CTEM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CTEM FRAMEWORK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SCOPING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Define business-critical assets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Identify crown jewels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Map data flows    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DISCOVERY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Continuous asset discovery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Vulnerability scanning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Attack surface monitoring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PRIORITIZATION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Risk-based scoring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Business context integration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AI-assisted analysis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VALIDATION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Exploit validation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Penetration testing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Breach and attack simulation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│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▼                               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MOBILIZATION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Remediation workflows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Automated patching  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Exception management                               │   │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                               │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CTEM adds validation and mobilization to traditional VM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CTEM shifts from reactive to proactive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CTEM vs Traditional VM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Aspect  Traditional VM  CTEM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Focus  Finding vulnerabilities  Reducing business risk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Scope  Known vulnerabilities  All exposures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Frequency  Periodic  Continuous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Prioritization  CVSS-based  Context-based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Validation  Optional  Required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Mobilization  Manual  Automated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Metrics  Findings counted  Risk reduction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CTEM is the future of vulnerability management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Transitioning from VM to CTEM requires process and culture changes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Takeaways: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VM is a System, Not a Tool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People, process, technology, governance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Context is Everything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CVSS alone is not sufficient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Business context is essential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Automation is Essential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Manual processes don't scale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Automate discovery, scanning, prioritization, verification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Metrics Drive Improvement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MTTR, SLA compliance, risk reduction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Dashboards for different audiences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Governance Ensures Sustainability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Policies, standards, RACI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Maturity assessment and improvement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6. The Future is CTEM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Continuous Threat Exposure Management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AI, automation, validation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series provides a complete foundation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Continuous improvement is essential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Appendix Slides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Tools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Tool  Purpose  Where Used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Nmap  Network discovery  Part 1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Masscan  High-speed scanning  Part 1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Nessus  Vulnerability scanning  Part 2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OpenVAS  Vulnerability scanning  Part 2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Trivy  Container scanning  Part 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Grype  Container scanning  Part 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Checkov  IaC scanning  Part 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Semgrep  SAST scanning  Part 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Syft  SBOM generation  Part 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Kubescape  Kubernetes scanning  Part 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Common CVSS v4 Vectors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Scenario  Vector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 RCE  CVSS:4.0/AV:N/AC:L/AT:N/PR:N/UI:N/VC:H/VI:H/VA:H/SC:N/SI:N/SA:N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Local Privilege Escalation  CVSS:4.0/AV:L/AC:H/AT:P/PR:L/UI:P/VC:H/VI:H/VA:L/SC:N/SI:N/SA:N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Medium Web Vulnerability  CVSS:4.0/AV:N/AC:L/AT:N/PR:L/UI:N/VC:L/VI:L/VA:N/SC:N/SI:N/SA:N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Sample SCAN 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`bash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python -m scanning_engine.cli scan "Web Servers" \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192.168.1.10 192.168.1.11 \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--scanner nessus \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--policy web_app \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--schedule daily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Messages: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Simple CLI for scan orchestration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Supports multiple scanners and policies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Sample Remediation Ticket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Field  Value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Ticket Number  REM-202501-0001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Vulnerability  Apache Log4j Remote Code Execution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CVE  CVE-2021-44228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Priority  Critical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SLA Deadline  2025-01-16 15:30:00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Status  In Progress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Assigned To  security-team@company.com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Teaching Notes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Session Duration Guidelines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 Presentation  Hands-On Lab  Total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1: Discovery Engine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2: Scanning Engine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3: Intelligence Backbone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4: Modern Scanning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5: Prioritization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6: Remediation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7: Verification &amp; Metrics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8: Enterprise VM Program  1-1.5 hours  2-3 hours  3-4.5 hours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Recommended Lab Setup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Linux VM with Docker, Python 3.9+, PostgreSQL, Redis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Kali Linux for network scanning tools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Docker for container scanning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Kubernetes (optional) for K8s scanning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Cloud accounts (AWS/Azure/GCP) optional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Key Tools to Install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`bash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Core tools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nmap, masscan, python3, docker, postgresql, redis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Scanning tools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nessus (free version), openvas (docker)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Modern scanning tools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trivy, grype, checkov, semgrep, syft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 tools (optional)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openai, langchain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Dashboarding tools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grafana, powerbi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Assessment Suggestions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Quiz questions after each part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Hands-on labs with verification steps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Capstone project building the complete platform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Presentation of findings and recommendations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Summary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This comprehensive slide deck outline covers all 8 parts of the "Attack Surface Loop: End-to-End Vulnerability Management" series. Each slide aligns with the curriculum, provides practical examples, and includes teaching notes for instructors.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Key strengths of this outline: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Comprehensive coverage - All 8 parts are fully mapped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Practical focus - Real-world examples and code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Clear structure - Each slide has a purpose and key messages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Instructor guidance - Teaching notes for each slide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Lab integration - Hands-on activities throughout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Reference Materials: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Complete codebase from the series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Appendixes A-E for configuration, database, API, troubleshooting, and deployment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Primers for CTEM, scoring systems, remediation strategies, and modern discovery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