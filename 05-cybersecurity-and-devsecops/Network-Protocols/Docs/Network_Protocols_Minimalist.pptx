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0" cy="508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A1A1A"/>
                </a:solidFill>
                <a:latin typeface="Helvetica"/>
              </a:defRPr>
            </a:pPr>
            <a:r>
              <a:t>Demystifying Network Protocols</a:t>
            </a:r>
          </a:p>
          <a:p>
            <a:pPr>
              <a:spcBef>
                <a:spcPts val="2000"/>
              </a:spcBef>
              <a:defRPr sz="2400">
                <a:solidFill>
                  <a:srgbClr val="666666"/>
                </a:solidFill>
                <a:latin typeface="Helvetica"/>
              </a:defRPr>
            </a:pPr>
            <a:r>
              <a:t>From Ethernet Frames to HTTP/3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Protocols are hidden behind APIs, libraries, and OS abstractions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Most tutorials focus on theory or configuration—not how they work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The gap between 'what' and 'how' limits your ability to debug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Understanding the full stack is essential for building distributed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Helvetica"/>
              </a:defRPr>
            </a:pPr>
            <a:r>
              <a:t>Target: Software Developers, DevOps, Cloud Engineers, Security Pros, Students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The Three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Observe — Capture real traffic with Wireshark, tcpdump, tshark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Build — Write Python/Node.js socket applications from scratch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Troubleshoot — Diagnose DNS failures, packet loss, TLS errors, MTU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Helvetica"/>
              </a:defRPr>
            </a:pPr>
            <a:r>
              <a:t>Every concept is reinforced with hands-on labs.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Wireshark / tshark — GUI and CLI packet analysis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tcpdump — Server-side capture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ping / traceroute / dig — Connectivity and path mapping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curl / openssl — HTTP and TLS debugging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netstat / ss / ip — Connection and routing inspection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Python socket / Node.js net,dgram — Low-level programming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Local Link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OSI vs TCP/IP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OSI 7-Layer Model: Physical → Data Link → Network → Transport → Session → Presentation → Application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TCP/IP 4-Layer Model: Link → Internet → Transport → Application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Encapsulation: Each layer wraps data with its own header as it moves down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Decapsulation: Headers are stripped as data moves up at the destination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Encapsulation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[ Application Data ]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   ↓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[ TCP Header | App Data ]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   ↓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[ IP Header | TCP | App Data ]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   ↓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[ Eth Header | IP | TCP | App Data ]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   ↓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[ 1s and 0s on the wire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Ethernet &amp;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Ethernet frame: Preamble + Dst MAC + Src MAC + EtherType + Payload + FCS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MAC address: 48-bit hardware address (OUI + NIC-specific)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Unicast → one device | Broadcast → all devices | Multicast → group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Switches learn MAC-to-port mappings; flood unknown destinations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ARP: Address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Problem: IP addresses (Layer 3) need MAC addresses (Layer 2) for local delivery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ARP Request: Broadcast 'Who has this IP?'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ARP Reply: Unicast 'This IP is at this MAC'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ARP cache stores mappings for 1–5 minutes to reduce broadcast traffic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Gratuitous ARP: Device announces its own IP/MAC to detect conflicts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Helvetica"/>
              </a:defRPr>
            </a:pPr>
            <a:r>
              <a:t>ARP spoofing attacks poison caches to redirect traffic—mitigate with DAI.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DHCP: Auto-Configuration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DORA: Discover → Offer → Request → Acknowledge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DHCPDISCOVER (broadcast) → DHCPOFFER (unicast) → DHCPREQUEST (broadcast) → DHCPACK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Lease renewal at 50% (T1) and 87.5% (T2) of lease time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Provides IP, subnet mask, gateway, DNS servers, domain name, lease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Helvetica"/>
              </a:defRPr>
            </a:pPr>
            <a:r>
              <a:t>Without DHCP, every device would need manual static configuration.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Network Layer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IPv4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32-bit address space: ~4.3 billion unique addresses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Header: Version, IHL, TOS, Total Length, ID, Flags, Fragment Offset, TTL, Protocol, Checksum, Src IP, Dst IP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TTL decrements per hop; packet discarded at 0 (prevents loops)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Protocol field: 1=ICMP, 6=TCP, 17=UDP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Addressing &amp; Subnetting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CIDR notation: 192.168.1.0/24 means first 24 bits = network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Private ranges: 10.0.0.0/8, 172.16.0.0/12, 192.168.0.0/16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NAT allows multiple private devices to share one public IP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Subnetting divides networks; longest prefix match determines route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IPv6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128-bit addresses: 340 undecillion addresses—no more exhaustion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Simplified 40-byte fixed header; no fragmentation in routers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SLAAC: Stateless auto-configuration without DHCP server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Types: Global Unicast (2000::/3), Link-Local (fe80::/10), Unique Local (fc00::/7)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ICMP &amp;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Type 0/8: Echo Reply / Echo Request (ping)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Type 3: Destination Unreachable (network, host, port, fragmentation needed)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Type 11: Time Exceeded (traceroute exploits TTL expiration)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Path MTU Discovery uses ICMP to find maximum packet size without fragmentation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Transport Layer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UDP: Speed Over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Connectionless, unreliable, minimal 8-byte header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No handshake, no sequencing, no flow control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Use cases: DNS, VoIP, video streaming, online gaming, SNMP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Checksum optional in IPv4, mandatory in IPv6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Helvetica"/>
              </a:defRPr>
            </a:pPr>
            <a:r>
              <a:t>When your application can tolerate loss but not latency, choose UDP.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TCP: Reliability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Connection-oriented: three-way handshake (SYN → SYN-ACK → ACK)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Reliable delivery via sequence numbers, acknowledgments, retransmissions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Flow control: sliding window prevents sender from overwhelming receiver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Congestion control: slow start, congestion avoidance, fast retransmit/recovery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TCP Three-Way Handshake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Client                          Server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                              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1. SYN (seq=x)               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'I want to connect'          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|-----------------------------&gt;|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                              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2. SYN-ACK (seq=y, ack=x+1)  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'OK, I received x'           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|&lt;-----------------------------|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                              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3. ACK (seq=x+1, ack=y+1)    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'Connection established'     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|-----------------------------&gt;|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                              |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  |         [ESTABLISHED]         |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TCP Connection Teardown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Four-way termination: FIN → ACK → FIN → ACK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TCP is full-duplex; both sides must independently close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TIME_WAIT: Client waits 2×MSL before fully closing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RST flag aborts connection immediately without graceful close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Application Layer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DNS: The Internet's Phonebook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Hierarchical: Root → TLD (.com) → Authoritative (example.com)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Recursive resolver caches results to speed up queries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A/AAAA: IPv4/IPv6 address | CNAME: alias | MX: mail server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TXT: verification strings | NS: name server | PTR: reverse lookup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HTTP: Request /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Methods: GET, POST, PUT, DELETE, PATCH, HEAD, OPTIONS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Idempotent vs Safe: GET is both; POST is neither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Status codes: 2xx success, 3xx redirect, 4xx client error, 5xx server error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Headers, cookies, and sessions manage state across requests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HTTP/2 &amp; HTTP/3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HTTP/2: Binary, multiplexed streams, server push, HPACK header compression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HTTP/3: Runs over QUIC (UDP) instead of TCP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QUIC eliminates head-of-line blocking with independent streams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0-RTT resumption and connection migration (IP changes don't break the connection)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Helvetica"/>
              </a:defRPr>
            </a:pPr>
            <a:r>
              <a:t>QUIC combines TLS 1.3 + TCP reliability + HTTP/2 multiplexing over UDP.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Email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SMTP (port 25/587/465): Sending email via HELO, MAIL FROM, RCPT TO, DATA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POP3 (port 110/995): Download-and-delete; single-device focused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IMAP (port 143/993): Server-side storage; multi-device sync; folders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Modern email relies on SPF, DKIM, and DMARC for authentication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Security &amp; Modern Protocols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Encryption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Symmetric: AES, ChaCha20 — same key encrypts and decrypts; fast for bulk data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Asymmetric: RSA, ECC — public key encrypts, private key decrypts; slow but secure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Hybrid TLS: Asymmetric handshake establishes shared secret, then symmetric bulk encryption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Digital signatures prove authenticity without revealing the private key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TLS 1.3 Handshake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1-RTT handshake (vs 2-RTT in TLS 1.2)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Mandatory Perfect Forward Secrecy via ephemeral Diffie-Hellman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Even if long-term private key is compromised, past sessions remain secure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0-RTT resumption for returning clients—subsequent connections are instant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Certificate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Chain verification: Leaf → Intermediate CA → Root CA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Validity period, domain name matching (CN + SAN), key usage checks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Revocation: OCSP and CRL ensure compromised certs are rejected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All checks must pass or the browser shows an untrusted connection warning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Packet Analysis with Wireshark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Capture filters (BPF): host, port, net, protocol, boolean logic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Display filters: tcp.flags.syn==1, http.request.method=='GET', dns.qry.name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Follow TCP/HTTP/TLS streams to reconstruct conversations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Decrypt TLS traffic with SSLKEYLOGFILE for deep inspection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The Complete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┌─────────────────────────────────────┐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│  Application    DNS, HTTP, SMTP     │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├─────────────────────────────────────┤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│  Security       TLS, HTTP/3, QUIC   │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├─────────────────────────────────────┤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│  Transport      TCP, UDP, Sockets   │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├─────────────────────────────────────┤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│  Network        IPv4, IPv6, Routing │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├─────────────────────────────────────┤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│  Link           Ethernet, ARP, DHCP │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├─────────────────────────────────────┤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│  Physical       Copper, Fiber, WiFi │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  <a:latin typeface="Courier New"/>
              </a:defRPr>
            </a:pPr>
            <a:r>
              <a:t>  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What You Can Now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Build: TCP/UDP servers, HTTP clients, DNS tools, SMTP clients, SNMP monitors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Diagnose: Packet loss, latency, DNS failures, TLS handshake errors, MTU issues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Secure: Implement TLS clients, validate certificates, decrypt traffic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Optimize: Choose TCP vs UDP vs QUIC based on application requirements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  <a:latin typeface="Helvetic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Deepen: SDN, NFV, BGP, MPLS, network automation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Certify: CCNA/CCNP, AWS/Azure networking, Network+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Build: Monitoring dashboards, packet analyzers, VPN servers, load balancers</a:t>
            </a:r>
          </a:p>
          <a:p>
            <a:pPr>
              <a:spcBef>
                <a:spcPts val="1600"/>
              </a:spcBef>
              <a:defRPr sz="2000">
                <a:solidFill>
                  <a:srgbClr val="1A1A1A"/>
                </a:solidFill>
                <a:latin typeface="Helvetica"/>
              </a:defRPr>
            </a:pPr>
            <a:r>
              <a:t>Share: Write, present, contribute to open-source networking projects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371600" cy="50800"/>
          </a:xfrm>
          <a:prstGeom prst="rect">
            <a:avLst/>
          </a:prstGeom>
          <a:solidFill>
            <a:srgbClr val="2D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A1A1A"/>
                </a:solidFill>
                <a:latin typeface="Helvetica"/>
              </a:defRPr>
            </a:pPr>
            <a:r>
              <a:t>Thank You</a:t>
            </a:r>
          </a:p>
          <a:p>
            <a:pPr>
              <a:spcBef>
                <a:spcPts val="2000"/>
              </a:spcBef>
              <a:defRPr sz="2400">
                <a:solidFill>
                  <a:srgbClr val="666666"/>
                </a:solidFill>
                <a:latin typeface="Helvetica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