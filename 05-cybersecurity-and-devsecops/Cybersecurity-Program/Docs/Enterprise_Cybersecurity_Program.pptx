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Title: Enterprise Cybersecurity Program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Subtitle: Building a World-Class Security Program for Multinational Corporations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Presenter: [Name]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Timeline graphic showing 6 parts + primers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 0: Introduction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 1: Governance &amp; Strategy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 2: Asset Discovery &amp; Classification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 3: Foundational Security Controls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 4: Detection &amp; Response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 5: Supply Chain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 6: Culture &amp;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Cybercrime statistics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Stats: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$4.45M average breach cost (IBM 2023)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- 60%+ breaches involve third parties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- 95% of breaches involve human error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- 80%+ of organizations have experienced a supply chain attack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Checkmark list icon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Objectives: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Design a comprehensive enterprise cybersecurity program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Establish governance structures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Implement Zero Trust principles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Deploy foundational security controls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Build detection and response capabilities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Manage third-party and supply chain risks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7. Foster a security-first culture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Persona icons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Audience: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CISOs and Security Directors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Architects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IT Managers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Governance &amp; Risk Professionals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Aspiring Security Professionals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Business Leaders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"Pain point" icons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Challenges: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- 50,000+ employees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- 25+ countries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Multiple cloud providers (AWS, Azure, GCP)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Thousands of applications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Hundreds of vendors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Sensitive customer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Threat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Threat types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Threats: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Ransomware attacks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Phishing campaigns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Supply chain compromises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Insider threats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Nation-state actors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Zero-day vulnerabilities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Regulatory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Regulatory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GDPR (EU)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CCPA/CPRA (California)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HIPAA (US Healthcare)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PCI DSS (Global)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PDPA (Singapore)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SOX (US Financial)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Cost of Insecurity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Cost breakdown chart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Costs: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Breach response: $4.45M average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Regulatory fines: Up to €20M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Lost business: $2M+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Reputation damage: 60% of customers leave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Legal costs: $1M+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"Solution" icon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Solution: A comprehensive, resilient, continuously improving cybersecurity program that protects the organization, enables business, and builds trust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Program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Complete architecture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Diagram: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Governance Layer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Identify &amp; Protect Layer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Detect &amp; Respond Layer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Supply Chain Layer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Culture &amp; Improvement Layer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Governance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Governance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Executive Board Committee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Cyber Risk Framework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Policies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Regulatory Compliance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Identify &amp; Protect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Asset &amp; protection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Asset Discovery &amp; CMDB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Classification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Identity &amp; Access Control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Controls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Zero Trust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Detect &amp; Respond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SOC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SIEM &amp; Logging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SOC/MDR Operations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Response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Business Continuity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Supply Chain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Supply chain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Vendor Risk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Third-Party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SBOM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External Monitoring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Culture &amp; Improvement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Culture cycle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Awareness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Training Programs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KPIs &amp; KRIs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Dashboards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Maturity Assessment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How Everything Connects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Flow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Flow: Business Strategy → Risk Appetite → Security Controls → Asset Inventory → Data Classification → Zero Trust Policies → IAM &amp; MFA → Protection Controls → Logging &amp; Detection → Incident Response → Recovery → Lessons Learned → Program Improvement → Maturity Growth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Zero Trust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Zero Trust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Principles: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Never Trust, Always Verify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Least Privilege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Assume Breach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Micro-segmentation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Continuous Monitoring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Defense in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Castle/onion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Layers: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Outer: Network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Middle: Endpoint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Inner: Application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Core: Data protection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Frameworks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Framework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Frameworks: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CSF 2.0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ISO/IEC 27001:2022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CIS Controls v8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Zero Trust (NIST SP 800-207)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SP 800-61 (Incident Response)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SP 800-161 (Supply Chain)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1 - Governance &amp;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Building foundation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Deliverables: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Governance Charter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RACI Matrix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Framework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Policies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- 3-Year Strategy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2 - Asset Discovery &amp;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Discovery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Deliverables: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Asset Inventory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CMDB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Classification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ZTA Design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Regulatory Mapping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3 - Foundational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Shield icon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Deliverables: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IAM System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MFA Implementation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PAM System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EDR/XDR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Encryption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Network Segmentation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4 - Detection &amp;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Alert icon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Deliverables: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SIEM Platform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SOC Operations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IR Playbooks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BCP/DR Plans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5 &amp; 6 - Supply Chain &amp;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Chain &amp; culture icons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Deliverables: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Vendor Risk Program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SBOM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Awareness Program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KPI/KRI Framework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Maturity Assessment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You'll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Tool icons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Requirements: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Computer with internet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Text editor/IDE (VS Code recommended)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account (AWS Free Tier)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GitHub account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Basic understanding of IT infrastructure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Time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Calendar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Timeline: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 0: 30 minutes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 1: 4-6 hours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 2: 5-8 hours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 3: 6-10 hours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 4: 5-8 hours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 5: 4-6 hours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 6: 4-6 hours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Total: 28-44 hours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Learning cycle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Method: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Read the concept explanations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Write the code yourself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Run the verification steps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Explore the reference sections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Apply to your context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Success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Case study icons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Stories: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Financial Services: 60% risk reduction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Manufacturing: Stopped 3 ransomware attacks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Tech Startup: Achieved compliance in 6 months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Ready to 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Start button icon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Next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 1: Governance, Leadership &amp; Cyber Risk Strategy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Let's go build something amazing!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1 -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Title: Governance, Leadership &amp; Cyber Risk Strategy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Subtitle: Building the Foundation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Part: 1 of 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Checkmark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Objectives: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Position cybersecurity as an enterprise business risk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Build executive sponsorship and Board oversight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Create governance structures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Define roles and accountability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Develop a cyber risk management framework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Create security policies and strategy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Governance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"Why governance?"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Questions: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Who decides?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What do we protect?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How do we know we're successful?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Analogy: Building a house without a blueprint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Good Governance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Governance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Elements: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Clear decision-making authority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Defined risk appetite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Documented policies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Clear roles and responsibilities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Accountability and measurement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Frameworks We'll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Framework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Frameworks: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CSF 2.0 (GOVERN function)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ISO/IEC 27001:2022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CIS Controls v8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SP 800-30 (Risk Assessment)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Executive Sponsorship Imperative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Executive icons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Why it Matters: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- 60% of programs fail without executive support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Resource allocation requires leadership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Culture change starts at the top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decisions need authority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Governance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Organizational chart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Structure: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Board of Directors Cybersecurity Committee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Executive Cybersecurity Council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Cybersecurity Operational Committee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Regional Security Committees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Board Committee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Board room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Responsibilities: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Approve cybersecurity strategy and budget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Oversee risk posture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Review key risk indicators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Approve major investments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Ensure executive accountability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Executive Council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Meeting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Responsibilities: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Set strategic direction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Allocate resources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Make key risk decisions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Oversee program execution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Review and approve policies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Operational Committee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Operations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Responsibilities: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Operationalize strategic decisions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Manage security projects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Coordinate across regions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Monitor operations and metrics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Regional Committees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Globe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Responsibilities: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Address regional regulations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Adapt global policies locally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Manage regional risk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Coordinate with local authorities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Governance Charter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Document icon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Elements: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Purpose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Scope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Guiding Principles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Governance Structure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Roles and Responsibilities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Decision-Making Authority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Reporting Lines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Review Cycle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Sample Charter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Document preview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Sections: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Cybersecurity is a business risk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Risk-based approach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Shared responsibility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Continuous improvement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Regulatory compliance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Board Reporting Cadence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Calendar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Reporting: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Quarterly Board Briefings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Annual Board Retreat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Incident-driven updates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Budget reviews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Strategy reviews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Governance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Decision tree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Decisions: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appetite setting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Budget allocation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Major investments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Policy approval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escalation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Strategy changes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RACI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RACI matrix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R: Responsible (does the work)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A: Accountable (ensures it gets done)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C: Consulted (provides input)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I: Informed (needs to know)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Role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Role icons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Roles: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Board Cybersecurity Committee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CISO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CIO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CRO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CPO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Business Unit Heads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Team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All Employees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RACI for Strategy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RACI matrix excerpt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Activities: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Approve enterprise security strategy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Develop security strategy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Define risk appetite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Approve security policies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Report to Board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RACI for Risk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RACI matrix excerpt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Activities: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Identify business risks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Document risk register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Assess risk remediation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Approve risk acceptance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Track risk mitigation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RACI for Security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RACI matrix excerpt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Activities: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Operate security monitoring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Manage security incidents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Conduct incident response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Perform digital forensics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Test incident response plans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RACI for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RACI matrix excerpt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Activities: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Interpret regulatory requirements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Map controls to requirements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Evidence collection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Remediate audit findings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Report compliance status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Escalation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Escalation flowchart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Paths: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Escalation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Escalation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Issue Escalation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Change Escalation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Decision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Decision authority chart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 1: Board (Strategic)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 2: Executive Committee (Direction)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 3: Security Committee (Operational)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 4: CISO (Execution)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 5: Security Team (Technical)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RACI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Communication flow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Methods: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Publish to all employees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Include in onboarding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Regular reviews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Update as needed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Escalation training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RACI Review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Review cycle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Process: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Bi-annual review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After major changes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Following incidents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On stakeholder request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Continuous improvement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Management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Risk management cycle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Purpose: Decide what to protect and how much to spend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Analogy: Car safety - seatbelts vs bulletproof tank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Management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Principles icons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Principles: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Risk-based decision making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Comprehensive view of risks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Continuous assessment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Transparency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Accountability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Appetite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Appetite scale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appetite (what we accept)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tolerance (how much)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boundaries (what we don't accept)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Appetite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Risk appetite scale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We Accept: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Controlled risks for innovation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Calculated risks for growth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Residual risks within tolerance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We Don't Accept: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Business viability threats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Regulatory non-compliance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Reputational damage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Customer trust loss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Tolerance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Tolerance 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Financial Impact: &gt;$5M → Immediate escalation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Regulatory: Any violation → Legal notification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Reputational: Major exposure → Board notification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Operational: &gt;4-hour outage → Crisis activation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Breach: &gt;100K records → Regulatory reporting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Calculation formula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Formula: Risk = Likelihood × Impact × Velocity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Likelihood: 1-5 (probability)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Impact: 1-5 (consequence)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Velocity: 1-5 (speed)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Score: 1-125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Scoring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Scoring 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Likelihood: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- 1: Rare (10+ years)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- 2: Unlikely (5-10 years)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- 3: Possible (1-5 years)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- 4: Likely (multiple/year)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- 5: Almost certain (frequent)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Risk level matrix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- 1-5: Low → Accept/monitor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- 6-12: Medium → Mitigate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- 13-19: High → Immediate mitigation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- 20-25: Critical → Emergency response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Assessment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Process flowchart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Identification (assets, threats, vulnerabilities)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Analysis (impact, likelihood, controls)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Evaluation (compare to appetite, prioritize)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Treatment (accept, mitigate, transfer, avoid)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Monitoring (track, review, report)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Register sample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Fields: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ID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Owner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Description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Category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Likelihood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Impact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Velocity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Score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Level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Controls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Action Plan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Timeline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Status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Register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Completed register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Example: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ID: RISK-2024-001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Owner: CISO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Description: Unauthorized access to PII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Category: Data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Score: 36 (High)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Controls: MFA, RBAC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Action: Implement DLP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Treatment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Treatment options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Options: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Accept: Do nothing (within appetite)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Mitigate: Implement controls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Transfer: Insurance, vendor agreements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Avoid: Stop the activity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Treatment 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Decision tree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Process: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Is risk within appetite?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Yes → Accept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 → Can we mitigate?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Yes → Implement controls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 → Can we transfer?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Yes → Transfer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 → Avoid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Monitoring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Reporting cadence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Frequency: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Register: Weekly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Dashboard: Monthly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Summary: Quarterly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Annual Report: Annually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Risk Indicators (KRIs)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KRI 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Indicators: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Open critical risks &gt; 10 → CISO escalation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Remediation time &gt; 90 days → Executive Council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Third-party exceptions &gt; 5% → Procurement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Regulatory findings open → CLO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frequency &gt; 2/month → Executive Council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Policy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Policy hierarchy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Purpose: Establish security requirements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Characteristics: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Clear: Easy to understand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Comprehensive: Cover all areas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Enforceable: Can be monitored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Practical: Balance security and business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Policy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Policy pyramid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Strategic: Information Security Policy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Tactical: Domain policies (Access, Data, etc.)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Operational: Standards and procedures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Technical: Configuration baselines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Core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Policy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Policies: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Information Security Policy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Access Control Policy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Acceptable Use Policy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Data Classification Policy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Incident Response Policy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BCP/DR Policy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7. Third-Party Security Policy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8. Security Awareness Policy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Policy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Policy template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Purpose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Scope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Policy Statements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Roles and Responsibilities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Compliance and Enforcement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Review Cycle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7. Framework Mapping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Information Security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Policy preview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Elements: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principles (CIA triad)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requirements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Roles and responsibilities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Compliance monitoring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Policy reviews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Access Control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Policy preview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Elements: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Least privilege principle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Need-to-know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Separation of duties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Just-in-time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MFA requirements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Acceptable Use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Policy preview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Elements: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Permitted activities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Prohibited activities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BYOD requirements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Monitoring and enforcement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User acknowledgment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Data Classification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Policy preview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Elements: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Classification levels (5 levels)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Classification criteria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lifecycle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Protection requirements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labeling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Policy Development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Development flowchart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Draft: Write the policy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Review: Legal, compliance, stakeholders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Approve: CISO and executive leadership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Communicate: Notify all employees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Train: Provide training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Maintain: Review and update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Policy Approval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Approval workflow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Approvals: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Policy Owner: Draft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Legal Review: Compliance check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Review: Technical validation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Executive Review: Strategic alignment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CISO Approval: Final sign-off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Policy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Communication channels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Methods: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All employee notification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Training deployment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Manager briefings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Q&amp;A resources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Intranet posting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Policy Enforcement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Enforcement mechanism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Methods: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Technical controls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Process compliance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Monitoring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Auditing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Disciplinary action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Policy Reviews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Review cycle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Frequency: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Annual: Full review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Incident-driven: As needed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Regulatory-driven: As needed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Technology-driven: As needed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Organizational change: As needed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Policy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Exception process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Process: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Request with justification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Risk assessment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Compensating controls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Time-limited approval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Regular review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Framework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Mapping 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Mappings: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CSF 2.0 → Policy sections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ISO 27001 → Control references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CIS Controls → Implementation guidance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Regulatory → Compliance requirements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Strategy Imperative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Strategy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Why It Matters: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Aligns security with business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Sets clear priorities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Defines measurable outcomes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Allocates resources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Shows progress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3-Year Strategy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3-year timeline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Year 1: Foundation Building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Year 2: Operational Excellence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Year 3: Program Maturity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Year 1 -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Year 1 timeline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Initiatives: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Q1: Governance &amp; Strategy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Q2: Asset Discovery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Q3: Identity &amp;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Q4: Foundational Controls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Year 2 - Operational 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Year 2 timeline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Initiatives: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Q1: Detection &amp; Response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Q2: BCP &amp; DR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Q3: Cloud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Q4: Third-Party Security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Year 3 - Program Maturity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Year 3 timeline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Initiatives: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Q1: Security Culture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Q2: Automation &amp; AI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Q3: Maturity Assessment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Q4: Continuous Improvement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Investment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Budget chart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Allocation: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Year 1: $8.7M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Year 2: $8.9M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Year 3: $7.3M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Total: $24.9M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Resource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Resource 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Headcount: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Year 1: 46 staff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Year 2: 67 staff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Year 3: 83 staff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Managed services: Partial → Full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KPI 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KPIs: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Score: 35 → 25 → 18 → 12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MFA Adoption: 40% → 90% → 95% → 98%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MTTR: 72 hrs → 24 hrs → 8 hrs → 4 hrs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Vulnerability Age: 90 days → 30 days → 14 days → 7 days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Maturity Level: 1 → 2 → 3 → 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Management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Risk appetite grid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Domain Appetites: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Security: 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Compliance: Very 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Operational: Moderate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Innovation: Moderate-High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Third-Party: Low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Continuous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Maturity journey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Initial (Reactive)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Repeatable (Standardized)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Defined (Documented)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Managed (Measured)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Optimizing (Continuous)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You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Checklist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Deliverables: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Governance charter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RACI matrix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management framework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policies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- 3-year strategy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register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Decisions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Decision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Decisions: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appetite: Moderate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calculation: Likelihood × Impact × Velocity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Governance structure: 4-tier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Strategy horizon: 3 years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Frameworks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Framework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Frameworks: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CSF 2.0 (GOVERN function)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ISO/IEC 27001 (ISMS)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CIS Controls (Governance)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Key takeaways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Takeaways: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Start with governance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Security is a business risk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Risk-based approach drives decisions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Clear accountability enables success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Strategy aligns with business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1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Part 1 → Part 2 arrow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Next: Discover, Classify &amp; Protect Enterprise Assets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Preview: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Automated asset discovery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classification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Zero Trust Architecture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2 -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Title: Discover, Classify &amp; Protect Enterprise Assets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Subtitle: Know What You're Protecting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Part: 2 of 6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Checkmark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Objectives: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Build automated asset discovery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Create a comprehensive CMDB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Implement data classification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Protect PII, IP, and regulated data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Map regulatory obligations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Design Zero Trust Architecture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Visibility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"Hidden assets"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Challenges: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Shadow IT (unauthorized cloud services)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Unmanaged devices (BYOD, IoT)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Legacy systems (forgotten servers)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sprawl (where is your data?)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complexity (multi-cloud environments)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Visibility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Visibility statement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Principle: "You cannot protect what you don't know exists."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You cannot protect what you don't know exists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You cannot prioritize without understanding criticality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You cannot respond without knowing what's affected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Frameworks We'll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Framework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Frameworks: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CSF 2.0 (IDENTIFY function)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Zero Trust Architecture (NIST SP 800-207)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GDPR/CCPA/HIPAA (Privacy regulations)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CIS Controls v8 (Asset management)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Are Your Assets?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Asset categories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Categories: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Hardware (servers, network devices, endpoints)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Software (OS, applications, databases)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(structured, unstructured, IP)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(instances, storage, services)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Network (segments, IP ranges, connections)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Asset Criticality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Tier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Tiers: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Tier 1: Critical to business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Tier 2: Important to business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Tier 3: Support functions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Tier 4: Non-critical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Asset Discovery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Discovery methods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Methods: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Automated scanning (nmap, Nessus)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APIs (AWS, Azure, GCP)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Agent-based discovery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Configuration management (CMDB, Puppet)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Manual inventory audits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Discovery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Workflow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Define Scope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Select Tools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Execute Discovery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Validate Results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Reconcile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Document in CMDB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Discovery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Question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Questions: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What is it? (Asset type and purpose)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Where is it? (Location and environment)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Who owns it? (Business owner)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What data does it contain? (Data sensitivity)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What does it connect to? (Dependencies)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Cloud Asset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Cloud diagrams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AWS: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EC2 instances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S3 buckets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RDS databases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Lambda functions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Azure: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VMs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Storage accounts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SQL databases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Functions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GCP: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Compute instances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Storage buckets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SQL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Functions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On-Premises Asset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Server room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Methods: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Network scanning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Agent-based collection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Configuration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Manual inventory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Asset Discovery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Tool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Tools: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AWS Config/Resource Explorer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Azure Resource Graph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GCP Asset Inventory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Network scanners (Nmap, Nessus)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CMDB tools (ServiceNow, Jira)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Discovery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Automation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Benefits: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Real-time visibility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Reduced manual effort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Increased accuracy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Continuous discovery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Automated reconciliation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Discovery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Validation process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Checks: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Verify discovered assets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Identify false positives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Fill missing information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Assign owners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Document criticality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is a CMDB?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CMDB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Configuration Management Database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Purpose: Repository of IT assets and relationships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Why You Need a CMDB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Benefits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Benefits: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Visibility: Know what you have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Relationships: Understand dependencies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Impact Analysis: Assess changes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Change Management: Track changes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Asset Lifecycle: Manage from acquisition to retirement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CMDB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CMDB structure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Configuration Items (CIs)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 Attributes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Relationships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Version History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CMDB Configuration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CI types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Types: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Infrastructure (servers, network devices)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Applications (software, databases)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Databases (SQL, NoSQL)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Network (segments, VPNs)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(firewalls, IDS/IPS)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(instances, storage)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CI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Relationship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Types: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Depends 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Runs 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Hosts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Connects To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Uses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Managed By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Building Your CMDB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Build process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Define CI Types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Define Attributes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Populate Data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Define Relationships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Maintain and Update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CMDB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Data model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Fields: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 ID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 Class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Name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Description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Owner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State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Attributes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Relationships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Version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CMDB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Maintenance cycle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Activities: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Regular discovery updates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Change tracking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Relationship updates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Version control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Audit compliance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CMDB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Integration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Integrations: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Asset discovery tools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Change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tools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providers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CMDB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Asset coverage: &gt;95%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Accuracy: &gt;95%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Currency: Updated within 24 hours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Relationships: Complete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Usage: Active engagement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Why Classify Data?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Classification benefits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Benefits: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Identify sensitive information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Apply appropriate protections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Meet regulatory requirements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Allocate resources effectively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Respond to incidents appropriately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Classification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5-level pyramid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Public (freely shareable)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Internal (internal use only)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Confidential (sensitive business info)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Highly Confidential (critical business info)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Critical (mission-critical info)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Level 1 - Public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Level 1 card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Freely shareable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Examples: Marketing, press releases, public reports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Protection: Availability controls only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Level 2 -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Level 2 card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Internal use only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Examples: Policies, internal communications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Protection: Basic access, encryption in transit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Level 3 - Confidential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Level 3 card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Sensitive business information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Examples: Customer data, financial projections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Protection: RBAC, encryption at rest and in transit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Level 4 - Highly Confidential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Level 4 card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Critical business information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Examples: PII, PHI, intellectual property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Protection: Strict access control, AES-256 encryption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Level 5 - Critical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Level 5 card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Mission-critical information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Examples: Encryption keys, authentication credentials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Protection: HSM, air-gapped storage, MFA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Classification 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Decision tree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Process: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Is the data publicly available?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Yes → Level 1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 → Contains personal information?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Yes → Contains PII/PHI?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Yes → Level 4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 → Level 3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 → Contains business-sensitive info?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Yes → Contains IP/trade secrets?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Yes → Level 4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 → Level 3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 → Level 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Data Classification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Process steps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Identify data (where is your data?)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Analyze content (what is the data?)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Apply criteria (what is the sensitivity?)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Assign classification (what level?)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Apply labels (mark the data)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Implement controls (protect the data)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7. Review and update (annual review)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Data Labeling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Label examples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Format: [CLASSIFICATION] - [DATA TYPE] - [OWNER] - [CREATION DATE]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Examples: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[PUBLIC] - Marketing Materials - Marketing - 2024-01-15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[CONFIDENTIAL] - Customer Data - Sales - 2024-01-15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[HIGHLY CONFIDENTIAL] - PII - HR - 2024-01-15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Regulatory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Regulation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GDPR (EU): Personal data protection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CCPA/CPRA (California): Consumer privacy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HIPAA (US): Healthcare data protection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PCI DSS (Global): Payment card data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PDPA (Singapore): Personal data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GDPR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GDPR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Requirements: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Lawful processing (Article 6)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subject rights (Articles 12-22)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of processing (Article 32)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Breach notification (Article 33)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Protection Impact Assessment (Article 35)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CCPA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CCPA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Requirements: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Right to know (1798.100)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Right to delete (1798.105)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Right to opt-out (1798.110)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Right to correct (1798.106)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Right to non-discrimination (1798.130)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Regulatory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Mapping 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Mapping: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Classification → GDPR/CCPA compliance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Access Controls → HIPAA/PII protection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Encryption → PCI DSS/HIPAA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Response → Breach notification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Retention → Data lifecycle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Compliance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Control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Controls: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discovery and inventory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classification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Access controls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Encryption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retention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Breach notification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Vendor management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is Zero Trust?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Zero Trust logo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"Never trust, always verify."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Assumptions: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The network is compromised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Threats exist everywhere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Every access request must be verified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Zero Trust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Principles icons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Principles: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Never Trust, Always Verify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Least Privilege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Assume Breach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Micro-segmentation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Continuous Monitoring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Zero Trust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ZTA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Identity &amp;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Device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Network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Protection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Monitoring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Identity &amp;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IAM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MFA (Multi-Factor Authentication)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SSO (Single Sign-On)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PAM (Privileged Access Management)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IGA (Identity Governance)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Device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Device security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EDR/XDR (Endpoint Detection and Response)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MDM (Mobile Device Management)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Device Compliance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Application Control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Network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Network security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Micro-segmentation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ZTNA (Zero Trust Network Access)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Network Monitoring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Firewalls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Data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Data protection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Classification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Encryption (at rest, in transit, in use)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DLP (Data Loss Prevention)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Lifecycle Management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Zero Trust Implementation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Phased timeline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Phases: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Identity Foundation (Months 1-3)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Device Security (Months 3-6)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Network Segmentation (Months 6-9)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Data Protection (Months 9-12)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ZTNA vs 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Comparison 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VPN: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Full network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Implicit trust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Limited visibility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ZTNA: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Application-level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Continuous verification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Full visibility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Zero Trust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MFA Adoption: 100%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ZTNA Coverage: 80%+ of apps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Micro-segmentation: 50%+ of workloads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Access Violations: &lt;10/month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Lateral Movement: 0 incidents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You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Checklist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Deliverables: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Asset discovery system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CMDB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classification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Regulatory mapping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Zero Trust Architecture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Decisions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Decision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Decisions: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Discovery strategy: API-based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Classification levels: 5-tier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Zero Trust model: NIST SP 800-207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lifecycle: Creation to destruction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Frameworks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Framework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Frameworks: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CSF 2.0 (IDENTIFY function)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Zero Trust (NIST SP 800-207)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GDPR/CCPA/HIPAA (Privacy regulations)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CIS Controls v8 (Asset management)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Key takeaways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Takeaways: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You can't protect what you don't know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Classification drives protection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Zero Trust changes the security model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Data lifecycle management is essential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Regulatory compliance is a driver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2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Part 2 → Part 3 arrow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Next: Implement Foundational Security Controls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Preview: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IAM and MFA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EDR/XDR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Network segmentation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Encryption and DLP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3 -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Title: Implement Foundational Security Controls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Subtitle: Building Your Security Capabilities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Part: 3 of 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Checkmark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Objectives: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Deploy comprehensive IAM with MFA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Implement PAM with just-in-time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Deploy EDR/XDR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Implement micro-segmentation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Deploy CSPM for multi-cloud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Implement encryption and DLP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7. Establish secure configuration baselines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Control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Control categories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Categories: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Preventive (stop the threat)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Detective (find the threat)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Corrective (fix the problem)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Deterrent (discourage the threat)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Control Priority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Priority pyramid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Priority: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Identity &amp; Access (most common attack vector)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Endpoint Security (critical for protection)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Network Security (prevent lateral movement)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Data Protection (protect what matters most)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Security Operations (detect and respond)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Frameworks We'll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Framework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Frameworks: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CSF 2.0 (PROTECT function)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ISO/IEC 27001:2022 (Controls)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CIS Controls v8 (Implementation)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SP 800-53 (Security controls)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Why IAM is Critical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IAM importance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Statistics: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- 80%+ of breaches involve compromised credentials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Identity is the new perimeter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Every access request must be verified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IAM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IAM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Identity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Authentication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Authorization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Privileged Access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Identity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Identity lifecycle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Lifecycle: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Create (onboarding)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Modify (changes)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Disable (offboarding)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Review (recertification)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Authentication methods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Methods: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Password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MFA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SSO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Passwordless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Biometrics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Authorization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Models: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RBAC (Role-Based Access Control)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ABAC (Attribute-Based Access Control)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Least Privilege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Just-in-Time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Privileged Access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PAM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Credential vaulting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Session recording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Just-in-time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Credential rotation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MFA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MFA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Methods: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TOTP (Google Authenticator)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FIDO2 (Security Keys)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Push Notifications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SMS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Email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Enforcement: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All users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Privileged users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External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Critical systems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MFA Enforcement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Enforcement flow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Process: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Select MFA solution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Define MFA policies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Enroll users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Enforce MFA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Monitor adoption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Role-Based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RBAC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Roles: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Admin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Engineer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Analyst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IT Engineer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Developer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Business User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Viewer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Least Privilege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Least privilege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Principle: Give minimum access required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Implementation: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Start with no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Grant only what's needed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Review regularly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Remove unused permissions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Privileged Access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PAM workflow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Process: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Request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Approve (Manager + Security)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Provision access (time-limited)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Use access (session recorded)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Remove access (automatic)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Access Reviews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Review schedule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Frequency: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User Access: Quarterly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Privileged Access: Monthly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Application Access: Quarterly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Vendor Access: Monthly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Identity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IGA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Access certifications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Role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Segregation of duties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Provisioning automation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IAM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MFA Adoption: 95%+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Access Review Completion: 100%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Offboarding Time: &lt;24 hours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Privileged Access: 100% managed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Passwordless Adoption: 50%+ (target)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IAM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Tool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Tools: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Identity Providers: Azure AD, Okta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PAM: CyberArk, BeyondTrust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IGA: SailPoint, Okta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SSO: SAML 2.0, OAuth 2.0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Endpoint Security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Endpoint types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What are Endpoints?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Workstations (laptops, desktops)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Servers (physical, virtual)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Mobile devices (phones, tablets)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IoT devices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workloads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EDR/XDR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EDR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Capabilities: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Real-time monitoring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Threat detection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Automated response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Forensic collection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Threat hunting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EDR/XDR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EDR components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Sensors (on endpoints)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console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Detection engine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Response engine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Threat intelligence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EDR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Deployment phases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Phases: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Planning (requirements, architecture)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Pilot (test with small group)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Rollout (phased deployment)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Operationalization (monitoring, tuning)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EDR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Policy types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Policies: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Prevention (block threats)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Detection (alert on threats)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Response (automated actions)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Reporting (metrics and dashboards)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Endpoint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Hardening checklist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Controls: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Secure configurations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Patch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Application control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Firewall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Encryption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Patch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Patch lifecycle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Process: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Identify (monitor vendor updates)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Assess (evaluate urgency)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Test (validate in test environment)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Deploy (phased rollout)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Verify (validate installation)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Application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Application control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Models: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Whitelist (allow only approved)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Blacklist (block known bad)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Trusted (allow trusted publishers)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Endpoint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Compliance checks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Requirements: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EDR installed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Antivirus active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Firewall enabled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Patches current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Encryption enabled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EDR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EDR Coverage: 100%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Detection Rate: &gt;90%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False Positive Rate: &lt;10%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Response Time: &lt;30 minutes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Threat Hunting: Continuous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Network Security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Network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Segmentation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Firewalls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Micro-segmentation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ZTNA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Monitoring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Network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Segmentation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Basic (DMZ, internal, management)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Functional (HR, finance, engineering)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Application (web, app, database tiers)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Workload (individual servers/services)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Micro-segmentation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Micro-segmentation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Granular network segmentation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Benefits: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Limit lateral movement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Contain breaches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Zero Trust alignment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Cloud-native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Firewalls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Firewall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Types: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Perimeter firewalls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Internal firewalls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firewalls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Next-generation firewalls (NGFW)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Firewall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Firewall rules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Principles: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Default Deny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Least Privilege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Defense in Depth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Regular Review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ZTNA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ZTNA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Zero Trust Network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Benefits: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Application-level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Continuous verification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 implicit trust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Better user experience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Network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Network monitoring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Activities: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Traffic analysis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Anomaly detection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Intrusion detection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DNS monitoring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Network Security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Segmentation: 100% of critical assets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ZTNA Coverage: 80%+ of applications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Firewall Compliance: 100%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Network Incidents: &lt;5/month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Cloud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Cloud security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CSPM (Cloud Security Posture Management)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IAM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monitoring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compliance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CSPM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CSPM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Capabilities: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Configuration monitoring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Compliance checks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assessment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Remediation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Data Protection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Data protection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Encryption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DLP (Data Loss Prevention)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Backup and Recovery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Lifecycle Management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Encryption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Encryption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Types: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At Rest (AES-256)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 Transit (TLS 1.3)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 Use (Tokenization/FHE)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Encryption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Strategy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Elements: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classification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Algorithm selection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Implementation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Key management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generation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storage (KMS, HSM)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rotation (90 days)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backup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Key destruction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DLP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Capabilities: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discovery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Policy enforcement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Monitoring and alerts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Remediation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DLP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DLP workflow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Identify sensitive data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Define policies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Deploy DLP tools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Configure alerts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Remediate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Review and tune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Data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Lifecycle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Phases: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Create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Store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Use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Share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Archive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Destroy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Immutable Backups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Immutable backup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Backups that cannot be modified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Why: Protect against ransomware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How: WORM storage, access controls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Data Protection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Encryption Coverage: 95%+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DLP Coverage: 90%+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Backup Coverage: 100%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Recovery Testing: Quarterly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Data Protection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Tool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Tools: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Encryption: KMS, Key Vault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DLP: Microsoft Purify, Forcepoint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Backup: Veeam, CommVault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You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Checklist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Deliverables: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IAM System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MFA Implementation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PAM System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EDR/XDR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Network Segmentation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Encryption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CSPM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DLP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Controls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Control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Controls: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Identity &amp; Access (MFA, PAM)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Endpoint (EDR/XDR)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Network (Segmentation, ZTNA)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(CSPM)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(Encryption, DLP)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Framework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Mapping 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Mappings: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MFA: NIST PR.AC-7, CIS 6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PAM: NIST PR.AC-6, CIS 5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EDR: NIST PR.IP-7, CIS 10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Encryption: NIST PR.DS-1, CIS 3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Key takeaways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Takeaways: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Identity is the new perimeter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MFA prevents credential theft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EDR provides endpoint visibility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Segmentation limits lateral movement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Encryption protects data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3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Part 3 → Part 4 arrow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Next: Detection, Incident Response &amp; Cyber Resilience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Preview: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SIEM and SOC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response playbooks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BCP/DR planning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Immutable backups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4 -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Title: Detection, Incident Response &amp; Cyber Resilience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Subtitle: Building Operations Capabilities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Part: 4 of 6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Checkmark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Objectives: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Build effective SOC capabilities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Implement SIEM with centralized logging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Develop incident response playbooks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Establish executive crisis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Build ransomware preparedness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Create BCP/DR plans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7. Implement immutable backups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Detection &amp; Response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Lifecycle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Phases: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Detect (find the threat)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Triage (assess severity)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Contain (stop the spread)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Eradicate (remove the threat)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Recover (restore operations)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Learn (improve)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Why Detection &amp; Response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Statistics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Statistics: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- 60% of breaches take months to detect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- 30% of breaches are never detected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$4.45M average breach cost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Response time directly impacts cost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Frameworks We'll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Framework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Frameworks: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CSF 2.0 (DETECT, RESPOND, RECOVER)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SP 800-61 (Incident Response)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ISO/IEC 27001:2022 (Incident Management)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CIS Controls v8 (Monitoring, Response)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is SIEM?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SIEM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Security Information and Event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Purpose: Centralized logging, correlation, and alerting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SIEM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SIEM architecture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Log collection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Normalization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Correlation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Alerting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Dashboards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Reporting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SIEM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Architecture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Layers: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Sources (logs)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Ingestion (forwarders)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Processing (indexers, correlation)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Storage (hot, warm, cold)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Presentation (dashboards, alerts)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Log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Log source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Sources: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Firewalls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Servers (OS logs)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services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Applications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Databases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Endpoints (EDR)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Identity (IAM)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Log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Collection methods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Methods: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Agents (forwarders)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APIs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Syslog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File monitoring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integration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Correlation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Rule examples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Rules: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Multiple failed logins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Privilege escalation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Malware detection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exfiltration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Unauthorized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Anomaly detection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SIEM Correlation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Rule detail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Rule: Multiple Failed Logins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Condition: &gt;5 failed attempts in 5 minutes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Severity: Medium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Action: Alert SOC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Notification: Email, Slack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Alerting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Alert flow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Severity Levels: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Critical: Immediate response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High: &lt;15 minutes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Medium: &lt;1 hour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Low: &lt;4 hours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SIEM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Dashboard examples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Dashboards: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Executive (summary metrics)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SOC (real-time operations)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Operational (detailed analysis)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SIEM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Log Sources Integrated: 100% coverage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Alert Triage Time: &lt;5 minutes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False Positive Rate: &lt;10%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Detection Coverage: &gt;90%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is a SOC?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SOC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Security Operations Center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Purpose: 24/7 monitoring and response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SOC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SOC organization chart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SOC Manager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Shift Supervisors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Tier 1 Analysts (triage)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Tier 2 Analysts (investigation)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Tier 3 Analysts (advanced)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Threat Hunters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SOC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Role definitions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Roles: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SOC Manager: Overall operations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Shift Supervisor: Team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Tier 1: Alert triage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Tier 2: Investigation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Tier 3: Advanced analysis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Threat Hunter: Proactive hunting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SOC 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Tier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Tier 1: Triage and initial investigation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Tier 2: Investigation and analysis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Tier 3: Advanced investigation and hunting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Shift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Shift schedule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Shifts: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Day: 6 AM - 2 PM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Afternoon: 2 PM - 10 PM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Night: 10 PM - 6 AM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SOC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Operations flow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Activities: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Real-time monitoring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Alert triage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investigation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Threat hunting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Reporting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SOC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Tool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Tools: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SIEM (primary)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EDR/XDR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Threat Intelligence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Ticketing system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Dashboards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Threat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Threat intel flow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Sources: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Commercial feeds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Open-source feeds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Industry sharing (ISACs)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Internal analysis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Threat Hunting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Hunting process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Process: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Hypothesis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Investigation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Analysis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Findings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Action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SOC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MTTA (Time to Acknowledge): &lt;15 min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MTTD (Time to Detect): &lt;2 hours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MTTR (Time to Respond): &lt;4 hours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Alert Volume: &lt;1000/day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False Positive Rate: &lt;10%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Incident Response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IR lifecycle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Phases: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Detection &amp; Triage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Assessment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Containment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Eradication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Recovery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Lessons Learned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Incident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Severity levels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Critical: Immediate threat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High: Significant threat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Medium: Moderate threat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Low: Minor threat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IR Playbooks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Playbook examples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Types: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Malware/Ransomware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Phishing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Breach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Insider Threat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DDoS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Ransomware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Playbook flow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Phases: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Detection (encryption detected)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Triage (confirm ransomware)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Containment (isolate systems)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Eradication (remove malware)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Recovery (restore from backups)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Lessons Learned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Containment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Containment steps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Isolate affected systems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Block malicious IPs/domains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Disable compromised accounts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Implement network segmentation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Eradication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Eradication steps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Remove malware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Patch vulnerabilities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Reset credentials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Clean affected systems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Recovery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Recovery steps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Restore from backups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Validate data integrity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Test system functionality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Reconnect to network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Tabletop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Exercise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Purpose: Practice incident response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Frequency: Quarterly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Participants: Leadership, IR team, stakeholders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Incident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Communication flow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Audiences: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Internal (employees, leadership)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External (customers, regulators)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Media (press releases)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IR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MTTD: &lt;2 hours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MTTR: &lt;4 hours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Containment Time: &lt;1 hour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Recovery Time: &lt;24 hours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Playbook Coverage: 100%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BCP/DR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BCP/DR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BCP: Business Continuity Planning (keep operating)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DR: Disaster Recovery (restore IT systems)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BIA (Business Impact Analysis)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BIA process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Identify critical functions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Assess impact of disruption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Determine RTO/RPO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Identify dependencies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RTO and RPO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RTO/RPO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RTO: Recovery Time Objective (time to restore)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RPO: Recovery Point Objective (data loss tolerance)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Recovery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Strategy options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Options: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Active-Active: Live systems in multiple locations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Active-Standby: Standby systems ready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Cold Backup: Systems provisioned when needed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Cloud Recovery: Recovery in cloud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BCP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BCP structure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Activation criteria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Response procedures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Communication plan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Recovery procedures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Resource requirements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DR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DR structure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System identification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Recovery procedures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restoration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Validation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Testing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Immutable Backups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Immutable backup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Backups that cannot be modified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Why: Protect against ransomware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How: WORM storage, access controls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Retention: Minimum 30 days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Backup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Backup hierarchy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Strategy: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Critical: Hourly, immutable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High: Daily, immutable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Medium: Daily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Low: Weekly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Recovery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Testing schedule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Types: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Tabletop: Quarterly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Technical DR: Monthly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Full DR: Annually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BCP/DR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RTO Met: &gt;95%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RPO Met: &gt;95%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Test Success Rate: &gt;90%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Plan Coverage: 100% of critical systems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You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Checklist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Deliverables: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SIEM Platform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SOC Operations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IR Playbooks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BCP Plans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DR Plans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Immutable Backups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Decisions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Decision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Decisions: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SIEM selection: Splunk 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SOC model: Internal + MDR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IR approach: NIST SP 800-61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Backup strategy: Immutable backups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Framework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Mapping 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Mappings: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SIEM: NIST DE.AE, CIS 8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IR: NIST RS, CIS 17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BCP/DR: NIST RC, CIS 18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Key takeaways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Takeaways: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Detection is your first defense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SOC provides 24/7 protection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Playbooks enable consistent response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BCP/DR ensures business resilience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Immutable backups protect against ransomware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4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Part 4 → Part 5 arrow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Next: Supply Chain &amp; Third-Party Cyber Risk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Preview: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Vendor risk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SBOM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Third-party security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5 -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Title: Supply Chain &amp; Third-Party Cyber Risk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Subtitle: Securing the Extended Enterprise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Part: 5 of 6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Checkmark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Objectives: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Assess third-party cyber risks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Strengthen supplier security requirements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Implement continuous vendor monitoring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Build SBOM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Establish security SLAs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Supply Chain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Supply chain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Statistics: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- 60%+ of breaches involve third parties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- 50%+ of organizations have experienced a supply chain attack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- 80%+ of software uses open-source components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Supply Chain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Risk types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Vendor breaches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Software vulnerabilities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Supply chain attacks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Regulatory violations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Reputation damage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Frameworks We'll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Framework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Frameworks: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CSF 2.0 (IDENTIFY, PROTECT)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SP 800-161 (Supply Chain)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ISO/IEC 27001:2022 (Supplier relationships)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CIS Controls v8 (Control 15)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Vendor Risk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Vendor risk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Identifying and managing risks from vendors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Vendor Risk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Categories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Categories: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Critical: Essential to business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High: Significant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Medium: Moderate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Low: Minimal access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Vendor Risk Management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Process flow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Identify vendors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Assess risks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Mitigate risks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Monitor continuously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Review regularly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Vendor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Vendor inventory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Activities: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Create vendor inventory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Classify by criticality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Identify data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Document dependencies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Vendor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Assessment process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Security questionnaire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Review certifications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Assess controls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Calculate risk score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Security Questionnaire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Questionnaire sample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policy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Access control (MFA, least privilege)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protection (encryption)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response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Business continuity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Compliance (SOC 2, ISO 27001)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Scoring 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Factors: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sensitivity: 30%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Access level: 25%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Criticality: 25%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score: 20%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Risk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Risk levels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Critical (80-100): Immediate remediation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High (60-79): Mitigation plan required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Medium (40-59): Enhanced monitoring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Low (0-39): Standard monitoring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Contractual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Contract clauses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Clauses: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policy compliance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protection requirements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response (24-hour notification)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Access control (MFA, least privilege)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Audit rights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destruction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Vendor Security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Requirements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Requirements: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MFA for all administrative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Encryption at rest and in transit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Least privilege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response plan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BCP/DR plan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Third-party risk management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Vendor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Monitoring activities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Activities: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ratings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Breach monitoring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Access reviews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Compliance checks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Vendor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Scorecard example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Categories: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Governance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Access Control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Data Protection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Operations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Overall Risk Score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Vendor Offboarding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Offboarding process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Revoke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Return or destroy data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Obtain destruction certification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Conduct final review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Fourth-Party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Fourth-party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Your vendor's vendors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Requirements: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Vendors must identify their critical vendors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Vendors must assess fourth-party risk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Vendors must flow down security requirements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Vendor Management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Vendor Risk Score: &lt;40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Assessment Completion: 100% of critical vendors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Contractual Requirements: 100% of contracts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Monitoring: 100% of critical vendors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Software Supply Chain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Software supply chain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Open-source components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Commercial software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Custom code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Build and deployment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Software Supply Chain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Risk types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Vulnerable dependencies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Malicious components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License violations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Supply chain attacks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is SBOM?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SBOM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Software Bill of Materials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Purpose: List of all components and dependencies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Why SBOM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Benefits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Benefits: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Identify vulnerable components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Track dependencies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Respond to vulnerabilities (Log4j)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Maintain compliance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SBOM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Format examples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Formats: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SPDX (Software Package Data Exchange)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CycloneDX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SWID (Software Identification)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SBOM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Implementation steps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Generate SBOM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Validate SBOM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Scan for vulnerabilities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Track dependencies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Update regularly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Vulnerability Scanning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Scanning process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Tools: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Snyk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Dependabot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Trivy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Sonatype Nexus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Open-Source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Governance framework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Elements: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Open-source policy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Approved licenses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scanning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 tracking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SBOM Management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Process flow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Generate SBOM at build time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Validate SBOM completeness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Scan for vulnerabilities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Remediate issues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Update SBOM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Maintain inventory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SBOM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SBOM Coverage: 100% of software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Vulnerability Remediation: 95%+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SBOM Validation: 100% valid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Dependency Tracking: Complete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Third-Party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Access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Requirements: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MFA for all third-party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Least privilege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Just-in-time access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Access reviews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Session recording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Third-Party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Monitoring activities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Activities: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Real-time monitoring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Behavioral analysis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Anomaly detection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response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Security SLAs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SLA 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SLAs: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Uptime: 99.9%+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Response: &lt;24 hours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Patch: &lt;15 days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Vulnerability Remediation: 30 days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Third-Party Security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Access Reviews: Monthly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Response: &lt;24 hours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Contract Compliance: 100%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Monitoring Coverage: 100% of critical vendors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Third-Party Security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Tool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Tools: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Ratings: BitSight, SecurityScorecard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Vendor Assessment: Questionnaires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SBOM: Snyk, Dependency Track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You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Checklist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Deliverables: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Vendor Risk Program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SBOM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Contractual Requirements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Vendor Monitoring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SLAs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Decisions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Decision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Decisions: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categories: 4-tier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Assessment frequency: Quarterly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SBOM format: CycloneDX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Monitoring frequency: Real-time (critical)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Framework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Mapping 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Mappings: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Vendor Risk: NIST SP 800-161, CIS 15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SBOM: NIST SSDF, ISO 28000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Monitoring: NIST DE.SC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Key takeaways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Takeaways: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Your organization is only as secure as your weakest vendor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Vendor risk requires continuous monitoring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SBOM is essential for software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Contractual requirements enforce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Fourth-party risk is real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5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Part 5 → Part 6 arrow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Next: Develop a Security-First Culture &amp; Continuous Improvement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Preview: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awareness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Phishing simulations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 and dashboards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Continuous improvement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6 -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Title: Develop a Security-First Culture &amp; Continuous Improvement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Subtitle: Making Security Part of Your DNA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Part: 6 of 6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Checkmark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Objectives: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Build a security-first culture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Implement security awareness programs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Deploy phishing simulations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Develop security champions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Define KPIs and KRIs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Build dashboards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7. Assess maturity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8. Drive continuous improvement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Why Security Culture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Culture impact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Statistics: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- 95% of breaches involve human error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- 80% of organizations have experienced incidents due to employee behavior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culture is the #1 predictor of program success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Security Culture Maturity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Maturity model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Compliance-Driven (follow rules)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Awareness-Driven (know risks)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Behavior-Driven (practice behaviors)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Culture-Driven (part of DNA)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Resilient Culture (continuous improvement)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Frameworks We'll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Framework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Frameworks: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CSF 2.0 (GOVERN, PROTECT)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ISO/IEC 27001:2022 (Awareness)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CMMI (Maturity)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CIS Controls v8 (Control 14)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Elements of Security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Culture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Elements: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Leadership Commitment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Shared Responsibility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Trust and Transparency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Continuous Learning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Positive Reinforcement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Leadership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Executive engagement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Executives model security behavior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is a business priority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Resources are allocated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messages from CEO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Shared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Responsibility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Principle: Everyone owns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Implementation: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is part of every role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is integrated into processes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 "that's IT's problem"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Trust and Transparency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Trust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Elements: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Blameless reporting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Open communication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Learning from incidents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 punishment for reporting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Continuous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Learning cycle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Methods: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Regular training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Awareness campaigns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Knowledge sharing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Lessons learned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Positive Reinforcement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Recognition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Methods: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Recognizing good behavior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Celebrating successes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Building on strengths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hero awards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Security Champions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Champions program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Definition: Security advocates in business units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Benefits: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Amplify security messages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Provide local expertise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Build culture from within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Champions Program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Structure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Associate (entry-level)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Practitioner (active)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Advocate (experienced)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Leader (senior)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Reporting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Reporting flow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Principles: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Blameless reporting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Positive reinforcement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Open communication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Continuous improvement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Culture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Reporting Rate: &gt;95%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Training Completion: 100%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Phishing Click Rate: &lt;5%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Phishing Report Rate: &gt;10%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Culture Score: Increasing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Awareness Program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Program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Components: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Training Programs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Awareness Campaigns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Phishing Simulations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Champions Program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Training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Training types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Types: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New Hire (3 hours, within 5 days)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Annual (4 hours, within 60 days)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Role-Based (4-8 hours)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Advanced (as needed)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New Hire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Training modules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Modules: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Security Fundamentals (30 min)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Phishing Awareness (30 min)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Password Security (20 min)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Data Protection (30 min)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Incident Reporting (20 min)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Acceptable Use (20 min)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Annual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Training modules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Modules: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Security Refresher (45 min)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Phishing Awareness (30 min)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Data Protection (30 min)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Remote Work Security (30 min)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Social Engineering (30 min)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Awareness Campaigns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Campaign calendar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Monthly Themes: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January: Security Program Launch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February: Password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March: Phishing Awareness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April: Data Protection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May: Social Engineering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June: Security Awareness Month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July: Remote Work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August: Physical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September: Supply Chain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October: Cybersecurity Month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November: Incident Reporting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December: Year in Review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Phishing Simulations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Simulation process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Schedule: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Monthly: Standard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Quarterly: Advanced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Annual: Targeted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Click Rate: &lt;5% target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Report Rate: &gt;10% target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Phishing Simulation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Process flow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Plan campaign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Design template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Execute simulation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Analyze results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Provide training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Repeat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Awareness 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Communication channels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Channels: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Email newsletters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Intranet posts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Slack/Teams tips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Town halls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Posters/displays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Engagement Activities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Activity examples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Activities: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Monthly security tips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Quarterly town halls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awareness month (June)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Cybersecurity month (October)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challenges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Awareness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Training Completion: 100%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Phishing Click Rate: &lt;5%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Phishing Report Rate: &gt;10%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Awareness Score: &gt;80%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Engagement Rate: &gt;70%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Why Metrics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Purpose: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Measure performance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Drive improvement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Demonstrate value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Enable decisions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KPI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KPI categories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Categories: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Performance (MTTD, MTTR)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Effectiveness (Detection Rate)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Efficiency (Cost per Incident)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Business (Security ROI)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KPI 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KPIs: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MFA Adoption: 95%+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Patch Compliance: 95%+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Training Completion: 100%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Phishing Click Rate: &lt;5%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MTTR: &lt;4 hours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Vulnerability Remediation: 95%+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KRI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KRI categories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KRIs: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Open Critical Vulnerabilities: &lt;5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Incidents: &lt;5/month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Compliance Findings: &lt;10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Vendor Risk Score: &lt;40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Unpatched Systems: &lt;10%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Dashboard example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Program Health (maturity, risk)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Performance (MTTD, MTTR)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Control Status (MFA, patching)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Risk (open risks, vulnerabilities)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SOC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Dashboard example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Alert Status (volume, severity)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Incident Queue (open, investigating)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Response Metrics (MTTD, MTTR)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Top Alerts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Awareness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Dashboard example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Sections: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Training Completion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Phishing Simulation Results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Reporting Rates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Engagement Metrics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Maturity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Maturity model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 0: None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 1: Initial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 2: Repeatable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 3: Defined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 4: Managed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Level 5: Optimizing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Maturity Assessment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Assessment process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Define scope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Assess current state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Identify gaps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Develop improvement plan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Track progress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Metrics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Metrics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Criteria: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All KPIs defined and tracked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All KRIs defined and tracked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Dashboards active and used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Reporting active and timely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PDCA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PDCA diagram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Phases: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Plan (identify improvements)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Do (implement changes)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Check (measure results)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Act (standardize success)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Improvement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Process flow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Identify improvement opportunities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Define goals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Develop action plan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Execute plan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Measure results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Standardize success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Improvement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Tracking example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Example: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ID: IMP-001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Title: MFA Adoption Improvement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Status: In Progress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Progress: 60%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Target: 100%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Owner: IAM Team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Annual Improvement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Annual cycle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Schedule: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Q1: Assessment (current state)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Q2: Planning (improvement plan)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Q3: Implementation (execute improvements)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Q4: Review (results and next cycle)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Continuous Improvement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Criteria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Criteria: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Improvement program active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Improvements tracked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Progress measured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Lessons learned captured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Program continuously evolving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You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Checklist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Deliverables: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Awareness Program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Phishing Simulations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Security Champions Program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KPI/KRI Framework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Dashboards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Maturity Assessment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Continuous Improvement Program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Decisions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Decision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Decisions: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Training cadence: New hire, annual, role-based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Phishing frequency: Monthly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KPIs: Performance, effectiveness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Maturity model: C2M2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Framework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Mapping table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Mappings: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Awareness: NIST PR.AT, CIS 14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Metrics: NIST GV.IP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Maturity: NIST Continuous Improvement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Culture: NIST GV.OC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Key takeaways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Takeaways: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Security is everyone's responsibility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Culture is the #1 predictor of success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Awareness reduces human risk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Metrics drive improvement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Maturity assessment guides the journey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Continuous improvement is essential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Program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Congratulations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What You've Built: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Governance &amp; Strategy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Asset Discovery &amp; Classification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Foundational Security Controls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Detection &amp; Response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Supply Chain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Culture &amp; Improvement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Next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Implement your program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Measure your progress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Continuously improve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Protect your organization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Complete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Journey map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Series Overview: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- 6 Parts + Primers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- 70 Appendices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- 200+ Documents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- 1,000+ Pages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- 200+ Code Files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You've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Learning summary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Skills: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Governance &amp; Strategy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Asset Discovery &amp; Classification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Foundational Controls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Detection &amp; Response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Supply Chain Security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Culture &amp; Improvement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Frameworks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Framework logos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Frameworks: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CSF 2.0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ISO/IEC 27001:2022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CIS Controls v8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Zero Trust Architecture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SP 800-61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NIST SP 800-161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Success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Success factors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Factors: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Start with governance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Secure executive sponsorship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Follow the roadmap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Build security culture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Measure and improve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Journey Continues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Continuous journey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Message: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Cybersecurity is a journey, not a destination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Threats evolve, so must your program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Continuous improvement is essential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You have the tools to succeed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Building Your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Building blocks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Steps: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Secure executive sponsorship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Complete governance (Part 1)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Discover assets (Part 2)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Implement controls (Part 3)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Build detection (Part 4)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Secure supply chain (Part 5)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7. Build culture (Part 6)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Resource list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Resources: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Main Series (6 Parts)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Primers (8 Quick-Start Guides)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Appendices (70 References)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Templates (25+)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Code Files (200+)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Certification Pathways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Certification paths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Paths: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Foundation: Security+, GSEC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Professional: CISSP, CISM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Advanced: CISSP-ISSAP, CCSP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Leadership: CISM, GSLC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Staying Current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Continuous learning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Methods: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Follow industry news (CSO, SecurityWeek)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Attend conferences (RSA, Black Hat)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Join communities (ISACA, ISC2)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Continuous learning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Update your program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Final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Visual: Closing graphic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Message: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You've built an entire enterprise cybersecurity program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Now go protect your organization!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Remember: Security is a journey, not a destination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Stay curious, stay vigilant, stay secure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Know Your Audience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Adjust content for technical vs. non-technical audiences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Focus on business impact for executives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Focus on implementation for practitioners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Use Visuals Effectively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Diagrams help explain complex concepts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Statistics add credibility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Real-world examples make it relevant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Engage Your Audience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Ask questions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Use case studies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Encourage discussion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Share real experiences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Time Management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Each module: 30-60 minutes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Each part: 4-6 hours total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Break for questions and discussion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Materials to Have Ready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Slide deck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Reference materials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Case studies</a:t>
            </a:r>
          </a:p>
          <a:p>
            <a:pPr algn="l">
              <a:spcAft>
                <a:spcPts val="12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- Templates and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