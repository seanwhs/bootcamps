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Helvetica Neue"/>
              </a:rPr>
              <a:t>MASTER BUSINESS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505050"/>
                </a:solidFill>
                <a:latin typeface="Helvetica Neue"/>
              </a:rPr>
              <a:t>From Strategy to Execution — The Complete Professional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Series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A complete, professional-grade Business Analysis Portfolio.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Six Parts, 16 Modules, One Capstone: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Part 1 — Foundations &amp; Strategic Alignment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Part 2 — Requirements Engineering &amp; Discovery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Part 3 — Business Modeling &amp; Process Improvement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Part 4 — Solution Assessment, Delivery &amp; Value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Part 5 — Advanced BA &amp; Modern Product Delivery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Part 6 — Capstone Project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Total time investment: 72–90 hours.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Pacing: Intensive (2–3 weeks) | Standard (2–3 months) | Relaxed (4–6 months)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Who This Is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Aspiring BAs — New to the field, transitioning careers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Current BAs — Formalizing knowledge, advancing skills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Product Owners — Better collaboration, stronger requirements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Project Managers — Scope management, stakeholder skills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Software Engineers — Moving up the value chain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Digital Transformation Pros — Structured BA toolkit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Consultants — Professional-grade artifacts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Each audience has a recommended starting point and pacing.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Understand and navigate the complete BA lifecycle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Analyze complex business problems using structured frameworks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Conduct professional stakeholder engagement sessions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Capture, validate, prioritize, and document requirements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Model business processes using BPMN, UML, and ERDs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Perform Gap Analysis, Root Cause Analysis, and Cost-Benefit Analysis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Support Agile product development and conduct UAT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Manage organizational change and measure business value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Build a complete, executive-ready BA portfolio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The Capstone: SmartCare Health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Scenario: Mid-sized healthcare provider network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250 employees | 5 clinics | 45,000 patients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Disconnected legacy systems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Declining patient satisfaction (down 15% in 18 months)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40% clinician admin time | 30% above-average IT costs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Your Role: Lead Business Analyst on the transformation initiative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Investment: $5–8 million | Timeline: 18 months | Team: 40+ people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You will produce a complete professional BA portfolio across all domains.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787878"/>
                </a:solidFill>
                <a:latin typeface="Helvetica Neue"/>
              </a:rPr>
              <a:t>PART 0</a:t>
            </a:r>
          </a:p>
          <a:p>
            <a:pPr algn="l">
              <a:spcBef>
                <a:spcPts val="1200"/>
              </a:spcBef>
            </a:pPr>
            <a:r>
              <a:rPr sz="4000" b="1">
                <a:solidFill>
                  <a:srgbClr val="000000"/>
                </a:solidFill>
                <a:latin typeface="Helvetica Neue"/>
              </a:rPr>
              <a:t>Introduction &amp; Series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What You Will Produce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Strategic — Strategy Report, Capability Map, Opportunity Assessment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Stakeholder — Register, Personas, Power-Interest Matrix, RACI, Comm Plan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Requirements — BRD, Functional Specs, User Stories, Use Cases, RTM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Agile — Product Vision, Backlog, Story Maps, DoR/DoD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Models — BPMN (As-Is/To-Be), ERD, DFD, Wireframes, Diagrams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Evaluation — Gap Analysis, CBA, Feasibility, Build-vs-Buy, PoC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Testing — UAT Plan, Test Scripts, Defect Log, RTM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Change — Readiness Assessment, Comm Plan, Training Plan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Benefits — Realization Plan, Dashboard, Lessons Learned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Presentation — Executive Deck, Workshop Guides, Closure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787878"/>
                </a:solidFill>
                <a:latin typeface="Helvetica Neue"/>
              </a:rPr>
              <a:t>PART 1</a:t>
            </a:r>
          </a:p>
          <a:p>
            <a:pPr algn="l">
              <a:spcBef>
                <a:spcPts val="1200"/>
              </a:spcBef>
            </a:pPr>
            <a:r>
              <a:rPr sz="4000" b="1">
                <a:solidFill>
                  <a:srgbClr val="000000"/>
                </a:solidFill>
                <a:latin typeface="Helvetica Neue"/>
              </a:rPr>
              <a:t>Foundations &amp; Strategic Alignment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Module 1: Understanding Business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Business Analysis enables change by defining needs and recommending solutions that deliver value.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The BA as Translator: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Speaks business (strategy, revenue, risk)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Speaks technology (databases, APIs, code)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Translates needs into technical requirements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The BA as Bridge Builder: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Connects stakeholders who do not understand each other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Connects current state to future state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Connects strategy to execution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The Business Value of 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Reduced Project Failure — Clear requirements reduce misunderstandings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70% of failures stem from poor requirements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Lower Development Costs — Finding errors early is exponentially cheaper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5–10x cheaper to fix in design vs. production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Faster Time to Market — Clear scope reduces rework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30–40% faster delivery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Higher Satisfaction — Solutions solve real problems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Strategic Alignment — Tech investments support business goals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BA vs. Other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BA: Decides where the bridge needs to go and what it must support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Focus: What to build | Key Question: Right thing? | Recommends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PM: Figures out how to build it with available resources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Focus: How it gets built | Key Question: Right way/time? | Coordinates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PO: Decides which bridge features are most valuable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Focus: Backlog value | Key Question: What's next? | Decides priority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Systems Analyst: Designs the bridge's engineering specifics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Focus: Technical specs | Key Question: How does it work? | Specifies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Product Manager: Decides whether to build a bridge, tunnel, or ferry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Focus: Product vision | Key Question: Market fit? | Sets strategy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The BABOK Knowledge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1. Business Analysis Planning &amp; Monitoring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Planning BA work, tools, techniques, tracking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2. Elicitation &amp; Collaboration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Gathering information, working with stakeholders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3. Requirements Lifecycle Management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Managing requirements from creation to retirement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4. Strategy Analysis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Understanding the business problem/opportunity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5. Requirements Analysis &amp; Design Definition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Structuring, organizing, specifying requirements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6. Solution Evaluation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Assessing proposed and implemented solutions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The BA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Phase 1: Discovery &amp; Strategy Alignment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Strategy analysis, stakeholder identification, high-level scoping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Outputs: Business case, project charter, stakeholder register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Phase 2: Elicitation &amp; Analysis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Interviews, workshops, document analysis, modeling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Outputs: BRD, process models, data models, user stories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Phase 3: Solution Definition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Detail requirements, design solution, wireframes/prototypes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Outputs: Functional specs, design docs, wireframes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Phase 4: Validation &amp; Evaluation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Requirements validation, feasibility analysis, testing support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Outputs: Validated requirements, test plans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Phase 5: Transition &amp; Monitoring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Change management, training support, benefits tracking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Outputs: Training materials, adoption metrics, benefits 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The 5 Whys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Problem: Patient satisfaction is declining.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Why 1: Because patients cannot easily manage their care online.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Why 2: Because we do not have a modern patient portal.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Why 3: Because our current system is legacy and lacks integration.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Why 4: Because we have not prioritized technology investment in patient experience.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Why 5: Because we have historically focused on clinical rather than digital capabilities.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ROOT CAUSE: Strategic prioritization gap — digital capabilities neglected in favor of clinical systems.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Module 2: Business Strategy &amp; Enterprise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The Three Strategic Questions: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Where are we now?     — Current state assessment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Where do we want to go? — Future state vision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How will we get there?  — The transformation plan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Strategy Hierarchy: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Corporate — What businesses are we in?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Business — How do we win in our market?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Functional — How do we best support the business?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Operational — How do we implement this?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Vision vs. Mission vs.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Vision — Aspirational future state (5–10+ years)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'A healthier community through accessible, integrated, technology-enabled care'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Mission — Core purpose and reason for existence (ongoing)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'To provide compassionate, high-quality healthcare that improves lives'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Strategy — The plan to achieve the vision (1–5 years)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'Transform to a digital-first healthcare platform that integrates care delivery and patient engagement'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Mountain Climbing Analogy: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Vision = The peak you want to summit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Mission = Why you are climbing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Strategy = The route, equipment, and timeline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Business Capability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A Business Capability is the ability of an organization to achieve a specific outcome.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Key Characteristics: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Not projects or processes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Enduring abilities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Describe 'what' not 'how'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Persist regardless of implementation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MediConnect Example: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Patient Scheduling — Legacy/manual → Fully automated self-service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Clinical Documentation — Disconnected EHR → Integrated with AI assistance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Patient Engagement — Limited portal → 24/7 digital platform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Revenue Cycle — Manual processes → Automated high first-pass rate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Reporting — Manual reports → Real-time dashboards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Business Model Canvas — 9 Building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1. Customer Segments — Who are we creating value for?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2. Value Propositions — What value do we deliver?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3. Channels — How do we reach customers?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4. Customer Relationships — What relationships do we establish?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5. Revenue Streams — How do we generate revenue?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6. Key Resources — What assets do we need?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7. Key Activities — What do we do to deliver value?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8. Key Partnerships — Who are our key partners?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9. Cost Structure — What are our major costs?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SWOT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Strengths (Internal, Positive)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Experienced physicians, established patient base (45,000+)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Multiple convenient locations, strong clinical reputation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Weaknesses (Internal, Negative)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Outdated technology, disconnected systems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Limited digital capabilities, staff burnout from admin work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Opportunities (External, Positive)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Growing demand for digital healthcare, AI and telehealth trends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Healthcare consumerization, employer plan demand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Threats (External, Negative)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Aggressive digital competitors, patient attrition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Regulatory burden, rising IT costs, staff retention challenges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PESTLE &amp; Porter's Five Forces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PESTLE — External Environment Scan: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Political — Healthcare reform, Medicare/Medicaid policy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Economic — Healthcare costs, reimbursement rates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Social — Aging population, consumer digital expectations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Technological — AI, telehealth, wearables, portals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Legal — HIPAA, data privacy, ACA provisions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Environmental — Sustainable practices, remote care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Porter's Five Forces: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Threat of New Entrants — High (digital startups)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Buyer Power — Medium (patients have choices)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Supplier Power — High (physician shortage, tech vendors)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Threat of Substitutes — High (telehealth, urgent care)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Industry Rivalry — High (multiple health systems)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Balanced Scorecard &amp; OKRs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Balanced Scorecard Perspectives: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Financial — Revenue growth, cost reduction, ROI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Customer — Patient satisfaction, retention, NPS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Internal Process — Appointment access, care quality, efficiency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Learning &amp; Growth — Staff engagement, skill development, innovation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OKR Examples: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O: Transform patient digital experience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KR 1: Patient Satisfaction from 72% to 85%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KR 2: Online booking adoption from 5% to 50%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KR 3: NPS from 30 to 50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O: Reduce clinical admin burden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KR 1: Admin time per visit from 15 min to 5 min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KR 2: Clinician tech satisfaction from 40% to 75%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KR 3: Patients per day per provider from 18 to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Module 3: Stakeholder Analysis &amp;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A stakeholder is any individual, group, or organization that: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Has an interest in the outcome of a project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Can affect the project's success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Is affected by the project's activities or results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Has power, influence, or authority over the project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The Stakeholder Management Lifecycle: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1. Identify — Who are all the stakeholders?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2. Analyze — What do they want? What influences them?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3. Plan — How will we engage each stakeholder?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4. Engage — Execute the engagement plan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5. Monitor — Is it working? What needs to change?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6. Adjust — Adapt based on feedback and changes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Stakeholder Identification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Internal Stakeholders: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Executive Leadership — C-suite, VPs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Management — Directors, Managers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Operations Staff — End users, clinicians, nurses, admin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Support Functions — HR, Finance, Legal, Compliance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IT Staff — Developers, QA, Architects, DevOps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Project Team — PMs, BAs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External Stakeholders: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Customers — Users, patients, families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Regulators — Government, HIPAA, State Health Dept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Partners — Vendors, integration partners, diagnostic labs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Competitors — Direct and indirect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Community — Advocacy groups, civic leaders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The Stakeholder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Core Fields: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ID — Unique identifier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Name / Title / Role / Organization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Project Role — How involved in the project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Interest Level — High / Medium / Low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Influence / Power — High / Medium / Low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Impact — High / Medium / Low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Key Concerns — What they care most about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Communication Preferences — How they prefer information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Engagement Strategy — How we will engage them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Current Status — Supportive / Resistant / Neutral / Unaware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Power-Interest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High Power + High Interest = Manage Closely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Deep engagement, frequent updates, collaborative decisions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Examples: CEO, CMO, Ops Director, IT Director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High Power + Low Interest = Keep Satisfied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Keep informed of milestones, highlight risks and ROI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Examples: CFO, Compliance Officer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Low Power + High Interest = Keep Informed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Regular updates, involve in design and testing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Examples: Clinicians, Nurses, Practice Manager, Developers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Low Power + Low Interest = Monitor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Minimal effort; update at major milestones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Examples: Billing Manager, Patient Advocate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RACI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R — Responsible: The person who does the work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A — Accountable: The person ultimately answerable (only one per task)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 — Consulted: Those whose opinions are sought (two-way communication)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I — Informed: Those kept up-to-date (one-way communication)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Key Activities Mapped: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Define Project Vision — CEO (A), CMO (C), Ops Dir (C), IT Dir (C)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Approve Budget — CEO (A), CFO (R), Ops Dir (C), IT Dir (C)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Define Requirements — Clinicians (R), Ops Dir (C), IT Dir (C)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Design Solution — IT Team (R), Clinicians (C), CMO (C)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Test Solution — QA Lead (R), Clinicians (C), IT Team (C)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Conduct UAT — Clinicians (R), Patients (A), IT Team (C)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Approve Go-Live — CEO (A), CMO (C), Clinicians (C)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Stakeholder Personas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Persona: Dr. Emily Park — Family Physician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Demographics: 45 years old, 15 years practicing, MD Board Certified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Goals: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Professional: Provide excellent patient care; reduce administrative burden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Personal: Spend more time with family; maintain work-life balance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Pain Points: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Spends 40% of time on admin work instead of patient care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Must log into 3+ systems to see complete patient record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Data inconsistencies across systems cause confusion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Fears: New system will make things worse, losing historical data,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   no one has listened to clinicians before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Engagement Strategy: Shadow workflow, involve in clinical decisions,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                 show early prototypes, make her a clinical champion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Handling Resistance and Conflict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Common Sources of Resistance: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Fear of Change — 'We have always done it this way'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Fear of Job Loss — 'The system will replace us'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Loss of Control — 'I will not be able to make decisions'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Past Trauma — 'We tried this before and it failed'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Not Involved — 'No one asked me what I thought'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Misunderstanding — 'Why are we doing this?'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Thomas-Kilmann Conflict Strategies: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Competing — When you must win (safety, critical issue)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Collaborating — When consensus matters, long-term relationships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Compromising — When time is tight, interests are mutually exclusive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Avoiding — When issue is minor, tensions are high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Accommodating — When relationship matters more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787878"/>
                </a:solidFill>
                <a:latin typeface="Helvetica Neue"/>
              </a:rPr>
              <a:t>PART 2</a:t>
            </a:r>
          </a:p>
          <a:p>
            <a:pPr algn="l">
              <a:spcBef>
                <a:spcPts val="1200"/>
              </a:spcBef>
            </a:pPr>
            <a:r>
              <a:rPr sz="4000" b="1">
                <a:solidFill>
                  <a:srgbClr val="000000"/>
                </a:solidFill>
                <a:latin typeface="Helvetica Neue"/>
              </a:rPr>
              <a:t>Requirements Engineering &amp; Discovery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Module 4: Requirements Elicitation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Elicitation is active exploration, not passive collection.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The Elicitation Mindset — 7 Principles: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1. Assume you do not know everything — curiosity is your greatest tool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2. Listen for the problem, not the solution — stakeholders propose solutions; find the need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3. Ask 'Why' repeatedly — surface requests hide deeper needs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4. Triangulate from multiple sources — no single stakeholder is fully correct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5. Embrace silence — people need time to think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6. Be aware of your biases — check your preconceptions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7. Document everything — you cannot remember it all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Elicitation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Interviews — Deep understanding of individual perspectives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Structured, semi-structured, unstructured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Best for: Key stakeholders, sensitive topics, subject matter experts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Workshops — Collaborative, group-based exploration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Discovery, Requirements, Design, Decision, Retrospective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Best for: Cross-functional alignment, consensus building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Ideal size: 4–15 participants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Observation / Shadowing — Understanding reality vs. reported processes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People do not always do what they say they do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Best for: Identifying workarounds and subtle behaviors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Surveys — Gather input from large groups efficiently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Best for: Broad input, statistical analysis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Design tips: 10–15 questions max, mix types, pilot test first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Story Mapping &amp; Event Storming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Story Mapping (Jeff Patton) — Visualizing the User Journey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Structure: Activities (Goals) → Tasks → Sub-tasks → Details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Shows the big picture, organizes by user goals, identifies gaps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Helps prioritize features and align technical and business stakeholders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Event Storming (Alberto Brandolini) — Exploring Complex Processes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Orange = Event (something happened)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Blue = Command (someone does something)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Yellow = Aggregate (entity with state and behavior)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Purple = Policy (rule that triggers action)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Pink = External System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Green = User Interface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Best for: Visualizing entire workflow, identifying bottlenecks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Module 5: Requirements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Requirements Analysis evaluates, structures, and refines requirements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to ensure they are complete, clear, consistent, and feasible.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The Requirements Hierarchy: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Enterprise Strategy → Strategic Objectives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→ Business Requirements → Stakeholder Requirements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  → Solution Requirements (Functional + Non-Functional)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    → Transition Requirements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Key Analysis Activities: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Classifying — Grouping into logical categories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Structuring — Organizing into hierarchies and relationships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Validating — Ensuring requirements meet quality criteria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Prioritizing — Determining importance and sequencing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Tracing — Linking requirements to each other and to solutions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Requirements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Business Requirements — High-level goals and objectives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'Increase patient satisfaction from 72% to 85%'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Stakeholder Requirements — Needs of specific groups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'Patients need online booking'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Functional Requirements — What the system must do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'The system shall allow patients to view available appointment slots online'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Non-Functional Requirements — How the system performs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'Response time &lt; 2 seconds', 'HIPAA-compliant security', '99.9% uptime'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Transition Requirements — Temporary for moving to future state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Data migration, user training, parallel processing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Business Rules, Constraints, Assumptions, Dependencies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User Stories &amp; INVEST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Format: As a [who], I want [what], so that [why].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INVEST Criteria for Quality User Stories: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 — Independent: Can be developed independently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N — Negotiable: Details can be discussed and refined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V — Valuable: Delivers business value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 — Estimable: Team can estimate effort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 — Small: Fits within a single sprint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T — Testable: Has clear acceptance criteria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Example: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As a patient, I want to book appointments online,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so that I can schedule care without calling during business hours.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Acceptance Criteria: Search by date/provider/clinic, confirm, receive confirmation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Prioritization: MoSCoW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M — Must Have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Critical; without it, the project fails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Patient scheduling (all core functions), Clinical documentation (EHR),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Integration with existing systems, HIPAA-compliant security, Basic reporting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 — Should Have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Important but not critical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Patient portal (view history), Advanced scheduling (multiple locations),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Clinical decision support (basic), Voice-to-text documentation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 — Could Have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Desirable but not essential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Mobile app (patient), AI-powered predictive scheduling, Advanced analytics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W — Won't Have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Not for this release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Full interoperability with all external systems, ML-powered diagnostics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Requirements Traceability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The RTM links requirements to their source, design elements, and test cases.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Purpose: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Ensure all requirements are implemented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Validate testing coverage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Understand impact of changes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Demonstrate completeness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RTM Structure: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Req ID | Requirement | Source | Priority | Design Element | Test Case ID | Status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Example Entries: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BR-001 | Increase patient satisfaction | CEO, CMO | Critical | Patient Experience | TC-PAT-001 | In Review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FR-001.1 | Online appointment booking | Patients | High | Scheduling Module | TC-SCH-001 | Draft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NFR-001 | Response time &lt; 2s | IT Director | High | Performance | TC-PERF-001 | Draft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NFR-003 | HIPAA compliance | Compliance | Critical | Security | TC-SEC-001 | Draft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Module 6: Requirements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The Business Requirements Document (BRD) Structure: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1. Executive Summary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2. Project Scope (In-Scope, Out-of-Scope, Assumptions, Constraints)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3. Business Objectives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4. Stakeholders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5. Business Requirements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6. Functional Requirements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7. Non-Functional Requirements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8. Business Rules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9. Constraints and Assumptions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10. Dependencies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11. Transition Requirements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12. Glossary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13. Appendix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14. Approval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Agile Requirements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Hierarchy: Themes → Epics → Features → User Stories → Acceptance Criteria → Tasks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Theme — High-level strategic goal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Example: 'Patient Experience'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Epic — Large body of work spanning multiple sprints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Example: 'Patient Scheduling' — enable patients to schedule, reschedule, cancel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Feature — Distinct capability delivered in a sprint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Example: 'Online Appointment Booking'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User Story — Specific functionality with acceptance criteria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Example: 'As a patient, I want to book online...'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Product Backlog — Single source of truth, ordered by value and priority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Use Cases &amp; User Journey 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Use Case Components: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Actor — Who interacts with the system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Preconditions — What must be true before starting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Basic Flow — The happy path (success scenario)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Alternate Flows — Other paths (errors, exceptions)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Postconditions — What must be true after completion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User Journey Map Components: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Stages — Phases of the journey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Actions — What the user does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Touchpoints — System interactions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Thoughts — What the user is thinking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Emotions — How the user feels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Pain Points — Problems encountered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Opportunities — Areas for improvement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Decision Tables &amp;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Decision Tables — Complex business logic in tabular form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Rows = Conditions and Actions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Columns = Rules (combinations of conditions)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Example: Patient appointment booking rules based 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       patient type, appointment type, availability, insurance verification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Decision Trees — Hierarchical visualization of decisions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Root = Initial decision point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Branches = Possible outcomes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Leaves = Final actions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Example: Patient wants appointment → Is patient registered? →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       Is insurance verified? → Book or provide alternative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787878"/>
                </a:solidFill>
                <a:latin typeface="Helvetica Neue"/>
              </a:rPr>
              <a:t>PART 3</a:t>
            </a:r>
          </a:p>
          <a:p>
            <a:pPr algn="l">
              <a:spcBef>
                <a:spcPts val="1200"/>
              </a:spcBef>
            </a:pPr>
            <a:r>
              <a:rPr sz="4000" b="1">
                <a:solidFill>
                  <a:srgbClr val="000000"/>
                </a:solidFill>
                <a:latin typeface="Helvetica Neue"/>
              </a:rPr>
              <a:t>Business Modeling &amp; Process Improvement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Module 7: Business Process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Business Process Analysis (BPA) identifies, understands, and models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business processes to improve efficiency and effectiveness.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The Process Mindset: Everything is a process.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Inputs → [Activities] → Outputs → Outcomes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Why BPA Matters: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Visibility — Understand how work actually gets done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Consistency — Standardize processes across the organization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Efficiency — Identify and remove waste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Quality — Reduce errors and rework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Agility — Improve ability to adapt to change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Automation — Identify automation opportunities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SIPOC &amp; Value Stream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SIPOC — High-Level Process Mapping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 = Suppliers (who provides inputs?)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 = Inputs (what goes into the process?)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 = Process (what steps transform inputs?)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O = Outputs (what comes out?)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 = Customers (who receives outputs?)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Value Stream Mapping — Identifying Waste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Maps process time vs. wait time for each step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Calculates percentage of value-added time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Identifies the 7 Types of Waste (Lean):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Overproduction, Waiting, Transportation, Over-processing,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Inventory, Motion, Defects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BPMN 2.0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BPMN (Business Process Model and Notation) — Global standard for process modeling.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Flow Objects: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Activity — Rectangle with rounded corners (work performed)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Event — Circle (something that happens)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Gateway — Diamond (decision point)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Connecting Objects: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Sequence Flow — Solid line with arrow (process flow)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Message Flow — Dashed line with arrow (between pools)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Swimlanes: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Pool — Large rectangle (participant in process)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Lane — Within a pool (role within participant)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Gateways: Exclusive (XOR), Inclusive (OR), Parallel (AND), Event-Based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As-Is vs. To-Be Process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As-Is Analysis — Document current state pain points: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Manual search across multiple systems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Phone-only scheduling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No visibility of patient preferences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Data entry errors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No confirmation integration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To-Be Design — Future state improvements: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Multi-channel access (phone, web, mobile, kiosk)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Automated availability search with single view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Patient self-service with pre-populated data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Automated real-time confirmation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Impact: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Scheduling time: 15–20 min → 3–5 min (75% reduction)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Error rate: 8% → &lt;1% (88% reduction)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Process Optimization &amp; Lean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Bottleneck Analysis: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Scheduling Search — Manual across 3 systems → Unified search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Check-in — Paper forms, manual entry → Digital check-in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Insurance Verification — Manual per visit → Automated verification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Documentation — Manual, multiple systems → Integrated documentation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Automation Opportunities: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Scheduling — Online self-service (75% time reduction)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Insurance Verification — API integration (95% less manual work)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Appointment Reminders — Automated SMS/Email (30% fewer no-shows)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Billing — Automated claims (50% faster payment)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Reporting — Real-time dashboards (immediate insights)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Lean Principles: Eliminate Waste, Optimize Flow, Standardize,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             Implement Pull Systems, Pursue Perfection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Module 8: Data Analysis &amp; Information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Data modeling creates a visual representation of information requirements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and the relationships between data elements.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The Data Modeling Process: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1. Understand business requirements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2. Identify entities (Patient, Provider, Appointment, Claim)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3. Define attributes (name, DOB, status, amount)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4. Identify relationships (one-to-many, many-to-many)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5. Define keys (primary, foreign)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6. Normalize (1NF, 2NF, 3NF)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7. Validate against business needs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Core Components: Entity, Attribute, Relationship, Primary Key, Foreign Key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ERDs, Normalization &amp; Data 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Entity Relationship Diagrams (Crow's Foot Notation):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|———| = Exactly one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o———| = Zero or one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|———&lt; = One or many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o———&lt; = Zero or many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Normalization — Organizing data to reduce redundancy: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1NF — No repeating groups; atomic values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2NF — Fully dependent on primary key; no partial dependencies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3NF — No transitive dependencies; no non-key dependencies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Data Dictionary — Centralized repository of data element definitions: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Entity Name | Attribute | Data Type | Length | Required? | Description | Source | Example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Data Flow Diagrams &amp; CRUD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Data Flow Diagrams (DFD) — Show how data moves through a system: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Process — Circle/Rounded rectangle (transforms data)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Data Store — Open rectangle (stores data)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External Entity — Square/Rectangle (outside the system)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Data Flow — Arrow (movement of data)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Context Diagram (Level 0) — System boundary and external entities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Level 1 DFD — Major processes within the system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CRUD Matrix — Maps which roles interact with which data entities: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 = Create, R = Read, U = Update, D = Delete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Rows = Roles/Processes, Columns = Data Entities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Supports security planning, data ownership, and integration analysis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Reference Data, Master Data &amp;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Reference Data — Defines permissible values for other data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State codes, gender codes, appointment status, insurance types, specialty codes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Master Data — Core business entities shared across the organization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Patient records, provider records, organization structure,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product/service catalog, location/clinic data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Metadata — Data about data (structure, meaning, context)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Data dictionary, data lineage, data quality metrics, usage statistics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Example Reference Data Table: Appointment Status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Scheduled | Confirmed | Checked-In | In-Progress | Completed |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Cancelled | No-Show | Rescheduled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Module 9: Solution Design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Solution Design defines how a solution will meet business requirements,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specifying architecture, components, interactions, and user experience.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The Solution Design Lifecycle: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1. Requirements Analysis — Understand what is needed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2. Functional Decomposition — Break down into components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3. System Architecture — Define high-level structure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4. Detailed Design — Specify each component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5. UI/UX Design — Design user experience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6. Integration Design — Define system connections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7. Validation — Confirm design meets needs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Functional Decomposition &amp; Context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Functional Decomposition breaks complex systems into manageable components.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MediConnect Example: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1. Patient Management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 1.1 Patient Registration (Create, Validate, Assign ID)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 1.2 Patient Search (By Name, ID, Insurance)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 1.3 Patient Profile (View, Update, View History)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2. Scheduling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 2.1 Appointment Management (Search, Book, Cancel, Reschedule)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 2.2 Provider Schedule (View, Manage Availability, Time Off)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 2.3 Resource Management (Rooms, Equipment, Staff)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3. Clinical Documentation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 3.1 Medical Records, 3.2 Orders Management, 3.3 Results Management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Context Diagram — Shows system boundary, external entities, and data flows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Sequence Diagrams &amp; State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Sequence Diagrams — Show object interactions over time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Lifelines — Vertical dashed lines representing objects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Messages — Arrows between lifelines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Activation Bars — Rectangles showing focus of control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Example: Patient → Portal → Scheduling Service → Provider Service → System DB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State Diagrams — Show entity lifecycle and transitions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States: Requested → Scheduled → Reminder Sent → Checked-In →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        In-Progress → Completed → Closed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Alternate paths: Cancelled, No-Show, Rescheduled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Events trigger transitions between states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API Design &amp; Integration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API Design Principles: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RESTful — Use HTTP methods (GET, POST, PUT, DELETE)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Resources — Use plural nouns (e.g., /api/v1/patients)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Versioning — Include version in path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Status Codes — Use standard HTTP codes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Authentication — API keys, OAuth, JWT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Error Handling — Meaningful error messages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Integration Architecture Layers: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Integration Layer — API Gateway, Message Broker, Data Integration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Core Services — Patient Service, Schedule Service, Clinical Service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Data Layer — Patient DB, Clinical DB, Reporting DB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External Systems — EHR, Lab Systems, Billing System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UI/UX Wireframes &amp; Solution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Wireframe Principles: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Clarity — Focus on functionality, not aesthetics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Simplicity — Avoid visual clutter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Consistency — Use patterns consistently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User-Centric — Design for the user's goals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Accessibility — Consider all users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Solution Validation Checklist: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Completeness — All requirements, use cases, user roles, business rules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Correctness — Meets business needs, technically feasible, within constraints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Consistency — Internally consistent, consistent with requirements and standards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Usability — User-friendly, accessible, follows UX best practices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Integration — All integrations defined, points identified, data flows mapped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Performance — Performance, scalability, availability, security requirements met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The Professional BA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Your complete portfolio of deliverables across all modules: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Strategic — Strategy Report, Capability Map, Opportunity Assessment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Stakeholder — Register, Personas, Power-Interest Matrix, RACI, Comm Plan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Requirements — BRD, Functional Specs, User Stories, Use Cases, RTM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Agile — Product Vision, Backlog, Story Maps, DoR/DoD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Models — BPMN (As-Is/To-Be), ERD, DFD, Wireframes, Diagrams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Evaluation — Gap Analysis, CBA, Feasibility, Build-vs-Buy, PoC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Testing — UAT Plan, Test Scripts, Defect Log, RTM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Change — Readiness Assessment, Comm Plan, Training Plan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Benefits — Realization Plan, Dashboard, Lessons Learned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Presentation — Executive Deck, Workshop Guides, Closure Report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Business Analysis enables organizational change by defining needs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and recommending solutions that deliver value.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The BA role has evolved from 'requirements taker' to 'strategic advisor'.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Effective stakeholder management is the foundation of project success.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Requirements must be actively elicited, analyzed, prioritized, and traced.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Process modeling (BPMN) and data modeling (ERD) provide essential blueprints.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Solution design bridges business needs and technical implementation.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Validation ensures we build the right thing and build it right.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Helvetica Neue"/>
              </a:rPr>
              <a:t>Recommended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Modeling — Lucidchart, Draw.io (BPMN, ERD, UML)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Collaboration — Miro, Mural (workshops, workshops)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Project Management — Jira, Trello (backlog, sprint management)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Wireframing — Balsamiq, Figma (prototypes, mockups)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Documentation — Office Suite, Google Docs, Confluence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Pacing Options: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Intensive Bootcamp — 2–3 weeks (full-time)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Standard Pace — 2–3 months (part-time, 5–10 hrs/week)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Helvetica Neue"/>
              </a:rPr>
              <a:t>  Relaxed Pace — 4–6 months (self-paced)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Helvetica Neue"/>
              </a:rPr>
              <a:t>MASTER BUSINESS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505050"/>
                </a:solidFill>
                <a:latin typeface="Helvetica Neue"/>
              </a:rPr>
              <a:t>Connecting Executive Strategy with Operational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