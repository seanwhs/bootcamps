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presentation.xml" ContentType="application/vnd.openxmlformats-officedocument.presentationml.presentation.main+xml"/>
  <Override PartName="/ppt/slides/slide45.xml" ContentType="application/vnd.openxmlformats-officedocument.presentationml.slide+xml"/>
  <Override PartName="/ppt/slides/slide18.xml" ContentType="application/vnd.openxmlformats-officedocument.presentationml.slide+xml"/>
  <Override PartName="/ppt/slides/slide1.xml" ContentType="application/vnd.openxmlformats-officedocument.presentationml.slide+xml"/>
  <Override PartName="/ppt/slides/slide103.xml" ContentType="application/vnd.openxmlformats-officedocument.presentationml.slide+xml"/>
  <Override PartName="/ppt/slides/slide20.xml" ContentType="application/vnd.openxmlformats-officedocument.presentationml.slide+xml"/>
  <Override PartName="/ppt/slides/slide46.xml" ContentType="application/vnd.openxmlformats-officedocument.presentationml.slide+xml"/>
  <Override PartName="/ppt/slides/slide2.xml" ContentType="application/vnd.openxmlformats-officedocument.presentationml.slide+xml"/>
  <Override PartName="/ppt/slides/slide102.xml" ContentType="application/vnd.openxmlformats-officedocument.presentationml.slide+xml"/>
  <Override PartName="/ppt/slides/slide21.xml" ContentType="application/vnd.openxmlformats-officedocument.presentationml.slide+xml"/>
  <Override PartName="/ppt/slides/slide47.xml" ContentType="application/vnd.openxmlformats-officedocument.presentationml.slide+xml"/>
  <Override PartName="/ppt/slides/slide3.xml" ContentType="application/vnd.openxmlformats-officedocument.presentationml.slide+xml"/>
  <Override PartName="/ppt/slides/slide40.xml" ContentType="application/vnd.openxmlformats-officedocument.presentationml.slide+xml"/>
  <Override PartName="/ppt/slides/slide4.xml" ContentType="application/vnd.openxmlformats-officedocument.presentationml.slide+xml"/>
  <Override PartName="/ppt/slides/slide41.xml" ContentType="application/vnd.openxmlformats-officedocument.presentationml.slide+xml"/>
  <Override PartName="/ppt/slides/slide5.xml" ContentType="application/vnd.openxmlformats-officedocument.presentationml.slide+xml"/>
  <Override PartName="/ppt/slides/slide101.xml" ContentType="application/vnd.openxmlformats-officedocument.presentationml.slide+xml"/>
  <Override PartName="/ppt/slides/slide22.xml" ContentType="application/vnd.openxmlformats-officedocument.presentationml.slide+xml"/>
  <Override PartName="/ppt/slides/slide42.xml" ContentType="application/vnd.openxmlformats-officedocument.presentationml.slide+xml"/>
  <Override PartName="/ppt/slides/slide6.xml" ContentType="application/vnd.openxmlformats-officedocument.presentationml.slide+xml"/>
  <Override PartName="/ppt/slides/slide100.xml" ContentType="application/vnd.openxmlformats-officedocument.presentationml.slide+xml"/>
  <Override PartName="/ppt/slides/slide23.xml" ContentType="application/vnd.openxmlformats-officedocument.presentationml.slide+xml"/>
  <Override PartName="/ppt/slides/slide43.xml" ContentType="application/vnd.openxmlformats-officedocument.presentationml.slide+xml"/>
  <Override PartName="/ppt/slides/slide7.xml" ContentType="application/vnd.openxmlformats-officedocument.presentationml.slide+xml"/>
  <Override PartName="/ppt/slides/slide107.xml" ContentType="application/vnd.openxmlformats-officedocument.presentationml.slide+xml"/>
  <Override PartName="/ppt/slides/slide24.xml" ContentType="application/vnd.openxmlformats-officedocument.presentationml.slide+xml"/>
  <Override PartName="/ppt/slides/slide154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6.xml" ContentType="application/vnd.openxmlformats-officedocument.presentationml.slide+xml"/>
  <Override PartName="/ppt/slides/slide25.xml" ContentType="application/vnd.openxmlformats-officedocument.presentationml.slide+xml"/>
  <Override PartName="/ppt/slides/slide155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105.xml" ContentType="application/vnd.openxmlformats-officedocument.presentationml.slide+xml"/>
  <Override PartName="/ppt/slides/slide26.xml" ContentType="application/vnd.openxmlformats-officedocument.presentationml.slide+xml"/>
  <Override PartName="/ppt/slides/slide157.xml" ContentType="application/vnd.openxmlformats-officedocument.presentationml.slide+xml"/>
  <Override PartName="/ppt/slides/slide12.xml" ContentType="application/vnd.openxmlformats-officedocument.presentationml.slide+xml"/>
  <Override PartName="/ppt/slides/slide156.xml" ContentType="application/vnd.openxmlformats-officedocument.presentationml.slide+xml"/>
  <Override PartName="/ppt/slides/slide13.xml" ContentType="application/vnd.openxmlformats-officedocument.presentationml.slide+xml"/>
  <Override PartName="/ppt/slides/slide49.xml" ContentType="application/vnd.openxmlformats-officedocument.presentationml.slide+xml"/>
  <Override PartName="/ppt/slides/slide151.xml" ContentType="application/vnd.openxmlformats-officedocument.presentationml.slide+xml"/>
  <Override PartName="/ppt/slides/slide14.xml" ContentType="application/vnd.openxmlformats-officedocument.presentationml.slide+xml"/>
  <Override PartName="/ppt/slides/slide48.xml" ContentType="application/vnd.openxmlformats-officedocument.presentationml.slide+xml"/>
  <Override PartName="/ppt/slides/slide150.xml" ContentType="application/vnd.openxmlformats-officedocument.presentationml.slide+xml"/>
  <Override PartName="/ppt/slides/slide15.xml" ContentType="application/vnd.openxmlformats-officedocument.presentationml.slide+xml"/>
  <Override PartName="/ppt/slides/slide153.xml" ContentType="application/vnd.openxmlformats-officedocument.presentationml.slide+xml"/>
  <Override PartName="/ppt/slides/slide16.xml" ContentType="application/vnd.openxmlformats-officedocument.presentationml.slide+xml"/>
  <Override PartName="/ppt/slides/slide152.xml" ContentType="application/vnd.openxmlformats-officedocument.presentationml.slide+xml"/>
  <Override PartName="/ppt/slides/slide17.xml" ContentType="application/vnd.openxmlformats-officedocument.presentationml.slide+xml"/>
  <Override PartName="/ppt/slides/slide44.xml" ContentType="application/vnd.openxmlformats-officedocument.presentationml.slide+xml"/>
  <Override PartName="/ppt/slides/slide19.xml" ContentType="application/vnd.openxmlformats-officedocument.presentationml.slide+xml"/>
  <Override PartName="/ppt/slides/slide104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175.xml" ContentType="application/vnd.openxmlformats-officedocument.presentationml.slide+xml"/>
  <Override PartName="/ppt/slides/slide30.xml" ContentType="application/vnd.openxmlformats-officedocument.presentationml.slide+xml"/>
  <Override PartName="/ppt/slides/slide174.xml" ContentType="application/vnd.openxmlformats-officedocument.presentationml.slide+xml"/>
  <Override PartName="/ppt/slides/slide31.xml" ContentType="application/vnd.openxmlformats-officedocument.presentationml.slide+xml"/>
  <Override PartName="/ppt/slides/slide177.xml" ContentType="application/vnd.openxmlformats-officedocument.presentationml.slide+xml"/>
  <Override PartName="/ppt/slides/slide32.xml" ContentType="application/vnd.openxmlformats-officedocument.presentationml.slide+xml"/>
  <Override PartName="/ppt/slides/slide176.xml" ContentType="application/vnd.openxmlformats-officedocument.presentationml.slide+xml"/>
  <Override PartName="/ppt/slides/slide33.xml" ContentType="application/vnd.openxmlformats-officedocument.presentationml.slide+xml"/>
  <Override PartName="/ppt/slides/slide171.xml" ContentType="application/vnd.openxmlformats-officedocument.presentationml.slide+xml"/>
  <Override PartName="/ppt/slides/slide34.xml" ContentType="application/vnd.openxmlformats-officedocument.presentationml.slide+xml"/>
  <Override PartName="/ppt/slides/slide170.xml" ContentType="application/vnd.openxmlformats-officedocument.presentationml.slide+xml"/>
  <Override PartName="/ppt/slides/slide35.xml" ContentType="application/vnd.openxmlformats-officedocument.presentationml.slide+xml"/>
  <Override PartName="/ppt/slides/slide173.xml" ContentType="application/vnd.openxmlformats-officedocument.presentationml.slide+xml"/>
  <Override PartName="/ppt/slides/slide36.xml" ContentType="application/vnd.openxmlformats-officedocument.presentationml.slide+xml"/>
  <Override PartName="/ppt/slides/slide172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147.xml" ContentType="application/vnd.openxmlformats-officedocument.presentationml.slide+xml"/>
  <Override PartName="/ppt/slides/slide64.xml" ContentType="application/vnd.openxmlformats-officedocument.presentationml.slide+xml"/>
  <Override PartName="/ppt/slides/slide3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143.xml" ContentType="application/vnd.openxmlformats-officedocument.presentationml.slide+xml"/>
  <Override PartName="/ppt/slides/slide60.xml" ContentType="application/vnd.openxmlformats-officedocument.presentationml.slide+xml"/>
  <Override PartName="/ppt/slides/slide142.xml" ContentType="application/vnd.openxmlformats-officedocument.presentationml.slide+xml"/>
  <Override PartName="/ppt/slides/slide61.xml" ContentType="application/vnd.openxmlformats-officedocument.presentationml.slide+xml"/>
  <Override PartName="/ppt/slides/slide141.xml" ContentType="application/vnd.openxmlformats-officedocument.presentationml.slide+xml"/>
  <Override PartName="/ppt/slides/slide62.xml" ContentType="application/vnd.openxmlformats-officedocument.presentationml.slide+xml"/>
  <Override PartName="/ppt/slides/slide140.xml" ContentType="application/vnd.openxmlformats-officedocument.presentationml.slide+xml"/>
  <Override PartName="/ppt/slides/slide63.xml" ContentType="application/vnd.openxmlformats-officedocument.presentationml.slide+xml"/>
  <Override PartName="/ppt/slides/slide146.xml" ContentType="application/vnd.openxmlformats-officedocument.presentationml.slide+xml"/>
  <Override PartName="/ppt/slides/slide65.xml" ContentType="application/vnd.openxmlformats-officedocument.presentationml.slide+xml"/>
  <Override PartName="/ppt/slides/slide145.xml" ContentType="application/vnd.openxmlformats-officedocument.presentationml.slide+xml"/>
  <Override PartName="/ppt/slides/slide66.xml" ContentType="application/vnd.openxmlformats-officedocument.presentationml.slide+xml"/>
  <Override PartName="/ppt/slides/slide144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190.xml" ContentType="application/vnd.openxmlformats-officedocument.presentationml.slide+xml"/>
  <Override PartName="/ppt/slides/slide88.xml" ContentType="application/vnd.openxmlformats-officedocument.presentationml.slide+xml"/>
  <Override PartName="/ppt/slides/slide191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86.xml" ContentType="application/vnd.openxmlformats-officedocument.presentationml.slide+xml"/>
  <Override PartName="/ppt/slides/slide187.xml" ContentType="application/vnd.openxmlformats-officedocument.presentationml.slide+xml"/>
  <Override PartName="/ppt/slides/slide188.xml" ContentType="application/vnd.openxmlformats-officedocument.presentationml.slide+xml"/>
  <Override PartName="/ppt/slides/slide189.xml" ContentType="application/vnd.openxmlformats-officedocument.presentationml.slide+xml"/>
  <Override PartName="/ppt/slides/slide192.xml" ContentType="application/vnd.openxmlformats-officedocument.presentationml.slide+xml"/>
  <Override PartName="/ppt/slides/slide193.xml" ContentType="application/vnd.openxmlformats-officedocument.presentationml.slide+xml"/>
  <Override PartName="/ppt/slides/slide194.xml" ContentType="application/vnd.openxmlformats-officedocument.presentationml.slide+xml"/>
  <Override PartName="/ppt/slides/slide195.xml" ContentType="application/vnd.openxmlformats-officedocument.presentationml.slide+xml"/>
  <Override PartName="/ppt/slides/slide196.xml" ContentType="application/vnd.openxmlformats-officedocument.presentationml.slide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notesSlides/notesSlide148.xml" ContentType="application/vnd.openxmlformats-officedocument.presentationml.notesSlide+xml"/>
  <Override PartName="/ppt/notesSlides/notesSlide17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138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174.xml" ContentType="application/vnd.openxmlformats-officedocument.presentationml.notesSlide+xml"/>
  <Override PartName="/ppt/notesSlides/notesSlide139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175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176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177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143.xml" ContentType="application/vnd.openxmlformats-officedocument.presentationml.notesSlide+xml"/>
  <Override PartName="/ppt/notesSlides/notesSlide178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142.xml" ContentType="application/vnd.openxmlformats-officedocument.presentationml.notesSlide+xml"/>
  <Override PartName="/ppt/notesSlides/notesSlide179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132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133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30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31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34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35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36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37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140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141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144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145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146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150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147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14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151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152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153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154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155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156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157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158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159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160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161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162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163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164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165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166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167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168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169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170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171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172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180.xml" ContentType="application/vnd.openxmlformats-officedocument.presentationml.notesSlide+xml"/>
  <Override PartName="/ppt/notesSlides/notesSlide11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181.xml" ContentType="application/vnd.openxmlformats-officedocument.presentationml.notesSlide+xml"/>
  <Override PartName="/ppt/notesSlides/notesSlide117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182.xml" ContentType="application/vnd.openxmlformats-officedocument.presentationml.notesSlide+xml"/>
  <Override PartName="/ppt/notesSlides/notesSlide114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183.xml" ContentType="application/vnd.openxmlformats-officedocument.presentationml.notesSlide+xml"/>
  <Override PartName="/ppt/notesSlides/notesSlide115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184.xml" ContentType="application/vnd.openxmlformats-officedocument.presentationml.notesSlide+xml"/>
  <Override PartName="/ppt/notesSlides/notesSlide112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185.xml" ContentType="application/vnd.openxmlformats-officedocument.presentationml.notesSlide+xml"/>
  <Override PartName="/ppt/notesSlides/notesSlide113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186.xml" ContentType="application/vnd.openxmlformats-officedocument.presentationml.notesSlide+xml"/>
  <Override PartName="/ppt/notesSlides/notesSlide110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187.xml" ContentType="application/vnd.openxmlformats-officedocument.presentationml.notesSlide+xml"/>
  <Override PartName="/ppt/notesSlides/notesSlide111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188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189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190.xml" ContentType="application/vnd.openxmlformats-officedocument.presentationml.notesSlide+xml"/>
  <Override PartName="/ppt/notesSlides/notesSlide191.xml" ContentType="application/vnd.openxmlformats-officedocument.presentationml.notesSlide+xml"/>
  <Override PartName="/ppt/notesSlides/notesSlide192.xml" ContentType="application/vnd.openxmlformats-officedocument.presentationml.notesSlide+xml"/>
  <Override PartName="/ppt/notesSlides/notesSlide193.xml" ContentType="application/vnd.openxmlformats-officedocument.presentationml.notesSlide+xml"/>
  <Override PartName="/ppt/notesSlides/notesSlide194.xml" ContentType="application/vnd.openxmlformats-officedocument.presentationml.notesSlide+xml"/>
  <Override PartName="/ppt/notesSlides/notesSlide195.xml" ContentType="application/vnd.openxmlformats-officedocument.presentationml.notesSlide+xml"/>
  <Override PartName="/ppt/notesSlides/notesSlide196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notesSlides/notesSlide118.xml" ContentType="application/vnd.openxmlformats-officedocument.presentationml.notesSlide+xml"/>
  <Override PartName="/ppt/notesSlides/notesSlide119.xml" ContentType="application/vnd.openxmlformats-officedocument.presentationml.notesSlide+xml"/>
  <Override PartName="/ppt/notesSlides/notesSlide120.xml" ContentType="application/vnd.openxmlformats-officedocument.presentationml.notesSlide+xml"/>
  <Override PartName="/ppt/notesSlides/notesSlide121.xml" ContentType="application/vnd.openxmlformats-officedocument.presentationml.notesSlide+xml"/>
  <Override PartName="/ppt/notesSlides/notesSlide122.xml" ContentType="application/vnd.openxmlformats-officedocument.presentationml.notesSlide+xml"/>
  <Override PartName="/ppt/notesSlides/notesSlide123.xml" ContentType="application/vnd.openxmlformats-officedocument.presentationml.notesSlide+xml"/>
  <Override PartName="/ppt/notesSlides/notesSlide124.xml" ContentType="application/vnd.openxmlformats-officedocument.presentationml.notesSlide+xml"/>
  <Override PartName="/ppt/notesSlides/notesSlide125.xml" ContentType="application/vnd.openxmlformats-officedocument.presentationml.notesSlide+xml"/>
  <Override PartName="/ppt/notesSlides/notesSlide126.xml" ContentType="application/vnd.openxmlformats-officedocument.presentationml.notesSlide+xml"/>
  <Override PartName="/ppt/notesSlides/notesSlide127.xml" ContentType="application/vnd.openxmlformats-officedocument.presentationml.notesSlide+xml"/>
  <Override PartName="/ppt/notesSlides/notesSlide128.xml" ContentType="application/vnd.openxmlformats-officedocument.presentationml.notesSlide+xml"/>
  <Override PartName="/ppt/notesSlides/notesSlide129.xml" ContentType="application/vnd.openxmlformats-officedocument.presentationml.notesSlide+xml"/>
  <Override PartName="/ppt/slideLayouts/slideLayout1.xml" ContentType="application/vnd.openxmlformats-officedocument.presentationml.slideLayout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0" r:id="rId38"/>
    <p:sldId id="291" r:id="rId39"/>
    <p:sldId id="292" r:id="rId40"/>
    <p:sldId id="293" r:id="rId41"/>
    <p:sldId id="294" r:id="rId42"/>
    <p:sldId id="295" r:id="rId43"/>
    <p:sldId id="296" r:id="rId44"/>
    <p:sldId id="297" r:id="rId45"/>
    <p:sldId id="298" r:id="rId46"/>
    <p:sldId id="299" r:id="rId47"/>
    <p:sldId id="300" r:id="rId48"/>
    <p:sldId id="301" r:id="rId49"/>
    <p:sldId id="302" r:id="rId50"/>
    <p:sldId id="303" r:id="rId51"/>
    <p:sldId id="304" r:id="rId52"/>
    <p:sldId id="305" r:id="rId53"/>
    <p:sldId id="306" r:id="rId54"/>
    <p:sldId id="307" r:id="rId55"/>
    <p:sldId id="308" r:id="rId56"/>
    <p:sldId id="309" r:id="rId57"/>
    <p:sldId id="310" r:id="rId58"/>
    <p:sldId id="311" r:id="rId59"/>
    <p:sldId id="312" r:id="rId60"/>
    <p:sldId id="313" r:id="rId61"/>
    <p:sldId id="314" r:id="rId62"/>
    <p:sldId id="315" r:id="rId63"/>
    <p:sldId id="316" r:id="rId64"/>
    <p:sldId id="317" r:id="rId65"/>
    <p:sldId id="318" r:id="rId66"/>
    <p:sldId id="319" r:id="rId67"/>
    <p:sldId id="320" r:id="rId68"/>
    <p:sldId id="321" r:id="rId69"/>
    <p:sldId id="322" r:id="rId70"/>
    <p:sldId id="323" r:id="rId71"/>
    <p:sldId id="324" r:id="rId72"/>
    <p:sldId id="325" r:id="rId73"/>
    <p:sldId id="326" r:id="rId74"/>
    <p:sldId id="327" r:id="rId75"/>
    <p:sldId id="328" r:id="rId76"/>
    <p:sldId id="329" r:id="rId77"/>
    <p:sldId id="330" r:id="rId78"/>
    <p:sldId id="331" r:id="rId79"/>
    <p:sldId id="332" r:id="rId80"/>
    <p:sldId id="333" r:id="rId81"/>
    <p:sldId id="334" r:id="rId82"/>
    <p:sldId id="335" r:id="rId83"/>
    <p:sldId id="336" r:id="rId84"/>
    <p:sldId id="337" r:id="rId85"/>
    <p:sldId id="338" r:id="rId86"/>
    <p:sldId id="339" r:id="rId87"/>
    <p:sldId id="340" r:id="rId88"/>
    <p:sldId id="341" r:id="rId89"/>
    <p:sldId id="342" r:id="rId90"/>
    <p:sldId id="343" r:id="rId91"/>
    <p:sldId id="344" r:id="rId92"/>
    <p:sldId id="345" r:id="rId93"/>
    <p:sldId id="346" r:id="rId94"/>
    <p:sldId id="347" r:id="rId95"/>
    <p:sldId id="348" r:id="rId96"/>
    <p:sldId id="349" r:id="rId97"/>
    <p:sldId id="350" r:id="rId98"/>
    <p:sldId id="351" r:id="rId99"/>
    <p:sldId id="352" r:id="rId100"/>
    <p:sldId id="353" r:id="rId101"/>
    <p:sldId id="354" r:id="rId102"/>
    <p:sldId id="355" r:id="rId103"/>
    <p:sldId id="356" r:id="rId104"/>
    <p:sldId id="357" r:id="rId105"/>
    <p:sldId id="358" r:id="rId106"/>
    <p:sldId id="359" r:id="rId107"/>
    <p:sldId id="360" r:id="rId108"/>
    <p:sldId id="361" r:id="rId109"/>
    <p:sldId id="362" r:id="rId110"/>
    <p:sldId id="363" r:id="rId111"/>
    <p:sldId id="364" r:id="rId112"/>
    <p:sldId id="365" r:id="rId113"/>
    <p:sldId id="366" r:id="rId114"/>
    <p:sldId id="367" r:id="rId115"/>
    <p:sldId id="368" r:id="rId116"/>
    <p:sldId id="369" r:id="rId117"/>
    <p:sldId id="370" r:id="rId118"/>
    <p:sldId id="371" r:id="rId119"/>
    <p:sldId id="372" r:id="rId120"/>
    <p:sldId id="373" r:id="rId121"/>
    <p:sldId id="374" r:id="rId122"/>
    <p:sldId id="375" r:id="rId123"/>
    <p:sldId id="376" r:id="rId124"/>
    <p:sldId id="377" r:id="rId125"/>
    <p:sldId id="378" r:id="rId126"/>
    <p:sldId id="379" r:id="rId127"/>
    <p:sldId id="380" r:id="rId128"/>
    <p:sldId id="381" r:id="rId129"/>
    <p:sldId id="382" r:id="rId130"/>
    <p:sldId id="383" r:id="rId131"/>
    <p:sldId id="384" r:id="rId132"/>
    <p:sldId id="385" r:id="rId133"/>
    <p:sldId id="386" r:id="rId134"/>
    <p:sldId id="387" r:id="rId135"/>
    <p:sldId id="388" r:id="rId136"/>
    <p:sldId id="389" r:id="rId137"/>
    <p:sldId id="390" r:id="rId138"/>
    <p:sldId id="391" r:id="rId139"/>
    <p:sldId id="392" r:id="rId140"/>
    <p:sldId id="393" r:id="rId141"/>
    <p:sldId id="394" r:id="rId142"/>
    <p:sldId id="395" r:id="rId143"/>
    <p:sldId id="396" r:id="rId144"/>
    <p:sldId id="397" r:id="rId145"/>
    <p:sldId id="398" r:id="rId146"/>
    <p:sldId id="399" r:id="rId147"/>
    <p:sldId id="400" r:id="rId148"/>
    <p:sldId id="401" r:id="rId149"/>
    <p:sldId id="402" r:id="rId150"/>
    <p:sldId id="403" r:id="rId151"/>
    <p:sldId id="404" r:id="rId152"/>
    <p:sldId id="405" r:id="rId153"/>
    <p:sldId id="406" r:id="rId154"/>
    <p:sldId id="407" r:id="rId155"/>
    <p:sldId id="408" r:id="rId156"/>
    <p:sldId id="409" r:id="rId157"/>
    <p:sldId id="410" r:id="rId158"/>
    <p:sldId id="411" r:id="rId159"/>
    <p:sldId id="412" r:id="rId160"/>
    <p:sldId id="413" r:id="rId161"/>
    <p:sldId id="414" r:id="rId162"/>
    <p:sldId id="415" r:id="rId163"/>
    <p:sldId id="416" r:id="rId164"/>
    <p:sldId id="417" r:id="rId165"/>
    <p:sldId id="418" r:id="rId166"/>
    <p:sldId id="419" r:id="rId167"/>
    <p:sldId id="420" r:id="rId168"/>
    <p:sldId id="421" r:id="rId169"/>
    <p:sldId id="422" r:id="rId170"/>
    <p:sldId id="423" r:id="rId171"/>
    <p:sldId id="424" r:id="rId172"/>
    <p:sldId id="425" r:id="rId173"/>
    <p:sldId id="426" r:id="rId174"/>
    <p:sldId id="427" r:id="rId175"/>
    <p:sldId id="428" r:id="rId176"/>
    <p:sldId id="429" r:id="rId177"/>
    <p:sldId id="430" r:id="rId178"/>
    <p:sldId id="431" r:id="rId179"/>
    <p:sldId id="432" r:id="rId180"/>
    <p:sldId id="433" r:id="rId181"/>
    <p:sldId id="434" r:id="rId182"/>
    <p:sldId id="435" r:id="rId183"/>
    <p:sldId id="436" r:id="rId184"/>
    <p:sldId id="437" r:id="rId185"/>
    <p:sldId id="438" r:id="rId186"/>
    <p:sldId id="439" r:id="rId187"/>
    <p:sldId id="440" r:id="rId188"/>
    <p:sldId id="441" r:id="rId189"/>
    <p:sldId id="442" r:id="rId190"/>
    <p:sldId id="443" r:id="rId191"/>
    <p:sldId id="444" r:id="rId192"/>
    <p:sldId id="445" r:id="rId193"/>
    <p:sldId id="446" r:id="rId194"/>
    <p:sldId id="447" r:id="rId195"/>
    <p:sldId id="448" r:id="rId196"/>
    <p:sldId id="449" r:id="rId197"/>
    <p:sldId id="450" r:id="rId198"/>
    <p:sldId id="451" r:id="rId199"/>
  </p:sldIdLst>
  <p:sldSz cx="12192000" cy="6858000"/>
  <p:notesSz cx="6858000" cy="12192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slide" Target="slides/slide26.xml"/><Relationship Id="rId30" Type="http://schemas.openxmlformats.org/officeDocument/2006/relationships/slide" Target="slides/slide27.xml"/><Relationship Id="rId31" Type="http://schemas.openxmlformats.org/officeDocument/2006/relationships/slide" Target="slides/slide28.xml"/><Relationship Id="rId32" Type="http://schemas.openxmlformats.org/officeDocument/2006/relationships/slide" Target="slides/slide29.xml"/><Relationship Id="rId33" Type="http://schemas.openxmlformats.org/officeDocument/2006/relationships/slide" Target="slides/slide30.xml"/><Relationship Id="rId34" Type="http://schemas.openxmlformats.org/officeDocument/2006/relationships/slide" Target="slides/slide31.xml"/><Relationship Id="rId35" Type="http://schemas.openxmlformats.org/officeDocument/2006/relationships/slide" Target="slides/slide32.xml"/><Relationship Id="rId36" Type="http://schemas.openxmlformats.org/officeDocument/2006/relationships/slide" Target="slides/slide33.xml"/><Relationship Id="rId37" Type="http://schemas.openxmlformats.org/officeDocument/2006/relationships/slide" Target="slides/slide34.xml"/><Relationship Id="rId38" Type="http://schemas.openxmlformats.org/officeDocument/2006/relationships/slide" Target="slides/slide35.xml"/><Relationship Id="rId39" Type="http://schemas.openxmlformats.org/officeDocument/2006/relationships/slide" Target="slides/slide36.xml"/><Relationship Id="rId40" Type="http://schemas.openxmlformats.org/officeDocument/2006/relationships/slide" Target="slides/slide37.xml"/><Relationship Id="rId41" Type="http://schemas.openxmlformats.org/officeDocument/2006/relationships/slide" Target="slides/slide38.xml"/><Relationship Id="rId42" Type="http://schemas.openxmlformats.org/officeDocument/2006/relationships/slide" Target="slides/slide39.xml"/><Relationship Id="rId43" Type="http://schemas.openxmlformats.org/officeDocument/2006/relationships/slide" Target="slides/slide40.xml"/><Relationship Id="rId44" Type="http://schemas.openxmlformats.org/officeDocument/2006/relationships/slide" Target="slides/slide41.xml"/><Relationship Id="rId45" Type="http://schemas.openxmlformats.org/officeDocument/2006/relationships/slide" Target="slides/slide42.xml"/><Relationship Id="rId46" Type="http://schemas.openxmlformats.org/officeDocument/2006/relationships/slide" Target="slides/slide43.xml"/><Relationship Id="rId47" Type="http://schemas.openxmlformats.org/officeDocument/2006/relationships/slide" Target="slides/slide44.xml"/><Relationship Id="rId48" Type="http://schemas.openxmlformats.org/officeDocument/2006/relationships/slide" Target="slides/slide45.xml"/><Relationship Id="rId49" Type="http://schemas.openxmlformats.org/officeDocument/2006/relationships/slide" Target="slides/slide46.xml"/><Relationship Id="rId50" Type="http://schemas.openxmlformats.org/officeDocument/2006/relationships/slide" Target="slides/slide47.xml"/><Relationship Id="rId51" Type="http://schemas.openxmlformats.org/officeDocument/2006/relationships/slide" Target="slides/slide48.xml"/><Relationship Id="rId52" Type="http://schemas.openxmlformats.org/officeDocument/2006/relationships/slide" Target="slides/slide49.xml"/><Relationship Id="rId53" Type="http://schemas.openxmlformats.org/officeDocument/2006/relationships/slide" Target="slides/slide50.xml"/><Relationship Id="rId54" Type="http://schemas.openxmlformats.org/officeDocument/2006/relationships/slide" Target="slides/slide51.xml"/><Relationship Id="rId55" Type="http://schemas.openxmlformats.org/officeDocument/2006/relationships/slide" Target="slides/slide52.xml"/><Relationship Id="rId56" Type="http://schemas.openxmlformats.org/officeDocument/2006/relationships/slide" Target="slides/slide53.xml"/><Relationship Id="rId57" Type="http://schemas.openxmlformats.org/officeDocument/2006/relationships/slide" Target="slides/slide54.xml"/><Relationship Id="rId58" Type="http://schemas.openxmlformats.org/officeDocument/2006/relationships/slide" Target="slides/slide55.xml"/><Relationship Id="rId59" Type="http://schemas.openxmlformats.org/officeDocument/2006/relationships/slide" Target="slides/slide56.xml"/><Relationship Id="rId60" Type="http://schemas.openxmlformats.org/officeDocument/2006/relationships/slide" Target="slides/slide57.xml"/><Relationship Id="rId61" Type="http://schemas.openxmlformats.org/officeDocument/2006/relationships/slide" Target="slides/slide58.xml"/><Relationship Id="rId62" Type="http://schemas.openxmlformats.org/officeDocument/2006/relationships/slide" Target="slides/slide59.xml"/><Relationship Id="rId63" Type="http://schemas.openxmlformats.org/officeDocument/2006/relationships/slide" Target="slides/slide60.xml"/><Relationship Id="rId64" Type="http://schemas.openxmlformats.org/officeDocument/2006/relationships/slide" Target="slides/slide61.xml"/><Relationship Id="rId65" Type="http://schemas.openxmlformats.org/officeDocument/2006/relationships/slide" Target="slides/slide62.xml"/><Relationship Id="rId66" Type="http://schemas.openxmlformats.org/officeDocument/2006/relationships/slide" Target="slides/slide63.xml"/><Relationship Id="rId67" Type="http://schemas.openxmlformats.org/officeDocument/2006/relationships/slide" Target="slides/slide64.xml"/><Relationship Id="rId68" Type="http://schemas.openxmlformats.org/officeDocument/2006/relationships/slide" Target="slides/slide65.xml"/><Relationship Id="rId69" Type="http://schemas.openxmlformats.org/officeDocument/2006/relationships/slide" Target="slides/slide66.xml"/><Relationship Id="rId70" Type="http://schemas.openxmlformats.org/officeDocument/2006/relationships/slide" Target="slides/slide67.xml"/><Relationship Id="rId71" Type="http://schemas.openxmlformats.org/officeDocument/2006/relationships/slide" Target="slides/slide68.xml"/><Relationship Id="rId72" Type="http://schemas.openxmlformats.org/officeDocument/2006/relationships/slide" Target="slides/slide69.xml"/><Relationship Id="rId73" Type="http://schemas.openxmlformats.org/officeDocument/2006/relationships/slide" Target="slides/slide70.xml"/><Relationship Id="rId74" Type="http://schemas.openxmlformats.org/officeDocument/2006/relationships/slide" Target="slides/slide71.xml"/><Relationship Id="rId75" Type="http://schemas.openxmlformats.org/officeDocument/2006/relationships/slide" Target="slides/slide72.xml"/><Relationship Id="rId76" Type="http://schemas.openxmlformats.org/officeDocument/2006/relationships/slide" Target="slides/slide73.xml"/><Relationship Id="rId77" Type="http://schemas.openxmlformats.org/officeDocument/2006/relationships/slide" Target="slides/slide74.xml"/><Relationship Id="rId78" Type="http://schemas.openxmlformats.org/officeDocument/2006/relationships/slide" Target="slides/slide75.xml"/><Relationship Id="rId79" Type="http://schemas.openxmlformats.org/officeDocument/2006/relationships/slide" Target="slides/slide76.xml"/><Relationship Id="rId80" Type="http://schemas.openxmlformats.org/officeDocument/2006/relationships/slide" Target="slides/slide77.xml"/><Relationship Id="rId81" Type="http://schemas.openxmlformats.org/officeDocument/2006/relationships/slide" Target="slides/slide78.xml"/><Relationship Id="rId82" Type="http://schemas.openxmlformats.org/officeDocument/2006/relationships/slide" Target="slides/slide79.xml"/><Relationship Id="rId83" Type="http://schemas.openxmlformats.org/officeDocument/2006/relationships/slide" Target="slides/slide80.xml"/><Relationship Id="rId84" Type="http://schemas.openxmlformats.org/officeDocument/2006/relationships/slide" Target="slides/slide81.xml"/><Relationship Id="rId85" Type="http://schemas.openxmlformats.org/officeDocument/2006/relationships/slide" Target="slides/slide82.xml"/><Relationship Id="rId86" Type="http://schemas.openxmlformats.org/officeDocument/2006/relationships/slide" Target="slides/slide83.xml"/><Relationship Id="rId87" Type="http://schemas.openxmlformats.org/officeDocument/2006/relationships/slide" Target="slides/slide84.xml"/><Relationship Id="rId88" Type="http://schemas.openxmlformats.org/officeDocument/2006/relationships/slide" Target="slides/slide85.xml"/><Relationship Id="rId89" Type="http://schemas.openxmlformats.org/officeDocument/2006/relationships/slide" Target="slides/slide86.xml"/><Relationship Id="rId90" Type="http://schemas.openxmlformats.org/officeDocument/2006/relationships/slide" Target="slides/slide87.xml"/><Relationship Id="rId91" Type="http://schemas.openxmlformats.org/officeDocument/2006/relationships/slide" Target="slides/slide88.xml"/><Relationship Id="rId92" Type="http://schemas.openxmlformats.org/officeDocument/2006/relationships/slide" Target="slides/slide89.xml"/><Relationship Id="rId93" Type="http://schemas.openxmlformats.org/officeDocument/2006/relationships/slide" Target="slides/slide90.xml"/><Relationship Id="rId94" Type="http://schemas.openxmlformats.org/officeDocument/2006/relationships/slide" Target="slides/slide91.xml"/><Relationship Id="rId95" Type="http://schemas.openxmlformats.org/officeDocument/2006/relationships/slide" Target="slides/slide92.xml"/><Relationship Id="rId96" Type="http://schemas.openxmlformats.org/officeDocument/2006/relationships/slide" Target="slides/slide93.xml"/><Relationship Id="rId97" Type="http://schemas.openxmlformats.org/officeDocument/2006/relationships/slide" Target="slides/slide94.xml"/><Relationship Id="rId98" Type="http://schemas.openxmlformats.org/officeDocument/2006/relationships/slide" Target="slides/slide95.xml"/><Relationship Id="rId99" Type="http://schemas.openxmlformats.org/officeDocument/2006/relationships/slide" Target="slides/slide96.xml"/><Relationship Id="rId100" Type="http://schemas.openxmlformats.org/officeDocument/2006/relationships/slide" Target="slides/slide97.xml"/><Relationship Id="rId101" Type="http://schemas.openxmlformats.org/officeDocument/2006/relationships/slide" Target="slides/slide98.xml"/><Relationship Id="rId102" Type="http://schemas.openxmlformats.org/officeDocument/2006/relationships/slide" Target="slides/slide99.xml"/><Relationship Id="rId103" Type="http://schemas.openxmlformats.org/officeDocument/2006/relationships/slide" Target="slides/slide100.xml"/><Relationship Id="rId104" Type="http://schemas.openxmlformats.org/officeDocument/2006/relationships/slide" Target="slides/slide101.xml"/><Relationship Id="rId105" Type="http://schemas.openxmlformats.org/officeDocument/2006/relationships/slide" Target="slides/slide102.xml"/><Relationship Id="rId106" Type="http://schemas.openxmlformats.org/officeDocument/2006/relationships/slide" Target="slides/slide103.xml"/><Relationship Id="rId107" Type="http://schemas.openxmlformats.org/officeDocument/2006/relationships/slide" Target="slides/slide104.xml"/><Relationship Id="rId108" Type="http://schemas.openxmlformats.org/officeDocument/2006/relationships/slide" Target="slides/slide105.xml"/><Relationship Id="rId109" Type="http://schemas.openxmlformats.org/officeDocument/2006/relationships/slide" Target="slides/slide106.xml"/><Relationship Id="rId110" Type="http://schemas.openxmlformats.org/officeDocument/2006/relationships/slide" Target="slides/slide107.xml"/><Relationship Id="rId111" Type="http://schemas.openxmlformats.org/officeDocument/2006/relationships/slide" Target="slides/slide108.xml"/><Relationship Id="rId112" Type="http://schemas.openxmlformats.org/officeDocument/2006/relationships/slide" Target="slides/slide109.xml"/><Relationship Id="rId113" Type="http://schemas.openxmlformats.org/officeDocument/2006/relationships/slide" Target="slides/slide110.xml"/><Relationship Id="rId114" Type="http://schemas.openxmlformats.org/officeDocument/2006/relationships/slide" Target="slides/slide111.xml"/><Relationship Id="rId115" Type="http://schemas.openxmlformats.org/officeDocument/2006/relationships/slide" Target="slides/slide112.xml"/><Relationship Id="rId116" Type="http://schemas.openxmlformats.org/officeDocument/2006/relationships/slide" Target="slides/slide113.xml"/><Relationship Id="rId117" Type="http://schemas.openxmlformats.org/officeDocument/2006/relationships/slide" Target="slides/slide114.xml"/><Relationship Id="rId118" Type="http://schemas.openxmlformats.org/officeDocument/2006/relationships/slide" Target="slides/slide115.xml"/><Relationship Id="rId119" Type="http://schemas.openxmlformats.org/officeDocument/2006/relationships/slide" Target="slides/slide116.xml"/><Relationship Id="rId120" Type="http://schemas.openxmlformats.org/officeDocument/2006/relationships/slide" Target="slides/slide117.xml"/><Relationship Id="rId121" Type="http://schemas.openxmlformats.org/officeDocument/2006/relationships/slide" Target="slides/slide118.xml"/><Relationship Id="rId122" Type="http://schemas.openxmlformats.org/officeDocument/2006/relationships/slide" Target="slides/slide119.xml"/><Relationship Id="rId123" Type="http://schemas.openxmlformats.org/officeDocument/2006/relationships/slide" Target="slides/slide120.xml"/><Relationship Id="rId124" Type="http://schemas.openxmlformats.org/officeDocument/2006/relationships/slide" Target="slides/slide121.xml"/><Relationship Id="rId125" Type="http://schemas.openxmlformats.org/officeDocument/2006/relationships/slide" Target="slides/slide122.xml"/><Relationship Id="rId126" Type="http://schemas.openxmlformats.org/officeDocument/2006/relationships/slide" Target="slides/slide123.xml"/><Relationship Id="rId127" Type="http://schemas.openxmlformats.org/officeDocument/2006/relationships/slide" Target="slides/slide124.xml"/><Relationship Id="rId128" Type="http://schemas.openxmlformats.org/officeDocument/2006/relationships/slide" Target="slides/slide125.xml"/><Relationship Id="rId129" Type="http://schemas.openxmlformats.org/officeDocument/2006/relationships/slide" Target="slides/slide126.xml"/><Relationship Id="rId130" Type="http://schemas.openxmlformats.org/officeDocument/2006/relationships/slide" Target="slides/slide127.xml"/><Relationship Id="rId131" Type="http://schemas.openxmlformats.org/officeDocument/2006/relationships/slide" Target="slides/slide128.xml"/><Relationship Id="rId132" Type="http://schemas.openxmlformats.org/officeDocument/2006/relationships/slide" Target="slides/slide129.xml"/><Relationship Id="rId133" Type="http://schemas.openxmlformats.org/officeDocument/2006/relationships/slide" Target="slides/slide130.xml"/><Relationship Id="rId134" Type="http://schemas.openxmlformats.org/officeDocument/2006/relationships/slide" Target="slides/slide131.xml"/><Relationship Id="rId135" Type="http://schemas.openxmlformats.org/officeDocument/2006/relationships/slide" Target="slides/slide132.xml"/><Relationship Id="rId136" Type="http://schemas.openxmlformats.org/officeDocument/2006/relationships/slide" Target="slides/slide133.xml"/><Relationship Id="rId137" Type="http://schemas.openxmlformats.org/officeDocument/2006/relationships/slide" Target="slides/slide134.xml"/><Relationship Id="rId138" Type="http://schemas.openxmlformats.org/officeDocument/2006/relationships/slide" Target="slides/slide135.xml"/><Relationship Id="rId139" Type="http://schemas.openxmlformats.org/officeDocument/2006/relationships/slide" Target="slides/slide136.xml"/><Relationship Id="rId140" Type="http://schemas.openxmlformats.org/officeDocument/2006/relationships/slide" Target="slides/slide137.xml"/><Relationship Id="rId141" Type="http://schemas.openxmlformats.org/officeDocument/2006/relationships/slide" Target="slides/slide138.xml"/><Relationship Id="rId142" Type="http://schemas.openxmlformats.org/officeDocument/2006/relationships/slide" Target="slides/slide139.xml"/><Relationship Id="rId143" Type="http://schemas.openxmlformats.org/officeDocument/2006/relationships/slide" Target="slides/slide140.xml"/><Relationship Id="rId144" Type="http://schemas.openxmlformats.org/officeDocument/2006/relationships/slide" Target="slides/slide141.xml"/><Relationship Id="rId145" Type="http://schemas.openxmlformats.org/officeDocument/2006/relationships/slide" Target="slides/slide142.xml"/><Relationship Id="rId146" Type="http://schemas.openxmlformats.org/officeDocument/2006/relationships/slide" Target="slides/slide143.xml"/><Relationship Id="rId147" Type="http://schemas.openxmlformats.org/officeDocument/2006/relationships/slide" Target="slides/slide144.xml"/><Relationship Id="rId148" Type="http://schemas.openxmlformats.org/officeDocument/2006/relationships/slide" Target="slides/slide145.xml"/><Relationship Id="rId149" Type="http://schemas.openxmlformats.org/officeDocument/2006/relationships/slide" Target="slides/slide146.xml"/><Relationship Id="rId150" Type="http://schemas.openxmlformats.org/officeDocument/2006/relationships/slide" Target="slides/slide147.xml"/><Relationship Id="rId151" Type="http://schemas.openxmlformats.org/officeDocument/2006/relationships/slide" Target="slides/slide148.xml"/><Relationship Id="rId152" Type="http://schemas.openxmlformats.org/officeDocument/2006/relationships/slide" Target="slides/slide149.xml"/><Relationship Id="rId153" Type="http://schemas.openxmlformats.org/officeDocument/2006/relationships/slide" Target="slides/slide150.xml"/><Relationship Id="rId154" Type="http://schemas.openxmlformats.org/officeDocument/2006/relationships/slide" Target="slides/slide151.xml"/><Relationship Id="rId155" Type="http://schemas.openxmlformats.org/officeDocument/2006/relationships/slide" Target="slides/slide152.xml"/><Relationship Id="rId156" Type="http://schemas.openxmlformats.org/officeDocument/2006/relationships/slide" Target="slides/slide153.xml"/><Relationship Id="rId157" Type="http://schemas.openxmlformats.org/officeDocument/2006/relationships/slide" Target="slides/slide154.xml"/><Relationship Id="rId158" Type="http://schemas.openxmlformats.org/officeDocument/2006/relationships/slide" Target="slides/slide155.xml"/><Relationship Id="rId159" Type="http://schemas.openxmlformats.org/officeDocument/2006/relationships/slide" Target="slides/slide156.xml"/><Relationship Id="rId160" Type="http://schemas.openxmlformats.org/officeDocument/2006/relationships/slide" Target="slides/slide157.xml"/><Relationship Id="rId161" Type="http://schemas.openxmlformats.org/officeDocument/2006/relationships/slide" Target="slides/slide158.xml"/><Relationship Id="rId162" Type="http://schemas.openxmlformats.org/officeDocument/2006/relationships/slide" Target="slides/slide159.xml"/><Relationship Id="rId163" Type="http://schemas.openxmlformats.org/officeDocument/2006/relationships/slide" Target="slides/slide160.xml"/><Relationship Id="rId164" Type="http://schemas.openxmlformats.org/officeDocument/2006/relationships/slide" Target="slides/slide161.xml"/><Relationship Id="rId165" Type="http://schemas.openxmlformats.org/officeDocument/2006/relationships/slide" Target="slides/slide162.xml"/><Relationship Id="rId166" Type="http://schemas.openxmlformats.org/officeDocument/2006/relationships/slide" Target="slides/slide163.xml"/><Relationship Id="rId167" Type="http://schemas.openxmlformats.org/officeDocument/2006/relationships/slide" Target="slides/slide164.xml"/><Relationship Id="rId168" Type="http://schemas.openxmlformats.org/officeDocument/2006/relationships/slide" Target="slides/slide165.xml"/><Relationship Id="rId169" Type="http://schemas.openxmlformats.org/officeDocument/2006/relationships/slide" Target="slides/slide166.xml"/><Relationship Id="rId170" Type="http://schemas.openxmlformats.org/officeDocument/2006/relationships/slide" Target="slides/slide167.xml"/><Relationship Id="rId171" Type="http://schemas.openxmlformats.org/officeDocument/2006/relationships/slide" Target="slides/slide168.xml"/><Relationship Id="rId172" Type="http://schemas.openxmlformats.org/officeDocument/2006/relationships/slide" Target="slides/slide169.xml"/><Relationship Id="rId173" Type="http://schemas.openxmlformats.org/officeDocument/2006/relationships/slide" Target="slides/slide170.xml"/><Relationship Id="rId174" Type="http://schemas.openxmlformats.org/officeDocument/2006/relationships/slide" Target="slides/slide171.xml"/><Relationship Id="rId175" Type="http://schemas.openxmlformats.org/officeDocument/2006/relationships/slide" Target="slides/slide172.xml"/><Relationship Id="rId176" Type="http://schemas.openxmlformats.org/officeDocument/2006/relationships/slide" Target="slides/slide173.xml"/><Relationship Id="rId177" Type="http://schemas.openxmlformats.org/officeDocument/2006/relationships/slide" Target="slides/slide174.xml"/><Relationship Id="rId178" Type="http://schemas.openxmlformats.org/officeDocument/2006/relationships/slide" Target="slides/slide175.xml"/><Relationship Id="rId179" Type="http://schemas.openxmlformats.org/officeDocument/2006/relationships/slide" Target="slides/slide176.xml"/><Relationship Id="rId180" Type="http://schemas.openxmlformats.org/officeDocument/2006/relationships/slide" Target="slides/slide177.xml"/><Relationship Id="rId181" Type="http://schemas.openxmlformats.org/officeDocument/2006/relationships/slide" Target="slides/slide178.xml"/><Relationship Id="rId182" Type="http://schemas.openxmlformats.org/officeDocument/2006/relationships/slide" Target="slides/slide179.xml"/><Relationship Id="rId183" Type="http://schemas.openxmlformats.org/officeDocument/2006/relationships/slide" Target="slides/slide180.xml"/><Relationship Id="rId184" Type="http://schemas.openxmlformats.org/officeDocument/2006/relationships/slide" Target="slides/slide181.xml"/><Relationship Id="rId185" Type="http://schemas.openxmlformats.org/officeDocument/2006/relationships/slide" Target="slides/slide182.xml"/><Relationship Id="rId186" Type="http://schemas.openxmlformats.org/officeDocument/2006/relationships/slide" Target="slides/slide183.xml"/><Relationship Id="rId187" Type="http://schemas.openxmlformats.org/officeDocument/2006/relationships/slide" Target="slides/slide184.xml"/><Relationship Id="rId188" Type="http://schemas.openxmlformats.org/officeDocument/2006/relationships/slide" Target="slides/slide185.xml"/><Relationship Id="rId189" Type="http://schemas.openxmlformats.org/officeDocument/2006/relationships/slide" Target="slides/slide186.xml"/><Relationship Id="rId190" Type="http://schemas.openxmlformats.org/officeDocument/2006/relationships/slide" Target="slides/slide187.xml"/><Relationship Id="rId191" Type="http://schemas.openxmlformats.org/officeDocument/2006/relationships/slide" Target="slides/slide188.xml"/><Relationship Id="rId192" Type="http://schemas.openxmlformats.org/officeDocument/2006/relationships/slide" Target="slides/slide189.xml"/><Relationship Id="rId193" Type="http://schemas.openxmlformats.org/officeDocument/2006/relationships/slide" Target="slides/slide190.xml"/><Relationship Id="rId194" Type="http://schemas.openxmlformats.org/officeDocument/2006/relationships/slide" Target="slides/slide191.xml"/><Relationship Id="rId195" Type="http://schemas.openxmlformats.org/officeDocument/2006/relationships/slide" Target="slides/slide192.xml"/><Relationship Id="rId196" Type="http://schemas.openxmlformats.org/officeDocument/2006/relationships/slide" Target="slides/slide193.xml"/><Relationship Id="rId197" Type="http://schemas.openxmlformats.org/officeDocument/2006/relationships/slide" Target="slides/slide194.xml"/><Relationship Id="rId198" Type="http://schemas.openxmlformats.org/officeDocument/2006/relationships/slide" Target="slides/slide195.xml"/><Relationship Id="rId199" Type="http://schemas.openxmlformats.org/officeDocument/2006/relationships/slide" Target="slides/slide196.xml"/><Relationship Id="rId200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sldImg"/>
          </p:nvPr>
        </p:nvSpPr>
        <p:spPr>
          <a:xfrm>
            <a:off x="533520" y="764280"/>
            <a:ext cx="6704640" cy="3771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move the slide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4"/>
          <p:cNvSpPr>
            <a:spLocks noGrp="1"/>
          </p:cNvSpPr>
          <p:nvPr>
            <p:ph type="dt" idx="2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5"/>
          <p:cNvSpPr>
            <a:spLocks noGrp="1"/>
          </p:cNvSpPr>
          <p:nvPr>
            <p:ph type="ftr" idx="3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6"/>
          <p:cNvSpPr>
            <a:spLocks noGrp="1"/>
          </p:cNvSpPr>
          <p:nvPr>
            <p:ph type="sldNum" idx="4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F80856E7-B0E6-471A-A84F-EDE15B897BA2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_rels/notesSlide15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
</Relationships>
</file>

<file path=ppt/notesSlides/_rels/notesSlide16.xml.rels><?xml version="1.0" encoding="UTF-8"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
</Relationships>
</file>

<file path=ppt/notesSlides/_rels/notesSlide17.xml.rels><?xml version="1.0" encoding="UTF-8"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
</Relationships>
</file>

<file path=ppt/notesSlides/_rels/notesSlide18.xml.rels><?xml version="1.0" encoding="UTF-8"?>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
</Relationships>
</file>

<file path=ppt/notesSlides/_rels/notesSlide19.xml.rels><?xml version="1.0" encoding="UTF-8"?>
<Relationships xmlns="http://schemas.openxmlformats.org/package/2006/relationships"><Relationship Id="rId1" Type="http://schemas.openxmlformats.org/officeDocument/2006/relationships/slide" Target="../slides/slide19.xml"/><Relationship Id="rId2" Type="http://schemas.openxmlformats.org/officeDocument/2006/relationships/notesMaster" Target="../notesMasters/notesMaster1.xml"/>
</Relationships>
</file>

<file path=ppt/notesSlides/_rels/notesSlide20.xml.rels><?xml version="1.0" encoding="UTF-8"?>
<Relationships xmlns="http://schemas.openxmlformats.org/package/2006/relationships"><Relationship Id="rId1" Type="http://schemas.openxmlformats.org/officeDocument/2006/relationships/slide" Target="../slides/slide20.xml"/><Relationship Id="rId2" Type="http://schemas.openxmlformats.org/officeDocument/2006/relationships/notesMaster" Target="../notesMasters/notesMaster1.xml"/>
</Relationships>
</file>

<file path=ppt/notesSlides/_rels/notesSlide21.xml.rels><?xml version="1.0" encoding="UTF-8"?>
<Relationships xmlns="http://schemas.openxmlformats.org/package/2006/relationships"><Relationship Id="rId1" Type="http://schemas.openxmlformats.org/officeDocument/2006/relationships/slide" Target="../slides/slide21.xml"/><Relationship Id="rId2" Type="http://schemas.openxmlformats.org/officeDocument/2006/relationships/notesMaster" Target="../notesMasters/notesMaster1.xml"/>
</Relationships>
</file>

<file path=ppt/notesSlides/_rels/notesSlide22.xml.rels><?xml version="1.0" encoding="UTF-8"?>
<Relationships xmlns="http://schemas.openxmlformats.org/package/2006/relationships"><Relationship Id="rId1" Type="http://schemas.openxmlformats.org/officeDocument/2006/relationships/slide" Target="../slides/slide22.xml"/><Relationship Id="rId2" Type="http://schemas.openxmlformats.org/officeDocument/2006/relationships/notesMaster" Target="../notesMasters/notesMaster1.xml"/>
</Relationships>
</file>

<file path=ppt/notesSlides/_rels/notesSlide23.xml.rels><?xml version="1.0" encoding="UTF-8"?>
<Relationships xmlns="http://schemas.openxmlformats.org/package/2006/relationships"><Relationship Id="rId1" Type="http://schemas.openxmlformats.org/officeDocument/2006/relationships/slide" Target="../slides/slide23.xml"/><Relationship Id="rId2" Type="http://schemas.openxmlformats.org/officeDocument/2006/relationships/notesMaster" Target="../notesMasters/notesMaster1.xml"/>
</Relationships>
</file>

<file path=ppt/notesSlides/_rels/notesSlide24.xml.rels><?xml version="1.0" encoding="UTF-8"?>
<Relationships xmlns="http://schemas.openxmlformats.org/package/2006/relationships"><Relationship Id="rId1" Type="http://schemas.openxmlformats.org/officeDocument/2006/relationships/slide" Target="../slides/slide24.xml"/><Relationship Id="rId2" Type="http://schemas.openxmlformats.org/officeDocument/2006/relationships/notesMaster" Target="../notesMasters/notesMaster1.xml"/>
</Relationships>
</file>

<file path=ppt/notesSlides/_rels/notesSlide25.xml.rels><?xml version="1.0" encoding="UTF-8"?>
<Relationships xmlns="http://schemas.openxmlformats.org/package/2006/relationships"><Relationship Id="rId1" Type="http://schemas.openxmlformats.org/officeDocument/2006/relationships/slide" Target="../slides/slide25.xml"/><Relationship Id="rId2" Type="http://schemas.openxmlformats.org/officeDocument/2006/relationships/notesMaster" Target="../notesMasters/notesMaster1.xml"/>
</Relationships>
</file>

<file path=ppt/notesSlides/_rels/notesSlide26.xml.rels><?xml version="1.0" encoding="UTF-8"?>
<Relationships xmlns="http://schemas.openxmlformats.org/package/2006/relationships"><Relationship Id="rId1" Type="http://schemas.openxmlformats.org/officeDocument/2006/relationships/slide" Target="../slides/slide26.xml"/><Relationship Id="rId2" Type="http://schemas.openxmlformats.org/officeDocument/2006/relationships/notesMaster" Target="../notesMasters/notesMaster1.xml"/>
</Relationships>
</file>

<file path=ppt/notesSlides/_rels/notesSlide27.xml.rels><?xml version="1.0" encoding="UTF-8"?>
<Relationships xmlns="http://schemas.openxmlformats.org/package/2006/relationships"><Relationship Id="rId1" Type="http://schemas.openxmlformats.org/officeDocument/2006/relationships/slide" Target="../slides/slide27.xml"/><Relationship Id="rId2" Type="http://schemas.openxmlformats.org/officeDocument/2006/relationships/notesMaster" Target="../notesMasters/notesMaster1.xml"/>
</Relationships>
</file>

<file path=ppt/notesSlides/_rels/notesSlide28.xml.rels><?xml version="1.0" encoding="UTF-8"?>
<Relationships xmlns="http://schemas.openxmlformats.org/package/2006/relationships"><Relationship Id="rId1" Type="http://schemas.openxmlformats.org/officeDocument/2006/relationships/slide" Target="../slides/slide28.xml"/><Relationship Id="rId2" Type="http://schemas.openxmlformats.org/officeDocument/2006/relationships/notesMaster" Target="../notesMasters/notesMaster1.xml"/>
</Relationships>
</file>

<file path=ppt/notesSlides/_rels/notesSlide29.xml.rels><?xml version="1.0" encoding="UTF-8"?>
<Relationships xmlns="http://schemas.openxmlformats.org/package/2006/relationships"><Relationship Id="rId1" Type="http://schemas.openxmlformats.org/officeDocument/2006/relationships/slide" Target="../slides/slide29.xml"/><Relationship Id="rId2" Type="http://schemas.openxmlformats.org/officeDocument/2006/relationships/notesMaster" Target="../notesMasters/notesMaster1.xml"/>
</Relationships>
</file>

<file path=ppt/notesSlides/_rels/notesSlide30.xml.rels><?xml version="1.0" encoding="UTF-8"?>
<Relationships xmlns="http://schemas.openxmlformats.org/package/2006/relationships"><Relationship Id="rId1" Type="http://schemas.openxmlformats.org/officeDocument/2006/relationships/slide" Target="../slides/slide30.xml"/><Relationship Id="rId2" Type="http://schemas.openxmlformats.org/officeDocument/2006/relationships/notesMaster" Target="../notesMasters/notesMaster1.xml"/>
</Relationships>
</file>

<file path=ppt/notesSlides/_rels/notesSlide31.xml.rels><?xml version="1.0" encoding="UTF-8"?>
<Relationships xmlns="http://schemas.openxmlformats.org/package/2006/relationships"><Relationship Id="rId1" Type="http://schemas.openxmlformats.org/officeDocument/2006/relationships/slide" Target="../slides/slide31.xml"/><Relationship Id="rId2" Type="http://schemas.openxmlformats.org/officeDocument/2006/relationships/notesMaster" Target="../notesMasters/notesMaster1.xml"/>
</Relationships>
</file>

<file path=ppt/notesSlides/_rels/notesSlide32.xml.rels><?xml version="1.0" encoding="UTF-8"?>
<Relationships xmlns="http://schemas.openxmlformats.org/package/2006/relationships"><Relationship Id="rId1" Type="http://schemas.openxmlformats.org/officeDocument/2006/relationships/slide" Target="../slides/slide32.xml"/><Relationship Id="rId2" Type="http://schemas.openxmlformats.org/officeDocument/2006/relationships/notesMaster" Target="../notesMasters/notesMaster1.xml"/>
</Relationships>
</file>

<file path=ppt/notesSlides/_rels/notesSlide33.xml.rels><?xml version="1.0" encoding="UTF-8"?>
<Relationships xmlns="http://schemas.openxmlformats.org/package/2006/relationships"><Relationship Id="rId1" Type="http://schemas.openxmlformats.org/officeDocument/2006/relationships/slide" Target="../slides/slide33.xml"/><Relationship Id="rId2" Type="http://schemas.openxmlformats.org/officeDocument/2006/relationships/notesMaster" Target="../notesMasters/notesMaster1.xml"/>
</Relationships>
</file>

<file path=ppt/notesSlides/_rels/notesSlide34.xml.rels><?xml version="1.0" encoding="UTF-8"?>
<Relationships xmlns="http://schemas.openxmlformats.org/package/2006/relationships"><Relationship Id="rId1" Type="http://schemas.openxmlformats.org/officeDocument/2006/relationships/slide" Target="../slides/slide34.xml"/><Relationship Id="rId2" Type="http://schemas.openxmlformats.org/officeDocument/2006/relationships/notesMaster" Target="../notesMasters/notesMaster1.xml"/>
</Relationships>
</file>

<file path=ppt/notesSlides/_rels/notesSlide35.xml.rels><?xml version="1.0" encoding="UTF-8"?>
<Relationships xmlns="http://schemas.openxmlformats.org/package/2006/relationships"><Relationship Id="rId1" Type="http://schemas.openxmlformats.org/officeDocument/2006/relationships/slide" Target="../slides/slide35.xml"/><Relationship Id="rId2" Type="http://schemas.openxmlformats.org/officeDocument/2006/relationships/notesMaster" Target="../notesMasters/notesMaster1.xml"/>
</Relationships>
</file>

<file path=ppt/notesSlides/_rels/notesSlide36.xml.rels><?xml version="1.0" encoding="UTF-8"?>
<Relationships xmlns="http://schemas.openxmlformats.org/package/2006/relationships"><Relationship Id="rId1" Type="http://schemas.openxmlformats.org/officeDocument/2006/relationships/slide" Target="../slides/slide36.xml"/><Relationship Id="rId2" Type="http://schemas.openxmlformats.org/officeDocument/2006/relationships/notesMaster" Target="../notesMasters/notesMaster1.xml"/>
</Relationships>
</file>

<file path=ppt/notesSlides/_rels/notesSlide37.xml.rels><?xml version="1.0" encoding="UTF-8"?>
<Relationships xmlns="http://schemas.openxmlformats.org/package/2006/relationships"><Relationship Id="rId1" Type="http://schemas.openxmlformats.org/officeDocument/2006/relationships/slide" Target="../slides/slide37.xml"/><Relationship Id="rId2" Type="http://schemas.openxmlformats.org/officeDocument/2006/relationships/notesMaster" Target="../notesMasters/notesMaster1.xml"/>
</Relationships>
</file>

<file path=ppt/notesSlides/_rels/notesSlide38.xml.rels><?xml version="1.0" encoding="UTF-8"?>
<Relationships xmlns="http://schemas.openxmlformats.org/package/2006/relationships"><Relationship Id="rId1" Type="http://schemas.openxmlformats.org/officeDocument/2006/relationships/slide" Target="../slides/slide38.xml"/><Relationship Id="rId2" Type="http://schemas.openxmlformats.org/officeDocument/2006/relationships/notesMaster" Target="../notesMasters/notesMaster1.xml"/>
</Relationships>
</file>

<file path=ppt/notesSlides/_rels/notesSlide39.xml.rels><?xml version="1.0" encoding="UTF-8"?>
<Relationships xmlns="http://schemas.openxmlformats.org/package/2006/relationships"><Relationship Id="rId1" Type="http://schemas.openxmlformats.org/officeDocument/2006/relationships/slide" Target="../slides/slide39.xml"/><Relationship Id="rId2" Type="http://schemas.openxmlformats.org/officeDocument/2006/relationships/notesMaster" Target="../notesMasters/notesMaster1.xml"/>
</Relationships>
</file>

<file path=ppt/notesSlides/_rels/notesSlide40.xml.rels><?xml version="1.0" encoding="UTF-8"?>
<Relationships xmlns="http://schemas.openxmlformats.org/package/2006/relationships"><Relationship Id="rId1" Type="http://schemas.openxmlformats.org/officeDocument/2006/relationships/slide" Target="../slides/slide40.xml"/><Relationship Id="rId2" Type="http://schemas.openxmlformats.org/officeDocument/2006/relationships/notesMaster" Target="../notesMasters/notesMaster1.xml"/>
</Relationships>
</file>

<file path=ppt/notesSlides/_rels/notesSlide41.xml.rels><?xml version="1.0" encoding="UTF-8"?>
<Relationships xmlns="http://schemas.openxmlformats.org/package/2006/relationships"><Relationship Id="rId1" Type="http://schemas.openxmlformats.org/officeDocument/2006/relationships/slide" Target="../slides/slide41.xml"/><Relationship Id="rId2" Type="http://schemas.openxmlformats.org/officeDocument/2006/relationships/notesMaster" Target="../notesMasters/notesMaster1.xml"/>
</Relationships>
</file>

<file path=ppt/notesSlides/_rels/notesSlide42.xml.rels><?xml version="1.0" encoding="UTF-8"?>
<Relationships xmlns="http://schemas.openxmlformats.org/package/2006/relationships"><Relationship Id="rId1" Type="http://schemas.openxmlformats.org/officeDocument/2006/relationships/slide" Target="../slides/slide42.xml"/><Relationship Id="rId2" Type="http://schemas.openxmlformats.org/officeDocument/2006/relationships/notesMaster" Target="../notesMasters/notesMaster1.xml"/>
</Relationships>
</file>

<file path=ppt/notesSlides/_rels/notesSlide43.xml.rels><?xml version="1.0" encoding="UTF-8"?>
<Relationships xmlns="http://schemas.openxmlformats.org/package/2006/relationships"><Relationship Id="rId1" Type="http://schemas.openxmlformats.org/officeDocument/2006/relationships/slide" Target="../slides/slide43.xml"/><Relationship Id="rId2" Type="http://schemas.openxmlformats.org/officeDocument/2006/relationships/notesMaster" Target="../notesMasters/notesMaster1.xml"/>
</Relationships>
</file>

<file path=ppt/notesSlides/_rels/notesSlide44.xml.rels><?xml version="1.0" encoding="UTF-8"?>
<Relationships xmlns="http://schemas.openxmlformats.org/package/2006/relationships"><Relationship Id="rId1" Type="http://schemas.openxmlformats.org/officeDocument/2006/relationships/slide" Target="../slides/slide44.xml"/><Relationship Id="rId2" Type="http://schemas.openxmlformats.org/officeDocument/2006/relationships/notesMaster" Target="../notesMasters/notesMaster1.xml"/>
</Relationships>
</file>

<file path=ppt/notesSlides/_rels/notesSlide45.xml.rels><?xml version="1.0" encoding="UTF-8"?>
<Relationships xmlns="http://schemas.openxmlformats.org/package/2006/relationships"><Relationship Id="rId1" Type="http://schemas.openxmlformats.org/officeDocument/2006/relationships/slide" Target="../slides/slide45.xml"/><Relationship Id="rId2" Type="http://schemas.openxmlformats.org/officeDocument/2006/relationships/notesMaster" Target="../notesMasters/notesMaster1.xml"/>
</Relationships>
</file>

<file path=ppt/notesSlides/_rels/notesSlide46.xml.rels><?xml version="1.0" encoding="UTF-8"?>
<Relationships xmlns="http://schemas.openxmlformats.org/package/2006/relationships"><Relationship Id="rId1" Type="http://schemas.openxmlformats.org/officeDocument/2006/relationships/slide" Target="../slides/slide46.xml"/><Relationship Id="rId2" Type="http://schemas.openxmlformats.org/officeDocument/2006/relationships/notesMaster" Target="../notesMasters/notesMaster1.xml"/>
</Relationships>
</file>

<file path=ppt/notesSlides/_rels/notesSlide47.xml.rels><?xml version="1.0" encoding="UTF-8"?>
<Relationships xmlns="http://schemas.openxmlformats.org/package/2006/relationships"><Relationship Id="rId1" Type="http://schemas.openxmlformats.org/officeDocument/2006/relationships/slide" Target="../slides/slide47.xml"/><Relationship Id="rId2" Type="http://schemas.openxmlformats.org/officeDocument/2006/relationships/notesMaster" Target="../notesMasters/notesMaster1.xml"/>
</Relationships>
</file>

<file path=ppt/notesSlides/_rels/notesSlide48.xml.rels><?xml version="1.0" encoding="UTF-8"?>
<Relationships xmlns="http://schemas.openxmlformats.org/package/2006/relationships"><Relationship Id="rId1" Type="http://schemas.openxmlformats.org/officeDocument/2006/relationships/slide" Target="../slides/slide48.xml"/><Relationship Id="rId2" Type="http://schemas.openxmlformats.org/officeDocument/2006/relationships/notesMaster" Target="../notesMasters/notesMaster1.xml"/>
</Relationships>
</file>

<file path=ppt/notesSlides/_rels/notesSlide49.xml.rels><?xml version="1.0" encoding="UTF-8"?>
<Relationships xmlns="http://schemas.openxmlformats.org/package/2006/relationships"><Relationship Id="rId1" Type="http://schemas.openxmlformats.org/officeDocument/2006/relationships/slide" Target="../slides/slide49.xml"/><Relationship Id="rId2" Type="http://schemas.openxmlformats.org/officeDocument/2006/relationships/notesMaster" Target="../notesMasters/notesMaster1.xml"/>
</Relationships>
</file>

<file path=ppt/notesSlides/_rels/notesSlide50.xml.rels><?xml version="1.0" encoding="UTF-8"?>
<Relationships xmlns="http://schemas.openxmlformats.org/package/2006/relationships"><Relationship Id="rId1" Type="http://schemas.openxmlformats.org/officeDocument/2006/relationships/slide" Target="../slides/slide50.xml"/><Relationship Id="rId2" Type="http://schemas.openxmlformats.org/officeDocument/2006/relationships/notesMaster" Target="../notesMasters/notesMaster1.xml"/>
</Relationships>
</file>

<file path=ppt/notesSlides/_rels/notesSlide51.xml.rels><?xml version="1.0" encoding="UTF-8"?>
<Relationships xmlns="http://schemas.openxmlformats.org/package/2006/relationships"><Relationship Id="rId1" Type="http://schemas.openxmlformats.org/officeDocument/2006/relationships/slide" Target="../slides/slide51.xml"/><Relationship Id="rId2" Type="http://schemas.openxmlformats.org/officeDocument/2006/relationships/notesMaster" Target="../notesMasters/notesMaster1.xml"/>
</Relationships>
</file>

<file path=ppt/notesSlides/_rels/notesSlide52.xml.rels><?xml version="1.0" encoding="UTF-8"?>
<Relationships xmlns="http://schemas.openxmlformats.org/package/2006/relationships"><Relationship Id="rId1" Type="http://schemas.openxmlformats.org/officeDocument/2006/relationships/slide" Target="../slides/slide52.xml"/><Relationship Id="rId2" Type="http://schemas.openxmlformats.org/officeDocument/2006/relationships/notesMaster" Target="../notesMasters/notesMaster1.xml"/>
</Relationships>
</file>

<file path=ppt/notesSlides/_rels/notesSlide53.xml.rels><?xml version="1.0" encoding="UTF-8"?>
<Relationships xmlns="http://schemas.openxmlformats.org/package/2006/relationships"><Relationship Id="rId1" Type="http://schemas.openxmlformats.org/officeDocument/2006/relationships/slide" Target="../slides/slide53.xml"/><Relationship Id="rId2" Type="http://schemas.openxmlformats.org/officeDocument/2006/relationships/notesMaster" Target="../notesMasters/notesMaster1.xml"/>
</Relationships>
</file>

<file path=ppt/notesSlides/_rels/notesSlide54.xml.rels><?xml version="1.0" encoding="UTF-8"?>
<Relationships xmlns="http://schemas.openxmlformats.org/package/2006/relationships"><Relationship Id="rId1" Type="http://schemas.openxmlformats.org/officeDocument/2006/relationships/slide" Target="../slides/slide54.xml"/><Relationship Id="rId2" Type="http://schemas.openxmlformats.org/officeDocument/2006/relationships/notesMaster" Target="../notesMasters/notesMaster1.xml"/>
</Relationships>
</file>

<file path=ppt/notesSlides/_rels/notesSlide55.xml.rels><?xml version="1.0" encoding="UTF-8"?>
<Relationships xmlns="http://schemas.openxmlformats.org/package/2006/relationships"><Relationship Id="rId1" Type="http://schemas.openxmlformats.org/officeDocument/2006/relationships/slide" Target="../slides/slide55.xml"/><Relationship Id="rId2" Type="http://schemas.openxmlformats.org/officeDocument/2006/relationships/notesMaster" Target="../notesMasters/notesMaster1.xml"/>
</Relationships>
</file>

<file path=ppt/notesSlides/_rels/notesSlide56.xml.rels><?xml version="1.0" encoding="UTF-8"?>
<Relationships xmlns="http://schemas.openxmlformats.org/package/2006/relationships"><Relationship Id="rId1" Type="http://schemas.openxmlformats.org/officeDocument/2006/relationships/slide" Target="../slides/slide56.xml"/><Relationship Id="rId2" Type="http://schemas.openxmlformats.org/officeDocument/2006/relationships/notesMaster" Target="../notesMasters/notesMaster1.xml"/>
</Relationships>
</file>

<file path=ppt/notesSlides/_rels/notesSlide57.xml.rels><?xml version="1.0" encoding="UTF-8"?>
<Relationships xmlns="http://schemas.openxmlformats.org/package/2006/relationships"><Relationship Id="rId1" Type="http://schemas.openxmlformats.org/officeDocument/2006/relationships/slide" Target="../slides/slide57.xml"/><Relationship Id="rId2" Type="http://schemas.openxmlformats.org/officeDocument/2006/relationships/notesMaster" Target="../notesMasters/notesMaster1.xml"/>
</Relationships>
</file>

<file path=ppt/notesSlides/_rels/notesSlide58.xml.rels><?xml version="1.0" encoding="UTF-8"?>
<Relationships xmlns="http://schemas.openxmlformats.org/package/2006/relationships"><Relationship Id="rId1" Type="http://schemas.openxmlformats.org/officeDocument/2006/relationships/slide" Target="../slides/slide58.xml"/><Relationship Id="rId2" Type="http://schemas.openxmlformats.org/officeDocument/2006/relationships/notesMaster" Target="../notesMasters/notesMaster1.xml"/>
</Relationships>
</file>

<file path=ppt/notesSlides/_rels/notesSlide59.xml.rels><?xml version="1.0" encoding="UTF-8"?>
<Relationships xmlns="http://schemas.openxmlformats.org/package/2006/relationships"><Relationship Id="rId1" Type="http://schemas.openxmlformats.org/officeDocument/2006/relationships/slide" Target="../slides/slide59.xml"/><Relationship Id="rId2" Type="http://schemas.openxmlformats.org/officeDocument/2006/relationships/notesMaster" Target="../notesMasters/notesMaster1.xml"/>
</Relationships>
</file>

<file path=ppt/notesSlides/_rels/notesSlide60.xml.rels><?xml version="1.0" encoding="UTF-8"?>
<Relationships xmlns="http://schemas.openxmlformats.org/package/2006/relationships"><Relationship Id="rId1" Type="http://schemas.openxmlformats.org/officeDocument/2006/relationships/slide" Target="../slides/slide60.xml"/><Relationship Id="rId2" Type="http://schemas.openxmlformats.org/officeDocument/2006/relationships/notesMaster" Target="../notesMasters/notesMaster1.xml"/>
</Relationships>
</file>

<file path=ppt/notesSlides/_rels/notesSlide61.xml.rels><?xml version="1.0" encoding="UTF-8"?>
<Relationships xmlns="http://schemas.openxmlformats.org/package/2006/relationships"><Relationship Id="rId1" Type="http://schemas.openxmlformats.org/officeDocument/2006/relationships/slide" Target="../slides/slide61.xml"/><Relationship Id="rId2" Type="http://schemas.openxmlformats.org/officeDocument/2006/relationships/notesMaster" Target="../notesMasters/notesMaster1.xml"/>
</Relationships>
</file>

<file path=ppt/notesSlides/_rels/notesSlide62.xml.rels><?xml version="1.0" encoding="UTF-8"?>
<Relationships xmlns="http://schemas.openxmlformats.org/package/2006/relationships"><Relationship Id="rId1" Type="http://schemas.openxmlformats.org/officeDocument/2006/relationships/slide" Target="../slides/slide62.xml"/><Relationship Id="rId2" Type="http://schemas.openxmlformats.org/officeDocument/2006/relationships/notesMaster" Target="../notesMasters/notesMaster1.xml"/>
</Relationships>
</file>

<file path=ppt/notesSlides/_rels/notesSlide63.xml.rels><?xml version="1.0" encoding="UTF-8"?>
<Relationships xmlns="http://schemas.openxmlformats.org/package/2006/relationships"><Relationship Id="rId1" Type="http://schemas.openxmlformats.org/officeDocument/2006/relationships/slide" Target="../slides/slide63.xml"/><Relationship Id="rId2" Type="http://schemas.openxmlformats.org/officeDocument/2006/relationships/notesMaster" Target="../notesMasters/notesMaster1.xml"/>
</Relationships>
</file>

<file path=ppt/notesSlides/_rels/notesSlide64.xml.rels><?xml version="1.0" encoding="UTF-8"?>
<Relationships xmlns="http://schemas.openxmlformats.org/package/2006/relationships"><Relationship Id="rId1" Type="http://schemas.openxmlformats.org/officeDocument/2006/relationships/slide" Target="../slides/slide64.xml"/><Relationship Id="rId2" Type="http://schemas.openxmlformats.org/officeDocument/2006/relationships/notesMaster" Target="../notesMasters/notesMaster1.xml"/>
</Relationships>
</file>

<file path=ppt/notesSlides/_rels/notesSlide65.xml.rels><?xml version="1.0" encoding="UTF-8"?>
<Relationships xmlns="http://schemas.openxmlformats.org/package/2006/relationships"><Relationship Id="rId1" Type="http://schemas.openxmlformats.org/officeDocument/2006/relationships/slide" Target="../slides/slide65.xml"/><Relationship Id="rId2" Type="http://schemas.openxmlformats.org/officeDocument/2006/relationships/notesMaster" Target="../notesMasters/notesMaster1.xml"/>
</Relationships>
</file>

<file path=ppt/notesSlides/_rels/notesSlide66.xml.rels><?xml version="1.0" encoding="UTF-8"?>
<Relationships xmlns="http://schemas.openxmlformats.org/package/2006/relationships"><Relationship Id="rId1" Type="http://schemas.openxmlformats.org/officeDocument/2006/relationships/slide" Target="../slides/slide66.xml"/><Relationship Id="rId2" Type="http://schemas.openxmlformats.org/officeDocument/2006/relationships/notesMaster" Target="../notesMasters/notesMaster1.xml"/>
</Relationships>
</file>

<file path=ppt/notesSlides/_rels/notesSlide67.xml.rels><?xml version="1.0" encoding="UTF-8"?>
<Relationships xmlns="http://schemas.openxmlformats.org/package/2006/relationships"><Relationship Id="rId1" Type="http://schemas.openxmlformats.org/officeDocument/2006/relationships/slide" Target="../slides/slide67.xml"/><Relationship Id="rId2" Type="http://schemas.openxmlformats.org/officeDocument/2006/relationships/notesMaster" Target="../notesMasters/notesMaster1.xml"/>
</Relationships>
</file>

<file path=ppt/notesSlides/_rels/notesSlide68.xml.rels><?xml version="1.0" encoding="UTF-8"?>
<Relationships xmlns="http://schemas.openxmlformats.org/package/2006/relationships"><Relationship Id="rId1" Type="http://schemas.openxmlformats.org/officeDocument/2006/relationships/slide" Target="../slides/slide68.xml"/><Relationship Id="rId2" Type="http://schemas.openxmlformats.org/officeDocument/2006/relationships/notesMaster" Target="../notesMasters/notesMaster1.xml"/>
</Relationships>
</file>

<file path=ppt/notesSlides/_rels/notesSlide69.xml.rels><?xml version="1.0" encoding="UTF-8"?>
<Relationships xmlns="http://schemas.openxmlformats.org/package/2006/relationships"><Relationship Id="rId1" Type="http://schemas.openxmlformats.org/officeDocument/2006/relationships/slide" Target="../slides/slide69.xml"/><Relationship Id="rId2" Type="http://schemas.openxmlformats.org/officeDocument/2006/relationships/notesMaster" Target="../notesMasters/notesMaster1.xml"/>
</Relationships>
</file>

<file path=ppt/notesSlides/_rels/notesSlide70.xml.rels><?xml version="1.0" encoding="UTF-8"?>
<Relationships xmlns="http://schemas.openxmlformats.org/package/2006/relationships"><Relationship Id="rId1" Type="http://schemas.openxmlformats.org/officeDocument/2006/relationships/slide" Target="../slides/slide70.xml"/><Relationship Id="rId2" Type="http://schemas.openxmlformats.org/officeDocument/2006/relationships/notesMaster" Target="../notesMasters/notesMaster1.xml"/>
</Relationships>
</file>

<file path=ppt/notesSlides/_rels/notesSlide71.xml.rels><?xml version="1.0" encoding="UTF-8"?>
<Relationships xmlns="http://schemas.openxmlformats.org/package/2006/relationships"><Relationship Id="rId1" Type="http://schemas.openxmlformats.org/officeDocument/2006/relationships/slide" Target="../slides/slide71.xml"/><Relationship Id="rId2" Type="http://schemas.openxmlformats.org/officeDocument/2006/relationships/notesMaster" Target="../notesMasters/notesMaster1.xml"/>
</Relationships>
</file>

<file path=ppt/notesSlides/_rels/notesSlide72.xml.rels><?xml version="1.0" encoding="UTF-8"?>
<Relationships xmlns="http://schemas.openxmlformats.org/package/2006/relationships"><Relationship Id="rId1" Type="http://schemas.openxmlformats.org/officeDocument/2006/relationships/slide" Target="../slides/slide72.xml"/><Relationship Id="rId2" Type="http://schemas.openxmlformats.org/officeDocument/2006/relationships/notesMaster" Target="../notesMasters/notesMaster1.xml"/>
</Relationships>
</file>

<file path=ppt/notesSlides/_rels/notesSlide73.xml.rels><?xml version="1.0" encoding="UTF-8"?>
<Relationships xmlns="http://schemas.openxmlformats.org/package/2006/relationships"><Relationship Id="rId1" Type="http://schemas.openxmlformats.org/officeDocument/2006/relationships/slide" Target="../slides/slide73.xml"/><Relationship Id="rId2" Type="http://schemas.openxmlformats.org/officeDocument/2006/relationships/notesMaster" Target="../notesMasters/notesMaster1.xml"/>
</Relationships>
</file>

<file path=ppt/notesSlides/_rels/notesSlide74.xml.rels><?xml version="1.0" encoding="UTF-8"?>
<Relationships xmlns="http://schemas.openxmlformats.org/package/2006/relationships"><Relationship Id="rId1" Type="http://schemas.openxmlformats.org/officeDocument/2006/relationships/slide" Target="../slides/slide74.xml"/><Relationship Id="rId2" Type="http://schemas.openxmlformats.org/officeDocument/2006/relationships/notesMaster" Target="../notesMasters/notesMaster1.xml"/>
</Relationships>
</file>

<file path=ppt/notesSlides/_rels/notesSlide75.xml.rels><?xml version="1.0" encoding="UTF-8"?>
<Relationships xmlns="http://schemas.openxmlformats.org/package/2006/relationships"><Relationship Id="rId1" Type="http://schemas.openxmlformats.org/officeDocument/2006/relationships/slide" Target="../slides/slide75.xml"/><Relationship Id="rId2" Type="http://schemas.openxmlformats.org/officeDocument/2006/relationships/notesMaster" Target="../notesMasters/notesMaster1.xml"/>
</Relationships>
</file>

<file path=ppt/notesSlides/_rels/notesSlide76.xml.rels><?xml version="1.0" encoding="UTF-8"?>
<Relationships xmlns="http://schemas.openxmlformats.org/package/2006/relationships"><Relationship Id="rId1" Type="http://schemas.openxmlformats.org/officeDocument/2006/relationships/slide" Target="../slides/slide76.xml"/><Relationship Id="rId2" Type="http://schemas.openxmlformats.org/officeDocument/2006/relationships/notesMaster" Target="../notesMasters/notesMaster1.xml"/>
</Relationships>
</file>

<file path=ppt/notesSlides/_rels/notesSlide77.xml.rels><?xml version="1.0" encoding="UTF-8"?>
<Relationships xmlns="http://schemas.openxmlformats.org/package/2006/relationships"><Relationship Id="rId1" Type="http://schemas.openxmlformats.org/officeDocument/2006/relationships/slide" Target="../slides/slide77.xml"/><Relationship Id="rId2" Type="http://schemas.openxmlformats.org/officeDocument/2006/relationships/notesMaster" Target="../notesMasters/notesMaster1.xml"/>
</Relationships>
</file>

<file path=ppt/notesSlides/_rels/notesSlide78.xml.rels><?xml version="1.0" encoding="UTF-8"?>
<Relationships xmlns="http://schemas.openxmlformats.org/package/2006/relationships"><Relationship Id="rId1" Type="http://schemas.openxmlformats.org/officeDocument/2006/relationships/slide" Target="../slides/slide78.xml"/><Relationship Id="rId2" Type="http://schemas.openxmlformats.org/officeDocument/2006/relationships/notesMaster" Target="../notesMasters/notesMaster1.xml"/>
</Relationships>
</file>

<file path=ppt/notesSlides/_rels/notesSlide79.xml.rels><?xml version="1.0" encoding="UTF-8"?>
<Relationships xmlns="http://schemas.openxmlformats.org/package/2006/relationships"><Relationship Id="rId1" Type="http://schemas.openxmlformats.org/officeDocument/2006/relationships/slide" Target="../slides/slide79.xml"/><Relationship Id="rId2" Type="http://schemas.openxmlformats.org/officeDocument/2006/relationships/notesMaster" Target="../notesMasters/notesMaster1.xml"/>
</Relationships>
</file>

<file path=ppt/notesSlides/_rels/notesSlide80.xml.rels><?xml version="1.0" encoding="UTF-8"?>
<Relationships xmlns="http://schemas.openxmlformats.org/package/2006/relationships"><Relationship Id="rId1" Type="http://schemas.openxmlformats.org/officeDocument/2006/relationships/slide" Target="../slides/slide80.xml"/><Relationship Id="rId2" Type="http://schemas.openxmlformats.org/officeDocument/2006/relationships/notesMaster" Target="../notesMasters/notesMaster1.xml"/>
</Relationships>
</file>

<file path=ppt/notesSlides/_rels/notesSlide81.xml.rels><?xml version="1.0" encoding="UTF-8"?>
<Relationships xmlns="http://schemas.openxmlformats.org/package/2006/relationships"><Relationship Id="rId1" Type="http://schemas.openxmlformats.org/officeDocument/2006/relationships/slide" Target="../slides/slide81.xml"/><Relationship Id="rId2" Type="http://schemas.openxmlformats.org/officeDocument/2006/relationships/notesMaster" Target="../notesMasters/notesMaster1.xml"/>
</Relationships>
</file>

<file path=ppt/notesSlides/_rels/notesSlide82.xml.rels><?xml version="1.0" encoding="UTF-8"?>
<Relationships xmlns="http://schemas.openxmlformats.org/package/2006/relationships"><Relationship Id="rId1" Type="http://schemas.openxmlformats.org/officeDocument/2006/relationships/slide" Target="../slides/slide82.xml"/><Relationship Id="rId2" Type="http://schemas.openxmlformats.org/officeDocument/2006/relationships/notesMaster" Target="../notesMasters/notesMaster1.xml"/>
</Relationships>
</file>

<file path=ppt/notesSlides/_rels/notesSlide83.xml.rels><?xml version="1.0" encoding="UTF-8"?>
<Relationships xmlns="http://schemas.openxmlformats.org/package/2006/relationships"><Relationship Id="rId1" Type="http://schemas.openxmlformats.org/officeDocument/2006/relationships/slide" Target="../slides/slide83.xml"/><Relationship Id="rId2" Type="http://schemas.openxmlformats.org/officeDocument/2006/relationships/notesMaster" Target="../notesMasters/notesMaster1.xml"/>
</Relationships>
</file>

<file path=ppt/notesSlides/_rels/notesSlide84.xml.rels><?xml version="1.0" encoding="UTF-8"?>
<Relationships xmlns="http://schemas.openxmlformats.org/package/2006/relationships"><Relationship Id="rId1" Type="http://schemas.openxmlformats.org/officeDocument/2006/relationships/slide" Target="../slides/slide84.xml"/><Relationship Id="rId2" Type="http://schemas.openxmlformats.org/officeDocument/2006/relationships/notesMaster" Target="../notesMasters/notesMaster1.xml"/>
</Relationships>
</file>

<file path=ppt/notesSlides/_rels/notesSlide85.xml.rels><?xml version="1.0" encoding="UTF-8"?>
<Relationships xmlns="http://schemas.openxmlformats.org/package/2006/relationships"><Relationship Id="rId1" Type="http://schemas.openxmlformats.org/officeDocument/2006/relationships/slide" Target="../slides/slide85.xml"/><Relationship Id="rId2" Type="http://schemas.openxmlformats.org/officeDocument/2006/relationships/notesMaster" Target="../notesMasters/notesMaster1.xml"/>
</Relationships>
</file>

<file path=ppt/notesSlides/_rels/notesSlide86.xml.rels><?xml version="1.0" encoding="UTF-8"?>
<Relationships xmlns="http://schemas.openxmlformats.org/package/2006/relationships"><Relationship Id="rId1" Type="http://schemas.openxmlformats.org/officeDocument/2006/relationships/slide" Target="../slides/slide86.xml"/><Relationship Id="rId2" Type="http://schemas.openxmlformats.org/officeDocument/2006/relationships/notesMaster" Target="../notesMasters/notesMaster1.xml"/>
</Relationships>
</file>

<file path=ppt/notesSlides/_rels/notesSlide87.xml.rels><?xml version="1.0" encoding="UTF-8"?>
<Relationships xmlns="http://schemas.openxmlformats.org/package/2006/relationships"><Relationship Id="rId1" Type="http://schemas.openxmlformats.org/officeDocument/2006/relationships/slide" Target="../slides/slide87.xml"/><Relationship Id="rId2" Type="http://schemas.openxmlformats.org/officeDocument/2006/relationships/notesMaster" Target="../notesMasters/notesMaster1.xml"/>
</Relationships>
</file>

<file path=ppt/notesSlides/_rels/notesSlide88.xml.rels><?xml version="1.0" encoding="UTF-8"?>
<Relationships xmlns="http://schemas.openxmlformats.org/package/2006/relationships"><Relationship Id="rId1" Type="http://schemas.openxmlformats.org/officeDocument/2006/relationships/slide" Target="../slides/slide88.xml"/><Relationship Id="rId2" Type="http://schemas.openxmlformats.org/officeDocument/2006/relationships/notesMaster" Target="../notesMasters/notesMaster1.xml"/>
</Relationships>
</file>

<file path=ppt/notesSlides/_rels/notesSlide89.xml.rels><?xml version="1.0" encoding="UTF-8"?>
<Relationships xmlns="http://schemas.openxmlformats.org/package/2006/relationships"><Relationship Id="rId1" Type="http://schemas.openxmlformats.org/officeDocument/2006/relationships/slide" Target="../slides/slide89.xml"/><Relationship Id="rId2" Type="http://schemas.openxmlformats.org/officeDocument/2006/relationships/notesMaster" Target="../notesMasters/notesMaster1.xml"/>
</Relationships>
</file>

<file path=ppt/notesSlides/_rels/notesSlide90.xml.rels><?xml version="1.0" encoding="UTF-8"?>
<Relationships xmlns="http://schemas.openxmlformats.org/package/2006/relationships"><Relationship Id="rId1" Type="http://schemas.openxmlformats.org/officeDocument/2006/relationships/slide" Target="../slides/slide90.xml"/><Relationship Id="rId2" Type="http://schemas.openxmlformats.org/officeDocument/2006/relationships/notesMaster" Target="../notesMasters/notesMaster1.xml"/>
</Relationships>
</file>

<file path=ppt/notesSlides/_rels/notesSlide91.xml.rels><?xml version="1.0" encoding="UTF-8"?>
<Relationships xmlns="http://schemas.openxmlformats.org/package/2006/relationships"><Relationship Id="rId1" Type="http://schemas.openxmlformats.org/officeDocument/2006/relationships/slide" Target="../slides/slide91.xml"/><Relationship Id="rId2" Type="http://schemas.openxmlformats.org/officeDocument/2006/relationships/notesMaster" Target="../notesMasters/notesMaster1.xml"/>
</Relationships>
</file>

<file path=ppt/notesSlides/_rels/notesSlide92.xml.rels><?xml version="1.0" encoding="UTF-8"?>
<Relationships xmlns="http://schemas.openxmlformats.org/package/2006/relationships"><Relationship Id="rId1" Type="http://schemas.openxmlformats.org/officeDocument/2006/relationships/slide" Target="../slides/slide92.xml"/><Relationship Id="rId2" Type="http://schemas.openxmlformats.org/officeDocument/2006/relationships/notesMaster" Target="../notesMasters/notesMaster1.xml"/>
</Relationships>
</file>

<file path=ppt/notesSlides/_rels/notesSlide93.xml.rels><?xml version="1.0" encoding="UTF-8"?>
<Relationships xmlns="http://schemas.openxmlformats.org/package/2006/relationships"><Relationship Id="rId1" Type="http://schemas.openxmlformats.org/officeDocument/2006/relationships/slide" Target="../slides/slide93.xml"/><Relationship Id="rId2" Type="http://schemas.openxmlformats.org/officeDocument/2006/relationships/notesMaster" Target="../notesMasters/notesMaster1.xml"/>
</Relationships>
</file>

<file path=ppt/notesSlides/_rels/notesSlide94.xml.rels><?xml version="1.0" encoding="UTF-8"?>
<Relationships xmlns="http://schemas.openxmlformats.org/package/2006/relationships"><Relationship Id="rId1" Type="http://schemas.openxmlformats.org/officeDocument/2006/relationships/slide" Target="../slides/slide94.xml"/><Relationship Id="rId2" Type="http://schemas.openxmlformats.org/officeDocument/2006/relationships/notesMaster" Target="../notesMasters/notesMaster1.xml"/>
</Relationships>
</file>

<file path=ppt/notesSlides/_rels/notesSlide95.xml.rels><?xml version="1.0" encoding="UTF-8"?>
<Relationships xmlns="http://schemas.openxmlformats.org/package/2006/relationships"><Relationship Id="rId1" Type="http://schemas.openxmlformats.org/officeDocument/2006/relationships/slide" Target="../slides/slide95.xml"/><Relationship Id="rId2" Type="http://schemas.openxmlformats.org/officeDocument/2006/relationships/notesMaster" Target="../notesMasters/notesMaster1.xml"/>
</Relationships>
</file>

<file path=ppt/notesSlides/_rels/notesSlide96.xml.rels><?xml version="1.0" encoding="UTF-8"?>
<Relationships xmlns="http://schemas.openxmlformats.org/package/2006/relationships"><Relationship Id="rId1" Type="http://schemas.openxmlformats.org/officeDocument/2006/relationships/slide" Target="../slides/slide96.xml"/><Relationship Id="rId2" Type="http://schemas.openxmlformats.org/officeDocument/2006/relationships/notesMaster" Target="../notesMasters/notesMaster1.xml"/>
</Relationships>
</file>

<file path=ppt/notesSlides/_rels/notesSlide97.xml.rels><?xml version="1.0" encoding="UTF-8"?>
<Relationships xmlns="http://schemas.openxmlformats.org/package/2006/relationships"><Relationship Id="rId1" Type="http://schemas.openxmlformats.org/officeDocument/2006/relationships/slide" Target="../slides/slide97.xml"/><Relationship Id="rId2" Type="http://schemas.openxmlformats.org/officeDocument/2006/relationships/notesMaster" Target="../notesMasters/notesMaster1.xml"/>
</Relationships>
</file>

<file path=ppt/notesSlides/_rels/notesSlide98.xml.rels><?xml version="1.0" encoding="UTF-8"?>
<Relationships xmlns="http://schemas.openxmlformats.org/package/2006/relationships"><Relationship Id="rId1" Type="http://schemas.openxmlformats.org/officeDocument/2006/relationships/slide" Target="../slides/slide98.xml"/><Relationship Id="rId2" Type="http://schemas.openxmlformats.org/officeDocument/2006/relationships/notesMaster" Target="../notesMasters/notesMaster1.xml"/>
</Relationships>
</file>

<file path=ppt/notesSlides/_rels/notesSlide99.xml.rels><?xml version="1.0" encoding="UTF-8"?>
<Relationships xmlns="http://schemas.openxmlformats.org/package/2006/relationships"><Relationship Id="rId1" Type="http://schemas.openxmlformats.org/officeDocument/2006/relationships/slide" Target="../slides/slide99.xml"/><Relationship Id="rId2" Type="http://schemas.openxmlformats.org/officeDocument/2006/relationships/notesMaster" Target="../notesMasters/notesMaster1.xml"/>
</Relationships>
</file>

<file path=ppt/notesSlides/_rels/notesSlide100.xml.rels><?xml version="1.0" encoding="UTF-8"?>
<Relationships xmlns="http://schemas.openxmlformats.org/package/2006/relationships"><Relationship Id="rId1" Type="http://schemas.openxmlformats.org/officeDocument/2006/relationships/slide" Target="../slides/slide100.xml"/><Relationship Id="rId2" Type="http://schemas.openxmlformats.org/officeDocument/2006/relationships/notesMaster" Target="../notesMasters/notesMaster1.xml"/>
</Relationships>
</file>

<file path=ppt/notesSlides/_rels/notesSlide101.xml.rels><?xml version="1.0" encoding="UTF-8"?>
<Relationships xmlns="http://schemas.openxmlformats.org/package/2006/relationships"><Relationship Id="rId1" Type="http://schemas.openxmlformats.org/officeDocument/2006/relationships/slide" Target="../slides/slide101.xml"/><Relationship Id="rId2" Type="http://schemas.openxmlformats.org/officeDocument/2006/relationships/notesMaster" Target="../notesMasters/notesMaster1.xml"/>
</Relationships>
</file>

<file path=ppt/notesSlides/_rels/notesSlide102.xml.rels><?xml version="1.0" encoding="UTF-8"?>
<Relationships xmlns="http://schemas.openxmlformats.org/package/2006/relationships"><Relationship Id="rId1" Type="http://schemas.openxmlformats.org/officeDocument/2006/relationships/slide" Target="../slides/slide102.xml"/><Relationship Id="rId2" Type="http://schemas.openxmlformats.org/officeDocument/2006/relationships/notesMaster" Target="../notesMasters/notesMaster1.xml"/>
</Relationships>
</file>

<file path=ppt/notesSlides/_rels/notesSlide103.xml.rels><?xml version="1.0" encoding="UTF-8"?>
<Relationships xmlns="http://schemas.openxmlformats.org/package/2006/relationships"><Relationship Id="rId1" Type="http://schemas.openxmlformats.org/officeDocument/2006/relationships/slide" Target="../slides/slide103.xml"/><Relationship Id="rId2" Type="http://schemas.openxmlformats.org/officeDocument/2006/relationships/notesMaster" Target="../notesMasters/notesMaster1.xml"/>
</Relationships>
</file>

<file path=ppt/notesSlides/_rels/notesSlide104.xml.rels><?xml version="1.0" encoding="UTF-8"?>
<Relationships xmlns="http://schemas.openxmlformats.org/package/2006/relationships"><Relationship Id="rId1" Type="http://schemas.openxmlformats.org/officeDocument/2006/relationships/slide" Target="../slides/slide104.xml"/><Relationship Id="rId2" Type="http://schemas.openxmlformats.org/officeDocument/2006/relationships/notesMaster" Target="../notesMasters/notesMaster1.xml"/>
</Relationships>
</file>

<file path=ppt/notesSlides/_rels/notesSlide105.xml.rels><?xml version="1.0" encoding="UTF-8"?>
<Relationships xmlns="http://schemas.openxmlformats.org/package/2006/relationships"><Relationship Id="rId1" Type="http://schemas.openxmlformats.org/officeDocument/2006/relationships/slide" Target="../slides/slide105.xml"/><Relationship Id="rId2" Type="http://schemas.openxmlformats.org/officeDocument/2006/relationships/notesMaster" Target="../notesMasters/notesMaster1.xml"/>
</Relationships>
</file>

<file path=ppt/notesSlides/_rels/notesSlide106.xml.rels><?xml version="1.0" encoding="UTF-8"?>
<Relationships xmlns="http://schemas.openxmlformats.org/package/2006/relationships"><Relationship Id="rId1" Type="http://schemas.openxmlformats.org/officeDocument/2006/relationships/slide" Target="../slides/slide106.xml"/><Relationship Id="rId2" Type="http://schemas.openxmlformats.org/officeDocument/2006/relationships/notesMaster" Target="../notesMasters/notesMaster1.xml"/>
</Relationships>
</file>

<file path=ppt/notesSlides/_rels/notesSlide107.xml.rels><?xml version="1.0" encoding="UTF-8"?>
<Relationships xmlns="http://schemas.openxmlformats.org/package/2006/relationships"><Relationship Id="rId1" Type="http://schemas.openxmlformats.org/officeDocument/2006/relationships/slide" Target="../slides/slide107.xml"/><Relationship Id="rId2" Type="http://schemas.openxmlformats.org/officeDocument/2006/relationships/notesMaster" Target="../notesMasters/notesMaster1.xml"/>
</Relationships>
</file>

<file path=ppt/notesSlides/_rels/notesSlide108.xml.rels><?xml version="1.0" encoding="UTF-8"?>
<Relationships xmlns="http://schemas.openxmlformats.org/package/2006/relationships"><Relationship Id="rId1" Type="http://schemas.openxmlformats.org/officeDocument/2006/relationships/slide" Target="../slides/slide108.xml"/><Relationship Id="rId2" Type="http://schemas.openxmlformats.org/officeDocument/2006/relationships/notesMaster" Target="../notesMasters/notesMaster1.xml"/>
</Relationships>
</file>

<file path=ppt/notesSlides/_rels/notesSlide109.xml.rels><?xml version="1.0" encoding="UTF-8"?>
<Relationships xmlns="http://schemas.openxmlformats.org/package/2006/relationships"><Relationship Id="rId1" Type="http://schemas.openxmlformats.org/officeDocument/2006/relationships/slide" Target="../slides/slide109.xml"/><Relationship Id="rId2" Type="http://schemas.openxmlformats.org/officeDocument/2006/relationships/notesMaster" Target="../notesMasters/notesMaster1.xml"/>
</Relationships>
</file>

<file path=ppt/notesSlides/_rels/notesSlide110.xml.rels><?xml version="1.0" encoding="UTF-8"?>
<Relationships xmlns="http://schemas.openxmlformats.org/package/2006/relationships"><Relationship Id="rId1" Type="http://schemas.openxmlformats.org/officeDocument/2006/relationships/slide" Target="../slides/slide110.xml"/><Relationship Id="rId2" Type="http://schemas.openxmlformats.org/officeDocument/2006/relationships/notesMaster" Target="../notesMasters/notesMaster1.xml"/>
</Relationships>
</file>

<file path=ppt/notesSlides/_rels/notesSlide111.xml.rels><?xml version="1.0" encoding="UTF-8"?>
<Relationships xmlns="http://schemas.openxmlformats.org/package/2006/relationships"><Relationship Id="rId1" Type="http://schemas.openxmlformats.org/officeDocument/2006/relationships/slide" Target="../slides/slide111.xml"/><Relationship Id="rId2" Type="http://schemas.openxmlformats.org/officeDocument/2006/relationships/notesMaster" Target="../notesMasters/notesMaster1.xml"/>
</Relationships>
</file>

<file path=ppt/notesSlides/_rels/notesSlide112.xml.rels><?xml version="1.0" encoding="UTF-8"?>
<Relationships xmlns="http://schemas.openxmlformats.org/package/2006/relationships"><Relationship Id="rId1" Type="http://schemas.openxmlformats.org/officeDocument/2006/relationships/slide" Target="../slides/slide112.xml"/><Relationship Id="rId2" Type="http://schemas.openxmlformats.org/officeDocument/2006/relationships/notesMaster" Target="../notesMasters/notesMaster1.xml"/>
</Relationships>
</file>

<file path=ppt/notesSlides/_rels/notesSlide113.xml.rels><?xml version="1.0" encoding="UTF-8"?>
<Relationships xmlns="http://schemas.openxmlformats.org/package/2006/relationships"><Relationship Id="rId1" Type="http://schemas.openxmlformats.org/officeDocument/2006/relationships/slide" Target="../slides/slide113.xml"/><Relationship Id="rId2" Type="http://schemas.openxmlformats.org/officeDocument/2006/relationships/notesMaster" Target="../notesMasters/notesMaster1.xml"/>
</Relationships>
</file>

<file path=ppt/notesSlides/_rels/notesSlide114.xml.rels><?xml version="1.0" encoding="UTF-8"?>
<Relationships xmlns="http://schemas.openxmlformats.org/package/2006/relationships"><Relationship Id="rId1" Type="http://schemas.openxmlformats.org/officeDocument/2006/relationships/slide" Target="../slides/slide114.xml"/><Relationship Id="rId2" Type="http://schemas.openxmlformats.org/officeDocument/2006/relationships/notesMaster" Target="../notesMasters/notesMaster1.xml"/>
</Relationships>
</file>

<file path=ppt/notesSlides/_rels/notesSlide115.xml.rels><?xml version="1.0" encoding="UTF-8"?>
<Relationships xmlns="http://schemas.openxmlformats.org/package/2006/relationships"><Relationship Id="rId1" Type="http://schemas.openxmlformats.org/officeDocument/2006/relationships/slide" Target="../slides/slide115.xml"/><Relationship Id="rId2" Type="http://schemas.openxmlformats.org/officeDocument/2006/relationships/notesMaster" Target="../notesMasters/notesMaster1.xml"/>
</Relationships>
</file>

<file path=ppt/notesSlides/_rels/notesSlide116.xml.rels><?xml version="1.0" encoding="UTF-8"?>
<Relationships xmlns="http://schemas.openxmlformats.org/package/2006/relationships"><Relationship Id="rId1" Type="http://schemas.openxmlformats.org/officeDocument/2006/relationships/slide" Target="../slides/slide116.xml"/><Relationship Id="rId2" Type="http://schemas.openxmlformats.org/officeDocument/2006/relationships/notesMaster" Target="../notesMasters/notesMaster1.xml"/>
</Relationships>
</file>

<file path=ppt/notesSlides/_rels/notesSlide117.xml.rels><?xml version="1.0" encoding="UTF-8"?>
<Relationships xmlns="http://schemas.openxmlformats.org/package/2006/relationships"><Relationship Id="rId1" Type="http://schemas.openxmlformats.org/officeDocument/2006/relationships/slide" Target="../slides/slide117.xml"/><Relationship Id="rId2" Type="http://schemas.openxmlformats.org/officeDocument/2006/relationships/notesMaster" Target="../notesMasters/notesMaster1.xml"/>
</Relationships>
</file>

<file path=ppt/notesSlides/_rels/notesSlide118.xml.rels><?xml version="1.0" encoding="UTF-8"?>
<Relationships xmlns="http://schemas.openxmlformats.org/package/2006/relationships"><Relationship Id="rId1" Type="http://schemas.openxmlformats.org/officeDocument/2006/relationships/slide" Target="../slides/slide118.xml"/><Relationship Id="rId2" Type="http://schemas.openxmlformats.org/officeDocument/2006/relationships/notesMaster" Target="../notesMasters/notesMaster1.xml"/>
</Relationships>
</file>

<file path=ppt/notesSlides/_rels/notesSlide119.xml.rels><?xml version="1.0" encoding="UTF-8"?>
<Relationships xmlns="http://schemas.openxmlformats.org/package/2006/relationships"><Relationship Id="rId1" Type="http://schemas.openxmlformats.org/officeDocument/2006/relationships/slide" Target="../slides/slide119.xml"/><Relationship Id="rId2" Type="http://schemas.openxmlformats.org/officeDocument/2006/relationships/notesMaster" Target="../notesMasters/notesMaster1.xml"/>
</Relationships>
</file>

<file path=ppt/notesSlides/_rels/notesSlide120.xml.rels><?xml version="1.0" encoding="UTF-8"?>
<Relationships xmlns="http://schemas.openxmlformats.org/package/2006/relationships"><Relationship Id="rId1" Type="http://schemas.openxmlformats.org/officeDocument/2006/relationships/slide" Target="../slides/slide120.xml"/><Relationship Id="rId2" Type="http://schemas.openxmlformats.org/officeDocument/2006/relationships/notesMaster" Target="../notesMasters/notesMaster1.xml"/>
</Relationships>
</file>

<file path=ppt/notesSlides/_rels/notesSlide121.xml.rels><?xml version="1.0" encoding="UTF-8"?>
<Relationships xmlns="http://schemas.openxmlformats.org/package/2006/relationships"><Relationship Id="rId1" Type="http://schemas.openxmlformats.org/officeDocument/2006/relationships/slide" Target="../slides/slide121.xml"/><Relationship Id="rId2" Type="http://schemas.openxmlformats.org/officeDocument/2006/relationships/notesMaster" Target="../notesMasters/notesMaster1.xml"/>
</Relationships>
</file>

<file path=ppt/notesSlides/_rels/notesSlide122.xml.rels><?xml version="1.0" encoding="UTF-8"?>
<Relationships xmlns="http://schemas.openxmlformats.org/package/2006/relationships"><Relationship Id="rId1" Type="http://schemas.openxmlformats.org/officeDocument/2006/relationships/slide" Target="../slides/slide122.xml"/><Relationship Id="rId2" Type="http://schemas.openxmlformats.org/officeDocument/2006/relationships/notesMaster" Target="../notesMasters/notesMaster1.xml"/>
</Relationships>
</file>

<file path=ppt/notesSlides/_rels/notesSlide123.xml.rels><?xml version="1.0" encoding="UTF-8"?>
<Relationships xmlns="http://schemas.openxmlformats.org/package/2006/relationships"><Relationship Id="rId1" Type="http://schemas.openxmlformats.org/officeDocument/2006/relationships/slide" Target="../slides/slide123.xml"/><Relationship Id="rId2" Type="http://schemas.openxmlformats.org/officeDocument/2006/relationships/notesMaster" Target="../notesMasters/notesMaster1.xml"/>
</Relationships>
</file>

<file path=ppt/notesSlides/_rels/notesSlide124.xml.rels><?xml version="1.0" encoding="UTF-8"?>
<Relationships xmlns="http://schemas.openxmlformats.org/package/2006/relationships"><Relationship Id="rId1" Type="http://schemas.openxmlformats.org/officeDocument/2006/relationships/slide" Target="../slides/slide124.xml"/><Relationship Id="rId2" Type="http://schemas.openxmlformats.org/officeDocument/2006/relationships/notesMaster" Target="../notesMasters/notesMaster1.xml"/>
</Relationships>
</file>

<file path=ppt/notesSlides/_rels/notesSlide125.xml.rels><?xml version="1.0" encoding="UTF-8"?>
<Relationships xmlns="http://schemas.openxmlformats.org/package/2006/relationships"><Relationship Id="rId1" Type="http://schemas.openxmlformats.org/officeDocument/2006/relationships/slide" Target="../slides/slide125.xml"/><Relationship Id="rId2" Type="http://schemas.openxmlformats.org/officeDocument/2006/relationships/notesMaster" Target="../notesMasters/notesMaster1.xml"/>
</Relationships>
</file>

<file path=ppt/notesSlides/_rels/notesSlide126.xml.rels><?xml version="1.0" encoding="UTF-8"?>
<Relationships xmlns="http://schemas.openxmlformats.org/package/2006/relationships"><Relationship Id="rId1" Type="http://schemas.openxmlformats.org/officeDocument/2006/relationships/slide" Target="../slides/slide126.xml"/><Relationship Id="rId2" Type="http://schemas.openxmlformats.org/officeDocument/2006/relationships/notesMaster" Target="../notesMasters/notesMaster1.xml"/>
</Relationships>
</file>

<file path=ppt/notesSlides/_rels/notesSlide127.xml.rels><?xml version="1.0" encoding="UTF-8"?>
<Relationships xmlns="http://schemas.openxmlformats.org/package/2006/relationships"><Relationship Id="rId1" Type="http://schemas.openxmlformats.org/officeDocument/2006/relationships/slide" Target="../slides/slide127.xml"/><Relationship Id="rId2" Type="http://schemas.openxmlformats.org/officeDocument/2006/relationships/notesMaster" Target="../notesMasters/notesMaster1.xml"/>
</Relationships>
</file>

<file path=ppt/notesSlides/_rels/notesSlide128.xml.rels><?xml version="1.0" encoding="UTF-8"?>
<Relationships xmlns="http://schemas.openxmlformats.org/package/2006/relationships"><Relationship Id="rId1" Type="http://schemas.openxmlformats.org/officeDocument/2006/relationships/slide" Target="../slides/slide128.xml"/><Relationship Id="rId2" Type="http://schemas.openxmlformats.org/officeDocument/2006/relationships/notesMaster" Target="../notesMasters/notesMaster1.xml"/>
</Relationships>
</file>

<file path=ppt/notesSlides/_rels/notesSlide129.xml.rels><?xml version="1.0" encoding="UTF-8"?>
<Relationships xmlns="http://schemas.openxmlformats.org/package/2006/relationships"><Relationship Id="rId1" Type="http://schemas.openxmlformats.org/officeDocument/2006/relationships/slide" Target="../slides/slide129.xml"/><Relationship Id="rId2" Type="http://schemas.openxmlformats.org/officeDocument/2006/relationships/notesMaster" Target="../notesMasters/notesMaster1.xml"/>
</Relationships>
</file>

<file path=ppt/notesSlides/_rels/notesSlide130.xml.rels><?xml version="1.0" encoding="UTF-8"?>
<Relationships xmlns="http://schemas.openxmlformats.org/package/2006/relationships"><Relationship Id="rId1" Type="http://schemas.openxmlformats.org/officeDocument/2006/relationships/slide" Target="../slides/slide130.xml"/><Relationship Id="rId2" Type="http://schemas.openxmlformats.org/officeDocument/2006/relationships/notesMaster" Target="../notesMasters/notesMaster1.xml"/>
</Relationships>
</file>

<file path=ppt/notesSlides/_rels/notesSlide131.xml.rels><?xml version="1.0" encoding="UTF-8"?>
<Relationships xmlns="http://schemas.openxmlformats.org/package/2006/relationships"><Relationship Id="rId1" Type="http://schemas.openxmlformats.org/officeDocument/2006/relationships/slide" Target="../slides/slide131.xml"/><Relationship Id="rId2" Type="http://schemas.openxmlformats.org/officeDocument/2006/relationships/notesMaster" Target="../notesMasters/notesMaster1.xml"/>
</Relationships>
</file>

<file path=ppt/notesSlides/_rels/notesSlide132.xml.rels><?xml version="1.0" encoding="UTF-8"?>
<Relationships xmlns="http://schemas.openxmlformats.org/package/2006/relationships"><Relationship Id="rId1" Type="http://schemas.openxmlformats.org/officeDocument/2006/relationships/slide" Target="../slides/slide132.xml"/><Relationship Id="rId2" Type="http://schemas.openxmlformats.org/officeDocument/2006/relationships/notesMaster" Target="../notesMasters/notesMaster1.xml"/>
</Relationships>
</file>

<file path=ppt/notesSlides/_rels/notesSlide133.xml.rels><?xml version="1.0" encoding="UTF-8"?>
<Relationships xmlns="http://schemas.openxmlformats.org/package/2006/relationships"><Relationship Id="rId1" Type="http://schemas.openxmlformats.org/officeDocument/2006/relationships/slide" Target="../slides/slide133.xml"/><Relationship Id="rId2" Type="http://schemas.openxmlformats.org/officeDocument/2006/relationships/notesMaster" Target="../notesMasters/notesMaster1.xml"/>
</Relationships>
</file>

<file path=ppt/notesSlides/_rels/notesSlide134.xml.rels><?xml version="1.0" encoding="UTF-8"?>
<Relationships xmlns="http://schemas.openxmlformats.org/package/2006/relationships"><Relationship Id="rId1" Type="http://schemas.openxmlformats.org/officeDocument/2006/relationships/slide" Target="../slides/slide134.xml"/><Relationship Id="rId2" Type="http://schemas.openxmlformats.org/officeDocument/2006/relationships/notesMaster" Target="../notesMasters/notesMaster1.xml"/>
</Relationships>
</file>

<file path=ppt/notesSlides/_rels/notesSlide135.xml.rels><?xml version="1.0" encoding="UTF-8"?>
<Relationships xmlns="http://schemas.openxmlformats.org/package/2006/relationships"><Relationship Id="rId1" Type="http://schemas.openxmlformats.org/officeDocument/2006/relationships/slide" Target="../slides/slide135.xml"/><Relationship Id="rId2" Type="http://schemas.openxmlformats.org/officeDocument/2006/relationships/notesMaster" Target="../notesMasters/notesMaster1.xml"/>
</Relationships>
</file>

<file path=ppt/notesSlides/_rels/notesSlide136.xml.rels><?xml version="1.0" encoding="UTF-8"?>
<Relationships xmlns="http://schemas.openxmlformats.org/package/2006/relationships"><Relationship Id="rId1" Type="http://schemas.openxmlformats.org/officeDocument/2006/relationships/slide" Target="../slides/slide136.xml"/><Relationship Id="rId2" Type="http://schemas.openxmlformats.org/officeDocument/2006/relationships/notesMaster" Target="../notesMasters/notesMaster1.xml"/>
</Relationships>
</file>

<file path=ppt/notesSlides/_rels/notesSlide137.xml.rels><?xml version="1.0" encoding="UTF-8"?>
<Relationships xmlns="http://schemas.openxmlformats.org/package/2006/relationships"><Relationship Id="rId1" Type="http://schemas.openxmlformats.org/officeDocument/2006/relationships/slide" Target="../slides/slide137.xml"/><Relationship Id="rId2" Type="http://schemas.openxmlformats.org/officeDocument/2006/relationships/notesMaster" Target="../notesMasters/notesMaster1.xml"/>
</Relationships>
</file>

<file path=ppt/notesSlides/_rels/notesSlide138.xml.rels><?xml version="1.0" encoding="UTF-8"?>
<Relationships xmlns="http://schemas.openxmlformats.org/package/2006/relationships"><Relationship Id="rId1" Type="http://schemas.openxmlformats.org/officeDocument/2006/relationships/slide" Target="../slides/slide138.xml"/><Relationship Id="rId2" Type="http://schemas.openxmlformats.org/officeDocument/2006/relationships/notesMaster" Target="../notesMasters/notesMaster1.xml"/>
</Relationships>
</file>

<file path=ppt/notesSlides/_rels/notesSlide139.xml.rels><?xml version="1.0" encoding="UTF-8"?>
<Relationships xmlns="http://schemas.openxmlformats.org/package/2006/relationships"><Relationship Id="rId1" Type="http://schemas.openxmlformats.org/officeDocument/2006/relationships/slide" Target="../slides/slide139.xml"/><Relationship Id="rId2" Type="http://schemas.openxmlformats.org/officeDocument/2006/relationships/notesMaster" Target="../notesMasters/notesMaster1.xml"/>
</Relationships>
</file>

<file path=ppt/notesSlides/_rels/notesSlide140.xml.rels><?xml version="1.0" encoding="UTF-8"?>
<Relationships xmlns="http://schemas.openxmlformats.org/package/2006/relationships"><Relationship Id="rId1" Type="http://schemas.openxmlformats.org/officeDocument/2006/relationships/slide" Target="../slides/slide140.xml"/><Relationship Id="rId2" Type="http://schemas.openxmlformats.org/officeDocument/2006/relationships/notesMaster" Target="../notesMasters/notesMaster1.xml"/>
</Relationships>
</file>

<file path=ppt/notesSlides/_rels/notesSlide141.xml.rels><?xml version="1.0" encoding="UTF-8"?>
<Relationships xmlns="http://schemas.openxmlformats.org/package/2006/relationships"><Relationship Id="rId1" Type="http://schemas.openxmlformats.org/officeDocument/2006/relationships/slide" Target="../slides/slide141.xml"/><Relationship Id="rId2" Type="http://schemas.openxmlformats.org/officeDocument/2006/relationships/notesMaster" Target="../notesMasters/notesMaster1.xml"/>
</Relationships>
</file>

<file path=ppt/notesSlides/_rels/notesSlide142.xml.rels><?xml version="1.0" encoding="UTF-8"?>
<Relationships xmlns="http://schemas.openxmlformats.org/package/2006/relationships"><Relationship Id="rId1" Type="http://schemas.openxmlformats.org/officeDocument/2006/relationships/slide" Target="../slides/slide142.xml"/><Relationship Id="rId2" Type="http://schemas.openxmlformats.org/officeDocument/2006/relationships/notesMaster" Target="../notesMasters/notesMaster1.xml"/>
</Relationships>
</file>

<file path=ppt/notesSlides/_rels/notesSlide143.xml.rels><?xml version="1.0" encoding="UTF-8"?>
<Relationships xmlns="http://schemas.openxmlformats.org/package/2006/relationships"><Relationship Id="rId1" Type="http://schemas.openxmlformats.org/officeDocument/2006/relationships/slide" Target="../slides/slide143.xml"/><Relationship Id="rId2" Type="http://schemas.openxmlformats.org/officeDocument/2006/relationships/notesMaster" Target="../notesMasters/notesMaster1.xml"/>
</Relationships>
</file>

<file path=ppt/notesSlides/_rels/notesSlide144.xml.rels><?xml version="1.0" encoding="UTF-8"?>
<Relationships xmlns="http://schemas.openxmlformats.org/package/2006/relationships"><Relationship Id="rId1" Type="http://schemas.openxmlformats.org/officeDocument/2006/relationships/slide" Target="../slides/slide144.xml"/><Relationship Id="rId2" Type="http://schemas.openxmlformats.org/officeDocument/2006/relationships/notesMaster" Target="../notesMasters/notesMaster1.xml"/>
</Relationships>
</file>

<file path=ppt/notesSlides/_rels/notesSlide145.xml.rels><?xml version="1.0" encoding="UTF-8"?>
<Relationships xmlns="http://schemas.openxmlformats.org/package/2006/relationships"><Relationship Id="rId1" Type="http://schemas.openxmlformats.org/officeDocument/2006/relationships/slide" Target="../slides/slide145.xml"/><Relationship Id="rId2" Type="http://schemas.openxmlformats.org/officeDocument/2006/relationships/notesMaster" Target="../notesMasters/notesMaster1.xml"/>
</Relationships>
</file>

<file path=ppt/notesSlides/_rels/notesSlide146.xml.rels><?xml version="1.0" encoding="UTF-8"?>
<Relationships xmlns="http://schemas.openxmlformats.org/package/2006/relationships"><Relationship Id="rId1" Type="http://schemas.openxmlformats.org/officeDocument/2006/relationships/slide" Target="../slides/slide146.xml"/><Relationship Id="rId2" Type="http://schemas.openxmlformats.org/officeDocument/2006/relationships/notesMaster" Target="../notesMasters/notesMaster1.xml"/>
</Relationships>
</file>

<file path=ppt/notesSlides/_rels/notesSlide147.xml.rels><?xml version="1.0" encoding="UTF-8"?>
<Relationships xmlns="http://schemas.openxmlformats.org/package/2006/relationships"><Relationship Id="rId1" Type="http://schemas.openxmlformats.org/officeDocument/2006/relationships/slide" Target="../slides/slide147.xml"/><Relationship Id="rId2" Type="http://schemas.openxmlformats.org/officeDocument/2006/relationships/notesMaster" Target="../notesMasters/notesMaster1.xml"/>
</Relationships>
</file>

<file path=ppt/notesSlides/_rels/notesSlide148.xml.rels><?xml version="1.0" encoding="UTF-8"?>
<Relationships xmlns="http://schemas.openxmlformats.org/package/2006/relationships"><Relationship Id="rId1" Type="http://schemas.openxmlformats.org/officeDocument/2006/relationships/slide" Target="../slides/slide148.xml"/><Relationship Id="rId2" Type="http://schemas.openxmlformats.org/officeDocument/2006/relationships/notesMaster" Target="../notesMasters/notesMaster1.xml"/>
</Relationships>
</file>

<file path=ppt/notesSlides/_rels/notesSlide149.xml.rels><?xml version="1.0" encoding="UTF-8"?>
<Relationships xmlns="http://schemas.openxmlformats.org/package/2006/relationships"><Relationship Id="rId1" Type="http://schemas.openxmlformats.org/officeDocument/2006/relationships/slide" Target="../slides/slide149.xml"/><Relationship Id="rId2" Type="http://schemas.openxmlformats.org/officeDocument/2006/relationships/notesMaster" Target="../notesMasters/notesMaster1.xml"/>
</Relationships>
</file>

<file path=ppt/notesSlides/_rels/notesSlide150.xml.rels><?xml version="1.0" encoding="UTF-8"?>
<Relationships xmlns="http://schemas.openxmlformats.org/package/2006/relationships"><Relationship Id="rId1" Type="http://schemas.openxmlformats.org/officeDocument/2006/relationships/slide" Target="../slides/slide150.xml"/><Relationship Id="rId2" Type="http://schemas.openxmlformats.org/officeDocument/2006/relationships/notesMaster" Target="../notesMasters/notesMaster1.xml"/>
</Relationships>
</file>

<file path=ppt/notesSlides/_rels/notesSlide151.xml.rels><?xml version="1.0" encoding="UTF-8"?>
<Relationships xmlns="http://schemas.openxmlformats.org/package/2006/relationships"><Relationship Id="rId1" Type="http://schemas.openxmlformats.org/officeDocument/2006/relationships/slide" Target="../slides/slide151.xml"/><Relationship Id="rId2" Type="http://schemas.openxmlformats.org/officeDocument/2006/relationships/notesMaster" Target="../notesMasters/notesMaster1.xml"/>
</Relationships>
</file>

<file path=ppt/notesSlides/_rels/notesSlide152.xml.rels><?xml version="1.0" encoding="UTF-8"?>
<Relationships xmlns="http://schemas.openxmlformats.org/package/2006/relationships"><Relationship Id="rId1" Type="http://schemas.openxmlformats.org/officeDocument/2006/relationships/slide" Target="../slides/slide152.xml"/><Relationship Id="rId2" Type="http://schemas.openxmlformats.org/officeDocument/2006/relationships/notesMaster" Target="../notesMasters/notesMaster1.xml"/>
</Relationships>
</file>

<file path=ppt/notesSlides/_rels/notesSlide153.xml.rels><?xml version="1.0" encoding="UTF-8"?>
<Relationships xmlns="http://schemas.openxmlformats.org/package/2006/relationships"><Relationship Id="rId1" Type="http://schemas.openxmlformats.org/officeDocument/2006/relationships/slide" Target="../slides/slide153.xml"/><Relationship Id="rId2" Type="http://schemas.openxmlformats.org/officeDocument/2006/relationships/notesMaster" Target="../notesMasters/notesMaster1.xml"/>
</Relationships>
</file>

<file path=ppt/notesSlides/_rels/notesSlide154.xml.rels><?xml version="1.0" encoding="UTF-8"?>
<Relationships xmlns="http://schemas.openxmlformats.org/package/2006/relationships"><Relationship Id="rId1" Type="http://schemas.openxmlformats.org/officeDocument/2006/relationships/slide" Target="../slides/slide154.xml"/><Relationship Id="rId2" Type="http://schemas.openxmlformats.org/officeDocument/2006/relationships/notesMaster" Target="../notesMasters/notesMaster1.xml"/>
</Relationships>
</file>

<file path=ppt/notesSlides/_rels/notesSlide155.xml.rels><?xml version="1.0" encoding="UTF-8"?>
<Relationships xmlns="http://schemas.openxmlformats.org/package/2006/relationships"><Relationship Id="rId1" Type="http://schemas.openxmlformats.org/officeDocument/2006/relationships/slide" Target="../slides/slide155.xml"/><Relationship Id="rId2" Type="http://schemas.openxmlformats.org/officeDocument/2006/relationships/notesMaster" Target="../notesMasters/notesMaster1.xml"/>
</Relationships>
</file>

<file path=ppt/notesSlides/_rels/notesSlide156.xml.rels><?xml version="1.0" encoding="UTF-8"?>
<Relationships xmlns="http://schemas.openxmlformats.org/package/2006/relationships"><Relationship Id="rId1" Type="http://schemas.openxmlformats.org/officeDocument/2006/relationships/slide" Target="../slides/slide156.xml"/><Relationship Id="rId2" Type="http://schemas.openxmlformats.org/officeDocument/2006/relationships/notesMaster" Target="../notesMasters/notesMaster1.xml"/>
</Relationships>
</file>

<file path=ppt/notesSlides/_rels/notesSlide157.xml.rels><?xml version="1.0" encoding="UTF-8"?>
<Relationships xmlns="http://schemas.openxmlformats.org/package/2006/relationships"><Relationship Id="rId1" Type="http://schemas.openxmlformats.org/officeDocument/2006/relationships/slide" Target="../slides/slide157.xml"/><Relationship Id="rId2" Type="http://schemas.openxmlformats.org/officeDocument/2006/relationships/notesMaster" Target="../notesMasters/notesMaster1.xml"/>
</Relationships>
</file>

<file path=ppt/notesSlides/_rels/notesSlide158.xml.rels><?xml version="1.0" encoding="UTF-8"?>
<Relationships xmlns="http://schemas.openxmlformats.org/package/2006/relationships"><Relationship Id="rId1" Type="http://schemas.openxmlformats.org/officeDocument/2006/relationships/slide" Target="../slides/slide158.xml"/><Relationship Id="rId2" Type="http://schemas.openxmlformats.org/officeDocument/2006/relationships/notesMaster" Target="../notesMasters/notesMaster1.xml"/>
</Relationships>
</file>

<file path=ppt/notesSlides/_rels/notesSlide159.xml.rels><?xml version="1.0" encoding="UTF-8"?>
<Relationships xmlns="http://schemas.openxmlformats.org/package/2006/relationships"><Relationship Id="rId1" Type="http://schemas.openxmlformats.org/officeDocument/2006/relationships/slide" Target="../slides/slide159.xml"/><Relationship Id="rId2" Type="http://schemas.openxmlformats.org/officeDocument/2006/relationships/notesMaster" Target="../notesMasters/notesMaster1.xml"/>
</Relationships>
</file>

<file path=ppt/notesSlides/_rels/notesSlide160.xml.rels><?xml version="1.0" encoding="UTF-8"?>
<Relationships xmlns="http://schemas.openxmlformats.org/package/2006/relationships"><Relationship Id="rId1" Type="http://schemas.openxmlformats.org/officeDocument/2006/relationships/slide" Target="../slides/slide160.xml"/><Relationship Id="rId2" Type="http://schemas.openxmlformats.org/officeDocument/2006/relationships/notesMaster" Target="../notesMasters/notesMaster1.xml"/>
</Relationships>
</file>

<file path=ppt/notesSlides/_rels/notesSlide161.xml.rels><?xml version="1.0" encoding="UTF-8"?>
<Relationships xmlns="http://schemas.openxmlformats.org/package/2006/relationships"><Relationship Id="rId1" Type="http://schemas.openxmlformats.org/officeDocument/2006/relationships/slide" Target="../slides/slide161.xml"/><Relationship Id="rId2" Type="http://schemas.openxmlformats.org/officeDocument/2006/relationships/notesMaster" Target="../notesMasters/notesMaster1.xml"/>
</Relationships>
</file>

<file path=ppt/notesSlides/_rels/notesSlide162.xml.rels><?xml version="1.0" encoding="UTF-8"?>
<Relationships xmlns="http://schemas.openxmlformats.org/package/2006/relationships"><Relationship Id="rId1" Type="http://schemas.openxmlformats.org/officeDocument/2006/relationships/slide" Target="../slides/slide162.xml"/><Relationship Id="rId2" Type="http://schemas.openxmlformats.org/officeDocument/2006/relationships/notesMaster" Target="../notesMasters/notesMaster1.xml"/>
</Relationships>
</file>

<file path=ppt/notesSlides/_rels/notesSlide163.xml.rels><?xml version="1.0" encoding="UTF-8"?>
<Relationships xmlns="http://schemas.openxmlformats.org/package/2006/relationships"><Relationship Id="rId1" Type="http://schemas.openxmlformats.org/officeDocument/2006/relationships/slide" Target="../slides/slide163.xml"/><Relationship Id="rId2" Type="http://schemas.openxmlformats.org/officeDocument/2006/relationships/notesMaster" Target="../notesMasters/notesMaster1.xml"/>
</Relationships>
</file>

<file path=ppt/notesSlides/_rels/notesSlide164.xml.rels><?xml version="1.0" encoding="UTF-8"?>
<Relationships xmlns="http://schemas.openxmlformats.org/package/2006/relationships"><Relationship Id="rId1" Type="http://schemas.openxmlformats.org/officeDocument/2006/relationships/slide" Target="../slides/slide164.xml"/><Relationship Id="rId2" Type="http://schemas.openxmlformats.org/officeDocument/2006/relationships/notesMaster" Target="../notesMasters/notesMaster1.xml"/>
</Relationships>
</file>

<file path=ppt/notesSlides/_rels/notesSlide165.xml.rels><?xml version="1.0" encoding="UTF-8"?>
<Relationships xmlns="http://schemas.openxmlformats.org/package/2006/relationships"><Relationship Id="rId1" Type="http://schemas.openxmlformats.org/officeDocument/2006/relationships/slide" Target="../slides/slide165.xml"/><Relationship Id="rId2" Type="http://schemas.openxmlformats.org/officeDocument/2006/relationships/notesMaster" Target="../notesMasters/notesMaster1.xml"/>
</Relationships>
</file>

<file path=ppt/notesSlides/_rels/notesSlide166.xml.rels><?xml version="1.0" encoding="UTF-8"?>
<Relationships xmlns="http://schemas.openxmlformats.org/package/2006/relationships"><Relationship Id="rId1" Type="http://schemas.openxmlformats.org/officeDocument/2006/relationships/slide" Target="../slides/slide166.xml"/><Relationship Id="rId2" Type="http://schemas.openxmlformats.org/officeDocument/2006/relationships/notesMaster" Target="../notesMasters/notesMaster1.xml"/>
</Relationships>
</file>

<file path=ppt/notesSlides/_rels/notesSlide167.xml.rels><?xml version="1.0" encoding="UTF-8"?>
<Relationships xmlns="http://schemas.openxmlformats.org/package/2006/relationships"><Relationship Id="rId1" Type="http://schemas.openxmlformats.org/officeDocument/2006/relationships/slide" Target="../slides/slide167.xml"/><Relationship Id="rId2" Type="http://schemas.openxmlformats.org/officeDocument/2006/relationships/notesMaster" Target="../notesMasters/notesMaster1.xml"/>
</Relationships>
</file>

<file path=ppt/notesSlides/_rels/notesSlide168.xml.rels><?xml version="1.0" encoding="UTF-8"?>
<Relationships xmlns="http://schemas.openxmlformats.org/package/2006/relationships"><Relationship Id="rId1" Type="http://schemas.openxmlformats.org/officeDocument/2006/relationships/slide" Target="../slides/slide168.xml"/><Relationship Id="rId2" Type="http://schemas.openxmlformats.org/officeDocument/2006/relationships/notesMaster" Target="../notesMasters/notesMaster1.xml"/>
</Relationships>
</file>

<file path=ppt/notesSlides/_rels/notesSlide169.xml.rels><?xml version="1.0" encoding="UTF-8"?>
<Relationships xmlns="http://schemas.openxmlformats.org/package/2006/relationships"><Relationship Id="rId1" Type="http://schemas.openxmlformats.org/officeDocument/2006/relationships/slide" Target="../slides/slide169.xml"/><Relationship Id="rId2" Type="http://schemas.openxmlformats.org/officeDocument/2006/relationships/notesMaster" Target="../notesMasters/notesMaster1.xml"/>
</Relationships>
</file>

<file path=ppt/notesSlides/_rels/notesSlide170.xml.rels><?xml version="1.0" encoding="UTF-8"?>
<Relationships xmlns="http://schemas.openxmlformats.org/package/2006/relationships"><Relationship Id="rId1" Type="http://schemas.openxmlformats.org/officeDocument/2006/relationships/slide" Target="../slides/slide170.xml"/><Relationship Id="rId2" Type="http://schemas.openxmlformats.org/officeDocument/2006/relationships/notesMaster" Target="../notesMasters/notesMaster1.xml"/>
</Relationships>
</file>

<file path=ppt/notesSlides/_rels/notesSlide171.xml.rels><?xml version="1.0" encoding="UTF-8"?>
<Relationships xmlns="http://schemas.openxmlformats.org/package/2006/relationships"><Relationship Id="rId1" Type="http://schemas.openxmlformats.org/officeDocument/2006/relationships/slide" Target="../slides/slide171.xml"/><Relationship Id="rId2" Type="http://schemas.openxmlformats.org/officeDocument/2006/relationships/notesMaster" Target="../notesMasters/notesMaster1.xml"/>
</Relationships>
</file>

<file path=ppt/notesSlides/_rels/notesSlide172.xml.rels><?xml version="1.0" encoding="UTF-8"?>
<Relationships xmlns="http://schemas.openxmlformats.org/package/2006/relationships"><Relationship Id="rId1" Type="http://schemas.openxmlformats.org/officeDocument/2006/relationships/slide" Target="../slides/slide172.xml"/><Relationship Id="rId2" Type="http://schemas.openxmlformats.org/officeDocument/2006/relationships/notesMaster" Target="../notesMasters/notesMaster1.xml"/>
</Relationships>
</file>

<file path=ppt/notesSlides/_rels/notesSlide173.xml.rels><?xml version="1.0" encoding="UTF-8"?>
<Relationships xmlns="http://schemas.openxmlformats.org/package/2006/relationships"><Relationship Id="rId1" Type="http://schemas.openxmlformats.org/officeDocument/2006/relationships/slide" Target="../slides/slide173.xml"/><Relationship Id="rId2" Type="http://schemas.openxmlformats.org/officeDocument/2006/relationships/notesMaster" Target="../notesMasters/notesMaster1.xml"/>
</Relationships>
</file>

<file path=ppt/notesSlides/_rels/notesSlide174.xml.rels><?xml version="1.0" encoding="UTF-8"?>
<Relationships xmlns="http://schemas.openxmlformats.org/package/2006/relationships"><Relationship Id="rId1" Type="http://schemas.openxmlformats.org/officeDocument/2006/relationships/slide" Target="../slides/slide174.xml"/><Relationship Id="rId2" Type="http://schemas.openxmlformats.org/officeDocument/2006/relationships/notesMaster" Target="../notesMasters/notesMaster1.xml"/>
</Relationships>
</file>

<file path=ppt/notesSlides/_rels/notesSlide175.xml.rels><?xml version="1.0" encoding="UTF-8"?>
<Relationships xmlns="http://schemas.openxmlformats.org/package/2006/relationships"><Relationship Id="rId1" Type="http://schemas.openxmlformats.org/officeDocument/2006/relationships/slide" Target="../slides/slide175.xml"/><Relationship Id="rId2" Type="http://schemas.openxmlformats.org/officeDocument/2006/relationships/notesMaster" Target="../notesMasters/notesMaster1.xml"/>
</Relationships>
</file>

<file path=ppt/notesSlides/_rels/notesSlide176.xml.rels><?xml version="1.0" encoding="UTF-8"?>
<Relationships xmlns="http://schemas.openxmlformats.org/package/2006/relationships"><Relationship Id="rId1" Type="http://schemas.openxmlformats.org/officeDocument/2006/relationships/slide" Target="../slides/slide176.xml"/><Relationship Id="rId2" Type="http://schemas.openxmlformats.org/officeDocument/2006/relationships/notesMaster" Target="../notesMasters/notesMaster1.xml"/>
</Relationships>
</file>

<file path=ppt/notesSlides/_rels/notesSlide177.xml.rels><?xml version="1.0" encoding="UTF-8"?>
<Relationships xmlns="http://schemas.openxmlformats.org/package/2006/relationships"><Relationship Id="rId1" Type="http://schemas.openxmlformats.org/officeDocument/2006/relationships/slide" Target="../slides/slide177.xml"/><Relationship Id="rId2" Type="http://schemas.openxmlformats.org/officeDocument/2006/relationships/notesMaster" Target="../notesMasters/notesMaster1.xml"/>
</Relationships>
</file>

<file path=ppt/notesSlides/_rels/notesSlide178.xml.rels><?xml version="1.0" encoding="UTF-8"?>
<Relationships xmlns="http://schemas.openxmlformats.org/package/2006/relationships"><Relationship Id="rId1" Type="http://schemas.openxmlformats.org/officeDocument/2006/relationships/slide" Target="../slides/slide178.xml"/><Relationship Id="rId2" Type="http://schemas.openxmlformats.org/officeDocument/2006/relationships/notesMaster" Target="../notesMasters/notesMaster1.xml"/>
</Relationships>
</file>

<file path=ppt/notesSlides/_rels/notesSlide179.xml.rels><?xml version="1.0" encoding="UTF-8"?>
<Relationships xmlns="http://schemas.openxmlformats.org/package/2006/relationships"><Relationship Id="rId1" Type="http://schemas.openxmlformats.org/officeDocument/2006/relationships/slide" Target="../slides/slide179.xml"/><Relationship Id="rId2" Type="http://schemas.openxmlformats.org/officeDocument/2006/relationships/notesMaster" Target="../notesMasters/notesMaster1.xml"/>
</Relationships>
</file>

<file path=ppt/notesSlides/_rels/notesSlide180.xml.rels><?xml version="1.0" encoding="UTF-8"?>
<Relationships xmlns="http://schemas.openxmlformats.org/package/2006/relationships"><Relationship Id="rId1" Type="http://schemas.openxmlformats.org/officeDocument/2006/relationships/slide" Target="../slides/slide180.xml"/><Relationship Id="rId2" Type="http://schemas.openxmlformats.org/officeDocument/2006/relationships/notesMaster" Target="../notesMasters/notesMaster1.xml"/>
</Relationships>
</file>

<file path=ppt/notesSlides/_rels/notesSlide181.xml.rels><?xml version="1.0" encoding="UTF-8"?>
<Relationships xmlns="http://schemas.openxmlformats.org/package/2006/relationships"><Relationship Id="rId1" Type="http://schemas.openxmlformats.org/officeDocument/2006/relationships/slide" Target="../slides/slide181.xml"/><Relationship Id="rId2" Type="http://schemas.openxmlformats.org/officeDocument/2006/relationships/notesMaster" Target="../notesMasters/notesMaster1.xml"/>
</Relationships>
</file>

<file path=ppt/notesSlides/_rels/notesSlide182.xml.rels><?xml version="1.0" encoding="UTF-8"?>
<Relationships xmlns="http://schemas.openxmlformats.org/package/2006/relationships"><Relationship Id="rId1" Type="http://schemas.openxmlformats.org/officeDocument/2006/relationships/slide" Target="../slides/slide182.xml"/><Relationship Id="rId2" Type="http://schemas.openxmlformats.org/officeDocument/2006/relationships/notesMaster" Target="../notesMasters/notesMaster1.xml"/>
</Relationships>
</file>

<file path=ppt/notesSlides/_rels/notesSlide183.xml.rels><?xml version="1.0" encoding="UTF-8"?>
<Relationships xmlns="http://schemas.openxmlformats.org/package/2006/relationships"><Relationship Id="rId1" Type="http://schemas.openxmlformats.org/officeDocument/2006/relationships/slide" Target="../slides/slide183.xml"/><Relationship Id="rId2" Type="http://schemas.openxmlformats.org/officeDocument/2006/relationships/notesMaster" Target="../notesMasters/notesMaster1.xml"/>
</Relationships>
</file>

<file path=ppt/notesSlides/_rels/notesSlide184.xml.rels><?xml version="1.0" encoding="UTF-8"?>
<Relationships xmlns="http://schemas.openxmlformats.org/package/2006/relationships"><Relationship Id="rId1" Type="http://schemas.openxmlformats.org/officeDocument/2006/relationships/slide" Target="../slides/slide184.xml"/><Relationship Id="rId2" Type="http://schemas.openxmlformats.org/officeDocument/2006/relationships/notesMaster" Target="../notesMasters/notesMaster1.xml"/>
</Relationships>
</file>

<file path=ppt/notesSlides/_rels/notesSlide185.xml.rels><?xml version="1.0" encoding="UTF-8"?>
<Relationships xmlns="http://schemas.openxmlformats.org/package/2006/relationships"><Relationship Id="rId1" Type="http://schemas.openxmlformats.org/officeDocument/2006/relationships/slide" Target="../slides/slide185.xml"/><Relationship Id="rId2" Type="http://schemas.openxmlformats.org/officeDocument/2006/relationships/notesMaster" Target="../notesMasters/notesMaster1.xml"/>
</Relationships>
</file>

<file path=ppt/notesSlides/_rels/notesSlide186.xml.rels><?xml version="1.0" encoding="UTF-8"?>
<Relationships xmlns="http://schemas.openxmlformats.org/package/2006/relationships"><Relationship Id="rId1" Type="http://schemas.openxmlformats.org/officeDocument/2006/relationships/slide" Target="../slides/slide186.xml"/><Relationship Id="rId2" Type="http://schemas.openxmlformats.org/officeDocument/2006/relationships/notesMaster" Target="../notesMasters/notesMaster1.xml"/>
</Relationships>
</file>

<file path=ppt/notesSlides/_rels/notesSlide187.xml.rels><?xml version="1.0" encoding="UTF-8"?>
<Relationships xmlns="http://schemas.openxmlformats.org/package/2006/relationships"><Relationship Id="rId1" Type="http://schemas.openxmlformats.org/officeDocument/2006/relationships/slide" Target="../slides/slide187.xml"/><Relationship Id="rId2" Type="http://schemas.openxmlformats.org/officeDocument/2006/relationships/notesMaster" Target="../notesMasters/notesMaster1.xml"/>
</Relationships>
</file>

<file path=ppt/notesSlides/_rels/notesSlide188.xml.rels><?xml version="1.0" encoding="UTF-8"?>
<Relationships xmlns="http://schemas.openxmlformats.org/package/2006/relationships"><Relationship Id="rId1" Type="http://schemas.openxmlformats.org/officeDocument/2006/relationships/slide" Target="../slides/slide188.xml"/><Relationship Id="rId2" Type="http://schemas.openxmlformats.org/officeDocument/2006/relationships/notesMaster" Target="../notesMasters/notesMaster1.xml"/>
</Relationships>
</file>

<file path=ppt/notesSlides/_rels/notesSlide189.xml.rels><?xml version="1.0" encoding="UTF-8"?>
<Relationships xmlns="http://schemas.openxmlformats.org/package/2006/relationships"><Relationship Id="rId1" Type="http://schemas.openxmlformats.org/officeDocument/2006/relationships/slide" Target="../slides/slide189.xml"/><Relationship Id="rId2" Type="http://schemas.openxmlformats.org/officeDocument/2006/relationships/notesMaster" Target="../notesMasters/notesMaster1.xml"/>
</Relationships>
</file>

<file path=ppt/notesSlides/_rels/notesSlide190.xml.rels><?xml version="1.0" encoding="UTF-8"?>
<Relationships xmlns="http://schemas.openxmlformats.org/package/2006/relationships"><Relationship Id="rId1" Type="http://schemas.openxmlformats.org/officeDocument/2006/relationships/slide" Target="../slides/slide190.xml"/><Relationship Id="rId2" Type="http://schemas.openxmlformats.org/officeDocument/2006/relationships/notesMaster" Target="../notesMasters/notesMaster1.xml"/>
</Relationships>
</file>

<file path=ppt/notesSlides/_rels/notesSlide191.xml.rels><?xml version="1.0" encoding="UTF-8"?>
<Relationships xmlns="http://schemas.openxmlformats.org/package/2006/relationships"><Relationship Id="rId1" Type="http://schemas.openxmlformats.org/officeDocument/2006/relationships/slide" Target="../slides/slide191.xml"/><Relationship Id="rId2" Type="http://schemas.openxmlformats.org/officeDocument/2006/relationships/notesMaster" Target="../notesMasters/notesMaster1.xml"/>
</Relationships>
</file>

<file path=ppt/notesSlides/_rels/notesSlide192.xml.rels><?xml version="1.0" encoding="UTF-8"?>
<Relationships xmlns="http://schemas.openxmlformats.org/package/2006/relationships"><Relationship Id="rId1" Type="http://schemas.openxmlformats.org/officeDocument/2006/relationships/slide" Target="../slides/slide192.xml"/><Relationship Id="rId2" Type="http://schemas.openxmlformats.org/officeDocument/2006/relationships/notesMaster" Target="../notesMasters/notesMaster1.xml"/>
</Relationships>
</file>

<file path=ppt/notesSlides/_rels/notesSlide193.xml.rels><?xml version="1.0" encoding="UTF-8"?>
<Relationships xmlns="http://schemas.openxmlformats.org/package/2006/relationships"><Relationship Id="rId1" Type="http://schemas.openxmlformats.org/officeDocument/2006/relationships/slide" Target="../slides/slide193.xml"/><Relationship Id="rId2" Type="http://schemas.openxmlformats.org/officeDocument/2006/relationships/notesMaster" Target="../notesMasters/notesMaster1.xml"/>
</Relationships>
</file>

<file path=ppt/notesSlides/_rels/notesSlide194.xml.rels><?xml version="1.0" encoding="UTF-8"?>
<Relationships xmlns="http://schemas.openxmlformats.org/package/2006/relationships"><Relationship Id="rId1" Type="http://schemas.openxmlformats.org/officeDocument/2006/relationships/slide" Target="../slides/slide194.xml"/><Relationship Id="rId2" Type="http://schemas.openxmlformats.org/officeDocument/2006/relationships/notesMaster" Target="../notesMasters/notesMaster1.xml"/>
</Relationships>
</file>

<file path=ppt/notesSlides/_rels/notesSlide195.xml.rels><?xml version="1.0" encoding="UTF-8"?>
<Relationships xmlns="http://schemas.openxmlformats.org/package/2006/relationships"><Relationship Id="rId1" Type="http://schemas.openxmlformats.org/officeDocument/2006/relationships/slide" Target="../slides/slide195.xml"/><Relationship Id="rId2" Type="http://schemas.openxmlformats.org/officeDocument/2006/relationships/notesMaster" Target="../notesMasters/notesMaster1.xml"/>
</Relationships>
</file>

<file path=ppt/notesSlides/_rels/notesSlide196.xml.rels><?xml version="1.0" encoding="UTF-8"?>
<Relationships xmlns="http://schemas.openxmlformats.org/package/2006/relationships"><Relationship Id="rId1" Type="http://schemas.openxmlformats.org/officeDocument/2006/relationships/slide" Target="../slides/slide196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0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4" name="PlaceHolder 3"/>
          <p:cNvSpPr>
            <a:spLocks noGrp="1"/>
          </p:cNvSpPr>
          <p:nvPr>
            <p:ph type="sldNum" idx="20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DC347DB-B046-4057-A416-E51EA687BC23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0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7" name="PlaceHolder 3"/>
          <p:cNvSpPr>
            <a:spLocks noGrp="1"/>
          </p:cNvSpPr>
          <p:nvPr>
            <p:ph type="sldNum" idx="20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E536C8A-A7A9-4CD6-83E3-710C0215B4CB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0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0" name="PlaceHolder 3"/>
          <p:cNvSpPr>
            <a:spLocks noGrp="1"/>
          </p:cNvSpPr>
          <p:nvPr>
            <p:ph type="sldNum" idx="20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FB4DAF1-6579-4769-A68B-7C4FE6544D56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1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3" name="PlaceHolder 3"/>
          <p:cNvSpPr>
            <a:spLocks noGrp="1"/>
          </p:cNvSpPr>
          <p:nvPr>
            <p:ph type="sldNum" idx="20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428699F-BFEE-4108-9B0E-282464B2C492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1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6" name="PlaceHolder 3"/>
          <p:cNvSpPr>
            <a:spLocks noGrp="1"/>
          </p:cNvSpPr>
          <p:nvPr>
            <p:ph type="sldNum" idx="20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9343054-8620-456B-ABF8-3E0C11BD2286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1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9" name="PlaceHolder 3"/>
          <p:cNvSpPr>
            <a:spLocks noGrp="1"/>
          </p:cNvSpPr>
          <p:nvPr>
            <p:ph type="sldNum" idx="20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6043AA6-F935-44EF-A0FB-CF13A71BEEF1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2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2" name="PlaceHolder 3"/>
          <p:cNvSpPr>
            <a:spLocks noGrp="1"/>
          </p:cNvSpPr>
          <p:nvPr>
            <p:ph type="sldNum" idx="20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B15FCDA-6AEB-449E-816B-ACB2EBF29EC6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2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5" name="PlaceHolder 3"/>
          <p:cNvSpPr>
            <a:spLocks noGrp="1"/>
          </p:cNvSpPr>
          <p:nvPr>
            <p:ph type="sldNum" idx="20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C1753FD-D2EC-4A62-B222-DF7CCC14F15B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2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8" name="PlaceHolder 3"/>
          <p:cNvSpPr>
            <a:spLocks noGrp="1"/>
          </p:cNvSpPr>
          <p:nvPr>
            <p:ph type="sldNum" idx="20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7FFC97E-35BD-4CCF-A1D9-816FB94FD14E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3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1" name="PlaceHolder 3"/>
          <p:cNvSpPr>
            <a:spLocks noGrp="1"/>
          </p:cNvSpPr>
          <p:nvPr>
            <p:ph type="sldNum" idx="2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9238C97-7C83-4D18-921A-B74FB7F3B826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3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4" name="PlaceHolder 3"/>
          <p:cNvSpPr>
            <a:spLocks noGrp="1"/>
          </p:cNvSpPr>
          <p:nvPr>
            <p:ph type="sldNum" idx="2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21A0B7A-3709-4875-8D1D-20DB61CCD7A6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3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7" name="PlaceHolder 3"/>
          <p:cNvSpPr>
            <a:spLocks noGrp="1"/>
          </p:cNvSpPr>
          <p:nvPr>
            <p:ph type="sldNum" idx="21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2028538-B70D-4990-BCA8-BFB02FC0B6D5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3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0" name="PlaceHolder 3"/>
          <p:cNvSpPr>
            <a:spLocks noGrp="1"/>
          </p:cNvSpPr>
          <p:nvPr>
            <p:ph type="sldNum" idx="21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7CDA189-1EE0-42DD-93B5-9D2E1589E1C1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4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3" name="PlaceHolder 3"/>
          <p:cNvSpPr>
            <a:spLocks noGrp="1"/>
          </p:cNvSpPr>
          <p:nvPr>
            <p:ph type="sldNum" idx="21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1F4AB15-72F1-4BCC-95CD-B15FDCE0C332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4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6" name="PlaceHolder 3"/>
          <p:cNvSpPr>
            <a:spLocks noGrp="1"/>
          </p:cNvSpPr>
          <p:nvPr>
            <p:ph type="sldNum" idx="21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DCB5CF9-89D5-4B63-A451-12232E697C40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4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9" name="PlaceHolder 3"/>
          <p:cNvSpPr>
            <a:spLocks noGrp="1"/>
          </p:cNvSpPr>
          <p:nvPr>
            <p:ph type="sldNum" idx="21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11582AF-67AE-4E5B-B9EC-20CC662796FE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5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2" name="PlaceHolder 3"/>
          <p:cNvSpPr>
            <a:spLocks noGrp="1"/>
          </p:cNvSpPr>
          <p:nvPr>
            <p:ph type="sldNum" idx="21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B71FF21-D3EB-4D0C-8DF2-ED3B424D857E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5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5" name="PlaceHolder 3"/>
          <p:cNvSpPr>
            <a:spLocks noGrp="1"/>
          </p:cNvSpPr>
          <p:nvPr>
            <p:ph type="sldNum" idx="21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03AE488-F098-4651-8E69-8057201A49C8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5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8" name="PlaceHolder 3"/>
          <p:cNvSpPr>
            <a:spLocks noGrp="1"/>
          </p:cNvSpPr>
          <p:nvPr>
            <p:ph type="sldNum" idx="21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10FBE63-7F04-4AF8-A531-8B720F3CFE01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6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1" name="PlaceHolder 3"/>
          <p:cNvSpPr>
            <a:spLocks noGrp="1"/>
          </p:cNvSpPr>
          <p:nvPr>
            <p:ph type="sldNum" idx="22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001D942-E6EE-41BC-89EC-1076461849D8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6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4" name="PlaceHolder 3"/>
          <p:cNvSpPr>
            <a:spLocks noGrp="1"/>
          </p:cNvSpPr>
          <p:nvPr>
            <p:ph type="sldNum" idx="22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7D53559-164E-44DF-83E9-640723CE9B59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6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7" name="PlaceHolder 3"/>
          <p:cNvSpPr>
            <a:spLocks noGrp="1"/>
          </p:cNvSpPr>
          <p:nvPr>
            <p:ph type="sldNum" idx="22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41DB4BF-71F0-4F13-930E-2BE42E0EC7F8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6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0" name="PlaceHolder 3"/>
          <p:cNvSpPr>
            <a:spLocks noGrp="1"/>
          </p:cNvSpPr>
          <p:nvPr>
            <p:ph type="sldNum" idx="22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1E7925E-8353-4417-96AC-729E78F3D14A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7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3" name="PlaceHolder 3"/>
          <p:cNvSpPr>
            <a:spLocks noGrp="1"/>
          </p:cNvSpPr>
          <p:nvPr>
            <p:ph type="sldNum" idx="22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239871C-703A-4229-ADC0-033972DF4ED6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7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6" name="PlaceHolder 3"/>
          <p:cNvSpPr>
            <a:spLocks noGrp="1"/>
          </p:cNvSpPr>
          <p:nvPr>
            <p:ph type="sldNum" idx="22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BB67546-DEE4-4C7B-9C91-E997139D454D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7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9" name="PlaceHolder 3"/>
          <p:cNvSpPr>
            <a:spLocks noGrp="1"/>
          </p:cNvSpPr>
          <p:nvPr>
            <p:ph type="sldNum" idx="22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8ECC81D-836A-44B2-977C-ACF1C690444A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8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2" name="PlaceHolder 3"/>
          <p:cNvSpPr>
            <a:spLocks noGrp="1"/>
          </p:cNvSpPr>
          <p:nvPr>
            <p:ph type="sldNum" idx="22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6CDDD8D-11E9-462F-B4C5-B4C04268D727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8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5" name="PlaceHolder 3"/>
          <p:cNvSpPr>
            <a:spLocks noGrp="1"/>
          </p:cNvSpPr>
          <p:nvPr>
            <p:ph type="sldNum" idx="22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9CE933D-96A5-4904-982E-0617A5012092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8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8" name="PlaceHolder 3"/>
          <p:cNvSpPr>
            <a:spLocks noGrp="1"/>
          </p:cNvSpPr>
          <p:nvPr>
            <p:ph type="sldNum" idx="22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55D92EE-4020-4476-8B45-E80273C58FFF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9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1" name="PlaceHolder 3"/>
          <p:cNvSpPr>
            <a:spLocks noGrp="1"/>
          </p:cNvSpPr>
          <p:nvPr>
            <p:ph type="sldNum" idx="23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B89E4B3-84DC-448B-B4D4-7C7B3C377E25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9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4" name="PlaceHolder 3"/>
          <p:cNvSpPr>
            <a:spLocks noGrp="1"/>
          </p:cNvSpPr>
          <p:nvPr>
            <p:ph type="sldNum" idx="23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BE33359-01CE-4387-8DCA-C0B81FAF54C8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9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7" name="PlaceHolder 3"/>
          <p:cNvSpPr>
            <a:spLocks noGrp="1"/>
          </p:cNvSpPr>
          <p:nvPr>
            <p:ph type="sldNum" idx="23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08D95B8-A219-4BF9-89CE-8902FEDB0C22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9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0" name="PlaceHolder 3"/>
          <p:cNvSpPr>
            <a:spLocks noGrp="1"/>
          </p:cNvSpPr>
          <p:nvPr>
            <p:ph type="sldNum" idx="23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21CB947-666F-4216-9D3F-7BEF267DBD98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70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3" name="PlaceHolder 3"/>
          <p:cNvSpPr>
            <a:spLocks noGrp="1"/>
          </p:cNvSpPr>
          <p:nvPr>
            <p:ph type="sldNum" idx="23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A4BA052-C74C-4AA8-8379-BC92B95E012B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70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6" name="PlaceHolder 3"/>
          <p:cNvSpPr>
            <a:spLocks noGrp="1"/>
          </p:cNvSpPr>
          <p:nvPr>
            <p:ph type="sldNum" idx="23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7558592-6DD4-48E6-88BC-D555BCD00D3C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70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9" name="PlaceHolder 3"/>
          <p:cNvSpPr>
            <a:spLocks noGrp="1"/>
          </p:cNvSpPr>
          <p:nvPr>
            <p:ph type="sldNum" idx="23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1B89CDC-D846-4378-93F3-B180B3F0DB87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71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2" name="PlaceHolder 3"/>
          <p:cNvSpPr>
            <a:spLocks noGrp="1"/>
          </p:cNvSpPr>
          <p:nvPr>
            <p:ph type="sldNum" idx="23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5C814E2-60B1-4AFC-9279-FB79206C2B5D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71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5" name="PlaceHolder 3"/>
          <p:cNvSpPr>
            <a:spLocks noGrp="1"/>
          </p:cNvSpPr>
          <p:nvPr>
            <p:ph type="sldNum" idx="23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1925E1B-6201-413C-9655-CFD5E1B0BCA2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71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8" name="PlaceHolder 3"/>
          <p:cNvSpPr>
            <a:spLocks noGrp="1"/>
          </p:cNvSpPr>
          <p:nvPr>
            <p:ph type="sldNum" idx="23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6C8FD90-4422-405A-9E4B-8AF39FD9E3AA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72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1" name="PlaceHolder 3"/>
          <p:cNvSpPr>
            <a:spLocks noGrp="1"/>
          </p:cNvSpPr>
          <p:nvPr>
            <p:ph type="sldNum" idx="24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0379F57-11EA-4D16-846F-2C4F0CE8C40D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72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4" name="PlaceHolder 3"/>
          <p:cNvSpPr>
            <a:spLocks noGrp="1"/>
          </p:cNvSpPr>
          <p:nvPr>
            <p:ph type="sldNum" idx="24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063CFBD-3E15-4FAD-BD20-5E90D6635A3E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72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7" name="PlaceHolder 3"/>
          <p:cNvSpPr>
            <a:spLocks noGrp="1"/>
          </p:cNvSpPr>
          <p:nvPr>
            <p:ph type="sldNum" idx="24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DD085C6-C46A-4153-9EF4-0FAAAF69B751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72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0" name="PlaceHolder 3"/>
          <p:cNvSpPr>
            <a:spLocks noGrp="1"/>
          </p:cNvSpPr>
          <p:nvPr>
            <p:ph type="sldNum" idx="24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95589BA-5603-47D8-A02D-EFC97C6A7288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73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3" name="PlaceHolder 3"/>
          <p:cNvSpPr>
            <a:spLocks noGrp="1"/>
          </p:cNvSpPr>
          <p:nvPr>
            <p:ph type="sldNum" idx="24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57AB45A-C73D-4C55-9F4D-F6953E8EBF93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73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6" name="PlaceHolder 3"/>
          <p:cNvSpPr>
            <a:spLocks noGrp="1"/>
          </p:cNvSpPr>
          <p:nvPr>
            <p:ph type="sldNum" idx="24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8A2BC9D-326C-4AC6-BD3F-63CE459C9147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73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9" name="PlaceHolder 3"/>
          <p:cNvSpPr>
            <a:spLocks noGrp="1"/>
          </p:cNvSpPr>
          <p:nvPr>
            <p:ph type="sldNum" idx="24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D46311C-2465-435E-BCDD-FF42858424B7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74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2" name="PlaceHolder 3"/>
          <p:cNvSpPr>
            <a:spLocks noGrp="1"/>
          </p:cNvSpPr>
          <p:nvPr>
            <p:ph type="sldNum" idx="24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1F4A1D9-D31C-4851-88FD-429162A63F21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74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5" name="PlaceHolder 3"/>
          <p:cNvSpPr>
            <a:spLocks noGrp="1"/>
          </p:cNvSpPr>
          <p:nvPr>
            <p:ph type="sldNum" idx="24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9E20257-9F25-41B8-9374-A1E162A0EF92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74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8" name="PlaceHolder 3"/>
          <p:cNvSpPr>
            <a:spLocks noGrp="1"/>
          </p:cNvSpPr>
          <p:nvPr>
            <p:ph type="sldNum" idx="24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43FA425-DCA2-4531-A038-7A1F922EB8DC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75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1" name="PlaceHolder 3"/>
          <p:cNvSpPr>
            <a:spLocks noGrp="1"/>
          </p:cNvSpPr>
          <p:nvPr>
            <p:ph type="sldNum" idx="25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B538C09-F699-4D22-A946-9BC74DA48357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75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4" name="PlaceHolder 3"/>
          <p:cNvSpPr>
            <a:spLocks noGrp="1"/>
          </p:cNvSpPr>
          <p:nvPr>
            <p:ph type="sldNum" idx="25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39EBB9E-0D91-4947-8C86-374C6326BFAD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75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7" name="PlaceHolder 3"/>
          <p:cNvSpPr>
            <a:spLocks noGrp="1"/>
          </p:cNvSpPr>
          <p:nvPr>
            <p:ph type="sldNum" idx="25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FB888FA-820D-4E04-A6A5-97204320D698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75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0" name="PlaceHolder 3"/>
          <p:cNvSpPr>
            <a:spLocks noGrp="1"/>
          </p:cNvSpPr>
          <p:nvPr>
            <p:ph type="sldNum" idx="25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79C8793-C115-48DB-B76A-076F817AFA6B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76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3" name="PlaceHolder 3"/>
          <p:cNvSpPr>
            <a:spLocks noGrp="1"/>
          </p:cNvSpPr>
          <p:nvPr>
            <p:ph type="sldNum" idx="25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2CDEF19-4858-456D-A1C8-8C208CDEE219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76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6" name="PlaceHolder 3"/>
          <p:cNvSpPr>
            <a:spLocks noGrp="1"/>
          </p:cNvSpPr>
          <p:nvPr>
            <p:ph type="sldNum" idx="25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AD58944-9BE2-4A59-9150-2641AE0A1D51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76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9" name="PlaceHolder 3"/>
          <p:cNvSpPr>
            <a:spLocks noGrp="1"/>
          </p:cNvSpPr>
          <p:nvPr>
            <p:ph type="sldNum" idx="25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34FE1AE-1652-4845-8C57-A91B9F4F2E01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77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2" name="PlaceHolder 3"/>
          <p:cNvSpPr>
            <a:spLocks noGrp="1"/>
          </p:cNvSpPr>
          <p:nvPr>
            <p:ph type="sldNum" idx="25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731436E-6E69-467E-ACF0-DF50CC590BF0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77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5" name="PlaceHolder 3"/>
          <p:cNvSpPr>
            <a:spLocks noGrp="1"/>
          </p:cNvSpPr>
          <p:nvPr>
            <p:ph type="sldNum" idx="25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ABE18E9-A91F-4E80-A82B-C940E2A6F0AE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77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8" name="PlaceHolder 3"/>
          <p:cNvSpPr>
            <a:spLocks noGrp="1"/>
          </p:cNvSpPr>
          <p:nvPr>
            <p:ph type="sldNum" idx="25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B40AF6B-6658-4816-BBA0-11475457B063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78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1" name="PlaceHolder 3"/>
          <p:cNvSpPr>
            <a:spLocks noGrp="1"/>
          </p:cNvSpPr>
          <p:nvPr>
            <p:ph type="sldNum" idx="26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1DC88BD-E2EF-41D9-8403-2BA61469E4BC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78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4" name="PlaceHolder 3"/>
          <p:cNvSpPr>
            <a:spLocks noGrp="1"/>
          </p:cNvSpPr>
          <p:nvPr>
            <p:ph type="sldNum" idx="26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309678E-A730-4AD7-B9D4-544B1A241BF2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78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7" name="PlaceHolder 3"/>
          <p:cNvSpPr>
            <a:spLocks noGrp="1"/>
          </p:cNvSpPr>
          <p:nvPr>
            <p:ph type="sldNum" idx="26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24E5E59-4109-4927-929A-F22A536E0A1C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78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0" name="PlaceHolder 3"/>
          <p:cNvSpPr>
            <a:spLocks noGrp="1"/>
          </p:cNvSpPr>
          <p:nvPr>
            <p:ph type="sldNum" idx="26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3444CE6-FAA1-4600-A7EA-8A6892244AA1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79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3" name="PlaceHolder 3"/>
          <p:cNvSpPr>
            <a:spLocks noGrp="1"/>
          </p:cNvSpPr>
          <p:nvPr>
            <p:ph type="sldNum" idx="26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A640C42-B996-4338-9DF8-3AA02A89C1E8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79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6" name="PlaceHolder 3"/>
          <p:cNvSpPr>
            <a:spLocks noGrp="1"/>
          </p:cNvSpPr>
          <p:nvPr>
            <p:ph type="sldNum" idx="26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7AF0B4F-265C-4BAB-9925-5199947AED37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79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9" name="PlaceHolder 3"/>
          <p:cNvSpPr>
            <a:spLocks noGrp="1"/>
          </p:cNvSpPr>
          <p:nvPr>
            <p:ph type="sldNum" idx="26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24FF748-E819-4B73-B5EB-377EFB209CF1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80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2" name="PlaceHolder 3"/>
          <p:cNvSpPr>
            <a:spLocks noGrp="1"/>
          </p:cNvSpPr>
          <p:nvPr>
            <p:ph type="sldNum" idx="26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9A90F40-569C-40D4-97CA-8D4C7C7BCC55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80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5" name="PlaceHolder 3"/>
          <p:cNvSpPr>
            <a:spLocks noGrp="1"/>
          </p:cNvSpPr>
          <p:nvPr>
            <p:ph type="sldNum" idx="26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FE4ED04-3A77-40D2-8070-69EB42FFCFAE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80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8" name="PlaceHolder 3"/>
          <p:cNvSpPr>
            <a:spLocks noGrp="1"/>
          </p:cNvSpPr>
          <p:nvPr>
            <p:ph type="sldNum" idx="26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8F6D2B2-A45D-498E-8700-73B4595E8584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81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1" name="PlaceHolder 3"/>
          <p:cNvSpPr>
            <a:spLocks noGrp="1"/>
          </p:cNvSpPr>
          <p:nvPr>
            <p:ph type="sldNum" idx="27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6A06D42-CACE-4F7D-8048-58DF866CE0E4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81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4" name="PlaceHolder 3"/>
          <p:cNvSpPr>
            <a:spLocks noGrp="1"/>
          </p:cNvSpPr>
          <p:nvPr>
            <p:ph type="sldNum" idx="27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E591D7B-9886-42FA-9544-C293DA40BC34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81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7" name="PlaceHolder 3"/>
          <p:cNvSpPr>
            <a:spLocks noGrp="1"/>
          </p:cNvSpPr>
          <p:nvPr>
            <p:ph type="sldNum" idx="27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8D7031A-D413-46F8-AF6F-31FF858E819D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81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0" name="PlaceHolder 3"/>
          <p:cNvSpPr>
            <a:spLocks noGrp="1"/>
          </p:cNvSpPr>
          <p:nvPr>
            <p:ph type="sldNum" idx="27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3A9DF98-C22B-44BA-9E45-E75C12E80CF8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82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3" name="PlaceHolder 3"/>
          <p:cNvSpPr>
            <a:spLocks noGrp="1"/>
          </p:cNvSpPr>
          <p:nvPr>
            <p:ph type="sldNum" idx="27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209C8ED-E608-4995-9B4E-6E2892481272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82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6" name="PlaceHolder 3"/>
          <p:cNvSpPr>
            <a:spLocks noGrp="1"/>
          </p:cNvSpPr>
          <p:nvPr>
            <p:ph type="sldNum" idx="27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56EEEAF-1F29-4602-97A3-9680116976E1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82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9" name="PlaceHolder 3"/>
          <p:cNvSpPr>
            <a:spLocks noGrp="1"/>
          </p:cNvSpPr>
          <p:nvPr>
            <p:ph type="sldNum" idx="27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39AAF05-B997-4FDB-9100-5308AD0EB547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83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2" name="PlaceHolder 3"/>
          <p:cNvSpPr>
            <a:spLocks noGrp="1"/>
          </p:cNvSpPr>
          <p:nvPr>
            <p:ph type="sldNum" idx="27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330DDF4-00A5-4094-A170-E072E325EAE4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83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5" name="PlaceHolder 3"/>
          <p:cNvSpPr>
            <a:spLocks noGrp="1"/>
          </p:cNvSpPr>
          <p:nvPr>
            <p:ph type="sldNum" idx="27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4737594-B66B-4D50-BDF2-4F35711D772C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83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8" name="PlaceHolder 3"/>
          <p:cNvSpPr>
            <a:spLocks noGrp="1"/>
          </p:cNvSpPr>
          <p:nvPr>
            <p:ph type="sldNum" idx="27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0C06337-BDA0-4FF6-A902-106AA30B6880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84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1" name="PlaceHolder 3"/>
          <p:cNvSpPr>
            <a:spLocks noGrp="1"/>
          </p:cNvSpPr>
          <p:nvPr>
            <p:ph type="sldNum" idx="28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717C390-4237-49B3-B16B-06B970EA7400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84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4" name="PlaceHolder 3"/>
          <p:cNvSpPr>
            <a:spLocks noGrp="1"/>
          </p:cNvSpPr>
          <p:nvPr>
            <p:ph type="sldNum" idx="28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14E4022-6A77-443D-A4C0-3824C4118ED5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84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7" name="PlaceHolder 3"/>
          <p:cNvSpPr>
            <a:spLocks noGrp="1"/>
          </p:cNvSpPr>
          <p:nvPr>
            <p:ph type="sldNum" idx="28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6BE6CA4-5FE3-4BFB-8CBA-C795DF1686AD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84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0" name="PlaceHolder 3"/>
          <p:cNvSpPr>
            <a:spLocks noGrp="1"/>
          </p:cNvSpPr>
          <p:nvPr>
            <p:ph type="sldNum" idx="28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3B131A5-4593-43E9-A2EC-59E4D07204B1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85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3" name="PlaceHolder 3"/>
          <p:cNvSpPr>
            <a:spLocks noGrp="1"/>
          </p:cNvSpPr>
          <p:nvPr>
            <p:ph type="sldNum" idx="28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55C4277-1D8F-4671-A48E-CAA324EC446E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85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6" name="PlaceHolder 3"/>
          <p:cNvSpPr>
            <a:spLocks noGrp="1"/>
          </p:cNvSpPr>
          <p:nvPr>
            <p:ph type="sldNum" idx="28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F3ABF7D-85CF-42F1-9262-9C7708EBDCDB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85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9" name="PlaceHolder 3"/>
          <p:cNvSpPr>
            <a:spLocks noGrp="1"/>
          </p:cNvSpPr>
          <p:nvPr>
            <p:ph type="sldNum" idx="28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6F80782-1EA4-47A1-989E-F1EC0C26948C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86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2" name="PlaceHolder 3"/>
          <p:cNvSpPr>
            <a:spLocks noGrp="1"/>
          </p:cNvSpPr>
          <p:nvPr>
            <p:ph type="sldNum" idx="28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EC8BEA1-633B-4339-A68C-602BD0D99E03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86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5" name="PlaceHolder 3"/>
          <p:cNvSpPr>
            <a:spLocks noGrp="1"/>
          </p:cNvSpPr>
          <p:nvPr>
            <p:ph type="sldNum" idx="28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5A17FC2-69C3-4FA6-A566-CD2C506F70A7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86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8" name="PlaceHolder 3"/>
          <p:cNvSpPr>
            <a:spLocks noGrp="1"/>
          </p:cNvSpPr>
          <p:nvPr>
            <p:ph type="sldNum" idx="28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C55FB92-65D4-46A3-9DB5-720E2FFD3314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9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87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1" name="PlaceHolder 3"/>
          <p:cNvSpPr>
            <a:spLocks noGrp="1"/>
          </p:cNvSpPr>
          <p:nvPr>
            <p:ph type="sldNum" idx="29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CAD9613-8B1F-4FD2-B98D-827C7EFAA1FC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9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87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4" name="PlaceHolder 3"/>
          <p:cNvSpPr>
            <a:spLocks noGrp="1"/>
          </p:cNvSpPr>
          <p:nvPr>
            <p:ph type="sldNum" idx="29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DCFBE18-CBF7-4F64-8A05-939157EDF36B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9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87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7" name="PlaceHolder 3"/>
          <p:cNvSpPr>
            <a:spLocks noGrp="1"/>
          </p:cNvSpPr>
          <p:nvPr>
            <p:ph type="sldNum" idx="29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5040E39-AFFC-4520-8608-C2E20494617E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9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87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0" name="PlaceHolder 3"/>
          <p:cNvSpPr>
            <a:spLocks noGrp="1"/>
          </p:cNvSpPr>
          <p:nvPr>
            <p:ph type="sldNum" idx="29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68C0B49-DB31-4C89-98CC-6CD881B42AF2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9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88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3" name="PlaceHolder 3"/>
          <p:cNvSpPr>
            <a:spLocks noGrp="1"/>
          </p:cNvSpPr>
          <p:nvPr>
            <p:ph type="sldNum" idx="29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409B03A-4425-419E-876C-CE4B163FD7D0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9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88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6" name="PlaceHolder 3"/>
          <p:cNvSpPr>
            <a:spLocks noGrp="1"/>
          </p:cNvSpPr>
          <p:nvPr>
            <p:ph type="sldNum" idx="29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EE2FD02-C7A3-4124-B5D8-BC1240428045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9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88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9" name="PlaceHolder 3"/>
          <p:cNvSpPr>
            <a:spLocks noGrp="1"/>
          </p:cNvSpPr>
          <p:nvPr>
            <p:ph type="sldNum" idx="29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4DB52EA-D905-44BF-AA65-2E069305F187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9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89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2" name="PlaceHolder 3"/>
          <p:cNvSpPr>
            <a:spLocks noGrp="1"/>
          </p:cNvSpPr>
          <p:nvPr>
            <p:ph type="sldNum" idx="29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0C8B2E2-906B-49CE-B089-3FD74F439E3B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9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89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5" name="PlaceHolder 3"/>
          <p:cNvSpPr>
            <a:spLocks noGrp="1"/>
          </p:cNvSpPr>
          <p:nvPr>
            <p:ph type="sldNum" idx="29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CFE20F2-9530-4095-A755-FD1D77639737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9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89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8" name="PlaceHolder 3"/>
          <p:cNvSpPr>
            <a:spLocks noGrp="1"/>
          </p:cNvSpPr>
          <p:nvPr>
            <p:ph type="sldNum" idx="29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D1FDD61-9F94-40B3-8593-3F0F612619B6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0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90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1" name="PlaceHolder 3"/>
          <p:cNvSpPr>
            <a:spLocks noGrp="1"/>
          </p:cNvSpPr>
          <p:nvPr>
            <p:ph type="sldNum" idx="30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EC88228-3C95-45AF-A2BC-847C3E2FAD2A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0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90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4" name="PlaceHolder 3"/>
          <p:cNvSpPr>
            <a:spLocks noGrp="1"/>
          </p:cNvSpPr>
          <p:nvPr>
            <p:ph type="sldNum" idx="30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96FFDF7-92E7-4343-A3E1-2709FD4D6517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0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90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7" name="PlaceHolder 3"/>
          <p:cNvSpPr>
            <a:spLocks noGrp="1"/>
          </p:cNvSpPr>
          <p:nvPr>
            <p:ph type="sldNum" idx="30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65DB311-D663-4CD1-9F96-056EF329841C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0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90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0" name="PlaceHolder 3"/>
          <p:cNvSpPr>
            <a:spLocks noGrp="1"/>
          </p:cNvSpPr>
          <p:nvPr>
            <p:ph type="sldNum" idx="30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4053AFE-B70B-4442-B76D-C90007EC76E6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0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91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3" name="PlaceHolder 3"/>
          <p:cNvSpPr>
            <a:spLocks noGrp="1"/>
          </p:cNvSpPr>
          <p:nvPr>
            <p:ph type="sldNum" idx="30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1C35006-0343-4947-8416-82AA0AE4393B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0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91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6" name="PlaceHolder 3"/>
          <p:cNvSpPr>
            <a:spLocks noGrp="1"/>
          </p:cNvSpPr>
          <p:nvPr>
            <p:ph type="sldNum" idx="30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19F6F5C-3549-441D-90D6-684263391DD8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0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91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9" name="PlaceHolder 3"/>
          <p:cNvSpPr>
            <a:spLocks noGrp="1"/>
          </p:cNvSpPr>
          <p:nvPr>
            <p:ph type="sldNum" idx="30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A9828A8-42F7-4804-BA7B-BECBBDCB8282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0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92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2" name="PlaceHolder 3"/>
          <p:cNvSpPr>
            <a:spLocks noGrp="1"/>
          </p:cNvSpPr>
          <p:nvPr>
            <p:ph type="sldNum" idx="30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F081B89-3630-4690-B42F-7933529BEE3F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0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92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5" name="PlaceHolder 3"/>
          <p:cNvSpPr>
            <a:spLocks noGrp="1"/>
          </p:cNvSpPr>
          <p:nvPr>
            <p:ph type="sldNum" idx="30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9888CB3-C1C1-4D2D-BA98-FA4582A4EEB3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0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92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8" name="PlaceHolder 3"/>
          <p:cNvSpPr>
            <a:spLocks noGrp="1"/>
          </p:cNvSpPr>
          <p:nvPr>
            <p:ph type="sldNum" idx="30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12E4F3C-30BD-4725-BB90-D48680F6AD68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93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1" name="PlaceHolder 3"/>
          <p:cNvSpPr>
            <a:spLocks noGrp="1"/>
          </p:cNvSpPr>
          <p:nvPr>
            <p:ph type="sldNum" idx="3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566BAEF-26C9-4385-9DA9-2C3F453068B2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93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4" name="PlaceHolder 3"/>
          <p:cNvSpPr>
            <a:spLocks noGrp="1"/>
          </p:cNvSpPr>
          <p:nvPr>
            <p:ph type="sldNum" idx="3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C8D0259-34B9-4AC3-BEDD-B3962270B615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93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7" name="PlaceHolder 3"/>
          <p:cNvSpPr>
            <a:spLocks noGrp="1"/>
          </p:cNvSpPr>
          <p:nvPr>
            <p:ph type="sldNum" idx="31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7943673-CE1A-410B-B495-0398D7972CCF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93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0" name="PlaceHolder 3"/>
          <p:cNvSpPr>
            <a:spLocks noGrp="1"/>
          </p:cNvSpPr>
          <p:nvPr>
            <p:ph type="sldNum" idx="31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D06975B-809C-445F-A1C2-CE5C62568A36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94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3" name="PlaceHolder 3"/>
          <p:cNvSpPr>
            <a:spLocks noGrp="1"/>
          </p:cNvSpPr>
          <p:nvPr>
            <p:ph type="sldNum" idx="31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8200C6C-DC33-42E4-BA06-C774D702D48F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94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6" name="PlaceHolder 3"/>
          <p:cNvSpPr>
            <a:spLocks noGrp="1"/>
          </p:cNvSpPr>
          <p:nvPr>
            <p:ph type="sldNum" idx="31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36507CF-034F-4CCE-84BB-987645541276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1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94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9" name="PlaceHolder 3"/>
          <p:cNvSpPr>
            <a:spLocks noGrp="1"/>
          </p:cNvSpPr>
          <p:nvPr>
            <p:ph type="sldNum" idx="31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A5D1257-E4B8-4AB4-AEFE-B277E70011C9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1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95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2" name="PlaceHolder 3"/>
          <p:cNvSpPr>
            <a:spLocks noGrp="1"/>
          </p:cNvSpPr>
          <p:nvPr>
            <p:ph type="sldNum" idx="31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918165A-88FB-41BF-8473-345AB6CCF76B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1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95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5" name="PlaceHolder 3"/>
          <p:cNvSpPr>
            <a:spLocks noGrp="1"/>
          </p:cNvSpPr>
          <p:nvPr>
            <p:ph type="sldNum" idx="31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9BEFED8-C2FD-4094-BD57-5AF097E7F50F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1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95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8" name="PlaceHolder 3"/>
          <p:cNvSpPr>
            <a:spLocks noGrp="1"/>
          </p:cNvSpPr>
          <p:nvPr>
            <p:ph type="sldNum" idx="31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A91420E-898F-49A1-8BF5-3306936175B9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2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96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1" name="PlaceHolder 3"/>
          <p:cNvSpPr>
            <a:spLocks noGrp="1"/>
          </p:cNvSpPr>
          <p:nvPr>
            <p:ph type="sldNum" idx="32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B759531-4DDC-4A0C-B677-F3BA7F00E92B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2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96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4" name="PlaceHolder 3"/>
          <p:cNvSpPr>
            <a:spLocks noGrp="1"/>
          </p:cNvSpPr>
          <p:nvPr>
            <p:ph type="sldNum" idx="32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B9CEE08-2B41-4260-A8C9-B86CE17202B3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2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96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7" name="PlaceHolder 3"/>
          <p:cNvSpPr>
            <a:spLocks noGrp="1"/>
          </p:cNvSpPr>
          <p:nvPr>
            <p:ph type="sldNum" idx="32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20D692A-7BEA-456D-8F4A-DEDD6782768C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2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96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0" name="PlaceHolder 3"/>
          <p:cNvSpPr>
            <a:spLocks noGrp="1"/>
          </p:cNvSpPr>
          <p:nvPr>
            <p:ph type="sldNum" idx="32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91C5829-4C8A-430B-ACFE-2A7BF34E7F0F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2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97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3" name="PlaceHolder 3"/>
          <p:cNvSpPr>
            <a:spLocks noGrp="1"/>
          </p:cNvSpPr>
          <p:nvPr>
            <p:ph type="sldNum" idx="32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9DEAB87-00C7-46BA-9D1E-02DCDAFE5132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2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97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6" name="PlaceHolder 3"/>
          <p:cNvSpPr>
            <a:spLocks noGrp="1"/>
          </p:cNvSpPr>
          <p:nvPr>
            <p:ph type="sldNum" idx="32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C65D387-3956-486D-B32D-4397C04E0994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2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97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9" name="PlaceHolder 3"/>
          <p:cNvSpPr>
            <a:spLocks noGrp="1"/>
          </p:cNvSpPr>
          <p:nvPr>
            <p:ph type="sldNum" idx="32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10F74B6-03F0-4B18-A3B1-F9D0F95C8940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2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98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2" name="PlaceHolder 3"/>
          <p:cNvSpPr>
            <a:spLocks noGrp="1"/>
          </p:cNvSpPr>
          <p:nvPr>
            <p:ph type="sldNum" idx="32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DD58430-10D8-41DC-957D-7E172550CC71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2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98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5" name="PlaceHolder 3"/>
          <p:cNvSpPr>
            <a:spLocks noGrp="1"/>
          </p:cNvSpPr>
          <p:nvPr>
            <p:ph type="sldNum" idx="32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A019747-31F9-474C-B9B0-C267C15C925B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2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98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8" name="PlaceHolder 3"/>
          <p:cNvSpPr>
            <a:spLocks noGrp="1"/>
          </p:cNvSpPr>
          <p:nvPr>
            <p:ph type="sldNum" idx="32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DA27948-9BAA-4CFA-9D1A-D58EBD457951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3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99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1" name="PlaceHolder 3"/>
          <p:cNvSpPr>
            <a:spLocks noGrp="1"/>
          </p:cNvSpPr>
          <p:nvPr>
            <p:ph type="sldNum" idx="33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0E97477-BC7E-4C8A-8ADB-4DECF715B7A7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3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99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4" name="PlaceHolder 3"/>
          <p:cNvSpPr>
            <a:spLocks noGrp="1"/>
          </p:cNvSpPr>
          <p:nvPr>
            <p:ph type="sldNum" idx="33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6A9E994-866F-47E1-AE33-F292ADBF6329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3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99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7" name="PlaceHolder 3"/>
          <p:cNvSpPr>
            <a:spLocks noGrp="1"/>
          </p:cNvSpPr>
          <p:nvPr>
            <p:ph type="sldNum" idx="33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6E8EC51-B6BC-43C5-8AA6-215D7FF4D105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3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99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0" name="PlaceHolder 3"/>
          <p:cNvSpPr>
            <a:spLocks noGrp="1"/>
          </p:cNvSpPr>
          <p:nvPr>
            <p:ph type="sldNum" idx="33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7B961F5-B914-4926-8425-EE8A0459992C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3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00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3" name="PlaceHolder 3"/>
          <p:cNvSpPr>
            <a:spLocks noGrp="1"/>
          </p:cNvSpPr>
          <p:nvPr>
            <p:ph type="sldNum" idx="33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DF35C21-7B8E-4DBD-BE8A-3EDEFDF07554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3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00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6" name="PlaceHolder 3"/>
          <p:cNvSpPr>
            <a:spLocks noGrp="1"/>
          </p:cNvSpPr>
          <p:nvPr>
            <p:ph type="sldNum" idx="33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1DE6C67-B3EE-428C-99B2-7A28DC974B7E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3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00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9" name="PlaceHolder 3"/>
          <p:cNvSpPr>
            <a:spLocks noGrp="1"/>
          </p:cNvSpPr>
          <p:nvPr>
            <p:ph type="sldNum" idx="33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22E3DDC-3E8F-43A9-8420-D0E076B3FB60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3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01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2" name="PlaceHolder 3"/>
          <p:cNvSpPr>
            <a:spLocks noGrp="1"/>
          </p:cNvSpPr>
          <p:nvPr>
            <p:ph type="sldNum" idx="33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0074542-B268-47A7-BC14-3D85CECF121C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3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01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5" name="PlaceHolder 3"/>
          <p:cNvSpPr>
            <a:spLocks noGrp="1"/>
          </p:cNvSpPr>
          <p:nvPr>
            <p:ph type="sldNum" idx="33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EB3AED7-CAF8-4492-A1F9-99737C92C3E9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3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01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8" name="PlaceHolder 3"/>
          <p:cNvSpPr>
            <a:spLocks noGrp="1"/>
          </p:cNvSpPr>
          <p:nvPr>
            <p:ph type="sldNum" idx="33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529C66C-398E-45FB-845A-BD8639A4E13C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4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02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1" name="PlaceHolder 3"/>
          <p:cNvSpPr>
            <a:spLocks noGrp="1"/>
          </p:cNvSpPr>
          <p:nvPr>
            <p:ph type="sldNum" idx="34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3DA2857-DF8A-4374-B265-F63298C90578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4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02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4" name="PlaceHolder 3"/>
          <p:cNvSpPr>
            <a:spLocks noGrp="1"/>
          </p:cNvSpPr>
          <p:nvPr>
            <p:ph type="sldNum" idx="34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A17DCA5-9021-43A3-AA41-99A32C12DC41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4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02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7" name="PlaceHolder 3"/>
          <p:cNvSpPr>
            <a:spLocks noGrp="1"/>
          </p:cNvSpPr>
          <p:nvPr>
            <p:ph type="sldNum" idx="34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D0AD9DA-2B7C-462D-AE73-539C95629E8B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4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02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0" name="PlaceHolder 3"/>
          <p:cNvSpPr>
            <a:spLocks noGrp="1"/>
          </p:cNvSpPr>
          <p:nvPr>
            <p:ph type="sldNum" idx="34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63BC69A-4B87-4E58-A89D-D2274E684ECC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4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03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3" name="PlaceHolder 3"/>
          <p:cNvSpPr>
            <a:spLocks noGrp="1"/>
          </p:cNvSpPr>
          <p:nvPr>
            <p:ph type="sldNum" idx="34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864E0FF-16CB-4FF7-9AAA-8720E664017A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4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03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6" name="PlaceHolder 3"/>
          <p:cNvSpPr>
            <a:spLocks noGrp="1"/>
          </p:cNvSpPr>
          <p:nvPr>
            <p:ph type="sldNum" idx="34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F7CF60C-98ED-4985-857F-826355B5E9BA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4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03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9" name="PlaceHolder 3"/>
          <p:cNvSpPr>
            <a:spLocks noGrp="1"/>
          </p:cNvSpPr>
          <p:nvPr>
            <p:ph type="sldNum" idx="34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38AB85A-D1C8-4B4A-8A89-5697A445D01E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4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04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2" name="PlaceHolder 3"/>
          <p:cNvSpPr>
            <a:spLocks noGrp="1"/>
          </p:cNvSpPr>
          <p:nvPr>
            <p:ph type="sldNum" idx="34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4299B31-0B43-4E19-9118-D4A6F3EB9ACD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4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04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5" name="PlaceHolder 3"/>
          <p:cNvSpPr>
            <a:spLocks noGrp="1"/>
          </p:cNvSpPr>
          <p:nvPr>
            <p:ph type="sldNum" idx="34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89BD1A7-1EAA-44E8-91A3-0EC2EB2939D8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4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04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8" name="PlaceHolder 3"/>
          <p:cNvSpPr>
            <a:spLocks noGrp="1"/>
          </p:cNvSpPr>
          <p:nvPr>
            <p:ph type="sldNum" idx="34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9A2E447-343E-4A6B-93D7-C40ADA3F3FDE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5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05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1" name="PlaceHolder 3"/>
          <p:cNvSpPr>
            <a:spLocks noGrp="1"/>
          </p:cNvSpPr>
          <p:nvPr>
            <p:ph type="sldNum" idx="35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DDFC451-122E-4283-89ED-FD28803D65A5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5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05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4" name="PlaceHolder 3"/>
          <p:cNvSpPr>
            <a:spLocks noGrp="1"/>
          </p:cNvSpPr>
          <p:nvPr>
            <p:ph type="sldNum" idx="35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32A04A4-C952-4238-BDDE-CFB5E32AA715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5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05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7" name="PlaceHolder 3"/>
          <p:cNvSpPr>
            <a:spLocks noGrp="1"/>
          </p:cNvSpPr>
          <p:nvPr>
            <p:ph type="sldNum" idx="35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100BA16-0AAE-46E7-8071-431223C8F7DB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5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05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0" name="PlaceHolder 3"/>
          <p:cNvSpPr>
            <a:spLocks noGrp="1"/>
          </p:cNvSpPr>
          <p:nvPr>
            <p:ph type="sldNum" idx="35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22FF3BA-3447-4589-ADDF-1C12F2223D1F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5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06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3" name="PlaceHolder 3"/>
          <p:cNvSpPr>
            <a:spLocks noGrp="1"/>
          </p:cNvSpPr>
          <p:nvPr>
            <p:ph type="sldNum" idx="35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2AC18EC-D52E-4AB2-BFB6-8CCE220F81E5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5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06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6" name="PlaceHolder 3"/>
          <p:cNvSpPr>
            <a:spLocks noGrp="1"/>
          </p:cNvSpPr>
          <p:nvPr>
            <p:ph type="sldNum" idx="35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D032747-AC0F-4681-88F6-689FA0E7A81A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5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06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9" name="PlaceHolder 3"/>
          <p:cNvSpPr>
            <a:spLocks noGrp="1"/>
          </p:cNvSpPr>
          <p:nvPr>
            <p:ph type="sldNum" idx="35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FCB220C-667C-4454-9AA8-1B6D1157C7BE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5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07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2" name="PlaceHolder 3"/>
          <p:cNvSpPr>
            <a:spLocks noGrp="1"/>
          </p:cNvSpPr>
          <p:nvPr>
            <p:ph type="sldNum" idx="35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97EED57-BC99-4D38-A1DB-BFBBDD13BF56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5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07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5" name="PlaceHolder 3"/>
          <p:cNvSpPr>
            <a:spLocks noGrp="1"/>
          </p:cNvSpPr>
          <p:nvPr>
            <p:ph type="sldNum" idx="35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9F096DD-F78A-4252-B8DC-55A2D1265EF1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5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07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8" name="PlaceHolder 3"/>
          <p:cNvSpPr>
            <a:spLocks noGrp="1"/>
          </p:cNvSpPr>
          <p:nvPr>
            <p:ph type="sldNum" idx="35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6E2407A-9F74-4B89-9FAF-4613ABE250EB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6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08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1" name="PlaceHolder 3"/>
          <p:cNvSpPr>
            <a:spLocks noGrp="1"/>
          </p:cNvSpPr>
          <p:nvPr>
            <p:ph type="sldNum" idx="36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CE4F15F-2F6D-40B3-A990-EA94E9BD2360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6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08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4" name="PlaceHolder 3"/>
          <p:cNvSpPr>
            <a:spLocks noGrp="1"/>
          </p:cNvSpPr>
          <p:nvPr>
            <p:ph type="sldNum" idx="36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8D09222-C022-422E-9E02-5F4799F5E355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6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08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7" name="PlaceHolder 3"/>
          <p:cNvSpPr>
            <a:spLocks noGrp="1"/>
          </p:cNvSpPr>
          <p:nvPr>
            <p:ph type="sldNum" idx="36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93EBBC0-0A79-431D-9BB1-2384E0A10247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6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08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0" name="PlaceHolder 3"/>
          <p:cNvSpPr>
            <a:spLocks noGrp="1"/>
          </p:cNvSpPr>
          <p:nvPr>
            <p:ph type="sldNum" idx="36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6B37778-0F7E-423C-B205-AED3500D80EC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6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09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3" name="PlaceHolder 3"/>
          <p:cNvSpPr>
            <a:spLocks noGrp="1"/>
          </p:cNvSpPr>
          <p:nvPr>
            <p:ph type="sldNum" idx="36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5230C76-AFDC-4407-A874-A414BC3AC5A6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6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09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6" name="PlaceHolder 3"/>
          <p:cNvSpPr>
            <a:spLocks noGrp="1"/>
          </p:cNvSpPr>
          <p:nvPr>
            <p:ph type="sldNum" idx="36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E95474F-24CF-475C-96E7-1EE442DDDE28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6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09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9" name="PlaceHolder 3"/>
          <p:cNvSpPr>
            <a:spLocks noGrp="1"/>
          </p:cNvSpPr>
          <p:nvPr>
            <p:ph type="sldNum" idx="36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5CF65EC-A9A4-49E4-B2AF-A9B7F7AEDA52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6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10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2" name="PlaceHolder 3"/>
          <p:cNvSpPr>
            <a:spLocks noGrp="1"/>
          </p:cNvSpPr>
          <p:nvPr>
            <p:ph type="sldNum" idx="36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342FD26-AD3C-4371-BADA-02F8D1A2C35C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6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10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5" name="PlaceHolder 3"/>
          <p:cNvSpPr>
            <a:spLocks noGrp="1"/>
          </p:cNvSpPr>
          <p:nvPr>
            <p:ph type="sldNum" idx="36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9EFFB71-2FB1-411C-8E3B-0775922D6053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6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10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8" name="PlaceHolder 3"/>
          <p:cNvSpPr>
            <a:spLocks noGrp="1"/>
          </p:cNvSpPr>
          <p:nvPr>
            <p:ph type="sldNum" idx="36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ED3F9EE-DF60-492B-995E-30AAEED8ACEB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7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11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1" name="PlaceHolder 3"/>
          <p:cNvSpPr>
            <a:spLocks noGrp="1"/>
          </p:cNvSpPr>
          <p:nvPr>
            <p:ph type="sldNum" idx="37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18162BE-893D-4B82-A703-F664E6E13CC7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7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11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4" name="PlaceHolder 3"/>
          <p:cNvSpPr>
            <a:spLocks noGrp="1"/>
          </p:cNvSpPr>
          <p:nvPr>
            <p:ph type="sldNum" idx="37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195FA99-E35B-4226-9245-20C645658FE8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7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11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7" name="PlaceHolder 3"/>
          <p:cNvSpPr>
            <a:spLocks noGrp="1"/>
          </p:cNvSpPr>
          <p:nvPr>
            <p:ph type="sldNum" idx="37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B630F08-E197-406C-84F2-74B8C0F5B87C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7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11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0" name="PlaceHolder 3"/>
          <p:cNvSpPr>
            <a:spLocks noGrp="1"/>
          </p:cNvSpPr>
          <p:nvPr>
            <p:ph type="sldNum" idx="37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601B16D-A467-46FA-9814-48BBDB0768B1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7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12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3" name="PlaceHolder 3"/>
          <p:cNvSpPr>
            <a:spLocks noGrp="1"/>
          </p:cNvSpPr>
          <p:nvPr>
            <p:ph type="sldNum" idx="37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63C4A79-11B2-4D4F-82AD-3C917B46BCD8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7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12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6" name="PlaceHolder 3"/>
          <p:cNvSpPr>
            <a:spLocks noGrp="1"/>
          </p:cNvSpPr>
          <p:nvPr>
            <p:ph type="sldNum" idx="37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F7F17CF-6342-430C-9674-4C3ABC064707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7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12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9" name="PlaceHolder 3"/>
          <p:cNvSpPr>
            <a:spLocks noGrp="1"/>
          </p:cNvSpPr>
          <p:nvPr>
            <p:ph type="sldNum" idx="37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A4C8B41-2376-4536-9D7D-D74FEAFDEB3A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7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13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2" name="PlaceHolder 3"/>
          <p:cNvSpPr>
            <a:spLocks noGrp="1"/>
          </p:cNvSpPr>
          <p:nvPr>
            <p:ph type="sldNum" idx="37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2E5E275-7CEE-4EB6-9A9D-8C6A34270497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7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13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5" name="PlaceHolder 3"/>
          <p:cNvSpPr>
            <a:spLocks noGrp="1"/>
          </p:cNvSpPr>
          <p:nvPr>
            <p:ph type="sldNum" idx="37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ACD46EF-C754-4CBB-9CA5-D841686F135D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7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13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8" name="PlaceHolder 3"/>
          <p:cNvSpPr>
            <a:spLocks noGrp="1"/>
          </p:cNvSpPr>
          <p:nvPr>
            <p:ph type="sldNum" idx="37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9ED5930-18A4-45C3-BAA4-2391AEE24936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8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14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1" name="PlaceHolder 3"/>
          <p:cNvSpPr>
            <a:spLocks noGrp="1"/>
          </p:cNvSpPr>
          <p:nvPr>
            <p:ph type="sldNum" idx="38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BE811E6-BC5A-48CE-8AC0-8BC3CC3DF872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8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14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4" name="PlaceHolder 3"/>
          <p:cNvSpPr>
            <a:spLocks noGrp="1"/>
          </p:cNvSpPr>
          <p:nvPr>
            <p:ph type="sldNum" idx="38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6F09C19-12F7-4DDD-9D5F-F18722C3C60F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8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14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7" name="PlaceHolder 3"/>
          <p:cNvSpPr>
            <a:spLocks noGrp="1"/>
          </p:cNvSpPr>
          <p:nvPr>
            <p:ph type="sldNum" idx="38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CFE5600-F894-4F43-B552-2CF14429C6DA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8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14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0" name="PlaceHolder 3"/>
          <p:cNvSpPr>
            <a:spLocks noGrp="1"/>
          </p:cNvSpPr>
          <p:nvPr>
            <p:ph type="sldNum" idx="38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EC7A779-8A03-4A07-9027-AF6892C057C0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8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15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3" name="PlaceHolder 3"/>
          <p:cNvSpPr>
            <a:spLocks noGrp="1"/>
          </p:cNvSpPr>
          <p:nvPr>
            <p:ph type="sldNum" idx="38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ACD8AA9-0A0F-4B16-A6D3-3B8B01CAFC07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8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15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6" name="PlaceHolder 3"/>
          <p:cNvSpPr>
            <a:spLocks noGrp="1"/>
          </p:cNvSpPr>
          <p:nvPr>
            <p:ph type="sldNum" idx="38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74EC6DF-637C-4095-B63C-2E4D28B3A0F7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8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15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9" name="PlaceHolder 3"/>
          <p:cNvSpPr>
            <a:spLocks noGrp="1"/>
          </p:cNvSpPr>
          <p:nvPr>
            <p:ph type="sldNum" idx="38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C3C3092-37DF-49C5-9560-4F0D64F854AC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8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16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2" name="PlaceHolder 3"/>
          <p:cNvSpPr>
            <a:spLocks noGrp="1"/>
          </p:cNvSpPr>
          <p:nvPr>
            <p:ph type="sldNum" idx="38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512572F-CF58-4E66-8D58-7B7372720230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8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16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5" name="PlaceHolder 3"/>
          <p:cNvSpPr>
            <a:spLocks noGrp="1"/>
          </p:cNvSpPr>
          <p:nvPr>
            <p:ph type="sldNum" idx="38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A903665-0EF9-4472-95B8-A817087A484A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8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16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8" name="PlaceHolder 3"/>
          <p:cNvSpPr>
            <a:spLocks noGrp="1"/>
          </p:cNvSpPr>
          <p:nvPr>
            <p:ph type="sldNum" idx="38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41A7724-9E71-43AA-8F20-90BDD428AF7D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9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17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1" name="PlaceHolder 3"/>
          <p:cNvSpPr>
            <a:spLocks noGrp="1"/>
          </p:cNvSpPr>
          <p:nvPr>
            <p:ph type="sldNum" idx="39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5D9C19F-5F2D-4D37-B1E2-F39F7D7B5523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9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17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4" name="PlaceHolder 3"/>
          <p:cNvSpPr>
            <a:spLocks noGrp="1"/>
          </p:cNvSpPr>
          <p:nvPr>
            <p:ph type="sldNum" idx="39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28BEBCC-3C7E-4B39-AD6D-CF1399640973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9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17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7" name="PlaceHolder 3"/>
          <p:cNvSpPr>
            <a:spLocks noGrp="1"/>
          </p:cNvSpPr>
          <p:nvPr>
            <p:ph type="sldNum" idx="39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604B945-D614-4B35-8274-EB1A55EDD228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9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17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0" name="PlaceHolder 3"/>
          <p:cNvSpPr>
            <a:spLocks noGrp="1"/>
          </p:cNvSpPr>
          <p:nvPr>
            <p:ph type="sldNum" idx="39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D33AD19-FE1E-48D6-87CA-89236A1FFCD9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9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18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3" name="PlaceHolder 3"/>
          <p:cNvSpPr>
            <a:spLocks noGrp="1"/>
          </p:cNvSpPr>
          <p:nvPr>
            <p:ph type="sldNum" idx="39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409B0E0-64DB-4E12-A17C-6D67329AEF04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9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18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6" name="PlaceHolder 3"/>
          <p:cNvSpPr>
            <a:spLocks noGrp="1"/>
          </p:cNvSpPr>
          <p:nvPr>
            <p:ph type="sldNum" idx="39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B372CD9-0ADA-47D9-9A13-2F1D968F817B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9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18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9" name="PlaceHolder 3"/>
          <p:cNvSpPr>
            <a:spLocks noGrp="1"/>
          </p:cNvSpPr>
          <p:nvPr>
            <p:ph type="sldNum" idx="39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44FCF2F-5DE0-4083-B0B6-43EE7F5F8D63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F6CB88CB-472F-4141-9FC5-F1245067A8C4}" type="slidenum">
              <a:t>&lt;#&gt;</a:t>
            </a:fld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1"/>
          </p:nvPr>
        </p:nvSpPr>
        <p:spPr>
          <a:xfrm>
            <a:off x="0" y="6343560"/>
            <a:ext cx="11810520" cy="22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350" b="0" u="none" strike="noStrike">
                <a:solidFill>
                  <a:srgbClr val="777777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A043E6F-EAE7-4FE4-B86A-D4FE54DA33F4}" type="slidenum">
              <a:rPr lang="en-US" sz="1350" b="0" u="none" strike="noStrike">
                <a:solidFill>
                  <a:srgbClr val="777777"/>
                </a:solidFill>
                <a:effectLst/>
                <a:uFillTx/>
                <a:latin typeface="Calibri"/>
              </a:rPr>
              <a:t>&lt;number&gt;</a:t>
            </a:fld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buNone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
</Relationships>
</file>

<file path=ppt/slides/_rels/slide2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
</Relationships>
</file>

<file path=ppt/slides/_rels/slide2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
</Relationships>
</file>

<file path=ppt/slides/_rels/slide3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
</Relationships>
</file>

<file path=ppt/slides/_rels/slide3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
</Relationships>
</file>

<file path=ppt/slides/_rels/slide3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
</Relationships>
</file>

<file path=ppt/slides/_rels/slide3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
</Relationships>
</file>

<file path=ppt/slides/_rels/slide3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
</Relationships>
</file>

<file path=ppt/slides/_rels/slide3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
</Relationships>
</file>

<file path=ppt/slides/_rels/slide3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
</Relationships>
</file>

<file path=ppt/slides/_rels/slide3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
</Relationships>
</file>

<file path=ppt/slides/_rels/slide3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
</Relationships>
</file>

<file path=ppt/slides/_rels/slide3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
</Relationships>
</file>

<file path=ppt/slides/_rels/slide4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
</Relationships>
</file>

<file path=ppt/slides/_rels/slide4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
</Relationships>
</file>

<file path=ppt/slides/_rels/slide4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
</Relationships>
</file>

<file path=ppt/slides/_rels/slide4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
</Relationships>
</file>

<file path=ppt/slides/_rels/slide4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
</Relationships>
</file>

<file path=ppt/slides/_rels/slide4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
</Relationships>
</file>

<file path=ppt/slides/_rels/slide4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
</Relationships>
</file>

<file path=ppt/slides/_rels/slide4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
</Relationships>
</file>

<file path=ppt/slides/_rels/slide4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
</Relationships>
</file>

<file path=ppt/slides/_rels/slide4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
</Relationships>
</file>

<file path=ppt/slides/_rels/slide5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
</Relationships>
</file>

<file path=ppt/slides/_rels/slide5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
</Relationships>
</file>

<file path=ppt/slides/_rels/slide5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
</Relationships>
</file>

<file path=ppt/slides/_rels/slide5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
</Relationships>
</file>

<file path=ppt/slides/_rels/slide5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
</Relationships>
</file>

<file path=ppt/slides/_rels/slide5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
</Relationships>
</file>

<file path=ppt/slides/_rels/slide5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
</Relationships>
</file>

<file path=ppt/slides/_rels/slide5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
</Relationships>
</file>

<file path=ppt/slides/_rels/slide5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
</Relationships>
</file>

<file path=ppt/slides/_rels/slide5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
</Relationships>
</file>

<file path=ppt/slides/_rels/slide6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
</Relationships>
</file>

<file path=ppt/slides/_rels/slide6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
</Relationships>
</file>

<file path=ppt/slides/_rels/slide6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
</Relationships>
</file>

<file path=ppt/slides/_rels/slide6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
</Relationships>
</file>

<file path=ppt/slides/_rels/slide6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
</Relationships>
</file>

<file path=ppt/slides/_rels/slide6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
</Relationships>
</file>

<file path=ppt/slides/_rels/slide6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
</Relationships>
</file>

<file path=ppt/slides/_rels/slide6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
</Relationships>
</file>

<file path=ppt/slides/_rels/slide6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
</Relationships>
</file>

<file path=ppt/slides/_rels/slide6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
</Relationships>
</file>

<file path=ppt/slides/_rels/slide7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0.xml"/>
</Relationships>
</file>

<file path=ppt/slides/_rels/slide7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1.xml"/>
</Relationships>
</file>

<file path=ppt/slides/_rels/slide7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2.xml"/>
</Relationships>
</file>

<file path=ppt/slides/_rels/slide7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3.xml"/>
</Relationships>
</file>

<file path=ppt/slides/_rels/slide7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4.xml"/>
</Relationships>
</file>

<file path=ppt/slides/_rels/slide7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5.xml"/>
</Relationships>
</file>

<file path=ppt/slides/_rels/slide7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6.xml"/>
</Relationships>
</file>

<file path=ppt/slides/_rels/slide7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7.xml"/>
</Relationships>
</file>

<file path=ppt/slides/_rels/slide7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8.xml"/>
</Relationships>
</file>

<file path=ppt/slides/_rels/slide7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9.xml"/>
</Relationships>
</file>

<file path=ppt/slides/_rels/slide8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0.xml"/>
</Relationships>
</file>

<file path=ppt/slides/_rels/slide8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1.xml"/>
</Relationships>
</file>

<file path=ppt/slides/_rels/slide8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2.xml"/>
</Relationships>
</file>

<file path=ppt/slides/_rels/slide8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3.xml"/>
</Relationships>
</file>

<file path=ppt/slides/_rels/slide8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4.xml"/>
</Relationships>
</file>

<file path=ppt/slides/_rels/slide8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5.xml"/>
</Relationships>
</file>

<file path=ppt/slides/_rels/slide8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6.xml"/>
</Relationships>
</file>

<file path=ppt/slides/_rels/slide8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7.xml"/>
</Relationships>
</file>

<file path=ppt/slides/_rels/slide8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8.xml"/>
</Relationships>
</file>

<file path=ppt/slides/_rels/slide8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9.xml"/>
</Relationships>
</file>

<file path=ppt/slides/_rels/slide9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0.xml"/>
</Relationships>
</file>

<file path=ppt/slides/_rels/slide9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1.xml"/>
</Relationships>
</file>

<file path=ppt/slides/_rels/slide9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2.xml"/>
</Relationships>
</file>

<file path=ppt/slides/_rels/slide9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3.xml"/>
</Relationships>
</file>

<file path=ppt/slides/_rels/slide9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4.xml"/>
</Relationships>
</file>

<file path=ppt/slides/_rels/slide9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5.xml"/>
</Relationships>
</file>

<file path=ppt/slides/_rels/slide9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6.xml"/>
</Relationships>
</file>

<file path=ppt/slides/_rels/slide9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7.xml"/>
</Relationships>
</file>

<file path=ppt/slides/_rels/slide9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8.xml"/>
</Relationships>
</file>

<file path=ppt/slides/_rels/slide9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9.xml"/>
</Relationships>
</file>

<file path=ppt/slides/_rels/slide10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0.xml"/>
</Relationships>
</file>

<file path=ppt/slides/_rels/slide10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1.xml"/>
</Relationships>
</file>

<file path=ppt/slides/_rels/slide10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2.xml"/>
</Relationships>
</file>

<file path=ppt/slides/_rels/slide10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3.xml"/>
</Relationships>
</file>

<file path=ppt/slides/_rels/slide10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4.xml"/>
</Relationships>
</file>

<file path=ppt/slides/_rels/slide10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5.xml"/>
</Relationships>
</file>

<file path=ppt/slides/_rels/slide10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6.xml"/>
</Relationships>
</file>

<file path=ppt/slides/_rels/slide10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7.xml"/>
</Relationships>
</file>

<file path=ppt/slides/_rels/slide10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8.xml"/>
</Relationships>
</file>

<file path=ppt/slides/_rels/slide10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9.xml"/>
</Relationships>
</file>

<file path=ppt/slides/_rels/slide1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0.xml"/>
</Relationships>
</file>

<file path=ppt/slides/_rels/slide1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1.xml"/>
</Relationships>
</file>

<file path=ppt/slides/_rels/slide1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2.xml"/>
</Relationships>
</file>

<file path=ppt/slides/_rels/slide1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3.xml"/>
</Relationships>
</file>

<file path=ppt/slides/_rels/slide1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4.xml"/>
</Relationships>
</file>

<file path=ppt/slides/_rels/slide1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5.xml"/>
</Relationships>
</file>

<file path=ppt/slides/_rels/slide1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6.xml"/>
</Relationships>
</file>

<file path=ppt/slides/_rels/slide1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7.xml"/>
</Relationships>
</file>

<file path=ppt/slides/_rels/slide1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8.xml"/>
</Relationships>
</file>

<file path=ppt/slides/_rels/slide1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9.xml"/>
</Relationships>
</file>

<file path=ppt/slides/_rels/slide1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0.xml"/>
</Relationships>
</file>

<file path=ppt/slides/_rels/slide1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1.xml"/>
</Relationships>
</file>

<file path=ppt/slides/_rels/slide1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2.xml"/>
</Relationships>
</file>

<file path=ppt/slides/_rels/slide1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3.xml"/>
</Relationships>
</file>

<file path=ppt/slides/_rels/slide1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4.xml"/>
</Relationships>
</file>

<file path=ppt/slides/_rels/slide1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5.xml"/>
</Relationships>
</file>

<file path=ppt/slides/_rels/slide1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6.xml"/>
</Relationships>
</file>

<file path=ppt/slides/_rels/slide12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7.xml"/>
</Relationships>
</file>

<file path=ppt/slides/_rels/slide12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8.xml"/>
</Relationships>
</file>

<file path=ppt/slides/_rels/slide12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9.xml"/>
</Relationships>
</file>

<file path=ppt/slides/_rels/slide13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0.xml"/>
</Relationships>
</file>

<file path=ppt/slides/_rels/slide13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1.xml"/>
</Relationships>
</file>

<file path=ppt/slides/_rels/slide13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2.xml"/>
</Relationships>
</file>

<file path=ppt/slides/_rels/slide13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3.xml"/>
</Relationships>
</file>

<file path=ppt/slides/_rels/slide13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4.xml"/>
</Relationships>
</file>

<file path=ppt/slides/_rels/slide13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5.xml"/>
</Relationships>
</file>

<file path=ppt/slides/_rels/slide13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6.xml"/>
</Relationships>
</file>

<file path=ppt/slides/_rels/slide13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7.xml"/>
</Relationships>
</file>

<file path=ppt/slides/_rels/slide13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8.xml"/>
</Relationships>
</file>

<file path=ppt/slides/_rels/slide13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9.xml"/>
</Relationships>
</file>

<file path=ppt/slides/_rels/slide14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0.xml"/>
</Relationships>
</file>

<file path=ppt/slides/_rels/slide14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1.xml"/>
</Relationships>
</file>

<file path=ppt/slides/_rels/slide14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2.xml"/>
</Relationships>
</file>

<file path=ppt/slides/_rels/slide14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3.xml"/>
</Relationships>
</file>

<file path=ppt/slides/_rels/slide14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4.xml"/>
</Relationships>
</file>

<file path=ppt/slides/_rels/slide14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5.xml"/>
</Relationships>
</file>

<file path=ppt/slides/_rels/slide14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6.xml"/>
</Relationships>
</file>

<file path=ppt/slides/_rels/slide14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7.xml"/>
</Relationships>
</file>

<file path=ppt/slides/_rels/slide14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8.xml"/>
</Relationships>
</file>

<file path=ppt/slides/_rels/slide14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9.xml"/>
</Relationships>
</file>

<file path=ppt/slides/_rels/slide15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0.xml"/>
</Relationships>
</file>

<file path=ppt/slides/_rels/slide15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1.xml"/>
</Relationships>
</file>

<file path=ppt/slides/_rels/slide15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2.xml"/>
</Relationships>
</file>

<file path=ppt/slides/_rels/slide15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3.xml"/>
</Relationships>
</file>

<file path=ppt/slides/_rels/slide15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4.xml"/>
</Relationships>
</file>

<file path=ppt/slides/_rels/slide15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5.xml"/>
</Relationships>
</file>

<file path=ppt/slides/_rels/slide15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6.xml"/>
</Relationships>
</file>

<file path=ppt/slides/_rels/slide15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7.xml"/>
</Relationships>
</file>

<file path=ppt/slides/_rels/slide15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8.xml"/>
</Relationships>
</file>

<file path=ppt/slides/_rels/slide15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9.xml"/>
</Relationships>
</file>

<file path=ppt/slides/_rels/slide16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0.xml"/>
</Relationships>
</file>

<file path=ppt/slides/_rels/slide16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1.xml"/>
</Relationships>
</file>

<file path=ppt/slides/_rels/slide16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2.xml"/>
</Relationships>
</file>

<file path=ppt/slides/_rels/slide16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3.xml"/>
</Relationships>
</file>

<file path=ppt/slides/_rels/slide16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4.xml"/>
</Relationships>
</file>

<file path=ppt/slides/_rels/slide16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5.xml"/>
</Relationships>
</file>

<file path=ppt/slides/_rels/slide16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6.xml"/>
</Relationships>
</file>

<file path=ppt/slides/_rels/slide16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7.xml"/>
</Relationships>
</file>

<file path=ppt/slides/_rels/slide16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8.xml"/>
</Relationships>
</file>

<file path=ppt/slides/_rels/slide16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9.xml"/>
</Relationships>
</file>

<file path=ppt/slides/_rels/slide17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0.xml"/>
</Relationships>
</file>

<file path=ppt/slides/_rels/slide17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1.xml"/>
</Relationships>
</file>

<file path=ppt/slides/_rels/slide17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2.xml"/>
</Relationships>
</file>

<file path=ppt/slides/_rels/slide17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3.xml"/>
</Relationships>
</file>

<file path=ppt/slides/_rels/slide17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4.xml"/>
</Relationships>
</file>

<file path=ppt/slides/_rels/slide17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5.xml"/>
</Relationships>
</file>

<file path=ppt/slides/_rels/slide17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6.xml"/>
</Relationships>
</file>

<file path=ppt/slides/_rels/slide17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7.xml"/>
</Relationships>
</file>

<file path=ppt/slides/_rels/slide17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8.xml"/>
</Relationships>
</file>

<file path=ppt/slides/_rels/slide17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9.xml"/>
</Relationships>
</file>

<file path=ppt/slides/_rels/slide18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0.xml"/>
</Relationships>
</file>

<file path=ppt/slides/_rels/slide18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1.xml"/>
</Relationships>
</file>

<file path=ppt/slides/_rels/slide18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2.xml"/>
</Relationships>
</file>

<file path=ppt/slides/_rels/slide18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3.xml"/>
</Relationships>
</file>

<file path=ppt/slides/_rels/slide18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4.xml"/>
</Relationships>
</file>

<file path=ppt/slides/_rels/slide18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5.xml"/>
</Relationships>
</file>

<file path=ppt/slides/_rels/slide18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6.xml"/>
</Relationships>
</file>

<file path=ppt/slides/_rels/slide18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7.xml"/>
</Relationships>
</file>

<file path=ppt/slides/_rels/slide18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8.xml"/>
</Relationships>
</file>

<file path=ppt/slides/_rels/slide18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9.xml"/>
</Relationships>
</file>

<file path=ppt/slides/_rels/slide19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0.xml"/>
</Relationships>
</file>

<file path=ppt/slides/_rels/slide19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1.xml"/>
</Relationships>
</file>

<file path=ppt/slides/_rels/slide19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2.xml"/>
</Relationships>
</file>

<file path=ppt/slides/_rels/slide19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3.xml"/>
</Relationships>
</file>

<file path=ppt/slides/_rels/slide19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4.xml"/>
</Relationships>
</file>

<file path=ppt/slides/_rels/slide19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5.xml"/>
</Relationships>
</file>

<file path=ppt/slides/_rels/slide19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6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0"/>
          <p:cNvSpPr/>
          <p:nvPr/>
        </p:nvSpPr>
        <p:spPr>
          <a:xfrm>
            <a:off x="380880" y="2030400"/>
            <a:ext cx="11658240" cy="684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132480" anchor="t" anchorCtr="1">
            <a:noAutofit/>
          </a:bodyPr>
          <a:p>
            <a:pPr algn="ctr" defTabSz="914400">
              <a:lnSpc>
                <a:spcPct val="109000"/>
              </a:lnSpc>
              <a:tabLst>
                <a:tab pos="0" algn="l"/>
              </a:tabLst>
            </a:pPr>
            <a:r>
              <a:rPr lang="en-US" sz="348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The Zero to Product Manager</a:t>
            </a:r>
            <a:endParaRPr lang="en-US" sz="34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" name="Text 1"/>
          <p:cNvSpPr/>
          <p:nvPr/>
        </p:nvSpPr>
        <p:spPr>
          <a:xfrm>
            <a:off x="380880" y="2954160"/>
            <a:ext cx="11658240" cy="55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107640" anchor="t">
            <a:noAutofit/>
          </a:bodyPr>
          <a:p>
            <a:pPr defTabSz="914400">
              <a:lnSpc>
                <a:spcPct val="109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Text 2"/>
          <p:cNvSpPr/>
          <p:nvPr/>
        </p:nvSpPr>
        <p:spPr>
          <a:xfrm>
            <a:off x="380880" y="3746160"/>
            <a:ext cx="11658240" cy="37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9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Text 3"/>
          <p:cNvSpPr/>
          <p:nvPr/>
        </p:nvSpPr>
        <p:spPr>
          <a:xfrm>
            <a:off x="380880" y="4354560"/>
            <a:ext cx="11658240" cy="37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9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" name="PlaceHolder 1"/>
          <p:cNvSpPr>
            <a:spLocks noGrp="1"/>
          </p:cNvSpPr>
          <p:nvPr>
            <p:ph type="sldNum" idx="5"/>
          </p:nvPr>
        </p:nvSpPr>
        <p:spPr>
          <a:xfrm>
            <a:off x="0" y="6343560"/>
            <a:ext cx="11810520" cy="22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350" b="0" u="none" strike="noStrike">
                <a:solidFill>
                  <a:srgbClr val="777777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A421FE3-BB49-483F-AFC6-BBFB95F18F29}" type="slidenum">
              <a:rPr lang="en-US" sz="1350" b="0" u="none" strike="noStrike">
                <a:solidFill>
                  <a:srgbClr val="777777"/>
                </a:solidFill>
                <a:effectLst/>
                <a:uFillTx/>
                <a:latin typeface="Calibri"/>
              </a:rPr>
              <a:t>1</a:t>
            </a:fld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0"/>
          <p:cNvSpPr/>
          <p:nvPr/>
        </p:nvSpPr>
        <p:spPr>
          <a:xfrm>
            <a:off x="380880" y="2713320"/>
            <a:ext cx="11658240" cy="55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107640" anchor="t">
            <a:noAutofit/>
          </a:bodyPr>
          <a:p>
            <a:pPr defTabSz="914400">
              <a:lnSpc>
                <a:spcPct val="109000"/>
              </a:lnSpc>
              <a:tabLst>
                <a:tab pos="0" algn="l"/>
              </a:tabLst>
            </a:pPr>
            <a:r>
              <a:rPr lang="en-US" sz="283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PART 0: INTRODUCTION</a:t>
            </a:r>
            <a:endParaRPr lang="en-US" sz="28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" name="Text 1"/>
          <p:cNvSpPr/>
          <p:nvPr/>
        </p:nvSpPr>
        <p:spPr>
          <a:xfrm>
            <a:off x="380880" y="3498480"/>
            <a:ext cx="11658240" cy="55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107640" anchor="t">
            <a:noAutofit/>
          </a:bodyPr>
          <a:p>
            <a:pPr defTabSz="914400">
              <a:lnSpc>
                <a:spcPct val="109000"/>
              </a:lnSpc>
              <a:tabLst>
                <a:tab pos="0" algn="l"/>
              </a:tabLst>
            </a:pPr>
            <a:r>
              <a:rPr lang="en-US" sz="283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Slides 1-15</a:t>
            </a:r>
            <a:endParaRPr lang="en-US" sz="28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PlaceHolder 1"/>
          <p:cNvSpPr>
            <a:spLocks noGrp="1"/>
          </p:cNvSpPr>
          <p:nvPr>
            <p:ph type="sldNum" idx="6"/>
          </p:nvPr>
        </p:nvSpPr>
        <p:spPr>
          <a:xfrm>
            <a:off x="0" y="6343560"/>
            <a:ext cx="11810520" cy="22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350" b="0" u="none" strike="noStrike">
                <a:solidFill>
                  <a:srgbClr val="777777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95C4B85-4CF2-47F4-B05B-276B978C3A20}" type="slidenum">
              <a:rPr lang="en-US" sz="1350" b="0" u="none" strike="noStrike">
                <a:solidFill>
                  <a:srgbClr val="777777"/>
                </a:solidFill>
                <a:effectLst/>
                <a:uFillTx/>
                <a:latin typeface="Calibri"/>
              </a:rPr>
              <a:t>1</a:t>
            </a:fld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 0"/>
          <p:cNvSpPr/>
          <p:nvPr/>
        </p:nvSpPr>
        <p:spPr>
          <a:xfrm>
            <a:off x="380880" y="934200"/>
            <a:ext cx="11658240" cy="37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9000"/>
              </a:lnSpc>
              <a:tabLst>
                <a:tab pos="0" algn="l"/>
              </a:tabLst>
            </a:pPr>
            <a:r>
              <a:rPr lang="en-US" sz="239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SLIDE 1: Title Slide</a:t>
            </a:r>
            <a:endParaRPr lang="en-US" sz="23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Text 1"/>
          <p:cNvSpPr/>
          <p:nvPr/>
        </p:nvSpPr>
        <p:spPr>
          <a:xfrm>
            <a:off x="380880" y="1504440"/>
            <a:ext cx="11429640" cy="4381200"/>
          </a:xfrm>
          <a:prstGeom prst="rect">
            <a:avLst/>
          </a:prstGeom>
          <a:solidFill>
            <a:srgbClr val="F4F4F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━━━━━━━━━━━━━━━━━━━━━━━━━━━━━━━━━━━━━━━━━━━━━━━━━━━━━━━━━━━━━━━━━━━━━━━━━</a:t>
            </a:r>
            <a:endParaRPr lang="en-US" sz="1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   THE ZERO-TO-ONE</a:t>
            </a:r>
            <a:endParaRPr lang="en-US" sz="1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    PRODUCT MANAGER</a:t>
            </a:r>
            <a:endParaRPr lang="en-US" sz="1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A Complete Guide to Shipping</a:t>
            </a:r>
            <a:endParaRPr lang="en-US" sz="1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Digital Products and Breaking</a:t>
            </a:r>
            <a:endParaRPr lang="en-US" sz="1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Into Product Management</a:t>
            </a:r>
            <a:endParaRPr lang="en-US" sz="1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───</a:t>
            </a:r>
            <a:endParaRPr lang="en-US" sz="1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[Your Name]</a:t>
            </a:r>
            <a:endParaRPr lang="en-US" sz="1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[Date]</a:t>
            </a:r>
            <a:endParaRPr lang="en-US" sz="1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━━━━━━━━━━━━━━━━━━━━━━━━━━━━━━━━━━━━━━━━━━━━━━━━━━━━━━━━━━━━━━━━━━━━━━━━━</a:t>
            </a:r>
            <a:endParaRPr lang="en-US" sz="1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PlaceHolder 1"/>
          <p:cNvSpPr>
            <a:spLocks noGrp="1"/>
          </p:cNvSpPr>
          <p:nvPr>
            <p:ph type="sldNum" idx="7"/>
          </p:nvPr>
        </p:nvSpPr>
        <p:spPr>
          <a:xfrm>
            <a:off x="0" y="6343560"/>
            <a:ext cx="11810520" cy="22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350" b="0" u="none" strike="noStrike">
                <a:solidFill>
                  <a:srgbClr val="777777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EE3D596-D0EA-4169-A4F7-177E38DD44B8}" type="slidenum">
              <a:rPr lang="en-US" sz="1350" b="0" u="none" strike="noStrike">
                <a:solidFill>
                  <a:srgbClr val="777777"/>
                </a:solidFill>
                <a:effectLst/>
                <a:uFillTx/>
                <a:latin typeface="Calibri"/>
              </a:rPr>
              <a:t>1</a:t>
            </a:fld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 0"/>
          <p:cNvSpPr/>
          <p:nvPr/>
        </p:nvSpPr>
        <p:spPr>
          <a:xfrm>
            <a:off x="380880" y="667440"/>
            <a:ext cx="11658240" cy="37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9000"/>
              </a:lnSpc>
              <a:tabLst>
                <a:tab pos="0" algn="l"/>
              </a:tabLst>
            </a:pPr>
            <a:r>
              <a:rPr lang="en-US" sz="239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SLIDE 2: Welcome</a:t>
            </a:r>
            <a:endParaRPr lang="en-US" sz="23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Text 1"/>
          <p:cNvSpPr/>
          <p:nvPr/>
        </p:nvSpPr>
        <p:spPr>
          <a:xfrm>
            <a:off x="380880" y="1237680"/>
            <a:ext cx="11429640" cy="4914720"/>
          </a:xfrm>
          <a:prstGeom prst="rect">
            <a:avLst/>
          </a:prstGeom>
          <a:solidFill>
            <a:srgbClr val="F4F4F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━━━━━━━━━━━━━━━━━━━━━━━━━━━━━━━━━━━━━━━━━━━━━━━━━━━━━━━━━━━━━━━━━━━━━━━━━</a:t>
            </a:r>
            <a:endParaRPr lang="en-US" sz="1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         WELCOME</a:t>
            </a:r>
            <a:endParaRPr lang="en-US" sz="1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What You'll Learn Today</a:t>
            </a:r>
            <a:endParaRPr lang="en-US" sz="1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• What product managers actually do</a:t>
            </a:r>
            <a:endParaRPr lang="en-US" sz="1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• How to discover problems worth solving</a:t>
            </a:r>
            <a:endParaRPr lang="en-US" sz="1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• How to build products people love</a:t>
            </a:r>
            <a:endParaRPr lang="en-US" sz="1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• How to land your first PM role</a:t>
            </a:r>
            <a:endParaRPr lang="en-US" sz="1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───</a:t>
            </a:r>
            <a:endParaRPr lang="en-US" sz="1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By the end of this session, you will have</a:t>
            </a:r>
            <a:endParaRPr lang="en-US" sz="1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a complete, portfolio-ready case study.</a:t>
            </a:r>
            <a:endParaRPr lang="en-US" sz="1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━━━━━━━━━━━━━━━━━━━━━━━━━━━━━━━━━━━━━━━━━━━━━━━━━━━━━━━━━━━━━━━━━━━━━━━━━</a:t>
            </a:r>
            <a:endParaRPr lang="en-US" sz="1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PlaceHolder 1"/>
          <p:cNvSpPr>
            <a:spLocks noGrp="1"/>
          </p:cNvSpPr>
          <p:nvPr>
            <p:ph type="sldNum" idx="8"/>
          </p:nvPr>
        </p:nvSpPr>
        <p:spPr>
          <a:xfrm>
            <a:off x="0" y="6343560"/>
            <a:ext cx="11810520" cy="22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350" b="0" u="none" strike="noStrike">
                <a:solidFill>
                  <a:srgbClr val="777777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CDB7AEE-2E7B-4AB8-B9ED-A80B0AA0B968}" type="slidenum">
              <a:rPr lang="en-US" sz="1350" b="0" u="none" strike="noStrike">
                <a:solidFill>
                  <a:srgbClr val="777777"/>
                </a:solidFill>
                <a:effectLst/>
                <a:uFillTx/>
                <a:latin typeface="Calibri"/>
              </a:rPr>
              <a:t>1</a:t>
            </a:fld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 0"/>
          <p:cNvSpPr/>
          <p:nvPr/>
        </p:nvSpPr>
        <p:spPr>
          <a:xfrm>
            <a:off x="380880" y="443520"/>
            <a:ext cx="11658240" cy="37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9000"/>
              </a:lnSpc>
              <a:tabLst>
                <a:tab pos="0" algn="l"/>
              </a:tabLst>
            </a:pPr>
            <a:r>
              <a:rPr lang="en-US" sz="239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SLIDE 3: The Series Structure</a:t>
            </a:r>
            <a:endParaRPr lang="en-US" sz="23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Text 1"/>
          <p:cNvSpPr/>
          <p:nvPr/>
        </p:nvSpPr>
        <p:spPr>
          <a:xfrm>
            <a:off x="380880" y="1013760"/>
            <a:ext cx="11429640" cy="5362200"/>
          </a:xfrm>
          <a:prstGeom prst="rect">
            <a:avLst/>
          </a:prstGeom>
          <a:solidFill>
            <a:srgbClr val="F4F4F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3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━━━━━━━━━━━━━━━━━━━━━━━━━━━━━━━━━━━━━━━━━━━━━━━━━━━━━━━━━━━━━━━━━━━━━━━━━</a:t>
            </a:r>
            <a:endParaRPr lang="en-US" sz="13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3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3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   THE SERIES STRUCTURE</a:t>
            </a:r>
            <a:endParaRPr lang="en-US" sz="13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3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3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┌─────────────────────────────────────┐</a:t>
            </a:r>
            <a:endParaRPr lang="en-US" sz="13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3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PART 0: INTRODUCTION               │</a:t>
            </a:r>
            <a:endParaRPr lang="en-US" sz="13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3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Setting up your portfolio          │</a:t>
            </a:r>
            <a:endParaRPr lang="en-US" sz="13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3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└─────────────────────────────────────┘</a:t>
            </a:r>
            <a:endParaRPr lang="en-US" sz="13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3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3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┌─────────────────────────────────────┐</a:t>
            </a:r>
            <a:endParaRPr lang="en-US" sz="13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3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PART 1: THE PM ROLE                │</a:t>
            </a:r>
            <a:endParaRPr lang="en-US" sz="13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3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What PMs actually do              │</a:t>
            </a:r>
            <a:endParaRPr lang="en-US" sz="13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3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└─────────────────────────────────────┘</a:t>
            </a:r>
            <a:endParaRPr lang="en-US" sz="13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3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3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┌─────────────────────────────────────┐</a:t>
            </a:r>
            <a:endParaRPr lang="en-US" sz="13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3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PART 2: USER RESEARCH              │</a:t>
            </a:r>
            <a:endParaRPr lang="en-US" sz="13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3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Finding problems worth solving     │</a:t>
            </a:r>
            <a:endParaRPr lang="en-US" sz="13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3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└─────────────────────────────────────┘</a:t>
            </a:r>
            <a:endParaRPr lang="en-US" sz="13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3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3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┌─────────────────────────────────────┐</a:t>
            </a:r>
            <a:endParaRPr lang="en-US" sz="13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3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PART 3: JTBD                       │</a:t>
            </a:r>
            <a:endParaRPr lang="en-US" sz="13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3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Jobs-to-Be-Done framework          │</a:t>
            </a:r>
            <a:endParaRPr lang="en-US" sz="13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3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└─────────────────────────────────────┘</a:t>
            </a:r>
            <a:endParaRPr lang="en-US" sz="13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3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3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━━━━━━━━━━━━━━━━━━━━━━━━━━━━━━━━━━━━━━━━━━━━━━━━━━━━━━━━━━━━━━━━━━━━━━━━━</a:t>
            </a:r>
            <a:endParaRPr lang="en-US" sz="13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PlaceHolder 1"/>
          <p:cNvSpPr>
            <a:spLocks noGrp="1"/>
          </p:cNvSpPr>
          <p:nvPr>
            <p:ph type="sldNum" idx="9"/>
          </p:nvPr>
        </p:nvSpPr>
        <p:spPr>
          <a:xfrm>
            <a:off x="0" y="6343560"/>
            <a:ext cx="11810520" cy="22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350" b="0" u="none" strike="noStrike">
                <a:solidFill>
                  <a:srgbClr val="777777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9ADCAB6-896F-4582-B3E3-CA449EDB3CD2}" type="slidenum">
              <a:rPr lang="en-US" sz="1350" b="0" u="none" strike="noStrike">
                <a:solidFill>
                  <a:srgbClr val="777777"/>
                </a:solidFill>
                <a:effectLst/>
                <a:uFillTx/>
                <a:latin typeface="Calibri"/>
              </a:rPr>
              <a:t>1</a:t>
            </a:fld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ext 0"/>
          <p:cNvSpPr/>
          <p:nvPr/>
        </p:nvSpPr>
        <p:spPr>
          <a:xfrm>
            <a:off x="380880" y="443520"/>
            <a:ext cx="11658240" cy="37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9000"/>
              </a:lnSpc>
              <a:tabLst>
                <a:tab pos="0" algn="l"/>
              </a:tabLst>
            </a:pPr>
            <a:r>
              <a:rPr lang="en-US" sz="239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SLIDE 4: Series Structure Continued</a:t>
            </a:r>
            <a:endParaRPr lang="en-US" sz="23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Text 1"/>
          <p:cNvSpPr/>
          <p:nvPr/>
        </p:nvSpPr>
        <p:spPr>
          <a:xfrm>
            <a:off x="380880" y="1013760"/>
            <a:ext cx="11429640" cy="5362200"/>
          </a:xfrm>
          <a:prstGeom prst="rect">
            <a:avLst/>
          </a:prstGeom>
          <a:solidFill>
            <a:srgbClr val="F4F4F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3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━━━━━━━━━━━━━━━━━━━━━━━━━━━━━━━━━━━━━━━━━━━━━━━━━━━━━━━━━━━━━━━━━━━━━━━━━</a:t>
            </a:r>
            <a:endParaRPr lang="en-US" sz="13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3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3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   THE SERIES STRUCTURE</a:t>
            </a:r>
            <a:endParaRPr lang="en-US" sz="13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3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3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┌─────────────────────────────────────┐</a:t>
            </a:r>
            <a:endParaRPr lang="en-US" sz="13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3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PART 4: STRATEGY &amp; VISION         │</a:t>
            </a:r>
            <a:endParaRPr lang="en-US" sz="13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3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Defining where you're going      │</a:t>
            </a:r>
            <a:endParaRPr lang="en-US" sz="13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3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└─────────────────────────────────────┘</a:t>
            </a:r>
            <a:endParaRPr lang="en-US" sz="13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3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3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┌─────────────────────────────────────┐</a:t>
            </a:r>
            <a:endParaRPr lang="en-US" sz="13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3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PART 5: COMPETITIVE ANALYSIS      │</a:t>
            </a:r>
            <a:endParaRPr lang="en-US" sz="13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3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Understanding the market          │</a:t>
            </a:r>
            <a:endParaRPr lang="en-US" sz="13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3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└─────────────────────────────────────┘</a:t>
            </a:r>
            <a:endParaRPr lang="en-US" sz="13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3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3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┌─────────────────────────────────────┐</a:t>
            </a:r>
            <a:endParaRPr lang="en-US" sz="13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3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PART 6: PRIORITIZATION            │</a:t>
            </a:r>
            <a:endParaRPr lang="en-US" sz="13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3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Making tough trade-offs           │</a:t>
            </a:r>
            <a:endParaRPr lang="en-US" sz="13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3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└─────────────────────────────────────┘</a:t>
            </a:r>
            <a:endParaRPr lang="en-US" sz="13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3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3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┌─────────────────────────────────────┐</a:t>
            </a:r>
            <a:endParaRPr lang="en-US" sz="13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3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PART 7: WRITING PRDS              │</a:t>
            </a:r>
            <a:endParaRPr lang="en-US" sz="13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3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Specifying what to build          │</a:t>
            </a:r>
            <a:endParaRPr lang="en-US" sz="13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3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└─────────────────────────────────────┘</a:t>
            </a:r>
            <a:endParaRPr lang="en-US" sz="13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3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3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━━━━━━━━━━━━━━━━━━━━━━━━━━━━━━━━━━━━━━━━━━━━━━━━━━━━━━━━━━━━━━━━━━━━━━━━━</a:t>
            </a:r>
            <a:endParaRPr lang="en-US" sz="13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PlaceHolder 1"/>
          <p:cNvSpPr>
            <a:spLocks noGrp="1"/>
          </p:cNvSpPr>
          <p:nvPr>
            <p:ph type="sldNum" idx="10"/>
          </p:nvPr>
        </p:nvSpPr>
        <p:spPr>
          <a:xfrm>
            <a:off x="0" y="6343560"/>
            <a:ext cx="11810520" cy="22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350" b="0" u="none" strike="noStrike">
                <a:solidFill>
                  <a:srgbClr val="777777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F554915-1FEB-4B1A-AE1A-4D69053D49FA}" type="slidenum">
              <a:rPr lang="en-US" sz="1350" b="0" u="none" strike="noStrike">
                <a:solidFill>
                  <a:srgbClr val="777777"/>
                </a:solidFill>
                <a:effectLst/>
                <a:uFillTx/>
                <a:latin typeface="Calibri"/>
              </a:rPr>
              <a:t>1</a:t>
            </a:fld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ext 0"/>
          <p:cNvSpPr/>
          <p:nvPr/>
        </p:nvSpPr>
        <p:spPr>
          <a:xfrm>
            <a:off x="380880" y="443520"/>
            <a:ext cx="11658240" cy="37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9000"/>
              </a:lnSpc>
              <a:tabLst>
                <a:tab pos="0" algn="l"/>
              </a:tabLst>
            </a:pPr>
            <a:r>
              <a:rPr lang="en-US" sz="239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SLIDE 5: Series Structure Continued</a:t>
            </a:r>
            <a:endParaRPr lang="en-US" sz="23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Text 1"/>
          <p:cNvSpPr/>
          <p:nvPr/>
        </p:nvSpPr>
        <p:spPr>
          <a:xfrm>
            <a:off x="380880" y="1013760"/>
            <a:ext cx="11429640" cy="5362200"/>
          </a:xfrm>
          <a:prstGeom prst="rect">
            <a:avLst/>
          </a:prstGeom>
          <a:solidFill>
            <a:srgbClr val="F4F4F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9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━━━━━━━━━━━━━━━━━━━━━━━━━━━━━━━━━━━━━━━━━━━━━━━━━━━━━━━━━━━━━━━━━━━━━━━━━</a:t>
            </a:r>
            <a:endParaRPr lang="en-US" sz="13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3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9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   THE SERIES STRUCTURE</a:t>
            </a:r>
            <a:endParaRPr lang="en-US" sz="13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3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9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┌─────────────────────────────────────┐</a:t>
            </a:r>
            <a:endParaRPr lang="en-US" sz="13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9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PART 8: WORKING WITH ENGINEERING  │</a:t>
            </a:r>
            <a:endParaRPr lang="en-US" sz="13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9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Agile execution                   │</a:t>
            </a:r>
            <a:endParaRPr lang="en-US" sz="13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9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└─────────────────────────────────────┘</a:t>
            </a:r>
            <a:endParaRPr lang="en-US" sz="13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3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9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┌─────────────────────────────────────┐</a:t>
            </a:r>
            <a:endParaRPr lang="en-US" sz="13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9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PART 9: METRICS &amp; ANALYTICS       │</a:t>
            </a:r>
            <a:endParaRPr lang="en-US" sz="13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9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Measuring success                 │</a:t>
            </a:r>
            <a:endParaRPr lang="en-US" sz="13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9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└─────────────────────────────────────┘</a:t>
            </a:r>
            <a:endParaRPr lang="en-US" sz="13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3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9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┌─────────────────────────────────────┐</a:t>
            </a:r>
            <a:endParaRPr lang="en-US" sz="13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9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PART 10: GROWTH &amp; ITERATION       │</a:t>
            </a:r>
            <a:endParaRPr lang="en-US" sz="13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9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Continuous improvement            │</a:t>
            </a:r>
            <a:endParaRPr lang="en-US" sz="13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9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└─────────────────────────────────────┘</a:t>
            </a:r>
            <a:endParaRPr lang="en-US" sz="13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3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9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───</a:t>
            </a:r>
            <a:endParaRPr lang="en-US" sz="13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3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9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TOTAL: 10 Parts + 6 Appendices</a:t>
            </a:r>
            <a:endParaRPr lang="en-US" sz="13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3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9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━━━━━━━━━━━━━━━━━━━━━━━━━━━━━━━━━━━━━━━━━━━━━━━━━━━━━━━━━━━━━━━━━━━━━━━━━</a:t>
            </a:r>
            <a:endParaRPr lang="en-US" sz="13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PlaceHolder 1"/>
          <p:cNvSpPr>
            <a:spLocks noGrp="1"/>
          </p:cNvSpPr>
          <p:nvPr>
            <p:ph type="sldNum" idx="11"/>
          </p:nvPr>
        </p:nvSpPr>
        <p:spPr>
          <a:xfrm>
            <a:off x="0" y="6343560"/>
            <a:ext cx="11810520" cy="22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350" b="0" u="none" strike="noStrike">
                <a:solidFill>
                  <a:srgbClr val="777777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4A912BD-8AF2-493C-9455-271F5CC00A92}" type="slidenum">
              <a:rPr lang="en-US" sz="1350" b="0" u="none" strike="noStrike">
                <a:solidFill>
                  <a:srgbClr val="777777"/>
                </a:solidFill>
                <a:effectLst/>
                <a:uFillTx/>
                <a:latin typeface="Calibri"/>
              </a:rPr>
              <a:t>1</a:t>
            </a:fld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Text 0"/>
          <p:cNvSpPr/>
          <p:nvPr/>
        </p:nvSpPr>
        <p:spPr>
          <a:xfrm>
            <a:off x="380880" y="443520"/>
            <a:ext cx="11658240" cy="37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9000"/>
              </a:lnSpc>
              <a:tabLst>
                <a:tab pos="0" algn="l"/>
              </a:tabLst>
            </a:pPr>
            <a:r>
              <a:rPr lang="en-US" sz="239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SLIDE 6: The Case Study - Ledgerly</a:t>
            </a:r>
            <a:endParaRPr lang="en-US" sz="23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Text 1"/>
          <p:cNvSpPr/>
          <p:nvPr/>
        </p:nvSpPr>
        <p:spPr>
          <a:xfrm>
            <a:off x="380880" y="1013760"/>
            <a:ext cx="11429640" cy="5362200"/>
          </a:xfrm>
          <a:prstGeom prst="rect">
            <a:avLst/>
          </a:prstGeom>
          <a:solidFill>
            <a:srgbClr val="F4F4F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9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━━━━━━━━━━━━━━━━━━━━━━━━━━━━━━━━━━━━━━━━━━━━━━━━━━━━━━━━━━━━━━━━━━━━━━━━━</a:t>
            </a:r>
            <a:endParaRPr lang="en-US" sz="13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3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9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   THE CASE STUDY: LEDGERLY</a:t>
            </a:r>
            <a:endParaRPr lang="en-US" sz="13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3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9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┌─────────────────────────────────────┐</a:t>
            </a:r>
            <a:endParaRPr lang="en-US" sz="13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9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What is Ledgerly?                 │</a:t>
            </a:r>
            <a:endParaRPr lang="en-US" sz="13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9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A personal finance app for young  │</a:t>
            </a:r>
            <a:endParaRPr lang="en-US" sz="13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9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professionals                     │</a:t>
            </a:r>
            <a:endParaRPr lang="en-US" sz="13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9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                                  │</a:t>
            </a:r>
            <a:endParaRPr lang="en-US" sz="13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9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The Problem:                      │</a:t>
            </a:r>
            <a:endParaRPr lang="en-US" sz="13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9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80% of users churn within 30 days │</a:t>
            </a:r>
            <a:endParaRPr lang="en-US" sz="13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9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                                  │</a:t>
            </a:r>
            <a:endParaRPr lang="en-US" sz="13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9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Your Task:                        │</a:t>
            </a:r>
            <a:endParaRPr lang="en-US" sz="13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9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Fix retention by building the     │</a:t>
            </a:r>
            <a:endParaRPr lang="en-US" sz="13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9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right features                    │</a:t>
            </a:r>
            <a:endParaRPr lang="en-US" sz="13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9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└─────────────────────────────────────┘</a:t>
            </a:r>
            <a:endParaRPr lang="en-US" sz="13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3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9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───</a:t>
            </a:r>
            <a:endParaRPr lang="en-US" sz="13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3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9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You will step into the role of a PM</a:t>
            </a:r>
            <a:endParaRPr lang="en-US" sz="13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9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and lead Ledgerly through the</a:t>
            </a:r>
            <a:endParaRPr lang="en-US" sz="13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9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complete product lifecycle.</a:t>
            </a:r>
            <a:endParaRPr lang="en-US" sz="13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3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9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━━━━━━━━━━━━━━━━━━━━━━━━━━━━━━━━━━━━━━━━━━━━━━━━━━━━━━━━━━━━━━━━━━━━━━━━━</a:t>
            </a:r>
            <a:endParaRPr lang="en-US" sz="13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PlaceHolder 1"/>
          <p:cNvSpPr>
            <a:spLocks noGrp="1"/>
          </p:cNvSpPr>
          <p:nvPr>
            <p:ph type="sldNum" idx="12"/>
          </p:nvPr>
        </p:nvSpPr>
        <p:spPr>
          <a:xfrm>
            <a:off x="0" y="6343560"/>
            <a:ext cx="11810520" cy="22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350" b="0" u="none" strike="noStrike">
                <a:solidFill>
                  <a:srgbClr val="777777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FAABB0F-23E3-4B1C-8BCD-6ADAB213DD26}" type="slidenum">
              <a:rPr lang="en-US" sz="1350" b="0" u="none" strike="noStrike">
                <a:solidFill>
                  <a:srgbClr val="777777"/>
                </a:solidFill>
                <a:effectLst/>
                <a:uFillTx/>
                <a:latin typeface="Calibri"/>
              </a:rPr>
              <a:t>1</a:t>
            </a:fld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ext 0"/>
          <p:cNvSpPr/>
          <p:nvPr/>
        </p:nvSpPr>
        <p:spPr>
          <a:xfrm>
            <a:off x="380880" y="443520"/>
            <a:ext cx="11658240" cy="37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9000"/>
              </a:lnSpc>
              <a:tabLst>
                <a:tab pos="0" algn="l"/>
              </a:tabLst>
            </a:pPr>
            <a:r>
              <a:rPr lang="en-US" sz="239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SLIDE 7: What You'll Build</a:t>
            </a:r>
            <a:endParaRPr lang="en-US" sz="23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Text 1"/>
          <p:cNvSpPr/>
          <p:nvPr/>
        </p:nvSpPr>
        <p:spPr>
          <a:xfrm>
            <a:off x="380880" y="1013760"/>
            <a:ext cx="11429640" cy="5362200"/>
          </a:xfrm>
          <a:prstGeom prst="rect">
            <a:avLst/>
          </a:prstGeom>
          <a:solidFill>
            <a:srgbClr val="F4F4F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2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━━━━━━━━━━━━━━━━━━━━━━━━━━━━━━━━━━━━━━━━━━━━━━━━━━━━━━━━━━━━━━━━━━━━━━━━━</a:t>
            </a: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2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   WHAT YOU'LL BUILD</a:t>
            </a: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2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┌─────────────────────────────────────┐</a:t>
            </a: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2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01-discovery/                     │</a:t>
            </a: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2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• Research synthesis             │</a:t>
            </a: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2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• Personas                       │</a:t>
            </a: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2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• JTBD analysis                  │</a:t>
            </a: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2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└─────────────────────────────────────┘</a:t>
            </a: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2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┌─────────────────────────────────────┐</a:t>
            </a: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2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02-strategy/                      │</a:t>
            </a: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2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• Product vision                 │</a:t>
            </a: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2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• Value proposition              │</a:t>
            </a: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2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• Competitive analysis           │</a:t>
            </a: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2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└─────────────────────────────────────┘</a:t>
            </a: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2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┌─────────────────────────────────────┐</a:t>
            </a: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2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03-execution/                     │</a:t>
            </a: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2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• PRD                            │</a:t>
            </a: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2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• User stories                   │</a:t>
            </a: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2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• Sprint planning                │</a:t>
            </a: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2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└─────────────────────────────────────┘</a:t>
            </a: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2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┌─────────────────────────────────────┐</a:t>
            </a: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2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04-growth/                        │</a:t>
            </a: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2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• Metrics dashboard              │</a:t>
            </a: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2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• Growth plan                    │</a:t>
            </a: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2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• Experiment plans               │</a:t>
            </a: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2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└─────────────────────────────────────┘</a:t>
            </a: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2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━━━━━━━━━━━━━━━━━━━━━━━━━━━━━━━━━━━━━━━━━━━━━━━━━━━━━━━━━━━━━━━━━━━━━━━━━</a:t>
            </a: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PlaceHolder 1"/>
          <p:cNvSpPr>
            <a:spLocks noGrp="1"/>
          </p:cNvSpPr>
          <p:nvPr>
            <p:ph type="sldNum" idx="13"/>
          </p:nvPr>
        </p:nvSpPr>
        <p:spPr>
          <a:xfrm>
            <a:off x="0" y="6343560"/>
            <a:ext cx="11810520" cy="22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350" b="0" u="none" strike="noStrike">
                <a:solidFill>
                  <a:srgbClr val="777777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DFA0AB1-908E-443B-9ABD-5130916FD6B0}" type="slidenum">
              <a:rPr lang="en-US" sz="1350" b="0" u="none" strike="noStrike">
                <a:solidFill>
                  <a:srgbClr val="777777"/>
                </a:solidFill>
                <a:effectLst/>
                <a:uFillTx/>
                <a:latin typeface="Calibri"/>
              </a:rPr>
              <a:t>1</a:t>
            </a:fld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Text 0"/>
          <p:cNvSpPr/>
          <p:nvPr/>
        </p:nvSpPr>
        <p:spPr>
          <a:xfrm>
            <a:off x="380880" y="443520"/>
            <a:ext cx="11658240" cy="37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9000"/>
              </a:lnSpc>
              <a:tabLst>
                <a:tab pos="0" algn="l"/>
              </a:tabLst>
            </a:pPr>
            <a:r>
              <a:rPr lang="en-US" sz="239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SLIDE 8: Who This Series Is For</a:t>
            </a:r>
            <a:endParaRPr lang="en-US" sz="23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Text 1"/>
          <p:cNvSpPr/>
          <p:nvPr/>
        </p:nvSpPr>
        <p:spPr>
          <a:xfrm>
            <a:off x="380880" y="1013760"/>
            <a:ext cx="11429640" cy="5362200"/>
          </a:xfrm>
          <a:prstGeom prst="rect">
            <a:avLst/>
          </a:prstGeom>
          <a:solidFill>
            <a:srgbClr val="F4F4F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4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━━━━━━━━━━━━━━━━━━━━━━━━━━━━━━━━━━━━━━━━━━━━━━━━━━━━━━━━━━━━━━━━━━━━━━━━━</a:t>
            </a:r>
            <a:endParaRPr lang="en-US" sz="12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2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4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   WHO THIS SERIES IS FOR</a:t>
            </a:r>
            <a:endParaRPr lang="en-US" sz="12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2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4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┌─────────────────────────────────────┐</a:t>
            </a:r>
            <a:endParaRPr lang="en-US" sz="12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4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Career Switchers                  │</a:t>
            </a:r>
            <a:endParaRPr lang="en-US" sz="12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4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Coming from marketing, finance,   │</a:t>
            </a:r>
            <a:endParaRPr lang="en-US" sz="12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4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operations, or teaching           │</a:t>
            </a:r>
            <a:endParaRPr lang="en-US" sz="12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4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└─────────────────────────────────────┘</a:t>
            </a:r>
            <a:endParaRPr lang="en-US" sz="12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2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4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┌─────────────────────────────────────┐</a:t>
            </a:r>
            <a:endParaRPr lang="en-US" sz="12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4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Junior PMs &amp; BAs                 │</a:t>
            </a:r>
            <a:endParaRPr lang="en-US" sz="12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4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Wanting a structured framework   │</a:t>
            </a:r>
            <a:endParaRPr lang="en-US" sz="12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4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└─────────────────────────────────────┘</a:t>
            </a:r>
            <a:endParaRPr lang="en-US" sz="12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2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4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┌─────────────────────────────────────┐</a:t>
            </a:r>
            <a:endParaRPr lang="en-US" sz="12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4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Engineers, Designers, Marketers   │</a:t>
            </a:r>
            <a:endParaRPr lang="en-US" sz="12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4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Transitioning into product roles  │</a:t>
            </a:r>
            <a:endParaRPr lang="en-US" sz="12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4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└─────────────────────────────────────┘</a:t>
            </a:r>
            <a:endParaRPr lang="en-US" sz="12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2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4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┌─────────────────────────────────────┐</a:t>
            </a:r>
            <a:endParaRPr lang="en-US" sz="12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4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Self-Taught Builders              │</a:t>
            </a:r>
            <a:endParaRPr lang="en-US" sz="12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4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Wanting to formalize their        │</a:t>
            </a:r>
            <a:endParaRPr lang="en-US" sz="12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4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product thinking                  │</a:t>
            </a:r>
            <a:endParaRPr lang="en-US" sz="12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4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└─────────────────────────────────────┘</a:t>
            </a:r>
            <a:endParaRPr lang="en-US" sz="12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2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4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━━━━━━━━━━━━━━━━━━━━━━━━━━━━━━━━━━━━━━━━━━━━━━━━━━━━━━━━━━━━━━━━━━━━━━━━━</a:t>
            </a:r>
            <a:endParaRPr lang="en-US" sz="12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PlaceHolder 1"/>
          <p:cNvSpPr>
            <a:spLocks noGrp="1"/>
          </p:cNvSpPr>
          <p:nvPr>
            <p:ph type="sldNum" idx="14"/>
          </p:nvPr>
        </p:nvSpPr>
        <p:spPr>
          <a:xfrm>
            <a:off x="0" y="6343560"/>
            <a:ext cx="11810520" cy="22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350" b="0" u="none" strike="noStrike">
                <a:solidFill>
                  <a:srgbClr val="777777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03DFBAE-8CA4-48D6-A6CB-D179B9DE4349}" type="slidenum">
              <a:rPr lang="en-US" sz="1350" b="0" u="none" strike="noStrike">
                <a:solidFill>
                  <a:srgbClr val="777777"/>
                </a:solidFill>
                <a:effectLst/>
                <a:uFillTx/>
                <a:latin typeface="Calibri"/>
              </a:rPr>
              <a:t>1</a:t>
            </a:fld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Text 0"/>
          <p:cNvSpPr/>
          <p:nvPr/>
        </p:nvSpPr>
        <p:spPr>
          <a:xfrm>
            <a:off x="380880" y="443520"/>
            <a:ext cx="11658240" cy="37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9000"/>
              </a:lnSpc>
              <a:tabLst>
                <a:tab pos="0" algn="l"/>
              </a:tabLst>
            </a:pPr>
            <a:r>
              <a:rPr lang="en-US" sz="239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SLIDE 9: What You'll Walk Away With</a:t>
            </a:r>
            <a:endParaRPr lang="en-US" sz="23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Text 1"/>
          <p:cNvSpPr/>
          <p:nvPr/>
        </p:nvSpPr>
        <p:spPr>
          <a:xfrm>
            <a:off x="380880" y="1013760"/>
            <a:ext cx="11429640" cy="5362200"/>
          </a:xfrm>
          <a:prstGeom prst="rect">
            <a:avLst/>
          </a:prstGeom>
          <a:solidFill>
            <a:srgbClr val="F4F4F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━━━━━━━━━━━━━━━━━━━━━━━━━━━━━━━━━━━━━━━━━━━━━━━━━━━━━━━━━━━━━━━━━━━━━━━━━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   WHAT YOU'LL WALK AWAY WITH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┌─────────────────────────────────────┐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A Complete Portfolio              │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End-to-end case study showing     │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your product thinking             │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└─────────────────────────────────────┘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┌─────────────────────────────────────┐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PM Frameworks                     │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RICE, Kano, JTBD, AARRR, STAR    │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└─────────────────────────────────────┘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┌─────────────────────────────────────┐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Practical Skills                  │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User research, strategy,          │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execution, metrics                │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└─────────────────────────────────────┘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┌─────────────────────────────────────┐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Career Readiness                  │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Interview prep, resume guidance,  │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job search strategies             │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└─────────────────────────────────────┘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━━━━━━━━━━━━━━━━━━━━━━━━━━━━━━━━━━━━━━━━━━━━━━━━━━━━━━━━━━━━━━━━━━━━━━━━━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PlaceHolder 1"/>
          <p:cNvSpPr>
            <a:spLocks noGrp="1"/>
          </p:cNvSpPr>
          <p:nvPr>
            <p:ph type="sldNum" idx="15"/>
          </p:nvPr>
        </p:nvSpPr>
        <p:spPr>
          <a:xfrm>
            <a:off x="0" y="6343560"/>
            <a:ext cx="11810520" cy="22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350" b="0" u="none" strike="noStrike">
                <a:solidFill>
                  <a:srgbClr val="777777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9B65DE5-FF8C-4327-AB5F-92CC83135394}" type="slidenum">
              <a:rPr lang="en-US" sz="1350" b="0" u="none" strike="noStrike">
                <a:solidFill>
                  <a:srgbClr val="777777"/>
                </a:solidFill>
                <a:effectLst/>
                <a:uFillTx/>
                <a:latin typeface="Calibri"/>
              </a:rPr>
              <a:t>1</a:t>
            </a:fld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Text 0"/>
          <p:cNvSpPr/>
          <p:nvPr/>
        </p:nvSpPr>
        <p:spPr>
          <a:xfrm>
            <a:off x="380880" y="443520"/>
            <a:ext cx="11658240" cy="37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9000"/>
              </a:lnSpc>
              <a:tabLst>
                <a:tab pos="0" algn="l"/>
              </a:tabLst>
            </a:pPr>
            <a:r>
              <a:rPr lang="en-US" sz="239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SLIDE 10: How to Get the Most Out of This Series</a:t>
            </a:r>
            <a:endParaRPr lang="en-US" sz="23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Text 1"/>
          <p:cNvSpPr/>
          <p:nvPr/>
        </p:nvSpPr>
        <p:spPr>
          <a:xfrm>
            <a:off x="380880" y="1013760"/>
            <a:ext cx="11429640" cy="5362200"/>
          </a:xfrm>
          <a:prstGeom prst="rect">
            <a:avLst/>
          </a:prstGeom>
          <a:solidFill>
            <a:srgbClr val="F4F4F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8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━━━━━━━━━━━━━━━━━━━━━━━━━━━━━━━━━━━━━━━━━━━━━━━━━━━━━━━━━━━━━━━━━━━━━━━━━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8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   HOW TO GET THE MOST OUT OF THIS SERIES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8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┌─────────────────────────────────────┐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8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1. DO THE WORK                    │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8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Complete every hands-on exercise  │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8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└─────────────────────────────────────┘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8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┌─────────────────────────────────────┐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8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2. THINK CRITICALLY               │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8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Ask "why" three times             │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8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└─────────────────────────────────────┘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8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┌─────────────────────────────────────┐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8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3. CONNECT TO YOUR EXPERIENCE     │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8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Apply concepts to products you    │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8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use every day                     │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8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└─────────────────────────────────────┘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8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┌─────────────────────────────────────┐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8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4. BUILD YOUR NETWORK             │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8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Find others on the same journey   │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8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└─────────────────────────────────────┘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8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━━━━━━━━━━━━━━━━━━━━━━━━━━━━━━━━━━━━━━━━━━━━━━━━━━━━━━━━━━━━━━━━━━━━━━━━━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PlaceHolder 1"/>
          <p:cNvSpPr>
            <a:spLocks noGrp="1"/>
          </p:cNvSpPr>
          <p:nvPr>
            <p:ph type="sldNum" idx="16"/>
          </p:nvPr>
        </p:nvSpPr>
        <p:spPr>
          <a:xfrm>
            <a:off x="0" y="6343560"/>
            <a:ext cx="11810520" cy="22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350" b="0" u="none" strike="noStrike">
                <a:solidFill>
                  <a:srgbClr val="777777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74D26FC-4FA0-4195-95F2-BC4D03A2171D}" type="slidenum">
              <a:rPr lang="en-US" sz="1350" b="0" u="none" strike="noStrike">
                <a:solidFill>
                  <a:srgbClr val="777777"/>
                </a:solidFill>
                <a:effectLst/>
                <a:uFillTx/>
                <a:latin typeface="Calibri"/>
              </a:rPr>
              <a:t>1</a:t>
            </a:fld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Text 0"/>
          <p:cNvSpPr/>
          <p:nvPr/>
        </p:nvSpPr>
        <p:spPr>
          <a:xfrm>
            <a:off x="380880" y="443520"/>
            <a:ext cx="11658240" cy="37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9000"/>
              </a:lnSpc>
              <a:tabLst>
                <a:tab pos="0" algn="l"/>
              </a:tabLst>
            </a:pPr>
            <a:r>
              <a:rPr lang="en-US" sz="239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SLIDE 11: Setting Up Your Portfolio</a:t>
            </a:r>
            <a:endParaRPr lang="en-US" sz="23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Text 1"/>
          <p:cNvSpPr/>
          <p:nvPr/>
        </p:nvSpPr>
        <p:spPr>
          <a:xfrm>
            <a:off x="380880" y="1013760"/>
            <a:ext cx="11429640" cy="5362200"/>
          </a:xfrm>
          <a:prstGeom prst="rect">
            <a:avLst/>
          </a:prstGeom>
          <a:solidFill>
            <a:srgbClr val="F4F4F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1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━━━━━━━━━━━━━━━━━━━━━━━━━━━━━━━━━━━━━━━━━━━━━━━━━━━━━━━━━━━━━━━━━━━━━━━━━</a:t>
            </a:r>
            <a:endParaRPr lang="en-US" sz="15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5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1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   SETTING UP YOUR PORTFOLIO</a:t>
            </a:r>
            <a:endParaRPr lang="en-US" sz="15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5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1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Create this directory structure:</a:t>
            </a:r>
            <a:endParaRPr lang="en-US" sz="15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5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1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─────────────────────────────────────</a:t>
            </a:r>
            <a:endParaRPr lang="en-US" sz="15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5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1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ledgerly-pm-portfolio/</a:t>
            </a:r>
            <a:endParaRPr lang="en-US" sz="15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1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├── 01-discovery/</a:t>
            </a:r>
            <a:endParaRPr lang="en-US" sz="15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1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├── 02-strategy/</a:t>
            </a:r>
            <a:endParaRPr lang="en-US" sz="15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1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├── 03-execution/</a:t>
            </a:r>
            <a:endParaRPr lang="en-US" sz="15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1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├── 04-growth/</a:t>
            </a:r>
            <a:endParaRPr lang="en-US" sz="15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1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└── assets/</a:t>
            </a:r>
            <a:endParaRPr lang="en-US" sz="15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5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1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─────────────────────────────────────</a:t>
            </a:r>
            <a:endParaRPr lang="en-US" sz="15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5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1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Option A: GitHub (Recommended)</a:t>
            </a:r>
            <a:endParaRPr lang="en-US" sz="15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1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Option B: Local Folder</a:t>
            </a:r>
            <a:endParaRPr lang="en-US" sz="15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1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Option C: Cloud Storage</a:t>
            </a:r>
            <a:endParaRPr lang="en-US" sz="15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5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1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━━━━━━━━━━━━━━━━━━━━━━━━━━━━━━━━━━━━━━━━━━━━━━━━━━━━━━━━━━━━━━━━━━━━━━━━━</a:t>
            </a:r>
            <a:endParaRPr lang="en-US" sz="15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PlaceHolder 1"/>
          <p:cNvSpPr>
            <a:spLocks noGrp="1"/>
          </p:cNvSpPr>
          <p:nvPr>
            <p:ph type="sldNum" idx="17"/>
          </p:nvPr>
        </p:nvSpPr>
        <p:spPr>
          <a:xfrm>
            <a:off x="0" y="6343560"/>
            <a:ext cx="11810520" cy="22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350" b="0" u="none" strike="noStrike">
                <a:solidFill>
                  <a:srgbClr val="777777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3F50D85-F435-4E62-9B70-5AC46EEE0670}" type="slidenum">
              <a:rPr lang="en-US" sz="1350" b="0" u="none" strike="noStrike">
                <a:solidFill>
                  <a:srgbClr val="777777"/>
                </a:solidFill>
                <a:effectLst/>
                <a:uFillTx/>
                <a:latin typeface="Calibri"/>
              </a:rPr>
              <a:t>1</a:t>
            </a:fld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Text 0"/>
          <p:cNvSpPr/>
          <p:nvPr/>
        </p:nvSpPr>
        <p:spPr>
          <a:xfrm>
            <a:off x="380880" y="443520"/>
            <a:ext cx="11658240" cy="37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9000"/>
              </a:lnSpc>
              <a:tabLst>
                <a:tab pos="0" algn="l"/>
              </a:tabLst>
            </a:pPr>
            <a:r>
              <a:rPr lang="en-US" sz="239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SLIDE 12: Portfolio README Template</a:t>
            </a:r>
            <a:endParaRPr lang="en-US" sz="23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Text 1"/>
          <p:cNvSpPr/>
          <p:nvPr/>
        </p:nvSpPr>
        <p:spPr>
          <a:xfrm>
            <a:off x="380880" y="1013760"/>
            <a:ext cx="11429640" cy="5362200"/>
          </a:xfrm>
          <a:prstGeom prst="rect">
            <a:avLst/>
          </a:prstGeom>
          <a:solidFill>
            <a:srgbClr val="F4F4F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1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━━━━━━━━━━━━━━━━━━━━━━━━━━━━━━━━━━━━━━━━━━━━━━━━━━━━━━━━━━━━━━━━━━━━━━━━━</a:t>
            </a:r>
            <a:endParaRPr lang="en-US" sz="15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5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1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   PORTFOLIO README TEMPLATE</a:t>
            </a:r>
            <a:endParaRPr lang="en-US" sz="15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5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1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# Ledgerly PM Portfolio</a:t>
            </a:r>
            <a:endParaRPr lang="en-US" sz="15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5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1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## About This Portfolio</a:t>
            </a:r>
            <a:endParaRPr lang="en-US" sz="15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1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This portfolio documents my product</a:t>
            </a:r>
            <a:endParaRPr lang="en-US" sz="15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1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management work on Ledgerly...</a:t>
            </a:r>
            <a:endParaRPr lang="en-US" sz="15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5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1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## Portfolio Contents</a:t>
            </a:r>
            <a:endParaRPr lang="en-US" sz="15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1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- **01-discovery/**: User research synthesis</a:t>
            </a:r>
            <a:endParaRPr lang="en-US" sz="15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1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- **02-strategy/**: Product vision and strategy</a:t>
            </a:r>
            <a:endParaRPr lang="en-US" sz="15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1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- **03-execution/**: PRD and user stories</a:t>
            </a:r>
            <a:endParaRPr lang="en-US" sz="15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1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- **04-growth/**: Metrics and growth plans</a:t>
            </a:r>
            <a:endParaRPr lang="en-US" sz="15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5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1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## Contact</a:t>
            </a:r>
            <a:endParaRPr lang="en-US" sz="15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1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[Your Name]</a:t>
            </a:r>
            <a:endParaRPr lang="en-US" sz="15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1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[Your LinkedIn URL]</a:t>
            </a:r>
            <a:endParaRPr lang="en-US" sz="15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1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[Your Email]</a:t>
            </a:r>
            <a:endParaRPr lang="en-US" sz="15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5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1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━━━━━━━━━━━━━━━━━━━━━━━━━━━━━━━━━━━━━━━━━━━━━━━━━━━━━━━━━━━━━━━━━━━━━━━━━</a:t>
            </a:r>
            <a:endParaRPr lang="en-US" sz="15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PlaceHolder 1"/>
          <p:cNvSpPr>
            <a:spLocks noGrp="1"/>
          </p:cNvSpPr>
          <p:nvPr>
            <p:ph type="sldNum" idx="18"/>
          </p:nvPr>
        </p:nvSpPr>
        <p:spPr>
          <a:xfrm>
            <a:off x="0" y="6343560"/>
            <a:ext cx="11810520" cy="22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350" b="0" u="none" strike="noStrike">
                <a:solidFill>
                  <a:srgbClr val="777777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F5E7A0D-EFEC-4195-94F7-5356BC60B8B0}" type="slidenum">
              <a:rPr lang="en-US" sz="1350" b="0" u="none" strike="noStrike">
                <a:solidFill>
                  <a:srgbClr val="777777"/>
                </a:solidFill>
                <a:effectLst/>
                <a:uFillTx/>
                <a:latin typeface="Calibri"/>
              </a:rPr>
              <a:t>1</a:t>
            </a:fld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Text 0"/>
          <p:cNvSpPr/>
          <p:nvPr/>
        </p:nvSpPr>
        <p:spPr>
          <a:xfrm>
            <a:off x="380880" y="443520"/>
            <a:ext cx="11658240" cy="37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9000"/>
              </a:lnSpc>
              <a:tabLst>
                <a:tab pos="0" algn="l"/>
              </a:tabLst>
            </a:pPr>
            <a:r>
              <a:rPr lang="en-US" sz="239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SLIDE 13: Series Ground Rules</a:t>
            </a:r>
            <a:endParaRPr lang="en-US" sz="23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Text 1"/>
          <p:cNvSpPr/>
          <p:nvPr/>
        </p:nvSpPr>
        <p:spPr>
          <a:xfrm>
            <a:off x="380880" y="1013760"/>
            <a:ext cx="11429640" cy="5362200"/>
          </a:xfrm>
          <a:prstGeom prst="rect">
            <a:avLst/>
          </a:prstGeom>
          <a:solidFill>
            <a:srgbClr val="F4F4F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━━━━━━━━━━━━━━━━━━━━━━━━━━━━━━━━━━━━━━━━━━━━━━━━━━━━━━━━━━━━━━━━━━━━━━━━━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   SERIES GROUND RULES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┌─────────────────────────────────────┐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ON ASSUMPTIONS                    │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Starting from zero PM knowledge   │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└─────────────────────────────────────┘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┌─────────────────────────────────────┐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ON AMBIGUITY                      │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Practice making decisions with    │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imperfect information             │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└─────────────────────────────────────┘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┌─────────────────────────────────────┐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ON MISTAKES                       │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Aim for completion, not          │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perfection                        │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└─────────────────────────────────────┘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┌─────────────────────────────────────┐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ON TIME INVESTMENT                │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15-25 minutes per part +          │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15-30 minutes for exercises       │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└─────────────────────────────────────┘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━━━━━━━━━━━━━━━━━━━━━━━━━━━━━━━━━━━━━━━━━━━━━━━━━━━━━━━━━━━━━━━━━━━━━━━━━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PlaceHolder 1"/>
          <p:cNvSpPr>
            <a:spLocks noGrp="1"/>
          </p:cNvSpPr>
          <p:nvPr>
            <p:ph type="sldNum" idx="19"/>
          </p:nvPr>
        </p:nvSpPr>
        <p:spPr>
          <a:xfrm>
            <a:off x="0" y="6343560"/>
            <a:ext cx="11810520" cy="22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350" b="0" u="none" strike="noStrike">
                <a:solidFill>
                  <a:srgbClr val="777777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A33CFA1-BE8B-4C8A-B0DD-777652069BAF}" type="slidenum">
              <a:rPr lang="en-US" sz="1350" b="0" u="none" strike="noStrike">
                <a:solidFill>
                  <a:srgbClr val="777777"/>
                </a:solidFill>
                <a:effectLst/>
                <a:uFillTx/>
                <a:latin typeface="Calibri"/>
              </a:rPr>
              <a:t>1</a:t>
            </a:fld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Text 0"/>
          <p:cNvSpPr/>
          <p:nvPr/>
        </p:nvSpPr>
        <p:spPr>
          <a:xfrm>
            <a:off x="380880" y="529200"/>
            <a:ext cx="11658240" cy="37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9000"/>
              </a:lnSpc>
              <a:tabLst>
                <a:tab pos="0" algn="l"/>
              </a:tabLst>
            </a:pPr>
            <a:r>
              <a:rPr lang="en-US" sz="239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SLIDE 14: What's Next</a:t>
            </a:r>
            <a:endParaRPr lang="en-US" sz="23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Text 1"/>
          <p:cNvSpPr/>
          <p:nvPr/>
        </p:nvSpPr>
        <p:spPr>
          <a:xfrm>
            <a:off x="380880" y="1099440"/>
            <a:ext cx="11429640" cy="5190840"/>
          </a:xfrm>
          <a:prstGeom prst="rect">
            <a:avLst/>
          </a:prstGeom>
          <a:solidFill>
            <a:srgbClr val="F4F4F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9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━━━━━━━━━━━━━━━━━━━━━━━━━━━━━━━━━━━━━━━━━━━━━━━━━━━━━━━━━━━━━━━━━━━━━━━━━</a:t>
            </a:r>
            <a:endParaRPr lang="en-US" sz="17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7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9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   WHAT'S NEXT</a:t>
            </a:r>
            <a:endParaRPr lang="en-US" sz="17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7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9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┌─────────────────────────────────────┐</a:t>
            </a:r>
            <a:endParaRPr lang="en-US" sz="17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9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PART 1                            │</a:t>
            </a:r>
            <a:endParaRPr lang="en-US" sz="17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9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The PM Role Demystified           │</a:t>
            </a:r>
            <a:endParaRPr lang="en-US" sz="17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9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                                  │</a:t>
            </a:r>
            <a:endParaRPr lang="en-US" sz="17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9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• What PMs actually do           │</a:t>
            </a:r>
            <a:endParaRPr lang="en-US" sz="17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9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• PM vs. Project Manager         │</a:t>
            </a:r>
            <a:endParaRPr lang="en-US" sz="17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9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• Your PM philosophy             │</a:t>
            </a:r>
            <a:endParaRPr lang="en-US" sz="17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9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└─────────────────────────────────────┘</a:t>
            </a:r>
            <a:endParaRPr lang="en-US" sz="17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7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9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───</a:t>
            </a:r>
            <a:endParaRPr lang="en-US" sz="17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7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9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Let's begin.</a:t>
            </a:r>
            <a:endParaRPr lang="en-US" sz="17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7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9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━━━━━━━━━━━━━━━━━━━━━━━━━━━━━━━━━━━━━━━━━━━━━━━━━━━━━━━━━━━━━━━━━━━━━━━━━</a:t>
            </a:r>
            <a:endParaRPr lang="en-US" sz="17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PlaceHolder 1"/>
          <p:cNvSpPr>
            <a:spLocks noGrp="1"/>
          </p:cNvSpPr>
          <p:nvPr>
            <p:ph type="sldNum" idx="20"/>
          </p:nvPr>
        </p:nvSpPr>
        <p:spPr>
          <a:xfrm>
            <a:off x="0" y="6343560"/>
            <a:ext cx="11810520" cy="22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350" b="0" u="none" strike="noStrike">
                <a:solidFill>
                  <a:srgbClr val="777777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1D0340C-5559-4A31-9B9B-1D42478294DA}" type="slidenum">
              <a:rPr lang="en-US" sz="1350" b="0" u="none" strike="noStrike">
                <a:solidFill>
                  <a:srgbClr val="777777"/>
                </a:solidFill>
                <a:effectLst/>
                <a:uFillTx/>
                <a:latin typeface="Calibri"/>
              </a:rPr>
              <a:t>1</a:t>
            </a:fld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Text 0"/>
          <p:cNvSpPr/>
          <p:nvPr/>
        </p:nvSpPr>
        <p:spPr>
          <a:xfrm>
            <a:off x="380880" y="443520"/>
            <a:ext cx="11658240" cy="37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9000"/>
              </a:lnSpc>
              <a:tabLst>
                <a:tab pos="0" algn="l"/>
              </a:tabLst>
            </a:pPr>
            <a:r>
              <a:rPr lang="en-US" sz="239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SLIDE 15: Part 0 Recap</a:t>
            </a:r>
            <a:endParaRPr lang="en-US" sz="23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Text 1"/>
          <p:cNvSpPr/>
          <p:nvPr/>
        </p:nvSpPr>
        <p:spPr>
          <a:xfrm>
            <a:off x="380880" y="1013760"/>
            <a:ext cx="11429640" cy="5362200"/>
          </a:xfrm>
          <a:prstGeom prst="rect">
            <a:avLst/>
          </a:prstGeom>
          <a:solidFill>
            <a:srgbClr val="F4F4F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━━━━━━━━━━━━━━━━━━━━━━━━━━━━━━━━━━━━━━━━━━━━━━━━━━━━━━━━━━━━━━━━━━━━━━━━━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   PART 0 RECAP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┌─────────────────────────────────────┐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You now understand:               │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                                  │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✓ The series structure            │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✓ The Ledgerly case study         │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✓ What you'll build               │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✓ How to set up your portfolio    │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✓ How to get the most out of the  │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  series                          │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└─────────────────────────────────────┘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───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Portfolio Tracker: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[ ] Created portfolio directory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[ ] Created README.md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[ ] Committed to GitHub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━━━━━━━━━━━━━━━━━━━━━━━━━━━━━━━━━━━━━━━━━━━━━━━━━━━━━━━━━━━━━━━━━━━━━━━━━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PlaceHolder 1"/>
          <p:cNvSpPr>
            <a:spLocks noGrp="1"/>
          </p:cNvSpPr>
          <p:nvPr>
            <p:ph type="sldNum" idx="21"/>
          </p:nvPr>
        </p:nvSpPr>
        <p:spPr>
          <a:xfrm>
            <a:off x="0" y="6343560"/>
            <a:ext cx="11810520" cy="22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350" b="0" u="none" strike="noStrike">
                <a:solidFill>
                  <a:srgbClr val="777777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4ABF135-F448-4D82-9C93-25F7D80908ED}" type="slidenum">
              <a:rPr lang="en-US" sz="1350" b="0" u="none" strike="noStrike">
                <a:solidFill>
                  <a:srgbClr val="777777"/>
                </a:solidFill>
                <a:effectLst/>
                <a:uFillTx/>
                <a:latin typeface="Calibri"/>
              </a:rPr>
              <a:t>1</a:t>
            </a:fld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Text 0"/>
          <p:cNvSpPr/>
          <p:nvPr/>
        </p:nvSpPr>
        <p:spPr>
          <a:xfrm>
            <a:off x="380880" y="2713320"/>
            <a:ext cx="11658240" cy="55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107640" anchor="t">
            <a:noAutofit/>
          </a:bodyPr>
          <a:p>
            <a:pPr defTabSz="914400">
              <a:lnSpc>
                <a:spcPct val="109000"/>
              </a:lnSpc>
              <a:tabLst>
                <a:tab pos="0" algn="l"/>
              </a:tabLst>
            </a:pPr>
            <a:r>
              <a:rPr lang="en-US" sz="283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PART 1: THE PM ROLE DEMYSTIFIED</a:t>
            </a:r>
            <a:endParaRPr lang="en-US" sz="28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Text 1"/>
          <p:cNvSpPr/>
          <p:nvPr/>
        </p:nvSpPr>
        <p:spPr>
          <a:xfrm>
            <a:off x="380880" y="3498480"/>
            <a:ext cx="11658240" cy="55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107640" anchor="t">
            <a:noAutofit/>
          </a:bodyPr>
          <a:p>
            <a:pPr defTabSz="914400">
              <a:lnSpc>
                <a:spcPct val="109000"/>
              </a:lnSpc>
              <a:tabLst>
                <a:tab pos="0" algn="l"/>
              </a:tabLst>
            </a:pPr>
            <a:r>
              <a:rPr lang="en-US" sz="283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Slides 16-40</a:t>
            </a:r>
            <a:endParaRPr lang="en-US" sz="28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PlaceHolder 1"/>
          <p:cNvSpPr>
            <a:spLocks noGrp="1"/>
          </p:cNvSpPr>
          <p:nvPr>
            <p:ph type="sldNum" idx="22"/>
          </p:nvPr>
        </p:nvSpPr>
        <p:spPr>
          <a:xfrm>
            <a:off x="0" y="6343560"/>
            <a:ext cx="11810520" cy="22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350" b="0" u="none" strike="noStrike">
                <a:solidFill>
                  <a:srgbClr val="777777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158E01E-CF13-49B8-A1B7-FDD64DEB8CFB}" type="slidenum">
              <a:rPr lang="en-US" sz="1350" b="0" u="none" strike="noStrike">
                <a:solidFill>
                  <a:srgbClr val="777777"/>
                </a:solidFill>
                <a:effectLst/>
                <a:uFillTx/>
                <a:latin typeface="Calibri"/>
              </a:rPr>
              <a:t>1</a:t>
            </a:fld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Text 0"/>
          <p:cNvSpPr/>
          <p:nvPr/>
        </p:nvSpPr>
        <p:spPr>
          <a:xfrm>
            <a:off x="380880" y="800640"/>
            <a:ext cx="11658240" cy="37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9000"/>
              </a:lnSpc>
              <a:tabLst>
                <a:tab pos="0" algn="l"/>
              </a:tabLst>
            </a:pPr>
            <a:r>
              <a:rPr lang="en-US" sz="239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SLIDE 16: Part 1 Title</a:t>
            </a:r>
            <a:endParaRPr lang="en-US" sz="23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Text 1"/>
          <p:cNvSpPr/>
          <p:nvPr/>
        </p:nvSpPr>
        <p:spPr>
          <a:xfrm>
            <a:off x="380880" y="1370880"/>
            <a:ext cx="11429640" cy="4647960"/>
          </a:xfrm>
          <a:prstGeom prst="rect">
            <a:avLst/>
          </a:prstGeom>
          <a:solidFill>
            <a:srgbClr val="F4F4F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━━━━━━━━━━━━━━━━━━━━━━━━━━━━━━━━━━━━━━━━━━━━━━━━━━━━━━━━━━━━━━━━━━━━━━━━━</a:t>
            </a:r>
            <a:endParaRPr lang="en-US" sz="1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   PART 1</a:t>
            </a:r>
            <a:endParaRPr lang="en-US" sz="1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   THE PM ROLE</a:t>
            </a:r>
            <a:endParaRPr lang="en-US" sz="1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   DEMYSTIFIED</a:t>
            </a:r>
            <a:endParaRPr lang="en-US" sz="1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What Product Managers</a:t>
            </a:r>
            <a:endParaRPr lang="en-US" sz="1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Actually Do</a:t>
            </a:r>
            <a:endParaRPr lang="en-US" sz="1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───</a:t>
            </a:r>
            <a:endParaRPr lang="en-US" sz="1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"What problem are we solving,</a:t>
            </a:r>
            <a:endParaRPr lang="en-US" sz="1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and how will we know if we solved it?"</a:t>
            </a:r>
            <a:endParaRPr lang="en-US" sz="1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━━━━━━━━━━━━━━━━━━━━━━━━━━━━━━━━━━━━━━━━━━━━━━━━━━━━━━━━━━━━━━━━━━━━━━━━━</a:t>
            </a:r>
            <a:endParaRPr lang="en-US" sz="1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PlaceHolder 1"/>
          <p:cNvSpPr>
            <a:spLocks noGrp="1"/>
          </p:cNvSpPr>
          <p:nvPr>
            <p:ph type="sldNum" idx="23"/>
          </p:nvPr>
        </p:nvSpPr>
        <p:spPr>
          <a:xfrm>
            <a:off x="0" y="6343560"/>
            <a:ext cx="11810520" cy="22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350" b="0" u="none" strike="noStrike">
                <a:solidFill>
                  <a:srgbClr val="777777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CCA8D62-48DE-4B06-A3A7-9451E058FCBB}" type="slidenum">
              <a:rPr lang="en-US" sz="1350" b="0" u="none" strike="noStrike">
                <a:solidFill>
                  <a:srgbClr val="777777"/>
                </a:solidFill>
                <a:effectLst/>
                <a:uFillTx/>
                <a:latin typeface="Calibri"/>
              </a:rPr>
              <a:t>1</a:t>
            </a:fld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Text 0"/>
          <p:cNvSpPr/>
          <p:nvPr/>
        </p:nvSpPr>
        <p:spPr>
          <a:xfrm>
            <a:off x="380880" y="443520"/>
            <a:ext cx="11658240" cy="37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9000"/>
              </a:lnSpc>
              <a:tabLst>
                <a:tab pos="0" algn="l"/>
              </a:tabLst>
            </a:pPr>
            <a:r>
              <a:rPr lang="en-US" sz="239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SLIDE 17: The PM Definition</a:t>
            </a:r>
            <a:endParaRPr lang="en-US" sz="23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Text 1"/>
          <p:cNvSpPr/>
          <p:nvPr/>
        </p:nvSpPr>
        <p:spPr>
          <a:xfrm>
            <a:off x="380880" y="1013760"/>
            <a:ext cx="11429640" cy="5362200"/>
          </a:xfrm>
          <a:prstGeom prst="rect">
            <a:avLst/>
          </a:prstGeom>
          <a:solidFill>
            <a:srgbClr val="F4F4F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2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━━━━━━━━━━━━━━━━━━━━━━━━━━━━━━━━━━━━━━━━━━━━━━━━━━━━━━━━━━━━━━━━━━━━━━━━━</a:t>
            </a:r>
            <a:endParaRPr lang="en-US" sz="172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72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2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   THE PM DEFINITION</a:t>
            </a:r>
            <a:endParaRPr lang="en-US" sz="172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72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2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Product Management is the practice</a:t>
            </a:r>
            <a:endParaRPr lang="en-US" sz="172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2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of identifying user problems that</a:t>
            </a:r>
            <a:endParaRPr lang="en-US" sz="172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2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are worth solving, defining solutions</a:t>
            </a:r>
            <a:endParaRPr lang="en-US" sz="172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2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that deliver business value, and</a:t>
            </a:r>
            <a:endParaRPr lang="en-US" sz="172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2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working with cross-functional teams</a:t>
            </a:r>
            <a:endParaRPr lang="en-US" sz="172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2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to ship those solutions, then</a:t>
            </a:r>
            <a:endParaRPr lang="en-US" sz="172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2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measuring and iterating to</a:t>
            </a:r>
            <a:endParaRPr lang="en-US" sz="172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2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continuously improve.</a:t>
            </a:r>
            <a:endParaRPr lang="en-US" sz="172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72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2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───</a:t>
            </a:r>
            <a:endParaRPr lang="en-US" sz="172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72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2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PMs are translators between</a:t>
            </a:r>
            <a:endParaRPr lang="en-US" sz="172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2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Business, Users, and Technology.</a:t>
            </a:r>
            <a:endParaRPr lang="en-US" sz="172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72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2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━━━━━━━━━━━━━━━━━━━━━━━━━━━━━━━━━━━━━━━━━━━━━━━━━━━━━━━━━━━━━━━━━━━━━━━━━</a:t>
            </a:r>
            <a:endParaRPr lang="en-US" sz="172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PlaceHolder 1"/>
          <p:cNvSpPr>
            <a:spLocks noGrp="1"/>
          </p:cNvSpPr>
          <p:nvPr>
            <p:ph type="sldNum" idx="24"/>
          </p:nvPr>
        </p:nvSpPr>
        <p:spPr>
          <a:xfrm>
            <a:off x="0" y="6343560"/>
            <a:ext cx="11810520" cy="22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350" b="0" u="none" strike="noStrike">
                <a:solidFill>
                  <a:srgbClr val="777777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DEE490B-E20D-4D4D-B95C-FFC1DFBCEFD2}" type="slidenum">
              <a:rPr lang="en-US" sz="1350" b="0" u="none" strike="noStrike">
                <a:solidFill>
                  <a:srgbClr val="777777"/>
                </a:solidFill>
                <a:effectLst/>
                <a:uFillTx/>
                <a:latin typeface="Calibri"/>
              </a:rPr>
              <a:t>1</a:t>
            </a:fld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Text 0"/>
          <p:cNvSpPr/>
          <p:nvPr/>
        </p:nvSpPr>
        <p:spPr>
          <a:xfrm>
            <a:off x="380880" y="443520"/>
            <a:ext cx="11658240" cy="37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9000"/>
              </a:lnSpc>
              <a:tabLst>
                <a:tab pos="0" algn="l"/>
              </a:tabLst>
            </a:pPr>
            <a:r>
              <a:rPr lang="en-US" sz="239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SLIDE 18: The Translation Analogy</a:t>
            </a:r>
            <a:endParaRPr lang="en-US" sz="23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Text 1"/>
          <p:cNvSpPr/>
          <p:nvPr/>
        </p:nvSpPr>
        <p:spPr>
          <a:xfrm>
            <a:off x="380880" y="1013760"/>
            <a:ext cx="11429640" cy="5362200"/>
          </a:xfrm>
          <a:prstGeom prst="rect">
            <a:avLst/>
          </a:prstGeom>
          <a:solidFill>
            <a:srgbClr val="F4F4F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4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━━━━━━━━━━━━━━━━━━━━━━━━━━━━━━━━━━━━━━━━━━━━━━━━━━━━━━━━━━━━━━━━━━━━━━━━━</a:t>
            </a:r>
            <a:endParaRPr lang="en-US" sz="12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2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4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   THE TRANSLATION ANALOGY</a:t>
            </a:r>
            <a:endParaRPr lang="en-US" sz="12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2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4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Imagine three people at a table:</a:t>
            </a:r>
            <a:endParaRPr lang="en-US" sz="12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2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4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┌─────────────────────────────────────┐</a:t>
            </a:r>
            <a:endParaRPr lang="en-US" sz="12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4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USER                             │</a:t>
            </a:r>
            <a:endParaRPr lang="en-US" sz="12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4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"I need to understand where my   │</a:t>
            </a:r>
            <a:endParaRPr lang="en-US" sz="12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4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 money is going."                │</a:t>
            </a:r>
            <a:endParaRPr lang="en-US" sz="12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4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└─────────────────────────────────────┘</a:t>
            </a:r>
            <a:endParaRPr lang="en-US" sz="12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2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4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┌─────────────────────────────────────┐</a:t>
            </a:r>
            <a:endParaRPr lang="en-US" sz="12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4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BUSINESS                         │</a:t>
            </a:r>
            <a:endParaRPr lang="en-US" sz="12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4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"We need to increase retention   │</a:t>
            </a:r>
            <a:endParaRPr lang="en-US" sz="12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4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 and reduce churn."              │</a:t>
            </a:r>
            <a:endParaRPr lang="en-US" sz="12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4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└─────────────────────────────────────┘</a:t>
            </a:r>
            <a:endParaRPr lang="en-US" sz="12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2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4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┌─────────────────────────────────────┐</a:t>
            </a:r>
            <a:endParaRPr lang="en-US" sz="12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4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ENGINEERING                       │</a:t>
            </a:r>
            <a:endParaRPr lang="en-US" sz="12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4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"We can build it in 2 sprints    │</a:t>
            </a:r>
            <a:endParaRPr lang="en-US" sz="12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4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 using our existing API."        │</a:t>
            </a:r>
            <a:endParaRPr lang="en-US" sz="12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4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└─────────────────────────────────────┘</a:t>
            </a:r>
            <a:endParaRPr lang="en-US" sz="12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2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4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YOU ARE THE TRANSLATOR.</a:t>
            </a:r>
            <a:endParaRPr lang="en-US" sz="12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2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4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━━━━━━━━━━━━━━━━━━━━━━━━━━━━━━━━━━━━━━━━━━━━━━━━━━━━━━━━━━━━━━━━━━━━━━━━━</a:t>
            </a:r>
            <a:endParaRPr lang="en-US" sz="12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PlaceHolder 1"/>
          <p:cNvSpPr>
            <a:spLocks noGrp="1"/>
          </p:cNvSpPr>
          <p:nvPr>
            <p:ph type="sldNum" idx="25"/>
          </p:nvPr>
        </p:nvSpPr>
        <p:spPr>
          <a:xfrm>
            <a:off x="0" y="6343560"/>
            <a:ext cx="11810520" cy="22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350" b="0" u="none" strike="noStrike">
                <a:solidFill>
                  <a:srgbClr val="777777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80B0575-5AC2-45EF-AC60-3C98F81DC99B}" type="slidenum">
              <a:rPr lang="en-US" sz="1350" b="0" u="none" strike="noStrike">
                <a:solidFill>
                  <a:srgbClr val="777777"/>
                </a:solidFill>
                <a:effectLst/>
                <a:uFillTx/>
                <a:latin typeface="Calibri"/>
              </a:rPr>
              <a:t>1</a:t>
            </a:fld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Text 0"/>
          <p:cNvSpPr/>
          <p:nvPr/>
        </p:nvSpPr>
        <p:spPr>
          <a:xfrm>
            <a:off x="380880" y="443520"/>
            <a:ext cx="11658240" cy="37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9000"/>
              </a:lnSpc>
              <a:tabLst>
                <a:tab pos="0" algn="l"/>
              </a:tabLst>
            </a:pPr>
            <a:r>
              <a:rPr lang="en-US" sz="239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SLIDE 19: Core Responsibilities</a:t>
            </a:r>
            <a:endParaRPr lang="en-US" sz="23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Text 1"/>
          <p:cNvSpPr/>
          <p:nvPr/>
        </p:nvSpPr>
        <p:spPr>
          <a:xfrm>
            <a:off x="380880" y="1013760"/>
            <a:ext cx="11429640" cy="5362200"/>
          </a:xfrm>
          <a:prstGeom prst="rect">
            <a:avLst/>
          </a:prstGeom>
          <a:solidFill>
            <a:srgbClr val="F4F4F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4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━━━━━━━━━━━━━━━━━━━━━━━━━━━━━━━━━━━━━━━━━━━━━━━━━━━━━━━━━━━━━━━━━━━━━━━━━</a:t>
            </a:r>
            <a:endParaRPr lang="en-US" sz="12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2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4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   CORE RESPONSIBILITIES</a:t>
            </a:r>
            <a:endParaRPr lang="en-US" sz="12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2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4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┌─────────────────────────────────────┐</a:t>
            </a:r>
            <a:endParaRPr lang="en-US" sz="12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4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DISCOVERY                         │</a:t>
            </a:r>
            <a:endParaRPr lang="en-US" sz="12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4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"Are we solving the right        │</a:t>
            </a:r>
            <a:endParaRPr lang="en-US" sz="12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4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 problem?"                       │</a:t>
            </a:r>
            <a:endParaRPr lang="en-US" sz="12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4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└─────────────────────────────────────┘</a:t>
            </a:r>
            <a:endParaRPr lang="en-US" sz="12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2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4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┌─────────────────────────────────────┐</a:t>
            </a:r>
            <a:endParaRPr lang="en-US" sz="12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4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STRATEGY                          │</a:t>
            </a:r>
            <a:endParaRPr lang="en-US" sz="12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4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"What should we build and why?"  │</a:t>
            </a:r>
            <a:endParaRPr lang="en-US" sz="12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4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└─────────────────────────────────────┘</a:t>
            </a:r>
            <a:endParaRPr lang="en-US" sz="12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2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4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┌─────────────────────────────────────┐</a:t>
            </a:r>
            <a:endParaRPr lang="en-US" sz="12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4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EXECUTION                         │</a:t>
            </a:r>
            <a:endParaRPr lang="en-US" sz="12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4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"How do we build it right?"      │</a:t>
            </a:r>
            <a:endParaRPr lang="en-US" sz="12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4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└─────────────────────────────────────┘</a:t>
            </a:r>
            <a:endParaRPr lang="en-US" sz="12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2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4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┌─────────────────────────────────────┐</a:t>
            </a:r>
            <a:endParaRPr lang="en-US" sz="12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4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GROWTH                            │</a:t>
            </a:r>
            <a:endParaRPr lang="en-US" sz="12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4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"Did it work? How do we make it  │</a:t>
            </a:r>
            <a:endParaRPr lang="en-US" sz="12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4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 better?"                        │</a:t>
            </a:r>
            <a:endParaRPr lang="en-US" sz="12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4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└─────────────────────────────────────┘</a:t>
            </a:r>
            <a:endParaRPr lang="en-US" sz="12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2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4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━━━━━━━━━━━━━━━━━━━━━━━━━━━━━━━━━━━━━━━━━━━━━━━━━━━━━━━━━━━━━━━━━━━━━━━━━</a:t>
            </a:r>
            <a:endParaRPr lang="en-US" sz="12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PlaceHolder 1"/>
          <p:cNvSpPr>
            <a:spLocks noGrp="1"/>
          </p:cNvSpPr>
          <p:nvPr>
            <p:ph type="sldNum" idx="26"/>
          </p:nvPr>
        </p:nvSpPr>
        <p:spPr>
          <a:xfrm>
            <a:off x="0" y="6343560"/>
            <a:ext cx="11810520" cy="22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350" b="0" u="none" strike="noStrike">
                <a:solidFill>
                  <a:srgbClr val="777777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2D63F92-EC8E-4DBF-B493-94CEF336028A}" type="slidenum">
              <a:rPr lang="en-US" sz="1350" b="0" u="none" strike="noStrike">
                <a:solidFill>
                  <a:srgbClr val="777777"/>
                </a:solidFill>
                <a:effectLst/>
                <a:uFillTx/>
                <a:latin typeface="Calibri"/>
              </a:rPr>
              <a:t>1</a:t>
            </a:fld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Text 0"/>
          <p:cNvSpPr/>
          <p:nvPr/>
        </p:nvSpPr>
        <p:spPr>
          <a:xfrm>
            <a:off x="380880" y="443520"/>
            <a:ext cx="11658240" cy="37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9000"/>
              </a:lnSpc>
              <a:tabLst>
                <a:tab pos="0" algn="l"/>
              </a:tabLst>
            </a:pPr>
            <a:r>
              <a:rPr lang="en-US" sz="239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SLIDE 20: PM vs. Other Roles</a:t>
            </a:r>
            <a:endParaRPr lang="en-US" sz="23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Text 1"/>
          <p:cNvSpPr/>
          <p:nvPr/>
        </p:nvSpPr>
        <p:spPr>
          <a:xfrm>
            <a:off x="380880" y="1013760"/>
            <a:ext cx="11429640" cy="5362200"/>
          </a:xfrm>
          <a:prstGeom prst="rect">
            <a:avLst/>
          </a:prstGeom>
          <a:solidFill>
            <a:srgbClr val="F4F4F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━━━━━━━━━━━━━━━━━━━━━━━━━━━━━━━━━━━━━━━━━━━━━━━━━━━━━━━━━━━━━━━━━━━━━━━━━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   PM VS. OTHER ROLES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┌─────────────────────────────────────┐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PRODUCT MANAGER                   │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What to build and why             │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└─────────────────────────────────────┘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┌─────────────────────────────────────┐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PROJECT MANAGER                   │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How to deliver it on time         │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└─────────────────────────────────────┘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┌─────────────────────────────────────┐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PROGRAM MANAGER                   │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How to coordinate multiple        │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projects                          │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└─────────────────────────────────────┘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┌─────────────────────────────────────┐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PRODUCT OWNER                     │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How to manage the backlog         │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└─────────────────────────────────────┘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┌─────────────────────────────────────┐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ENGINEERING MANAGER               │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How to manage the engineering     │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team                              │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└─────────────────────────────────────┘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━━━━━━━━━━━━━━━━━━━━━━━━━━━━━━━━━━━━━━━━━━━━━━━━━━━━━━━━━━━━━━━━━━━━━━━━━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PlaceHolder 1"/>
          <p:cNvSpPr>
            <a:spLocks noGrp="1"/>
          </p:cNvSpPr>
          <p:nvPr>
            <p:ph type="sldNum" idx="27"/>
          </p:nvPr>
        </p:nvSpPr>
        <p:spPr>
          <a:xfrm>
            <a:off x="0" y="6343560"/>
            <a:ext cx="11810520" cy="22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350" b="0" u="none" strike="noStrike">
                <a:solidFill>
                  <a:srgbClr val="777777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E4EB0A2-E4E0-4611-B96D-F602B4B080A0}" type="slidenum">
              <a:rPr lang="en-US" sz="1350" b="0" u="none" strike="noStrike">
                <a:solidFill>
                  <a:srgbClr val="777777"/>
                </a:solidFill>
                <a:effectLst/>
                <a:uFillTx/>
                <a:latin typeface="Calibri"/>
              </a:rPr>
              <a:t>1</a:t>
            </a:fld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Text 0"/>
          <p:cNvSpPr/>
          <p:nvPr/>
        </p:nvSpPr>
        <p:spPr>
          <a:xfrm>
            <a:off x="380880" y="443520"/>
            <a:ext cx="11658240" cy="37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9000"/>
              </a:lnSpc>
              <a:tabLst>
                <a:tab pos="0" algn="l"/>
              </a:tabLst>
            </a:pPr>
            <a:r>
              <a:rPr lang="en-US" sz="239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SLIDE 21: What PMs Are NOT</a:t>
            </a:r>
            <a:endParaRPr lang="en-US" sz="23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Text 1"/>
          <p:cNvSpPr/>
          <p:nvPr/>
        </p:nvSpPr>
        <p:spPr>
          <a:xfrm>
            <a:off x="380880" y="1013760"/>
            <a:ext cx="11429640" cy="5362200"/>
          </a:xfrm>
          <a:prstGeom prst="rect">
            <a:avLst/>
          </a:prstGeom>
          <a:solidFill>
            <a:srgbClr val="F4F4F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━━━━━━━━━━━━━━━━━━━━━━━━━━━━━━━━━━━━━━━━━━━━━━━━━━━━━━━━━━━━━━━━━━━━━━━━━</a:t>
            </a:r>
            <a:endParaRPr lang="en-US" sz="9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9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   WHAT PMS ARE NOT</a:t>
            </a:r>
            <a:endParaRPr lang="en-US" sz="9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9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┌─────────────────────────────────────┐</a:t>
            </a:r>
            <a:endParaRPr lang="en-US" sz="9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NOT THE CEO OF THE PRODUCT        │</a:t>
            </a:r>
            <a:endParaRPr lang="en-US" sz="9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You don't have CEO-level          │</a:t>
            </a:r>
            <a:endParaRPr lang="en-US" sz="9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authority                        │</a:t>
            </a:r>
            <a:endParaRPr lang="en-US" sz="9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└─────────────────────────────────────┘</a:t>
            </a:r>
            <a:endParaRPr lang="en-US" sz="9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9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┌─────────────────────────────────────┐</a:t>
            </a:r>
            <a:endParaRPr lang="en-US" sz="9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NOT THE IDEA MACHINE              │</a:t>
            </a:r>
            <a:endParaRPr lang="en-US" sz="9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Your job is to find the best      │</a:t>
            </a:r>
            <a:endParaRPr lang="en-US" sz="9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ideas, not have them all          │</a:t>
            </a:r>
            <a:endParaRPr lang="en-US" sz="9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└─────────────────────────────────────┘</a:t>
            </a:r>
            <a:endParaRPr lang="en-US" sz="9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9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┌─────────────────────────────────────┐</a:t>
            </a:r>
            <a:endParaRPr lang="en-US" sz="9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NOT THE PROJECT MANAGER           │</a:t>
            </a:r>
            <a:endParaRPr lang="en-US" sz="9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You focus on what, not when       │</a:t>
            </a:r>
            <a:endParaRPr lang="en-US" sz="9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└─────────────────────────────────────┘</a:t>
            </a:r>
            <a:endParaRPr lang="en-US" sz="9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9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┌─────────────────────────────────────┐</a:t>
            </a:r>
            <a:endParaRPr lang="en-US" sz="9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NOT THE ENGINEERING MANAGER       │</a:t>
            </a:r>
            <a:endParaRPr lang="en-US" sz="9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You work with engineers, not      │</a:t>
            </a:r>
            <a:endParaRPr lang="en-US" sz="9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over them                         │</a:t>
            </a:r>
            <a:endParaRPr lang="en-US" sz="9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└─────────────────────────────────────┘</a:t>
            </a:r>
            <a:endParaRPr lang="en-US" sz="9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9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┌─────────────────────────────────────┐</a:t>
            </a:r>
            <a:endParaRPr lang="en-US" sz="9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NOT THE DESIGNER                  │</a:t>
            </a:r>
            <a:endParaRPr lang="en-US" sz="9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You define the problem, not the   │</a:t>
            </a:r>
            <a:endParaRPr lang="en-US" sz="9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pixels                            │</a:t>
            </a:r>
            <a:endParaRPr lang="en-US" sz="9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└─────────────────────────────────────┘</a:t>
            </a:r>
            <a:endParaRPr lang="en-US" sz="9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9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━━━━━━━━━━━━━━━━━━━━━━━━━━━━━━━━━━━━━━━━━━━━━━━━━━━━━━━━━━━━━━━━━━━━━━━━━</a:t>
            </a:r>
            <a:endParaRPr lang="en-US" sz="9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PlaceHolder 1"/>
          <p:cNvSpPr>
            <a:spLocks noGrp="1"/>
          </p:cNvSpPr>
          <p:nvPr>
            <p:ph type="sldNum" idx="28"/>
          </p:nvPr>
        </p:nvSpPr>
        <p:spPr>
          <a:xfrm>
            <a:off x="0" y="6343560"/>
            <a:ext cx="11810520" cy="22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350" b="0" u="none" strike="noStrike">
                <a:solidFill>
                  <a:srgbClr val="777777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EC438E9-1BA4-4F1A-82A7-120D2457E6BB}" type="slidenum">
              <a:rPr lang="en-US" sz="1350" b="0" u="none" strike="noStrike">
                <a:solidFill>
                  <a:srgbClr val="777777"/>
                </a:solidFill>
                <a:effectLst/>
                <a:uFillTx/>
                <a:latin typeface="Calibri"/>
              </a:rPr>
              <a:t>1</a:t>
            </a:fld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Text 0"/>
          <p:cNvSpPr/>
          <p:nvPr/>
        </p:nvSpPr>
        <p:spPr>
          <a:xfrm>
            <a:off x="380880" y="443520"/>
            <a:ext cx="11658240" cy="37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9000"/>
              </a:lnSpc>
              <a:tabLst>
                <a:tab pos="0" algn="l"/>
              </a:tabLst>
            </a:pPr>
            <a:r>
              <a:rPr lang="en-US" sz="239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SLIDE 22: The PM Role Canvas</a:t>
            </a:r>
            <a:endParaRPr lang="en-US" sz="23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Text 1"/>
          <p:cNvSpPr/>
          <p:nvPr/>
        </p:nvSpPr>
        <p:spPr>
          <a:xfrm>
            <a:off x="380880" y="1013760"/>
            <a:ext cx="11429640" cy="5362200"/>
          </a:xfrm>
          <a:prstGeom prst="rect">
            <a:avLst/>
          </a:prstGeom>
          <a:solidFill>
            <a:srgbClr val="F4F4F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3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━━━━━━━━━━━━━━━━━━━━━━━━━━━━━━━━━━━━━━━━━━━━━━━━━━━━━━━━━━━━━━━━━━━━━━━━━</a:t>
            </a:r>
            <a:endParaRPr lang="en-US" sz="13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3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3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   THE PM ROLE CANVAS</a:t>
            </a:r>
            <a:endParaRPr lang="en-US" sz="13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3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3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Six Dimensions of PM Work:</a:t>
            </a:r>
            <a:endParaRPr lang="en-US" sz="13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3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3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1. USER UNDERSTANDING</a:t>
            </a:r>
            <a:endParaRPr lang="en-US" sz="13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3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   Who are our users?</a:t>
            </a:r>
            <a:endParaRPr lang="en-US" sz="13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3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3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2. STRATEGY &amp; VISION</a:t>
            </a:r>
            <a:endParaRPr lang="en-US" sz="13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3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   Where are we going?</a:t>
            </a:r>
            <a:endParaRPr lang="en-US" sz="13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3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3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3. PRIORITIZATION</a:t>
            </a:r>
            <a:endParaRPr lang="en-US" sz="13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3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   What do we build next?</a:t>
            </a:r>
            <a:endParaRPr lang="en-US" sz="13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3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3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4. EXECUTION &amp; DELIVERY</a:t>
            </a:r>
            <a:endParaRPr lang="en-US" sz="13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3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   How do we build it?</a:t>
            </a:r>
            <a:endParaRPr lang="en-US" sz="13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3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3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5. MEASUREMENT &amp; ITERATION</a:t>
            </a:r>
            <a:endParaRPr lang="en-US" sz="13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3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   Is it working?</a:t>
            </a:r>
            <a:endParaRPr lang="en-US" sz="13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3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3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6. COMMUNICATION &amp; ALIGNMENT</a:t>
            </a:r>
            <a:endParaRPr lang="en-US" sz="13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3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   Is everyone aligned?</a:t>
            </a:r>
            <a:endParaRPr lang="en-US" sz="13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3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3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━━━━━━━━━━━━━━━━━━━━━━━━━━━━━━━━━━━━━━━━━━━━━━━━━━━━━━━━━━━━━━━━━━━━━━━━━</a:t>
            </a:r>
            <a:endParaRPr lang="en-US" sz="13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PlaceHolder 1"/>
          <p:cNvSpPr>
            <a:spLocks noGrp="1"/>
          </p:cNvSpPr>
          <p:nvPr>
            <p:ph type="sldNum" idx="29"/>
          </p:nvPr>
        </p:nvSpPr>
        <p:spPr>
          <a:xfrm>
            <a:off x="0" y="6343560"/>
            <a:ext cx="11810520" cy="22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350" b="0" u="none" strike="noStrike">
                <a:solidFill>
                  <a:srgbClr val="777777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54BFCEC-5BDD-4511-AE9D-89DF7D92B658}" type="slidenum">
              <a:rPr lang="en-US" sz="1350" b="0" u="none" strike="noStrike">
                <a:solidFill>
                  <a:srgbClr val="777777"/>
                </a:solidFill>
                <a:effectLst/>
                <a:uFillTx/>
                <a:latin typeface="Calibri"/>
              </a:rPr>
              <a:t>1</a:t>
            </a:fld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Text 0"/>
          <p:cNvSpPr/>
          <p:nvPr/>
        </p:nvSpPr>
        <p:spPr>
          <a:xfrm>
            <a:off x="380880" y="443520"/>
            <a:ext cx="11658240" cy="37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9000"/>
              </a:lnSpc>
              <a:tabLst>
                <a:tab pos="0" algn="l"/>
              </a:tabLst>
            </a:pPr>
            <a:r>
              <a:rPr lang="en-US" sz="239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SLIDE 23: The PM Mindset Shifts</a:t>
            </a:r>
            <a:endParaRPr lang="en-US" sz="23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Text 1"/>
          <p:cNvSpPr/>
          <p:nvPr/>
        </p:nvSpPr>
        <p:spPr>
          <a:xfrm>
            <a:off x="380880" y="1013760"/>
            <a:ext cx="11429640" cy="5362200"/>
          </a:xfrm>
          <a:prstGeom prst="rect">
            <a:avLst/>
          </a:prstGeom>
          <a:solidFill>
            <a:srgbClr val="F4F4F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1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━━━━━━━━━━━━━━━━━━━━━━━━━━━━━━━━━━━━━━━━━━━━━━━━━━━━━━━━━━━━━━━━━━━━━━━━━</a:t>
            </a:r>
            <a:endParaRPr lang="en-US" sz="11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1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1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   THE PM MINDSET SHIFTS</a:t>
            </a:r>
            <a:endParaRPr lang="en-US" sz="11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1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1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┌─────────────────────────────────────┐</a:t>
            </a:r>
            <a:endParaRPr lang="en-US" sz="11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1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FROM "WHAT FEATURES?"             │</a:t>
            </a:r>
            <a:endParaRPr lang="en-US" sz="11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1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TO "WHAT PROBLEM?"                │</a:t>
            </a:r>
            <a:endParaRPr lang="en-US" sz="11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1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└─────────────────────────────────────┘</a:t>
            </a:r>
            <a:endParaRPr lang="en-US" sz="11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1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1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┌─────────────────────────────────────┐</a:t>
            </a:r>
            <a:endParaRPr lang="en-US" sz="11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1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FROM "I THINK"                    │</a:t>
            </a:r>
            <a:endParaRPr lang="en-US" sz="11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1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TO "THE DATA SAYS"                │</a:t>
            </a:r>
            <a:endParaRPr lang="en-US" sz="11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1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└─────────────────────────────────────┘</a:t>
            </a:r>
            <a:endParaRPr lang="en-US" sz="11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1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1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┌─────────────────────────────────────┐</a:t>
            </a:r>
            <a:endParaRPr lang="en-US" sz="11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1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FROM "SHIPPING"                   │</a:t>
            </a:r>
            <a:endParaRPr lang="en-US" sz="11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1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TO "OUTCOMES"                     │</a:t>
            </a:r>
            <a:endParaRPr lang="en-US" sz="11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1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└─────────────────────────────────────┘</a:t>
            </a:r>
            <a:endParaRPr lang="en-US" sz="11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1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1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┌─────────────────────────────────────┐</a:t>
            </a:r>
            <a:endParaRPr lang="en-US" sz="11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1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FROM "RIGHT"                      │</a:t>
            </a:r>
            <a:endParaRPr lang="en-US" sz="11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1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TO "CURIOUS"                      │</a:t>
            </a:r>
            <a:endParaRPr lang="en-US" sz="11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1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└─────────────────────────────────────┘</a:t>
            </a:r>
            <a:endParaRPr lang="en-US" sz="11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1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1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┌─────────────────────────────────────┐</a:t>
            </a:r>
            <a:endParaRPr lang="en-US" sz="11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1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FROM "I"                          │</a:t>
            </a:r>
            <a:endParaRPr lang="en-US" sz="11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1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TO "WE"                           │</a:t>
            </a:r>
            <a:endParaRPr lang="en-US" sz="11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1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└─────────────────────────────────────┘</a:t>
            </a:r>
            <a:endParaRPr lang="en-US" sz="11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1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1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━━━━━━━━━━━━━━━━━━━━━━━━━━━━━━━━━━━━━━━━━━━━━━━━━━━━━━━━━━━━━━━━━━━━━━━━━</a:t>
            </a:r>
            <a:endParaRPr lang="en-US" sz="11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PlaceHolder 1"/>
          <p:cNvSpPr>
            <a:spLocks noGrp="1"/>
          </p:cNvSpPr>
          <p:nvPr>
            <p:ph type="sldNum" idx="30"/>
          </p:nvPr>
        </p:nvSpPr>
        <p:spPr>
          <a:xfrm>
            <a:off x="0" y="6343560"/>
            <a:ext cx="11810520" cy="22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350" b="0" u="none" strike="noStrike">
                <a:solidFill>
                  <a:srgbClr val="777777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20ED310-6296-47EC-89A6-48F139776A82}" type="slidenum">
              <a:rPr lang="en-US" sz="1350" b="0" u="none" strike="noStrike">
                <a:solidFill>
                  <a:srgbClr val="777777"/>
                </a:solidFill>
                <a:effectLst/>
                <a:uFillTx/>
                <a:latin typeface="Calibri"/>
              </a:rPr>
              <a:t>1</a:t>
            </a:fld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Text 0"/>
          <p:cNvSpPr/>
          <p:nvPr/>
        </p:nvSpPr>
        <p:spPr>
          <a:xfrm>
            <a:off x="380880" y="443520"/>
            <a:ext cx="11658240" cy="37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9000"/>
              </a:lnSpc>
              <a:tabLst>
                <a:tab pos="0" algn="l"/>
              </a:tabLst>
            </a:pPr>
            <a:r>
              <a:rPr lang="en-US" sz="239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SLIDE 24: The Cost of Being Wrong</a:t>
            </a:r>
            <a:endParaRPr lang="en-US" sz="23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Text 1"/>
          <p:cNvSpPr/>
          <p:nvPr/>
        </p:nvSpPr>
        <p:spPr>
          <a:xfrm>
            <a:off x="380880" y="1013760"/>
            <a:ext cx="11429640" cy="5362200"/>
          </a:xfrm>
          <a:prstGeom prst="rect">
            <a:avLst/>
          </a:prstGeom>
          <a:solidFill>
            <a:srgbClr val="F4F4F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━━━━━━━━━━━━━━━━━━━━━━━━━━━━━━━━━━━━━━━━━━━━━━━━━━━━━━━━━━━━━━━━━━━━━━━━━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   THE COST OF BEING WRONG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DISCOVERY: $1,000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────────────────────────────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It's cheap to change your mind.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DEVELOPMENT: $100,000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────────────────────────────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It's expensive to change your mind.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LAUNCH: $1,000,000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────────────────────────────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It's catastrophic to change your mind.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───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DISCOVERY IS CHEAP.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BUILDING IS EXPENSIVE.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LAUNCHING IS CATASTROPHIC.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━━━━━━━━━━━━━━━━━━━━━━━━━━━━━━━━━━━━━━━━━━━━━━━━━━━━━━━━━━━━━━━━━━━━━━━━━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PlaceHolder 1"/>
          <p:cNvSpPr>
            <a:spLocks noGrp="1"/>
          </p:cNvSpPr>
          <p:nvPr>
            <p:ph type="sldNum" idx="31"/>
          </p:nvPr>
        </p:nvSpPr>
        <p:spPr>
          <a:xfrm>
            <a:off x="0" y="6343560"/>
            <a:ext cx="11810520" cy="22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350" b="0" u="none" strike="noStrike">
                <a:solidFill>
                  <a:srgbClr val="777777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8061D9C-6B00-4714-889E-3278D88E4C6B}" type="slidenum">
              <a:rPr lang="en-US" sz="1350" b="0" u="none" strike="noStrike">
                <a:solidFill>
                  <a:srgbClr val="777777"/>
                </a:solidFill>
                <a:effectLst/>
                <a:uFillTx/>
                <a:latin typeface="Calibri"/>
              </a:rPr>
              <a:t>1</a:t>
            </a:fld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Text 0"/>
          <p:cNvSpPr/>
          <p:nvPr/>
        </p:nvSpPr>
        <p:spPr>
          <a:xfrm>
            <a:off x="380880" y="443520"/>
            <a:ext cx="11658240" cy="37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9000"/>
              </a:lnSpc>
              <a:tabLst>
                <a:tab pos="0" algn="l"/>
              </a:tabLst>
            </a:pPr>
            <a:r>
              <a:rPr lang="en-US" sz="239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SLIDE 25: The Ledgerly Scenario</a:t>
            </a:r>
            <a:endParaRPr lang="en-US" sz="23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Text 1"/>
          <p:cNvSpPr/>
          <p:nvPr/>
        </p:nvSpPr>
        <p:spPr>
          <a:xfrm>
            <a:off x="380880" y="1013760"/>
            <a:ext cx="11429640" cy="5362200"/>
          </a:xfrm>
          <a:prstGeom prst="rect">
            <a:avLst/>
          </a:prstGeom>
          <a:solidFill>
            <a:srgbClr val="F4F4F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━━━━━━━━━━━━━━━━━━━━━━━━━━━━━━━━━━━━━━━━━━━━━━━━━━━━━━━━━━━━━━━━━━━━━━━━━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   THE LEDGERLY SCENARIO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YOUR FIRST DAY AS A PM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┌─────────────────────────────────────┐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The Product:                      │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Ledgerly - Personal finance app   │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                                  │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The Team:                         │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4 Engineers, 1 Designer, 1 EM     │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                                  │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The Data:                         │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50,000 users, 80% connect bank,   │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only 20% active after 30 days     │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                                  │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Your Task:                        │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"Figure out why users are         │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 leaving and what to do about it."│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└─────────────────────────────────────┘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━━━━━━━━━━━━━━━━━━━━━━━━━━━━━━━━━━━━━━━━━━━━━━━━━━━━━━━━━━━━━━━━━━━━━━━━━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PlaceHolder 1"/>
          <p:cNvSpPr>
            <a:spLocks noGrp="1"/>
          </p:cNvSpPr>
          <p:nvPr>
            <p:ph type="sldNum" idx="32"/>
          </p:nvPr>
        </p:nvSpPr>
        <p:spPr>
          <a:xfrm>
            <a:off x="0" y="6343560"/>
            <a:ext cx="11810520" cy="22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350" b="0" u="none" strike="noStrike">
                <a:solidFill>
                  <a:srgbClr val="777777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70F1ABB-BD0A-48CC-96A0-7180AAEECF25}" type="slidenum">
              <a:rPr lang="en-US" sz="1350" b="0" u="none" strike="noStrike">
                <a:solidFill>
                  <a:srgbClr val="777777"/>
                </a:solidFill>
                <a:effectLst/>
                <a:uFillTx/>
                <a:latin typeface="Calibri"/>
              </a:rPr>
              <a:t>1</a:t>
            </a:fld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Text 0"/>
          <p:cNvSpPr/>
          <p:nvPr/>
        </p:nvSpPr>
        <p:spPr>
          <a:xfrm>
            <a:off x="380880" y="443520"/>
            <a:ext cx="11658240" cy="37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9000"/>
              </a:lnSpc>
              <a:tabLst>
                <a:tab pos="0" algn="l"/>
              </a:tabLst>
            </a:pPr>
            <a:r>
              <a:rPr lang="en-US" sz="239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SLIDE 26: The Discovery Phase</a:t>
            </a:r>
            <a:endParaRPr lang="en-US" sz="23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Text 1"/>
          <p:cNvSpPr/>
          <p:nvPr/>
        </p:nvSpPr>
        <p:spPr>
          <a:xfrm>
            <a:off x="380880" y="1013760"/>
            <a:ext cx="11429640" cy="5362200"/>
          </a:xfrm>
          <a:prstGeom prst="rect">
            <a:avLst/>
          </a:prstGeom>
          <a:solidFill>
            <a:srgbClr val="F4F4F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━━━━━━━━━━━━━━━━━━━━━━━━━━━━━━━━━━━━━━━━━━━━━━━━━━━━━━━━━━━━━━━━━━━━━━━━━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   THE DISCOVERY PHASE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"Take two weeks to understand the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problem. Don't propose solutions yet.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Just understand the problem deeply."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───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This is the DISCOVERY phase.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And it's where great PMs start.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─────────────────────────────────────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Key Question: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"Are we solving the right problem?"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━━━━━━━━━━━━━━━━━━━━━━━━━━━━━━━━━━━━━━━━━━━━━━━━━━━━━━━━━━━━━━━━━━━━━━━━━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PlaceHolder 1"/>
          <p:cNvSpPr>
            <a:spLocks noGrp="1"/>
          </p:cNvSpPr>
          <p:nvPr>
            <p:ph type="sldNum" idx="33"/>
          </p:nvPr>
        </p:nvSpPr>
        <p:spPr>
          <a:xfrm>
            <a:off x="0" y="6343560"/>
            <a:ext cx="11810520" cy="22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350" b="0" u="none" strike="noStrike">
                <a:solidFill>
                  <a:srgbClr val="777777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E2B3512-C97F-43BE-8124-878E85662835}" type="slidenum">
              <a:rPr lang="en-US" sz="1350" b="0" u="none" strike="noStrike">
                <a:solidFill>
                  <a:srgbClr val="777777"/>
                </a:solidFill>
                <a:effectLst/>
                <a:uFillTx/>
                <a:latin typeface="Calibri"/>
              </a:rPr>
              <a:t>1</a:t>
            </a:fld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Text 0"/>
          <p:cNvSpPr/>
          <p:nvPr/>
        </p:nvSpPr>
        <p:spPr>
          <a:xfrm>
            <a:off x="380880" y="443520"/>
            <a:ext cx="11658240" cy="37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9000"/>
              </a:lnSpc>
              <a:tabLst>
                <a:tab pos="0" algn="l"/>
              </a:tabLst>
            </a:pPr>
            <a:r>
              <a:rPr lang="en-US" sz="239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SLIDE 27: Hands-On - PM Philosophy</a:t>
            </a:r>
            <a:endParaRPr lang="en-US" sz="23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Text 1"/>
          <p:cNvSpPr/>
          <p:nvPr/>
        </p:nvSpPr>
        <p:spPr>
          <a:xfrm>
            <a:off x="380880" y="1013760"/>
            <a:ext cx="11429640" cy="5362200"/>
          </a:xfrm>
          <a:prstGeom prst="rect">
            <a:avLst/>
          </a:prstGeom>
          <a:solidFill>
            <a:srgbClr val="F4F4F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9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━━━━━━━━━━━━━━━━━━━━━━━━━━━━━━━━━━━━━━━━━━━━━━━━━━━━━━━━━━━━━━━━━━━━━━━━━</a:t>
            </a:r>
            <a:endParaRPr lang="en-US" sz="13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3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9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   HANDS-ON: PM PHILOSOPHY</a:t>
            </a:r>
            <a:endParaRPr lang="en-US" sz="13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3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9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Answer these questions:</a:t>
            </a:r>
            <a:endParaRPr lang="en-US" sz="13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3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9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1. Why do you want to be a PM?</a:t>
            </a:r>
            <a:endParaRPr lang="en-US" sz="13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3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9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2. What are your superpowers?</a:t>
            </a:r>
            <a:endParaRPr lang="en-US" sz="13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3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9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3. What are your growth areas?</a:t>
            </a:r>
            <a:endParaRPr lang="en-US" sz="13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3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9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4. How do you make decisions?</a:t>
            </a:r>
            <a:endParaRPr lang="en-US" sz="13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3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9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5. What kind of PM do you want to be?</a:t>
            </a:r>
            <a:endParaRPr lang="en-US" sz="13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3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9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───</a:t>
            </a:r>
            <a:endParaRPr lang="en-US" sz="13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3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9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Then, write a one-paragraph statement.</a:t>
            </a:r>
            <a:endParaRPr lang="en-US" sz="13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3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9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Save as: pm-philosophy.md</a:t>
            </a:r>
            <a:endParaRPr lang="en-US" sz="13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9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In folder: 01-discovery/</a:t>
            </a:r>
            <a:endParaRPr lang="en-US" sz="13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3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9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━━━━━━━━━━━━━━━━━━━━━━━━━━━━━━━━━━━━━━━━━━━━━━━━━━━━━━━━━━━━━━━━━━━━━━━━━</a:t>
            </a:r>
            <a:endParaRPr lang="en-US" sz="13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PlaceHolder 1"/>
          <p:cNvSpPr>
            <a:spLocks noGrp="1"/>
          </p:cNvSpPr>
          <p:nvPr>
            <p:ph type="sldNum" idx="34"/>
          </p:nvPr>
        </p:nvSpPr>
        <p:spPr>
          <a:xfrm>
            <a:off x="0" y="6343560"/>
            <a:ext cx="11810520" cy="22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350" b="0" u="none" strike="noStrike">
                <a:solidFill>
                  <a:srgbClr val="777777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4ECCC3E-E3DC-4DD9-8772-F09C4247676E}" type="slidenum">
              <a:rPr lang="en-US" sz="1350" b="0" u="none" strike="noStrike">
                <a:solidFill>
                  <a:srgbClr val="777777"/>
                </a:solidFill>
                <a:effectLst/>
                <a:uFillTx/>
                <a:latin typeface="Calibri"/>
              </a:rPr>
              <a:t>1</a:t>
            </a:fld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Text 0"/>
          <p:cNvSpPr/>
          <p:nvPr/>
        </p:nvSpPr>
        <p:spPr>
          <a:xfrm>
            <a:off x="380880" y="443520"/>
            <a:ext cx="11658240" cy="37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9000"/>
              </a:lnSpc>
              <a:tabLst>
                <a:tab pos="0" algn="l"/>
              </a:tabLst>
            </a:pPr>
            <a:r>
              <a:rPr lang="en-US" sz="239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SLIDE 28: PM Philosophy Example</a:t>
            </a:r>
            <a:endParaRPr lang="en-US" sz="23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Text 1"/>
          <p:cNvSpPr/>
          <p:nvPr/>
        </p:nvSpPr>
        <p:spPr>
          <a:xfrm>
            <a:off x="380880" y="1013760"/>
            <a:ext cx="11429640" cy="5362200"/>
          </a:xfrm>
          <a:prstGeom prst="rect">
            <a:avLst/>
          </a:prstGeom>
          <a:solidFill>
            <a:srgbClr val="F4F4F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━━━━━━━━━━━━━━━━━━━━━━━━━━━━━━━━━━━━━━━━━━━━━━━━━━━━━━━━━━━━━━━━━━━━━━━━━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   PM PHILOSOPHY EXAMPLE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"My philosophy as a product manager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centers on user empathy and data-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informed decision-making. I believe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that great products emerge from deeply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understanding user problems and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validating solutions with evidence.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I prioritize clarity in communication,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transparency in trade-offs, and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collaboration across disciplines.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I measure success not by features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shipped, but by outcomes achieved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for users and the business."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━━━━━━━━━━━━━━━━━━━━━━━━━━━━━━━━━━━━━━━━━━━━━━━━━━━━━━━━━━━━━━━━━━━━━━━━━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PlaceHolder 1"/>
          <p:cNvSpPr>
            <a:spLocks noGrp="1"/>
          </p:cNvSpPr>
          <p:nvPr>
            <p:ph type="sldNum" idx="35"/>
          </p:nvPr>
        </p:nvSpPr>
        <p:spPr>
          <a:xfrm>
            <a:off x="0" y="6343560"/>
            <a:ext cx="11810520" cy="22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350" b="0" u="none" strike="noStrike">
                <a:solidFill>
                  <a:srgbClr val="777777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E52BF66-38EB-466D-B500-CE87EF94BF81}" type="slidenum">
              <a:rPr lang="en-US" sz="1350" b="0" u="none" strike="noStrike">
                <a:solidFill>
                  <a:srgbClr val="777777"/>
                </a:solidFill>
                <a:effectLst/>
                <a:uFillTx/>
                <a:latin typeface="Calibri"/>
              </a:rPr>
              <a:t>1</a:t>
            </a:fld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Text 0"/>
          <p:cNvSpPr/>
          <p:nvPr/>
        </p:nvSpPr>
        <p:spPr>
          <a:xfrm>
            <a:off x="380880" y="443520"/>
            <a:ext cx="11658240" cy="37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9000"/>
              </a:lnSpc>
              <a:tabLst>
                <a:tab pos="0" algn="l"/>
              </a:tabLst>
            </a:pPr>
            <a:r>
              <a:rPr lang="en-US" sz="239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SLIDE 29: Expert Pro Tips - Junior PM</a:t>
            </a:r>
            <a:endParaRPr lang="en-US" sz="23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Text 1"/>
          <p:cNvSpPr/>
          <p:nvPr/>
        </p:nvSpPr>
        <p:spPr>
          <a:xfrm>
            <a:off x="380880" y="1013760"/>
            <a:ext cx="11429640" cy="5362200"/>
          </a:xfrm>
          <a:prstGeom prst="rect">
            <a:avLst/>
          </a:prstGeom>
          <a:solidFill>
            <a:srgbClr val="F4F4F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8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━━━━━━━━━━━━━━━━━━━━━━━━━━━━━━━━━━━━━━━━━━━━━━━━━━━━━━━━━━━━━━━━━━━━━━━━━</a:t>
            </a:r>
            <a:endParaRPr lang="en-US" sz="10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0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8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   EXPERT PRO TIPS</a:t>
            </a:r>
            <a:endParaRPr lang="en-US" sz="10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0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8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┌─────────────────────────────────────┐</a:t>
            </a:r>
            <a:endParaRPr lang="en-US" sz="10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8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TIP 1: ASK QUESTIONS              │</a:t>
            </a:r>
            <a:endParaRPr lang="en-US" sz="10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8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Your job is to ask questions,     │</a:t>
            </a:r>
            <a:endParaRPr lang="en-US" sz="10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8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not have all the answers          │</a:t>
            </a:r>
            <a:endParaRPr lang="en-US" sz="10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8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└─────────────────────────────────────┘</a:t>
            </a:r>
            <a:endParaRPr lang="en-US" sz="10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0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8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┌─────────────────────────────────────┐</a:t>
            </a:r>
            <a:endParaRPr lang="en-US" sz="10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8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TIP 2: BUILD TRUST                │</a:t>
            </a:r>
            <a:endParaRPr lang="en-US" sz="10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8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Be prepared, honest, consistent,  │</a:t>
            </a:r>
            <a:endParaRPr lang="en-US" sz="10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8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and protective of your team       │</a:t>
            </a:r>
            <a:endParaRPr lang="en-US" sz="10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8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└─────────────────────────────────────┘</a:t>
            </a:r>
            <a:endParaRPr lang="en-US" sz="10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0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8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┌─────────────────────────────────────┐</a:t>
            </a:r>
            <a:endParaRPr lang="en-US" sz="10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8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TIP 3: SAY "NO" WITHOUT SAYING    │</a:t>
            </a:r>
            <a:endParaRPr lang="en-US" sz="10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8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"NO"                              │</a:t>
            </a:r>
            <a:endParaRPr lang="en-US" sz="10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8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"That's interesting. Where does   │</a:t>
            </a:r>
            <a:endParaRPr lang="en-US" sz="10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8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it fit in our priorities?"        │</a:t>
            </a:r>
            <a:endParaRPr lang="en-US" sz="10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8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└─────────────────────────────────────┘</a:t>
            </a:r>
            <a:endParaRPr lang="en-US" sz="10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0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8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┌─────────────────────────────────────┐</a:t>
            </a:r>
            <a:endParaRPr lang="en-US" sz="10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8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TIP 4: FOCUS ON OUTCOMES          │</a:t>
            </a:r>
            <a:endParaRPr lang="en-US" sz="10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8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Output: Shipped a feature         │</a:t>
            </a:r>
            <a:endParaRPr lang="en-US" sz="10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8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Outcome: Improved retention by    │</a:t>
            </a:r>
            <a:endParaRPr lang="en-US" sz="10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8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15%                               │</a:t>
            </a:r>
            <a:endParaRPr lang="en-US" sz="10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8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└─────────────────────────────────────┘</a:t>
            </a:r>
            <a:endParaRPr lang="en-US" sz="10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0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8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━━━━━━━━━━━━━━━━━━━━━━━━━━━━━━━━━━━━━━━━━━━━━━━━━━━━━━━━━━━━━━━━━━━━━━━━━</a:t>
            </a:r>
            <a:endParaRPr lang="en-US" sz="10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PlaceHolder 1"/>
          <p:cNvSpPr>
            <a:spLocks noGrp="1"/>
          </p:cNvSpPr>
          <p:nvPr>
            <p:ph type="sldNum" idx="36"/>
          </p:nvPr>
        </p:nvSpPr>
        <p:spPr>
          <a:xfrm>
            <a:off x="0" y="6343560"/>
            <a:ext cx="11810520" cy="22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350" b="0" u="none" strike="noStrike">
                <a:solidFill>
                  <a:srgbClr val="777777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8B98CA7-F532-46C3-9427-E74519EBC6C0}" type="slidenum">
              <a:rPr lang="en-US" sz="1350" b="0" u="none" strike="noStrike">
                <a:solidFill>
                  <a:srgbClr val="777777"/>
                </a:solidFill>
                <a:effectLst/>
                <a:uFillTx/>
                <a:latin typeface="Calibri"/>
              </a:rPr>
              <a:t>1</a:t>
            </a:fld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Text 0"/>
          <p:cNvSpPr/>
          <p:nvPr/>
        </p:nvSpPr>
        <p:spPr>
          <a:xfrm>
            <a:off x="380880" y="443520"/>
            <a:ext cx="11658240" cy="37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9000"/>
              </a:lnSpc>
              <a:tabLst>
                <a:tab pos="0" algn="l"/>
              </a:tabLst>
            </a:pPr>
            <a:r>
              <a:rPr lang="en-US" sz="239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SLIDE 30: Part 1 Recap</a:t>
            </a:r>
            <a:endParaRPr lang="en-US" sz="23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Text 1"/>
          <p:cNvSpPr/>
          <p:nvPr/>
        </p:nvSpPr>
        <p:spPr>
          <a:xfrm>
            <a:off x="380880" y="1013760"/>
            <a:ext cx="11429640" cy="5362200"/>
          </a:xfrm>
          <a:prstGeom prst="rect">
            <a:avLst/>
          </a:prstGeom>
          <a:solidFill>
            <a:srgbClr val="F4F4F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1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━━━━━━━━━━━━━━━━━━━━━━━━━━━━━━━━━━━━━━━━━━━━━━━━━━━━━━━━━━━━━━━━━━━━━━━━━</a:t>
            </a:r>
            <a:endParaRPr lang="en-US" sz="15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5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1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   PART 1 RECAP</a:t>
            </a:r>
            <a:endParaRPr lang="en-US" sz="15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5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1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┌─────────────────────────────────────┐</a:t>
            </a:r>
            <a:endParaRPr lang="en-US" sz="15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1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What you learned:                 │</a:t>
            </a:r>
            <a:endParaRPr lang="en-US" sz="15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1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                                  │</a:t>
            </a:r>
            <a:endParaRPr lang="en-US" sz="15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1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✓ The PM is a translator          │</a:t>
            </a:r>
            <a:endParaRPr lang="en-US" sz="15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1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✓ Core responsibilities:          │</a:t>
            </a:r>
            <a:endParaRPr lang="en-US" sz="15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1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  Discovery, Strategy, Execution, │</a:t>
            </a:r>
            <a:endParaRPr lang="en-US" sz="15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1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  Growth                          │</a:t>
            </a:r>
            <a:endParaRPr lang="en-US" sz="15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1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✓ What PMs are NOT                │</a:t>
            </a:r>
            <a:endParaRPr lang="en-US" sz="15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1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✓ The PM mindset shifts           │</a:t>
            </a:r>
            <a:endParaRPr lang="en-US" sz="15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1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✓ Your PM philosophy              │</a:t>
            </a:r>
            <a:endParaRPr lang="en-US" sz="15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1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└─────────────────────────────────────┘</a:t>
            </a:r>
            <a:endParaRPr lang="en-US" sz="15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5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1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───</a:t>
            </a:r>
            <a:endParaRPr lang="en-US" sz="15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5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1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Portfolio Tracker:</a:t>
            </a:r>
            <a:endParaRPr lang="en-US" sz="15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1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[ ] Created pm-philosophy.md</a:t>
            </a:r>
            <a:endParaRPr lang="en-US" sz="15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5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1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━━━━━━━━━━━━━━━━━━━━━━━━━━━━━━━━━━━━━━━━━━━━━━━━━━━━━━━━━━━━━━━━━━━━━━━━━</a:t>
            </a:r>
            <a:endParaRPr lang="en-US" sz="15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PlaceHolder 1"/>
          <p:cNvSpPr>
            <a:spLocks noGrp="1"/>
          </p:cNvSpPr>
          <p:nvPr>
            <p:ph type="sldNum" idx="37"/>
          </p:nvPr>
        </p:nvSpPr>
        <p:spPr>
          <a:xfrm>
            <a:off x="0" y="6343560"/>
            <a:ext cx="11810520" cy="22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350" b="0" u="none" strike="noStrike">
                <a:solidFill>
                  <a:srgbClr val="777777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1DEAC44-BC1B-4699-8FB5-9EBB9A91C6CF}" type="slidenum">
              <a:rPr lang="en-US" sz="1350" b="0" u="none" strike="noStrike">
                <a:solidFill>
                  <a:srgbClr val="777777"/>
                </a:solidFill>
                <a:effectLst/>
                <a:uFillTx/>
                <a:latin typeface="Calibri"/>
              </a:rPr>
              <a:t>1</a:t>
            </a:fld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Text 0"/>
          <p:cNvSpPr/>
          <p:nvPr/>
        </p:nvSpPr>
        <p:spPr>
          <a:xfrm>
            <a:off x="380880" y="443520"/>
            <a:ext cx="11658240" cy="37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9000"/>
              </a:lnSpc>
              <a:tabLst>
                <a:tab pos="0" algn="l"/>
              </a:tabLst>
            </a:pPr>
            <a:r>
              <a:rPr lang="en-US" sz="239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SLIDE 31: Part 1 Key Takeaways</a:t>
            </a:r>
            <a:endParaRPr lang="en-US" sz="23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Text 1"/>
          <p:cNvSpPr/>
          <p:nvPr/>
        </p:nvSpPr>
        <p:spPr>
          <a:xfrm>
            <a:off x="380880" y="1013760"/>
            <a:ext cx="11429640" cy="5362200"/>
          </a:xfrm>
          <a:prstGeom prst="rect">
            <a:avLst/>
          </a:prstGeom>
          <a:solidFill>
            <a:srgbClr val="F4F4F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━━━━━━━━━━━━━━━━━━━━━━━━━━━━━━━━━━━━━━━━━━━━━━━━━━━━━━━━━━━━━━━━━━━━━━━━━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   PART 1 KEY TAKEAWAYS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┌─────────────────────────────────────┐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THE PM ROLE                       │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PMs are translators between       │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business, users, and technology   │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└─────────────────────────────────────┘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┌─────────────────────────────────────┐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CORE RESPONSIBILITIES             │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Discovery, Strategy, Execution,   │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Growth                            │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└─────────────────────────────────────┘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┌─────────────────────────────────────┐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WHAT PMS ARE NOT                  │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Not CEOs, not project managers,   │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not engineering managers          │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└─────────────────────────────────────┘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┌─────────────────────────────────────┐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SUCCESS METRIC                    │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Outcomes, not outputs             │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└─────────────────────────────────────┘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━━━━━━━━━━━━━━━━━━━━━━━━━━━━━━━━━━━━━━━━━━━━━━━━━━━━━━━━━━━━━━━━━━━━━━━━━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PlaceHolder 1"/>
          <p:cNvSpPr>
            <a:spLocks noGrp="1"/>
          </p:cNvSpPr>
          <p:nvPr>
            <p:ph type="sldNum" idx="38"/>
          </p:nvPr>
        </p:nvSpPr>
        <p:spPr>
          <a:xfrm>
            <a:off x="0" y="6343560"/>
            <a:ext cx="11810520" cy="22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350" b="0" u="none" strike="noStrike">
                <a:solidFill>
                  <a:srgbClr val="777777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C36476D-E9B1-40B8-ADE2-04D1918B5F8D}" type="slidenum">
              <a:rPr lang="en-US" sz="1350" b="0" u="none" strike="noStrike">
                <a:solidFill>
                  <a:srgbClr val="777777"/>
                </a:solidFill>
                <a:effectLst/>
                <a:uFillTx/>
                <a:latin typeface="Calibri"/>
              </a:rPr>
              <a:t>1</a:t>
            </a:fld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Text 0"/>
          <p:cNvSpPr/>
          <p:nvPr/>
        </p:nvSpPr>
        <p:spPr>
          <a:xfrm>
            <a:off x="380880" y="529200"/>
            <a:ext cx="11658240" cy="37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9000"/>
              </a:lnSpc>
              <a:tabLst>
                <a:tab pos="0" algn="l"/>
              </a:tabLst>
            </a:pPr>
            <a:r>
              <a:rPr lang="en-US" sz="239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SLIDE 32: What's Next</a:t>
            </a:r>
            <a:endParaRPr lang="en-US" sz="23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Text 1"/>
          <p:cNvSpPr/>
          <p:nvPr/>
        </p:nvSpPr>
        <p:spPr>
          <a:xfrm>
            <a:off x="380880" y="1099440"/>
            <a:ext cx="11429640" cy="5190840"/>
          </a:xfrm>
          <a:prstGeom prst="rect">
            <a:avLst/>
          </a:prstGeom>
          <a:solidFill>
            <a:srgbClr val="F4F4F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9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━━━━━━━━━━━━━━━━━━━━━━━━━━━━━━━━━━━━━━━━━━━━━━━━━━━━━━━━━━━━━━━━━━━━━━━━━</a:t>
            </a:r>
            <a:endParaRPr lang="en-US" sz="17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7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9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   WHAT'S NEXT</a:t>
            </a:r>
            <a:endParaRPr lang="en-US" sz="17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7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9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┌─────────────────────────────────────┐</a:t>
            </a:r>
            <a:endParaRPr lang="en-US" sz="17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9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PART 2                            │</a:t>
            </a:r>
            <a:endParaRPr lang="en-US" sz="17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9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User Research &amp; Discovery         │</a:t>
            </a:r>
            <a:endParaRPr lang="en-US" sz="17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9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                                  │</a:t>
            </a:r>
            <a:endParaRPr lang="en-US" sz="17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9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• How to conduct user research   │</a:t>
            </a:r>
            <a:endParaRPr lang="en-US" sz="17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9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• How to create personas          │</a:t>
            </a:r>
            <a:endParaRPr lang="en-US" sz="17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9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• How to synthesize findings      │</a:t>
            </a:r>
            <a:endParaRPr lang="en-US" sz="17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9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└─────────────────────────────────────┘</a:t>
            </a:r>
            <a:endParaRPr lang="en-US" sz="17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7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9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───</a:t>
            </a:r>
            <a:endParaRPr lang="en-US" sz="17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7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9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Next session: Let's talk to users.</a:t>
            </a:r>
            <a:endParaRPr lang="en-US" sz="17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7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9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━━━━━━━━━━━━━━━━━━━━━━━━━━━━━━━━━━━━━━━━━━━━━━━━━━━━━━━━━━━━━━━━━━━━━━━━━</a:t>
            </a:r>
            <a:endParaRPr lang="en-US" sz="17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PlaceHolder 1"/>
          <p:cNvSpPr>
            <a:spLocks noGrp="1"/>
          </p:cNvSpPr>
          <p:nvPr>
            <p:ph type="sldNum" idx="39"/>
          </p:nvPr>
        </p:nvSpPr>
        <p:spPr>
          <a:xfrm>
            <a:off x="0" y="6343560"/>
            <a:ext cx="11810520" cy="22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350" b="0" u="none" strike="noStrike">
                <a:solidFill>
                  <a:srgbClr val="777777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43613C7-9D0F-4015-822F-26D56F38CBBB}" type="slidenum">
              <a:rPr lang="en-US" sz="1350" b="0" u="none" strike="noStrike">
                <a:solidFill>
                  <a:srgbClr val="777777"/>
                </a:solidFill>
                <a:effectLst/>
                <a:uFillTx/>
                <a:latin typeface="Calibri"/>
              </a:rPr>
              <a:t>1</a:t>
            </a:fld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Text 0"/>
          <p:cNvSpPr/>
          <p:nvPr/>
        </p:nvSpPr>
        <p:spPr>
          <a:xfrm>
            <a:off x="380880" y="2713320"/>
            <a:ext cx="11658240" cy="55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107640" anchor="t">
            <a:noAutofit/>
          </a:bodyPr>
          <a:p>
            <a:pPr defTabSz="914400">
              <a:lnSpc>
                <a:spcPct val="109000"/>
              </a:lnSpc>
              <a:tabLst>
                <a:tab pos="0" algn="l"/>
              </a:tabLst>
            </a:pPr>
            <a:r>
              <a:rPr lang="en-US" sz="283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PART 2: USER RESEARCH &amp; DISCOVERY</a:t>
            </a:r>
            <a:endParaRPr lang="en-US" sz="28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Text 1"/>
          <p:cNvSpPr/>
          <p:nvPr/>
        </p:nvSpPr>
        <p:spPr>
          <a:xfrm>
            <a:off x="380880" y="3498480"/>
            <a:ext cx="11658240" cy="55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107640" anchor="t">
            <a:noAutofit/>
          </a:bodyPr>
          <a:p>
            <a:pPr defTabSz="914400">
              <a:lnSpc>
                <a:spcPct val="109000"/>
              </a:lnSpc>
              <a:tabLst>
                <a:tab pos="0" algn="l"/>
              </a:tabLst>
            </a:pPr>
            <a:r>
              <a:rPr lang="en-US" sz="283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Slides 33-55</a:t>
            </a:r>
            <a:endParaRPr lang="en-US" sz="28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" name="PlaceHolder 1"/>
          <p:cNvSpPr>
            <a:spLocks noGrp="1"/>
          </p:cNvSpPr>
          <p:nvPr>
            <p:ph type="sldNum" idx="40"/>
          </p:nvPr>
        </p:nvSpPr>
        <p:spPr>
          <a:xfrm>
            <a:off x="0" y="6343560"/>
            <a:ext cx="11810520" cy="22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350" b="0" u="none" strike="noStrike">
                <a:solidFill>
                  <a:srgbClr val="777777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07F366E-D95A-4650-AF75-0BBAC0A9E668}" type="slidenum">
              <a:rPr lang="en-US" sz="1350" b="0" u="none" strike="noStrike">
                <a:solidFill>
                  <a:srgbClr val="777777"/>
                </a:solidFill>
                <a:effectLst/>
                <a:uFillTx/>
                <a:latin typeface="Calibri"/>
              </a:rPr>
              <a:t>1</a:t>
            </a:fld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Text 0"/>
          <p:cNvSpPr/>
          <p:nvPr/>
        </p:nvSpPr>
        <p:spPr>
          <a:xfrm>
            <a:off x="380880" y="800640"/>
            <a:ext cx="11658240" cy="37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9000"/>
              </a:lnSpc>
              <a:tabLst>
                <a:tab pos="0" algn="l"/>
              </a:tabLst>
            </a:pPr>
            <a:r>
              <a:rPr lang="en-US" sz="239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SLIDE 33: Part 2 Title</a:t>
            </a:r>
            <a:endParaRPr lang="en-US" sz="23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" name="Text 1"/>
          <p:cNvSpPr/>
          <p:nvPr/>
        </p:nvSpPr>
        <p:spPr>
          <a:xfrm>
            <a:off x="380880" y="1370880"/>
            <a:ext cx="11429640" cy="4647960"/>
          </a:xfrm>
          <a:prstGeom prst="rect">
            <a:avLst/>
          </a:prstGeom>
          <a:solidFill>
            <a:srgbClr val="F4F4F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━━━━━━━━━━━━━━━━━━━━━━━━━━━━━━━━━━━━━━━━━━━━━━━━━━━━━━━━━━━━━━━━━━━━━━━━━</a:t>
            </a:r>
            <a:endParaRPr lang="en-US" sz="1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   PART 2</a:t>
            </a:r>
            <a:endParaRPr lang="en-US" sz="1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   USER RESEARCH &amp;</a:t>
            </a:r>
            <a:endParaRPr lang="en-US" sz="1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   DISCOVERY</a:t>
            </a:r>
            <a:endParaRPr lang="en-US" sz="1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Finding Problems Worth Solving</a:t>
            </a:r>
            <a:endParaRPr lang="en-US" sz="1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───</a:t>
            </a:r>
            <a:endParaRPr lang="en-US" sz="1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"What is the user trying to</a:t>
            </a:r>
            <a:endParaRPr lang="en-US" sz="1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accomplish, and what's preventing</a:t>
            </a:r>
            <a:endParaRPr lang="en-US" sz="1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them from doing it?"</a:t>
            </a:r>
            <a:endParaRPr lang="en-US" sz="1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━━━━━━━━━━━━━━━━━━━━━━━━━━━━━━━━━━━━━━━━━━━━━━━━━━━━━━━━━━━━━━━━━━━━━━━━━</a:t>
            </a:r>
            <a:endParaRPr lang="en-US" sz="1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PlaceHolder 1"/>
          <p:cNvSpPr>
            <a:spLocks noGrp="1"/>
          </p:cNvSpPr>
          <p:nvPr>
            <p:ph type="sldNum" idx="41"/>
          </p:nvPr>
        </p:nvSpPr>
        <p:spPr>
          <a:xfrm>
            <a:off x="0" y="6343560"/>
            <a:ext cx="11810520" cy="22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350" b="0" u="none" strike="noStrike">
                <a:solidFill>
                  <a:srgbClr val="777777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85E5B52-0BD8-4AB9-A523-7A5643855BC9}" type="slidenum">
              <a:rPr lang="en-US" sz="1350" b="0" u="none" strike="noStrike">
                <a:solidFill>
                  <a:srgbClr val="777777"/>
                </a:solidFill>
                <a:effectLst/>
                <a:uFillTx/>
                <a:latin typeface="Calibri"/>
              </a:rPr>
              <a:t>1</a:t>
            </a:fld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Text 0"/>
          <p:cNvSpPr/>
          <p:nvPr/>
        </p:nvSpPr>
        <p:spPr>
          <a:xfrm>
            <a:off x="380880" y="443520"/>
            <a:ext cx="11658240" cy="37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9000"/>
              </a:lnSpc>
              <a:tabLst>
                <a:tab pos="0" algn="l"/>
              </a:tabLst>
            </a:pPr>
            <a:r>
              <a:rPr lang="en-US" sz="239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SLIDE 34: The Discovery Process</a:t>
            </a:r>
            <a:endParaRPr lang="en-US" sz="23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Text 1"/>
          <p:cNvSpPr/>
          <p:nvPr/>
        </p:nvSpPr>
        <p:spPr>
          <a:xfrm>
            <a:off x="380880" y="1013760"/>
            <a:ext cx="11429640" cy="5362200"/>
          </a:xfrm>
          <a:prstGeom prst="rect">
            <a:avLst/>
          </a:prstGeom>
          <a:solidFill>
            <a:srgbClr val="F4F4F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2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━━━━━━━━━━━━━━━━━━━━━━━━━━━━━━━━━━━━━━━━━━━━━━━━━━━━━━━━━━━━━━━━━━━━━━━━━</a:t>
            </a: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2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   THE DISCOVERY PROCESS</a:t>
            </a: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2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┌─────────────────────────────────────┐</a:t>
            </a: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2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PHASE 1: PLAN                     │</a:t>
            </a: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2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Define goals, write questions,    │</a:t>
            </a: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2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recruit participants              │</a:t>
            </a: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2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└─────────────────────────────────────┘</a:t>
            </a: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2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             ▼</a:t>
            </a: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2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┌─────────────────────────────────────┐</a:t>
            </a: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2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PHASE 2: CONDUCT                  │</a:t>
            </a: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2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Interview users, observe behavior │</a:t>
            </a: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2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└─────────────────────────────────────┘</a:t>
            </a: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2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             ▼</a:t>
            </a: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2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┌─────────────────────────────────────┐</a:t>
            </a: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2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PHASE 3: SYNTHESIZE               │</a:t>
            </a: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2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Find patterns, create personas,   │</a:t>
            </a: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2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identify insights                 │</a:t>
            </a: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2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└─────────────────────────────────────┘</a:t>
            </a: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2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             ▼</a:t>
            </a: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2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┌─────────────────────────────────────┐</a:t>
            </a: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2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PHASE 4: VALIDATE                 │</a:t>
            </a: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2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Test assumptions with more users │</a:t>
            </a: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2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└─────────────────────────────────────┘</a:t>
            </a: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2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━━━━━━━━━━━━━━━━━━━━━━━━━━━━━━━━━━━━━━━━━━━━━━━━━━━━━━━━━━━━━━━━━━━━━━━━━</a:t>
            </a: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" name="PlaceHolder 1"/>
          <p:cNvSpPr>
            <a:spLocks noGrp="1"/>
          </p:cNvSpPr>
          <p:nvPr>
            <p:ph type="sldNum" idx="42"/>
          </p:nvPr>
        </p:nvSpPr>
        <p:spPr>
          <a:xfrm>
            <a:off x="0" y="6343560"/>
            <a:ext cx="11810520" cy="22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350" b="0" u="none" strike="noStrike">
                <a:solidFill>
                  <a:srgbClr val="777777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257BD05-29D5-4A5B-9663-6FB22FC307FA}" type="slidenum">
              <a:rPr lang="en-US" sz="1350" b="0" u="none" strike="noStrike">
                <a:solidFill>
                  <a:srgbClr val="777777"/>
                </a:solidFill>
                <a:effectLst/>
                <a:uFillTx/>
                <a:latin typeface="Calibri"/>
              </a:rPr>
              <a:t>1</a:t>
            </a:fld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Text 0"/>
          <p:cNvSpPr/>
          <p:nvPr/>
        </p:nvSpPr>
        <p:spPr>
          <a:xfrm>
            <a:off x="380880" y="443520"/>
            <a:ext cx="11658240" cy="37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9000"/>
              </a:lnSpc>
              <a:tabLst>
                <a:tab pos="0" algn="l"/>
              </a:tabLst>
            </a:pPr>
            <a:r>
              <a:rPr lang="en-US" sz="239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SLIDE 35: The Discovery Mindset</a:t>
            </a:r>
            <a:endParaRPr lang="en-US" sz="23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" name="Text 1"/>
          <p:cNvSpPr/>
          <p:nvPr/>
        </p:nvSpPr>
        <p:spPr>
          <a:xfrm>
            <a:off x="380880" y="1013760"/>
            <a:ext cx="11429640" cy="5362200"/>
          </a:xfrm>
          <a:prstGeom prst="rect">
            <a:avLst/>
          </a:prstGeom>
          <a:solidFill>
            <a:srgbClr val="F4F4F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8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━━━━━━━━━━━━━━━━━━━━━━━━━━━━━━━━━━━━━━━━━━━━━━━━━━━━━━━━━━━━━━━━━━━━━━━━━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5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8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   THE DISCOVERY MINDSET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5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8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Discovery is about LEARNING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8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before BUILDING.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5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8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─────────────────────────────────────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5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8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"If I had asked people what they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8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wanted, they would have said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8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faster horses."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5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8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- Henry Ford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5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8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─────────────────────────────────────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5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8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Users are good at describing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8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PROBLEMS, not SOLUTIONS.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5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8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━━━━━━━━━━━━━━━━━━━━━━━━━━━━━━━━━━━━━━━━━━━━━━━━━━━━━━━━━━━━━━━━━━━━━━━━━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" name="PlaceHolder 1"/>
          <p:cNvSpPr>
            <a:spLocks noGrp="1"/>
          </p:cNvSpPr>
          <p:nvPr>
            <p:ph type="sldNum" idx="43"/>
          </p:nvPr>
        </p:nvSpPr>
        <p:spPr>
          <a:xfrm>
            <a:off x="0" y="6343560"/>
            <a:ext cx="11810520" cy="22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350" b="0" u="none" strike="noStrike">
                <a:solidFill>
                  <a:srgbClr val="777777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7896217-BB93-40FA-81D5-110B1466E390}" type="slidenum">
              <a:rPr lang="en-US" sz="1350" b="0" u="none" strike="noStrike">
                <a:solidFill>
                  <a:srgbClr val="777777"/>
                </a:solidFill>
                <a:effectLst/>
                <a:uFillTx/>
                <a:latin typeface="Calibri"/>
              </a:rPr>
              <a:t>1</a:t>
            </a:fld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Text 0"/>
          <p:cNvSpPr/>
          <p:nvPr/>
        </p:nvSpPr>
        <p:spPr>
          <a:xfrm>
            <a:off x="380880" y="443520"/>
            <a:ext cx="11658240" cy="37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9000"/>
              </a:lnSpc>
              <a:tabLst>
                <a:tab pos="0" algn="l"/>
              </a:tabLst>
            </a:pPr>
            <a:r>
              <a:rPr lang="en-US" sz="239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SLIDE 36: Ledgerly Research Goals</a:t>
            </a:r>
            <a:endParaRPr lang="en-US" sz="23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" name="Text 1"/>
          <p:cNvSpPr/>
          <p:nvPr/>
        </p:nvSpPr>
        <p:spPr>
          <a:xfrm>
            <a:off x="380880" y="1013760"/>
            <a:ext cx="11429640" cy="5362200"/>
          </a:xfrm>
          <a:prstGeom prst="rect">
            <a:avLst/>
          </a:prstGeom>
          <a:solidFill>
            <a:srgbClr val="F4F4F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3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━━━━━━━━━━━━━━━━━━━━━━━━━━━━━━━━━━━━━━━━━━━━━━━━━━━━━━━━━━━━━━━━━━━━━━━━━</a:t>
            </a:r>
            <a:endParaRPr lang="en-US" sz="13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3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3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   LEDGERLY RESEARCH GOALS</a:t>
            </a:r>
            <a:endParaRPr lang="en-US" sz="13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3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3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┌─────────────────────────────────────┐</a:t>
            </a:r>
            <a:endParaRPr lang="en-US" sz="13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3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GOAL 1: TRIGGERS                 │</a:t>
            </a:r>
            <a:endParaRPr lang="en-US" sz="13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3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What triggers users to sign up?  │</a:t>
            </a:r>
            <a:endParaRPr lang="en-US" sz="13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3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└─────────────────────────────────────┘</a:t>
            </a:r>
            <a:endParaRPr lang="en-US" sz="13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3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3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┌─────────────────────────────────────┐</a:t>
            </a:r>
            <a:endParaRPr lang="en-US" sz="13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3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GOAL 2: ONBOARDING EXPERIENCE    │</a:t>
            </a:r>
            <a:endParaRPr lang="en-US" sz="13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3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What works? What's frustrating?  │</a:t>
            </a:r>
            <a:endParaRPr lang="en-US" sz="13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3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└─────────────────────────────────────┘</a:t>
            </a:r>
            <a:endParaRPr lang="en-US" sz="13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3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3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┌─────────────────────────────────────┐</a:t>
            </a:r>
            <a:endParaRPr lang="en-US" sz="13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3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GOAL 3: DROP-OFF REASONS         │</a:t>
            </a:r>
            <a:endParaRPr lang="en-US" sz="13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3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Why do users stop using Ledgerly?│</a:t>
            </a:r>
            <a:endParaRPr lang="en-US" sz="13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3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└─────────────────────────────────────┘</a:t>
            </a:r>
            <a:endParaRPr lang="en-US" sz="13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3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3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┌─────────────────────────────────────┐</a:t>
            </a:r>
            <a:endParaRPr lang="en-US" sz="13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3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GOAL 4: RETENTION DRIVERS        │</a:t>
            </a:r>
            <a:endParaRPr lang="en-US" sz="13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3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What keeps active users engaged? │</a:t>
            </a:r>
            <a:endParaRPr lang="en-US" sz="13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3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└─────────────────────────────────────┘</a:t>
            </a:r>
            <a:endParaRPr lang="en-US" sz="13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3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3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━━━━━━━━━━━━━━━━━━━━━━━━━━━━━━━━━━━━━━━━━━━━━━━━━━━━━━━━━━━━━━━━━━━━━━━━━</a:t>
            </a:r>
            <a:endParaRPr lang="en-US" sz="13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" name="PlaceHolder 1"/>
          <p:cNvSpPr>
            <a:spLocks noGrp="1"/>
          </p:cNvSpPr>
          <p:nvPr>
            <p:ph type="sldNum" idx="44"/>
          </p:nvPr>
        </p:nvSpPr>
        <p:spPr>
          <a:xfrm>
            <a:off x="0" y="6343560"/>
            <a:ext cx="11810520" cy="22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350" b="0" u="none" strike="noStrike">
                <a:solidFill>
                  <a:srgbClr val="777777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EF4773A-9FBA-49C6-8AF8-356C2286C738}" type="slidenum">
              <a:rPr lang="en-US" sz="1350" b="0" u="none" strike="noStrike">
                <a:solidFill>
                  <a:srgbClr val="777777"/>
                </a:solidFill>
                <a:effectLst/>
                <a:uFillTx/>
                <a:latin typeface="Calibri"/>
              </a:rPr>
              <a:t>1</a:t>
            </a:fld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Text 0"/>
          <p:cNvSpPr/>
          <p:nvPr/>
        </p:nvSpPr>
        <p:spPr>
          <a:xfrm>
            <a:off x="380880" y="443520"/>
            <a:ext cx="11658240" cy="37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9000"/>
              </a:lnSpc>
              <a:tabLst>
                <a:tab pos="0" algn="l"/>
              </a:tabLst>
            </a:pPr>
            <a:r>
              <a:rPr lang="en-US" sz="239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SLIDE 37: Writing Research Questions</a:t>
            </a:r>
            <a:endParaRPr lang="en-US" sz="23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" name="Text 1"/>
          <p:cNvSpPr/>
          <p:nvPr/>
        </p:nvSpPr>
        <p:spPr>
          <a:xfrm>
            <a:off x="380880" y="1013760"/>
            <a:ext cx="11429640" cy="5362200"/>
          </a:xfrm>
          <a:prstGeom prst="rect">
            <a:avLst/>
          </a:prstGeom>
          <a:solidFill>
            <a:srgbClr val="F4F4F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━━━━━━━━━━━━━━━━━━━━━━━━━━━━━━━━━━━━━━━━━━━━━━━━━━━━━━━━━━━━━━━━━━━━━━━━━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   WRITING RESEARCH QUESTIONS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┌─────────────────────────────────────┐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 BAD: "Would you use a          │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budgeting feature?"               │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                                  │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 GOOD: "How do you currently    │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track your spending?"             │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└─────────────────────────────────────┘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┌─────────────────────────────────────┐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 BAD: "Do you find Ledgerly    │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easy to use?"                     │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                                  │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 GOOD: "Walk me through the    │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last time you used Ledgerly."    │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└─────────────────────────────────────┘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┌─────────────────────────────────────┐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 BAD: "What features do you    │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want?"                            │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                                  │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 GOOD: "What frustrates you    │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about managing your money?"      │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└─────────────────────────────────────┘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━━━━━━━━━━━━━━━━━━━━━━━━━━━━━━━━━━━━━━━━━━━━━━━━━━━━━━━━━━━━━━━━━━━━━━━━━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" name="PlaceHolder 1"/>
          <p:cNvSpPr>
            <a:spLocks noGrp="1"/>
          </p:cNvSpPr>
          <p:nvPr>
            <p:ph type="sldNum" idx="45"/>
          </p:nvPr>
        </p:nvSpPr>
        <p:spPr>
          <a:xfrm>
            <a:off x="0" y="6343560"/>
            <a:ext cx="11810520" cy="22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350" b="0" u="none" strike="noStrike">
                <a:solidFill>
                  <a:srgbClr val="777777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870A10C-E361-46AF-B717-1D51CD64811B}" type="slidenum">
              <a:rPr lang="en-US" sz="1350" b="0" u="none" strike="noStrike">
                <a:solidFill>
                  <a:srgbClr val="777777"/>
                </a:solidFill>
                <a:effectLst/>
                <a:uFillTx/>
                <a:latin typeface="Calibri"/>
              </a:rPr>
              <a:t>1</a:t>
            </a:fld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Text 0"/>
          <p:cNvSpPr/>
          <p:nvPr/>
        </p:nvSpPr>
        <p:spPr>
          <a:xfrm>
            <a:off x="380880" y="443520"/>
            <a:ext cx="11658240" cy="37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9000"/>
              </a:lnSpc>
              <a:tabLst>
                <a:tab pos="0" algn="l"/>
              </a:tabLst>
            </a:pPr>
            <a:r>
              <a:rPr lang="en-US" sz="239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SLIDE 38: Interview Rules</a:t>
            </a:r>
            <a:endParaRPr lang="en-US" sz="23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" name="Text 1"/>
          <p:cNvSpPr/>
          <p:nvPr/>
        </p:nvSpPr>
        <p:spPr>
          <a:xfrm>
            <a:off x="380880" y="1013760"/>
            <a:ext cx="11429640" cy="5362200"/>
          </a:xfrm>
          <a:prstGeom prst="rect">
            <a:avLst/>
          </a:prstGeom>
          <a:solidFill>
            <a:srgbClr val="F4F4F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2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━━━━━━━━━━━━━━━━━━━━━━━━━━━━━━━━━━━━━━━━━━━━━━━━━━━━━━━━━━━━━━━━━━━━━━━━━</a:t>
            </a: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2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   INTERVIEW RULES</a:t>
            </a: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2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┌─────────────────────────────────────┐</a:t>
            </a: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2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RULE 1: ASK ABOUT THE PAST       │</a:t>
            </a: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2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"How do you currently track your │</a:t>
            </a: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2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 spending?"                      │</a:t>
            </a: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2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NOT: "Would you use this?"       │</a:t>
            </a: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2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└─────────────────────────────────────┘</a:t>
            </a: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2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┌─────────────────────────────────────┐</a:t>
            </a: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2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RULE 2: ASK OPEN QUESTIONS       │</a:t>
            </a: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2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"Walk me through..."             │</a:t>
            </a: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2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NOT: "Do you like..."            │</a:t>
            </a: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2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└─────────────────────────────────────┘</a:t>
            </a: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2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┌─────────────────────────────────────┐</a:t>
            </a: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2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RULE 3: FOCUS ON PROBLEMS        │</a:t>
            </a: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2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"What frustrates you?"           │</a:t>
            </a: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2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NOT: "What features do you want?"│</a:t>
            </a: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2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└─────────────────────────────────────┘</a:t>
            </a: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2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┌─────────────────────────────────────┐</a:t>
            </a: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2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RULE 4: DIG DEEPER WITH "WHY"   │</a:t>
            </a: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2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Ask "why" 3 times                │</a:t>
            </a: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2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└─────────────────────────────────────┘</a:t>
            </a: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2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┌─────────────────────────────────────┐</a:t>
            </a: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2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RULE 5: LISTEN 80%, TALK 20%    │</a:t>
            </a: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2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└─────────────────────────────────────┘</a:t>
            </a: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2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━━━━━━━━━━━━━━━━━━━━━━━━━━━━━━━━━━━━━━━━━━━━━━━━━━━━━━━━━━━━━━━━━━━━━━━━━</a:t>
            </a: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" name="PlaceHolder 1"/>
          <p:cNvSpPr>
            <a:spLocks noGrp="1"/>
          </p:cNvSpPr>
          <p:nvPr>
            <p:ph type="sldNum" idx="46"/>
          </p:nvPr>
        </p:nvSpPr>
        <p:spPr>
          <a:xfrm>
            <a:off x="0" y="6343560"/>
            <a:ext cx="11810520" cy="22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350" b="0" u="none" strike="noStrike">
                <a:solidFill>
                  <a:srgbClr val="777777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B9FCA91-A5DA-43EC-846A-29C2ED40890D}" type="slidenum">
              <a:rPr lang="en-US" sz="1350" b="0" u="none" strike="noStrike">
                <a:solidFill>
                  <a:srgbClr val="777777"/>
                </a:solidFill>
                <a:effectLst/>
                <a:uFillTx/>
                <a:latin typeface="Calibri"/>
              </a:rPr>
              <a:t>1</a:t>
            </a:fld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Text 0"/>
          <p:cNvSpPr/>
          <p:nvPr/>
        </p:nvSpPr>
        <p:spPr>
          <a:xfrm>
            <a:off x="380880" y="443520"/>
            <a:ext cx="11658240" cy="37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9000"/>
              </a:lnSpc>
              <a:tabLst>
                <a:tab pos="0" algn="l"/>
              </a:tabLst>
            </a:pPr>
            <a:r>
              <a:rPr lang="en-US" sz="239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SLIDE 39: Interview Script Template</a:t>
            </a:r>
            <a:endParaRPr lang="en-US" sz="23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" name="Text 1"/>
          <p:cNvSpPr/>
          <p:nvPr/>
        </p:nvSpPr>
        <p:spPr>
          <a:xfrm>
            <a:off x="380880" y="1013760"/>
            <a:ext cx="11429640" cy="5362200"/>
          </a:xfrm>
          <a:prstGeom prst="rect">
            <a:avLst/>
          </a:prstGeom>
          <a:solidFill>
            <a:srgbClr val="F4F4F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9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━━━━━━━━━━━━━━━━━━━━━━━━━━━━━━━━━━━━━━━━━━━━━━━━━━━━━━━━━━━━━━━━━━━━━━━━━</a:t>
            </a:r>
            <a:endParaRPr lang="en-US" sz="13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3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9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   INTERVIEW SCRIPT TEMPLATE</a:t>
            </a:r>
            <a:endParaRPr lang="en-US" sz="13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3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9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INTRODUCTION (2 min)</a:t>
            </a:r>
            <a:endParaRPr lang="en-US" sz="13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9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"Hi, thanks for taking the time..."</a:t>
            </a:r>
            <a:endParaRPr lang="en-US" sz="13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3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9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BACKGROUND (3 min)</a:t>
            </a:r>
            <a:endParaRPr lang="en-US" sz="13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9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"Tell me about yourself and how you</a:t>
            </a:r>
            <a:endParaRPr lang="en-US" sz="13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9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manage your finances."</a:t>
            </a:r>
            <a:endParaRPr lang="en-US" sz="13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3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9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THE EXPERIENCE (5 min)</a:t>
            </a:r>
            <a:endParaRPr lang="en-US" sz="13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9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"Walk me through the last time you</a:t>
            </a:r>
            <a:endParaRPr lang="en-US" sz="13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9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used Ledgerly."</a:t>
            </a:r>
            <a:endParaRPr lang="en-US" sz="13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3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9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CHALLENGES (5 min)</a:t>
            </a:r>
            <a:endParaRPr lang="en-US" sz="13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9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"What's the most frustrating thing</a:t>
            </a:r>
            <a:endParaRPr lang="en-US" sz="13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9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about managing your money?"</a:t>
            </a:r>
            <a:endParaRPr lang="en-US" sz="13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3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9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CLOSING (2 min)</a:t>
            </a:r>
            <a:endParaRPr lang="en-US" sz="13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9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"Is there anything else you'd like</a:t>
            </a:r>
            <a:endParaRPr lang="en-US" sz="13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9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to share?"</a:t>
            </a:r>
            <a:endParaRPr lang="en-US" sz="13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3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9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━━━━━━━━━━━━━━━━━━━━━━━━━━━━━━━━━━━━━━━━━━━━━━━━━━━━━━━━━━━━━━━━━━━━━━━━━</a:t>
            </a:r>
            <a:endParaRPr lang="en-US" sz="13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" name="PlaceHolder 1"/>
          <p:cNvSpPr>
            <a:spLocks noGrp="1"/>
          </p:cNvSpPr>
          <p:nvPr>
            <p:ph type="sldNum" idx="47"/>
          </p:nvPr>
        </p:nvSpPr>
        <p:spPr>
          <a:xfrm>
            <a:off x="0" y="6343560"/>
            <a:ext cx="11810520" cy="22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350" b="0" u="none" strike="noStrike">
                <a:solidFill>
                  <a:srgbClr val="777777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CB5C4EB-F306-4E48-8943-92342E245E59}" type="slidenum">
              <a:rPr lang="en-US" sz="1350" b="0" u="none" strike="noStrike">
                <a:solidFill>
                  <a:srgbClr val="777777"/>
                </a:solidFill>
                <a:effectLst/>
                <a:uFillTx/>
                <a:latin typeface="Calibri"/>
              </a:rPr>
              <a:t>1</a:t>
            </a:fld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Text 0"/>
          <p:cNvSpPr/>
          <p:nvPr/>
        </p:nvSpPr>
        <p:spPr>
          <a:xfrm>
            <a:off x="380880" y="443520"/>
            <a:ext cx="11658240" cy="37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9000"/>
              </a:lnSpc>
              <a:tabLst>
                <a:tab pos="0" algn="l"/>
              </a:tabLst>
            </a:pPr>
            <a:r>
              <a:rPr lang="en-US" sz="239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SLIDE 40: Affinity Mapping</a:t>
            </a:r>
            <a:endParaRPr lang="en-US" sz="23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" name="Text 1"/>
          <p:cNvSpPr/>
          <p:nvPr/>
        </p:nvSpPr>
        <p:spPr>
          <a:xfrm>
            <a:off x="380880" y="1013760"/>
            <a:ext cx="11429640" cy="5362200"/>
          </a:xfrm>
          <a:prstGeom prst="rect">
            <a:avLst/>
          </a:prstGeom>
          <a:solidFill>
            <a:srgbClr val="F4F4F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━━━━━━━━━━━━━━━━━━━━━━━━━━━━━━━━━━━━━━━━━━━━━━━━━━━━━━━━━━━━━━━━━━━━━━━━━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   AFFINITY MAPPING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HOW TO DO IT: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1. Write each insight/quote on a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   sticky note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2. Group similar notes together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3. Label each group with a theme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4. Identify patterns and insights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─────────────────────────────────────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EXAMPLE THEMES: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• Onboarding is too hard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• Missing budgeting features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• No motivation to return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━━━━━━━━━━━━━━━━━━━━━━━━━━━━━━━━━━━━━━━━━━━━━━━━━━━━━━━━━━━━━━━━━━━━━━━━━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" name="PlaceHolder 1"/>
          <p:cNvSpPr>
            <a:spLocks noGrp="1"/>
          </p:cNvSpPr>
          <p:nvPr>
            <p:ph type="sldNum" idx="48"/>
          </p:nvPr>
        </p:nvSpPr>
        <p:spPr>
          <a:xfrm>
            <a:off x="0" y="6343560"/>
            <a:ext cx="11810520" cy="22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350" b="0" u="none" strike="noStrike">
                <a:solidFill>
                  <a:srgbClr val="777777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F5C485E-19A2-49AA-A6DF-BA940FC3842D}" type="slidenum">
              <a:rPr lang="en-US" sz="1350" b="0" u="none" strike="noStrike">
                <a:solidFill>
                  <a:srgbClr val="777777"/>
                </a:solidFill>
                <a:effectLst/>
                <a:uFillTx/>
                <a:latin typeface="Calibri"/>
              </a:rPr>
              <a:t>1</a:t>
            </a:fld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Text 0"/>
          <p:cNvSpPr/>
          <p:nvPr/>
        </p:nvSpPr>
        <p:spPr>
          <a:xfrm>
            <a:off x="380880" y="443520"/>
            <a:ext cx="11658240" cy="37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9000"/>
              </a:lnSpc>
              <a:tabLst>
                <a:tab pos="0" algn="l"/>
              </a:tabLst>
            </a:pPr>
            <a:r>
              <a:rPr lang="en-US" sz="239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SLIDE 41: Persona Template</a:t>
            </a:r>
            <a:endParaRPr lang="en-US" sz="23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Text 1"/>
          <p:cNvSpPr/>
          <p:nvPr/>
        </p:nvSpPr>
        <p:spPr>
          <a:xfrm>
            <a:off x="380880" y="1013760"/>
            <a:ext cx="11429640" cy="5362200"/>
          </a:xfrm>
          <a:prstGeom prst="rect">
            <a:avLst/>
          </a:prstGeom>
          <a:solidFill>
            <a:srgbClr val="F4F4F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2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━━━━━━━━━━━━━━━━━━━━━━━━━━━━━━━━━━━━━━━━━━━━━━━━━━━━━━━━━━━━━━━━━━━━━━━━━</a:t>
            </a: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2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   PERSONA TEMPLATE</a:t>
            </a: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2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┌─────────────────────────────────────┐</a:t>
            </a: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2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NAME: ___________________________ │</a:t>
            </a: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2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AGE: ____________________________ │</a:t>
            </a: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2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OCCUPATION: _____________________ │</a:t>
            </a: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2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LOCATION: _______________________ │</a:t>
            </a: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2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INCOME: _________________________ │</a:t>
            </a: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2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└─────────────────────────────────────┘</a:t>
            </a: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2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┌─────────────────────────────────────┐</a:t>
            </a: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2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FINANCIAL SITUATION:              │</a:t>
            </a: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2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_________________________________ │</a:t>
            </a: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2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└─────────────────────────────────────┘</a:t>
            </a: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2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┌─────────────────────────────────────┐</a:t>
            </a: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2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GOALS &amp; MOTIVATIONS:              │</a:t>
            </a: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2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_________________________________ │</a:t>
            </a: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2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└─────────────────────────────────────┘</a:t>
            </a: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2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┌─────────────────────────────────────┐</a:t>
            </a: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2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FRUSTRATIONS:                     │</a:t>
            </a: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2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_________________________________ │</a:t>
            </a: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2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└─────────────────────────────────────┘</a:t>
            </a: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2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┌─────────────────────────────────────┐</a:t>
            </a: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2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PAIN POINTS:                      │</a:t>
            </a: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2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_________________________________ │</a:t>
            </a: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2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└─────────────────────────────────────┘</a:t>
            </a: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2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━━━━━━━━━━━━━━━━━━━━━━━━━━━━━━━━━━━━━━━━━━━━━━━━━━━━━━━━━━━━━━━━━━━━━━━━━</a:t>
            </a: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" name="PlaceHolder 1"/>
          <p:cNvSpPr>
            <a:spLocks noGrp="1"/>
          </p:cNvSpPr>
          <p:nvPr>
            <p:ph type="sldNum" idx="49"/>
          </p:nvPr>
        </p:nvSpPr>
        <p:spPr>
          <a:xfrm>
            <a:off x="0" y="6343560"/>
            <a:ext cx="11810520" cy="22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350" b="0" u="none" strike="noStrike">
                <a:solidFill>
                  <a:srgbClr val="777777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5163468-094F-470D-BD2D-376CC0FD02E9}" type="slidenum">
              <a:rPr lang="en-US" sz="1350" b="0" u="none" strike="noStrike">
                <a:solidFill>
                  <a:srgbClr val="777777"/>
                </a:solidFill>
                <a:effectLst/>
                <a:uFillTx/>
                <a:latin typeface="Calibri"/>
              </a:rPr>
              <a:t>1</a:t>
            </a:fld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Text 0"/>
          <p:cNvSpPr/>
          <p:nvPr/>
        </p:nvSpPr>
        <p:spPr>
          <a:xfrm>
            <a:off x="380880" y="443520"/>
            <a:ext cx="11658240" cy="37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9000"/>
              </a:lnSpc>
              <a:tabLst>
                <a:tab pos="0" algn="l"/>
              </a:tabLst>
            </a:pPr>
            <a:r>
              <a:rPr lang="en-US" sz="239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SLIDE 42: Ledgerly Personas</a:t>
            </a:r>
            <a:endParaRPr lang="en-US" sz="23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" name="Text 1"/>
          <p:cNvSpPr/>
          <p:nvPr/>
        </p:nvSpPr>
        <p:spPr>
          <a:xfrm>
            <a:off x="380880" y="1013760"/>
            <a:ext cx="11429640" cy="5362200"/>
          </a:xfrm>
          <a:prstGeom prst="rect">
            <a:avLst/>
          </a:prstGeom>
          <a:solidFill>
            <a:srgbClr val="F4F4F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━━━━━━━━━━━━━━━━━━━━━━━━━━━━━━━━━━━━━━━━━━━━━━━━━━━━━━━━━━━━━━━━━━━━━━━━━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   LEDGERLY PERSONAS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SARAH - THE BUDGET NOVICE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• Age: 26, Marketing Coordinator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• Wants to save for a vacation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• Feels overwhelmed by finances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• Doesn't know where to start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MARCUS - THE FINANCIALLY SAVVY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• Age: 34, Software Engineer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• Wants to optimize savings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• Actively manages finances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• Wants advanced features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EMILY - THE DROP-OFF USER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• Age: 29, Nurse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• Wants to save for child's education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• Got stuck during onboarding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• Has low trust in financial apps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━━━━━━━━━━━━━━━━━━━━━━━━━━━━━━━━━━━━━━━━━━━━━━━━━━━━━━━━━━━━━━━━━━━━━━━━━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" name="PlaceHolder 1"/>
          <p:cNvSpPr>
            <a:spLocks noGrp="1"/>
          </p:cNvSpPr>
          <p:nvPr>
            <p:ph type="sldNum" idx="50"/>
          </p:nvPr>
        </p:nvSpPr>
        <p:spPr>
          <a:xfrm>
            <a:off x="0" y="6343560"/>
            <a:ext cx="11810520" cy="22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350" b="0" u="none" strike="noStrike">
                <a:solidFill>
                  <a:srgbClr val="777777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5A86ED8-01A5-476C-AC64-54C0094623BE}" type="slidenum">
              <a:rPr lang="en-US" sz="1350" b="0" u="none" strike="noStrike">
                <a:solidFill>
                  <a:srgbClr val="777777"/>
                </a:solidFill>
                <a:effectLst/>
                <a:uFillTx/>
                <a:latin typeface="Calibri"/>
              </a:rPr>
              <a:t>1</a:t>
            </a:fld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Text 0"/>
          <p:cNvSpPr/>
          <p:nvPr/>
        </p:nvSpPr>
        <p:spPr>
          <a:xfrm>
            <a:off x="380880" y="443520"/>
            <a:ext cx="11658240" cy="37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9000"/>
              </a:lnSpc>
              <a:tabLst>
                <a:tab pos="0" algn="l"/>
              </a:tabLst>
            </a:pPr>
            <a:r>
              <a:rPr lang="en-US" sz="239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SLIDE 43: Problem Statement Template</a:t>
            </a:r>
            <a:endParaRPr lang="en-US" sz="23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" name="Text 1"/>
          <p:cNvSpPr/>
          <p:nvPr/>
        </p:nvSpPr>
        <p:spPr>
          <a:xfrm>
            <a:off x="380880" y="1013760"/>
            <a:ext cx="11429640" cy="5362200"/>
          </a:xfrm>
          <a:prstGeom prst="rect">
            <a:avLst/>
          </a:prstGeom>
          <a:solidFill>
            <a:srgbClr val="F4F4F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9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━━━━━━━━━━━━━━━━━━━━━━━━━━━━━━━━━━━━━━━━━━━━━━━━━━━━━━━━━━━━━━━━━━━━━━━━━</a:t>
            </a:r>
            <a:endParaRPr lang="en-US" sz="13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3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9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   PROBLEM STATEMENT TEMPLATE</a:t>
            </a:r>
            <a:endParaRPr lang="en-US" sz="13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3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9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[Target audience] who [need] are</a:t>
            </a:r>
            <a:endParaRPr lang="en-US" sz="13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9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frustrated by [current situation].</a:t>
            </a:r>
            <a:endParaRPr lang="en-US" sz="13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9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Our product [does X] but [gap].</a:t>
            </a:r>
            <a:endParaRPr lang="en-US" sz="13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9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Without this, [consequence].</a:t>
            </a:r>
            <a:endParaRPr lang="en-US" sz="13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3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9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─────────────────────────────────────</a:t>
            </a:r>
            <a:endParaRPr lang="en-US" sz="13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3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9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EXAMPLE:</a:t>
            </a:r>
            <a:endParaRPr lang="en-US" sz="13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3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9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Young professionals (25-40) who want</a:t>
            </a:r>
            <a:endParaRPr lang="en-US" sz="13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9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to improve their financial health</a:t>
            </a:r>
            <a:endParaRPr lang="en-US" sz="13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9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are frustrated by personal finance</a:t>
            </a:r>
            <a:endParaRPr lang="en-US" sz="13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9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apps that are too complex or too</a:t>
            </a:r>
            <a:endParaRPr lang="en-US" sz="13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9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simple. Ledgerly provides a basic</a:t>
            </a:r>
            <a:endParaRPr lang="en-US" sz="13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9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spending view, but users need help</a:t>
            </a:r>
            <a:endParaRPr lang="en-US" sz="13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9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setting goals and seeing progress.</a:t>
            </a:r>
            <a:endParaRPr lang="en-US" sz="13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9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Without this, 80% stop using the</a:t>
            </a:r>
            <a:endParaRPr lang="en-US" sz="13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9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app within 30 days.</a:t>
            </a:r>
            <a:endParaRPr lang="en-US" sz="13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3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9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━━━━━━━━━━━━━━━━━━━━━━━━━━━━━━━━━━━━━━━━━━━━━━━━━━━━━━━━━━━━━━━━━━━━━━━━━</a:t>
            </a:r>
            <a:endParaRPr lang="en-US" sz="13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" name="PlaceHolder 1"/>
          <p:cNvSpPr>
            <a:spLocks noGrp="1"/>
          </p:cNvSpPr>
          <p:nvPr>
            <p:ph type="sldNum" idx="51"/>
          </p:nvPr>
        </p:nvSpPr>
        <p:spPr>
          <a:xfrm>
            <a:off x="0" y="6343560"/>
            <a:ext cx="11810520" cy="22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350" b="0" u="none" strike="noStrike">
                <a:solidFill>
                  <a:srgbClr val="777777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7616D51-A110-42C9-866B-F1D421B42B14}" type="slidenum">
              <a:rPr lang="en-US" sz="1350" b="0" u="none" strike="noStrike">
                <a:solidFill>
                  <a:srgbClr val="777777"/>
                </a:solidFill>
                <a:effectLst/>
                <a:uFillTx/>
                <a:latin typeface="Calibri"/>
              </a:rPr>
              <a:t>1</a:t>
            </a:fld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Text 0"/>
          <p:cNvSpPr/>
          <p:nvPr/>
        </p:nvSpPr>
        <p:spPr>
          <a:xfrm>
            <a:off x="380880" y="443520"/>
            <a:ext cx="11658240" cy="37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9000"/>
              </a:lnSpc>
              <a:tabLst>
                <a:tab pos="0" algn="l"/>
              </a:tabLst>
            </a:pPr>
            <a:r>
              <a:rPr lang="en-US" sz="239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SLIDE 44: Hands-On - Affinity Map</a:t>
            </a:r>
            <a:endParaRPr lang="en-US" sz="23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" name="Text 1"/>
          <p:cNvSpPr/>
          <p:nvPr/>
        </p:nvSpPr>
        <p:spPr>
          <a:xfrm>
            <a:off x="380880" y="1013760"/>
            <a:ext cx="11429640" cy="5362200"/>
          </a:xfrm>
          <a:prstGeom prst="rect">
            <a:avLst/>
          </a:prstGeom>
          <a:solidFill>
            <a:srgbClr val="F4F4F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9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━━━━━━━━━━━━━━━━━━━━━━━━━━━━━━━━━━━━━━━━━━━━━━━━━━━━━━━━━━━━━━━━━━━━━━━━━</a:t>
            </a:r>
            <a:endParaRPr lang="en-US" sz="13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3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9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   HANDS-ON: AFFINITY MAP</a:t>
            </a:r>
            <a:endParaRPr lang="en-US" sz="13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3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9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Group these quotes into 3 themes:</a:t>
            </a:r>
            <a:endParaRPr lang="en-US" sz="13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3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9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1. "I didn't know which bank to select."</a:t>
            </a:r>
            <a:endParaRPr lang="en-US" sz="13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9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2. "I could see what I spent, but not</a:t>
            </a:r>
            <a:endParaRPr lang="en-US" sz="13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9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   what I could spend."</a:t>
            </a:r>
            <a:endParaRPr lang="en-US" sz="13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9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3. "I opened it and it said the same</a:t>
            </a:r>
            <a:endParaRPr lang="en-US" sz="13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9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   thing as yesterday."</a:t>
            </a:r>
            <a:endParaRPr lang="en-US" sz="13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9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4. "I tried to connect my bank but</a:t>
            </a:r>
            <a:endParaRPr lang="en-US" sz="13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9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   it said it couldn't."</a:t>
            </a:r>
            <a:endParaRPr lang="en-US" sz="13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9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5. "I want to know if I'm saving enough."</a:t>
            </a:r>
            <a:endParaRPr lang="en-US" sz="13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9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6. "I don't get notifications about</a:t>
            </a:r>
            <a:endParaRPr lang="en-US" sz="13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9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   anything useful."</a:t>
            </a:r>
            <a:endParaRPr lang="en-US" sz="13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9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7. "I don't remember my banking password."</a:t>
            </a:r>
            <a:endParaRPr lang="en-US" sz="13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9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8. "I use a separate spreadsheet for</a:t>
            </a:r>
            <a:endParaRPr lang="en-US" sz="13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9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   budgeting."</a:t>
            </a:r>
            <a:endParaRPr lang="en-US" sz="13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9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9. "I don't see how it helps me improve."</a:t>
            </a:r>
            <a:endParaRPr lang="en-US" sz="13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9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10. "I don't want to feel guilty about</a:t>
            </a:r>
            <a:endParaRPr lang="en-US" sz="13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9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    spending."</a:t>
            </a:r>
            <a:endParaRPr lang="en-US" sz="13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3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9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━━━━━━━━━━━━━━━━━━━━━━━━━━━━━━━━━━━━━━━━━━━━━━━━━━━━━━━━━━━━━━━━━━━━━━━━━</a:t>
            </a:r>
            <a:endParaRPr lang="en-US" sz="13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" name="PlaceHolder 1"/>
          <p:cNvSpPr>
            <a:spLocks noGrp="1"/>
          </p:cNvSpPr>
          <p:nvPr>
            <p:ph type="sldNum" idx="52"/>
          </p:nvPr>
        </p:nvSpPr>
        <p:spPr>
          <a:xfrm>
            <a:off x="0" y="6343560"/>
            <a:ext cx="11810520" cy="22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350" b="0" u="none" strike="noStrike">
                <a:solidFill>
                  <a:srgbClr val="777777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5006D80-F843-40D6-A2E5-FF2884510934}" type="slidenum">
              <a:rPr lang="en-US" sz="1350" b="0" u="none" strike="noStrike">
                <a:solidFill>
                  <a:srgbClr val="777777"/>
                </a:solidFill>
                <a:effectLst/>
                <a:uFillTx/>
                <a:latin typeface="Calibri"/>
              </a:rPr>
              <a:t>1</a:t>
            </a:fld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Text 0"/>
          <p:cNvSpPr/>
          <p:nvPr/>
        </p:nvSpPr>
        <p:spPr>
          <a:xfrm>
            <a:off x="380880" y="443520"/>
            <a:ext cx="11658240" cy="37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9000"/>
              </a:lnSpc>
              <a:tabLst>
                <a:tab pos="0" algn="l"/>
              </a:tabLst>
            </a:pPr>
            <a:r>
              <a:rPr lang="en-US" sz="239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SLIDE 45: Affinity Map - Expected Themes</a:t>
            </a:r>
            <a:endParaRPr lang="en-US" sz="23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" name="Text 1"/>
          <p:cNvSpPr/>
          <p:nvPr/>
        </p:nvSpPr>
        <p:spPr>
          <a:xfrm>
            <a:off x="380880" y="1013760"/>
            <a:ext cx="11429640" cy="5362200"/>
          </a:xfrm>
          <a:prstGeom prst="rect">
            <a:avLst/>
          </a:prstGeom>
          <a:solidFill>
            <a:srgbClr val="F4F4F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3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━━━━━━━━━━━━━━━━━━━━━━━━━━━━━━━━━━━━━━━━━━━━━━━━━━━━━━━━━━━━━━━━━━━━━━━━━</a:t>
            </a:r>
            <a:endParaRPr lang="en-US" sz="13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3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3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   AFFINITY MAP - EXPECTED THEMES</a:t>
            </a:r>
            <a:endParaRPr lang="en-US" sz="13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3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3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THEME 1: ONBOARDING IS TOO HARD</a:t>
            </a:r>
            <a:endParaRPr lang="en-US" sz="13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3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• "I didn't know which bank to select."</a:t>
            </a:r>
            <a:endParaRPr lang="en-US" sz="13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3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• "I tried to connect my bank but</a:t>
            </a:r>
            <a:endParaRPr lang="en-US" sz="13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3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  it said it couldn't."</a:t>
            </a:r>
            <a:endParaRPr lang="en-US" sz="13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3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• "I don't remember my banking password."</a:t>
            </a:r>
            <a:endParaRPr lang="en-US" sz="13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3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3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THEME 2: MISSING BUDGETING FEATURES</a:t>
            </a:r>
            <a:endParaRPr lang="en-US" sz="13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3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• "I could see what I spent, but not</a:t>
            </a:r>
            <a:endParaRPr lang="en-US" sz="13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3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  what I could spend."</a:t>
            </a:r>
            <a:endParaRPr lang="en-US" sz="13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3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• "I want to know if I'm saving enough."</a:t>
            </a:r>
            <a:endParaRPr lang="en-US" sz="13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3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• "I use a separate spreadsheet for</a:t>
            </a:r>
            <a:endParaRPr lang="en-US" sz="13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3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  budgeting."</a:t>
            </a:r>
            <a:endParaRPr lang="en-US" sz="13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3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3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THEME 3: NO MOTIVATION TO RETURN</a:t>
            </a:r>
            <a:endParaRPr lang="en-US" sz="13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3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• "I opened it and it said the same</a:t>
            </a:r>
            <a:endParaRPr lang="en-US" sz="13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3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  thing as yesterday."</a:t>
            </a:r>
            <a:endParaRPr lang="en-US" sz="13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3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• "I don't get notifications about</a:t>
            </a:r>
            <a:endParaRPr lang="en-US" sz="13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3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  anything useful."</a:t>
            </a:r>
            <a:endParaRPr lang="en-US" sz="13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3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• "I don't see how it helps me improve."</a:t>
            </a:r>
            <a:endParaRPr lang="en-US" sz="13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3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3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━━━━━━━━━━━━━━━━━━━━━━━━━━━━━━━━━━━━━━━━━━━━━━━━━━━━━━━━━━━━━━━━━━━━━━━━━</a:t>
            </a:r>
            <a:endParaRPr lang="en-US" sz="13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" name="PlaceHolder 1"/>
          <p:cNvSpPr>
            <a:spLocks noGrp="1"/>
          </p:cNvSpPr>
          <p:nvPr>
            <p:ph type="sldNum" idx="53"/>
          </p:nvPr>
        </p:nvSpPr>
        <p:spPr>
          <a:xfrm>
            <a:off x="0" y="6343560"/>
            <a:ext cx="11810520" cy="22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350" b="0" u="none" strike="noStrike">
                <a:solidFill>
                  <a:srgbClr val="777777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25EA84B-901D-4375-8BDB-9CC52118EE7E}" type="slidenum">
              <a:rPr lang="en-US" sz="1350" b="0" u="none" strike="noStrike">
                <a:solidFill>
                  <a:srgbClr val="777777"/>
                </a:solidFill>
                <a:effectLst/>
                <a:uFillTx/>
                <a:latin typeface="Calibri"/>
              </a:rPr>
              <a:t>1</a:t>
            </a:fld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Text 0"/>
          <p:cNvSpPr/>
          <p:nvPr/>
        </p:nvSpPr>
        <p:spPr>
          <a:xfrm>
            <a:off x="380880" y="443520"/>
            <a:ext cx="11658240" cy="37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9000"/>
              </a:lnSpc>
              <a:tabLst>
                <a:tab pos="0" algn="l"/>
              </a:tabLst>
            </a:pPr>
            <a:r>
              <a:rPr lang="en-US" sz="239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SLIDE 46: Part 2 Recap</a:t>
            </a:r>
            <a:endParaRPr lang="en-US" sz="23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" name="Text 1"/>
          <p:cNvSpPr/>
          <p:nvPr/>
        </p:nvSpPr>
        <p:spPr>
          <a:xfrm>
            <a:off x="380880" y="1013760"/>
            <a:ext cx="11429640" cy="5362200"/>
          </a:xfrm>
          <a:prstGeom prst="rect">
            <a:avLst/>
          </a:prstGeom>
          <a:solidFill>
            <a:srgbClr val="F4F4F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━━━━━━━━━━━━━━━━━━━━━━━━━━━━━━━━━━━━━━━━━━━━━━━━━━━━━━━━━━━━━━━━━━━━━━━━━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   PART 2 RECAP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┌─────────────────────────────────────┐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What you learned:                 │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                                  │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✓ The discovery process           │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✓ How to write research questions │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✓ Interview best practices        │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✓ Affinity mapping                │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✓ Personas                        │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✓ Problem statements              │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└─────────────────────────────────────┘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───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Portfolio Tracker: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[ ] Created affinity-map.md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[ ] Created personas.md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[ ] Created problem-statements.md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━━━━━━━━━━━━━━━━━━━━━━━━━━━━━━━━━━━━━━━━━━━━━━━━━━━━━━━━━━━━━━━━━━━━━━━━━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" name="PlaceHolder 1"/>
          <p:cNvSpPr>
            <a:spLocks noGrp="1"/>
          </p:cNvSpPr>
          <p:nvPr>
            <p:ph type="sldNum" idx="54"/>
          </p:nvPr>
        </p:nvSpPr>
        <p:spPr>
          <a:xfrm>
            <a:off x="0" y="6343560"/>
            <a:ext cx="11810520" cy="22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350" b="0" u="none" strike="noStrike">
                <a:solidFill>
                  <a:srgbClr val="777777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7D3EC7A-01CB-443B-B951-E34E08C73610}" type="slidenum">
              <a:rPr lang="en-US" sz="1350" b="0" u="none" strike="noStrike">
                <a:solidFill>
                  <a:srgbClr val="777777"/>
                </a:solidFill>
                <a:effectLst/>
                <a:uFillTx/>
                <a:latin typeface="Calibri"/>
              </a:rPr>
              <a:t>1</a:t>
            </a:fld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Text 0"/>
          <p:cNvSpPr/>
          <p:nvPr/>
        </p:nvSpPr>
        <p:spPr>
          <a:xfrm>
            <a:off x="380880" y="443520"/>
            <a:ext cx="11658240" cy="37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9000"/>
              </a:lnSpc>
              <a:tabLst>
                <a:tab pos="0" algn="l"/>
              </a:tabLst>
            </a:pPr>
            <a:r>
              <a:rPr lang="en-US" sz="239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SLIDE 47: What's Next</a:t>
            </a:r>
            <a:endParaRPr lang="en-US" sz="23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" name="Text 1"/>
          <p:cNvSpPr/>
          <p:nvPr/>
        </p:nvSpPr>
        <p:spPr>
          <a:xfrm>
            <a:off x="380880" y="1013760"/>
            <a:ext cx="11429640" cy="5362200"/>
          </a:xfrm>
          <a:prstGeom prst="rect">
            <a:avLst/>
          </a:prstGeom>
          <a:solidFill>
            <a:srgbClr val="F4F4F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━━━━━━━━━━━━━━━━━━━━━━━━━━━━━━━━━━━━━━━━━━━━━━━━━━━━━━━━━━━━━━━━━━━━━━━━━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   WHAT'S NEXT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┌─────────────────────────────────────┐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PART 3                            │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Jobs-to-Be-Done Framework         │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                                  │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• What is JTBD?                   │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• The 3 job components            │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• The JTBD canvas                 │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• "Hire" vs. "Fire" analysis      │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└─────────────────────────────────────┘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───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Next session: Understanding why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users "hire" your product.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━━━━━━━━━━━━━━━━━━━━━━━━━━━━━━━━━━━━━━━━━━━━━━━━━━━━━━━━━━━━━━━━━━━━━━━━━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" name="PlaceHolder 1"/>
          <p:cNvSpPr>
            <a:spLocks noGrp="1"/>
          </p:cNvSpPr>
          <p:nvPr>
            <p:ph type="sldNum" idx="55"/>
          </p:nvPr>
        </p:nvSpPr>
        <p:spPr>
          <a:xfrm>
            <a:off x="0" y="6343560"/>
            <a:ext cx="11810520" cy="22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350" b="0" u="none" strike="noStrike">
                <a:solidFill>
                  <a:srgbClr val="777777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9CA9DC8-8C4E-432A-932B-7EF7FBF5F02B}" type="slidenum">
              <a:rPr lang="en-US" sz="1350" b="0" u="none" strike="noStrike">
                <a:solidFill>
                  <a:srgbClr val="777777"/>
                </a:solidFill>
                <a:effectLst/>
                <a:uFillTx/>
                <a:latin typeface="Calibri"/>
              </a:rPr>
              <a:t>1</a:t>
            </a:fld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Text 0"/>
          <p:cNvSpPr/>
          <p:nvPr/>
        </p:nvSpPr>
        <p:spPr>
          <a:xfrm>
            <a:off x="380880" y="2713320"/>
            <a:ext cx="11658240" cy="55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107640" anchor="t">
            <a:noAutofit/>
          </a:bodyPr>
          <a:p>
            <a:pPr defTabSz="914400">
              <a:lnSpc>
                <a:spcPct val="109000"/>
              </a:lnSpc>
              <a:tabLst>
                <a:tab pos="0" algn="l"/>
              </a:tabLst>
            </a:pPr>
            <a:r>
              <a:rPr lang="en-US" sz="283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PART 3: JOBS-TO-BE-DONE FRAMEWORK</a:t>
            </a:r>
            <a:endParaRPr lang="en-US" sz="28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" name="Text 1"/>
          <p:cNvSpPr/>
          <p:nvPr/>
        </p:nvSpPr>
        <p:spPr>
          <a:xfrm>
            <a:off x="380880" y="3498480"/>
            <a:ext cx="11658240" cy="55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107640" anchor="t">
            <a:noAutofit/>
          </a:bodyPr>
          <a:p>
            <a:pPr defTabSz="914400">
              <a:lnSpc>
                <a:spcPct val="109000"/>
              </a:lnSpc>
              <a:tabLst>
                <a:tab pos="0" algn="l"/>
              </a:tabLst>
            </a:pPr>
            <a:r>
              <a:rPr lang="en-US" sz="283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Slides 48-65</a:t>
            </a:r>
            <a:endParaRPr lang="en-US" sz="28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8" name="PlaceHolder 1"/>
          <p:cNvSpPr>
            <a:spLocks noGrp="1"/>
          </p:cNvSpPr>
          <p:nvPr>
            <p:ph type="sldNum" idx="56"/>
          </p:nvPr>
        </p:nvSpPr>
        <p:spPr>
          <a:xfrm>
            <a:off x="0" y="6343560"/>
            <a:ext cx="11810520" cy="22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350" b="0" u="none" strike="noStrike">
                <a:solidFill>
                  <a:srgbClr val="777777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E3700D6-3AF5-4418-A645-9F5ED0FB2C7F}" type="slidenum">
              <a:rPr lang="en-US" sz="1350" b="0" u="none" strike="noStrike">
                <a:solidFill>
                  <a:srgbClr val="777777"/>
                </a:solidFill>
                <a:effectLst/>
                <a:uFillTx/>
                <a:latin typeface="Calibri"/>
              </a:rPr>
              <a:t>1</a:t>
            </a:fld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Text 0"/>
          <p:cNvSpPr/>
          <p:nvPr/>
        </p:nvSpPr>
        <p:spPr>
          <a:xfrm>
            <a:off x="380880" y="800640"/>
            <a:ext cx="11658240" cy="37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9000"/>
              </a:lnSpc>
              <a:tabLst>
                <a:tab pos="0" algn="l"/>
              </a:tabLst>
            </a:pPr>
            <a:r>
              <a:rPr lang="en-US" sz="239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SLIDE 48: Part 3 Title</a:t>
            </a:r>
            <a:endParaRPr lang="en-US" sz="23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" name="Text 1"/>
          <p:cNvSpPr/>
          <p:nvPr/>
        </p:nvSpPr>
        <p:spPr>
          <a:xfrm>
            <a:off x="380880" y="1370880"/>
            <a:ext cx="11429640" cy="4647960"/>
          </a:xfrm>
          <a:prstGeom prst="rect">
            <a:avLst/>
          </a:prstGeom>
          <a:solidFill>
            <a:srgbClr val="F4F4F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━━━━━━━━━━━━━━━━━━━━━━━━━━━━━━━━━━━━━━━━━━━━━━━━━━━━━━━━━━━━━━━━━━━━━━━━━</a:t>
            </a:r>
            <a:endParaRPr lang="en-US" sz="1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   PART 3</a:t>
            </a:r>
            <a:endParaRPr lang="en-US" sz="1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   JOBS-TO-BE-DONE</a:t>
            </a:r>
            <a:endParaRPr lang="en-US" sz="1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   FRAMEWORK</a:t>
            </a:r>
            <a:endParaRPr lang="en-US" sz="1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Understanding Why Users</a:t>
            </a:r>
            <a:endParaRPr lang="en-US" sz="1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"Hire" Your Product</a:t>
            </a:r>
            <a:endParaRPr lang="en-US" sz="1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───</a:t>
            </a:r>
            <a:endParaRPr lang="en-US" sz="1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"What job is the user hiring</a:t>
            </a:r>
            <a:endParaRPr lang="en-US" sz="1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your product to do?"</a:t>
            </a:r>
            <a:endParaRPr lang="en-US" sz="1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━━━━━━━━━━━━━━━━━━━━━━━━━━━━━━━━━━━━━━━━━━━━━━━━━━━━━━━━━━━━━━━━━━━━━━━━━</a:t>
            </a:r>
            <a:endParaRPr lang="en-US" sz="1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1" name="PlaceHolder 1"/>
          <p:cNvSpPr>
            <a:spLocks noGrp="1"/>
          </p:cNvSpPr>
          <p:nvPr>
            <p:ph type="sldNum" idx="57"/>
          </p:nvPr>
        </p:nvSpPr>
        <p:spPr>
          <a:xfrm>
            <a:off x="0" y="6343560"/>
            <a:ext cx="11810520" cy="22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350" b="0" u="none" strike="noStrike">
                <a:solidFill>
                  <a:srgbClr val="777777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651FC8A-9E3C-41C5-B90C-1B78B5D02FB8}" type="slidenum">
              <a:rPr lang="en-US" sz="1350" b="0" u="none" strike="noStrike">
                <a:solidFill>
                  <a:srgbClr val="777777"/>
                </a:solidFill>
                <a:effectLst/>
                <a:uFillTx/>
                <a:latin typeface="Calibri"/>
              </a:rPr>
              <a:t>1</a:t>
            </a:fld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Text 0"/>
          <p:cNvSpPr/>
          <p:nvPr/>
        </p:nvSpPr>
        <p:spPr>
          <a:xfrm>
            <a:off x="380880" y="443520"/>
            <a:ext cx="11658240" cy="37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9000"/>
              </a:lnSpc>
              <a:tabLst>
                <a:tab pos="0" algn="l"/>
              </a:tabLst>
            </a:pPr>
            <a:r>
              <a:rPr lang="en-US" sz="239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SLIDE 49: The JTBD Metaphor</a:t>
            </a:r>
            <a:endParaRPr lang="en-US" sz="23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" name="Text 1"/>
          <p:cNvSpPr/>
          <p:nvPr/>
        </p:nvSpPr>
        <p:spPr>
          <a:xfrm>
            <a:off x="380880" y="1013760"/>
            <a:ext cx="11429640" cy="5362200"/>
          </a:xfrm>
          <a:prstGeom prst="rect">
            <a:avLst/>
          </a:prstGeom>
          <a:solidFill>
            <a:srgbClr val="F4F4F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4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━━━━━━━━━━━━━━━━━━━━━━━━━━━━━━━━━━━━━━━━━━━━━━━━━━━━━━━━━━━━━━━━━━━━━━━━━</a:t>
            </a:r>
            <a:endParaRPr lang="en-US" sz="12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2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4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   THE JTBD METAPHOR</a:t>
            </a:r>
            <a:endParaRPr lang="en-US" sz="12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2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4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Imagine a customer buying a drill.</a:t>
            </a:r>
            <a:endParaRPr lang="en-US" sz="12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2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4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┌─────────────────────────────────────┐</a:t>
            </a:r>
            <a:endParaRPr lang="en-US" sz="12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4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TRADITIONAL THINKING:             │</a:t>
            </a:r>
            <a:endParaRPr lang="en-US" sz="12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4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"This customer wants a 3/4-inch  │</a:t>
            </a:r>
            <a:endParaRPr lang="en-US" sz="12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4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 drill bit."                      │</a:t>
            </a:r>
            <a:endParaRPr lang="en-US" sz="12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4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└─────────────────────────────────────┘</a:t>
            </a:r>
            <a:endParaRPr lang="en-US" sz="12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2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4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┌─────────────────────────────────────┐</a:t>
            </a:r>
            <a:endParaRPr lang="en-US" sz="12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4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JTBD THINKING:                    │</a:t>
            </a:r>
            <a:endParaRPr lang="en-US" sz="12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4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"This customer wants a 3/4-inch  │</a:t>
            </a:r>
            <a:endParaRPr lang="en-US" sz="12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4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 hole."                           │</a:t>
            </a:r>
            <a:endParaRPr lang="en-US" sz="12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4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└─────────────────────────────────────┘</a:t>
            </a:r>
            <a:endParaRPr lang="en-US" sz="12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2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4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───</a:t>
            </a:r>
            <a:endParaRPr lang="en-US" sz="12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2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4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The drill bit is the SOLUTION.</a:t>
            </a:r>
            <a:endParaRPr lang="en-US" sz="12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4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The hole is the JOB.</a:t>
            </a:r>
            <a:endParaRPr lang="en-US" sz="12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2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4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Understand the job. Then explore</a:t>
            </a:r>
            <a:endParaRPr lang="en-US" sz="12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4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different solutions.</a:t>
            </a:r>
            <a:endParaRPr lang="en-US" sz="12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2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4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━━━━━━━━━━━━━━━━━━━━━━━━━━━━━━━━━━━━━━━━━━━━━━━━━━━━━━━━━━━━━━━━━━━━━━━━━</a:t>
            </a:r>
            <a:endParaRPr lang="en-US" sz="12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4" name="PlaceHolder 1"/>
          <p:cNvSpPr>
            <a:spLocks noGrp="1"/>
          </p:cNvSpPr>
          <p:nvPr>
            <p:ph type="sldNum" idx="58"/>
          </p:nvPr>
        </p:nvSpPr>
        <p:spPr>
          <a:xfrm>
            <a:off x="0" y="6343560"/>
            <a:ext cx="11810520" cy="22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350" b="0" u="none" strike="noStrike">
                <a:solidFill>
                  <a:srgbClr val="777777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BB2065A-9174-4183-8A24-6A9DCC3BB365}" type="slidenum">
              <a:rPr lang="en-US" sz="1350" b="0" u="none" strike="noStrike">
                <a:solidFill>
                  <a:srgbClr val="777777"/>
                </a:solidFill>
                <a:effectLst/>
                <a:uFillTx/>
                <a:latin typeface="Calibri"/>
              </a:rPr>
              <a:t>1</a:t>
            </a:fld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Text 0"/>
          <p:cNvSpPr/>
          <p:nvPr/>
        </p:nvSpPr>
        <p:spPr>
          <a:xfrm>
            <a:off x="380880" y="443520"/>
            <a:ext cx="11658240" cy="37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9000"/>
              </a:lnSpc>
              <a:tabLst>
                <a:tab pos="0" algn="l"/>
              </a:tabLst>
            </a:pPr>
            <a:r>
              <a:rPr lang="en-US" sz="239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SLIDE 50: The 3 Job Components</a:t>
            </a:r>
            <a:endParaRPr lang="en-US" sz="23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6" name="Text 1"/>
          <p:cNvSpPr/>
          <p:nvPr/>
        </p:nvSpPr>
        <p:spPr>
          <a:xfrm>
            <a:off x="380880" y="1013760"/>
            <a:ext cx="11429640" cy="5362200"/>
          </a:xfrm>
          <a:prstGeom prst="rect">
            <a:avLst/>
          </a:prstGeom>
          <a:solidFill>
            <a:srgbClr val="F4F4F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8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━━━━━━━━━━━━━━━━━━━━━━━━━━━━━━━━━━━━━━━━━━━━━━━━━━━━━━━━━━━━━━━━━━━━━━━━━</a:t>
            </a:r>
            <a:endParaRPr lang="en-US" sz="10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0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8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   THE 3 JOB COMPONENTS</a:t>
            </a:r>
            <a:endParaRPr lang="en-US" sz="10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0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8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┌─────────────────────────────────────┐</a:t>
            </a:r>
            <a:endParaRPr lang="en-US" sz="10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8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FUNCTIONAL JOB                    │</a:t>
            </a:r>
            <a:endParaRPr lang="en-US" sz="10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8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What the user wants to            │</a:t>
            </a:r>
            <a:endParaRPr lang="en-US" sz="10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8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accomplish                        │</a:t>
            </a:r>
            <a:endParaRPr lang="en-US" sz="10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8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                                  │</a:t>
            </a:r>
            <a:endParaRPr lang="en-US" sz="10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8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Example: "I need to know if I'm  │</a:t>
            </a:r>
            <a:endParaRPr lang="en-US" sz="10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8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saving enough money."            │</a:t>
            </a:r>
            <a:endParaRPr lang="en-US" sz="10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8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└─────────────────────────────────────┘</a:t>
            </a:r>
            <a:endParaRPr lang="en-US" sz="10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0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8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┌─────────────────────────────────────┐</a:t>
            </a:r>
            <a:endParaRPr lang="en-US" sz="10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8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EMOTIONAL JOB                     │</a:t>
            </a:r>
            <a:endParaRPr lang="en-US" sz="10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8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How the user wants to feel        │</a:t>
            </a:r>
            <a:endParaRPr lang="en-US" sz="10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8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                                  │</a:t>
            </a:r>
            <a:endParaRPr lang="en-US" sz="10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8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Example: "I want to feel          │</a:t>
            </a:r>
            <a:endParaRPr lang="en-US" sz="10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8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confident about my finances."     │</a:t>
            </a:r>
            <a:endParaRPr lang="en-US" sz="10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8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└─────────────────────────────────────┘</a:t>
            </a:r>
            <a:endParaRPr lang="en-US" sz="10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0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8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┌─────────────────────────────────────┐</a:t>
            </a:r>
            <a:endParaRPr lang="en-US" sz="10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8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SOCIAL JOB                        │</a:t>
            </a:r>
            <a:endParaRPr lang="en-US" sz="10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8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How the user wants to be          │</a:t>
            </a:r>
            <a:endParaRPr lang="en-US" sz="10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8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perceived                         │</a:t>
            </a:r>
            <a:endParaRPr lang="en-US" sz="10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8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                                  │</a:t>
            </a:r>
            <a:endParaRPr lang="en-US" sz="10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8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Example: "I want to be seen as   │</a:t>
            </a:r>
            <a:endParaRPr lang="en-US" sz="10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8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financially responsible."        │</a:t>
            </a:r>
            <a:endParaRPr lang="en-US" sz="10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8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└─────────────────────────────────────┘</a:t>
            </a:r>
            <a:endParaRPr lang="en-US" sz="10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0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8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━━━━━━━━━━━━━━━━━━━━━━━━━━━━━━━━━━━━━━━━━━━━━━━━━━━━━━━━━━━━━━━━━━━━━━━━━</a:t>
            </a:r>
            <a:endParaRPr lang="en-US" sz="10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7" name="PlaceHolder 1"/>
          <p:cNvSpPr>
            <a:spLocks noGrp="1"/>
          </p:cNvSpPr>
          <p:nvPr>
            <p:ph type="sldNum" idx="59"/>
          </p:nvPr>
        </p:nvSpPr>
        <p:spPr>
          <a:xfrm>
            <a:off x="0" y="6343560"/>
            <a:ext cx="11810520" cy="22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350" b="0" u="none" strike="noStrike">
                <a:solidFill>
                  <a:srgbClr val="777777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FDEF166-F4F7-4A45-A08B-A517C6BCE375}" type="slidenum">
              <a:rPr lang="en-US" sz="1350" b="0" u="none" strike="noStrike">
                <a:solidFill>
                  <a:srgbClr val="777777"/>
                </a:solidFill>
                <a:effectLst/>
                <a:uFillTx/>
                <a:latin typeface="Calibri"/>
              </a:rPr>
              <a:t>1</a:t>
            </a:fld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Text 0"/>
          <p:cNvSpPr/>
          <p:nvPr/>
        </p:nvSpPr>
        <p:spPr>
          <a:xfrm>
            <a:off x="380880" y="443520"/>
            <a:ext cx="11658240" cy="37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9000"/>
              </a:lnSpc>
              <a:tabLst>
                <a:tab pos="0" algn="l"/>
              </a:tabLst>
            </a:pPr>
            <a:r>
              <a:rPr lang="en-US" sz="239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SLIDE 51: The Job Map</a:t>
            </a:r>
            <a:endParaRPr lang="en-US" sz="23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9" name="Text 1"/>
          <p:cNvSpPr/>
          <p:nvPr/>
        </p:nvSpPr>
        <p:spPr>
          <a:xfrm>
            <a:off x="380880" y="1013760"/>
            <a:ext cx="11429640" cy="5362200"/>
          </a:xfrm>
          <a:prstGeom prst="rect">
            <a:avLst/>
          </a:prstGeom>
          <a:solidFill>
            <a:srgbClr val="F4F4F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━━━━━━━━━━━━━━━━━━━━━━━━━━━━━━━━━━━━━━━━━━━━━━━━━━━━━━━━━━━━━━━━━━━━━━━━━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   THE JOB MAP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┌─────────────────────────────────────┐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1. DEFINE THE PROBLEM             │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"I don't know where my money is  │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 going."                          │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└─────────────────────────────────────┘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             ▼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┌─────────────────────────────────────┐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2. GATHER INFORMATION             │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Connect bank accounts, import     │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transactions                      │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└─────────────────────────────────────┘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             ▼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┌─────────────────────────────────────┐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3. ANALYZE THE DATA               │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Review spending categories        │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└─────────────────────────────────────┘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             ▼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┌─────────────────────────────────────┐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4. MAKE A PLAN                    │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Set a budget, define goals        │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└─────────────────────────────────────┘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             ▼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┌─────────────────────────────────────┐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5. EXECUTE AND TRACK PROGRESS     │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Monitor spending, adjust habits   │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└─────────────────────────────────────┘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━━━━━━━━━━━━━━━━━━━━━━━━━━━━━━━━━━━━━━━━━━━━━━━━━━━━━━━━━━━━━━━━━━━━━━━━━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0" name="PlaceHolder 1"/>
          <p:cNvSpPr>
            <a:spLocks noGrp="1"/>
          </p:cNvSpPr>
          <p:nvPr>
            <p:ph type="sldNum" idx="60"/>
          </p:nvPr>
        </p:nvSpPr>
        <p:spPr>
          <a:xfrm>
            <a:off x="0" y="6343560"/>
            <a:ext cx="11810520" cy="22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350" b="0" u="none" strike="noStrike">
                <a:solidFill>
                  <a:srgbClr val="777777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6AA95F6-DEE1-4065-AC58-C558E66D4C18}" type="slidenum">
              <a:rPr lang="en-US" sz="1350" b="0" u="none" strike="noStrike">
                <a:solidFill>
                  <a:srgbClr val="777777"/>
                </a:solidFill>
                <a:effectLst/>
                <a:uFillTx/>
                <a:latin typeface="Calibri"/>
              </a:rPr>
              <a:t>1</a:t>
            </a:fld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Text 0"/>
          <p:cNvSpPr/>
          <p:nvPr/>
        </p:nvSpPr>
        <p:spPr>
          <a:xfrm>
            <a:off x="380880" y="443520"/>
            <a:ext cx="11658240" cy="37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9000"/>
              </a:lnSpc>
              <a:tabLst>
                <a:tab pos="0" algn="l"/>
              </a:tabLst>
            </a:pPr>
            <a:r>
              <a:rPr lang="en-US" sz="239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SLIDE 52: "Hire" vs. "Fire" Analysis</a:t>
            </a:r>
            <a:endParaRPr lang="en-US" sz="23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2" name="Text 1"/>
          <p:cNvSpPr/>
          <p:nvPr/>
        </p:nvSpPr>
        <p:spPr>
          <a:xfrm>
            <a:off x="380880" y="1013760"/>
            <a:ext cx="11429640" cy="5362200"/>
          </a:xfrm>
          <a:prstGeom prst="rect">
            <a:avLst/>
          </a:prstGeom>
          <a:solidFill>
            <a:srgbClr val="F4F4F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━━━━━━━━━━━━━━━━━━━━━━━━━━━━━━━━━━━━━━━━━━━━━━━━━━━━━━━━━━━━━━━━━━━━━━━━━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   "HIRE" VS. "FIRE" ANALYSIS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WHY USERS "HIRE" LEDGERLY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─────────────────────────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• Frustrated with current situation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• Traditional tools don't help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• Other solutions too complex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• Product promises ease and guidance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WHY USERS "FIRE" LEDGERLY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─────────────────────────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• Onboarding fails (40% drop-off)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• No visible progress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• No habit loop (no reason to return)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• Missing key features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• Competitors offer more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━━━━━━━━━━━━━━━━━━━━━━━━━━━━━━━━━━━━━━━━━━━━━━━━━━━━━━━━━━━━━━━━━━━━━━━━━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3" name="PlaceHolder 1"/>
          <p:cNvSpPr>
            <a:spLocks noGrp="1"/>
          </p:cNvSpPr>
          <p:nvPr>
            <p:ph type="sldNum" idx="61"/>
          </p:nvPr>
        </p:nvSpPr>
        <p:spPr>
          <a:xfrm>
            <a:off x="0" y="6343560"/>
            <a:ext cx="11810520" cy="22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350" b="0" u="none" strike="noStrike">
                <a:solidFill>
                  <a:srgbClr val="777777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58D69A6-5774-4BB1-80A9-502CE21AF5A9}" type="slidenum">
              <a:rPr lang="en-US" sz="1350" b="0" u="none" strike="noStrike">
                <a:solidFill>
                  <a:srgbClr val="777777"/>
                </a:solidFill>
                <a:effectLst/>
                <a:uFillTx/>
                <a:latin typeface="Calibri"/>
              </a:rPr>
              <a:t>1</a:t>
            </a:fld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Text 0"/>
          <p:cNvSpPr/>
          <p:nvPr/>
        </p:nvSpPr>
        <p:spPr>
          <a:xfrm>
            <a:off x="380880" y="443520"/>
            <a:ext cx="11658240" cy="37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9000"/>
              </a:lnSpc>
              <a:tabLst>
                <a:tab pos="0" algn="l"/>
              </a:tabLst>
            </a:pPr>
            <a:r>
              <a:rPr lang="en-US" sz="239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SLIDE 53: JTBD Canvas</a:t>
            </a:r>
            <a:endParaRPr lang="en-US" sz="23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5" name="Text 1"/>
          <p:cNvSpPr/>
          <p:nvPr/>
        </p:nvSpPr>
        <p:spPr>
          <a:xfrm>
            <a:off x="380880" y="1013760"/>
            <a:ext cx="11429640" cy="5362200"/>
          </a:xfrm>
          <a:prstGeom prst="rect">
            <a:avLst/>
          </a:prstGeom>
          <a:solidFill>
            <a:srgbClr val="F4F4F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6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━━━━━━━━━━━━━━━━━━━━━━━━━━━━━━━━━━━━━━━━━━━━━━━━━━━━━━━━━━━━━━━━━━━━━━━━━</a:t>
            </a:r>
            <a:endParaRPr lang="en-US" sz="9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9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6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   JTBD CANVAS</a:t>
            </a:r>
            <a:endParaRPr lang="en-US" sz="9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9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6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┌─────────────────────────────────────┐</a:t>
            </a:r>
            <a:endParaRPr lang="en-US" sz="9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6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FUNCTIONAL JOB                    │</a:t>
            </a:r>
            <a:endParaRPr lang="en-US" sz="9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6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_________________________________ │</a:t>
            </a:r>
            <a:endParaRPr lang="en-US" sz="9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6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└─────────────────────────────────────┘</a:t>
            </a:r>
            <a:endParaRPr lang="en-US" sz="9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9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6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┌─────────────────────────────────────┐</a:t>
            </a:r>
            <a:endParaRPr lang="en-US" sz="9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6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EMOTIONAL JOB                     │</a:t>
            </a:r>
            <a:endParaRPr lang="en-US" sz="9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6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_________________________________ │</a:t>
            </a:r>
            <a:endParaRPr lang="en-US" sz="9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6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└─────────────────────────────────────┘</a:t>
            </a:r>
            <a:endParaRPr lang="en-US" sz="9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9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6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┌─────────────────────────────────────┐</a:t>
            </a:r>
            <a:endParaRPr lang="en-US" sz="9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6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SOCIAL JOB                        │</a:t>
            </a:r>
            <a:endParaRPr lang="en-US" sz="9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6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_________________________________ │</a:t>
            </a:r>
            <a:endParaRPr lang="en-US" sz="9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6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└─────────────────────────────────────┘</a:t>
            </a:r>
            <a:endParaRPr lang="en-US" sz="9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9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6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┌─────────────────────────────────────┐</a:t>
            </a:r>
            <a:endParaRPr lang="en-US" sz="9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6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CURRENT SOLUTION                  │</a:t>
            </a:r>
            <a:endParaRPr lang="en-US" sz="9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6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_________________________________ │</a:t>
            </a:r>
            <a:endParaRPr lang="en-US" sz="9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6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└─────────────────────────────────────┘</a:t>
            </a:r>
            <a:endParaRPr lang="en-US" sz="9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9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6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┌─────────────────────────────────────┐</a:t>
            </a:r>
            <a:endParaRPr lang="en-US" sz="9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6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FRICTION POINTS                   │</a:t>
            </a:r>
            <a:endParaRPr lang="en-US" sz="9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6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_________________________________ │</a:t>
            </a:r>
            <a:endParaRPr lang="en-US" sz="9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6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└─────────────────────────────────────┘</a:t>
            </a:r>
            <a:endParaRPr lang="en-US" sz="9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9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6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┌─────────────────────────────────────┐</a:t>
            </a:r>
            <a:endParaRPr lang="en-US" sz="9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6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SUCCESS METRICS                   │</a:t>
            </a:r>
            <a:endParaRPr lang="en-US" sz="9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6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_________________________________ │</a:t>
            </a:r>
            <a:endParaRPr lang="en-US" sz="9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6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└─────────────────────────────────────┘</a:t>
            </a:r>
            <a:endParaRPr lang="en-US" sz="9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9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6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━━━━━━━━━━━━━━━━━━━━━━━━━━━━━━━━━━━━━━━━━━━━━━━━━━━━━━━━━━━━━━━━━━━━━━━━━</a:t>
            </a:r>
            <a:endParaRPr lang="en-US" sz="9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6" name="PlaceHolder 1"/>
          <p:cNvSpPr>
            <a:spLocks noGrp="1"/>
          </p:cNvSpPr>
          <p:nvPr>
            <p:ph type="sldNum" idx="62"/>
          </p:nvPr>
        </p:nvSpPr>
        <p:spPr>
          <a:xfrm>
            <a:off x="0" y="6343560"/>
            <a:ext cx="11810520" cy="22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350" b="0" u="none" strike="noStrike">
                <a:solidFill>
                  <a:srgbClr val="777777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A949691-02E0-486D-91CD-AD918E2B5E40}" type="slidenum">
              <a:rPr lang="en-US" sz="1350" b="0" u="none" strike="noStrike">
                <a:solidFill>
                  <a:srgbClr val="777777"/>
                </a:solidFill>
                <a:effectLst/>
                <a:uFillTx/>
                <a:latin typeface="Calibri"/>
              </a:rPr>
              <a:t>1</a:t>
            </a:fld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Text 0"/>
          <p:cNvSpPr/>
          <p:nvPr/>
        </p:nvSpPr>
        <p:spPr>
          <a:xfrm>
            <a:off x="380880" y="443520"/>
            <a:ext cx="11658240" cy="37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9000"/>
              </a:lnSpc>
              <a:tabLst>
                <a:tab pos="0" algn="l"/>
              </a:tabLst>
            </a:pPr>
            <a:r>
              <a:rPr lang="en-US" sz="239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SLIDE 54: JTBD Statement</a:t>
            </a:r>
            <a:endParaRPr lang="en-US" sz="23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8" name="Text 1"/>
          <p:cNvSpPr/>
          <p:nvPr/>
        </p:nvSpPr>
        <p:spPr>
          <a:xfrm>
            <a:off x="380880" y="1013760"/>
            <a:ext cx="11429640" cy="5362200"/>
          </a:xfrm>
          <a:prstGeom prst="rect">
            <a:avLst/>
          </a:prstGeom>
          <a:solidFill>
            <a:srgbClr val="F4F4F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━━━━━━━━━━━━━━━━━━━━━━━━━━━━━━━━━━━━━━━━━━━━━━━━━━━━━━━━━━━━━━━━━━━━━━━━━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   JTBD STATEMENT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TEMPLATE: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"When [circumstance], I want to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[functional job] so I can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[emotional/social outcome]."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─────────────────────────────────────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EXAMPLE: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"When I feel overwhelmed by my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finances and don't know where my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money is going, I want to easily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track my spending and understand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where I can improve, so I can feel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in control of my finances and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confident about my financial future."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━━━━━━━━━━━━━━━━━━━━━━━━━━━━━━━━━━━━━━━━━━━━━━━━━━━━━━━━━━━━━━━━━━━━━━━━━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9" name="PlaceHolder 1"/>
          <p:cNvSpPr>
            <a:spLocks noGrp="1"/>
          </p:cNvSpPr>
          <p:nvPr>
            <p:ph type="sldNum" idx="63"/>
          </p:nvPr>
        </p:nvSpPr>
        <p:spPr>
          <a:xfrm>
            <a:off x="0" y="6343560"/>
            <a:ext cx="11810520" cy="22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350" b="0" u="none" strike="noStrike">
                <a:solidFill>
                  <a:srgbClr val="777777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020C96C-9CC0-44F3-9D71-AAED9FBF0D73}" type="slidenum">
              <a:rPr lang="en-US" sz="1350" b="0" u="none" strike="noStrike">
                <a:solidFill>
                  <a:srgbClr val="777777"/>
                </a:solidFill>
                <a:effectLst/>
                <a:uFillTx/>
                <a:latin typeface="Calibri"/>
              </a:rPr>
              <a:t>1</a:t>
            </a:fld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Text 0"/>
          <p:cNvSpPr/>
          <p:nvPr/>
        </p:nvSpPr>
        <p:spPr>
          <a:xfrm>
            <a:off x="380880" y="443520"/>
            <a:ext cx="11658240" cy="37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9000"/>
              </a:lnSpc>
              <a:tabLst>
                <a:tab pos="0" algn="l"/>
              </a:tabLst>
            </a:pPr>
            <a:r>
              <a:rPr lang="en-US" sz="239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SLIDE 55: JTBD Insights for Ledgerly</a:t>
            </a:r>
            <a:endParaRPr lang="en-US" sz="23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1" name="Text 1"/>
          <p:cNvSpPr/>
          <p:nvPr/>
        </p:nvSpPr>
        <p:spPr>
          <a:xfrm>
            <a:off x="380880" y="1013760"/>
            <a:ext cx="11429640" cy="5362200"/>
          </a:xfrm>
          <a:prstGeom prst="rect">
            <a:avLst/>
          </a:prstGeom>
          <a:solidFill>
            <a:srgbClr val="F4F4F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4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━━━━━━━━━━━━━━━━━━━━━━━━━━━━━━━━━━━━━━━━━━━━━━━━━━━━━━━━━━━━━━━━━━━━━━━━━</a:t>
            </a:r>
            <a:endParaRPr lang="en-US" sz="12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2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4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   JTBD INSIGHTS FOR LEDGERLY</a:t>
            </a:r>
            <a:endParaRPr lang="en-US" sz="12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2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4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INSIGHT 1: The "Job" is Financial</a:t>
            </a:r>
            <a:endParaRPr lang="en-US" sz="12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4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Confidence</a:t>
            </a:r>
            <a:endParaRPr lang="en-US" sz="12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4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─────────────────────────────</a:t>
            </a:r>
            <a:endParaRPr lang="en-US" sz="12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4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Users don't just want to see their</a:t>
            </a:r>
            <a:endParaRPr lang="en-US" sz="12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4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spending. They want to feel in control.</a:t>
            </a:r>
            <a:endParaRPr lang="en-US" sz="12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2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4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INSIGHT 2: Users "Fire" Because They</a:t>
            </a:r>
            <a:endParaRPr lang="en-US" sz="12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4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Don't See Improvement</a:t>
            </a:r>
            <a:endParaRPr lang="en-US" sz="12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4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─────────────────────────────</a:t>
            </a:r>
            <a:endParaRPr lang="en-US" sz="12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4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Users need to see progress over time.</a:t>
            </a:r>
            <a:endParaRPr lang="en-US" sz="12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2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4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INSIGHT 3: The App Doesn't Create</a:t>
            </a:r>
            <a:endParaRPr lang="en-US" sz="12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4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a Habit</a:t>
            </a:r>
            <a:endParaRPr lang="en-US" sz="12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4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─────────────────────────────</a:t>
            </a:r>
            <a:endParaRPr lang="en-US" sz="12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4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Users need habit-forming features.</a:t>
            </a:r>
            <a:endParaRPr lang="en-US" sz="12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2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4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INSIGHT 4: Goal Setting is the</a:t>
            </a:r>
            <a:endParaRPr lang="en-US" sz="12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4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Missing Link</a:t>
            </a:r>
            <a:endParaRPr lang="en-US" sz="12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4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─────────────────────────────</a:t>
            </a:r>
            <a:endParaRPr lang="en-US" sz="12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4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Users who set goals are 3x more</a:t>
            </a:r>
            <a:endParaRPr lang="en-US" sz="12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4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likely to retain.</a:t>
            </a:r>
            <a:endParaRPr lang="en-US" sz="12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2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4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━━━━━━━━━━━━━━━━━━━━━━━━━━━━━━━━━━━━━━━━━━━━━━━━━━━━━━━━━━━━━━━━━━━━━━━━━</a:t>
            </a:r>
            <a:endParaRPr lang="en-US" sz="12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2" name="PlaceHolder 1"/>
          <p:cNvSpPr>
            <a:spLocks noGrp="1"/>
          </p:cNvSpPr>
          <p:nvPr>
            <p:ph type="sldNum" idx="64"/>
          </p:nvPr>
        </p:nvSpPr>
        <p:spPr>
          <a:xfrm>
            <a:off x="0" y="6343560"/>
            <a:ext cx="11810520" cy="22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350" b="0" u="none" strike="noStrike">
                <a:solidFill>
                  <a:srgbClr val="777777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F2F81A3-021D-4497-991B-B8256E4D3F20}" type="slidenum">
              <a:rPr lang="en-US" sz="1350" b="0" u="none" strike="noStrike">
                <a:solidFill>
                  <a:srgbClr val="777777"/>
                </a:solidFill>
                <a:effectLst/>
                <a:uFillTx/>
                <a:latin typeface="Calibri"/>
              </a:rPr>
              <a:t>1</a:t>
            </a:fld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Text 0"/>
          <p:cNvSpPr/>
          <p:nvPr/>
        </p:nvSpPr>
        <p:spPr>
          <a:xfrm>
            <a:off x="380880" y="443520"/>
            <a:ext cx="11658240" cy="37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9000"/>
              </a:lnSpc>
              <a:tabLst>
                <a:tab pos="0" algn="l"/>
              </a:tabLst>
            </a:pPr>
            <a:r>
              <a:rPr lang="en-US" sz="239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SLIDE 56: Part 3 Recap</a:t>
            </a:r>
            <a:endParaRPr lang="en-US" sz="23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4" name="Text 1"/>
          <p:cNvSpPr/>
          <p:nvPr/>
        </p:nvSpPr>
        <p:spPr>
          <a:xfrm>
            <a:off x="380880" y="1013760"/>
            <a:ext cx="11429640" cy="5362200"/>
          </a:xfrm>
          <a:prstGeom prst="rect">
            <a:avLst/>
          </a:prstGeom>
          <a:solidFill>
            <a:srgbClr val="F4F4F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8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━━━━━━━━━━━━━━━━━━━━━━━━━━━━━━━━━━━━━━━━━━━━━━━━━━━━━━━━━━━━━━━━━━━━━━━━━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5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8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   PART 3 RECAP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5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8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┌─────────────────────────────────────┐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8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What you learned:                 │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8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                                  │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8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✓ The JTBD framework              │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8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✓ The 3 job components            │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8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✓ The job map                     │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8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✓ "Hire" vs. "Fire" analysis      │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8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✓ The JTBD canvas                 │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8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✓ The JTBD statement              │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8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└─────────────────────────────────────┘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5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8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───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5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8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Portfolio Tracker: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8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[ ] Created jobs-to-be-done.md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5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8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━━━━━━━━━━━━━━━━━━━━━━━━━━━━━━━━━━━━━━━━━━━━━━━━━━━━━━━━━━━━━━━━━━━━━━━━━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5" name="PlaceHolder 1"/>
          <p:cNvSpPr>
            <a:spLocks noGrp="1"/>
          </p:cNvSpPr>
          <p:nvPr>
            <p:ph type="sldNum" idx="65"/>
          </p:nvPr>
        </p:nvSpPr>
        <p:spPr>
          <a:xfrm>
            <a:off x="0" y="6343560"/>
            <a:ext cx="11810520" cy="22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350" b="0" u="none" strike="noStrike">
                <a:solidFill>
                  <a:srgbClr val="777777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3263939-156C-44DE-83D7-9177D47D4402}" type="slidenum">
              <a:rPr lang="en-US" sz="1350" b="0" u="none" strike="noStrike">
                <a:solidFill>
                  <a:srgbClr val="777777"/>
                </a:solidFill>
                <a:effectLst/>
                <a:uFillTx/>
                <a:latin typeface="Calibri"/>
              </a:rPr>
              <a:t>1</a:t>
            </a:fld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Text 0"/>
          <p:cNvSpPr/>
          <p:nvPr/>
        </p:nvSpPr>
        <p:spPr>
          <a:xfrm>
            <a:off x="380880" y="443520"/>
            <a:ext cx="11658240" cy="37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9000"/>
              </a:lnSpc>
              <a:tabLst>
                <a:tab pos="0" algn="l"/>
              </a:tabLst>
            </a:pPr>
            <a:r>
              <a:rPr lang="en-US" sz="239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SLIDE 57: Phase 1 Complete</a:t>
            </a:r>
            <a:endParaRPr lang="en-US" sz="23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7" name="Text 1"/>
          <p:cNvSpPr/>
          <p:nvPr/>
        </p:nvSpPr>
        <p:spPr>
          <a:xfrm>
            <a:off x="380880" y="1013760"/>
            <a:ext cx="11429640" cy="5362200"/>
          </a:xfrm>
          <a:prstGeom prst="rect">
            <a:avLst/>
          </a:prstGeom>
          <a:solidFill>
            <a:srgbClr val="F4F4F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4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━━━━━━━━━━━━━━━━━━━━━━━━━━━━━━━━━━━━━━━━━━━━━━━━━━━━━━━━━━━━━━━━━━━━━━━━━</a:t>
            </a:r>
            <a:endParaRPr lang="en-US" sz="12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2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4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   PHASE 1 COMPLETE</a:t>
            </a:r>
            <a:endParaRPr lang="en-US" sz="12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2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4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MINDSET &amp; DISCOVERY</a:t>
            </a:r>
            <a:endParaRPr lang="en-US" sz="12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2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4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┌─────────────────────────────────────┐</a:t>
            </a:r>
            <a:endParaRPr lang="en-US" sz="12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4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What you've built:                │</a:t>
            </a:r>
            <a:endParaRPr lang="en-US" sz="12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4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                                  │</a:t>
            </a:r>
            <a:endParaRPr lang="en-US" sz="12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4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01-discovery/                     │</a:t>
            </a:r>
            <a:endParaRPr lang="en-US" sz="12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4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├── pm-philosophy.md              │</a:t>
            </a:r>
            <a:endParaRPr lang="en-US" sz="12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4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├── affinity-map.md               │</a:t>
            </a:r>
            <a:endParaRPr lang="en-US" sz="12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4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├── personas.md                   │</a:t>
            </a:r>
            <a:endParaRPr lang="en-US" sz="12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4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├── problem-statements.md         │</a:t>
            </a:r>
            <a:endParaRPr lang="en-US" sz="12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4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└── jobs-to-be-done.md            │</a:t>
            </a:r>
            <a:endParaRPr lang="en-US" sz="12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4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└─────────────────────────────────────┘</a:t>
            </a:r>
            <a:endParaRPr lang="en-US" sz="12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2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4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───</a:t>
            </a:r>
            <a:endParaRPr lang="en-US" sz="12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2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4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You now understand:</a:t>
            </a:r>
            <a:endParaRPr lang="en-US" sz="12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4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✓ The PM role</a:t>
            </a:r>
            <a:endParaRPr lang="en-US" sz="12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4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✓ User research</a:t>
            </a:r>
            <a:endParaRPr lang="en-US" sz="12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4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✓ Jobs-to-Be-Done</a:t>
            </a:r>
            <a:endParaRPr lang="en-US" sz="12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2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4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Next: Strategy &amp; Prioritization</a:t>
            </a:r>
            <a:endParaRPr lang="en-US" sz="12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2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4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━━━━━━━━━━━━━━━━━━━━━━━━━━━━━━━━━━━━━━━━━━━━━━━━━━━━━━━━━━━━━━━━━━━━━━━━━</a:t>
            </a:r>
            <a:endParaRPr lang="en-US" sz="12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8" name="PlaceHolder 1"/>
          <p:cNvSpPr>
            <a:spLocks noGrp="1"/>
          </p:cNvSpPr>
          <p:nvPr>
            <p:ph type="sldNum" idx="66"/>
          </p:nvPr>
        </p:nvSpPr>
        <p:spPr>
          <a:xfrm>
            <a:off x="0" y="6343560"/>
            <a:ext cx="11810520" cy="22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350" b="0" u="none" strike="noStrike">
                <a:solidFill>
                  <a:srgbClr val="777777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DCF4EE2-8635-4F33-9A7A-E8D9CE65A5EE}" type="slidenum">
              <a:rPr lang="en-US" sz="1350" b="0" u="none" strike="noStrike">
                <a:solidFill>
                  <a:srgbClr val="777777"/>
                </a:solidFill>
                <a:effectLst/>
                <a:uFillTx/>
                <a:latin typeface="Calibri"/>
              </a:rPr>
              <a:t>1</a:t>
            </a:fld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Text 0"/>
          <p:cNvSpPr/>
          <p:nvPr/>
        </p:nvSpPr>
        <p:spPr>
          <a:xfrm>
            <a:off x="380880" y="443520"/>
            <a:ext cx="11658240" cy="37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9000"/>
              </a:lnSpc>
              <a:tabLst>
                <a:tab pos="0" algn="l"/>
              </a:tabLst>
            </a:pPr>
            <a:r>
              <a:rPr lang="en-US" sz="239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SLIDE 58: What's Next</a:t>
            </a:r>
            <a:endParaRPr lang="en-US" sz="23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0" name="Text 1"/>
          <p:cNvSpPr/>
          <p:nvPr/>
        </p:nvSpPr>
        <p:spPr>
          <a:xfrm>
            <a:off x="380880" y="1013760"/>
            <a:ext cx="11429640" cy="5362200"/>
          </a:xfrm>
          <a:prstGeom prst="rect">
            <a:avLst/>
          </a:prstGeom>
          <a:solidFill>
            <a:srgbClr val="F4F4F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2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━━━━━━━━━━━━━━━━━━━━━━━━━━━━━━━━━━━━━━━━━━━━━━━━━━━━━━━━━━━━━━━━━━━━━━━━━</a:t>
            </a:r>
            <a:endParaRPr lang="en-US" sz="172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72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2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   WHAT'S NEXT</a:t>
            </a:r>
            <a:endParaRPr lang="en-US" sz="172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72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2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┌─────────────────────────────────────┐</a:t>
            </a:r>
            <a:endParaRPr lang="en-US" sz="172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2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PART 4                            │</a:t>
            </a:r>
            <a:endParaRPr lang="en-US" sz="172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2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Product Strategy &amp; Vision         │</a:t>
            </a:r>
            <a:endParaRPr lang="en-US" sz="172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2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                                  │</a:t>
            </a:r>
            <a:endParaRPr lang="en-US" sz="172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2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• What is product strategy?      │</a:t>
            </a:r>
            <a:endParaRPr lang="en-US" sz="172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2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• The Strategy Pyramid           │</a:t>
            </a:r>
            <a:endParaRPr lang="en-US" sz="172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2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• Product vision                  │</a:t>
            </a:r>
            <a:endParaRPr lang="en-US" sz="172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2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• Value proposition               │</a:t>
            </a:r>
            <a:endParaRPr lang="en-US" sz="172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2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└─────────────────────────────────────┘</a:t>
            </a:r>
            <a:endParaRPr lang="en-US" sz="172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72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2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───</a:t>
            </a:r>
            <a:endParaRPr lang="en-US" sz="172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72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2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Next session: Where are you going?</a:t>
            </a:r>
            <a:endParaRPr lang="en-US" sz="172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72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2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━━━━━━━━━━━━━━━━━━━━━━━━━━━━━━━━━━━━━━━━━━━━━━━━━━━━━━━━━━━━━━━━━━━━━━━━━</a:t>
            </a:r>
            <a:endParaRPr lang="en-US" sz="172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1" name="PlaceHolder 1"/>
          <p:cNvSpPr>
            <a:spLocks noGrp="1"/>
          </p:cNvSpPr>
          <p:nvPr>
            <p:ph type="sldNum" idx="67"/>
          </p:nvPr>
        </p:nvSpPr>
        <p:spPr>
          <a:xfrm>
            <a:off x="0" y="6343560"/>
            <a:ext cx="11810520" cy="22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350" b="0" u="none" strike="noStrike">
                <a:solidFill>
                  <a:srgbClr val="777777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B6DB1CD-4912-4397-A2DD-61B751D17FB7}" type="slidenum">
              <a:rPr lang="en-US" sz="1350" b="0" u="none" strike="noStrike">
                <a:solidFill>
                  <a:srgbClr val="777777"/>
                </a:solidFill>
                <a:effectLst/>
                <a:uFillTx/>
                <a:latin typeface="Calibri"/>
              </a:rPr>
              <a:t>1</a:t>
            </a:fld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Text 0"/>
          <p:cNvSpPr/>
          <p:nvPr/>
        </p:nvSpPr>
        <p:spPr>
          <a:xfrm>
            <a:off x="380880" y="2713320"/>
            <a:ext cx="11658240" cy="55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107640" anchor="t">
            <a:noAutofit/>
          </a:bodyPr>
          <a:p>
            <a:pPr defTabSz="914400">
              <a:lnSpc>
                <a:spcPct val="109000"/>
              </a:lnSpc>
              <a:tabLst>
                <a:tab pos="0" algn="l"/>
              </a:tabLst>
            </a:pPr>
            <a:r>
              <a:rPr lang="en-US" sz="283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PART 4: PRODUCT STRATEGY &amp; VISION</a:t>
            </a:r>
            <a:endParaRPr lang="en-US" sz="28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3" name="Text 1"/>
          <p:cNvSpPr/>
          <p:nvPr/>
        </p:nvSpPr>
        <p:spPr>
          <a:xfrm>
            <a:off x="380880" y="3498480"/>
            <a:ext cx="11658240" cy="55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107640" anchor="t">
            <a:noAutofit/>
          </a:bodyPr>
          <a:p>
            <a:pPr defTabSz="914400">
              <a:lnSpc>
                <a:spcPct val="109000"/>
              </a:lnSpc>
              <a:tabLst>
                <a:tab pos="0" algn="l"/>
              </a:tabLst>
            </a:pPr>
            <a:r>
              <a:rPr lang="en-US" sz="283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Slides 59-85</a:t>
            </a:r>
            <a:endParaRPr lang="en-US" sz="28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4" name="PlaceHolder 1"/>
          <p:cNvSpPr>
            <a:spLocks noGrp="1"/>
          </p:cNvSpPr>
          <p:nvPr>
            <p:ph type="sldNum" idx="68"/>
          </p:nvPr>
        </p:nvSpPr>
        <p:spPr>
          <a:xfrm>
            <a:off x="0" y="6343560"/>
            <a:ext cx="11810520" cy="22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350" b="0" u="none" strike="noStrike">
                <a:solidFill>
                  <a:srgbClr val="777777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880ED4A-0BBD-4EAC-B927-73A4DCED59EA}" type="slidenum">
              <a:rPr lang="en-US" sz="1350" b="0" u="none" strike="noStrike">
                <a:solidFill>
                  <a:srgbClr val="777777"/>
                </a:solidFill>
                <a:effectLst/>
                <a:uFillTx/>
                <a:latin typeface="Calibri"/>
              </a:rPr>
              <a:t>1</a:t>
            </a:fld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Text 0"/>
          <p:cNvSpPr/>
          <p:nvPr/>
        </p:nvSpPr>
        <p:spPr>
          <a:xfrm>
            <a:off x="380880" y="800640"/>
            <a:ext cx="11658240" cy="37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9000"/>
              </a:lnSpc>
              <a:tabLst>
                <a:tab pos="0" algn="l"/>
              </a:tabLst>
            </a:pPr>
            <a:r>
              <a:rPr lang="en-US" sz="239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SLIDE 59: Part 4 Title</a:t>
            </a:r>
            <a:endParaRPr lang="en-US" sz="23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6" name="Text 1"/>
          <p:cNvSpPr/>
          <p:nvPr/>
        </p:nvSpPr>
        <p:spPr>
          <a:xfrm>
            <a:off x="380880" y="1370880"/>
            <a:ext cx="11429640" cy="4647960"/>
          </a:xfrm>
          <a:prstGeom prst="rect">
            <a:avLst/>
          </a:prstGeom>
          <a:solidFill>
            <a:srgbClr val="F4F4F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━━━━━━━━━━━━━━━━━━━━━━━━━━━━━━━━━━━━━━━━━━━━━━━━━━━━━━━━━━━━━━━━━━━━━━━━━</a:t>
            </a:r>
            <a:endParaRPr lang="en-US" sz="1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   PART 4</a:t>
            </a:r>
            <a:endParaRPr lang="en-US" sz="1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   PRODUCT STRATEGY</a:t>
            </a:r>
            <a:endParaRPr lang="en-US" sz="1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   &amp; VISION</a:t>
            </a:r>
            <a:endParaRPr lang="en-US" sz="1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Defining Where You're Going</a:t>
            </a:r>
            <a:endParaRPr lang="en-US" sz="1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───</a:t>
            </a:r>
            <a:endParaRPr lang="en-US" sz="1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"We serve [who] with [what]</a:t>
            </a:r>
            <a:endParaRPr lang="en-US" sz="1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so they can [outcome], and we're</a:t>
            </a:r>
            <a:endParaRPr lang="en-US" sz="1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willing to give up [what] to do it."</a:t>
            </a:r>
            <a:endParaRPr lang="en-US" sz="1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━━━━━━━━━━━━━━━━━━━━━━━━━━━━━━━━━━━━━━━━━━━━━━━━━━━━━━━━━━━━━━━━━━━━━━━━━</a:t>
            </a:r>
            <a:endParaRPr lang="en-US" sz="1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7" name="PlaceHolder 1"/>
          <p:cNvSpPr>
            <a:spLocks noGrp="1"/>
          </p:cNvSpPr>
          <p:nvPr>
            <p:ph type="sldNum" idx="69"/>
          </p:nvPr>
        </p:nvSpPr>
        <p:spPr>
          <a:xfrm>
            <a:off x="0" y="6343560"/>
            <a:ext cx="11810520" cy="22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350" b="0" u="none" strike="noStrike">
                <a:solidFill>
                  <a:srgbClr val="777777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66F35D2-BE91-4888-929A-0F192F976A98}" type="slidenum">
              <a:rPr lang="en-US" sz="1350" b="0" u="none" strike="noStrike">
                <a:solidFill>
                  <a:srgbClr val="777777"/>
                </a:solidFill>
                <a:effectLst/>
                <a:uFillTx/>
                <a:latin typeface="Calibri"/>
              </a:rPr>
              <a:t>1</a:t>
            </a:fld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Text 0"/>
          <p:cNvSpPr/>
          <p:nvPr/>
        </p:nvSpPr>
        <p:spPr>
          <a:xfrm>
            <a:off x="380880" y="443520"/>
            <a:ext cx="11658240" cy="37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9000"/>
              </a:lnSpc>
              <a:tabLst>
                <a:tab pos="0" algn="l"/>
              </a:tabLst>
            </a:pPr>
            <a:r>
              <a:rPr lang="en-US" sz="239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SLIDE 60: The Strategy Pyramid</a:t>
            </a:r>
            <a:endParaRPr lang="en-US" sz="23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9" name="Text 1"/>
          <p:cNvSpPr/>
          <p:nvPr/>
        </p:nvSpPr>
        <p:spPr>
          <a:xfrm>
            <a:off x="380880" y="1013760"/>
            <a:ext cx="11429640" cy="5362200"/>
          </a:xfrm>
          <a:prstGeom prst="rect">
            <a:avLst/>
          </a:prstGeom>
          <a:solidFill>
            <a:srgbClr val="F4F4F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6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━━━━━━━━━━━━━━━━━━━━━━━━━━━━━━━━━━━━━━━━━━━━━━━━━━━━━━━━━━━━━━━━━━━━━━━━━</a:t>
            </a:r>
            <a:endParaRPr lang="en-US" sz="9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9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6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   THE STRATEGY PYRAMID</a:t>
            </a:r>
            <a:endParaRPr lang="en-US" sz="9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9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6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┌─────────────────────────────────────┐</a:t>
            </a:r>
            <a:endParaRPr lang="en-US" sz="9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6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PRODUCT VISION                    │</a:t>
            </a:r>
            <a:endParaRPr lang="en-US" sz="9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6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"Where we're ultimately going."   │</a:t>
            </a:r>
            <a:endParaRPr lang="en-US" sz="9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6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Stable (years)                    │</a:t>
            </a:r>
            <a:endParaRPr lang="en-US" sz="9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6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└─────────────────────────────────────┘</a:t>
            </a:r>
            <a:endParaRPr lang="en-US" sz="9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9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6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             ▼</a:t>
            </a:r>
            <a:endParaRPr lang="en-US" sz="9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9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6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┌─────────────────────────────────────┐</a:t>
            </a:r>
            <a:endParaRPr lang="en-US" sz="9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6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PRODUCT STRATEGY                  │</a:t>
            </a:r>
            <a:endParaRPr lang="en-US" sz="9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6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"How we'll get there."            │</a:t>
            </a:r>
            <a:endParaRPr lang="en-US" sz="9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6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Evolving (quarters)               │</a:t>
            </a:r>
            <a:endParaRPr lang="en-US" sz="9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6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└─────────────────────────────────────┘</a:t>
            </a:r>
            <a:endParaRPr lang="en-US" sz="9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9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6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             ▼</a:t>
            </a:r>
            <a:endParaRPr lang="en-US" sz="9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9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6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┌─────────────────────────────────────┐</a:t>
            </a:r>
            <a:endParaRPr lang="en-US" sz="9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6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PRODUCT ROADMAP                   │</a:t>
            </a:r>
            <a:endParaRPr lang="en-US" sz="9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6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"What we'll build and when."      │</a:t>
            </a:r>
            <a:endParaRPr lang="en-US" sz="9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6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Changing (months)                 │</a:t>
            </a:r>
            <a:endParaRPr lang="en-US" sz="9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6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└─────────────────────────────────────┘</a:t>
            </a:r>
            <a:endParaRPr lang="en-US" sz="9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9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6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             ▼</a:t>
            </a:r>
            <a:endParaRPr lang="en-US" sz="9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9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6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┌─────────────────────────────────────┐</a:t>
            </a:r>
            <a:endParaRPr lang="en-US" sz="9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6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PRODUCT BACKLOG                   │</a:t>
            </a:r>
            <a:endParaRPr lang="en-US" sz="9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6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"The details of what's next."     │</a:t>
            </a:r>
            <a:endParaRPr lang="en-US" sz="9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6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Dynamic (weeks)                   │</a:t>
            </a:r>
            <a:endParaRPr lang="en-US" sz="9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6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└─────────────────────────────────────┘</a:t>
            </a:r>
            <a:endParaRPr lang="en-US" sz="9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9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6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━━━━━━━━━━━━━━━━━━━━━━━━━━━━━━━━━━━━━━━━━━━━━━━━━━━━━━━━━━━━━━━━━━━━━━━━━</a:t>
            </a:r>
            <a:endParaRPr lang="en-US" sz="9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0" name="PlaceHolder 1"/>
          <p:cNvSpPr>
            <a:spLocks noGrp="1"/>
          </p:cNvSpPr>
          <p:nvPr>
            <p:ph type="sldNum" idx="70"/>
          </p:nvPr>
        </p:nvSpPr>
        <p:spPr>
          <a:xfrm>
            <a:off x="0" y="6343560"/>
            <a:ext cx="11810520" cy="22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350" b="0" u="none" strike="noStrike">
                <a:solidFill>
                  <a:srgbClr val="777777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D308E59-EB25-4476-82A8-EDE4DC98FAFA}" type="slidenum">
              <a:rPr lang="en-US" sz="1350" b="0" u="none" strike="noStrike">
                <a:solidFill>
                  <a:srgbClr val="777777"/>
                </a:solidFill>
                <a:effectLst/>
                <a:uFillTx/>
                <a:latin typeface="Calibri"/>
              </a:rPr>
              <a:t>1</a:t>
            </a:fld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Text 0"/>
          <p:cNvSpPr/>
          <p:nvPr/>
        </p:nvSpPr>
        <p:spPr>
          <a:xfrm>
            <a:off x="380880" y="443520"/>
            <a:ext cx="11658240" cy="37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9000"/>
              </a:lnSpc>
              <a:tabLst>
                <a:tab pos="0" algn="l"/>
              </a:tabLst>
            </a:pPr>
            <a:r>
              <a:rPr lang="en-US" sz="239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SLIDE 61: Product Vision</a:t>
            </a:r>
            <a:endParaRPr lang="en-US" sz="23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2" name="Text 1"/>
          <p:cNvSpPr/>
          <p:nvPr/>
        </p:nvSpPr>
        <p:spPr>
          <a:xfrm>
            <a:off x="380880" y="1013760"/>
            <a:ext cx="11429640" cy="5362200"/>
          </a:xfrm>
          <a:prstGeom prst="rect">
            <a:avLst/>
          </a:prstGeom>
          <a:solidFill>
            <a:srgbClr val="F4F4F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4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━━━━━━━━━━━━━━━━━━━━━━━━━━━━━━━━━━━━━━━━━━━━━━━━━━━━━━━━━━━━━━━━━━━━━━━━━</a:t>
            </a:r>
            <a:endParaRPr lang="en-US" sz="12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2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4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   PRODUCT VISION</a:t>
            </a:r>
            <a:endParaRPr lang="en-US" sz="12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2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4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┌─────────────────────────────────────┐</a:t>
            </a:r>
            <a:endParaRPr lang="en-US" sz="12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4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WHAT IS A PRODUCT VISION?         │</a:t>
            </a:r>
            <a:endParaRPr lang="en-US" sz="12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4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A clear, inspiring description   │</a:t>
            </a:r>
            <a:endParaRPr lang="en-US" sz="12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4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of the ultimate impact you want  │</a:t>
            </a:r>
            <a:endParaRPr lang="en-US" sz="12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4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your product to have.            │</a:t>
            </a:r>
            <a:endParaRPr lang="en-US" sz="12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4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└─────────────────────────────────────┘</a:t>
            </a:r>
            <a:endParaRPr lang="en-US" sz="12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2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4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GOOD VISION IS:</a:t>
            </a:r>
            <a:endParaRPr lang="en-US" sz="12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4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• Ambitious (stretches the team)</a:t>
            </a:r>
            <a:endParaRPr lang="en-US" sz="12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4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• Clear (everyone understands it)</a:t>
            </a:r>
            <a:endParaRPr lang="en-US" sz="12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4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• Stable (doesn't change every quarter)</a:t>
            </a:r>
            <a:endParaRPr lang="en-US" sz="12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4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• Impact-focused (outcomes, not features)</a:t>
            </a:r>
            <a:endParaRPr lang="en-US" sz="12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2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4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─────────────────────────────────────</a:t>
            </a:r>
            <a:endParaRPr lang="en-US" sz="12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2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4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EXAMPLES:</a:t>
            </a:r>
            <a:endParaRPr lang="en-US" sz="12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4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• Ledgerly: "Make financial confidence</a:t>
            </a:r>
            <a:endParaRPr lang="en-US" sz="12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4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  accessible to everyone."</a:t>
            </a:r>
            <a:endParaRPr lang="en-US" sz="12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4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• Airbnb: "Belong anywhere."</a:t>
            </a:r>
            <a:endParaRPr lang="en-US" sz="12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4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• Tesla: "Accelerate the world's</a:t>
            </a:r>
            <a:endParaRPr lang="en-US" sz="12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4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  transition to sustainable energy."</a:t>
            </a:r>
            <a:endParaRPr lang="en-US" sz="12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2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4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━━━━━━━━━━━━━━━━━━━━━━━━━━━━━━━━━━━━━━━━━━━━━━━━━━━━━━━━━━━━━━━━━━━━━━━━━</a:t>
            </a:r>
            <a:endParaRPr lang="en-US" sz="12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3" name="PlaceHolder 1"/>
          <p:cNvSpPr>
            <a:spLocks noGrp="1"/>
          </p:cNvSpPr>
          <p:nvPr>
            <p:ph type="sldNum" idx="71"/>
          </p:nvPr>
        </p:nvSpPr>
        <p:spPr>
          <a:xfrm>
            <a:off x="0" y="6343560"/>
            <a:ext cx="11810520" cy="22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350" b="0" u="none" strike="noStrike">
                <a:solidFill>
                  <a:srgbClr val="777777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2C7E127-40B3-457A-8C20-B16110E0E091}" type="slidenum">
              <a:rPr lang="en-US" sz="1350" b="0" u="none" strike="noStrike">
                <a:solidFill>
                  <a:srgbClr val="777777"/>
                </a:solidFill>
                <a:effectLst/>
                <a:uFillTx/>
                <a:latin typeface="Calibri"/>
              </a:rPr>
              <a:t>1</a:t>
            </a:fld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Text 0"/>
          <p:cNvSpPr/>
          <p:nvPr/>
        </p:nvSpPr>
        <p:spPr>
          <a:xfrm>
            <a:off x="380880" y="443520"/>
            <a:ext cx="11658240" cy="37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9000"/>
              </a:lnSpc>
              <a:tabLst>
                <a:tab pos="0" algn="l"/>
              </a:tabLst>
            </a:pPr>
            <a:r>
              <a:rPr lang="en-US" sz="239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SLIDE 62: Ledgerly Vision</a:t>
            </a:r>
            <a:endParaRPr lang="en-US" sz="23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5" name="Text 1"/>
          <p:cNvSpPr/>
          <p:nvPr/>
        </p:nvSpPr>
        <p:spPr>
          <a:xfrm>
            <a:off x="380880" y="1013760"/>
            <a:ext cx="11429640" cy="5362200"/>
          </a:xfrm>
          <a:prstGeom prst="rect">
            <a:avLst/>
          </a:prstGeom>
          <a:solidFill>
            <a:srgbClr val="F4F4F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8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━━━━━━━━━━━━━━━━━━━━━━━━━━━━━━━━━━━━━━━━━━━━━━━━━━━━━━━━━━━━━━━━━━━━━━━━━</a:t>
            </a:r>
            <a:endParaRPr lang="en-US" sz="10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0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8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   LEDGERLY VISION</a:t>
            </a:r>
            <a:endParaRPr lang="en-US" sz="10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0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8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"Make financial confidence</a:t>
            </a:r>
            <a:endParaRPr lang="en-US" sz="10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8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accessible to everyone, regardless</a:t>
            </a:r>
            <a:endParaRPr lang="en-US" sz="10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8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of their income or financial</a:t>
            </a:r>
            <a:endParaRPr lang="en-US" sz="10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8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literacy."</a:t>
            </a:r>
            <a:endParaRPr lang="en-US" sz="10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0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8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─────────────────────────────────────</a:t>
            </a:r>
            <a:endParaRPr lang="en-US" sz="10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0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8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WHY THIS VISION MATTERS:</a:t>
            </a:r>
            <a:endParaRPr lang="en-US" sz="10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8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• Financial stress affects millions</a:t>
            </a:r>
            <a:endParaRPr lang="en-US" sz="10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8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• Most people feel powerless over</a:t>
            </a:r>
            <a:endParaRPr lang="en-US" sz="10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8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  their money</a:t>
            </a:r>
            <a:endParaRPr lang="en-US" sz="10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8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• Financial confidence improves</a:t>
            </a:r>
            <a:endParaRPr lang="en-US" sz="10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8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  health, happiness, and productivity</a:t>
            </a:r>
            <a:endParaRPr lang="en-US" sz="10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0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8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─────────────────────────────────────</a:t>
            </a:r>
            <a:endParaRPr lang="en-US" sz="10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0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8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WHAT WE WILL DO:</a:t>
            </a:r>
            <a:endParaRPr lang="en-US" sz="10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8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• Focus on young professionals</a:t>
            </a:r>
            <a:endParaRPr lang="en-US" sz="10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8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• Prioritize simplicity</a:t>
            </a:r>
            <a:endParaRPr lang="en-US" sz="10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8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• Help users set and achieve goals</a:t>
            </a:r>
            <a:endParaRPr lang="en-US" sz="10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0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8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WHAT WE WON'T DO:</a:t>
            </a:r>
            <a:endParaRPr lang="en-US" sz="10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8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• Serve high-net-worth individuals</a:t>
            </a:r>
            <a:endParaRPr lang="en-US" sz="10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8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• Become a bloated "everything app"</a:t>
            </a:r>
            <a:endParaRPr lang="en-US" sz="10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8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• Sell users' data</a:t>
            </a:r>
            <a:endParaRPr lang="en-US" sz="10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0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8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━━━━━━━━━━━━━━━━━━━━━━━━━━━━━━━━━━━━━━━━━━━━━━━━━━━━━━━━━━━━━━━━━━━━━━━━━</a:t>
            </a:r>
            <a:endParaRPr lang="en-US" sz="10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6" name="PlaceHolder 1"/>
          <p:cNvSpPr>
            <a:spLocks noGrp="1"/>
          </p:cNvSpPr>
          <p:nvPr>
            <p:ph type="sldNum" idx="72"/>
          </p:nvPr>
        </p:nvSpPr>
        <p:spPr>
          <a:xfrm>
            <a:off x="0" y="6343560"/>
            <a:ext cx="11810520" cy="22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350" b="0" u="none" strike="noStrike">
                <a:solidFill>
                  <a:srgbClr val="777777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481DF42-051E-4711-994F-845763760035}" type="slidenum">
              <a:rPr lang="en-US" sz="1350" b="0" u="none" strike="noStrike">
                <a:solidFill>
                  <a:srgbClr val="777777"/>
                </a:solidFill>
                <a:effectLst/>
                <a:uFillTx/>
                <a:latin typeface="Calibri"/>
              </a:rPr>
              <a:t>1</a:t>
            </a:fld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Text 0"/>
          <p:cNvSpPr/>
          <p:nvPr/>
        </p:nvSpPr>
        <p:spPr>
          <a:xfrm>
            <a:off x="380880" y="443520"/>
            <a:ext cx="11658240" cy="37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9000"/>
              </a:lnSpc>
              <a:tabLst>
                <a:tab pos="0" algn="l"/>
              </a:tabLst>
            </a:pPr>
            <a:r>
              <a:rPr lang="en-US" sz="239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SLIDE 63: Value Proposition</a:t>
            </a:r>
            <a:endParaRPr lang="en-US" sz="23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8" name="Text 1"/>
          <p:cNvSpPr/>
          <p:nvPr/>
        </p:nvSpPr>
        <p:spPr>
          <a:xfrm>
            <a:off x="380880" y="1013760"/>
            <a:ext cx="11429640" cy="5362200"/>
          </a:xfrm>
          <a:prstGeom prst="rect">
            <a:avLst/>
          </a:prstGeom>
          <a:solidFill>
            <a:srgbClr val="F4F4F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━━━━━━━━━━━━━━━━━━━━━━━━━━━━━━━━━━━━━━━━━━━━━━━━━━━━━━━━━━━━━━━━━━━━━━━━━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   VALUE PROPOSITION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┌─────────────────────────────────────┐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WHAT IS A VALUE PROPOSITION?      │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A clear articulation of the       │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value your product delivers.      │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└─────────────────────────────────────┘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─────────────────────────────────────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LEDGERLY'S VALUE PROPOSITION: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USER NEED: SIMPLICITY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"No jargon. No clutter."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USER NEED: GUIDANCE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"Clear next steps. Actionable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insights."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USER NEED: PROGRESS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"Goal setting and tracking."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USER NEED: PRIVACY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"Never sell user data."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━━━━━━━━━━━━━━━━━━━━━━━━━━━━━━━━━━━━━━━━━━━━━━━━━━━━━━━━━━━━━━━━━━━━━━━━━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9" name="PlaceHolder 1"/>
          <p:cNvSpPr>
            <a:spLocks noGrp="1"/>
          </p:cNvSpPr>
          <p:nvPr>
            <p:ph type="sldNum" idx="73"/>
          </p:nvPr>
        </p:nvSpPr>
        <p:spPr>
          <a:xfrm>
            <a:off x="0" y="6343560"/>
            <a:ext cx="11810520" cy="22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350" b="0" u="none" strike="noStrike">
                <a:solidFill>
                  <a:srgbClr val="777777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4E88D71-5473-434C-A664-4F874887CC58}" type="slidenum">
              <a:rPr lang="en-US" sz="1350" b="0" u="none" strike="noStrike">
                <a:solidFill>
                  <a:srgbClr val="777777"/>
                </a:solidFill>
                <a:effectLst/>
                <a:uFillTx/>
                <a:latin typeface="Calibri"/>
              </a:rPr>
              <a:t>1</a:t>
            </a:fld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Text 0"/>
          <p:cNvSpPr/>
          <p:nvPr/>
        </p:nvSpPr>
        <p:spPr>
          <a:xfrm>
            <a:off x="380880" y="443520"/>
            <a:ext cx="11658240" cy="37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9000"/>
              </a:lnSpc>
              <a:tabLst>
                <a:tab pos="0" algn="l"/>
              </a:tabLst>
            </a:pPr>
            <a:r>
              <a:rPr lang="en-US" sz="239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SLIDE 64: Value Proposition Canvas</a:t>
            </a:r>
            <a:endParaRPr lang="en-US" sz="23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1" name="Text 1"/>
          <p:cNvSpPr/>
          <p:nvPr/>
        </p:nvSpPr>
        <p:spPr>
          <a:xfrm>
            <a:off x="380880" y="1013760"/>
            <a:ext cx="11429640" cy="5362200"/>
          </a:xfrm>
          <a:prstGeom prst="rect">
            <a:avLst/>
          </a:prstGeom>
          <a:solidFill>
            <a:srgbClr val="F4F4F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━━━━━━━━━━━━━━━━━━━━━━━━━━━━━━━━━━━━━━━━━━━━━━━━━━━━━━━━━━━━━━━━━━━━━━━━━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   VALUE PROPOSITION CANVAS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┌─────────────────────────────────────┐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USER PROFILE                      │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JOBS TO BE DONE:                  │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"What is the user trying to       │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 accomplish?"                     │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                                  │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PAINS:                            │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"What frustrates the user?"       │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                                  │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GAINS:                            │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"What outcomes does the user      │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 want?"                           │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└─────────────────────────────────────┘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┌─────────────────────────────────────┐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VALUE PROPOSITION                 │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PAIN RELIEVERS:                   │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"How we reduce frustration"       │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                                  │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GAIN CREATORS:                    │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"How we help users achieve        │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 goals"                           │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                                  │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PRODUCTS &amp; SERVICES:              │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"What we're building"             │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└─────────────────────────────────────┘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━━━━━━━━━━━━━━━━━━━━━━━━━━━━━━━━━━━━━━━━━━━━━━━━━━━━━━━━━━━━━━━━━━━━━━━━━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2" name="PlaceHolder 1"/>
          <p:cNvSpPr>
            <a:spLocks noGrp="1"/>
          </p:cNvSpPr>
          <p:nvPr>
            <p:ph type="sldNum" idx="74"/>
          </p:nvPr>
        </p:nvSpPr>
        <p:spPr>
          <a:xfrm>
            <a:off x="0" y="6343560"/>
            <a:ext cx="11810520" cy="22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350" b="0" u="none" strike="noStrike">
                <a:solidFill>
                  <a:srgbClr val="777777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6D2786C-3145-4337-BA72-D1DEB810055A}" type="slidenum">
              <a:rPr lang="en-US" sz="1350" b="0" u="none" strike="noStrike">
                <a:solidFill>
                  <a:srgbClr val="777777"/>
                </a:solidFill>
                <a:effectLst/>
                <a:uFillTx/>
                <a:latin typeface="Calibri"/>
              </a:rPr>
              <a:t>1</a:t>
            </a:fld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Text 0"/>
          <p:cNvSpPr/>
          <p:nvPr/>
        </p:nvSpPr>
        <p:spPr>
          <a:xfrm>
            <a:off x="380880" y="443520"/>
            <a:ext cx="11658240" cy="37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9000"/>
              </a:lnSpc>
              <a:tabLst>
                <a:tab pos="0" algn="l"/>
              </a:tabLst>
            </a:pPr>
            <a:r>
              <a:rPr lang="en-US" sz="239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SLIDE 65: Competitive Positioning</a:t>
            </a:r>
            <a:endParaRPr lang="en-US" sz="23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4" name="Text 1"/>
          <p:cNvSpPr/>
          <p:nvPr/>
        </p:nvSpPr>
        <p:spPr>
          <a:xfrm>
            <a:off x="380880" y="1013760"/>
            <a:ext cx="11429640" cy="5362200"/>
          </a:xfrm>
          <a:prstGeom prst="rect">
            <a:avLst/>
          </a:prstGeom>
          <a:solidFill>
            <a:srgbClr val="F4F4F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1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━━━━━━━━━━━━━━━━━━━━━━━━━━━━━━━━━━━━━━━━━━━━━━━━━━━━━━━━━━━━━━━━━━━━━━━━━</a:t>
            </a:r>
            <a:endParaRPr lang="en-US" sz="11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1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1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   COMPETITIVE POSITIONING</a:t>
            </a:r>
            <a:endParaRPr lang="en-US" sz="11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1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1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┌─────────────────────────────────────┐</a:t>
            </a:r>
            <a:endParaRPr lang="en-US" sz="11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1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COMPETITIVE LANDSCAPE             │</a:t>
            </a:r>
            <a:endParaRPr lang="en-US" sz="11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1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                                  │</a:t>
            </a:r>
            <a:endParaRPr lang="en-US" sz="11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1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MINT: Free, large user base,      │</a:t>
            </a:r>
            <a:endParaRPr lang="en-US" sz="11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1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      ad-heavy, privacy concerns  │</a:t>
            </a:r>
            <a:endParaRPr lang="en-US" sz="11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1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                                  │</a:t>
            </a:r>
            <a:endParaRPr lang="en-US" sz="11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1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YNAB: Excellent budgeting, paid,  │</a:t>
            </a:r>
            <a:endParaRPr lang="en-US" sz="11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1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      steep learning curve        │</a:t>
            </a:r>
            <a:endParaRPr lang="en-US" sz="11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1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                                  │</a:t>
            </a:r>
            <a:endParaRPr lang="en-US" sz="11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1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PERSONAL CAPITAL: Investment      │</a:t>
            </a:r>
            <a:endParaRPr lang="en-US" sz="11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1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       tracking, too complex for  │</a:t>
            </a:r>
            <a:endParaRPr lang="en-US" sz="11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1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       beginners                  │</a:t>
            </a:r>
            <a:endParaRPr lang="en-US" sz="11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1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└─────────────────────────────────────┘</a:t>
            </a:r>
            <a:endParaRPr lang="en-US" sz="11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1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1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─────────────────────────────────────</a:t>
            </a:r>
            <a:endParaRPr lang="en-US" sz="11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1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1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LEDGERLY'S POSITIONING:</a:t>
            </a:r>
            <a:endParaRPr lang="en-US" sz="11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1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"For young professionals who want</a:t>
            </a:r>
            <a:endParaRPr lang="en-US" sz="11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1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financial confidence, Ledgerly is</a:t>
            </a:r>
            <a:endParaRPr lang="en-US" sz="11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1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the personal finance app that</a:t>
            </a:r>
            <a:endParaRPr lang="en-US" sz="11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1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provides simplicity, guidance, and</a:t>
            </a:r>
            <a:endParaRPr lang="en-US" sz="11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1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progress tracking—unlike other apps</a:t>
            </a:r>
            <a:endParaRPr lang="en-US" sz="11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1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that overwhelm with complexity or</a:t>
            </a:r>
            <a:endParaRPr lang="en-US" sz="11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1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fail to offer actionable insights."</a:t>
            </a:r>
            <a:endParaRPr lang="en-US" sz="11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1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1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━━━━━━━━━━━━━━━━━━━━━━━━━━━━━━━━━━━━━━━━━━━━━━━━━━━━━━━━━━━━━━━━━━━━━━━━━</a:t>
            </a:r>
            <a:endParaRPr lang="en-US" sz="11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5" name="PlaceHolder 1"/>
          <p:cNvSpPr>
            <a:spLocks noGrp="1"/>
          </p:cNvSpPr>
          <p:nvPr>
            <p:ph type="sldNum" idx="75"/>
          </p:nvPr>
        </p:nvSpPr>
        <p:spPr>
          <a:xfrm>
            <a:off x="0" y="6343560"/>
            <a:ext cx="11810520" cy="22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350" b="0" u="none" strike="noStrike">
                <a:solidFill>
                  <a:srgbClr val="777777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1353895-26E9-40C1-A957-895AE2EFA5CE}" type="slidenum">
              <a:rPr lang="en-US" sz="1350" b="0" u="none" strike="noStrike">
                <a:solidFill>
                  <a:srgbClr val="777777"/>
                </a:solidFill>
                <a:effectLst/>
                <a:uFillTx/>
                <a:latin typeface="Calibri"/>
              </a:rPr>
              <a:t>1</a:t>
            </a:fld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Text 0"/>
          <p:cNvSpPr/>
          <p:nvPr/>
        </p:nvSpPr>
        <p:spPr>
          <a:xfrm>
            <a:off x="380880" y="443520"/>
            <a:ext cx="11658240" cy="37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9000"/>
              </a:lnSpc>
              <a:tabLst>
                <a:tab pos="0" algn="l"/>
              </a:tabLst>
            </a:pPr>
            <a:r>
              <a:rPr lang="en-US" sz="239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SLIDE 66: Strategy One-Pager</a:t>
            </a:r>
            <a:endParaRPr lang="en-US" sz="23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7" name="Text 1"/>
          <p:cNvSpPr/>
          <p:nvPr/>
        </p:nvSpPr>
        <p:spPr>
          <a:xfrm>
            <a:off x="380880" y="1013760"/>
            <a:ext cx="11429640" cy="5362200"/>
          </a:xfrm>
          <a:prstGeom prst="rect">
            <a:avLst/>
          </a:prstGeom>
          <a:solidFill>
            <a:srgbClr val="F4F4F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━━━━━━━━━━━━━━━━━━━━━━━━━━━━━━━━━━━━━━━━━━━━━━━━━━━━━━━━━━━━━━━━━━━━━━━━━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   STRATEGY ONE-PAGER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┌─────────────────────────────────────┐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VISION                            │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"Make financial confidence        │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accessible to everyone."          │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└─────────────────────────────────────┘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┌─────────────────────────────────────┐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AUDIENCE                          │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Young professionals (25-40) who   │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want to improve their financial   │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health but don't know where to    │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start.                            │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└─────────────────────────────────────┘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┌─────────────────────────────────────┐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VALUE PROPOSITION                 │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SIMPLICITY │ GUIDANCE │ PROGRESS  │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└─────────────────────────────────────┘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┌─────────────────────────────────────┐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KEY DIFFERENTIATORS               │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• Best-in-class onboarding        │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• Actionable insights             │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• Goal-driven                     │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• Privacy-first                   │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└─────────────────────────────────────┘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━━━━━━━━━━━━━━━━━━━━━━━━━━━━━━━━━━━━━━━━━━━━━━━━━━━━━━━━━━━━━━━━━━━━━━━━━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8" name="PlaceHolder 1"/>
          <p:cNvSpPr>
            <a:spLocks noGrp="1"/>
          </p:cNvSpPr>
          <p:nvPr>
            <p:ph type="sldNum" idx="76"/>
          </p:nvPr>
        </p:nvSpPr>
        <p:spPr>
          <a:xfrm>
            <a:off x="0" y="6343560"/>
            <a:ext cx="11810520" cy="22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350" b="0" u="none" strike="noStrike">
                <a:solidFill>
                  <a:srgbClr val="777777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3582642-FD35-4161-AC33-C801B1372B4F}" type="slidenum">
              <a:rPr lang="en-US" sz="1350" b="0" u="none" strike="noStrike">
                <a:solidFill>
                  <a:srgbClr val="777777"/>
                </a:solidFill>
                <a:effectLst/>
                <a:uFillTx/>
                <a:latin typeface="Calibri"/>
              </a:rPr>
              <a:t>1</a:t>
            </a:fld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Text 0"/>
          <p:cNvSpPr/>
          <p:nvPr/>
        </p:nvSpPr>
        <p:spPr>
          <a:xfrm>
            <a:off x="380880" y="443520"/>
            <a:ext cx="11658240" cy="37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9000"/>
              </a:lnSpc>
              <a:tabLst>
                <a:tab pos="0" algn="l"/>
              </a:tabLst>
            </a:pPr>
            <a:r>
              <a:rPr lang="en-US" sz="239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SLIDE 67: Strategic Trade-offs</a:t>
            </a:r>
            <a:endParaRPr lang="en-US" sz="23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0" name="Text 1"/>
          <p:cNvSpPr/>
          <p:nvPr/>
        </p:nvSpPr>
        <p:spPr>
          <a:xfrm>
            <a:off x="380880" y="1013760"/>
            <a:ext cx="11429640" cy="5362200"/>
          </a:xfrm>
          <a:prstGeom prst="rect">
            <a:avLst/>
          </a:prstGeom>
          <a:solidFill>
            <a:srgbClr val="F4F4F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1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━━━━━━━━━━━━━━━━━━━━━━━━━━━━━━━━━━━━━━━━━━━━━━━━━━━━━━━━━━━━━━━━━━━━━━━━━</a:t>
            </a:r>
            <a:endParaRPr lang="en-US" sz="9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9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1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   STRATEGIC TRADE-OFFS</a:t>
            </a:r>
            <a:endParaRPr lang="en-US" sz="9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9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1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┌─────────────────────────────────────┐</a:t>
            </a:r>
            <a:endParaRPr lang="en-US" sz="9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1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TRADE-OFF 1: BREADTH VS. DEPTH   │</a:t>
            </a:r>
            <a:endParaRPr lang="en-US" sz="9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1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Choice: Serve one segment deeply  │</a:t>
            </a:r>
            <a:endParaRPr lang="en-US" sz="9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1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Ledgerly: Depth over breadth      │</a:t>
            </a:r>
            <a:endParaRPr lang="en-US" sz="9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1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└─────────────────────────────────────┘</a:t>
            </a:r>
            <a:endParaRPr lang="en-US" sz="9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9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1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┌─────────────────────────────────────┐</a:t>
            </a:r>
            <a:endParaRPr lang="en-US" sz="9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1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TRADE-OFF 2: SPEED VS. QUALITY   │</a:t>
            </a:r>
            <a:endParaRPr lang="en-US" sz="9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1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Choice: Ship fast and iterate     │</a:t>
            </a:r>
            <a:endParaRPr lang="en-US" sz="9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1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Ledgerly: Speed over perfection   │</a:t>
            </a:r>
            <a:endParaRPr lang="en-US" sz="9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1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└─────────────────────────────────────┘</a:t>
            </a:r>
            <a:endParaRPr lang="en-US" sz="9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9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1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┌─────────────────────────────────────┐</a:t>
            </a:r>
            <a:endParaRPr lang="en-US" sz="9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1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TRADE-OFF 3: NEW VS. MAINTENANCE │</a:t>
            </a:r>
            <a:endParaRPr lang="en-US" sz="9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1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Choice: 80% new, 20% maintenance  │</a:t>
            </a:r>
            <a:endParaRPr lang="en-US" sz="9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1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Ledgerly: Growth over debt        │</a:t>
            </a:r>
            <a:endParaRPr lang="en-US" sz="9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1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└─────────────────────────────────────┘</a:t>
            </a:r>
            <a:endParaRPr lang="en-US" sz="9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9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1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┌─────────────────────────────────────┐</a:t>
            </a:r>
            <a:endParaRPr lang="en-US" sz="9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1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TRADE-OFF 4: GROWTH VS. REVENUE  │</a:t>
            </a:r>
            <a:endParaRPr lang="en-US" sz="9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1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Choice: Grow user base first      │</a:t>
            </a:r>
            <a:endParaRPr lang="en-US" sz="9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1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Ledgerly: Scale before monetize   │</a:t>
            </a:r>
            <a:endParaRPr lang="en-US" sz="9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1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└─────────────────────────────────────┘</a:t>
            </a:r>
            <a:endParaRPr lang="en-US" sz="9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9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1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┌─────────────────────────────────────┐</a:t>
            </a:r>
            <a:endParaRPr lang="en-US" sz="9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1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TRADE-OFF 5: SIMPLICITY VS.      │</a:t>
            </a:r>
            <a:endParaRPr lang="en-US" sz="9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1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FEATURES                          │</a:t>
            </a:r>
            <a:endParaRPr lang="en-US" sz="9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1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Choice: Keep it simple            │</a:t>
            </a:r>
            <a:endParaRPr lang="en-US" sz="9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1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Ledgerly: Loved by few over       │</a:t>
            </a:r>
            <a:endParaRPr lang="en-US" sz="9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1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tolerated by many                 │</a:t>
            </a:r>
            <a:endParaRPr lang="en-US" sz="9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1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└─────────────────────────────────────┘</a:t>
            </a:r>
            <a:endParaRPr lang="en-US" sz="9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9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1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━━━━━━━━━━━━━━━━━━━━━━━━━━━━━━━━━━━━━━━━━━━━━━━━━━━━━━━━━━━━━━━━━━━━━━━━━</a:t>
            </a:r>
            <a:endParaRPr lang="en-US" sz="9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1" name="PlaceHolder 1"/>
          <p:cNvSpPr>
            <a:spLocks noGrp="1"/>
          </p:cNvSpPr>
          <p:nvPr>
            <p:ph type="sldNum" idx="77"/>
          </p:nvPr>
        </p:nvSpPr>
        <p:spPr>
          <a:xfrm>
            <a:off x="0" y="6343560"/>
            <a:ext cx="11810520" cy="22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350" b="0" u="none" strike="noStrike">
                <a:solidFill>
                  <a:srgbClr val="777777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4949E43-CD81-405A-829E-D6CE6767E02D}" type="slidenum">
              <a:rPr lang="en-US" sz="1350" b="0" u="none" strike="noStrike">
                <a:solidFill>
                  <a:srgbClr val="777777"/>
                </a:solidFill>
                <a:effectLst/>
                <a:uFillTx/>
                <a:latin typeface="Calibri"/>
              </a:rPr>
              <a:t>1</a:t>
            </a:fld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Text 0"/>
          <p:cNvSpPr/>
          <p:nvPr/>
        </p:nvSpPr>
        <p:spPr>
          <a:xfrm>
            <a:off x="380880" y="443520"/>
            <a:ext cx="11658240" cy="37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9000"/>
              </a:lnSpc>
              <a:tabLst>
                <a:tab pos="0" algn="l"/>
              </a:tabLst>
            </a:pPr>
            <a:r>
              <a:rPr lang="en-US" sz="239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SLIDE 68: Part 4 Recap</a:t>
            </a:r>
            <a:endParaRPr lang="en-US" sz="23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3" name="Text 1"/>
          <p:cNvSpPr/>
          <p:nvPr/>
        </p:nvSpPr>
        <p:spPr>
          <a:xfrm>
            <a:off x="380880" y="1013760"/>
            <a:ext cx="11429640" cy="5362200"/>
          </a:xfrm>
          <a:prstGeom prst="rect">
            <a:avLst/>
          </a:prstGeom>
          <a:solidFill>
            <a:srgbClr val="F4F4F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1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━━━━━━━━━━━━━━━━━━━━━━━━━━━━━━━━━━━━━━━━━━━━━━━━━━━━━━━━━━━━━━━━━━━━━━━━━</a:t>
            </a:r>
            <a:endParaRPr lang="en-US" sz="15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5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1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   PART 4 RECAP</a:t>
            </a:r>
            <a:endParaRPr lang="en-US" sz="15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5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1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┌─────────────────────────────────────┐</a:t>
            </a:r>
            <a:endParaRPr lang="en-US" sz="15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1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What you learned:                 │</a:t>
            </a:r>
            <a:endParaRPr lang="en-US" sz="15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1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                                  │</a:t>
            </a:r>
            <a:endParaRPr lang="en-US" sz="15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1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✓ The Strategy Pyramid            │</a:t>
            </a:r>
            <a:endParaRPr lang="en-US" sz="15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1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✓ Product vision                  │</a:t>
            </a:r>
            <a:endParaRPr lang="en-US" sz="15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1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✓ Value proposition               │</a:t>
            </a:r>
            <a:endParaRPr lang="en-US" sz="15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1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✓ Competitive positioning         │</a:t>
            </a:r>
            <a:endParaRPr lang="en-US" sz="15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1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✓ Strategic trade-offs            │</a:t>
            </a:r>
            <a:endParaRPr lang="en-US" sz="15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1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└─────────────────────────────────────┘</a:t>
            </a:r>
            <a:endParaRPr lang="en-US" sz="15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5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1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───</a:t>
            </a:r>
            <a:endParaRPr lang="en-US" sz="15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5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1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Portfolio Tracker:</a:t>
            </a:r>
            <a:endParaRPr lang="en-US" sz="15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1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[ ] Created product-vision.md</a:t>
            </a:r>
            <a:endParaRPr lang="en-US" sz="15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1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[ ] Created value-proposition.md</a:t>
            </a:r>
            <a:endParaRPr lang="en-US" sz="15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1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[ ] Created competitive-positioning.md</a:t>
            </a:r>
            <a:endParaRPr lang="en-US" sz="15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5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1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━━━━━━━━━━━━━━━━━━━━━━━━━━━━━━━━━━━━━━━━━━━━━━━━━━━━━━━━━━━━━━━━━━━━━━━━━</a:t>
            </a:r>
            <a:endParaRPr lang="en-US" sz="15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4" name="PlaceHolder 1"/>
          <p:cNvSpPr>
            <a:spLocks noGrp="1"/>
          </p:cNvSpPr>
          <p:nvPr>
            <p:ph type="sldNum" idx="78"/>
          </p:nvPr>
        </p:nvSpPr>
        <p:spPr>
          <a:xfrm>
            <a:off x="0" y="6343560"/>
            <a:ext cx="11810520" cy="22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350" b="0" u="none" strike="noStrike">
                <a:solidFill>
                  <a:srgbClr val="777777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9F9B8FD-712C-43BE-9267-7EE393EDD5A5}" type="slidenum">
              <a:rPr lang="en-US" sz="1350" b="0" u="none" strike="noStrike">
                <a:solidFill>
                  <a:srgbClr val="777777"/>
                </a:solidFill>
                <a:effectLst/>
                <a:uFillTx/>
                <a:latin typeface="Calibri"/>
              </a:rPr>
              <a:t>1</a:t>
            </a:fld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Text 0"/>
          <p:cNvSpPr/>
          <p:nvPr/>
        </p:nvSpPr>
        <p:spPr>
          <a:xfrm>
            <a:off x="380880" y="443520"/>
            <a:ext cx="11658240" cy="37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9000"/>
              </a:lnSpc>
              <a:tabLst>
                <a:tab pos="0" algn="l"/>
              </a:tabLst>
            </a:pPr>
            <a:r>
              <a:rPr lang="en-US" sz="239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SLIDE 69: What's Next</a:t>
            </a:r>
            <a:endParaRPr lang="en-US" sz="23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6" name="Text 1"/>
          <p:cNvSpPr/>
          <p:nvPr/>
        </p:nvSpPr>
        <p:spPr>
          <a:xfrm>
            <a:off x="380880" y="1013760"/>
            <a:ext cx="11429640" cy="5362200"/>
          </a:xfrm>
          <a:prstGeom prst="rect">
            <a:avLst/>
          </a:prstGeom>
          <a:solidFill>
            <a:srgbClr val="F4F4F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2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━━━━━━━━━━━━━━━━━━━━━━━━━━━━━━━━━━━━━━━━━━━━━━━━━━━━━━━━━━━━━━━━━━━━━━━━━</a:t>
            </a:r>
            <a:endParaRPr lang="en-US" sz="172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72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2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   WHAT'S NEXT</a:t>
            </a:r>
            <a:endParaRPr lang="en-US" sz="172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72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2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┌─────────────────────────────────────┐</a:t>
            </a:r>
            <a:endParaRPr lang="en-US" sz="172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2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PART 5                            │</a:t>
            </a:r>
            <a:endParaRPr lang="en-US" sz="172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2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Competitive Analysis              │</a:t>
            </a:r>
            <a:endParaRPr lang="en-US" sz="172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2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                                  │</a:t>
            </a:r>
            <a:endParaRPr lang="en-US" sz="172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2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• Competitor types                │</a:t>
            </a:r>
            <a:endParaRPr lang="en-US" sz="172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2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• Feature comparison              │</a:t>
            </a:r>
            <a:endParaRPr lang="en-US" sz="172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2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• SWOT analysis                   │</a:t>
            </a:r>
            <a:endParaRPr lang="en-US" sz="172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2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• Positioning maps                │</a:t>
            </a:r>
            <a:endParaRPr lang="en-US" sz="172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2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└─────────────────────────────────────┘</a:t>
            </a:r>
            <a:endParaRPr lang="en-US" sz="172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72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2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───</a:t>
            </a:r>
            <a:endParaRPr lang="en-US" sz="172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72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2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Next session: Know your enemy.</a:t>
            </a:r>
            <a:endParaRPr lang="en-US" sz="172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72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2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━━━━━━━━━━━━━━━━━━━━━━━━━━━━━━━━━━━━━━━━━━━━━━━━━━━━━━━━━━━━━━━━━━━━━━━━━</a:t>
            </a:r>
            <a:endParaRPr lang="en-US" sz="172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7" name="PlaceHolder 1"/>
          <p:cNvSpPr>
            <a:spLocks noGrp="1"/>
          </p:cNvSpPr>
          <p:nvPr>
            <p:ph type="sldNum" idx="79"/>
          </p:nvPr>
        </p:nvSpPr>
        <p:spPr>
          <a:xfrm>
            <a:off x="0" y="6343560"/>
            <a:ext cx="11810520" cy="22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350" b="0" u="none" strike="noStrike">
                <a:solidFill>
                  <a:srgbClr val="777777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A1E0E36-FA7E-4649-A900-A3F12DA036DD}" type="slidenum">
              <a:rPr lang="en-US" sz="1350" b="0" u="none" strike="noStrike">
                <a:solidFill>
                  <a:srgbClr val="777777"/>
                </a:solidFill>
                <a:effectLst/>
                <a:uFillTx/>
                <a:latin typeface="Calibri"/>
              </a:rPr>
              <a:t>1</a:t>
            </a:fld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Text 0"/>
          <p:cNvSpPr/>
          <p:nvPr/>
        </p:nvSpPr>
        <p:spPr>
          <a:xfrm>
            <a:off x="380880" y="2713320"/>
            <a:ext cx="11658240" cy="55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107640" anchor="t">
            <a:noAutofit/>
          </a:bodyPr>
          <a:p>
            <a:pPr defTabSz="914400">
              <a:lnSpc>
                <a:spcPct val="109000"/>
              </a:lnSpc>
              <a:tabLst>
                <a:tab pos="0" algn="l"/>
              </a:tabLst>
            </a:pPr>
            <a:r>
              <a:rPr lang="en-US" sz="283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PART 5: COMPETITIVE ANALYSIS</a:t>
            </a:r>
            <a:endParaRPr lang="en-US" sz="28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9" name="Text 1"/>
          <p:cNvSpPr/>
          <p:nvPr/>
        </p:nvSpPr>
        <p:spPr>
          <a:xfrm>
            <a:off x="380880" y="3498480"/>
            <a:ext cx="11658240" cy="55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107640" anchor="t">
            <a:noAutofit/>
          </a:bodyPr>
          <a:p>
            <a:pPr defTabSz="914400">
              <a:lnSpc>
                <a:spcPct val="109000"/>
              </a:lnSpc>
              <a:tabLst>
                <a:tab pos="0" algn="l"/>
              </a:tabLst>
            </a:pPr>
            <a:r>
              <a:rPr lang="en-US" sz="283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Slides 70-90</a:t>
            </a:r>
            <a:endParaRPr lang="en-US" sz="28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0" name="PlaceHolder 1"/>
          <p:cNvSpPr>
            <a:spLocks noGrp="1"/>
          </p:cNvSpPr>
          <p:nvPr>
            <p:ph type="sldNum" idx="80"/>
          </p:nvPr>
        </p:nvSpPr>
        <p:spPr>
          <a:xfrm>
            <a:off x="0" y="6343560"/>
            <a:ext cx="11810520" cy="22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350" b="0" u="none" strike="noStrike">
                <a:solidFill>
                  <a:srgbClr val="777777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1889D46-66E8-4739-9D16-4DD174CA3F49}" type="slidenum">
              <a:rPr lang="en-US" sz="1350" b="0" u="none" strike="noStrike">
                <a:solidFill>
                  <a:srgbClr val="777777"/>
                </a:solidFill>
                <a:effectLst/>
                <a:uFillTx/>
                <a:latin typeface="Calibri"/>
              </a:rPr>
              <a:t>1</a:t>
            </a:fld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Text 0"/>
          <p:cNvSpPr/>
          <p:nvPr/>
        </p:nvSpPr>
        <p:spPr>
          <a:xfrm>
            <a:off x="380880" y="1072440"/>
            <a:ext cx="11658240" cy="37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9000"/>
              </a:lnSpc>
              <a:tabLst>
                <a:tab pos="0" algn="l"/>
              </a:tabLst>
            </a:pPr>
            <a:r>
              <a:rPr lang="en-US" sz="239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SLIDE 70: Part 5 Title</a:t>
            </a:r>
            <a:endParaRPr lang="en-US" sz="23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2" name="Text 1"/>
          <p:cNvSpPr/>
          <p:nvPr/>
        </p:nvSpPr>
        <p:spPr>
          <a:xfrm>
            <a:off x="380880" y="1642320"/>
            <a:ext cx="11429640" cy="4105080"/>
          </a:xfrm>
          <a:prstGeom prst="rect">
            <a:avLst/>
          </a:prstGeom>
          <a:solidFill>
            <a:srgbClr val="F4F4F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2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━━━━━━━━━━━━━━━━━━━━━━━━━━━━━━━━━━━━━━━━━━━━━━━━━━━━━━━━━━━━━━━━━━━━━━━━━</a:t>
            </a:r>
            <a:endParaRPr lang="en-US" sz="172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72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2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   PART 5</a:t>
            </a:r>
            <a:endParaRPr lang="en-US" sz="172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72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2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   COMPETITIVE</a:t>
            </a:r>
            <a:endParaRPr lang="en-US" sz="172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2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   ANALYSIS</a:t>
            </a:r>
            <a:endParaRPr lang="en-US" sz="172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72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2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Understanding the Market</a:t>
            </a:r>
            <a:endParaRPr lang="en-US" sz="172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72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2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───</a:t>
            </a:r>
            <a:endParaRPr lang="en-US" sz="172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72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2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"Know your enemy and know yourself."</a:t>
            </a:r>
            <a:endParaRPr lang="en-US" sz="172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72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2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━━━━━━━━━━━━━━━━━━━━━━━━━━━━━━━━━━━━━━━━━━━━━━━━━━━━━━━━━━━━━━━━━━━━━━━━━</a:t>
            </a:r>
            <a:endParaRPr lang="en-US" sz="172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3" name="PlaceHolder 1"/>
          <p:cNvSpPr>
            <a:spLocks noGrp="1"/>
          </p:cNvSpPr>
          <p:nvPr>
            <p:ph type="sldNum" idx="81"/>
          </p:nvPr>
        </p:nvSpPr>
        <p:spPr>
          <a:xfrm>
            <a:off x="0" y="6343560"/>
            <a:ext cx="11810520" cy="22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350" b="0" u="none" strike="noStrike">
                <a:solidFill>
                  <a:srgbClr val="777777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38E5739-8FB8-469E-BE25-B79D66444DEC}" type="slidenum">
              <a:rPr lang="en-US" sz="1350" b="0" u="none" strike="noStrike">
                <a:solidFill>
                  <a:srgbClr val="777777"/>
                </a:solidFill>
                <a:effectLst/>
                <a:uFillTx/>
                <a:latin typeface="Calibri"/>
              </a:rPr>
              <a:t>1</a:t>
            </a:fld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Text 0"/>
          <p:cNvSpPr/>
          <p:nvPr/>
        </p:nvSpPr>
        <p:spPr>
          <a:xfrm>
            <a:off x="380880" y="443520"/>
            <a:ext cx="11658240" cy="37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9000"/>
              </a:lnSpc>
              <a:tabLst>
                <a:tab pos="0" algn="l"/>
              </a:tabLst>
            </a:pPr>
            <a:r>
              <a:rPr lang="en-US" sz="239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SLIDE 71: Competitor Types</a:t>
            </a:r>
            <a:endParaRPr lang="en-US" sz="23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5" name="Text 1"/>
          <p:cNvSpPr/>
          <p:nvPr/>
        </p:nvSpPr>
        <p:spPr>
          <a:xfrm>
            <a:off x="380880" y="1013760"/>
            <a:ext cx="11429640" cy="5362200"/>
          </a:xfrm>
          <a:prstGeom prst="rect">
            <a:avLst/>
          </a:prstGeom>
          <a:solidFill>
            <a:srgbClr val="F4F4F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6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━━━━━━━━━━━━━━━━━━━━━━━━━━━━━━━━━━━━━━━━━━━━━━━━━━━━━━━━━━━━━━━━━━━━━━━━━</a:t>
            </a:r>
            <a:endParaRPr lang="en-US" sz="9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9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6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   COMPETITOR TYPES</a:t>
            </a:r>
            <a:endParaRPr lang="en-US" sz="9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9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6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┌─────────────────────────────────────┐</a:t>
            </a:r>
            <a:endParaRPr lang="en-US" sz="9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6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DIRECT COMPETITORS                │</a:t>
            </a:r>
            <a:endParaRPr lang="en-US" sz="9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6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Same category, same job           │</a:t>
            </a:r>
            <a:endParaRPr lang="en-US" sz="9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6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Example: Mint vs. YNAB           │</a:t>
            </a:r>
            <a:endParaRPr lang="en-US" sz="9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6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└─────────────────────────────────────┘</a:t>
            </a:r>
            <a:endParaRPr lang="en-US" sz="9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9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6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┌─────────────────────────────────────┐</a:t>
            </a:r>
            <a:endParaRPr lang="en-US" sz="9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6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INDIRECT COMPETITORS              │</a:t>
            </a:r>
            <a:endParaRPr lang="en-US" sz="9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6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Different category, same job      │</a:t>
            </a:r>
            <a:endParaRPr lang="en-US" sz="9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6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Example: Google Sheets vs.        │</a:t>
            </a:r>
            <a:endParaRPr lang="en-US" sz="9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6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budgeting apps                    │</a:t>
            </a:r>
            <a:endParaRPr lang="en-US" sz="9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6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└─────────────────────────────────────┘</a:t>
            </a:r>
            <a:endParaRPr lang="en-US" sz="9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9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6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┌─────────────────────────────────────┐</a:t>
            </a:r>
            <a:endParaRPr lang="en-US" sz="9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6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ASPIRATIONAL COMPETITORS          │</a:t>
            </a:r>
            <a:endParaRPr lang="en-US" sz="9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6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Best-in-class to learn from       │</a:t>
            </a:r>
            <a:endParaRPr lang="en-US" sz="9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6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Example: Apple (design)           │</a:t>
            </a:r>
            <a:endParaRPr lang="en-US" sz="9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6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└─────────────────────────────────────┘</a:t>
            </a:r>
            <a:endParaRPr lang="en-US" sz="9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9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6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┌─────────────────────────────────────┐</a:t>
            </a:r>
            <a:endParaRPr lang="en-US" sz="9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6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POTENTIAL COMPETITORS             │</a:t>
            </a:r>
            <a:endParaRPr lang="en-US" sz="9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6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Could enter your space            │</a:t>
            </a:r>
            <a:endParaRPr lang="en-US" sz="9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6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Example: Apple/Google in finance  │</a:t>
            </a:r>
            <a:endParaRPr lang="en-US" sz="9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6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└─────────────────────────────────────┘</a:t>
            </a:r>
            <a:endParaRPr lang="en-US" sz="9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9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6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─────────────────────────────────────</a:t>
            </a:r>
            <a:endParaRPr lang="en-US" sz="9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9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6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The most dangerous competitor:</a:t>
            </a:r>
            <a:endParaRPr lang="en-US" sz="9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6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"DOING NOTHING" (users giving up)</a:t>
            </a:r>
            <a:endParaRPr lang="en-US" sz="9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9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6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━━━━━━━━━━━━━━━━━━━━━━━━━━━━━━━━━━━━━━━━━━━━━━━━━━━━━━━━━━━━━━━━━━━━━━━━━</a:t>
            </a:r>
            <a:endParaRPr lang="en-US" sz="9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6" name="PlaceHolder 1"/>
          <p:cNvSpPr>
            <a:spLocks noGrp="1"/>
          </p:cNvSpPr>
          <p:nvPr>
            <p:ph type="sldNum" idx="82"/>
          </p:nvPr>
        </p:nvSpPr>
        <p:spPr>
          <a:xfrm>
            <a:off x="0" y="6343560"/>
            <a:ext cx="11810520" cy="22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350" b="0" u="none" strike="noStrike">
                <a:solidFill>
                  <a:srgbClr val="777777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F7C9605-3EBF-42F2-AD80-74AF72B78560}" type="slidenum">
              <a:rPr lang="en-US" sz="1350" b="0" u="none" strike="noStrike">
                <a:solidFill>
                  <a:srgbClr val="777777"/>
                </a:solidFill>
                <a:effectLst/>
                <a:uFillTx/>
                <a:latin typeface="Calibri"/>
              </a:rPr>
              <a:t>1</a:t>
            </a:fld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Text 0"/>
          <p:cNvSpPr/>
          <p:nvPr/>
        </p:nvSpPr>
        <p:spPr>
          <a:xfrm>
            <a:off x="380880" y="443520"/>
            <a:ext cx="11658240" cy="37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9000"/>
              </a:lnSpc>
              <a:tabLst>
                <a:tab pos="0" algn="l"/>
              </a:tabLst>
            </a:pPr>
            <a:r>
              <a:rPr lang="en-US" sz="239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SLIDE 72: Feature Comparison Matrix</a:t>
            </a:r>
            <a:endParaRPr lang="en-US" sz="23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8" name="Text 1"/>
          <p:cNvSpPr/>
          <p:nvPr/>
        </p:nvSpPr>
        <p:spPr>
          <a:xfrm>
            <a:off x="380880" y="1013760"/>
            <a:ext cx="11429640" cy="5362200"/>
          </a:xfrm>
          <a:prstGeom prst="rect">
            <a:avLst/>
          </a:prstGeom>
          <a:solidFill>
            <a:srgbClr val="F4F4F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8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━━━━━━━━━━━━━━━━━━━━━━━━━━━━━━━━━━━━━━━━━━━━━━━━━━━━━━━━━━━━━━━━━━━━━━━━━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8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   FEATURE COMPARISON MATRIX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8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┌─────────────────────────────────────┐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8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FEATURE        MINT   YNAB   PC  │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8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Account Aggreg.  ✓      ✓      ✓  │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8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Categorization   ✓      ✓      ✓  │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8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Budgeting        ✓      ✓      ✗  │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8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Goal Setting     ✗      ✓      ✗  │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8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Investment       ✗      ✗      ✓  │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8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Tracking                          │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8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Progress Track   ✗      ✓      ✓  │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8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Privacy-First    ✗      ✓      ✓  │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8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Free             ✓      ✗      ✗  │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8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└─────────────────────────────────────┘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8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─────────────────────────────────────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8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KEY INSIGHTS: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8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• No competitor offers everything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8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• "Guidance + Simplicity" is underserved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8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• Goal-setting is a major gap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8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• Privacy is a competitive advantage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8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━━━━━━━━━━━━━━━━━━━━━━━━━━━━━━━━━━━━━━━━━━━━━━━━━━━━━━━━━━━━━━━━━━━━━━━━━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9" name="PlaceHolder 1"/>
          <p:cNvSpPr>
            <a:spLocks noGrp="1"/>
          </p:cNvSpPr>
          <p:nvPr>
            <p:ph type="sldNum" idx="83"/>
          </p:nvPr>
        </p:nvSpPr>
        <p:spPr>
          <a:xfrm>
            <a:off x="0" y="6343560"/>
            <a:ext cx="11810520" cy="22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350" b="0" u="none" strike="noStrike">
                <a:solidFill>
                  <a:srgbClr val="777777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5FC9EA8-D504-4B5E-86B0-0F85C89E3327}" type="slidenum">
              <a:rPr lang="en-US" sz="1350" b="0" u="none" strike="noStrike">
                <a:solidFill>
                  <a:srgbClr val="777777"/>
                </a:solidFill>
                <a:effectLst/>
                <a:uFillTx/>
                <a:latin typeface="Calibri"/>
              </a:rPr>
              <a:t>1</a:t>
            </a:fld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Text 0"/>
          <p:cNvSpPr/>
          <p:nvPr/>
        </p:nvSpPr>
        <p:spPr>
          <a:xfrm>
            <a:off x="380880" y="443520"/>
            <a:ext cx="11658240" cy="37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9000"/>
              </a:lnSpc>
              <a:tabLst>
                <a:tab pos="0" algn="l"/>
              </a:tabLst>
            </a:pPr>
            <a:r>
              <a:rPr lang="en-US" sz="239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SLIDE 73: Positioning Map</a:t>
            </a:r>
            <a:endParaRPr lang="en-US" sz="23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1" name="Text 1"/>
          <p:cNvSpPr/>
          <p:nvPr/>
        </p:nvSpPr>
        <p:spPr>
          <a:xfrm>
            <a:off x="380880" y="1013760"/>
            <a:ext cx="11429640" cy="5362200"/>
          </a:xfrm>
          <a:prstGeom prst="rect">
            <a:avLst/>
          </a:prstGeom>
          <a:solidFill>
            <a:srgbClr val="F4F4F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━━━━━━━━━━━━━━━━━━━━━━━━━━━━━━━━━━━━━━━━━━━━━━━━━━━━━━━━━━━━━━━━━━━━━━━━━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   POSITIONING MAP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            HIGH GUIDANCE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                  │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                  │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YNAB                │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EveryDollar         │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                  │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Ledgerly (Target)   │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PocketGuard         │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                  │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Mint                │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                  │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Banking Apps        │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                  │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Spreadsheets        │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Personal Capital   │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                  │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            LOW GUIDANCE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                  │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───────────────────┼───────────────────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SIMPLE                               COMPLEX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─────────────────────────────────────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LEDGERLY'S SWEET SPOT: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Simplicity + Guidance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(Underserved by competitors)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━━━━━━━━━━━━━━━━━━━━━━━━━━━━━━━━━━━━━━━━━━━━━━━━━━━━━━━━━━━━━━━━━━━━━━━━━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2" name="PlaceHolder 1"/>
          <p:cNvSpPr>
            <a:spLocks noGrp="1"/>
          </p:cNvSpPr>
          <p:nvPr>
            <p:ph type="sldNum" idx="84"/>
          </p:nvPr>
        </p:nvSpPr>
        <p:spPr>
          <a:xfrm>
            <a:off x="0" y="6343560"/>
            <a:ext cx="11810520" cy="22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350" b="0" u="none" strike="noStrike">
                <a:solidFill>
                  <a:srgbClr val="777777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389A57A-4A7E-4EF0-81E8-912A4E4AAE46}" type="slidenum">
              <a:rPr lang="en-US" sz="1350" b="0" u="none" strike="noStrike">
                <a:solidFill>
                  <a:srgbClr val="777777"/>
                </a:solidFill>
                <a:effectLst/>
                <a:uFillTx/>
                <a:latin typeface="Calibri"/>
              </a:rPr>
              <a:t>1</a:t>
            </a:fld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Text 0"/>
          <p:cNvSpPr/>
          <p:nvPr/>
        </p:nvSpPr>
        <p:spPr>
          <a:xfrm>
            <a:off x="380880" y="443520"/>
            <a:ext cx="11658240" cy="37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9000"/>
              </a:lnSpc>
              <a:tabLst>
                <a:tab pos="0" algn="l"/>
              </a:tabLst>
            </a:pPr>
            <a:r>
              <a:rPr lang="en-US" sz="239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SLIDE 74: SWOT Analysis</a:t>
            </a:r>
            <a:endParaRPr lang="en-US" sz="23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4" name="Text 1"/>
          <p:cNvSpPr/>
          <p:nvPr/>
        </p:nvSpPr>
        <p:spPr>
          <a:xfrm>
            <a:off x="380880" y="1013760"/>
            <a:ext cx="11429640" cy="5362200"/>
          </a:xfrm>
          <a:prstGeom prst="rect">
            <a:avLst/>
          </a:prstGeom>
          <a:solidFill>
            <a:srgbClr val="F4F4F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8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━━━━━━━━━━━━━━━━━━━━━━━━━━━━━━━━━━━━━━━━━━━━━━━━━━━━━━━━━━━━━━━━━━━━━━━━━</a:t>
            </a:r>
            <a:endParaRPr lang="en-US" sz="8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8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8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   SWOT ANALYSIS</a:t>
            </a:r>
            <a:endParaRPr lang="en-US" sz="8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8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8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┌─────────────────────────────────────┐</a:t>
            </a:r>
            <a:endParaRPr lang="en-US" sz="8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8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STRENGTHS                         │</a:t>
            </a:r>
            <a:endParaRPr lang="en-US" sz="8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8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• Strong user research foundation │</a:t>
            </a:r>
            <a:endParaRPr lang="en-US" sz="8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8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• Clear vision                    │</a:t>
            </a:r>
            <a:endParaRPr lang="en-US" sz="8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8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• Privacy-first positioning       │</a:t>
            </a:r>
            <a:endParaRPr lang="en-US" sz="8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8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• Simplicity focus                │</a:t>
            </a:r>
            <a:endParaRPr lang="en-US" sz="8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8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└─────────────────────────────────────┘</a:t>
            </a:r>
            <a:endParaRPr lang="en-US" sz="8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8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8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┌─────────────────────────────────────┐</a:t>
            </a:r>
            <a:endParaRPr lang="en-US" sz="8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8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WEAKNESSES                        │</a:t>
            </a:r>
            <a:endParaRPr lang="en-US" sz="8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8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• No existing user base           │</a:t>
            </a:r>
            <a:endParaRPr lang="en-US" sz="8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8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• Limited team resources          │</a:t>
            </a:r>
            <a:endParaRPr lang="en-US" sz="8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8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• No brand recognition            │</a:t>
            </a:r>
            <a:endParaRPr lang="en-US" sz="8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8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• Feature gaps                    │</a:t>
            </a:r>
            <a:endParaRPr lang="en-US" sz="8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8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└─────────────────────────────────────┘</a:t>
            </a:r>
            <a:endParaRPr lang="en-US" sz="8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8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8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┌─────────────────────────────────────┐</a:t>
            </a:r>
            <a:endParaRPr lang="en-US" sz="8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8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OPPORTUNITIES                     │</a:t>
            </a:r>
            <a:endParaRPr lang="en-US" sz="8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8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• Guidance gap                    │</a:t>
            </a:r>
            <a:endParaRPr lang="en-US" sz="8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8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• Goal-setting gap                │</a:t>
            </a:r>
            <a:endParaRPr lang="en-US" sz="8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8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• Habit-formation gap             │</a:t>
            </a:r>
            <a:endParaRPr lang="en-US" sz="8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8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• Privacy gap                     │</a:t>
            </a:r>
            <a:endParaRPr lang="en-US" sz="8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8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• Simplicity gap                  │</a:t>
            </a:r>
            <a:endParaRPr lang="en-US" sz="8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8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└─────────────────────────────────────┘</a:t>
            </a:r>
            <a:endParaRPr lang="en-US" sz="8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8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8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┌─────────────────────────────────────┐</a:t>
            </a:r>
            <a:endParaRPr lang="en-US" sz="8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8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THREATS                           │</a:t>
            </a:r>
            <a:endParaRPr lang="en-US" sz="8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8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• Mint's brand                    │</a:t>
            </a:r>
            <a:endParaRPr lang="en-US" sz="8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8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• YNAB's community                │</a:t>
            </a:r>
            <a:endParaRPr lang="en-US" sz="8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8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• Big tech entry                  │</a:t>
            </a:r>
            <a:endParaRPr lang="en-US" sz="8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8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• Data aggregation dependency     │</a:t>
            </a:r>
            <a:endParaRPr lang="en-US" sz="8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8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└─────────────────────────────────────┘</a:t>
            </a:r>
            <a:endParaRPr lang="en-US" sz="8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8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8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━━━━━━━━━━━━━━━━━━━━━━━━━━━━━━━━━━━━━━━━━━━━━━━━━━━━━━━━━━━━━━━━━━━━━━━━━</a:t>
            </a:r>
            <a:endParaRPr lang="en-US" sz="8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5" name="PlaceHolder 1"/>
          <p:cNvSpPr>
            <a:spLocks noGrp="1"/>
          </p:cNvSpPr>
          <p:nvPr>
            <p:ph type="sldNum" idx="85"/>
          </p:nvPr>
        </p:nvSpPr>
        <p:spPr>
          <a:xfrm>
            <a:off x="0" y="6343560"/>
            <a:ext cx="11810520" cy="22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350" b="0" u="none" strike="noStrike">
                <a:solidFill>
                  <a:srgbClr val="777777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1251EF0-C597-4362-8CC9-2BD42AB56D71}" type="slidenum">
              <a:rPr lang="en-US" sz="1350" b="0" u="none" strike="noStrike">
                <a:solidFill>
                  <a:srgbClr val="777777"/>
                </a:solidFill>
                <a:effectLst/>
                <a:uFillTx/>
                <a:latin typeface="Calibri"/>
              </a:rPr>
              <a:t>1</a:t>
            </a:fld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Text 0"/>
          <p:cNvSpPr/>
          <p:nvPr/>
        </p:nvSpPr>
        <p:spPr>
          <a:xfrm>
            <a:off x="380880" y="443520"/>
            <a:ext cx="11658240" cy="37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9000"/>
              </a:lnSpc>
              <a:tabLst>
                <a:tab pos="0" algn="l"/>
              </a:tabLst>
            </a:pPr>
            <a:r>
              <a:rPr lang="en-US" sz="239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SLIDE 75: Strategic Insights</a:t>
            </a:r>
            <a:endParaRPr lang="en-US" sz="23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7" name="Text 1"/>
          <p:cNvSpPr/>
          <p:nvPr/>
        </p:nvSpPr>
        <p:spPr>
          <a:xfrm>
            <a:off x="380880" y="1013760"/>
            <a:ext cx="11429640" cy="5362200"/>
          </a:xfrm>
          <a:prstGeom prst="rect">
            <a:avLst/>
          </a:prstGeom>
          <a:solidFill>
            <a:srgbClr val="F4F4F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━━━━━━━━━━━━━━━━━━━━━━━━━━━━━━━━━━━━━━━━━━━━━━━━━━━━━━━━━━━━━━━━━━━━━━━━━</a:t>
            </a:r>
            <a:endParaRPr lang="en-US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   STRATEGIC INSIGHTS</a:t>
            </a:r>
            <a:endParaRPr lang="en-US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INSIGHT 1: The Guidance Gap</a:t>
            </a:r>
            <a:endParaRPr lang="en-US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────────────────────────────</a:t>
            </a:r>
            <a:endParaRPr lang="en-US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No competitor provides clear,</a:t>
            </a:r>
            <a:endParaRPr lang="en-US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actionable guidance.</a:t>
            </a:r>
            <a:endParaRPr lang="en-US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→ Ledgerly should be the "guide"</a:t>
            </a:r>
            <a:endParaRPr lang="en-US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INSIGHT 2: Goal-Setting is</a:t>
            </a:r>
            <a:endParaRPr lang="en-US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Underserved</a:t>
            </a:r>
            <a:endParaRPr lang="en-US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────────────────────────────</a:t>
            </a:r>
            <a:endParaRPr lang="en-US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Users who set goals are 3x more</a:t>
            </a:r>
            <a:endParaRPr lang="en-US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likely to retain.</a:t>
            </a:r>
            <a:endParaRPr lang="en-US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→ Make goal-setting core</a:t>
            </a:r>
            <a:endParaRPr lang="en-US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INSIGHT 3: Habit Formation is</a:t>
            </a:r>
            <a:endParaRPr lang="en-US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an Unmet Need</a:t>
            </a:r>
            <a:endParaRPr lang="en-US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────────────────────────────</a:t>
            </a:r>
            <a:endParaRPr lang="en-US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Users forget about apps without</a:t>
            </a:r>
            <a:endParaRPr lang="en-US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habit loops.</a:t>
            </a:r>
            <a:endParaRPr lang="en-US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→ Build habit-forming features</a:t>
            </a:r>
            <a:endParaRPr lang="en-US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─────────────────────────────────────────────────────────────────────────────</a:t>
            </a:r>
            <a:endParaRPr lang="en-US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INSIGHT 4: Privacy is a Growing</a:t>
            </a:r>
            <a:endParaRPr lang="en-US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Concern</a:t>
            </a:r>
            <a:endParaRPr lang="en-US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────────────────────────────</a:t>
            </a:r>
            <a:endParaRPr lang="en-US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Users are increasingly worried</a:t>
            </a:r>
            <a:endParaRPr lang="en-US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about data privacy.</a:t>
            </a:r>
            <a:endParaRPr lang="en-US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→ Privacy-first positioning</a:t>
            </a:r>
            <a:endParaRPr lang="en-US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INSIGHT 5: Simplicity Wins</a:t>
            </a:r>
            <a:endParaRPr lang="en-US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────────────────────────────</a:t>
            </a:r>
            <a:endParaRPr lang="en-US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Competitors are too complex or</a:t>
            </a:r>
            <a:endParaRPr lang="en-US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ad-heavy.</a:t>
            </a:r>
            <a:endParaRPr lang="en-US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→ Prioritize clarity</a:t>
            </a:r>
            <a:endParaRPr lang="en-US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━━━━━━━━━━━━━━━━━━━━━━━━━━━━━━━━━━━━━━━━━━━━━━━━━━━━━━━━━━━━━━━━━━━━━━━━━</a:t>
            </a:r>
            <a:endParaRPr lang="en-US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8" name="PlaceHolder 1"/>
          <p:cNvSpPr>
            <a:spLocks noGrp="1"/>
          </p:cNvSpPr>
          <p:nvPr>
            <p:ph type="sldNum" idx="86"/>
          </p:nvPr>
        </p:nvSpPr>
        <p:spPr>
          <a:xfrm>
            <a:off x="0" y="6343560"/>
            <a:ext cx="11810520" cy="22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350" b="0" u="none" strike="noStrike">
                <a:solidFill>
                  <a:srgbClr val="777777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3CB6041-6237-4F63-BDB0-55D8E152BB56}" type="slidenum">
              <a:rPr lang="en-US" sz="1350" b="0" u="none" strike="noStrike">
                <a:solidFill>
                  <a:srgbClr val="777777"/>
                </a:solidFill>
                <a:effectLst/>
                <a:uFillTx/>
                <a:latin typeface="Calibri"/>
              </a:rPr>
              <a:t>1</a:t>
            </a:fld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Text 0"/>
          <p:cNvSpPr/>
          <p:nvPr/>
        </p:nvSpPr>
        <p:spPr>
          <a:xfrm>
            <a:off x="380880" y="443520"/>
            <a:ext cx="11658240" cy="37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9000"/>
              </a:lnSpc>
              <a:tabLst>
                <a:tab pos="0" algn="l"/>
              </a:tabLst>
            </a:pPr>
            <a:r>
              <a:rPr lang="en-US" sz="239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SLIDE 76: Part 5 Recap</a:t>
            </a:r>
            <a:endParaRPr lang="en-US" sz="23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0" name="Text 1"/>
          <p:cNvSpPr/>
          <p:nvPr/>
        </p:nvSpPr>
        <p:spPr>
          <a:xfrm>
            <a:off x="380880" y="1013760"/>
            <a:ext cx="11429640" cy="5362200"/>
          </a:xfrm>
          <a:prstGeom prst="rect">
            <a:avLst/>
          </a:prstGeom>
          <a:solidFill>
            <a:srgbClr val="F4F4F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━━━━━━━━━━━━━━━━━━━━━━━━━━━━━━━━━━━━━━━━━━━━━━━━━━━━━━━━━━━━━━━━━━━━━━━━━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   PART 5 RECAP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┌─────────────────────────────────────┐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What you learned:                 │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                                  │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✓ Competitor types                │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✓ Feature comparison matrices     │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✓ Positioning maps                │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✓ SWOT analysis                   │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✓ Strategic insights              │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└─────────────────────────────────────┘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───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Portfolio Tracker: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[ ] Created feature-comparison.md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[ ] Created swot-analysis.md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[ ] Created positioning-map.md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[ ] Created strategic-insights.md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━━━━━━━━━━━━━━━━━━━━━━━━━━━━━━━━━━━━━━━━━━━━━━━━━━━━━━━━━━━━━━━━━━━━━━━━━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1" name="PlaceHolder 1"/>
          <p:cNvSpPr>
            <a:spLocks noGrp="1"/>
          </p:cNvSpPr>
          <p:nvPr>
            <p:ph type="sldNum" idx="87"/>
          </p:nvPr>
        </p:nvSpPr>
        <p:spPr>
          <a:xfrm>
            <a:off x="0" y="6343560"/>
            <a:ext cx="11810520" cy="22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350" b="0" u="none" strike="noStrike">
                <a:solidFill>
                  <a:srgbClr val="777777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A6AA21E-C15F-4A45-B3FA-93B100642037}" type="slidenum">
              <a:rPr lang="en-US" sz="1350" b="0" u="none" strike="noStrike">
                <a:solidFill>
                  <a:srgbClr val="777777"/>
                </a:solidFill>
                <a:effectLst/>
                <a:uFillTx/>
                <a:latin typeface="Calibri"/>
              </a:rPr>
              <a:t>1</a:t>
            </a:fld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Text 0"/>
          <p:cNvSpPr/>
          <p:nvPr/>
        </p:nvSpPr>
        <p:spPr>
          <a:xfrm>
            <a:off x="380880" y="443520"/>
            <a:ext cx="11658240" cy="37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9000"/>
              </a:lnSpc>
              <a:tabLst>
                <a:tab pos="0" algn="l"/>
              </a:tabLst>
            </a:pPr>
            <a:r>
              <a:rPr lang="en-US" sz="239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SLIDE 77: What's Next</a:t>
            </a:r>
            <a:endParaRPr lang="en-US" sz="23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3" name="Text 1"/>
          <p:cNvSpPr/>
          <p:nvPr/>
        </p:nvSpPr>
        <p:spPr>
          <a:xfrm>
            <a:off x="380880" y="1013760"/>
            <a:ext cx="11429640" cy="5362200"/>
          </a:xfrm>
          <a:prstGeom prst="rect">
            <a:avLst/>
          </a:prstGeom>
          <a:solidFill>
            <a:srgbClr val="F4F4F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2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━━━━━━━━━━━━━━━━━━━━━━━━━━━━━━━━━━━━━━━━━━━━━━━━━━━━━━━━━━━━━━━━━━━━━━━━━</a:t>
            </a:r>
            <a:endParaRPr lang="en-US" sz="172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72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2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   WHAT'S NEXT</a:t>
            </a:r>
            <a:endParaRPr lang="en-US" sz="172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72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2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┌─────────────────────────────────────┐</a:t>
            </a:r>
            <a:endParaRPr lang="en-US" sz="172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2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PART 6                            │</a:t>
            </a:r>
            <a:endParaRPr lang="en-US" sz="172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2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Prioritization Frameworks         │</a:t>
            </a:r>
            <a:endParaRPr lang="en-US" sz="172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2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                                  │</a:t>
            </a:r>
            <a:endParaRPr lang="en-US" sz="172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2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• RICE scoring                    │</a:t>
            </a:r>
            <a:endParaRPr lang="en-US" sz="172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2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• Kano model                      │</a:t>
            </a:r>
            <a:endParaRPr lang="en-US" sz="172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2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• Outcome-based prioritization    │</a:t>
            </a:r>
            <a:endParaRPr lang="en-US" sz="172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2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• Prioritized backlog             │</a:t>
            </a:r>
            <a:endParaRPr lang="en-US" sz="172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2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└─────────────────────────────────────┘</a:t>
            </a:r>
            <a:endParaRPr lang="en-US" sz="172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72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2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───</a:t>
            </a:r>
            <a:endParaRPr lang="en-US" sz="172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72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2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Next session: Making tough trade-offs.</a:t>
            </a:r>
            <a:endParaRPr lang="en-US" sz="172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72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2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━━━━━━━━━━━━━━━━━━━━━━━━━━━━━━━━━━━━━━━━━━━━━━━━━━━━━━━━━━━━━━━━━━━━━━━━━</a:t>
            </a:r>
            <a:endParaRPr lang="en-US" sz="172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4" name="PlaceHolder 1"/>
          <p:cNvSpPr>
            <a:spLocks noGrp="1"/>
          </p:cNvSpPr>
          <p:nvPr>
            <p:ph type="sldNum" idx="88"/>
          </p:nvPr>
        </p:nvSpPr>
        <p:spPr>
          <a:xfrm>
            <a:off x="0" y="6343560"/>
            <a:ext cx="11810520" cy="22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350" b="0" u="none" strike="noStrike">
                <a:solidFill>
                  <a:srgbClr val="777777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389F6DE-FE41-4A1D-9F38-548BE466C9F8}" type="slidenum">
              <a:rPr lang="en-US" sz="1350" b="0" u="none" strike="noStrike">
                <a:solidFill>
                  <a:srgbClr val="777777"/>
                </a:solidFill>
                <a:effectLst/>
                <a:uFillTx/>
                <a:latin typeface="Calibri"/>
              </a:rPr>
              <a:t>1</a:t>
            </a:fld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Text 0"/>
          <p:cNvSpPr/>
          <p:nvPr/>
        </p:nvSpPr>
        <p:spPr>
          <a:xfrm>
            <a:off x="380880" y="2713320"/>
            <a:ext cx="11658240" cy="55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107640" anchor="t">
            <a:noAutofit/>
          </a:bodyPr>
          <a:p>
            <a:pPr defTabSz="914400">
              <a:lnSpc>
                <a:spcPct val="109000"/>
              </a:lnSpc>
              <a:tabLst>
                <a:tab pos="0" algn="l"/>
              </a:tabLst>
            </a:pPr>
            <a:r>
              <a:rPr lang="en-US" sz="283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PART 6: PRIORITIZATION FRAMEWORKS</a:t>
            </a:r>
            <a:endParaRPr lang="en-US" sz="28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6" name="Text 1"/>
          <p:cNvSpPr/>
          <p:nvPr/>
        </p:nvSpPr>
        <p:spPr>
          <a:xfrm>
            <a:off x="380880" y="3498480"/>
            <a:ext cx="11658240" cy="55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107640" anchor="t">
            <a:noAutofit/>
          </a:bodyPr>
          <a:p>
            <a:pPr defTabSz="914400">
              <a:lnSpc>
                <a:spcPct val="109000"/>
              </a:lnSpc>
              <a:tabLst>
                <a:tab pos="0" algn="l"/>
              </a:tabLst>
            </a:pPr>
            <a:r>
              <a:rPr lang="en-US" sz="283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Slides 78-105</a:t>
            </a:r>
            <a:endParaRPr lang="en-US" sz="28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7" name="PlaceHolder 1"/>
          <p:cNvSpPr>
            <a:spLocks noGrp="1"/>
          </p:cNvSpPr>
          <p:nvPr>
            <p:ph type="sldNum" idx="89"/>
          </p:nvPr>
        </p:nvSpPr>
        <p:spPr>
          <a:xfrm>
            <a:off x="0" y="6343560"/>
            <a:ext cx="11810520" cy="22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350" b="0" u="none" strike="noStrike">
                <a:solidFill>
                  <a:srgbClr val="777777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9C341B5-A2DE-4219-AF81-29F3E996A3AC}" type="slidenum">
              <a:rPr lang="en-US" sz="1350" b="0" u="none" strike="noStrike">
                <a:solidFill>
                  <a:srgbClr val="777777"/>
                </a:solidFill>
                <a:effectLst/>
                <a:uFillTx/>
                <a:latin typeface="Calibri"/>
              </a:rPr>
              <a:t>1</a:t>
            </a:fld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Text 0"/>
          <p:cNvSpPr/>
          <p:nvPr/>
        </p:nvSpPr>
        <p:spPr>
          <a:xfrm>
            <a:off x="380880" y="800640"/>
            <a:ext cx="11658240" cy="37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9000"/>
              </a:lnSpc>
              <a:tabLst>
                <a:tab pos="0" algn="l"/>
              </a:tabLst>
            </a:pPr>
            <a:r>
              <a:rPr lang="en-US" sz="239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SLIDE 78: Part 6 Title</a:t>
            </a:r>
            <a:endParaRPr lang="en-US" sz="23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9" name="Text 1"/>
          <p:cNvSpPr/>
          <p:nvPr/>
        </p:nvSpPr>
        <p:spPr>
          <a:xfrm>
            <a:off x="380880" y="1370880"/>
            <a:ext cx="11429640" cy="4647960"/>
          </a:xfrm>
          <a:prstGeom prst="rect">
            <a:avLst/>
          </a:prstGeom>
          <a:solidFill>
            <a:srgbClr val="F4F4F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━━━━━━━━━━━━━━━━━━━━━━━━━━━━━━━━━━━━━━━━━━━━━━━━━━━━━━━━━━━━━━━━━━━━━━━━━</a:t>
            </a:r>
            <a:endParaRPr lang="en-US" sz="1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   PART 6</a:t>
            </a:r>
            <a:endParaRPr lang="en-US" sz="1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   PRIORITIZATION</a:t>
            </a:r>
            <a:endParaRPr lang="en-US" sz="1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   FRAMEWORKS</a:t>
            </a:r>
            <a:endParaRPr lang="en-US" sz="1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Making Tough Trade-offs</a:t>
            </a:r>
            <a:endParaRPr lang="en-US" sz="1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───</a:t>
            </a:r>
            <a:endParaRPr lang="en-US" sz="1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"You have 100 ideas and time for 10.</a:t>
            </a:r>
            <a:endParaRPr lang="en-US" sz="1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Choose the 10 that deliver the most</a:t>
            </a:r>
            <a:endParaRPr lang="en-US" sz="1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value."</a:t>
            </a:r>
            <a:endParaRPr lang="en-US" sz="1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━━━━━━━━━━━━━━━━━━━━━━━━━━━━━━━━━━━━━━━━━━━━━━━━━━━━━━━━━━━━━━━━━━━━━━━━━</a:t>
            </a:r>
            <a:endParaRPr lang="en-US" sz="1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0" name="PlaceHolder 1"/>
          <p:cNvSpPr>
            <a:spLocks noGrp="1"/>
          </p:cNvSpPr>
          <p:nvPr>
            <p:ph type="sldNum" idx="90"/>
          </p:nvPr>
        </p:nvSpPr>
        <p:spPr>
          <a:xfrm>
            <a:off x="0" y="6343560"/>
            <a:ext cx="11810520" cy="22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350" b="0" u="none" strike="noStrike">
                <a:solidFill>
                  <a:srgbClr val="777777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A1C7193-7C22-443A-A4A6-F8C66AD36C83}" type="slidenum">
              <a:rPr lang="en-US" sz="1350" b="0" u="none" strike="noStrike">
                <a:solidFill>
                  <a:srgbClr val="777777"/>
                </a:solidFill>
                <a:effectLst/>
                <a:uFillTx/>
                <a:latin typeface="Calibri"/>
              </a:rPr>
              <a:t>1</a:t>
            </a:fld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Text 0"/>
          <p:cNvSpPr/>
          <p:nvPr/>
        </p:nvSpPr>
        <p:spPr>
          <a:xfrm>
            <a:off x="380880" y="443520"/>
            <a:ext cx="11658240" cy="37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9000"/>
              </a:lnSpc>
              <a:tabLst>
                <a:tab pos="0" algn="l"/>
              </a:tabLst>
            </a:pPr>
            <a:r>
              <a:rPr lang="en-US" sz="239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SLIDE 79: The Prioritization Problem</a:t>
            </a:r>
            <a:endParaRPr lang="en-US" sz="23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2" name="Text 1"/>
          <p:cNvSpPr/>
          <p:nvPr/>
        </p:nvSpPr>
        <p:spPr>
          <a:xfrm>
            <a:off x="380880" y="1013760"/>
            <a:ext cx="11429640" cy="5362200"/>
          </a:xfrm>
          <a:prstGeom prst="rect">
            <a:avLst/>
          </a:prstGeom>
          <a:solidFill>
            <a:srgbClr val="F4F4F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━━━━━━━━━━━━━━━━━━━━━━━━━━━━━━━━━━━━━━━━━━━━━━━━━━━━━━━━━━━━━━━━━━━━━━━━━</a:t>
            </a:r>
            <a:endParaRPr lang="en-US" sz="9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9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   THE PRIORITIZATION PROBLEM</a:t>
            </a:r>
            <a:endParaRPr lang="en-US" sz="9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9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┌─────────────────────────────────────┐</a:t>
            </a:r>
            <a:endParaRPr lang="en-US" sz="9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100 IDEAS                         │</a:t>
            </a:r>
            <a:endParaRPr lang="en-US" sz="9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(Features, improvements, fixes)   │</a:t>
            </a:r>
            <a:endParaRPr lang="en-US" sz="9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└─────────────────────────────────────┘</a:t>
            </a:r>
            <a:endParaRPr lang="en-US" sz="9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9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             ▼</a:t>
            </a:r>
            <a:endParaRPr lang="en-US" sz="9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9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┌─────────────────────────────────────┐</a:t>
            </a:r>
            <a:endParaRPr lang="en-US" sz="9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TEAM CAPACITY                     │</a:t>
            </a:r>
            <a:endParaRPr lang="en-US" sz="9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(Time, People, Money)             │</a:t>
            </a:r>
            <a:endParaRPr lang="en-US" sz="9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└─────────────────────────────────────┘</a:t>
            </a:r>
            <a:endParaRPr lang="en-US" sz="9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9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             ▼</a:t>
            </a:r>
            <a:endParaRPr lang="en-US" sz="9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9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┌─────────────────────────────────────┐</a:t>
            </a:r>
            <a:endParaRPr lang="en-US" sz="9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10 IDEAS                          │</a:t>
            </a:r>
            <a:endParaRPr lang="en-US" sz="9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(What we actually build)          │</a:t>
            </a:r>
            <a:endParaRPr lang="en-US" sz="9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└─────────────────────────────────────┘</a:t>
            </a:r>
            <a:endParaRPr lang="en-US" sz="9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9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─────────────────────────────────────</a:t>
            </a:r>
            <a:endParaRPr lang="en-US" sz="9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9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THE QUESTION:</a:t>
            </a:r>
            <a:endParaRPr lang="en-US" sz="9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How do you choose the right 10?</a:t>
            </a:r>
            <a:endParaRPr lang="en-US" sz="9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9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FRAMEWORKS HELP:</a:t>
            </a:r>
            <a:endParaRPr lang="en-US" sz="9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• RICE (Quantitative, defensible)</a:t>
            </a:r>
            <a:endParaRPr lang="en-US" sz="9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• Kano (User expectations)</a:t>
            </a:r>
            <a:endParaRPr lang="en-US" sz="9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• Outcome-Based (Business goals)</a:t>
            </a:r>
            <a:endParaRPr lang="en-US" sz="9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9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━━━━━━━━━━━━━━━━━━━━━━━━━━━━━━━━━━━━━━━━━━━━━━━━━━━━━━━━━━━━━━━━━━━━━━━━━</a:t>
            </a:r>
            <a:endParaRPr lang="en-US" sz="9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3" name="PlaceHolder 1"/>
          <p:cNvSpPr>
            <a:spLocks noGrp="1"/>
          </p:cNvSpPr>
          <p:nvPr>
            <p:ph type="sldNum" idx="91"/>
          </p:nvPr>
        </p:nvSpPr>
        <p:spPr>
          <a:xfrm>
            <a:off x="0" y="6343560"/>
            <a:ext cx="11810520" cy="22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350" b="0" u="none" strike="noStrike">
                <a:solidFill>
                  <a:srgbClr val="777777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EEC4C22-984D-4CDF-81F8-74DF89C425D3}" type="slidenum">
              <a:rPr lang="en-US" sz="1350" b="0" u="none" strike="noStrike">
                <a:solidFill>
                  <a:srgbClr val="777777"/>
                </a:solidFill>
                <a:effectLst/>
                <a:uFillTx/>
                <a:latin typeface="Calibri"/>
              </a:rPr>
              <a:t>1</a:t>
            </a:fld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Text 0"/>
          <p:cNvSpPr/>
          <p:nvPr/>
        </p:nvSpPr>
        <p:spPr>
          <a:xfrm>
            <a:off x="380880" y="443520"/>
            <a:ext cx="11658240" cy="37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9000"/>
              </a:lnSpc>
              <a:tabLst>
                <a:tab pos="0" algn="l"/>
              </a:tabLst>
            </a:pPr>
            <a:r>
              <a:rPr lang="en-US" sz="239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SLIDE 80: RICE Scoring</a:t>
            </a:r>
            <a:endParaRPr lang="en-US" sz="23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5" name="Text 1"/>
          <p:cNvSpPr/>
          <p:nvPr/>
        </p:nvSpPr>
        <p:spPr>
          <a:xfrm>
            <a:off x="380880" y="1013760"/>
            <a:ext cx="11429640" cy="5362200"/>
          </a:xfrm>
          <a:prstGeom prst="rect">
            <a:avLst/>
          </a:prstGeom>
          <a:solidFill>
            <a:srgbClr val="F4F4F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━━━━━━━━━━━━━━━━━━━━━━━━━━━━━━━━━━━━━━━━━━━━━━━━━━━━━━━━━━━━━━━━━━━━━━━━━</a:t>
            </a:r>
            <a:endParaRPr lang="en-US" sz="9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9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   RICE SCORING</a:t>
            </a:r>
            <a:endParaRPr lang="en-US" sz="9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9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┌─────────────────────────────────────┐</a:t>
            </a:r>
            <a:endParaRPr lang="en-US" sz="9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RICE = (Reach × Impact ×          │</a:t>
            </a:r>
            <a:endParaRPr lang="en-US" sz="9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       Confidence) ÷ Effort       │</a:t>
            </a:r>
            <a:endParaRPr lang="en-US" sz="9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└─────────────────────────────────────┘</a:t>
            </a:r>
            <a:endParaRPr lang="en-US" sz="9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9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┌─────────────────────────────────────┐</a:t>
            </a:r>
            <a:endParaRPr lang="en-US" sz="9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REACH                             │</a:t>
            </a:r>
            <a:endParaRPr lang="en-US" sz="9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Number of users affected          │</a:t>
            </a:r>
            <a:endParaRPr lang="en-US" sz="9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Example: 50,000 users             │</a:t>
            </a:r>
            <a:endParaRPr lang="en-US" sz="9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└─────────────────────────────────────┘</a:t>
            </a:r>
            <a:endParaRPr lang="en-US" sz="9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9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┌─────────────────────────────────────┐</a:t>
            </a:r>
            <a:endParaRPr lang="en-US" sz="9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IMPACT                            │</a:t>
            </a:r>
            <a:endParaRPr lang="en-US" sz="9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3 = Massive  2 = High             │</a:t>
            </a:r>
            <a:endParaRPr lang="en-US" sz="9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1 = Medium   0.5 = Low            │</a:t>
            </a:r>
            <a:endParaRPr lang="en-US" sz="9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└─────────────────────────────────────┘</a:t>
            </a:r>
            <a:endParaRPr lang="en-US" sz="9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9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┌─────────────────────────────────────┐</a:t>
            </a:r>
            <a:endParaRPr lang="en-US" sz="9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CONFIDENCE                        │</a:t>
            </a:r>
            <a:endParaRPr lang="en-US" sz="9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100% = High  80% = Medium         │</a:t>
            </a:r>
            <a:endParaRPr lang="en-US" sz="9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50% = Low                         │</a:t>
            </a:r>
            <a:endParaRPr lang="en-US" sz="9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└─────────────────────────────────────┘</a:t>
            </a:r>
            <a:endParaRPr lang="en-US" sz="9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9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┌─────────────────────────────────────┐</a:t>
            </a:r>
            <a:endParaRPr lang="en-US" sz="9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EFFORT                            │</a:t>
            </a:r>
            <a:endParaRPr lang="en-US" sz="9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Person-months or story points     │</a:t>
            </a:r>
            <a:endParaRPr lang="en-US" sz="9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Example: 2 person-months          │</a:t>
            </a:r>
            <a:endParaRPr lang="en-US" sz="9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└─────────────────────────────────────┘</a:t>
            </a:r>
            <a:endParaRPr lang="en-US" sz="9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9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━━━━━━━━━━━━━━━━━━━━━━━━━━━━━━━━━━━━━━━━━━━━━━━━━━━━━━━━━━━━━━━━━━━━━━━━━</a:t>
            </a:r>
            <a:endParaRPr lang="en-US" sz="9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6" name="PlaceHolder 1"/>
          <p:cNvSpPr>
            <a:spLocks noGrp="1"/>
          </p:cNvSpPr>
          <p:nvPr>
            <p:ph type="sldNum" idx="92"/>
          </p:nvPr>
        </p:nvSpPr>
        <p:spPr>
          <a:xfrm>
            <a:off x="0" y="6343560"/>
            <a:ext cx="11810520" cy="22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350" b="0" u="none" strike="noStrike">
                <a:solidFill>
                  <a:srgbClr val="777777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1FE1F7C-99F3-4A5D-9AA1-CA5DA4B9E366}" type="slidenum">
              <a:rPr lang="en-US" sz="1350" b="0" u="none" strike="noStrike">
                <a:solidFill>
                  <a:srgbClr val="777777"/>
                </a:solidFill>
                <a:effectLst/>
                <a:uFillTx/>
                <a:latin typeface="Calibri"/>
              </a:rPr>
              <a:t>1</a:t>
            </a:fld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Text 0"/>
          <p:cNvSpPr/>
          <p:nvPr/>
        </p:nvSpPr>
        <p:spPr>
          <a:xfrm>
            <a:off x="380880" y="443520"/>
            <a:ext cx="11658240" cy="37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9000"/>
              </a:lnSpc>
              <a:tabLst>
                <a:tab pos="0" algn="l"/>
              </a:tabLst>
            </a:pPr>
            <a:r>
              <a:rPr lang="en-US" sz="239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SLIDE 81: RICE Example</a:t>
            </a:r>
            <a:endParaRPr lang="en-US" sz="23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8" name="Text 1"/>
          <p:cNvSpPr/>
          <p:nvPr/>
        </p:nvSpPr>
        <p:spPr>
          <a:xfrm>
            <a:off x="380880" y="1013760"/>
            <a:ext cx="11429640" cy="5362200"/>
          </a:xfrm>
          <a:prstGeom prst="rect">
            <a:avLst/>
          </a:prstGeom>
          <a:solidFill>
            <a:srgbClr val="F4F4F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6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━━━━━━━━━━━━━━━━━━━━━━━━━━━━━━━━━━━━━━━━━━━━━━━━━━━━━━━━━━━━━━━━━━━━━━━━━</a:t>
            </a:r>
            <a:endParaRPr lang="en-US" sz="9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9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6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   RICE EXAMPLE</a:t>
            </a:r>
            <a:endParaRPr lang="en-US" sz="9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9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6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┌─────────────────────────────────────┐</a:t>
            </a:r>
            <a:endParaRPr lang="en-US" sz="9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6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FEATURE: GOAL SETTING              │</a:t>
            </a:r>
            <a:endParaRPr lang="en-US" sz="9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6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                                  │</a:t>
            </a:r>
            <a:endParaRPr lang="en-US" sz="9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6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Reach: 50,000                     │</a:t>
            </a:r>
            <a:endParaRPr lang="en-US" sz="9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6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Impact: 3 (Massive)               │</a:t>
            </a:r>
            <a:endParaRPr lang="en-US" sz="9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6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Confidence: 85%                   │</a:t>
            </a:r>
            <a:endParaRPr lang="en-US" sz="9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6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Effort: 2 person-months           │</a:t>
            </a:r>
            <a:endParaRPr lang="en-US" sz="9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6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                                  │</a:t>
            </a:r>
            <a:endParaRPr lang="en-US" sz="9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6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RICE = (50,000 × 3 × 0.85) ÷ 2   │</a:t>
            </a:r>
            <a:endParaRPr lang="en-US" sz="9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6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     = 127,500 ÷ 2                │</a:t>
            </a:r>
            <a:endParaRPr lang="en-US" sz="9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6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     = 63,750                    │</a:t>
            </a:r>
            <a:endParaRPr lang="en-US" sz="9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6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└─────────────────────────────────────┘</a:t>
            </a:r>
            <a:endParaRPr lang="en-US" sz="9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9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6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┌─────────────────────────────────────┐</a:t>
            </a:r>
            <a:endParaRPr lang="en-US" sz="9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6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FEATURE: INVESTMENT TRACKING       │</a:t>
            </a:r>
            <a:endParaRPr lang="en-US" sz="9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6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                                  │</a:t>
            </a:r>
            <a:endParaRPr lang="en-US" sz="9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6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Reach: 15,000                     │</a:t>
            </a:r>
            <a:endParaRPr lang="en-US" sz="9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6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Impact: 1 (Medium)                │</a:t>
            </a:r>
            <a:endParaRPr lang="en-US" sz="9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6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Confidence: 60%                   │</a:t>
            </a:r>
            <a:endParaRPr lang="en-US" sz="9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6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Effort: 3 person-months           │</a:t>
            </a:r>
            <a:endParaRPr lang="en-US" sz="9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6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                                  │</a:t>
            </a:r>
            <a:endParaRPr lang="en-US" sz="9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6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RICE = (15,000 × 1 × 0.60) ÷ 3   │</a:t>
            </a:r>
            <a:endParaRPr lang="en-US" sz="9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6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     = 9,000 ÷ 3                  │</a:t>
            </a:r>
            <a:endParaRPr lang="en-US" sz="9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6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     = 3,000                      │</a:t>
            </a:r>
            <a:endParaRPr lang="en-US" sz="9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6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└─────────────────────────────────────┘</a:t>
            </a:r>
            <a:endParaRPr lang="en-US" sz="9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9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6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Goal Setting: 63,750</a:t>
            </a:r>
            <a:endParaRPr lang="en-US" sz="9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6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Investment Tracking: 3,000</a:t>
            </a:r>
            <a:endParaRPr lang="en-US" sz="9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6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→ Goal Setting is 21x higher priority</a:t>
            </a:r>
            <a:endParaRPr lang="en-US" sz="9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9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6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━━━━━━━━━━━━━━━━━━━━━━━━━━━━━━━━━━━━━━━━━━━━━━━━━━━━━━━━━━━━━━━━━━━━━━━━━</a:t>
            </a:r>
            <a:endParaRPr lang="en-US" sz="9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9" name="PlaceHolder 1"/>
          <p:cNvSpPr>
            <a:spLocks noGrp="1"/>
          </p:cNvSpPr>
          <p:nvPr>
            <p:ph type="sldNum" idx="93"/>
          </p:nvPr>
        </p:nvSpPr>
        <p:spPr>
          <a:xfrm>
            <a:off x="0" y="6343560"/>
            <a:ext cx="11810520" cy="22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350" b="0" u="none" strike="noStrike">
                <a:solidFill>
                  <a:srgbClr val="777777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9934469-CFDF-40AE-87F7-5A672DE03B76}" type="slidenum">
              <a:rPr lang="en-US" sz="1350" b="0" u="none" strike="noStrike">
                <a:solidFill>
                  <a:srgbClr val="777777"/>
                </a:solidFill>
                <a:effectLst/>
                <a:uFillTx/>
                <a:latin typeface="Calibri"/>
              </a:rPr>
              <a:t>1</a:t>
            </a:fld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Text 0"/>
          <p:cNvSpPr/>
          <p:nvPr/>
        </p:nvSpPr>
        <p:spPr>
          <a:xfrm>
            <a:off x="380880" y="443520"/>
            <a:ext cx="11658240" cy="37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9000"/>
              </a:lnSpc>
              <a:tabLst>
                <a:tab pos="0" algn="l"/>
              </a:tabLst>
            </a:pPr>
            <a:r>
              <a:rPr lang="en-US" sz="239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SLIDE 82: RICE Scoring Table</a:t>
            </a:r>
            <a:endParaRPr lang="en-US" sz="23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1" name="Text 1"/>
          <p:cNvSpPr/>
          <p:nvPr/>
        </p:nvSpPr>
        <p:spPr>
          <a:xfrm>
            <a:off x="380880" y="1013760"/>
            <a:ext cx="11429640" cy="5362200"/>
          </a:xfrm>
          <a:prstGeom prst="rect">
            <a:avLst/>
          </a:prstGeom>
          <a:solidFill>
            <a:srgbClr val="F4F4F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4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━━━━━━━━━━━━━━━━━━━━━━━━━━━━━━━━━━━━━━━━━━━━━━━━━━━━━━━━━━━━━━━━━━━━━━━━━</a:t>
            </a:r>
            <a:endParaRPr lang="en-US" sz="12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2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4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   RICE SCORING TABLE</a:t>
            </a:r>
            <a:endParaRPr lang="en-US" sz="12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2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4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┌────────────────────────────────────────────────┐</a:t>
            </a:r>
            <a:endParaRPr lang="en-US" sz="12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4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FEATURE         REACH  IMPACT  CONF  EFF  │</a:t>
            </a:r>
            <a:endParaRPr lang="en-US" sz="12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4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│────────────────────────────────────────────────│</a:t>
            </a:r>
            <a:endParaRPr lang="en-US" sz="12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4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Goal Setting    50,000   3     85%   2    │</a:t>
            </a:r>
            <a:endParaRPr lang="en-US" sz="12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4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Weekly Summ.    40,000   2     75%   1    │</a:t>
            </a:r>
            <a:endParaRPr lang="en-US" sz="12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4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Onboarding      20,000   3     90%   1    │</a:t>
            </a:r>
            <a:endParaRPr lang="en-US" sz="12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4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Prog. Tracking  50,000   2     80%   1.5  │</a:t>
            </a:r>
            <a:endParaRPr lang="en-US" sz="12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4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Insights        50,000   2     70%   2    │</a:t>
            </a:r>
            <a:endParaRPr lang="en-US" sz="12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4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Budget Creat.   40,000   2     80%   2    │</a:t>
            </a:r>
            <a:endParaRPr lang="en-US" sz="12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4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└────────────────────────────────────────────────┘</a:t>
            </a:r>
            <a:endParaRPr lang="en-US" sz="12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2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4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┌────────────────────────────────────────────────┐</a:t>
            </a:r>
            <a:endParaRPr lang="en-US" sz="12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4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FEATURE         RICE SCORE   RANK          │</a:t>
            </a:r>
            <a:endParaRPr lang="en-US" sz="12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4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│────────────────────────────────────────────────│</a:t>
            </a:r>
            <a:endParaRPr lang="en-US" sz="12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4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Goal Setting    63,750       1             │</a:t>
            </a:r>
            <a:endParaRPr lang="en-US" sz="12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4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Weekly Summ.    60,000       2             │</a:t>
            </a:r>
            <a:endParaRPr lang="en-US" sz="12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4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Onboarding      54,000       3             │</a:t>
            </a:r>
            <a:endParaRPr lang="en-US" sz="12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4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Prog. Tracking  53,333       4             │</a:t>
            </a:r>
            <a:endParaRPr lang="en-US" sz="12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4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Insights        35,000       5             │</a:t>
            </a:r>
            <a:endParaRPr lang="en-US" sz="12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4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Budget Creat.   32,000       6             │</a:t>
            </a:r>
            <a:endParaRPr lang="en-US" sz="12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4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└────────────────────────────────────────────────┘</a:t>
            </a:r>
            <a:endParaRPr lang="en-US" sz="12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2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4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━━━━━━━━━━━━━━━━━━━━━━━━━━━━━━━━━━━━━━━━━━━━━━━━━━━━━━━━━━━━━━━━━━━━━━━━━</a:t>
            </a:r>
            <a:endParaRPr lang="en-US" sz="12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2" name="PlaceHolder 1"/>
          <p:cNvSpPr>
            <a:spLocks noGrp="1"/>
          </p:cNvSpPr>
          <p:nvPr>
            <p:ph type="sldNum" idx="94"/>
          </p:nvPr>
        </p:nvSpPr>
        <p:spPr>
          <a:xfrm>
            <a:off x="0" y="6343560"/>
            <a:ext cx="11810520" cy="22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350" b="0" u="none" strike="noStrike">
                <a:solidFill>
                  <a:srgbClr val="777777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B6469E7-052C-4A17-95EC-0081B544DEF3}" type="slidenum">
              <a:rPr lang="en-US" sz="1350" b="0" u="none" strike="noStrike">
                <a:solidFill>
                  <a:srgbClr val="777777"/>
                </a:solidFill>
                <a:effectLst/>
                <a:uFillTx/>
                <a:latin typeface="Calibri"/>
              </a:rPr>
              <a:t>1</a:t>
            </a:fld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Text 0"/>
          <p:cNvSpPr/>
          <p:nvPr/>
        </p:nvSpPr>
        <p:spPr>
          <a:xfrm>
            <a:off x="380880" y="443520"/>
            <a:ext cx="11658240" cy="37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9000"/>
              </a:lnSpc>
              <a:tabLst>
                <a:tab pos="0" algn="l"/>
              </a:tabLst>
            </a:pPr>
            <a:r>
              <a:rPr lang="en-US" sz="239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SLIDE 83: Kano Model</a:t>
            </a:r>
            <a:endParaRPr lang="en-US" sz="23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4" name="Text 1"/>
          <p:cNvSpPr/>
          <p:nvPr/>
        </p:nvSpPr>
        <p:spPr>
          <a:xfrm>
            <a:off x="380880" y="1013760"/>
            <a:ext cx="11429640" cy="5362200"/>
          </a:xfrm>
          <a:prstGeom prst="rect">
            <a:avLst/>
          </a:prstGeom>
          <a:solidFill>
            <a:srgbClr val="F4F4F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2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━━━━━━━━━━━━━━━━━━━━━━━━━━━━━━━━━━━━━━━━━━━━━━━━━━━━━━━━━━━━━━━━━━━━━━━━━</a:t>
            </a: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2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   KANO MODEL</a:t>
            </a: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2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┌─────────────────────────────────────┐</a:t>
            </a: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2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BASIC FEATURES (Table Stakes)     │</a:t>
            </a: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2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"I expect this to be here."      │</a:t>
            </a: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2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Example: Account aggregation,     │</a:t>
            </a: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2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secure login, data privacy        │</a:t>
            </a: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2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└─────────────────────────────────────┘</a:t>
            </a: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2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┌─────────────────────────────────────┐</a:t>
            </a: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2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PERFORMANCE FEATURES              │</a:t>
            </a: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2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"More is better."                 │</a:t>
            </a: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2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Example: Budgeting, goal setting, │</a:t>
            </a: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2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reporting                         │</a:t>
            </a: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2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└─────────────────────────────────────┘</a:t>
            </a: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2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┌─────────────────────────────────────┐</a:t>
            </a: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2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EXCITEMENT FEATURES (Delighters)  │</a:t>
            </a: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2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"Wow, I love this!"               │</a:t>
            </a: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2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Example: Actionable insights,     │</a:t>
            </a: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2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gamification, weekly summaries    │</a:t>
            </a: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2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└─────────────────────────────────────┘</a:t>
            </a: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2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┌─────────────────────────────────────┐</a:t>
            </a: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2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INDIFFERENT FEATURES              │</a:t>
            </a: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2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Doesn't affect satisfaction       │</a:t>
            </a: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2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Example: Niche features, "nice   │</a:t>
            </a: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2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to have"                          │</a:t>
            </a: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2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└─────────────────────────────────────┘</a:t>
            </a: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2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━━━━━━━━━━━━━━━━━━━━━━━━━━━━━━━━━━━━━━━━━━━━━━━━━━━━━━━━━━━━━━━━━━━━━━━━━</a:t>
            </a: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5" name="PlaceHolder 1"/>
          <p:cNvSpPr>
            <a:spLocks noGrp="1"/>
          </p:cNvSpPr>
          <p:nvPr>
            <p:ph type="sldNum" idx="95"/>
          </p:nvPr>
        </p:nvSpPr>
        <p:spPr>
          <a:xfrm>
            <a:off x="0" y="6343560"/>
            <a:ext cx="11810520" cy="22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350" b="0" u="none" strike="noStrike">
                <a:solidFill>
                  <a:srgbClr val="777777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2204E37-F1FB-4585-B9A8-BE794AABB0B6}" type="slidenum">
              <a:rPr lang="en-US" sz="1350" b="0" u="none" strike="noStrike">
                <a:solidFill>
                  <a:srgbClr val="777777"/>
                </a:solidFill>
                <a:effectLst/>
                <a:uFillTx/>
                <a:latin typeface="Calibri"/>
              </a:rPr>
              <a:t>1</a:t>
            </a:fld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Text 0"/>
          <p:cNvSpPr/>
          <p:nvPr/>
        </p:nvSpPr>
        <p:spPr>
          <a:xfrm>
            <a:off x="380880" y="443520"/>
            <a:ext cx="11658240" cy="37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9000"/>
              </a:lnSpc>
              <a:tabLst>
                <a:tab pos="0" algn="l"/>
              </a:tabLst>
            </a:pPr>
            <a:r>
              <a:rPr lang="en-US" sz="239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SLIDE 84: Kano Implications</a:t>
            </a:r>
            <a:endParaRPr lang="en-US" sz="23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7" name="Text 1"/>
          <p:cNvSpPr/>
          <p:nvPr/>
        </p:nvSpPr>
        <p:spPr>
          <a:xfrm>
            <a:off x="380880" y="1013760"/>
            <a:ext cx="11429640" cy="5362200"/>
          </a:xfrm>
          <a:prstGeom prst="rect">
            <a:avLst/>
          </a:prstGeom>
          <a:solidFill>
            <a:srgbClr val="F4F4F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2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━━━━━━━━━━━━━━━━━━━━━━━━━━━━━━━━━━━━━━━━━━━━━━━━━━━━━━━━━━━━━━━━━━━━━━━━━</a:t>
            </a: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2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   KANO IMPLICATIONS</a:t>
            </a: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2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┌─────────────────────────────────────┐</a:t>
            </a: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2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BASIC FEATURES                     │</a:t>
            </a: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2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• Must work flawlessly            │</a:t>
            </a: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2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• No differentiator                │</a:t>
            </a: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2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• Investment for maintenance       │</a:t>
            </a: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2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└─────────────────────────────────────┘</a:t>
            </a: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2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┌─────────────────────────────────────┐</a:t>
            </a: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2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PERFORMANCE FEATURES              │</a:t>
            </a: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2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• Focus for ROI                   │</a:t>
            </a: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2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• Continuous improvement           │</a:t>
            </a: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2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• Competitive advantage            │</a:t>
            </a: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2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└─────────────────────────────────────┘</a:t>
            </a: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2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┌─────────────────────────────────────┐</a:t>
            </a: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2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EXCITEMENT FEATURES               │</a:t>
            </a: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2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• Key differentiator              │</a:t>
            </a: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2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• Surprise and delight            │</a:t>
            </a: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2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• Build brand loyalty              │</a:t>
            </a: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2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└─────────────────────────────────────┘</a:t>
            </a: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2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┌─────────────────────────────────────┐</a:t>
            </a: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2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INDIFFERENT FEATURES              │</a:t>
            </a: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2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• De-prioritize                    │</a:t>
            </a: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2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• Save for later                  │</a:t>
            </a: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2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• Low ROI                         │</a:t>
            </a: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2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└─────────────────────────────────────┘</a:t>
            </a: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2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━━━━━━━━━━━━━━━━━━━━━━━━━━━━━━━━━━━━━━━━━━━━━━━━━━━━━━━━━━━━━━━━━━━━━━━━━</a:t>
            </a: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8" name="PlaceHolder 1"/>
          <p:cNvSpPr>
            <a:spLocks noGrp="1"/>
          </p:cNvSpPr>
          <p:nvPr>
            <p:ph type="sldNum" idx="96"/>
          </p:nvPr>
        </p:nvSpPr>
        <p:spPr>
          <a:xfrm>
            <a:off x="0" y="6343560"/>
            <a:ext cx="11810520" cy="22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350" b="0" u="none" strike="noStrike">
                <a:solidFill>
                  <a:srgbClr val="777777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04E8CF3-C156-4DC7-8AD8-30DE7EDA5CE1}" type="slidenum">
              <a:rPr lang="en-US" sz="1350" b="0" u="none" strike="noStrike">
                <a:solidFill>
                  <a:srgbClr val="777777"/>
                </a:solidFill>
                <a:effectLst/>
                <a:uFillTx/>
                <a:latin typeface="Calibri"/>
              </a:rPr>
              <a:t>1</a:t>
            </a:fld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Text 0"/>
          <p:cNvSpPr/>
          <p:nvPr/>
        </p:nvSpPr>
        <p:spPr>
          <a:xfrm>
            <a:off x="380880" y="443520"/>
            <a:ext cx="11658240" cy="37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9000"/>
              </a:lnSpc>
              <a:tabLst>
                <a:tab pos="0" algn="l"/>
              </a:tabLst>
            </a:pPr>
            <a:r>
              <a:rPr lang="en-US" sz="239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SLIDE 85: Outcome-Based Prioritization</a:t>
            </a:r>
            <a:endParaRPr lang="en-US" sz="23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0" name="Text 1"/>
          <p:cNvSpPr/>
          <p:nvPr/>
        </p:nvSpPr>
        <p:spPr>
          <a:xfrm>
            <a:off x="380880" y="1013760"/>
            <a:ext cx="11429640" cy="5362200"/>
          </a:xfrm>
          <a:prstGeom prst="rect">
            <a:avLst/>
          </a:prstGeom>
          <a:solidFill>
            <a:srgbClr val="F4F4F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4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━━━━━━━━━━━━━━━━━━━━━━━━━━━━━━━━━━━━━━━━━━━━━━━━━━━━━━━━━━━━━━━━━━━━━━━━━</a:t>
            </a:r>
            <a:endParaRPr lang="en-US" sz="12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2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4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   OUTCOME-BASED PRIORITIZATION</a:t>
            </a:r>
            <a:endParaRPr lang="en-US" sz="12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2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4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STEP 1: Define Key Outcomes</a:t>
            </a:r>
            <a:endParaRPr lang="en-US" sz="12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4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────────────────────────────</a:t>
            </a:r>
            <a:endParaRPr lang="en-US" sz="12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4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• Increase retention by 15%</a:t>
            </a:r>
            <a:endParaRPr lang="en-US" sz="12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4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• Increase activation by 20%</a:t>
            </a:r>
            <a:endParaRPr lang="en-US" sz="12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4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• Increase revenue by 10%</a:t>
            </a:r>
            <a:endParaRPr lang="en-US" sz="12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2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4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STEP 2: Map Features to Outcomes</a:t>
            </a:r>
            <a:endParaRPr lang="en-US" sz="12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4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────────────────────────────────</a:t>
            </a:r>
            <a:endParaRPr lang="en-US" sz="12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4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• Goal Setting → Retention (3x uplift)</a:t>
            </a:r>
            <a:endParaRPr lang="en-US" sz="12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4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• Onboarding → Activation (reduces drop-off)</a:t>
            </a:r>
            <a:endParaRPr lang="en-US" sz="12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4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• Weekly Summaries → Retention (habit formation)</a:t>
            </a:r>
            <a:endParaRPr lang="en-US" sz="12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2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4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STEP 3: Prioritize by Impact</a:t>
            </a:r>
            <a:endParaRPr lang="en-US" sz="12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4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─────────────────────────────</a:t>
            </a:r>
            <a:endParaRPr lang="en-US" sz="12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4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Which features have the biggest impact</a:t>
            </a:r>
            <a:endParaRPr lang="en-US" sz="12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4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on our top outcomes?</a:t>
            </a:r>
            <a:endParaRPr lang="en-US" sz="12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2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4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STEP 4: Consider Effort</a:t>
            </a:r>
            <a:endParaRPr lang="en-US" sz="12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4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─────────────────────────</a:t>
            </a:r>
            <a:endParaRPr lang="en-US" sz="12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4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Which high-impact features can we build</a:t>
            </a:r>
            <a:endParaRPr lang="en-US" sz="12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4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quickly?</a:t>
            </a:r>
            <a:endParaRPr lang="en-US" sz="12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2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4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━━━━━━━━━━━━━━━━━━━━━━━━━━━━━━━━━━━━━━━━━━━━━━━━━━━━━━━━━━━━━━━━━━━━━━━━━</a:t>
            </a:r>
            <a:endParaRPr lang="en-US" sz="12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1" name="PlaceHolder 1"/>
          <p:cNvSpPr>
            <a:spLocks noGrp="1"/>
          </p:cNvSpPr>
          <p:nvPr>
            <p:ph type="sldNum" idx="97"/>
          </p:nvPr>
        </p:nvSpPr>
        <p:spPr>
          <a:xfrm>
            <a:off x="0" y="6343560"/>
            <a:ext cx="11810520" cy="22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350" b="0" u="none" strike="noStrike">
                <a:solidFill>
                  <a:srgbClr val="777777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07A251B-10C2-495B-ACEC-E1D7B5BD9B3E}" type="slidenum">
              <a:rPr lang="en-US" sz="1350" b="0" u="none" strike="noStrike">
                <a:solidFill>
                  <a:srgbClr val="777777"/>
                </a:solidFill>
                <a:effectLst/>
                <a:uFillTx/>
                <a:latin typeface="Calibri"/>
              </a:rPr>
              <a:t>1</a:t>
            </a:fld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Text 0"/>
          <p:cNvSpPr/>
          <p:nvPr/>
        </p:nvSpPr>
        <p:spPr>
          <a:xfrm>
            <a:off x="380880" y="443520"/>
            <a:ext cx="11658240" cy="37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9000"/>
              </a:lnSpc>
              <a:tabLst>
                <a:tab pos="0" algn="l"/>
              </a:tabLst>
            </a:pPr>
            <a:r>
              <a:rPr lang="en-US" sz="239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SLIDE 86: Outcome Impact Matrix</a:t>
            </a:r>
            <a:endParaRPr lang="en-US" sz="23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3" name="Text 1"/>
          <p:cNvSpPr/>
          <p:nvPr/>
        </p:nvSpPr>
        <p:spPr>
          <a:xfrm>
            <a:off x="380880" y="1013760"/>
            <a:ext cx="11429640" cy="5362200"/>
          </a:xfrm>
          <a:prstGeom prst="rect">
            <a:avLst/>
          </a:prstGeom>
          <a:solidFill>
            <a:srgbClr val="F4F4F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3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━━━━━━━━━━━━━━━━━━━━━━━━━━━━━━━━━━━━━━━━━━━━━━━━━━━━━━━━━━━━━━━━━━━━━━━━━</a:t>
            </a:r>
            <a:endParaRPr lang="en-US" sz="13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3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3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   OUTCOME IMPACT MATRIX</a:t>
            </a:r>
            <a:endParaRPr lang="en-US" sz="13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3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3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┌────────────────────────────────────────────────┐</a:t>
            </a:r>
            <a:endParaRPr lang="en-US" sz="13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3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FEATURE         RET  ACT  GOAL  HAB  TOTAL  │</a:t>
            </a:r>
            <a:endParaRPr lang="en-US" sz="13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3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│────────────────────────────────────────────────│</a:t>
            </a:r>
            <a:endParaRPr lang="en-US" sz="13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3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Goal Setting    ★★★  ★★★  ★★★  ★★★   12  │</a:t>
            </a:r>
            <a:endParaRPr lang="en-US" sz="13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3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Prog. Tracking  ★★★  ★★   ★★★  ★★★   11  │</a:t>
            </a:r>
            <a:endParaRPr lang="en-US" sz="13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3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Weekly Summ.    ★★★  ★    ★★   ★★★   9   │</a:t>
            </a:r>
            <a:endParaRPr lang="en-US" sz="13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3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Onboarding      ★★   ★★★  ★    ★     7   │</a:t>
            </a:r>
            <a:endParaRPr lang="en-US" sz="13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3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Insights        ★★   ★★★  ★★   ★★    9   │</a:t>
            </a:r>
            <a:endParaRPr lang="en-US" sz="13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3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Budget Creat.   ★★   ★★   ★★★  ★★    9   │</a:t>
            </a:r>
            <a:endParaRPr lang="en-US" sz="13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3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└────────────────────────────────────────────────┘</a:t>
            </a:r>
            <a:endParaRPr lang="en-US" sz="13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3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3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─────────────────────────────────────</a:t>
            </a:r>
            <a:endParaRPr lang="en-US" sz="13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3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3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PRIORITY ORDER:</a:t>
            </a:r>
            <a:endParaRPr lang="en-US" sz="13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3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1. Goal Setting (12)</a:t>
            </a:r>
            <a:endParaRPr lang="en-US" sz="13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3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2. Progress Tracking (11)</a:t>
            </a:r>
            <a:endParaRPr lang="en-US" sz="13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3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3. Weekly Summaries (9)</a:t>
            </a:r>
            <a:endParaRPr lang="en-US" sz="13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3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4. Insights (9)</a:t>
            </a:r>
            <a:endParaRPr lang="en-US" sz="13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3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5. Budget Creation (9)</a:t>
            </a:r>
            <a:endParaRPr lang="en-US" sz="13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3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3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━━━━━━━━━━━━━━━━━━━━━━━━━━━━━━━━━━━━━━━━━━━━━━━━━━━━━━━━━━━━━━━━━━━━━━━━━</a:t>
            </a:r>
            <a:endParaRPr lang="en-US" sz="13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4" name="PlaceHolder 1"/>
          <p:cNvSpPr>
            <a:spLocks noGrp="1"/>
          </p:cNvSpPr>
          <p:nvPr>
            <p:ph type="sldNum" idx="98"/>
          </p:nvPr>
        </p:nvSpPr>
        <p:spPr>
          <a:xfrm>
            <a:off x="0" y="6343560"/>
            <a:ext cx="11810520" cy="22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350" b="0" u="none" strike="noStrike">
                <a:solidFill>
                  <a:srgbClr val="777777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B5A68EB-BAE6-420A-A809-B0D2F45AB46B}" type="slidenum">
              <a:rPr lang="en-US" sz="1350" b="0" u="none" strike="noStrike">
                <a:solidFill>
                  <a:srgbClr val="777777"/>
                </a:solidFill>
                <a:effectLst/>
                <a:uFillTx/>
                <a:latin typeface="Calibri"/>
              </a:rPr>
              <a:t>1</a:t>
            </a:fld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Text 0"/>
          <p:cNvSpPr/>
          <p:nvPr/>
        </p:nvSpPr>
        <p:spPr>
          <a:xfrm>
            <a:off x="380880" y="443520"/>
            <a:ext cx="11658240" cy="37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9000"/>
              </a:lnSpc>
              <a:tabLst>
                <a:tab pos="0" algn="l"/>
              </a:tabLst>
            </a:pPr>
            <a:r>
              <a:rPr lang="en-US" sz="239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SLIDE 87: Prioritized Backlog</a:t>
            </a:r>
            <a:endParaRPr lang="en-US" sz="23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6" name="Text 1"/>
          <p:cNvSpPr/>
          <p:nvPr/>
        </p:nvSpPr>
        <p:spPr>
          <a:xfrm>
            <a:off x="380880" y="1013760"/>
            <a:ext cx="11429640" cy="5362200"/>
          </a:xfrm>
          <a:prstGeom prst="rect">
            <a:avLst/>
          </a:prstGeom>
          <a:solidFill>
            <a:srgbClr val="F4F4F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━━━━━━━━━━━━━━━━━━━━━━━━━━━━━━━━━━━━━━━━━━━━━━━━━━━━━━━━━━━━━━━━━━━━━━━━━</a:t>
            </a:r>
            <a:endParaRPr lang="en-US" sz="9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9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   PRIORITIZED BACKLOG</a:t>
            </a:r>
            <a:endParaRPr lang="en-US" sz="9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9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QUARTER GOALS:</a:t>
            </a:r>
            <a:endParaRPr lang="en-US" sz="9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• Increase retention: 20% → 40%</a:t>
            </a:r>
            <a:endParaRPr lang="en-US" sz="9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• Increase activation: 60% → 75%</a:t>
            </a:r>
            <a:endParaRPr lang="en-US" sz="9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• 50% of users set a goal</a:t>
            </a:r>
            <a:endParaRPr lang="en-US" sz="9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9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─────────────────────────────────────</a:t>
            </a:r>
            <a:endParaRPr lang="en-US" sz="9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9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TOP 5 FEATURES TO BUILD:</a:t>
            </a:r>
            <a:endParaRPr lang="en-US" sz="9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9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1. GOAL SETTING</a:t>
            </a:r>
            <a:endParaRPr lang="en-US" sz="9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   Effort: 2 months</a:t>
            </a:r>
            <a:endParaRPr lang="en-US" sz="9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   Why: 3x retention uplift</a:t>
            </a:r>
            <a:endParaRPr lang="en-US" sz="9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9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2. IMPROVED ONBOARDING</a:t>
            </a:r>
            <a:endParaRPr lang="en-US" sz="9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   Effort: 1 month</a:t>
            </a:r>
            <a:endParaRPr lang="en-US" sz="9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   Why: Unblocks 40% of users</a:t>
            </a:r>
            <a:endParaRPr lang="en-US" sz="9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9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3. PROGRESS TRACKING</a:t>
            </a:r>
            <a:endParaRPr lang="en-US" sz="9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   Effort: 1.5 months</a:t>
            </a:r>
            <a:endParaRPr lang="en-US" sz="9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   Why: Drives engagement</a:t>
            </a:r>
            <a:endParaRPr lang="en-US" sz="9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9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4. WEEKLY SUMMARIES</a:t>
            </a:r>
            <a:endParaRPr lang="en-US" sz="9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   Effort: 1 month</a:t>
            </a:r>
            <a:endParaRPr lang="en-US" sz="9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   Why: Builds habits</a:t>
            </a:r>
            <a:endParaRPr lang="en-US" sz="9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9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5. ACTIONABLE INSIGHTS</a:t>
            </a:r>
            <a:endParaRPr lang="en-US" sz="9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   Effort: 2 months</a:t>
            </a:r>
            <a:endParaRPr lang="en-US" sz="9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   Why: Key differentiator</a:t>
            </a:r>
            <a:endParaRPr lang="en-US" sz="9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9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━━━━━━━━━━━━━━━━━━━━━━━━━━━━━━━━━━━━━━━━━━━━━━━━━━━━━━━━━━━━━━━━━━━━━━━━━</a:t>
            </a:r>
            <a:endParaRPr lang="en-US" sz="9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7" name="PlaceHolder 1"/>
          <p:cNvSpPr>
            <a:spLocks noGrp="1"/>
          </p:cNvSpPr>
          <p:nvPr>
            <p:ph type="sldNum" idx="99"/>
          </p:nvPr>
        </p:nvSpPr>
        <p:spPr>
          <a:xfrm>
            <a:off x="0" y="6343560"/>
            <a:ext cx="11810520" cy="22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350" b="0" u="none" strike="noStrike">
                <a:solidFill>
                  <a:srgbClr val="777777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F7B6B15-5715-407A-A6BF-37D2CBABEF00}" type="slidenum">
              <a:rPr lang="en-US" sz="1350" b="0" u="none" strike="noStrike">
                <a:solidFill>
                  <a:srgbClr val="777777"/>
                </a:solidFill>
                <a:effectLst/>
                <a:uFillTx/>
                <a:latin typeface="Calibri"/>
              </a:rPr>
              <a:t>1</a:t>
            </a:fld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Text 0"/>
          <p:cNvSpPr/>
          <p:nvPr/>
        </p:nvSpPr>
        <p:spPr>
          <a:xfrm>
            <a:off x="380880" y="443520"/>
            <a:ext cx="11658240" cy="37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9000"/>
              </a:lnSpc>
              <a:tabLst>
                <a:tab pos="0" algn="l"/>
              </a:tabLst>
            </a:pPr>
            <a:r>
              <a:rPr lang="en-US" sz="239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SLIDE 88: Part 6 Recap</a:t>
            </a:r>
            <a:endParaRPr lang="en-US" sz="23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9" name="Text 1"/>
          <p:cNvSpPr/>
          <p:nvPr/>
        </p:nvSpPr>
        <p:spPr>
          <a:xfrm>
            <a:off x="380880" y="1013760"/>
            <a:ext cx="11429640" cy="5362200"/>
          </a:xfrm>
          <a:prstGeom prst="rect">
            <a:avLst/>
          </a:prstGeom>
          <a:solidFill>
            <a:srgbClr val="F4F4F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1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━━━━━━━━━━━━━━━━━━━━━━━━━━━━━━━━━━━━━━━━━━━━━━━━━━━━━━━━━━━━━━━━━━━━━━━━━</a:t>
            </a:r>
            <a:endParaRPr lang="en-US" sz="15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5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1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   PART 6 RECAP</a:t>
            </a:r>
            <a:endParaRPr lang="en-US" sz="15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5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1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┌─────────────────────────────────────┐</a:t>
            </a:r>
            <a:endParaRPr lang="en-US" sz="15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1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What you learned:                 │</a:t>
            </a:r>
            <a:endParaRPr lang="en-US" sz="15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1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                                  │</a:t>
            </a:r>
            <a:endParaRPr lang="en-US" sz="15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1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✓ RICE scoring                    │</a:t>
            </a:r>
            <a:endParaRPr lang="en-US" sz="15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1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✓ Kano model                      │</a:t>
            </a:r>
            <a:endParaRPr lang="en-US" sz="15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1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✓ Outcome-based prioritization    │</a:t>
            </a:r>
            <a:endParaRPr lang="en-US" sz="15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1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✓ Prioritized backlog             │</a:t>
            </a:r>
            <a:endParaRPr lang="en-US" sz="15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1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└─────────────────────────────────────┘</a:t>
            </a:r>
            <a:endParaRPr lang="en-US" sz="15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5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1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───</a:t>
            </a:r>
            <a:endParaRPr lang="en-US" sz="15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5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1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Portfolio Tracker:</a:t>
            </a:r>
            <a:endParaRPr lang="en-US" sz="15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1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[ ] Created rice-scoring.md</a:t>
            </a:r>
            <a:endParaRPr lang="en-US" sz="15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1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[ ] Created kano-model.md</a:t>
            </a:r>
            <a:endParaRPr lang="en-US" sz="15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1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[ ] Created outcome-prioritization.md</a:t>
            </a:r>
            <a:endParaRPr lang="en-US" sz="15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1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[ ] Created prioritized-backlog.md</a:t>
            </a:r>
            <a:endParaRPr lang="en-US" sz="15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5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1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━━━━━━━━━━━━━━━━━━━━━━━━━━━━━━━━━━━━━━━━━━━━━━━━━━━━━━━━━━━━━━━━━━━━━━━━━</a:t>
            </a:r>
            <a:endParaRPr lang="en-US" sz="15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0" name="PlaceHolder 1"/>
          <p:cNvSpPr>
            <a:spLocks noGrp="1"/>
          </p:cNvSpPr>
          <p:nvPr>
            <p:ph type="sldNum" idx="100"/>
          </p:nvPr>
        </p:nvSpPr>
        <p:spPr>
          <a:xfrm>
            <a:off x="0" y="6343560"/>
            <a:ext cx="11810520" cy="22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350" b="0" u="none" strike="noStrike">
                <a:solidFill>
                  <a:srgbClr val="777777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87E442B-197B-4C3B-B3BE-6ED64379668D}" type="slidenum">
              <a:rPr lang="en-US" sz="1350" b="0" u="none" strike="noStrike">
                <a:solidFill>
                  <a:srgbClr val="777777"/>
                </a:solidFill>
                <a:effectLst/>
                <a:uFillTx/>
                <a:latin typeface="Calibri"/>
              </a:rPr>
              <a:t>1</a:t>
            </a:fld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Text 0"/>
          <p:cNvSpPr/>
          <p:nvPr/>
        </p:nvSpPr>
        <p:spPr>
          <a:xfrm>
            <a:off x="380880" y="443520"/>
            <a:ext cx="11658240" cy="37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9000"/>
              </a:lnSpc>
              <a:tabLst>
                <a:tab pos="0" algn="l"/>
              </a:tabLst>
            </a:pPr>
            <a:r>
              <a:rPr lang="en-US" sz="239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SLIDE 89: Phase 2 Complete</a:t>
            </a:r>
            <a:endParaRPr lang="en-US" sz="23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2" name="Text 1"/>
          <p:cNvSpPr/>
          <p:nvPr/>
        </p:nvSpPr>
        <p:spPr>
          <a:xfrm>
            <a:off x="380880" y="1013760"/>
            <a:ext cx="11429640" cy="5362200"/>
          </a:xfrm>
          <a:prstGeom prst="rect">
            <a:avLst/>
          </a:prstGeom>
          <a:solidFill>
            <a:srgbClr val="F4F4F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━━━━━━━━━━━━━━━━━━━━━━━━━━━━━━━━━━━━━━━━━━━━━━━━━━━━━━━━━━━━━━━━━━━━━━━━━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   PHASE 2 COMPLETE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STRATEGY &amp; PRIORITIZATION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┌─────────────────────────────────────┐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What you've built:                │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                                  │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02-strategy/                      │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├── product-vision.md             │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├── value-proposition.md          │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├── competitive-positioning.md    │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├── feature-comparison.md         │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├── swot-analysis.md              │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├── positioning-map.md            │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├── strategic-insights.md         │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├── rice-scoring.md               │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├── kano-model.md                 │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├── outcome-prioritization.md     │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└── prioritized-backlog.md        │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└─────────────────────────────────────┘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───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Next: Execution &amp; Delivery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━━━━━━━━━━━━━━━━━━━━━━━━━━━━━━━━━━━━━━━━━━━━━━━━━━━━━━━━━━━━━━━━━━━━━━━━━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3" name="PlaceHolder 1"/>
          <p:cNvSpPr>
            <a:spLocks noGrp="1"/>
          </p:cNvSpPr>
          <p:nvPr>
            <p:ph type="sldNum" idx="101"/>
          </p:nvPr>
        </p:nvSpPr>
        <p:spPr>
          <a:xfrm>
            <a:off x="0" y="6343560"/>
            <a:ext cx="11810520" cy="22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350" b="0" u="none" strike="noStrike">
                <a:solidFill>
                  <a:srgbClr val="777777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5BEB023-D4C6-4BF5-A5BA-96A4D2BA18BD}" type="slidenum">
              <a:rPr lang="en-US" sz="1350" b="0" u="none" strike="noStrike">
                <a:solidFill>
                  <a:srgbClr val="777777"/>
                </a:solidFill>
                <a:effectLst/>
                <a:uFillTx/>
                <a:latin typeface="Calibri"/>
              </a:rPr>
              <a:t>1</a:t>
            </a:fld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Text 0"/>
          <p:cNvSpPr/>
          <p:nvPr/>
        </p:nvSpPr>
        <p:spPr>
          <a:xfrm>
            <a:off x="380880" y="443520"/>
            <a:ext cx="11658240" cy="37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9000"/>
              </a:lnSpc>
              <a:tabLst>
                <a:tab pos="0" algn="l"/>
              </a:tabLst>
            </a:pPr>
            <a:r>
              <a:rPr lang="en-US" sz="239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SLIDE 90: What's Next</a:t>
            </a:r>
            <a:endParaRPr lang="en-US" sz="23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5" name="Text 1"/>
          <p:cNvSpPr/>
          <p:nvPr/>
        </p:nvSpPr>
        <p:spPr>
          <a:xfrm>
            <a:off x="380880" y="1013760"/>
            <a:ext cx="11429640" cy="5362200"/>
          </a:xfrm>
          <a:prstGeom prst="rect">
            <a:avLst/>
          </a:prstGeom>
          <a:solidFill>
            <a:srgbClr val="F4F4F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━━━━━━━━━━━━━━━━━━━━━━━━━━━━━━━━━━━━━━━━━━━━━━━━━━━━━━━━━━━━━━━━━━━━━━━━━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   WHAT'S NEXT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┌─────────────────────────────────────┐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PART 7                            │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Writing PRDs                      │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                                  │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• What is a PRD?                  │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• User stories                    │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• Acceptance criteria             │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• Out of scope                    │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└─────────────────────────────────────┘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───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Next session: The blueprint for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building.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━━━━━━━━━━━━━━━━━━━━━━━━━━━━━━━━━━━━━━━━━━━━━━━━━━━━━━━━━━━━━━━━━━━━━━━━━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6" name="PlaceHolder 1"/>
          <p:cNvSpPr>
            <a:spLocks noGrp="1"/>
          </p:cNvSpPr>
          <p:nvPr>
            <p:ph type="sldNum" idx="102"/>
          </p:nvPr>
        </p:nvSpPr>
        <p:spPr>
          <a:xfrm>
            <a:off x="0" y="6343560"/>
            <a:ext cx="11810520" cy="22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350" b="0" u="none" strike="noStrike">
                <a:solidFill>
                  <a:srgbClr val="777777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3A747FE-5584-466D-97A3-5864508D9157}" type="slidenum">
              <a:rPr lang="en-US" sz="1350" b="0" u="none" strike="noStrike">
                <a:solidFill>
                  <a:srgbClr val="777777"/>
                </a:solidFill>
                <a:effectLst/>
                <a:uFillTx/>
                <a:latin typeface="Calibri"/>
              </a:rPr>
              <a:t>1</a:t>
            </a:fld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Text 0"/>
          <p:cNvSpPr/>
          <p:nvPr/>
        </p:nvSpPr>
        <p:spPr>
          <a:xfrm>
            <a:off x="380880" y="2713320"/>
            <a:ext cx="11658240" cy="55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107640" anchor="t">
            <a:noAutofit/>
          </a:bodyPr>
          <a:p>
            <a:pPr defTabSz="914400">
              <a:lnSpc>
                <a:spcPct val="109000"/>
              </a:lnSpc>
              <a:tabLst>
                <a:tab pos="0" algn="l"/>
              </a:tabLst>
            </a:pPr>
            <a:r>
              <a:rPr lang="en-US" sz="283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PART 7: WRITING PRDS</a:t>
            </a:r>
            <a:endParaRPr lang="en-US" sz="28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8" name="Text 1"/>
          <p:cNvSpPr/>
          <p:nvPr/>
        </p:nvSpPr>
        <p:spPr>
          <a:xfrm>
            <a:off x="380880" y="3498480"/>
            <a:ext cx="11658240" cy="55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107640" anchor="t">
            <a:noAutofit/>
          </a:bodyPr>
          <a:p>
            <a:pPr defTabSz="914400">
              <a:lnSpc>
                <a:spcPct val="109000"/>
              </a:lnSpc>
              <a:tabLst>
                <a:tab pos="0" algn="l"/>
              </a:tabLst>
            </a:pPr>
            <a:r>
              <a:rPr lang="en-US" sz="283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Slides 91-115</a:t>
            </a:r>
            <a:endParaRPr lang="en-US" sz="28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9" name="PlaceHolder 1"/>
          <p:cNvSpPr>
            <a:spLocks noGrp="1"/>
          </p:cNvSpPr>
          <p:nvPr>
            <p:ph type="sldNum" idx="103"/>
          </p:nvPr>
        </p:nvSpPr>
        <p:spPr>
          <a:xfrm>
            <a:off x="0" y="6343560"/>
            <a:ext cx="11810520" cy="22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350" b="0" u="none" strike="noStrike">
                <a:solidFill>
                  <a:srgbClr val="777777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C8D3204-7ACD-4345-BDC9-B1A92D9DAC82}" type="slidenum">
              <a:rPr lang="en-US" sz="1350" b="0" u="none" strike="noStrike">
                <a:solidFill>
                  <a:srgbClr val="777777"/>
                </a:solidFill>
                <a:effectLst/>
                <a:uFillTx/>
                <a:latin typeface="Calibri"/>
              </a:rPr>
              <a:t>1</a:t>
            </a:fld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Text 0"/>
          <p:cNvSpPr/>
          <p:nvPr/>
        </p:nvSpPr>
        <p:spPr>
          <a:xfrm>
            <a:off x="380880" y="934200"/>
            <a:ext cx="11658240" cy="37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9000"/>
              </a:lnSpc>
              <a:tabLst>
                <a:tab pos="0" algn="l"/>
              </a:tabLst>
            </a:pPr>
            <a:r>
              <a:rPr lang="en-US" sz="239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SLIDE 91: Part 7 Title</a:t>
            </a:r>
            <a:endParaRPr lang="en-US" sz="23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1" name="Text 1"/>
          <p:cNvSpPr/>
          <p:nvPr/>
        </p:nvSpPr>
        <p:spPr>
          <a:xfrm>
            <a:off x="380880" y="1504440"/>
            <a:ext cx="11429640" cy="4381200"/>
          </a:xfrm>
          <a:prstGeom prst="rect">
            <a:avLst/>
          </a:prstGeom>
          <a:solidFill>
            <a:srgbClr val="F4F4F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━━━━━━━━━━━━━━━━━━━━━━━━━━━━━━━━━━━━━━━━━━━━━━━━━━━━━━━━━━━━━━━━━━━━━━━━━</a:t>
            </a:r>
            <a:endParaRPr lang="en-US" sz="1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   PART 7</a:t>
            </a:r>
            <a:endParaRPr lang="en-US" sz="1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   WRITING PRDS</a:t>
            </a:r>
            <a:endParaRPr lang="en-US" sz="1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The Blueprint for Building</a:t>
            </a:r>
            <a:endParaRPr lang="en-US" sz="1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───</a:t>
            </a:r>
            <a:endParaRPr lang="en-US" sz="1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"Build the simplest thing that</a:t>
            </a:r>
            <a:endParaRPr lang="en-US" sz="1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could possibly work, ship it,</a:t>
            </a:r>
            <a:endParaRPr lang="en-US" sz="1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and learn from what happens next."</a:t>
            </a:r>
            <a:endParaRPr lang="en-US" sz="1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━━━━━━━━━━━━━━━━━━━━━━━━━━━━━━━━━━━━━━━━━━━━━━━━━━━━━━━━━━━━━━━━━━━━━━━━━</a:t>
            </a:r>
            <a:endParaRPr lang="en-US" sz="1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2" name="PlaceHolder 1"/>
          <p:cNvSpPr>
            <a:spLocks noGrp="1"/>
          </p:cNvSpPr>
          <p:nvPr>
            <p:ph type="sldNum" idx="104"/>
          </p:nvPr>
        </p:nvSpPr>
        <p:spPr>
          <a:xfrm>
            <a:off x="0" y="6343560"/>
            <a:ext cx="11810520" cy="22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350" b="0" u="none" strike="noStrike">
                <a:solidFill>
                  <a:srgbClr val="777777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85F5249-080B-4F97-A242-0F46950FC5C9}" type="slidenum">
              <a:rPr lang="en-US" sz="1350" b="0" u="none" strike="noStrike">
                <a:solidFill>
                  <a:srgbClr val="777777"/>
                </a:solidFill>
                <a:effectLst/>
                <a:uFillTx/>
                <a:latin typeface="Calibri"/>
              </a:rPr>
              <a:t>1</a:t>
            </a:fld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Text 0"/>
          <p:cNvSpPr/>
          <p:nvPr/>
        </p:nvSpPr>
        <p:spPr>
          <a:xfrm>
            <a:off x="380880" y="443520"/>
            <a:ext cx="11658240" cy="37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9000"/>
              </a:lnSpc>
              <a:tabLst>
                <a:tab pos="0" algn="l"/>
              </a:tabLst>
            </a:pPr>
            <a:r>
              <a:rPr lang="en-US" sz="239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SLIDE 92: What Is a PRD?</a:t>
            </a:r>
            <a:endParaRPr lang="en-US" sz="23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4" name="Text 1"/>
          <p:cNvSpPr/>
          <p:nvPr/>
        </p:nvSpPr>
        <p:spPr>
          <a:xfrm>
            <a:off x="380880" y="1013760"/>
            <a:ext cx="11429640" cy="5362200"/>
          </a:xfrm>
          <a:prstGeom prst="rect">
            <a:avLst/>
          </a:prstGeom>
          <a:solidFill>
            <a:srgbClr val="F4F4F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━━━━━━━━━━━━━━━━━━━━━━━━━━━━━━━━━━━━━━━━━━━━━━━━━━━━━━━━━━━━━━━━━━━━━━━━━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   WHAT IS A PRD?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PRD = PRODUCT REQUIREMENTS DOCUMENT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─────────────────────────────────────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A PRD answers one question: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"What exactly are we building,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and how will we know it's done?"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─────────────────────────────────────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A PRD IS NOT: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• A technical specification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• A design mockup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• A marketing brief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• A project plan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A PRD IS: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• The bridge between strategy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  and execution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• A single source of truth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• A conversation starter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━━━━━━━━━━━━━━━━━━━━━━━━━━━━━━━━━━━━━━━━━━━━━━━━━━━━━━━━━━━━━━━━━━━━━━━━━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5" name="PlaceHolder 1"/>
          <p:cNvSpPr>
            <a:spLocks noGrp="1"/>
          </p:cNvSpPr>
          <p:nvPr>
            <p:ph type="sldNum" idx="105"/>
          </p:nvPr>
        </p:nvSpPr>
        <p:spPr>
          <a:xfrm>
            <a:off x="0" y="6343560"/>
            <a:ext cx="11810520" cy="22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350" b="0" u="none" strike="noStrike">
                <a:solidFill>
                  <a:srgbClr val="777777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E07CE7E-C645-4364-8F1C-23DCA33F81C0}" type="slidenum">
              <a:rPr lang="en-US" sz="1350" b="0" u="none" strike="noStrike">
                <a:solidFill>
                  <a:srgbClr val="777777"/>
                </a:solidFill>
                <a:effectLst/>
                <a:uFillTx/>
                <a:latin typeface="Calibri"/>
              </a:rPr>
              <a:t>1</a:t>
            </a:fld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Text 0"/>
          <p:cNvSpPr/>
          <p:nvPr/>
        </p:nvSpPr>
        <p:spPr>
          <a:xfrm>
            <a:off x="380880" y="443520"/>
            <a:ext cx="11658240" cy="37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9000"/>
              </a:lnSpc>
              <a:tabLst>
                <a:tab pos="0" algn="l"/>
              </a:tabLst>
            </a:pPr>
            <a:r>
              <a:rPr lang="en-US" sz="239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SLIDE 93: PRD Structure</a:t>
            </a:r>
            <a:endParaRPr lang="en-US" sz="23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7" name="Text 1"/>
          <p:cNvSpPr/>
          <p:nvPr/>
        </p:nvSpPr>
        <p:spPr>
          <a:xfrm>
            <a:off x="380880" y="1013760"/>
            <a:ext cx="11429640" cy="5362200"/>
          </a:xfrm>
          <a:prstGeom prst="rect">
            <a:avLst/>
          </a:prstGeom>
          <a:solidFill>
            <a:srgbClr val="F4F4F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━━━━━━━━━━━━━━━━━━━━━━━━━━━━━━━━━━━━━━━━━━━━━━━━━━━━━━━━━━━━━━━━━━━━━━━━━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   PRD STRUCTURE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1. EXECUTIVE SUMMARY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   What are we building and why?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2. PROBLEM STATEMENT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   What problem are we solving?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3. USER STORIES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   As a [user], I want [goal], So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   that [reason]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4. SUCCESS METRICS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   How will we know it worked?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5. DETAILED REQUIREMENTS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   Functional, non-functional,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   technical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6. OUT OF SCOPE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   What are we NOT building?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7. APPENDIX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   User flows, wireframes, research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━━━━━━━━━━━━━━━━━━━━━━━━━━━━━━━━━━━━━━━━━━━━━━━━━━━━━━━━━━━━━━━━━━━━━━━━━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8" name="PlaceHolder 1"/>
          <p:cNvSpPr>
            <a:spLocks noGrp="1"/>
          </p:cNvSpPr>
          <p:nvPr>
            <p:ph type="sldNum" idx="106"/>
          </p:nvPr>
        </p:nvSpPr>
        <p:spPr>
          <a:xfrm>
            <a:off x="0" y="6343560"/>
            <a:ext cx="11810520" cy="22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350" b="0" u="none" strike="noStrike">
                <a:solidFill>
                  <a:srgbClr val="777777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D81E4F9-5276-4CC0-8186-CA1D5835C1F5}" type="slidenum">
              <a:rPr lang="en-US" sz="1350" b="0" u="none" strike="noStrike">
                <a:solidFill>
                  <a:srgbClr val="777777"/>
                </a:solidFill>
                <a:effectLst/>
                <a:uFillTx/>
                <a:latin typeface="Calibri"/>
              </a:rPr>
              <a:t>1</a:t>
            </a:fld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Text 0"/>
          <p:cNvSpPr/>
          <p:nvPr/>
        </p:nvSpPr>
        <p:spPr>
          <a:xfrm>
            <a:off x="380880" y="443520"/>
            <a:ext cx="11658240" cy="37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9000"/>
              </a:lnSpc>
              <a:tabLst>
                <a:tab pos="0" algn="l"/>
              </a:tabLst>
            </a:pPr>
            <a:r>
              <a:rPr lang="en-US" sz="239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SLIDE 94: User Story Template</a:t>
            </a:r>
            <a:endParaRPr lang="en-US" sz="23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0" name="Text 1"/>
          <p:cNvSpPr/>
          <p:nvPr/>
        </p:nvSpPr>
        <p:spPr>
          <a:xfrm>
            <a:off x="380880" y="1013760"/>
            <a:ext cx="11429640" cy="5362200"/>
          </a:xfrm>
          <a:prstGeom prst="rect">
            <a:avLst/>
          </a:prstGeom>
          <a:solidFill>
            <a:srgbClr val="F4F4F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4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━━━━━━━━━━━━━━━━━━━━━━━━━━━━━━━━━━━━━━━━━━━━━━━━━━━━━━━━━━━━━━━━━━━━━━━━━</a:t>
            </a:r>
            <a:endParaRPr lang="en-US" sz="12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2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4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   USER STORY TEMPLATE</a:t>
            </a:r>
            <a:endParaRPr lang="en-US" sz="12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2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4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"As a [type of user],</a:t>
            </a:r>
            <a:endParaRPr lang="en-US" sz="12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4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I want [some goal],</a:t>
            </a:r>
            <a:endParaRPr lang="en-US" sz="12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4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So that [some reason]."</a:t>
            </a:r>
            <a:endParaRPr lang="en-US" sz="12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2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4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─────────────────────────────────────</a:t>
            </a:r>
            <a:endParaRPr lang="en-US" sz="12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2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4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EXAMPLE:</a:t>
            </a:r>
            <a:endParaRPr lang="en-US" sz="12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2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4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"As a user who wants to save money,</a:t>
            </a:r>
            <a:endParaRPr lang="en-US" sz="12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4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I want to create a savings goal with</a:t>
            </a:r>
            <a:endParaRPr lang="en-US" sz="12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4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a target amount and deadline,</a:t>
            </a:r>
            <a:endParaRPr lang="en-US" sz="12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4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So that I have a clear target to</a:t>
            </a:r>
            <a:endParaRPr lang="en-US" sz="12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4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work toward."</a:t>
            </a:r>
            <a:endParaRPr lang="en-US" sz="12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2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4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─────────────────────────────────────</a:t>
            </a:r>
            <a:endParaRPr lang="en-US" sz="12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2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4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USER STORIES SHOULD:</a:t>
            </a:r>
            <a:endParaRPr lang="en-US" sz="12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4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• Focus on the user</a:t>
            </a:r>
            <a:endParaRPr lang="en-US" sz="12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4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• Describe a specific goal</a:t>
            </a:r>
            <a:endParaRPr lang="en-US" sz="12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4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• Explain the motivation</a:t>
            </a:r>
            <a:endParaRPr lang="en-US" sz="12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4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• Be testable</a:t>
            </a:r>
            <a:endParaRPr lang="en-US" sz="12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2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4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━━━━━━━━━━━━━━━━━━━━━━━━━━━━━━━━━━━━━━━━━━━━━━━━━━━━━━━━━━━━━━━━━━━━━━━━━</a:t>
            </a:r>
            <a:endParaRPr lang="en-US" sz="12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1" name="PlaceHolder 1"/>
          <p:cNvSpPr>
            <a:spLocks noGrp="1"/>
          </p:cNvSpPr>
          <p:nvPr>
            <p:ph type="sldNum" idx="107"/>
          </p:nvPr>
        </p:nvSpPr>
        <p:spPr>
          <a:xfrm>
            <a:off x="0" y="6343560"/>
            <a:ext cx="11810520" cy="22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350" b="0" u="none" strike="noStrike">
                <a:solidFill>
                  <a:srgbClr val="777777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3D3BB95-3D4D-48A1-8CFD-33958CA63493}" type="slidenum">
              <a:rPr lang="en-US" sz="1350" b="0" u="none" strike="noStrike">
                <a:solidFill>
                  <a:srgbClr val="777777"/>
                </a:solidFill>
                <a:effectLst/>
                <a:uFillTx/>
                <a:latin typeface="Calibri"/>
              </a:rPr>
              <a:t>1</a:t>
            </a:fld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Text 0"/>
          <p:cNvSpPr/>
          <p:nvPr/>
        </p:nvSpPr>
        <p:spPr>
          <a:xfrm>
            <a:off x="380880" y="443520"/>
            <a:ext cx="11658240" cy="37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9000"/>
              </a:lnSpc>
              <a:tabLst>
                <a:tab pos="0" algn="l"/>
              </a:tabLst>
            </a:pPr>
            <a:r>
              <a:rPr lang="en-US" sz="239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SLIDE 95: User Stories - Ledgerly Goal Setting</a:t>
            </a:r>
            <a:endParaRPr lang="en-US" sz="23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3" name="Text 1"/>
          <p:cNvSpPr/>
          <p:nvPr/>
        </p:nvSpPr>
        <p:spPr>
          <a:xfrm>
            <a:off x="380880" y="1013760"/>
            <a:ext cx="11429640" cy="5362200"/>
          </a:xfrm>
          <a:prstGeom prst="rect">
            <a:avLst/>
          </a:prstGeom>
          <a:solidFill>
            <a:srgbClr val="F4F4F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━━━━━━━━━━━━━━━━━━━━━━━━━━━━━━━━━━━━━━━━━━━━━━━━━━━━━━━━━━━━━━━━━━━━━━━━━</a:t>
            </a:r>
            <a:endParaRPr lang="en-US" sz="9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9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   USER STORIES - LEDGERLY</a:t>
            </a:r>
            <a:endParaRPr lang="en-US" sz="9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9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EPIC 1: CREATE AND MANAGE GOALS</a:t>
            </a:r>
            <a:endParaRPr lang="en-US" sz="9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9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STORY 1: Create a Savings Goal</a:t>
            </a:r>
            <a:endParaRPr lang="en-US" sz="9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"As a user who wants to save money,</a:t>
            </a:r>
            <a:endParaRPr lang="en-US" sz="9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I want to create a savings goal with</a:t>
            </a:r>
            <a:endParaRPr lang="en-US" sz="9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a target amount and deadline,</a:t>
            </a:r>
            <a:endParaRPr lang="en-US" sz="9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So that I have a clear target."</a:t>
            </a:r>
            <a:endParaRPr lang="en-US" sz="9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9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STORY 2: Create a Spending Goal</a:t>
            </a:r>
            <a:endParaRPr lang="en-US" sz="9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"As a user who wants to manage</a:t>
            </a:r>
            <a:endParaRPr lang="en-US" sz="9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spending, I want to create a spending</a:t>
            </a:r>
            <a:endParaRPr lang="en-US" sz="9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goal for a specific category,</a:t>
            </a:r>
            <a:endParaRPr lang="en-US" sz="9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So that I can stay within budget."</a:t>
            </a:r>
            <a:endParaRPr lang="en-US" sz="9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9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STORY 3: Create a Debt Goal</a:t>
            </a:r>
            <a:endParaRPr lang="en-US" sz="9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"As a user with debt,</a:t>
            </a:r>
            <a:endParaRPr lang="en-US" sz="9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I want to create a debt reduction goal,</a:t>
            </a:r>
            <a:endParaRPr lang="en-US" sz="9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So that I can become debt-free."</a:t>
            </a:r>
            <a:endParaRPr lang="en-US" sz="9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9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STORY 4: Edit Goals</a:t>
            </a:r>
            <a:endParaRPr lang="en-US" sz="9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"As a user tracking goals,</a:t>
            </a:r>
            <a:endParaRPr lang="en-US" sz="9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I want to edit my goal parameters,</a:t>
            </a:r>
            <a:endParaRPr lang="en-US" sz="9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So that my goals stay relevant."</a:t>
            </a:r>
            <a:endParaRPr lang="en-US" sz="9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9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STORY 5: Delete Goals</a:t>
            </a:r>
            <a:endParaRPr lang="en-US" sz="9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"As a user who no longer needs a goal,</a:t>
            </a:r>
            <a:endParaRPr lang="en-US" sz="9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I want to delete it from my dashboard,</a:t>
            </a:r>
            <a:endParaRPr lang="en-US" sz="9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So that my dashboard stays clean."</a:t>
            </a:r>
            <a:endParaRPr lang="en-US" sz="9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9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━━━━━━━━━━━━━━━━━━━━━━━━━━━━━━━━━━━━━━━━━━━━━━━━━━━━━━━━━━━━━━━━━━━━━━━━━</a:t>
            </a:r>
            <a:endParaRPr lang="en-US" sz="9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4" name="PlaceHolder 1"/>
          <p:cNvSpPr>
            <a:spLocks noGrp="1"/>
          </p:cNvSpPr>
          <p:nvPr>
            <p:ph type="sldNum" idx="108"/>
          </p:nvPr>
        </p:nvSpPr>
        <p:spPr>
          <a:xfrm>
            <a:off x="0" y="6343560"/>
            <a:ext cx="11810520" cy="22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350" b="0" u="none" strike="noStrike">
                <a:solidFill>
                  <a:srgbClr val="777777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BC69B8C-6CCF-42AA-B716-C4D1A4812DEF}" type="slidenum">
              <a:rPr lang="en-US" sz="1350" b="0" u="none" strike="noStrike">
                <a:solidFill>
                  <a:srgbClr val="777777"/>
                </a:solidFill>
                <a:effectLst/>
                <a:uFillTx/>
                <a:latin typeface="Calibri"/>
              </a:rPr>
              <a:t>1</a:t>
            </a:fld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Text 0"/>
          <p:cNvSpPr/>
          <p:nvPr/>
        </p:nvSpPr>
        <p:spPr>
          <a:xfrm>
            <a:off x="380880" y="443520"/>
            <a:ext cx="11658240" cy="37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9000"/>
              </a:lnSpc>
              <a:tabLst>
                <a:tab pos="0" algn="l"/>
              </a:tabLst>
            </a:pPr>
            <a:r>
              <a:rPr lang="en-US" sz="239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SLIDE 96: Acceptance Criteria</a:t>
            </a:r>
            <a:endParaRPr lang="en-US" sz="23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6" name="Text 1"/>
          <p:cNvSpPr/>
          <p:nvPr/>
        </p:nvSpPr>
        <p:spPr>
          <a:xfrm>
            <a:off x="380880" y="1013760"/>
            <a:ext cx="11429640" cy="5362200"/>
          </a:xfrm>
          <a:prstGeom prst="rect">
            <a:avLst/>
          </a:prstGeom>
          <a:solidFill>
            <a:srgbClr val="F4F4F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━━━━━━━━━━━━━━━━━━━━━━━━━━━━━━━━━━━━━━━━━━━━━━━━━━━━━━━━━━━━━━━━━━━━━━━━━</a:t>
            </a:r>
            <a:endParaRPr lang="en-US" sz="9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9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   ACCEPTANCE CRITERIA</a:t>
            </a:r>
            <a:endParaRPr lang="en-US" sz="9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9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ACCEPTANCE CRITERIA SHOULD BE:</a:t>
            </a:r>
            <a:endParaRPr lang="en-US" sz="9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9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• SPECIFIC</a:t>
            </a:r>
            <a:endParaRPr lang="en-US" sz="9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  "Users can set a goal between</a:t>
            </a:r>
            <a:endParaRPr lang="en-US" sz="9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   $1 and $1,000,000"</a:t>
            </a:r>
            <a:endParaRPr lang="en-US" sz="9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9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• TESTABLE</a:t>
            </a:r>
            <a:endParaRPr lang="en-US" sz="9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  "Goal appears on dashboard within</a:t>
            </a:r>
            <a:endParaRPr lang="en-US" sz="9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   5 seconds"</a:t>
            </a:r>
            <a:endParaRPr lang="en-US" sz="9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9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• UNAMBIGUOUS</a:t>
            </a:r>
            <a:endParaRPr lang="en-US" sz="9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  "Progress updates automatically</a:t>
            </a:r>
            <a:endParaRPr lang="en-US" sz="9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   when transactions occur"</a:t>
            </a:r>
            <a:endParaRPr lang="en-US" sz="9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9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─────────────────────────────────────</a:t>
            </a:r>
            <a:endParaRPr lang="en-US" sz="9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9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ACCEPTANCE CRITERIA FORMAT:</a:t>
            </a:r>
            <a:endParaRPr lang="en-US" sz="9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9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GIVEN [context]</a:t>
            </a:r>
            <a:endParaRPr lang="en-US" sz="9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WHEN [action]</a:t>
            </a:r>
            <a:endParaRPr lang="en-US" sz="9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THEN [outcome]</a:t>
            </a:r>
            <a:endParaRPr lang="en-US" sz="9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9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─────────────────────────────────────</a:t>
            </a:r>
            <a:endParaRPr lang="en-US" sz="9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9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EXAMPLE:</a:t>
            </a:r>
            <a:endParaRPr lang="en-US" sz="9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GIVEN the user has connected a bank</a:t>
            </a:r>
            <a:endParaRPr lang="en-US" sz="9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WHEN the user sets a goal</a:t>
            </a:r>
            <a:endParaRPr lang="en-US" sz="9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THEN the goal appears on the dashboard</a:t>
            </a:r>
            <a:endParaRPr lang="en-US" sz="9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9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━━━━━━━━━━━━━━━━━━━━━━━━━━━━━━━━━━━━━━━━━━━━━━━━━━━━━━━━━━━━━━━━━━━━━━━━━</a:t>
            </a:r>
            <a:endParaRPr lang="en-US" sz="9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7" name="PlaceHolder 1"/>
          <p:cNvSpPr>
            <a:spLocks noGrp="1"/>
          </p:cNvSpPr>
          <p:nvPr>
            <p:ph type="sldNum" idx="109"/>
          </p:nvPr>
        </p:nvSpPr>
        <p:spPr>
          <a:xfrm>
            <a:off x="0" y="6343560"/>
            <a:ext cx="11810520" cy="22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350" b="0" u="none" strike="noStrike">
                <a:solidFill>
                  <a:srgbClr val="777777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6DE0998-6414-4B36-8C67-E2C79EC4C30B}" type="slidenum">
              <a:rPr lang="en-US" sz="1350" b="0" u="none" strike="noStrike">
                <a:solidFill>
                  <a:srgbClr val="777777"/>
                </a:solidFill>
                <a:effectLst/>
                <a:uFillTx/>
                <a:latin typeface="Calibri"/>
              </a:rPr>
              <a:t>1</a:t>
            </a:fld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Text 0"/>
          <p:cNvSpPr/>
          <p:nvPr/>
        </p:nvSpPr>
        <p:spPr>
          <a:xfrm>
            <a:off x="380880" y="443520"/>
            <a:ext cx="11658240" cy="37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9000"/>
              </a:lnSpc>
              <a:tabLst>
                <a:tab pos="0" algn="l"/>
              </a:tabLst>
            </a:pPr>
            <a:r>
              <a:rPr lang="en-US" sz="239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SLIDE 97: Acceptance Criteria Example</a:t>
            </a:r>
            <a:endParaRPr lang="en-US" sz="23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9" name="Text 1"/>
          <p:cNvSpPr/>
          <p:nvPr/>
        </p:nvSpPr>
        <p:spPr>
          <a:xfrm>
            <a:off x="380880" y="1013760"/>
            <a:ext cx="11429640" cy="5362200"/>
          </a:xfrm>
          <a:prstGeom prst="rect">
            <a:avLst/>
          </a:prstGeom>
          <a:solidFill>
            <a:srgbClr val="F4F4F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2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━━━━━━━━━━━━━━━━━━━━━━━━━━━━━━━━━━━━━━━━━━━━━━━━━━━━━━━━━━━━━━━━━━━━━━━━━</a:t>
            </a: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2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   ACCEPTANCE CRITERIA EXAMPLE</a:t>
            </a: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2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STORY: Create a Savings Goal</a:t>
            </a: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2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ACCEPTANCE CRITERIA:</a:t>
            </a: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2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□ User can access "Set a Goal"</a:t>
            </a: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2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  from dashboard</a:t>
            </a: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2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□ User can select "Savings Goal"</a:t>
            </a: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2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  from goal types</a:t>
            </a: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2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□ User can enter target amount</a:t>
            </a: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2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  (minimum $1)</a:t>
            </a: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2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□ User can enter target date</a:t>
            </a: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2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  (must be future date)</a:t>
            </a: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2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□ User can save goal after entering</a:t>
            </a: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2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  required fields</a:t>
            </a: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2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□ Goal appears on dashboard with</a:t>
            </a: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2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  progress bar at 0%</a:t>
            </a: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2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□ User receives confirmation message</a:t>
            </a: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2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  on successful save</a:t>
            </a: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2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EDGE CASES:</a:t>
            </a: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2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• Invalid amount (0 or negative):</a:t>
            </a: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2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  show error message</a:t>
            </a: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2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• Past target date:</a:t>
            </a: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2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  show error message</a:t>
            </a: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2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• Missing required fields:</a:t>
            </a: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2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  show error message</a:t>
            </a: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2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• User cancels goal creation:</a:t>
            </a: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2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  no goal is saved</a:t>
            </a: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2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━━━━━━━━━━━━━━━━━━━━━━━━━━━━━━━━━━━━━━━━━━━━━━━━━━━━━━━━━━━━━━━━━━━━━━━━━</a:t>
            </a: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0" name="PlaceHolder 1"/>
          <p:cNvSpPr>
            <a:spLocks noGrp="1"/>
          </p:cNvSpPr>
          <p:nvPr>
            <p:ph type="sldNum" idx="110"/>
          </p:nvPr>
        </p:nvSpPr>
        <p:spPr>
          <a:xfrm>
            <a:off x="0" y="6343560"/>
            <a:ext cx="11810520" cy="22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350" b="0" u="none" strike="noStrike">
                <a:solidFill>
                  <a:srgbClr val="777777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77C23C3-AC21-4308-9408-011FB91409E2}" type="slidenum">
              <a:rPr lang="en-US" sz="1350" b="0" u="none" strike="noStrike">
                <a:solidFill>
                  <a:srgbClr val="777777"/>
                </a:solidFill>
                <a:effectLst/>
                <a:uFillTx/>
                <a:latin typeface="Calibri"/>
              </a:rPr>
              <a:t>1</a:t>
            </a:fld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Text 0"/>
          <p:cNvSpPr/>
          <p:nvPr/>
        </p:nvSpPr>
        <p:spPr>
          <a:xfrm>
            <a:off x="380880" y="443520"/>
            <a:ext cx="11658240" cy="37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9000"/>
              </a:lnSpc>
              <a:tabLst>
                <a:tab pos="0" algn="l"/>
              </a:tabLst>
            </a:pPr>
            <a:r>
              <a:rPr lang="en-US" sz="239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SLIDE 98: Detailed Requirements</a:t>
            </a:r>
            <a:endParaRPr lang="en-US" sz="23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2" name="Text 1"/>
          <p:cNvSpPr/>
          <p:nvPr/>
        </p:nvSpPr>
        <p:spPr>
          <a:xfrm>
            <a:off x="380880" y="1013760"/>
            <a:ext cx="11429640" cy="5362200"/>
          </a:xfrm>
          <a:prstGeom prst="rect">
            <a:avLst/>
          </a:prstGeom>
          <a:solidFill>
            <a:srgbClr val="F4F4F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4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━━━━━━━━━━━━━━━━━━━━━━━━━━━━━━━━━━━━━━━━━━━━━━━━━━━━━━━━━━━━━━━━━━━━━━━━━</a:t>
            </a:r>
            <a:endParaRPr lang="en-US" sz="12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2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4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   DETAILED REQUIREMENTS</a:t>
            </a:r>
            <a:endParaRPr lang="en-US" sz="12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2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4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FUNCTIONAL REQUIREMENTS:</a:t>
            </a:r>
            <a:endParaRPr lang="en-US" sz="12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4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• Goal Types: Savings, Spending, Debt</a:t>
            </a:r>
            <a:endParaRPr lang="en-US" sz="12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4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• Goal Creation Flow:</a:t>
            </a:r>
            <a:endParaRPr lang="en-US" sz="12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4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  1. Select goal type</a:t>
            </a:r>
            <a:endParaRPr lang="en-US" sz="12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4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  2. Enter goal parameters</a:t>
            </a:r>
            <a:endParaRPr lang="en-US" sz="12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4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  3. Confirm and save</a:t>
            </a:r>
            <a:endParaRPr lang="en-US" sz="12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4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• Validation Rules:</a:t>
            </a:r>
            <a:endParaRPr lang="en-US" sz="12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4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  - Target amount &gt; $0</a:t>
            </a:r>
            <a:endParaRPr lang="en-US" sz="12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4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  - Target date in the future</a:t>
            </a:r>
            <a:endParaRPr lang="en-US" sz="12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4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  - Goal name not empty</a:t>
            </a:r>
            <a:endParaRPr lang="en-US" sz="12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2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4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NON-FUNCTIONAL REQUIREMENTS:</a:t>
            </a:r>
            <a:endParaRPr lang="en-US" sz="12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4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• Goal creation: &lt; 2 minutes</a:t>
            </a:r>
            <a:endParaRPr lang="en-US" sz="12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4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• Dashboard load: &lt; 2 seconds</a:t>
            </a:r>
            <a:endParaRPr lang="en-US" sz="12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4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• Progress updates: &lt; 1 hour</a:t>
            </a:r>
            <a:endParaRPr lang="en-US" sz="12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4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• Mobile-responsive</a:t>
            </a:r>
            <a:endParaRPr lang="en-US" sz="12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2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4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TECHNICAL REQUIREMENTS:</a:t>
            </a:r>
            <a:endParaRPr lang="en-US" sz="12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4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• Data model (see next slide)</a:t>
            </a:r>
            <a:endParaRPr lang="en-US" sz="12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4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• Cache strategy (Redis, 15 min)</a:t>
            </a:r>
            <a:endParaRPr lang="en-US" sz="12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4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• Notification system (queue-based)</a:t>
            </a:r>
            <a:endParaRPr lang="en-US" sz="12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2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4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━━━━━━━━━━━━━━━━━━━━━━━━━━━━━━━━━━━━━━━━━━━━━━━━━━━━━━━━━━━━━━━━━━━━━━━━━</a:t>
            </a:r>
            <a:endParaRPr lang="en-US" sz="12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3" name="PlaceHolder 1"/>
          <p:cNvSpPr>
            <a:spLocks noGrp="1"/>
          </p:cNvSpPr>
          <p:nvPr>
            <p:ph type="sldNum" idx="111"/>
          </p:nvPr>
        </p:nvSpPr>
        <p:spPr>
          <a:xfrm>
            <a:off x="0" y="6343560"/>
            <a:ext cx="11810520" cy="22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350" b="0" u="none" strike="noStrike">
                <a:solidFill>
                  <a:srgbClr val="777777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DC6A776-DF96-42CF-8C27-83BCB74E6DFD}" type="slidenum">
              <a:rPr lang="en-US" sz="1350" b="0" u="none" strike="noStrike">
                <a:solidFill>
                  <a:srgbClr val="777777"/>
                </a:solidFill>
                <a:effectLst/>
                <a:uFillTx/>
                <a:latin typeface="Calibri"/>
              </a:rPr>
              <a:t>1</a:t>
            </a:fld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Text 0"/>
          <p:cNvSpPr/>
          <p:nvPr/>
        </p:nvSpPr>
        <p:spPr>
          <a:xfrm>
            <a:off x="380880" y="443520"/>
            <a:ext cx="11658240" cy="37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9000"/>
              </a:lnSpc>
              <a:tabLst>
                <a:tab pos="0" algn="l"/>
              </a:tabLst>
            </a:pPr>
            <a:r>
              <a:rPr lang="en-US" sz="239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SLIDE 99: Out of Scope</a:t>
            </a:r>
            <a:endParaRPr lang="en-US" sz="23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5" name="Text 1"/>
          <p:cNvSpPr/>
          <p:nvPr/>
        </p:nvSpPr>
        <p:spPr>
          <a:xfrm>
            <a:off x="380880" y="1013760"/>
            <a:ext cx="11429640" cy="5362200"/>
          </a:xfrm>
          <a:prstGeom prst="rect">
            <a:avLst/>
          </a:prstGeom>
          <a:solidFill>
            <a:srgbClr val="F4F4F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6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━━━━━━━━━━━━━━━━━━━━━━━━━━━━━━━━━━━━━━━━━━━━━━━━━━━━━━━━━━━━━━━━━━━━━━━━━</a:t>
            </a:r>
            <a:endParaRPr lang="en-US" sz="8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8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6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   OUT OF SCOPE</a:t>
            </a:r>
            <a:endParaRPr lang="en-US" sz="8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8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6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WHAT WE'RE NOT BUILDING</a:t>
            </a:r>
            <a:endParaRPr lang="en-US" sz="8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6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IN THIS VERSION:</a:t>
            </a:r>
            <a:endParaRPr lang="en-US" sz="8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8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6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┌─────────────────────────────────────┐</a:t>
            </a:r>
            <a:endParaRPr lang="en-US" sz="8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6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✗ Shared goals                    │</a:t>
            </a:r>
            <a:endParaRPr lang="en-US" sz="8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6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  (multiple users on one goal)    │</a:t>
            </a:r>
            <a:endParaRPr lang="en-US" sz="8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6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└─────────────────────────────────────┘</a:t>
            </a:r>
            <a:endParaRPr lang="en-US" sz="8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8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6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┌─────────────────────────────────────┐</a:t>
            </a:r>
            <a:endParaRPr lang="en-US" sz="8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6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✗ AI-powered goal suggestions     │</a:t>
            </a:r>
            <a:endParaRPr lang="en-US" sz="8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6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  (deferred to V2)                │</a:t>
            </a:r>
            <a:endParaRPr lang="en-US" sz="8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6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└─────────────────────────────────────┘</a:t>
            </a:r>
            <a:endParaRPr lang="en-US" sz="8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8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6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┌─────────────────────────────────────┐</a:t>
            </a:r>
            <a:endParaRPr lang="en-US" sz="8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6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✗ Goal templates                  │</a:t>
            </a:r>
            <a:endParaRPr lang="en-US" sz="8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6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  (pre-set goals)                 │</a:t>
            </a:r>
            <a:endParaRPr lang="en-US" sz="8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6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└─────────────────────────────────────┘</a:t>
            </a:r>
            <a:endParaRPr lang="en-US" sz="8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8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6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┌─────────────────────────────────────┐</a:t>
            </a:r>
            <a:endParaRPr lang="en-US" sz="8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6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✗ Gamification                    │</a:t>
            </a:r>
            <a:endParaRPr lang="en-US" sz="8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6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  (achievements, challenges)      │</a:t>
            </a:r>
            <a:endParaRPr lang="en-US" sz="8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6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└─────────────────────────────────────┘</a:t>
            </a:r>
            <a:endParaRPr lang="en-US" sz="8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8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6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┌─────────────────────────────────────┐</a:t>
            </a:r>
            <a:endParaRPr lang="en-US" sz="8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6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✗ Investment goals                │</a:t>
            </a:r>
            <a:endParaRPr lang="en-US" sz="8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6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  (out of scope)                  │</a:t>
            </a:r>
            <a:endParaRPr lang="en-US" sz="8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6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└─────────────────────────────────────┘</a:t>
            </a:r>
            <a:endParaRPr lang="en-US" sz="8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8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6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─────────────────────────────────────</a:t>
            </a:r>
            <a:endParaRPr lang="en-US" sz="8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8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6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DEFINING OUT OF SCOPE PREVENTS</a:t>
            </a:r>
            <a:endParaRPr lang="en-US" sz="8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6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SCOPE CREEP AND MANAGES</a:t>
            </a:r>
            <a:endParaRPr lang="en-US" sz="8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6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EXPECTATIONS.</a:t>
            </a:r>
            <a:endParaRPr lang="en-US" sz="8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8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6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━━━━━━━━━━━━━━━━━━━━━━━━━━━━━━━━━━━━━━━━━━━━━━━━━━━━━━━━━━━━━━━━━━━━━━━━━</a:t>
            </a:r>
            <a:endParaRPr lang="en-US" sz="8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6" name="PlaceHolder 1"/>
          <p:cNvSpPr>
            <a:spLocks noGrp="1"/>
          </p:cNvSpPr>
          <p:nvPr>
            <p:ph type="sldNum" idx="112"/>
          </p:nvPr>
        </p:nvSpPr>
        <p:spPr>
          <a:xfrm>
            <a:off x="0" y="6343560"/>
            <a:ext cx="11810520" cy="22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350" b="0" u="none" strike="noStrike">
                <a:solidFill>
                  <a:srgbClr val="777777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818C61F-3022-438E-A4B3-08884206A0B8}" type="slidenum">
              <a:rPr lang="en-US" sz="1350" b="0" u="none" strike="noStrike">
                <a:solidFill>
                  <a:srgbClr val="777777"/>
                </a:solidFill>
                <a:effectLst/>
                <a:uFillTx/>
                <a:latin typeface="Calibri"/>
              </a:rPr>
              <a:t>1</a:t>
            </a:fld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Text 0"/>
          <p:cNvSpPr/>
          <p:nvPr/>
        </p:nvSpPr>
        <p:spPr>
          <a:xfrm>
            <a:off x="380880" y="443520"/>
            <a:ext cx="11658240" cy="37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9000"/>
              </a:lnSpc>
              <a:tabLst>
                <a:tab pos="0" algn="l"/>
              </a:tabLst>
            </a:pPr>
            <a:r>
              <a:rPr lang="en-US" sz="239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SLIDE 100: Success Metrics for PRD</a:t>
            </a:r>
            <a:endParaRPr lang="en-US" sz="23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8" name="Text 1"/>
          <p:cNvSpPr/>
          <p:nvPr/>
        </p:nvSpPr>
        <p:spPr>
          <a:xfrm>
            <a:off x="380880" y="1013760"/>
            <a:ext cx="11429640" cy="5362200"/>
          </a:xfrm>
          <a:prstGeom prst="rect">
            <a:avLst/>
          </a:prstGeom>
          <a:solidFill>
            <a:srgbClr val="F4F4F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9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━━━━━━━━━━━━━━━━━━━━━━━━━━━━━━━━━━━━━━━━━━━━━━━━━━━━━━━━━━━━━━━━━━━━━━━━━</a:t>
            </a:r>
            <a:endParaRPr lang="en-US" sz="13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3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9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   SUCCESS METRICS FOR PRD</a:t>
            </a:r>
            <a:endParaRPr lang="en-US" sz="13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3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9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NORTH STAR METRIC:</a:t>
            </a:r>
            <a:endParaRPr lang="en-US" sz="13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9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"Weekly Active Users with a Goal"</a:t>
            </a:r>
            <a:endParaRPr lang="en-US" sz="13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3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9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PRIMARY METRICS:</a:t>
            </a:r>
            <a:endParaRPr lang="en-US" sz="13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9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• Goal-setting adoption: 50%</a:t>
            </a:r>
            <a:endParaRPr lang="en-US" sz="13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9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• Goal completion rate: 20%</a:t>
            </a:r>
            <a:endParaRPr lang="en-US" sz="13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9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• User satisfaction: 4.5+/5</a:t>
            </a:r>
            <a:endParaRPr lang="en-US" sz="13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3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9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SECONDARY METRICS:</a:t>
            </a:r>
            <a:endParaRPr lang="en-US" sz="13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9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• Weekly active users: 10% → 30%</a:t>
            </a:r>
            <a:endParaRPr lang="en-US" sz="13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9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• Session depth: 5+ screens/session</a:t>
            </a:r>
            <a:endParaRPr lang="en-US" sz="13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9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• Referral rate: 2x uplift</a:t>
            </a:r>
            <a:endParaRPr lang="en-US" sz="13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3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9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COUNTER-METRICS:</a:t>
            </a:r>
            <a:endParaRPr lang="en-US" sz="13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9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• User churn: should not increase</a:t>
            </a:r>
            <a:endParaRPr lang="en-US" sz="13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9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  for non-goal users</a:t>
            </a:r>
            <a:endParaRPr lang="en-US" sz="13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9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• Performance: should not slow down</a:t>
            </a:r>
            <a:endParaRPr lang="en-US" sz="13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9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• Onboarding: should not decrease</a:t>
            </a:r>
            <a:endParaRPr lang="en-US" sz="13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3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9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━━━━━━━━━━━━━━━━━━━━━━━━━━━━━━━━━━━━━━━━━━━━━━━━━━━━━━━━━━━━━━━━━━━━━━━━━</a:t>
            </a:r>
            <a:endParaRPr lang="en-US" sz="13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9" name="PlaceHolder 1"/>
          <p:cNvSpPr>
            <a:spLocks noGrp="1"/>
          </p:cNvSpPr>
          <p:nvPr>
            <p:ph type="sldNum" idx="113"/>
          </p:nvPr>
        </p:nvSpPr>
        <p:spPr>
          <a:xfrm>
            <a:off x="0" y="6343560"/>
            <a:ext cx="11810520" cy="22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350" b="0" u="none" strike="noStrike">
                <a:solidFill>
                  <a:srgbClr val="777777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7499E36-CBC3-40E2-B801-7C81529D4D53}" type="slidenum">
              <a:rPr lang="en-US" sz="1350" b="0" u="none" strike="noStrike">
                <a:solidFill>
                  <a:srgbClr val="777777"/>
                </a:solidFill>
                <a:effectLst/>
                <a:uFillTx/>
                <a:latin typeface="Calibri"/>
              </a:rPr>
              <a:t>1</a:t>
            </a:fld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Text 0"/>
          <p:cNvSpPr/>
          <p:nvPr/>
        </p:nvSpPr>
        <p:spPr>
          <a:xfrm>
            <a:off x="380880" y="443520"/>
            <a:ext cx="11658240" cy="37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9000"/>
              </a:lnSpc>
              <a:tabLst>
                <a:tab pos="0" algn="l"/>
              </a:tabLst>
            </a:pPr>
            <a:r>
              <a:rPr lang="en-US" sz="239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SLIDE 101: PRD Best Practices</a:t>
            </a:r>
            <a:endParaRPr lang="en-US" sz="23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1" name="Text 1"/>
          <p:cNvSpPr/>
          <p:nvPr/>
        </p:nvSpPr>
        <p:spPr>
          <a:xfrm>
            <a:off x="380880" y="1013760"/>
            <a:ext cx="11429640" cy="5362200"/>
          </a:xfrm>
          <a:prstGeom prst="rect">
            <a:avLst/>
          </a:prstGeom>
          <a:solidFill>
            <a:srgbClr val="F4F4F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8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━━━━━━━━━━━━━━━━━━━━━━━━━━━━━━━━━━━━━━━━━━━━━━━━━━━━━━━━━━━━━━━━━━━━━━━━━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8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   PRD BEST PRACTICES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8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┌─────────────────────────────────────┐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8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DO                               │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8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• Write for your audience        │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8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  (engineering, design, QA)      │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8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• Be specific and testable       │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8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• Include edge cases             │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8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• Define success metrics         │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8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• State what's out of scope      │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8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• Get buy-in before building     │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8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└─────────────────────────────────────┘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8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┌─────────────────────────────────────┐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8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DON'T                            │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8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• Write for yourself only        │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8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• Be vague or ambiguous          │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8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• Only include the happy path    │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8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• Ship without metrics           │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8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• Let scope creep happen        │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8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• Surprise stakeholders          │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8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└─────────────────────────────────────┘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8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━━━━━━━━━━━━━━━━━━━━━━━━━━━━━━━━━━━━━━━━━━━━━━━━━━━━━━━━━━━━━━━━━━━━━━━━━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2" name="PlaceHolder 1"/>
          <p:cNvSpPr>
            <a:spLocks noGrp="1"/>
          </p:cNvSpPr>
          <p:nvPr>
            <p:ph type="sldNum" idx="114"/>
          </p:nvPr>
        </p:nvSpPr>
        <p:spPr>
          <a:xfrm>
            <a:off x="0" y="6343560"/>
            <a:ext cx="11810520" cy="22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350" b="0" u="none" strike="noStrike">
                <a:solidFill>
                  <a:srgbClr val="777777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8C693C6-5471-4F59-90ED-88FAA934407F}" type="slidenum">
              <a:rPr lang="en-US" sz="1350" b="0" u="none" strike="noStrike">
                <a:solidFill>
                  <a:srgbClr val="777777"/>
                </a:solidFill>
                <a:effectLst/>
                <a:uFillTx/>
                <a:latin typeface="Calibri"/>
              </a:rPr>
              <a:t>1</a:t>
            </a:fld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Text 0"/>
          <p:cNvSpPr/>
          <p:nvPr/>
        </p:nvSpPr>
        <p:spPr>
          <a:xfrm>
            <a:off x="380880" y="443520"/>
            <a:ext cx="11658240" cy="37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9000"/>
              </a:lnSpc>
              <a:tabLst>
                <a:tab pos="0" algn="l"/>
              </a:tabLst>
            </a:pPr>
            <a:r>
              <a:rPr lang="en-US" sz="239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SLIDE 102: PRD Review Checklist</a:t>
            </a:r>
            <a:endParaRPr lang="en-US" sz="23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4" name="Text 1"/>
          <p:cNvSpPr/>
          <p:nvPr/>
        </p:nvSpPr>
        <p:spPr>
          <a:xfrm>
            <a:off x="380880" y="1013760"/>
            <a:ext cx="11429640" cy="5362200"/>
          </a:xfrm>
          <a:prstGeom prst="rect">
            <a:avLst/>
          </a:prstGeom>
          <a:solidFill>
            <a:srgbClr val="F4F4F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━━━━━━━━━━━━━━━━━━━━━━━━━━━━━━━━━━━━━━━━━━━━━━━━━━━━━━━━━━━━━━━━━━━━━━━━━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   PRD REVIEW CHECKLIST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BEFORE SUBMITTING: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□ Problem statement is clear and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  grounded in research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□ User stories are complete and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  testable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□ Success metrics are measurable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□ Requirements are specific and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  complete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□ Technical constraints are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  identified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□ Design guidelines are established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□ Out of scope is clearly defined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□ Dependencies and risks are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  addressed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□ Stakeholders have reviewed and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  approved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─────────────────────────────────────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A PRD IS A CONVERSATION STARTER,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NOT A CONTRACT.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━━━━━━━━━━━━━━━━━━━━━━━━━━━━━━━━━━━━━━━━━━━━━━━━━━━━━━━━━━━━━━━━━━━━━━━━━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5" name="PlaceHolder 1"/>
          <p:cNvSpPr>
            <a:spLocks noGrp="1"/>
          </p:cNvSpPr>
          <p:nvPr>
            <p:ph type="sldNum" idx="115"/>
          </p:nvPr>
        </p:nvSpPr>
        <p:spPr>
          <a:xfrm>
            <a:off x="0" y="6343560"/>
            <a:ext cx="11810520" cy="22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350" b="0" u="none" strike="noStrike">
                <a:solidFill>
                  <a:srgbClr val="777777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6272D76-7293-4668-B0F4-F065064F88BE}" type="slidenum">
              <a:rPr lang="en-US" sz="1350" b="0" u="none" strike="noStrike">
                <a:solidFill>
                  <a:srgbClr val="777777"/>
                </a:solidFill>
                <a:effectLst/>
                <a:uFillTx/>
                <a:latin typeface="Calibri"/>
              </a:rPr>
              <a:t>1</a:t>
            </a:fld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Text 0"/>
          <p:cNvSpPr/>
          <p:nvPr/>
        </p:nvSpPr>
        <p:spPr>
          <a:xfrm>
            <a:off x="380880" y="443520"/>
            <a:ext cx="11658240" cy="37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9000"/>
              </a:lnSpc>
              <a:tabLst>
                <a:tab pos="0" algn="l"/>
              </a:tabLst>
            </a:pPr>
            <a:r>
              <a:rPr lang="en-US" sz="239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SLIDE 103: Part 7 Recap</a:t>
            </a:r>
            <a:endParaRPr lang="en-US" sz="23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7" name="Text 1"/>
          <p:cNvSpPr/>
          <p:nvPr/>
        </p:nvSpPr>
        <p:spPr>
          <a:xfrm>
            <a:off x="380880" y="1013760"/>
            <a:ext cx="11429640" cy="5362200"/>
          </a:xfrm>
          <a:prstGeom prst="rect">
            <a:avLst/>
          </a:prstGeom>
          <a:solidFill>
            <a:srgbClr val="F4F4F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━━━━━━━━━━━━━━━━━━━━━━━━━━━━━━━━━━━━━━━━━━━━━━━━━━━━━━━━━━━━━━━━━━━━━━━━━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   PART 7 RECAP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┌─────────────────────────────────────┐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What you learned:                 │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                                  │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✓ What a PRD is                   │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✓ PRD structure                   │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✓ User stories                    │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✓ Acceptance criteria             │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✓ Out of scope                    │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✓ PRD best practices              │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└─────────────────────────────────────┘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───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Portfolio Tracker: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[ ] Created prd-goal-setting.md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[ ] Created user-stories-goal-setting.md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[ ] Created user-flow-goal-setting.md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━━━━━━━━━━━━━━━━━━━━━━━━━━━━━━━━━━━━━━━━━━━━━━━━━━━━━━━━━━━━━━━━━━━━━━━━━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8" name="PlaceHolder 1"/>
          <p:cNvSpPr>
            <a:spLocks noGrp="1"/>
          </p:cNvSpPr>
          <p:nvPr>
            <p:ph type="sldNum" idx="116"/>
          </p:nvPr>
        </p:nvSpPr>
        <p:spPr>
          <a:xfrm>
            <a:off x="0" y="6343560"/>
            <a:ext cx="11810520" cy="22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350" b="0" u="none" strike="noStrike">
                <a:solidFill>
                  <a:srgbClr val="777777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BC55333-070E-4022-807F-FC1C54DA31F0}" type="slidenum">
              <a:rPr lang="en-US" sz="1350" b="0" u="none" strike="noStrike">
                <a:solidFill>
                  <a:srgbClr val="777777"/>
                </a:solidFill>
                <a:effectLst/>
                <a:uFillTx/>
                <a:latin typeface="Calibri"/>
              </a:rPr>
              <a:t>1</a:t>
            </a:fld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Text 0"/>
          <p:cNvSpPr/>
          <p:nvPr/>
        </p:nvSpPr>
        <p:spPr>
          <a:xfrm>
            <a:off x="380880" y="443520"/>
            <a:ext cx="11658240" cy="37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9000"/>
              </a:lnSpc>
              <a:tabLst>
                <a:tab pos="0" algn="l"/>
              </a:tabLst>
            </a:pPr>
            <a:r>
              <a:rPr lang="en-US" sz="239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SLIDE 104: What's Next</a:t>
            </a:r>
            <a:endParaRPr lang="en-US" sz="23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0" name="Text 1"/>
          <p:cNvSpPr/>
          <p:nvPr/>
        </p:nvSpPr>
        <p:spPr>
          <a:xfrm>
            <a:off x="380880" y="1013760"/>
            <a:ext cx="11429640" cy="5362200"/>
          </a:xfrm>
          <a:prstGeom prst="rect">
            <a:avLst/>
          </a:prstGeom>
          <a:solidFill>
            <a:srgbClr val="F4F4F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2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━━━━━━━━━━━━━━━━━━━━━━━━━━━━━━━━━━━━━━━━━━━━━━━━━━━━━━━━━━━━━━━━━━━━━━━━━</a:t>
            </a:r>
            <a:endParaRPr lang="en-US" sz="172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72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2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   WHAT'S NEXT</a:t>
            </a:r>
            <a:endParaRPr lang="en-US" sz="172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72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2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┌─────────────────────────────────────┐</a:t>
            </a:r>
            <a:endParaRPr lang="en-US" sz="172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2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PART 8                            │</a:t>
            </a:r>
            <a:endParaRPr lang="en-US" sz="172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2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Working with Engineering          │</a:t>
            </a:r>
            <a:endParaRPr lang="en-US" sz="172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2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                                  │</a:t>
            </a:r>
            <a:endParaRPr lang="en-US" sz="172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2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• Agile development               │</a:t>
            </a:r>
            <a:endParaRPr lang="en-US" sz="172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2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• Sprint planning                 │</a:t>
            </a:r>
            <a:endParaRPr lang="en-US" sz="172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2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• The PM-engineering partnership  │</a:t>
            </a:r>
            <a:endParaRPr lang="en-US" sz="172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2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• Managing scope                  │</a:t>
            </a:r>
            <a:endParaRPr lang="en-US" sz="172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2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└─────────────────────────────────────┘</a:t>
            </a:r>
            <a:endParaRPr lang="en-US" sz="172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72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2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───</a:t>
            </a:r>
            <a:endParaRPr lang="en-US" sz="172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72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2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Next session: From PRD to product.</a:t>
            </a:r>
            <a:endParaRPr lang="en-US" sz="172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72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2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━━━━━━━━━━━━━━━━━━━━━━━━━━━━━━━━━━━━━━━━━━━━━━━━━━━━━━━━━━━━━━━━━━━━━━━━━</a:t>
            </a:r>
            <a:endParaRPr lang="en-US" sz="172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1" name="PlaceHolder 1"/>
          <p:cNvSpPr>
            <a:spLocks noGrp="1"/>
          </p:cNvSpPr>
          <p:nvPr>
            <p:ph type="sldNum" idx="117"/>
          </p:nvPr>
        </p:nvSpPr>
        <p:spPr>
          <a:xfrm>
            <a:off x="0" y="6343560"/>
            <a:ext cx="11810520" cy="22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350" b="0" u="none" strike="noStrike">
                <a:solidFill>
                  <a:srgbClr val="777777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B5DEF79-BF99-4126-ABA2-7BEA845447A2}" type="slidenum">
              <a:rPr lang="en-US" sz="1350" b="0" u="none" strike="noStrike">
                <a:solidFill>
                  <a:srgbClr val="777777"/>
                </a:solidFill>
                <a:effectLst/>
                <a:uFillTx/>
                <a:latin typeface="Calibri"/>
              </a:rPr>
              <a:t>1</a:t>
            </a:fld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Text 0"/>
          <p:cNvSpPr/>
          <p:nvPr/>
        </p:nvSpPr>
        <p:spPr>
          <a:xfrm>
            <a:off x="380880" y="2713320"/>
            <a:ext cx="11658240" cy="55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107640" anchor="t">
            <a:noAutofit/>
          </a:bodyPr>
          <a:p>
            <a:pPr defTabSz="914400">
              <a:lnSpc>
                <a:spcPct val="109000"/>
              </a:lnSpc>
              <a:tabLst>
                <a:tab pos="0" algn="l"/>
              </a:tabLst>
            </a:pPr>
            <a:r>
              <a:rPr lang="en-US" sz="283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PART 8: WORKING WITH ENGINEERING</a:t>
            </a:r>
            <a:endParaRPr lang="en-US" sz="28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3" name="Text 1"/>
          <p:cNvSpPr/>
          <p:nvPr/>
        </p:nvSpPr>
        <p:spPr>
          <a:xfrm>
            <a:off x="380880" y="3498480"/>
            <a:ext cx="11658240" cy="55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107640" anchor="t">
            <a:noAutofit/>
          </a:bodyPr>
          <a:p>
            <a:pPr defTabSz="914400">
              <a:lnSpc>
                <a:spcPct val="109000"/>
              </a:lnSpc>
              <a:tabLst>
                <a:tab pos="0" algn="l"/>
              </a:tabLst>
            </a:pPr>
            <a:r>
              <a:rPr lang="en-US" sz="283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Slides 105-130</a:t>
            </a:r>
            <a:endParaRPr lang="en-US" sz="28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4" name="PlaceHolder 1"/>
          <p:cNvSpPr>
            <a:spLocks noGrp="1"/>
          </p:cNvSpPr>
          <p:nvPr>
            <p:ph type="sldNum" idx="118"/>
          </p:nvPr>
        </p:nvSpPr>
        <p:spPr>
          <a:xfrm>
            <a:off x="0" y="6343560"/>
            <a:ext cx="11810520" cy="22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350" b="0" u="none" strike="noStrike">
                <a:solidFill>
                  <a:srgbClr val="777777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2349A8E-FB85-4A0B-9317-9D8C7A453EF4}" type="slidenum">
              <a:rPr lang="en-US" sz="1350" b="0" u="none" strike="noStrike">
                <a:solidFill>
                  <a:srgbClr val="777777"/>
                </a:solidFill>
                <a:effectLst/>
                <a:uFillTx/>
                <a:latin typeface="Calibri"/>
              </a:rPr>
              <a:t>1</a:t>
            </a:fld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Text 0"/>
          <p:cNvSpPr/>
          <p:nvPr/>
        </p:nvSpPr>
        <p:spPr>
          <a:xfrm>
            <a:off x="380880" y="800640"/>
            <a:ext cx="11658240" cy="37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9000"/>
              </a:lnSpc>
              <a:tabLst>
                <a:tab pos="0" algn="l"/>
              </a:tabLst>
            </a:pPr>
            <a:r>
              <a:rPr lang="en-US" sz="239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SLIDE 105: Part 8 Title</a:t>
            </a:r>
            <a:endParaRPr lang="en-US" sz="23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6" name="Text 1"/>
          <p:cNvSpPr/>
          <p:nvPr/>
        </p:nvSpPr>
        <p:spPr>
          <a:xfrm>
            <a:off x="380880" y="1370880"/>
            <a:ext cx="11429640" cy="4647960"/>
          </a:xfrm>
          <a:prstGeom prst="rect">
            <a:avLst/>
          </a:prstGeom>
          <a:solidFill>
            <a:srgbClr val="F4F4F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━━━━━━━━━━━━━━━━━━━━━━━━━━━━━━━━━━━━━━━━━━━━━━━━━━━━━━━━━━━━━━━━━━━━━━━━━</a:t>
            </a:r>
            <a:endParaRPr lang="en-US" sz="1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   PART 8</a:t>
            </a:r>
            <a:endParaRPr lang="en-US" sz="1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   WORKING WITH</a:t>
            </a:r>
            <a:endParaRPr lang="en-US" sz="1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   ENGINEERING</a:t>
            </a:r>
            <a:endParaRPr lang="en-US" sz="1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From PRD to Working Product</a:t>
            </a:r>
            <a:endParaRPr lang="en-US" sz="1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───</a:t>
            </a:r>
            <a:endParaRPr lang="en-US" sz="1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"Build the simplest thing that</a:t>
            </a:r>
            <a:endParaRPr lang="en-US" sz="1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could possibly work, ship it,</a:t>
            </a:r>
            <a:endParaRPr lang="en-US" sz="1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and learn from what happens next."</a:t>
            </a:r>
            <a:endParaRPr lang="en-US" sz="1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━━━━━━━━━━━━━━━━━━━━━━━━━━━━━━━━━━━━━━━━━━━━━━━━━━━━━━━━━━━━━━━━━━━━━━━━━</a:t>
            </a:r>
            <a:endParaRPr lang="en-US" sz="1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7" name="PlaceHolder 1"/>
          <p:cNvSpPr>
            <a:spLocks noGrp="1"/>
          </p:cNvSpPr>
          <p:nvPr>
            <p:ph type="sldNum" idx="119"/>
          </p:nvPr>
        </p:nvSpPr>
        <p:spPr>
          <a:xfrm>
            <a:off x="0" y="6343560"/>
            <a:ext cx="11810520" cy="22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350" b="0" u="none" strike="noStrike">
                <a:solidFill>
                  <a:srgbClr val="777777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C9A261A-A93D-4556-A609-C682B6C6A890}" type="slidenum">
              <a:rPr lang="en-US" sz="1350" b="0" u="none" strike="noStrike">
                <a:solidFill>
                  <a:srgbClr val="777777"/>
                </a:solidFill>
                <a:effectLst/>
                <a:uFillTx/>
                <a:latin typeface="Calibri"/>
              </a:rPr>
              <a:t>1</a:t>
            </a:fld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Text 0"/>
          <p:cNvSpPr/>
          <p:nvPr/>
        </p:nvSpPr>
        <p:spPr>
          <a:xfrm>
            <a:off x="380880" y="443520"/>
            <a:ext cx="11658240" cy="37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9000"/>
              </a:lnSpc>
              <a:tabLst>
                <a:tab pos="0" algn="l"/>
              </a:tabLst>
            </a:pPr>
            <a:r>
              <a:rPr lang="en-US" sz="239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SLIDE 106: The PM-Engineering Partnership</a:t>
            </a:r>
            <a:endParaRPr lang="en-US" sz="23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9" name="Text 1"/>
          <p:cNvSpPr/>
          <p:nvPr/>
        </p:nvSpPr>
        <p:spPr>
          <a:xfrm>
            <a:off x="380880" y="1013760"/>
            <a:ext cx="11429640" cy="5362200"/>
          </a:xfrm>
          <a:prstGeom prst="rect">
            <a:avLst/>
          </a:prstGeom>
          <a:solidFill>
            <a:srgbClr val="F4F4F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3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━━━━━━━━━━━━━━━━━━━━━━━━━━━━━━━━━━━━━━━━━━━━━━━━━━━━━━━━━━━━━━━━━━━━━━━━━</a:t>
            </a:r>
            <a:endParaRPr lang="en-US" sz="9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9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3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   THE PM-ENGINEERING PARTNERSHIP</a:t>
            </a:r>
            <a:endParaRPr lang="en-US" sz="9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9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3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┌─────────────────────────────────────┐</a:t>
            </a:r>
            <a:endParaRPr lang="en-US" sz="9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3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SHARED GOALS                      │</a:t>
            </a:r>
            <a:endParaRPr lang="en-US" sz="9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3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• Ship a great product            │</a:t>
            </a:r>
            <a:endParaRPr lang="en-US" sz="9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3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• Hit our metrics                 │</a:t>
            </a:r>
            <a:endParaRPr lang="en-US" sz="9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3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• Build sustainably               │</a:t>
            </a:r>
            <a:endParaRPr lang="en-US" sz="9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3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└─────────────────────────────────────┘</a:t>
            </a:r>
            <a:endParaRPr lang="en-US" sz="9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9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3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┌─────────────────────────────────────┐</a:t>
            </a:r>
            <a:endParaRPr lang="en-US" sz="9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3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PM                               │</a:t>
            </a:r>
            <a:endParaRPr lang="en-US" sz="9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3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• Defines the "what"             │</a:t>
            </a:r>
            <a:endParaRPr lang="en-US" sz="9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3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• Understands the user            │</a:t>
            </a:r>
            <a:endParaRPr lang="en-US" sz="9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3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• Prioritizes features            │</a:t>
            </a:r>
            <a:endParaRPr lang="en-US" sz="9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3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• Writes requirements             │</a:t>
            </a:r>
            <a:endParaRPr lang="en-US" sz="9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3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└─────────────────────────────────────┘</a:t>
            </a:r>
            <a:endParaRPr lang="en-US" sz="9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9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3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┌─────────────────────────────────────┐</a:t>
            </a:r>
            <a:endParaRPr lang="en-US" sz="9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3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ENGINEERING                       │</a:t>
            </a:r>
            <a:endParaRPr lang="en-US" sz="9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3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• Defines the "how"              │</a:t>
            </a:r>
            <a:endParaRPr lang="en-US" sz="9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3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• Understands the technology      │</a:t>
            </a:r>
            <a:endParaRPr lang="en-US" sz="9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3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• Suggests alternatives           │</a:t>
            </a:r>
            <a:endParaRPr lang="en-US" sz="9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3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• Estimates effort                │</a:t>
            </a:r>
            <a:endParaRPr lang="en-US" sz="9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3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└─────────────────────────────────────┘</a:t>
            </a:r>
            <a:endParaRPr lang="en-US" sz="9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9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3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─────────────────────────────────────</a:t>
            </a:r>
            <a:endParaRPr lang="en-US" sz="9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9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3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COLLABORATION POINTS:</a:t>
            </a:r>
            <a:endParaRPr lang="en-US" sz="9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3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• Sprint planning</a:t>
            </a:r>
            <a:endParaRPr lang="en-US" sz="9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3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• Daily standups</a:t>
            </a:r>
            <a:endParaRPr lang="en-US" sz="9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3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• Refinement sessions</a:t>
            </a:r>
            <a:endParaRPr lang="en-US" sz="9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3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• Technical design reviews</a:t>
            </a:r>
            <a:endParaRPr lang="en-US" sz="9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9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3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━━━━━━━━━━━━━━━━━━━━━━━━━━━━━━━━━━━━━━━━━━━━━━━━━━━━━━━━━━━━━━━━━━━━━━━━━</a:t>
            </a:r>
            <a:endParaRPr lang="en-US" sz="9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0" name="PlaceHolder 1"/>
          <p:cNvSpPr>
            <a:spLocks noGrp="1"/>
          </p:cNvSpPr>
          <p:nvPr>
            <p:ph type="sldNum" idx="120"/>
          </p:nvPr>
        </p:nvSpPr>
        <p:spPr>
          <a:xfrm>
            <a:off x="0" y="6343560"/>
            <a:ext cx="11810520" cy="22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350" b="0" u="none" strike="noStrike">
                <a:solidFill>
                  <a:srgbClr val="777777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C9D4381-6668-4FF3-B759-5352370F3877}" type="slidenum">
              <a:rPr lang="en-US" sz="1350" b="0" u="none" strike="noStrike">
                <a:solidFill>
                  <a:srgbClr val="777777"/>
                </a:solidFill>
                <a:effectLst/>
                <a:uFillTx/>
                <a:latin typeface="Calibri"/>
              </a:rPr>
              <a:t>1</a:t>
            </a:fld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Text 0"/>
          <p:cNvSpPr/>
          <p:nvPr/>
        </p:nvSpPr>
        <p:spPr>
          <a:xfrm>
            <a:off x="380880" y="443520"/>
            <a:ext cx="11658240" cy="37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9000"/>
              </a:lnSpc>
              <a:tabLst>
                <a:tab pos="0" algn="l"/>
              </a:tabLst>
            </a:pPr>
            <a:r>
              <a:rPr lang="en-US" sz="239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SLIDE 107: What Engineers Wish PMs Knew</a:t>
            </a:r>
            <a:endParaRPr lang="en-US" sz="23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2" name="Text 1"/>
          <p:cNvSpPr/>
          <p:nvPr/>
        </p:nvSpPr>
        <p:spPr>
          <a:xfrm>
            <a:off x="380880" y="1013760"/>
            <a:ext cx="11429640" cy="5362200"/>
          </a:xfrm>
          <a:prstGeom prst="rect">
            <a:avLst/>
          </a:prstGeom>
          <a:solidFill>
            <a:srgbClr val="F4F4F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3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━━━━━━━━━━━━━━━━━━━━━━━━━━━━━━━━━━━━━━━━━━━━━━━━━━━━━━━━━━━━━━━━━━━━━━━━━</a:t>
            </a:r>
            <a:endParaRPr lang="en-US" sz="13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3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3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   WHAT ENGINEERS WISH PMS KNEW</a:t>
            </a:r>
            <a:endParaRPr lang="en-US" sz="13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3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3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1. "WE WANT CLARITY, NOT PERFECTION"</a:t>
            </a:r>
            <a:endParaRPr lang="en-US" sz="13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3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   Don't wait for the perfect PRD.</a:t>
            </a:r>
            <a:endParaRPr lang="en-US" sz="13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3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   Give us enough to start.</a:t>
            </a:r>
            <a:endParaRPr lang="en-US" sz="13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3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3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2. "WE RESPECT YOUR DOMAIN"</a:t>
            </a:r>
            <a:endParaRPr lang="en-US" sz="13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3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   We trust you to define the "what."</a:t>
            </a:r>
            <a:endParaRPr lang="en-US" sz="13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3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   Trust us to define the "how."</a:t>
            </a:r>
            <a:endParaRPr lang="en-US" sz="13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3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3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3. "WE HATE SURPRISES"</a:t>
            </a:r>
            <a:endParaRPr lang="en-US" sz="13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3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   If you're going to change the</a:t>
            </a:r>
            <a:endParaRPr lang="en-US" sz="13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3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   scope, tell us ASAP.</a:t>
            </a:r>
            <a:endParaRPr lang="en-US" sz="13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3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3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4. "WE WANT TO BE INVOLVED EARLY"</a:t>
            </a:r>
            <a:endParaRPr lang="en-US" sz="13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3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   Include us in discovery and</a:t>
            </a:r>
            <a:endParaRPr lang="en-US" sz="13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3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   strategy.</a:t>
            </a:r>
            <a:endParaRPr lang="en-US" sz="13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3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3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5. "WE WANT TO KNOW THE WHY"</a:t>
            </a:r>
            <a:endParaRPr lang="en-US" sz="13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3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   Tell us why this matters to users.</a:t>
            </a:r>
            <a:endParaRPr lang="en-US" sz="13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3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   It motivates us.</a:t>
            </a:r>
            <a:endParaRPr lang="en-US" sz="13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3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3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━━━━━━━━━━━━━━━━━━━━━━━━━━━━━━━━━━━━━━━━━━━━━━━━━━━━━━━━━━━━━━━━━━━━━━━━━</a:t>
            </a:r>
            <a:endParaRPr lang="en-US" sz="13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3" name="PlaceHolder 1"/>
          <p:cNvSpPr>
            <a:spLocks noGrp="1"/>
          </p:cNvSpPr>
          <p:nvPr>
            <p:ph type="sldNum" idx="121"/>
          </p:nvPr>
        </p:nvSpPr>
        <p:spPr>
          <a:xfrm>
            <a:off x="0" y="6343560"/>
            <a:ext cx="11810520" cy="22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350" b="0" u="none" strike="noStrike">
                <a:solidFill>
                  <a:srgbClr val="777777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9D3BDD3-9FC8-493F-8855-10A56B0DE326}" type="slidenum">
              <a:rPr lang="en-US" sz="1350" b="0" u="none" strike="noStrike">
                <a:solidFill>
                  <a:srgbClr val="777777"/>
                </a:solidFill>
                <a:effectLst/>
                <a:uFillTx/>
                <a:latin typeface="Calibri"/>
              </a:rPr>
              <a:t>1</a:t>
            </a:fld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Text 0"/>
          <p:cNvSpPr/>
          <p:nvPr/>
        </p:nvSpPr>
        <p:spPr>
          <a:xfrm>
            <a:off x="380880" y="443520"/>
            <a:ext cx="11658240" cy="37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9000"/>
              </a:lnSpc>
              <a:tabLst>
                <a:tab pos="0" algn="l"/>
              </a:tabLst>
            </a:pPr>
            <a:r>
              <a:rPr lang="en-US" sz="239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SLIDE 108: 5 Ways to Build Trust with Engineering</a:t>
            </a:r>
            <a:endParaRPr lang="en-US" sz="23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5" name="Text 1"/>
          <p:cNvSpPr/>
          <p:nvPr/>
        </p:nvSpPr>
        <p:spPr>
          <a:xfrm>
            <a:off x="380880" y="1013760"/>
            <a:ext cx="11429640" cy="5362200"/>
          </a:xfrm>
          <a:prstGeom prst="rect">
            <a:avLst/>
          </a:prstGeom>
          <a:solidFill>
            <a:srgbClr val="F4F4F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8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━━━━━━━━━━━━━━━━━━━━━━━━━━━━━━━━━━━━━━━━━━━━━━━━━━━━━━━━━━━━━━━━━━━━━━━━━</a:t>
            </a:r>
            <a:endParaRPr lang="en-US" sz="10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0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8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   5 WAYS TO BUILD TRUST WITH ENGINEERING</a:t>
            </a:r>
            <a:endParaRPr lang="en-US" sz="10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0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8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1. BE PREPARED</a:t>
            </a:r>
            <a:endParaRPr lang="en-US" sz="10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8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   Show up with clear requirements</a:t>
            </a:r>
            <a:endParaRPr lang="en-US" sz="10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8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   and context.</a:t>
            </a:r>
            <a:endParaRPr lang="en-US" sz="10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0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8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2. BE AVAILABLE</a:t>
            </a:r>
            <a:endParaRPr lang="en-US" sz="10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8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   Answer questions quickly to</a:t>
            </a:r>
            <a:endParaRPr lang="en-US" sz="10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8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   unblock the team.</a:t>
            </a:r>
            <a:endParaRPr lang="en-US" sz="10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0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8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3. BE HONEST</a:t>
            </a:r>
            <a:endParaRPr lang="en-US" sz="10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8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   Admit when you don't know</a:t>
            </a:r>
            <a:endParaRPr lang="en-US" sz="10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8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   something.</a:t>
            </a:r>
            <a:endParaRPr lang="en-US" sz="10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0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8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4. BE PROTECTIVE</a:t>
            </a:r>
            <a:endParaRPr lang="en-US" sz="10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8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   Shield the team from unnecessary</a:t>
            </a:r>
            <a:endParaRPr lang="en-US" sz="10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8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   distractions.</a:t>
            </a:r>
            <a:endParaRPr lang="en-US" sz="10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0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8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5. BE GRATEFUL</a:t>
            </a:r>
            <a:endParaRPr lang="en-US" sz="10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8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   Acknowledge their work and</a:t>
            </a:r>
            <a:endParaRPr lang="en-US" sz="10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8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   celebrate wins.</a:t>
            </a:r>
            <a:endParaRPr lang="en-US" sz="10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0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8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─────────────────────────────────────</a:t>
            </a:r>
            <a:endParaRPr lang="en-US" sz="10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0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8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"Your team won't follow you because</a:t>
            </a:r>
            <a:endParaRPr lang="en-US" sz="10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8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of your title. They'll follow you</a:t>
            </a:r>
            <a:endParaRPr lang="en-US" sz="10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8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because they trust you."</a:t>
            </a:r>
            <a:endParaRPr lang="en-US" sz="10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0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8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━━━━━━━━━━━━━━━━━━━━━━━━━━━━━━━━━━━━━━━━━━━━━━━━━━━━━━━━━━━━━━━━━━━━━━━━━</a:t>
            </a:r>
            <a:endParaRPr lang="en-US" sz="10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6" name="PlaceHolder 1"/>
          <p:cNvSpPr>
            <a:spLocks noGrp="1"/>
          </p:cNvSpPr>
          <p:nvPr>
            <p:ph type="sldNum" idx="122"/>
          </p:nvPr>
        </p:nvSpPr>
        <p:spPr>
          <a:xfrm>
            <a:off x="0" y="6343560"/>
            <a:ext cx="11810520" cy="22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350" b="0" u="none" strike="noStrike">
                <a:solidFill>
                  <a:srgbClr val="777777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6F5E231-1565-4444-BBC7-A64834EA4595}" type="slidenum">
              <a:rPr lang="en-US" sz="1350" b="0" u="none" strike="noStrike">
                <a:solidFill>
                  <a:srgbClr val="777777"/>
                </a:solidFill>
                <a:effectLst/>
                <a:uFillTx/>
                <a:latin typeface="Calibri"/>
              </a:rPr>
              <a:t>1</a:t>
            </a:fld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Text 0"/>
          <p:cNvSpPr/>
          <p:nvPr/>
        </p:nvSpPr>
        <p:spPr>
          <a:xfrm>
            <a:off x="380880" y="443520"/>
            <a:ext cx="11658240" cy="37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9000"/>
              </a:lnSpc>
              <a:tabLst>
                <a:tab pos="0" algn="l"/>
              </a:tabLst>
            </a:pPr>
            <a:r>
              <a:rPr lang="en-US" sz="239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SLIDE 109: Scrum at a Glance</a:t>
            </a:r>
            <a:endParaRPr lang="en-US" sz="23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8" name="Text 1"/>
          <p:cNvSpPr/>
          <p:nvPr/>
        </p:nvSpPr>
        <p:spPr>
          <a:xfrm>
            <a:off x="380880" y="1013760"/>
            <a:ext cx="11429640" cy="5362200"/>
          </a:xfrm>
          <a:prstGeom prst="rect">
            <a:avLst/>
          </a:prstGeom>
          <a:solidFill>
            <a:srgbClr val="F4F4F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8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━━━━━━━━━━━━━━━━━━━━━━━━━━━━━━━━━━━━━━━━━━━━━━━━━━━━━━━━━━━━━━━━━━━━━━━━━</a:t>
            </a:r>
            <a:endParaRPr lang="en-US" sz="8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8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8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   SCRUM AT A GLANCE</a:t>
            </a:r>
            <a:endParaRPr lang="en-US" sz="8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8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8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┌─────────────────────────────────────┐</a:t>
            </a:r>
            <a:endParaRPr lang="en-US" sz="8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8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BACKLOG                           │</a:t>
            </a:r>
            <a:endParaRPr lang="en-US" sz="8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8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• All the things we might build   │</a:t>
            </a:r>
            <a:endParaRPr lang="en-US" sz="8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8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• Prioritized by the PM           │</a:t>
            </a:r>
            <a:endParaRPr lang="en-US" sz="8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8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└─────────────────────────────────────┘</a:t>
            </a:r>
            <a:endParaRPr lang="en-US" sz="8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8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8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             ▼</a:t>
            </a:r>
            <a:endParaRPr lang="en-US" sz="8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8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8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┌─────────────────────────────────────┐</a:t>
            </a:r>
            <a:endParaRPr lang="en-US" sz="8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8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SPRINT PLANNING                   │</a:t>
            </a:r>
            <a:endParaRPr lang="en-US" sz="8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8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• Team commits to backlog items   │</a:t>
            </a:r>
            <a:endParaRPr lang="en-US" sz="8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8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• PM explains priorities          │</a:t>
            </a:r>
            <a:endParaRPr lang="en-US" sz="8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8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• Team estimates effort           │</a:t>
            </a:r>
            <a:endParaRPr lang="en-US" sz="8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8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└─────────────────────────────────────┘</a:t>
            </a:r>
            <a:endParaRPr lang="en-US" sz="8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8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8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             ▼</a:t>
            </a:r>
            <a:endParaRPr lang="en-US" sz="8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8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8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┌─────────────────────────────────────┐</a:t>
            </a:r>
            <a:endParaRPr lang="en-US" sz="8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8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SPRINT (1-2 weeks)                │</a:t>
            </a:r>
            <a:endParaRPr lang="en-US" sz="8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8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• Daily standups                  │</a:t>
            </a:r>
            <a:endParaRPr lang="en-US" sz="8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8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• Development happens             │</a:t>
            </a:r>
            <a:endParaRPr lang="en-US" sz="8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8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• PM is available for questions   │</a:t>
            </a:r>
            <a:endParaRPr lang="en-US" sz="8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8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└─────────────────────────────────────┘</a:t>
            </a:r>
            <a:endParaRPr lang="en-US" sz="8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8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8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             ▼</a:t>
            </a:r>
            <a:endParaRPr lang="en-US" sz="8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8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8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┌─────────────────────────────────────┐</a:t>
            </a:r>
            <a:endParaRPr lang="en-US" sz="8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8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SPRINT REVIEW                     │</a:t>
            </a:r>
            <a:endParaRPr lang="en-US" sz="8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8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• Demo what was built             │</a:t>
            </a:r>
            <a:endParaRPr lang="en-US" sz="8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8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• PM validates requirements       │</a:t>
            </a:r>
            <a:endParaRPr lang="en-US" sz="8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8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• Stakeholders provide feedback   │</a:t>
            </a:r>
            <a:endParaRPr lang="en-US" sz="8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8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└─────────────────────────────────────┘</a:t>
            </a:r>
            <a:endParaRPr lang="en-US" sz="8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8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8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━━━━━━━━━━━━━━━━━━━━━━━━━━━━━━━━━━━━━━━━━━━━━━━━━━━━━━━━━━━━━━━━━━━━━━━━━</a:t>
            </a:r>
            <a:endParaRPr lang="en-US" sz="8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9" name="PlaceHolder 1"/>
          <p:cNvSpPr>
            <a:spLocks noGrp="1"/>
          </p:cNvSpPr>
          <p:nvPr>
            <p:ph type="sldNum" idx="123"/>
          </p:nvPr>
        </p:nvSpPr>
        <p:spPr>
          <a:xfrm>
            <a:off x="0" y="6343560"/>
            <a:ext cx="11810520" cy="22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350" b="0" u="none" strike="noStrike">
                <a:solidFill>
                  <a:srgbClr val="777777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1494479-9861-44CC-86BC-E79EDABA92E0}" type="slidenum">
              <a:rPr lang="en-US" sz="1350" b="0" u="none" strike="noStrike">
                <a:solidFill>
                  <a:srgbClr val="777777"/>
                </a:solidFill>
                <a:effectLst/>
                <a:uFillTx/>
                <a:latin typeface="Calibri"/>
              </a:rPr>
              <a:t>1</a:t>
            </a:fld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Text 0"/>
          <p:cNvSpPr/>
          <p:nvPr/>
        </p:nvSpPr>
        <p:spPr>
          <a:xfrm>
            <a:off x="380880" y="443520"/>
            <a:ext cx="11658240" cy="37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9000"/>
              </a:lnSpc>
              <a:tabLst>
                <a:tab pos="0" algn="l"/>
              </a:tabLst>
            </a:pPr>
            <a:r>
              <a:rPr lang="en-US" sz="239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SLIDE 110: The PM's Role in Each Ceremony</a:t>
            </a:r>
            <a:endParaRPr lang="en-US" sz="23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1" name="Text 1"/>
          <p:cNvSpPr/>
          <p:nvPr/>
        </p:nvSpPr>
        <p:spPr>
          <a:xfrm>
            <a:off x="380880" y="1013760"/>
            <a:ext cx="11429640" cy="5362200"/>
          </a:xfrm>
          <a:prstGeom prst="rect">
            <a:avLst/>
          </a:prstGeom>
          <a:solidFill>
            <a:srgbClr val="F4F4F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6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━━━━━━━━━━━━━━━━━━━━━━━━━━━━━━━━━━━━━━━━━━━━━━━━━━━━━━━━━━━━━━━━━━━━━━━━━</a:t>
            </a:r>
            <a:endParaRPr lang="en-US" sz="8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8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6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   THE PM'S ROLE IN EACH CEREMONY</a:t>
            </a:r>
            <a:endParaRPr lang="en-US" sz="8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8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6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┌─────────────────────────────────────┐</a:t>
            </a:r>
            <a:endParaRPr lang="en-US" sz="8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6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BACKLOG REFINEMENT                │</a:t>
            </a:r>
            <a:endParaRPr lang="en-US" sz="8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6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• Prioritize                      │</a:t>
            </a:r>
            <a:endParaRPr lang="en-US" sz="8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6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• Clarify                         │</a:t>
            </a:r>
            <a:endParaRPr lang="en-US" sz="8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6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• Add context                     │</a:t>
            </a:r>
            <a:endParaRPr lang="en-US" sz="8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6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└─────────────────────────────────────┘</a:t>
            </a:r>
            <a:endParaRPr lang="en-US" sz="8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8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6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┌─────────────────────────────────────┐</a:t>
            </a:r>
            <a:endParaRPr lang="en-US" sz="8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6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SPRINT PLANNING                   │</a:t>
            </a:r>
            <a:endParaRPr lang="en-US" sz="8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6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• Explain priorities              │</a:t>
            </a:r>
            <a:endParaRPr lang="en-US" sz="8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6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• Answer questions                │</a:t>
            </a:r>
            <a:endParaRPr lang="en-US" sz="8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6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└─────────────────────────────────────┘</a:t>
            </a:r>
            <a:endParaRPr lang="en-US" sz="8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8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6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┌─────────────────────────────────────┐</a:t>
            </a:r>
            <a:endParaRPr lang="en-US" sz="8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6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DAILY STANDUP                     │</a:t>
            </a:r>
            <a:endParaRPr lang="en-US" sz="8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6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• Listen                          │</a:t>
            </a:r>
            <a:endParaRPr lang="en-US" sz="8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6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• Unblock                         │</a:t>
            </a:r>
            <a:endParaRPr lang="en-US" sz="8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6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• Clarify requirements            │</a:t>
            </a:r>
            <a:endParaRPr lang="en-US" sz="8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6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└─────────────────────────────────────┘</a:t>
            </a:r>
            <a:endParaRPr lang="en-US" sz="8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8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6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┌─────────────────────────────────────┐</a:t>
            </a:r>
            <a:endParaRPr lang="en-US" sz="8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6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SPRINT REVIEW                     │</a:t>
            </a:r>
            <a:endParaRPr lang="en-US" sz="8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6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• Validate                        │</a:t>
            </a:r>
            <a:endParaRPr lang="en-US" sz="8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6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• Demo                            │</a:t>
            </a:r>
            <a:endParaRPr lang="en-US" sz="8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6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• Gather feedback                 │</a:t>
            </a:r>
            <a:endParaRPr lang="en-US" sz="8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6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└─────────────────────────────────────┘</a:t>
            </a:r>
            <a:endParaRPr lang="en-US" sz="8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8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6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┌─────────────────────────────────────┐</a:t>
            </a:r>
            <a:endParaRPr lang="en-US" sz="8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6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SPRINT RETROSPECTIVE              │</a:t>
            </a:r>
            <a:endParaRPr lang="en-US" sz="8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6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• Participate                     │</a:t>
            </a:r>
            <a:endParaRPr lang="en-US" sz="8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6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• Learn                           │</a:t>
            </a:r>
            <a:endParaRPr lang="en-US" sz="8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6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• Improve                         │</a:t>
            </a:r>
            <a:endParaRPr lang="en-US" sz="8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6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└─────────────────────────────────────┘</a:t>
            </a:r>
            <a:endParaRPr lang="en-US" sz="8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8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6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━━━━━━━━━━━━━━━━━━━━━━━━━━━━━━━━━━━━━━━━━━━━━━━━━━━━━━━━━━━━━━━━━━━━━━━━━</a:t>
            </a:r>
            <a:endParaRPr lang="en-US" sz="8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2" name="PlaceHolder 1"/>
          <p:cNvSpPr>
            <a:spLocks noGrp="1"/>
          </p:cNvSpPr>
          <p:nvPr>
            <p:ph type="sldNum" idx="124"/>
          </p:nvPr>
        </p:nvSpPr>
        <p:spPr>
          <a:xfrm>
            <a:off x="0" y="6343560"/>
            <a:ext cx="11810520" cy="22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350" b="0" u="none" strike="noStrike">
                <a:solidFill>
                  <a:srgbClr val="777777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CDBFE87-3E4F-48AB-B5BC-A2AF43067CED}" type="slidenum">
              <a:rPr lang="en-US" sz="1350" b="0" u="none" strike="noStrike">
                <a:solidFill>
                  <a:srgbClr val="777777"/>
                </a:solidFill>
                <a:effectLst/>
                <a:uFillTx/>
                <a:latin typeface="Calibri"/>
              </a:rPr>
              <a:t>1</a:t>
            </a:fld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Text 0"/>
          <p:cNvSpPr/>
          <p:nvPr/>
        </p:nvSpPr>
        <p:spPr>
          <a:xfrm>
            <a:off x="380880" y="443520"/>
            <a:ext cx="11658240" cy="37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9000"/>
              </a:lnSpc>
              <a:tabLst>
                <a:tab pos="0" algn="l"/>
              </a:tabLst>
            </a:pPr>
            <a:r>
              <a:rPr lang="en-US" sz="239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SLIDE 111: Sprint Planning in Action</a:t>
            </a:r>
            <a:endParaRPr lang="en-US" sz="23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4" name="Text 1"/>
          <p:cNvSpPr/>
          <p:nvPr/>
        </p:nvSpPr>
        <p:spPr>
          <a:xfrm>
            <a:off x="380880" y="1013760"/>
            <a:ext cx="11429640" cy="5362200"/>
          </a:xfrm>
          <a:prstGeom prst="rect">
            <a:avLst/>
          </a:prstGeom>
          <a:solidFill>
            <a:srgbClr val="F4F4F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━━━━━━━━━━━━━━━━━━━━━━━━━━━━━━━━━━━━━━━━━━━━━━━━━━━━━━━━━━━━━━━━━━━━━━━━━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   SPRINT PLANNING IN ACTION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SPRINT GOAL: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"Deliver core goal creation and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progress tracking."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CAPACITY: 40 story points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SELECTED STORIES (34 POINTS):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┌─────────────────────────────────────┐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STORY                      POINTS  │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│─────────────────────────────────────│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Create Savings Goal           8    │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Create Spending Goal          5    │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View Goal Progress            8    │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Dashboard Widget              5    │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Edit Goals                    3    │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└─────────────────────────────────────┘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DEFERRED TO NEXT SPRINT: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• Delete Goals (2 pts)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• Goal Suggestions (8 pts)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• Notifications (8 pts)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• Goal Detail View (5 pts)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• Create Debt Goal (5 pts)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━━━━━━━━━━━━━━━━━━━━━━━━━━━━━━━━━━━━━━━━━━━━━━━━━━━━━━━━━━━━━━━━━━━━━━━━━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5" name="PlaceHolder 1"/>
          <p:cNvSpPr>
            <a:spLocks noGrp="1"/>
          </p:cNvSpPr>
          <p:nvPr>
            <p:ph type="sldNum" idx="125"/>
          </p:nvPr>
        </p:nvSpPr>
        <p:spPr>
          <a:xfrm>
            <a:off x="0" y="6343560"/>
            <a:ext cx="11810520" cy="22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350" b="0" u="none" strike="noStrike">
                <a:solidFill>
                  <a:srgbClr val="777777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3CC6509-C5A9-4008-A5BF-1E7D701D7448}" type="slidenum">
              <a:rPr lang="en-US" sz="1350" b="0" u="none" strike="noStrike">
                <a:solidFill>
                  <a:srgbClr val="777777"/>
                </a:solidFill>
                <a:effectLst/>
                <a:uFillTx/>
                <a:latin typeface="Calibri"/>
              </a:rPr>
              <a:t>1</a:t>
            </a:fld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Text 0"/>
          <p:cNvSpPr/>
          <p:nvPr/>
        </p:nvSpPr>
        <p:spPr>
          <a:xfrm>
            <a:off x="380880" y="443520"/>
            <a:ext cx="11658240" cy="37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9000"/>
              </a:lnSpc>
              <a:tabLst>
                <a:tab pos="0" algn="l"/>
              </a:tabLst>
            </a:pPr>
            <a:r>
              <a:rPr lang="en-US" sz="239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SLIDE 112: Managing Scope Changes</a:t>
            </a:r>
            <a:endParaRPr lang="en-US" sz="23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7" name="Text 1"/>
          <p:cNvSpPr/>
          <p:nvPr/>
        </p:nvSpPr>
        <p:spPr>
          <a:xfrm>
            <a:off x="380880" y="1013760"/>
            <a:ext cx="11429640" cy="5362200"/>
          </a:xfrm>
          <a:prstGeom prst="rect">
            <a:avLst/>
          </a:prstGeom>
          <a:solidFill>
            <a:srgbClr val="F4F4F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1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━━━━━━━━━━━━━━━━━━━━━━━━━━━━━━━━━━━━━━━━━━━━━━━━━━━━━━━━━━━━━━━━━━━━━━━━━</a:t>
            </a:r>
            <a:endParaRPr lang="en-US" sz="9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9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1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   MANAGING SCOPE CHANGES</a:t>
            </a:r>
            <a:endParaRPr lang="en-US" sz="9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9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1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THE TRADE-OFF TRIANGLE:</a:t>
            </a:r>
            <a:endParaRPr lang="en-US" sz="9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9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1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       SCOPE</a:t>
            </a:r>
            <a:endParaRPr lang="en-US" sz="9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1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        ▲</a:t>
            </a:r>
            <a:endParaRPr lang="en-US" sz="9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1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       / \</a:t>
            </a:r>
            <a:endParaRPr lang="en-US" sz="9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1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      /   \</a:t>
            </a:r>
            <a:endParaRPr lang="en-US" sz="9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1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     /     \</a:t>
            </a:r>
            <a:endParaRPr lang="en-US" sz="9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1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    /       \</a:t>
            </a:r>
            <a:endParaRPr lang="en-US" sz="9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1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   /  Trade- \</a:t>
            </a:r>
            <a:endParaRPr lang="en-US" sz="9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1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  /   off    \</a:t>
            </a:r>
            <a:endParaRPr lang="en-US" sz="9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1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 /  Triangle  \</a:t>
            </a:r>
            <a:endParaRPr lang="en-US" sz="9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1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/              \</a:t>
            </a:r>
            <a:endParaRPr lang="en-US" sz="9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1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/                \</a:t>
            </a:r>
            <a:endParaRPr lang="en-US" sz="9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1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/                  \</a:t>
            </a:r>
            <a:endParaRPr lang="en-US" sz="9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1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TIME ◄───────────────────► QUALITY</a:t>
            </a:r>
            <a:endParaRPr lang="en-US" sz="9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9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1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─────────────────────────────────────</a:t>
            </a:r>
            <a:endParaRPr lang="en-US" sz="9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9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1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OPTIONS WHEN SCOPE CHANGES:</a:t>
            </a:r>
            <a:endParaRPr lang="en-US" sz="9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9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1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1. CUT SCOPE</a:t>
            </a:r>
            <a:endParaRPr lang="en-US" sz="9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1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   Remove lower-priority features</a:t>
            </a:r>
            <a:endParaRPr lang="en-US" sz="9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9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1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2. ADD TIME</a:t>
            </a:r>
            <a:endParaRPr lang="en-US" sz="9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1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   Extend the timeline</a:t>
            </a:r>
            <a:endParaRPr lang="en-US" sz="9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9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1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3. REDUCE QUALITY</a:t>
            </a:r>
            <a:endParaRPr lang="en-US" sz="9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1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   (Not recommended)</a:t>
            </a:r>
            <a:endParaRPr lang="en-US" sz="9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9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1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4. NEGOTIATE COMPROMISE</a:t>
            </a:r>
            <a:endParaRPr lang="en-US" sz="9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1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   Find a simpler solution</a:t>
            </a:r>
            <a:endParaRPr lang="en-US" sz="9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9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1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━━━━━━━━━━━━━━━━━━━━━━━━━━━━━━━━━━━━━━━━━━━━━━━━━━━━━━━━━━━━━━━━━━━━━━━━━</a:t>
            </a:r>
            <a:endParaRPr lang="en-US" sz="9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8" name="PlaceHolder 1"/>
          <p:cNvSpPr>
            <a:spLocks noGrp="1"/>
          </p:cNvSpPr>
          <p:nvPr>
            <p:ph type="sldNum" idx="126"/>
          </p:nvPr>
        </p:nvSpPr>
        <p:spPr>
          <a:xfrm>
            <a:off x="0" y="6343560"/>
            <a:ext cx="11810520" cy="22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350" b="0" u="none" strike="noStrike">
                <a:solidFill>
                  <a:srgbClr val="777777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CEC8906-9191-4325-9FEC-18AC5AB6D5CE}" type="slidenum">
              <a:rPr lang="en-US" sz="1350" b="0" u="none" strike="noStrike">
                <a:solidFill>
                  <a:srgbClr val="777777"/>
                </a:solidFill>
                <a:effectLst/>
                <a:uFillTx/>
                <a:latin typeface="Calibri"/>
              </a:rPr>
              <a:t>1</a:t>
            </a:fld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Text 0"/>
          <p:cNvSpPr/>
          <p:nvPr/>
        </p:nvSpPr>
        <p:spPr>
          <a:xfrm>
            <a:off x="380880" y="443520"/>
            <a:ext cx="11658240" cy="37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9000"/>
              </a:lnSpc>
              <a:tabLst>
                <a:tab pos="0" algn="l"/>
              </a:tabLst>
            </a:pPr>
            <a:r>
              <a:rPr lang="en-US" sz="239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SLIDE 113: Scope Change Scenario</a:t>
            </a:r>
            <a:endParaRPr lang="en-US" sz="23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0" name="Text 1"/>
          <p:cNvSpPr/>
          <p:nvPr/>
        </p:nvSpPr>
        <p:spPr>
          <a:xfrm>
            <a:off x="380880" y="1013760"/>
            <a:ext cx="11429640" cy="5362200"/>
          </a:xfrm>
          <a:prstGeom prst="rect">
            <a:avLst/>
          </a:prstGeom>
          <a:solidFill>
            <a:srgbClr val="F4F4F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6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━━━━━━━━━━━━━━━━━━━━━━━━━━━━━━━━━━━━━━━━━━━━━━━━━━━━━━━━━━━━━━━━━━━━━━━━━</a:t>
            </a:r>
            <a:endParaRPr lang="en-US" sz="9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9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6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   SCOPE CHANGE SCENARIO</a:t>
            </a:r>
            <a:endParaRPr lang="en-US" sz="9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9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6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THE SITUATION:</a:t>
            </a:r>
            <a:endParaRPr lang="en-US" sz="9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6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───────────────────</a:t>
            </a:r>
            <a:endParaRPr lang="en-US" sz="9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6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You're halfway through the sprint.</a:t>
            </a:r>
            <a:endParaRPr lang="en-US" sz="9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6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Engineering discovers that the</a:t>
            </a:r>
            <a:endParaRPr lang="en-US" sz="9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6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progress tracking feature is more</a:t>
            </a:r>
            <a:endParaRPr lang="en-US" sz="9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6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complex than expected.</a:t>
            </a:r>
            <a:endParaRPr lang="en-US" sz="9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6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It will take 3 extra days.</a:t>
            </a:r>
            <a:endParaRPr lang="en-US" sz="9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9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6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YOUR OPTIONS:</a:t>
            </a:r>
            <a:endParaRPr lang="en-US" sz="9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6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──────────────</a:t>
            </a:r>
            <a:endParaRPr lang="en-US" sz="9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6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1. Cut a lower-priority story</a:t>
            </a:r>
            <a:endParaRPr lang="en-US" sz="9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6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2. Extend the sprint by 3 days</a:t>
            </a:r>
            <a:endParaRPr lang="en-US" sz="9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6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3. Find a simplified version</a:t>
            </a:r>
            <a:endParaRPr lang="en-US" sz="9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6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4. Accept the delay</a:t>
            </a:r>
            <a:endParaRPr lang="en-US" sz="9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9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6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BEST APPROACH:</a:t>
            </a:r>
            <a:endParaRPr lang="en-US" sz="9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6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──────────────</a:t>
            </a:r>
            <a:endParaRPr lang="en-US" sz="9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6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Option 1: Cut a lower-priority story</a:t>
            </a:r>
            <a:endParaRPr lang="en-US" sz="9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6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+ Option 3: Find a simplified version</a:t>
            </a:r>
            <a:endParaRPr lang="en-US" sz="9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9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6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─────────────────────────────────────</a:t>
            </a:r>
            <a:endParaRPr lang="en-US" sz="9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9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6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YOUR COMMUNICATION:</a:t>
            </a:r>
            <a:endParaRPr lang="en-US" sz="9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6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"We discovered a technical</a:t>
            </a:r>
            <a:endParaRPr lang="en-US" sz="9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6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complexity that adds 3 days.</a:t>
            </a:r>
            <a:endParaRPr lang="en-US" sz="9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6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We're cutting Feature X to focus</a:t>
            </a:r>
            <a:endParaRPr lang="en-US" sz="9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6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on the core functionality.</a:t>
            </a:r>
            <a:endParaRPr lang="en-US" sz="9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6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We'll add Feature X to the</a:t>
            </a:r>
            <a:endParaRPr lang="en-US" sz="9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6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next sprint."</a:t>
            </a:r>
            <a:endParaRPr lang="en-US" sz="9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9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6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━━━━━━━━━━━━━━━━━━━━━━━━━━━━━━━━━━━━━━━━━━━━━━━━━━━━━━━━━━━━━━━━━━━━━━━━━</a:t>
            </a:r>
            <a:endParaRPr lang="en-US" sz="9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1" name="PlaceHolder 1"/>
          <p:cNvSpPr>
            <a:spLocks noGrp="1"/>
          </p:cNvSpPr>
          <p:nvPr>
            <p:ph type="sldNum" idx="127"/>
          </p:nvPr>
        </p:nvSpPr>
        <p:spPr>
          <a:xfrm>
            <a:off x="0" y="6343560"/>
            <a:ext cx="11810520" cy="22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350" b="0" u="none" strike="noStrike">
                <a:solidFill>
                  <a:srgbClr val="777777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A1B5748-B104-4753-B3B4-A324380B47D3}" type="slidenum">
              <a:rPr lang="en-US" sz="1350" b="0" u="none" strike="noStrike">
                <a:solidFill>
                  <a:srgbClr val="777777"/>
                </a:solidFill>
                <a:effectLst/>
                <a:uFillTx/>
                <a:latin typeface="Calibri"/>
              </a:rPr>
              <a:t>1</a:t>
            </a:fld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Text 0"/>
          <p:cNvSpPr/>
          <p:nvPr/>
        </p:nvSpPr>
        <p:spPr>
          <a:xfrm>
            <a:off x="380880" y="443520"/>
            <a:ext cx="11658240" cy="37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9000"/>
              </a:lnSpc>
              <a:tabLst>
                <a:tab pos="0" algn="l"/>
              </a:tabLst>
            </a:pPr>
            <a:r>
              <a:rPr lang="en-US" sz="239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SLIDE 114: How to Say "No" to a Stakeholder</a:t>
            </a:r>
            <a:endParaRPr lang="en-US" sz="23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3" name="Text 1"/>
          <p:cNvSpPr/>
          <p:nvPr/>
        </p:nvSpPr>
        <p:spPr>
          <a:xfrm>
            <a:off x="380880" y="1013760"/>
            <a:ext cx="11429640" cy="5362200"/>
          </a:xfrm>
          <a:prstGeom prst="rect">
            <a:avLst/>
          </a:prstGeom>
          <a:solidFill>
            <a:srgbClr val="F4F4F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3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━━━━━━━━━━━━━━━━━━━━━━━━━━━━━━━━━━━━━━━━━━━━━━━━━━━━━━━━━━━━━━━━━━━━━━━━━</a:t>
            </a:r>
            <a:endParaRPr lang="en-US" sz="9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9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3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   HOW TO SAY "NO" TO A STAKEHOLDER</a:t>
            </a:r>
            <a:endParaRPr lang="en-US" sz="9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9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3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THE "YES, AND" APPROACH:</a:t>
            </a:r>
            <a:endParaRPr lang="en-US" sz="9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9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3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┌─────────────────────────────────────┐</a:t>
            </a:r>
            <a:endParaRPr lang="en-US" sz="9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3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1. ACKNOWLEDGE                    │</a:t>
            </a:r>
            <a:endParaRPr lang="en-US" sz="9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3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"I understand why you want a      │</a:t>
            </a:r>
            <a:endParaRPr lang="en-US" sz="9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3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referral program."                │</a:t>
            </a:r>
            <a:endParaRPr lang="en-US" sz="9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3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└─────────────────────────────────────┘</a:t>
            </a:r>
            <a:endParaRPr lang="en-US" sz="9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9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3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┌─────────────────────────────────────┐</a:t>
            </a:r>
            <a:endParaRPr lang="en-US" sz="9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3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2. EXPLAIN CONSTRAINTS            │</a:t>
            </a:r>
            <a:endParaRPr lang="en-US" sz="9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3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"We're currently focused on       │</a:t>
            </a:r>
            <a:endParaRPr lang="en-US" sz="9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3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fixing retention."                │</a:t>
            </a:r>
            <a:endParaRPr lang="en-US" sz="9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3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└─────────────────────────────────────┘</a:t>
            </a:r>
            <a:endParaRPr lang="en-US" sz="9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9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3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┌─────────────────────────────────────┐</a:t>
            </a:r>
            <a:endParaRPr lang="en-US" sz="9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3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3. OFFER ALTERNATIVE              │</a:t>
            </a:r>
            <a:endParaRPr lang="en-US" sz="9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3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"How about we build the referral  │</a:t>
            </a:r>
            <a:endParaRPr lang="en-US" sz="9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3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program next quarter?"            │</a:t>
            </a:r>
            <a:endParaRPr lang="en-US" sz="9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3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└─────────────────────────────────────┘</a:t>
            </a:r>
            <a:endParaRPr lang="en-US" sz="9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9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3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┌─────────────────────────────────────┐</a:t>
            </a:r>
            <a:endParaRPr lang="en-US" sz="9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3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4. TIE TO SHARED GOAL             │</a:t>
            </a:r>
            <a:endParaRPr lang="en-US" sz="9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3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"This way, when we acquire new    │</a:t>
            </a:r>
            <a:endParaRPr lang="en-US" sz="9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3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users, they'll stick around."     │</a:t>
            </a:r>
            <a:endParaRPr lang="en-US" sz="9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3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└─────────────────────────────────────┘</a:t>
            </a:r>
            <a:endParaRPr lang="en-US" sz="9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9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3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─────────────────────────────────────</a:t>
            </a:r>
            <a:endParaRPr lang="en-US" sz="9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9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3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SAYING "YES, AND" BUILDS TRUST</a:t>
            </a:r>
            <a:endParaRPr lang="en-US" sz="9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3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AND MAINTAINS RELATIONSHIPS.</a:t>
            </a:r>
            <a:endParaRPr lang="en-US" sz="9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9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3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━━━━━━━━━━━━━━━━━━━━━━━━━━━━━━━━━━━━━━━━━━━━━━━━━━━━━━━━━━━━━━━━━━━━━━━━━</a:t>
            </a:r>
            <a:endParaRPr lang="en-US" sz="9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4" name="PlaceHolder 1"/>
          <p:cNvSpPr>
            <a:spLocks noGrp="1"/>
          </p:cNvSpPr>
          <p:nvPr>
            <p:ph type="sldNum" idx="128"/>
          </p:nvPr>
        </p:nvSpPr>
        <p:spPr>
          <a:xfrm>
            <a:off x="0" y="6343560"/>
            <a:ext cx="11810520" cy="22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350" b="0" u="none" strike="noStrike">
                <a:solidFill>
                  <a:srgbClr val="777777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6E06F12-6099-42DC-98ED-B845566F5689}" type="slidenum">
              <a:rPr lang="en-US" sz="1350" b="0" u="none" strike="noStrike">
                <a:solidFill>
                  <a:srgbClr val="777777"/>
                </a:solidFill>
                <a:effectLst/>
                <a:uFillTx/>
                <a:latin typeface="Calibri"/>
              </a:rPr>
              <a:t>1</a:t>
            </a:fld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Text 0"/>
          <p:cNvSpPr/>
          <p:nvPr/>
        </p:nvSpPr>
        <p:spPr>
          <a:xfrm>
            <a:off x="380880" y="443520"/>
            <a:ext cx="11658240" cy="37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9000"/>
              </a:lnSpc>
              <a:tabLst>
                <a:tab pos="0" algn="l"/>
              </a:tabLst>
            </a:pPr>
            <a:r>
              <a:rPr lang="en-US" sz="239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SLIDE 115: Sprint Review Example</a:t>
            </a:r>
            <a:endParaRPr lang="en-US" sz="23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6" name="Text 1"/>
          <p:cNvSpPr/>
          <p:nvPr/>
        </p:nvSpPr>
        <p:spPr>
          <a:xfrm>
            <a:off x="380880" y="1013760"/>
            <a:ext cx="11429640" cy="5362200"/>
          </a:xfrm>
          <a:prstGeom prst="rect">
            <a:avLst/>
          </a:prstGeom>
          <a:solidFill>
            <a:srgbClr val="F4F4F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8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━━━━━━━━━━━━━━━━━━━━━━━━━━━━━━━━━━━━━━━━━━━━━━━━━━━━━━━━━━━━━━━━━━━━━━━━━</a:t>
            </a:r>
            <a:endParaRPr lang="en-US" sz="8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8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8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   SPRINT REVIEW EXAMPLE</a:t>
            </a:r>
            <a:endParaRPr lang="en-US" sz="8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8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8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WHAT WE BUILT:</a:t>
            </a:r>
            <a:endParaRPr lang="en-US" sz="8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8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──────────────</a:t>
            </a:r>
            <a:endParaRPr lang="en-US" sz="8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8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 Create Savings Goal</a:t>
            </a:r>
            <a:endParaRPr lang="en-US" sz="8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8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 Create Spending Goal</a:t>
            </a:r>
            <a:endParaRPr lang="en-US" sz="8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8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 View Goal Progress</a:t>
            </a:r>
            <a:endParaRPr lang="en-US" sz="8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8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 Dashboard Widget</a:t>
            </a:r>
            <a:endParaRPr lang="en-US" sz="8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8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 Edit Goals</a:t>
            </a:r>
            <a:endParaRPr lang="en-US" sz="8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8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8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WHAT WE DIDN'T BUILD:</a:t>
            </a:r>
            <a:endParaRPr lang="en-US" sz="8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8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──────────────────────</a:t>
            </a:r>
            <a:endParaRPr lang="en-US" sz="8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8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 Create Debt Goal</a:t>
            </a:r>
            <a:endParaRPr lang="en-US" sz="8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8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 Goal Detail View</a:t>
            </a:r>
            <a:endParaRPr lang="en-US" sz="8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8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 Notifications</a:t>
            </a:r>
            <a:endParaRPr lang="en-US" sz="8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8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 Delete Goals</a:t>
            </a:r>
            <a:endParaRPr lang="en-US" sz="8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8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8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METRICS:</a:t>
            </a:r>
            <a:endParaRPr lang="en-US" sz="8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8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─────────</a:t>
            </a:r>
            <a:endParaRPr lang="en-US" sz="8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8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• Goal adoption: 32% (approaching 50%)</a:t>
            </a:r>
            <a:endParaRPr lang="en-US" sz="8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8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• Retention: 28% (approaching 40%)</a:t>
            </a:r>
            <a:endParaRPr lang="en-US" sz="8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8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• Satisfaction: 4.2/5</a:t>
            </a:r>
            <a:endParaRPr lang="en-US" sz="8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8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8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FEEDBACK:</a:t>
            </a:r>
            <a:endParaRPr lang="en-US" sz="8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8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──────────</a:t>
            </a:r>
            <a:endParaRPr lang="en-US" sz="8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8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• "Goal creation is simple."</a:t>
            </a:r>
            <a:endParaRPr lang="en-US" sz="8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8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• "Progress bars look great."</a:t>
            </a:r>
            <a:endParaRPr lang="en-US" sz="8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8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• "When will we have notifications?"</a:t>
            </a:r>
            <a:endParaRPr lang="en-US" sz="8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8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8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NEXT SPRINT:</a:t>
            </a:r>
            <a:endParaRPr lang="en-US" sz="8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8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─────────────</a:t>
            </a:r>
            <a:endParaRPr lang="en-US" sz="8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8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1. Goal Detail View</a:t>
            </a:r>
            <a:endParaRPr lang="en-US" sz="8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8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2. Notifications</a:t>
            </a:r>
            <a:endParaRPr lang="en-US" sz="8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8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3. Delete Goals</a:t>
            </a:r>
            <a:endParaRPr lang="en-US" sz="8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8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8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━━━━━━━━━━━━━━━━━━━━━━━━━━━━━━━━━━━━━━━━━━━━━━━━━━━━━━━━━━━━━━━━━━━━━━━━━</a:t>
            </a:r>
            <a:endParaRPr lang="en-US" sz="8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7" name="PlaceHolder 1"/>
          <p:cNvSpPr>
            <a:spLocks noGrp="1"/>
          </p:cNvSpPr>
          <p:nvPr>
            <p:ph type="sldNum" idx="129"/>
          </p:nvPr>
        </p:nvSpPr>
        <p:spPr>
          <a:xfrm>
            <a:off x="0" y="6343560"/>
            <a:ext cx="11810520" cy="22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350" b="0" u="none" strike="noStrike">
                <a:solidFill>
                  <a:srgbClr val="777777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0195B98-87D6-4996-94D0-F74EFBFFFA1F}" type="slidenum">
              <a:rPr lang="en-US" sz="1350" b="0" u="none" strike="noStrike">
                <a:solidFill>
                  <a:srgbClr val="777777"/>
                </a:solidFill>
                <a:effectLst/>
                <a:uFillTx/>
                <a:latin typeface="Calibri"/>
              </a:rPr>
              <a:t>1</a:t>
            </a:fld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Text 0"/>
          <p:cNvSpPr/>
          <p:nvPr/>
        </p:nvSpPr>
        <p:spPr>
          <a:xfrm>
            <a:off x="380880" y="443520"/>
            <a:ext cx="11658240" cy="37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9000"/>
              </a:lnSpc>
              <a:tabLst>
                <a:tab pos="0" algn="l"/>
              </a:tabLst>
            </a:pPr>
            <a:r>
              <a:rPr lang="en-US" sz="239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SLIDE 116: Part 8 Recap</a:t>
            </a:r>
            <a:endParaRPr lang="en-US" sz="23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9" name="Text 1"/>
          <p:cNvSpPr/>
          <p:nvPr/>
        </p:nvSpPr>
        <p:spPr>
          <a:xfrm>
            <a:off x="380880" y="1013760"/>
            <a:ext cx="11429640" cy="5362200"/>
          </a:xfrm>
          <a:prstGeom prst="rect">
            <a:avLst/>
          </a:prstGeom>
          <a:solidFill>
            <a:srgbClr val="F4F4F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1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━━━━━━━━━━━━━━━━━━━━━━━━━━━━━━━━━━━━━━━━━━━━━━━━━━━━━━━━━━━━━━━━━━━━━━━━━</a:t>
            </a:r>
            <a:endParaRPr lang="en-US" sz="15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5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1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   PART 8 RECAP</a:t>
            </a:r>
            <a:endParaRPr lang="en-US" sz="15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5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1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┌─────────────────────────────────────┐</a:t>
            </a:r>
            <a:endParaRPr lang="en-US" sz="15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1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What you learned:                 │</a:t>
            </a:r>
            <a:endParaRPr lang="en-US" sz="15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1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                                  │</a:t>
            </a:r>
            <a:endParaRPr lang="en-US" sz="15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1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✓ The PM-engineering partnership  │</a:t>
            </a:r>
            <a:endParaRPr lang="en-US" sz="15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1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✓ Agile development               │</a:t>
            </a:r>
            <a:endParaRPr lang="en-US" sz="15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1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✓ Scrum ceremonies                │</a:t>
            </a:r>
            <a:endParaRPr lang="en-US" sz="15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1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✓ Sprint planning                 │</a:t>
            </a:r>
            <a:endParaRPr lang="en-US" sz="15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1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✓ Scope management                │</a:t>
            </a:r>
            <a:endParaRPr lang="en-US" sz="15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1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✓ The art of saying "no"          │</a:t>
            </a:r>
            <a:endParaRPr lang="en-US" sz="15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1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└─────────────────────────────────────┘</a:t>
            </a:r>
            <a:endParaRPr lang="en-US" sz="15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5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1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───</a:t>
            </a:r>
            <a:endParaRPr lang="en-US" sz="15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5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1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Portfolio Tracker:</a:t>
            </a:r>
            <a:endParaRPr lang="en-US" sz="15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1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[ ] Created sprint-planning.md</a:t>
            </a:r>
            <a:endParaRPr lang="en-US" sz="15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1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[ ] Created sprint-review.md</a:t>
            </a:r>
            <a:endParaRPr lang="en-US" sz="15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5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1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━━━━━━━━━━━━━━━━━━━━━━━━━━━━━━━━━━━━━━━━━━━━━━━━━━━━━━━━━━━━━━━━━━━━━━━━━</a:t>
            </a:r>
            <a:endParaRPr lang="en-US" sz="15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0" name="PlaceHolder 1"/>
          <p:cNvSpPr>
            <a:spLocks noGrp="1"/>
          </p:cNvSpPr>
          <p:nvPr>
            <p:ph type="sldNum" idx="130"/>
          </p:nvPr>
        </p:nvSpPr>
        <p:spPr>
          <a:xfrm>
            <a:off x="0" y="6343560"/>
            <a:ext cx="11810520" cy="22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350" b="0" u="none" strike="noStrike">
                <a:solidFill>
                  <a:srgbClr val="777777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6444A54-6F6B-4094-BD04-D3D65C2593E1}" type="slidenum">
              <a:rPr lang="en-US" sz="1350" b="0" u="none" strike="noStrike">
                <a:solidFill>
                  <a:srgbClr val="777777"/>
                </a:solidFill>
                <a:effectLst/>
                <a:uFillTx/>
                <a:latin typeface="Calibri"/>
              </a:rPr>
              <a:t>1</a:t>
            </a:fld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Text 0"/>
          <p:cNvSpPr/>
          <p:nvPr/>
        </p:nvSpPr>
        <p:spPr>
          <a:xfrm>
            <a:off x="380880" y="443520"/>
            <a:ext cx="11658240" cy="37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9000"/>
              </a:lnSpc>
              <a:tabLst>
                <a:tab pos="0" algn="l"/>
              </a:tabLst>
            </a:pPr>
            <a:r>
              <a:rPr lang="en-US" sz="239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SLIDE 117: Phase 3 Complete</a:t>
            </a:r>
            <a:endParaRPr lang="en-US" sz="23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2" name="Text 1"/>
          <p:cNvSpPr/>
          <p:nvPr/>
        </p:nvSpPr>
        <p:spPr>
          <a:xfrm>
            <a:off x="380880" y="1013760"/>
            <a:ext cx="11429640" cy="5362200"/>
          </a:xfrm>
          <a:prstGeom prst="rect">
            <a:avLst/>
          </a:prstGeom>
          <a:solidFill>
            <a:srgbClr val="F4F4F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1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━━━━━━━━━━━━━━━━━━━━━━━━━━━━━━━━━━━━━━━━━━━━━━━━━━━━━━━━━━━━━━━━━━━━━━━━━</a:t>
            </a:r>
            <a:endParaRPr lang="en-US" sz="15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5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1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   PHASE 3 COMPLETE</a:t>
            </a:r>
            <a:endParaRPr lang="en-US" sz="15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5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1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EXECUTION &amp; DELIVERY</a:t>
            </a:r>
            <a:endParaRPr lang="en-US" sz="15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5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1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┌─────────────────────────────────────┐</a:t>
            </a:r>
            <a:endParaRPr lang="en-US" sz="15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1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What you've built:                │</a:t>
            </a:r>
            <a:endParaRPr lang="en-US" sz="15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1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                                  │</a:t>
            </a:r>
            <a:endParaRPr lang="en-US" sz="15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1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03-execution/                     │</a:t>
            </a:r>
            <a:endParaRPr lang="en-US" sz="15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1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├── prd-goal-setting.md           │</a:t>
            </a:r>
            <a:endParaRPr lang="en-US" sz="15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1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├── user-stories-goal-setting.md  │</a:t>
            </a:r>
            <a:endParaRPr lang="en-US" sz="15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1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├── user-flow-goal-setting.md     │</a:t>
            </a:r>
            <a:endParaRPr lang="en-US" sz="15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1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├── sprint-planning.md            │</a:t>
            </a:r>
            <a:endParaRPr lang="en-US" sz="15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1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└── sprint-review.md              │</a:t>
            </a:r>
            <a:endParaRPr lang="en-US" sz="15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1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└─────────────────────────────────────┘</a:t>
            </a:r>
            <a:endParaRPr lang="en-US" sz="15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5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1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───</a:t>
            </a:r>
            <a:endParaRPr lang="en-US" sz="15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5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1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Next: Growth &amp; Iteration</a:t>
            </a:r>
            <a:endParaRPr lang="en-US" sz="15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5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1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━━━━━━━━━━━━━━━━━━━━━━━━━━━━━━━━━━━━━━━━━━━━━━━━━━━━━━━━━━━━━━━━━━━━━━━━━</a:t>
            </a:r>
            <a:endParaRPr lang="en-US" sz="15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3" name="PlaceHolder 1"/>
          <p:cNvSpPr>
            <a:spLocks noGrp="1"/>
          </p:cNvSpPr>
          <p:nvPr>
            <p:ph type="sldNum" idx="131"/>
          </p:nvPr>
        </p:nvSpPr>
        <p:spPr>
          <a:xfrm>
            <a:off x="0" y="6343560"/>
            <a:ext cx="11810520" cy="22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350" b="0" u="none" strike="noStrike">
                <a:solidFill>
                  <a:srgbClr val="777777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4AF33EB-8D8B-4ACE-A02E-1828FAB6DA50}" type="slidenum">
              <a:rPr lang="en-US" sz="1350" b="0" u="none" strike="noStrike">
                <a:solidFill>
                  <a:srgbClr val="777777"/>
                </a:solidFill>
                <a:effectLst/>
                <a:uFillTx/>
                <a:latin typeface="Calibri"/>
              </a:rPr>
              <a:t>1</a:t>
            </a:fld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Text 0"/>
          <p:cNvSpPr/>
          <p:nvPr/>
        </p:nvSpPr>
        <p:spPr>
          <a:xfrm>
            <a:off x="380880" y="443520"/>
            <a:ext cx="11658240" cy="37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9000"/>
              </a:lnSpc>
              <a:tabLst>
                <a:tab pos="0" algn="l"/>
              </a:tabLst>
            </a:pPr>
            <a:r>
              <a:rPr lang="en-US" sz="239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SLIDE 118: What's Next</a:t>
            </a:r>
            <a:endParaRPr lang="en-US" sz="23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5" name="Text 1"/>
          <p:cNvSpPr/>
          <p:nvPr/>
        </p:nvSpPr>
        <p:spPr>
          <a:xfrm>
            <a:off x="380880" y="1013760"/>
            <a:ext cx="11429640" cy="5362200"/>
          </a:xfrm>
          <a:prstGeom prst="rect">
            <a:avLst/>
          </a:prstGeom>
          <a:solidFill>
            <a:srgbClr val="F4F4F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2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━━━━━━━━━━━━━━━━━━━━━━━━━━━━━━━━━━━━━━━━━━━━━━━━━━━━━━━━━━━━━━━━━━━━━━━━━</a:t>
            </a:r>
            <a:endParaRPr lang="en-US" sz="172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72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2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   WHAT'S NEXT</a:t>
            </a:r>
            <a:endParaRPr lang="en-US" sz="172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72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2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┌─────────────────────────────────────┐</a:t>
            </a:r>
            <a:endParaRPr lang="en-US" sz="172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2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PART 9                            │</a:t>
            </a:r>
            <a:endParaRPr lang="en-US" sz="172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2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Metrics &amp; Analytics               │</a:t>
            </a:r>
            <a:endParaRPr lang="en-US" sz="172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2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                                  │</a:t>
            </a:r>
            <a:endParaRPr lang="en-US" sz="172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2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• North Star metrics              │</a:t>
            </a:r>
            <a:endParaRPr lang="en-US" sz="172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2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• AARRR framework                 │</a:t>
            </a:r>
            <a:endParaRPr lang="en-US" sz="172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2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• Metrics dashboards              │</a:t>
            </a:r>
            <a:endParaRPr lang="en-US" sz="172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2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• Leading vs. lagging indicators  │</a:t>
            </a:r>
            <a:endParaRPr lang="en-US" sz="172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2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└─────────────────────────────────────┘</a:t>
            </a:r>
            <a:endParaRPr lang="en-US" sz="172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72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2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───</a:t>
            </a:r>
            <a:endParaRPr lang="en-US" sz="172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72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2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Next session: Measure what matters.</a:t>
            </a:r>
            <a:endParaRPr lang="en-US" sz="172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72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2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━━━━━━━━━━━━━━━━━━━━━━━━━━━━━━━━━━━━━━━━━━━━━━━━━━━━━━━━━━━━━━━━━━━━━━━━━</a:t>
            </a:r>
            <a:endParaRPr lang="en-US" sz="172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6" name="PlaceHolder 1"/>
          <p:cNvSpPr>
            <a:spLocks noGrp="1"/>
          </p:cNvSpPr>
          <p:nvPr>
            <p:ph type="sldNum" idx="132"/>
          </p:nvPr>
        </p:nvSpPr>
        <p:spPr>
          <a:xfrm>
            <a:off x="0" y="6343560"/>
            <a:ext cx="11810520" cy="22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350" b="0" u="none" strike="noStrike">
                <a:solidFill>
                  <a:srgbClr val="777777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EF1B5DB-0E89-4650-AE8B-07109A0DA342}" type="slidenum">
              <a:rPr lang="en-US" sz="1350" b="0" u="none" strike="noStrike">
                <a:solidFill>
                  <a:srgbClr val="777777"/>
                </a:solidFill>
                <a:effectLst/>
                <a:uFillTx/>
                <a:latin typeface="Calibri"/>
              </a:rPr>
              <a:t>1</a:t>
            </a:fld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Text 0"/>
          <p:cNvSpPr/>
          <p:nvPr/>
        </p:nvSpPr>
        <p:spPr>
          <a:xfrm>
            <a:off x="380880" y="2713320"/>
            <a:ext cx="11658240" cy="55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107640" anchor="t">
            <a:noAutofit/>
          </a:bodyPr>
          <a:p>
            <a:pPr defTabSz="914400">
              <a:lnSpc>
                <a:spcPct val="109000"/>
              </a:lnSpc>
              <a:tabLst>
                <a:tab pos="0" algn="l"/>
              </a:tabLst>
            </a:pPr>
            <a:r>
              <a:rPr lang="en-US" sz="283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PART 9: METRICS &amp; ANALYTICS</a:t>
            </a:r>
            <a:endParaRPr lang="en-US" sz="28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8" name="Text 1"/>
          <p:cNvSpPr/>
          <p:nvPr/>
        </p:nvSpPr>
        <p:spPr>
          <a:xfrm>
            <a:off x="380880" y="3498480"/>
            <a:ext cx="11658240" cy="55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107640" anchor="t">
            <a:noAutofit/>
          </a:bodyPr>
          <a:p>
            <a:pPr defTabSz="914400">
              <a:lnSpc>
                <a:spcPct val="109000"/>
              </a:lnSpc>
              <a:tabLst>
                <a:tab pos="0" algn="l"/>
              </a:tabLst>
            </a:pPr>
            <a:r>
              <a:rPr lang="en-US" sz="283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Slides 119-145</a:t>
            </a:r>
            <a:endParaRPr lang="en-US" sz="28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9" name="PlaceHolder 1"/>
          <p:cNvSpPr>
            <a:spLocks noGrp="1"/>
          </p:cNvSpPr>
          <p:nvPr>
            <p:ph type="sldNum" idx="133"/>
          </p:nvPr>
        </p:nvSpPr>
        <p:spPr>
          <a:xfrm>
            <a:off x="0" y="6343560"/>
            <a:ext cx="11810520" cy="22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350" b="0" u="none" strike="noStrike">
                <a:solidFill>
                  <a:srgbClr val="777777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71F493C-1390-4D63-BFB9-BA824902ECEA}" type="slidenum">
              <a:rPr lang="en-US" sz="1350" b="0" u="none" strike="noStrike">
                <a:solidFill>
                  <a:srgbClr val="777777"/>
                </a:solidFill>
                <a:effectLst/>
                <a:uFillTx/>
                <a:latin typeface="Calibri"/>
              </a:rPr>
              <a:t>1</a:t>
            </a:fld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Text 0"/>
          <p:cNvSpPr/>
          <p:nvPr/>
        </p:nvSpPr>
        <p:spPr>
          <a:xfrm>
            <a:off x="380880" y="800640"/>
            <a:ext cx="11658240" cy="37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9000"/>
              </a:lnSpc>
              <a:tabLst>
                <a:tab pos="0" algn="l"/>
              </a:tabLst>
            </a:pPr>
            <a:r>
              <a:rPr lang="en-US" sz="239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SLIDE 119: Part 9 Title</a:t>
            </a:r>
            <a:endParaRPr lang="en-US" sz="23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1" name="Text 1"/>
          <p:cNvSpPr/>
          <p:nvPr/>
        </p:nvSpPr>
        <p:spPr>
          <a:xfrm>
            <a:off x="380880" y="1370880"/>
            <a:ext cx="11429640" cy="4647960"/>
          </a:xfrm>
          <a:prstGeom prst="rect">
            <a:avLst/>
          </a:prstGeom>
          <a:solidFill>
            <a:srgbClr val="F4F4F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━━━━━━━━━━━━━━━━━━━━━━━━━━━━━━━━━━━━━━━━━━━━━━━━━━━━━━━━━━━━━━━━━━━━━━━━━</a:t>
            </a:r>
            <a:endParaRPr lang="en-US" sz="1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   PART 9</a:t>
            </a:r>
            <a:endParaRPr lang="en-US" sz="1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   METRICS &amp;</a:t>
            </a:r>
            <a:endParaRPr lang="en-US" sz="1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   ANALYTICS</a:t>
            </a:r>
            <a:endParaRPr lang="en-US" sz="1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Measuring What Matters</a:t>
            </a:r>
            <a:endParaRPr lang="en-US" sz="1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───</a:t>
            </a:r>
            <a:endParaRPr lang="en-US" sz="1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"What metric would tell us</a:t>
            </a:r>
            <a:endParaRPr lang="en-US" sz="1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we're succeeding, and what would</a:t>
            </a:r>
            <a:endParaRPr lang="en-US" sz="1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we do if it moved?"</a:t>
            </a:r>
            <a:endParaRPr lang="en-US" sz="1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━━━━━━━━━━━━━━━━━━━━━━━━━━━━━━━━━━━━━━━━━━━━━━━━━━━━━━━━━━━━━━━━━━━━━━━━━</a:t>
            </a:r>
            <a:endParaRPr lang="en-US" sz="1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2" name="PlaceHolder 1"/>
          <p:cNvSpPr>
            <a:spLocks noGrp="1"/>
          </p:cNvSpPr>
          <p:nvPr>
            <p:ph type="sldNum" idx="134"/>
          </p:nvPr>
        </p:nvSpPr>
        <p:spPr>
          <a:xfrm>
            <a:off x="0" y="6343560"/>
            <a:ext cx="11810520" cy="22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350" b="0" u="none" strike="noStrike">
                <a:solidFill>
                  <a:srgbClr val="777777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507B33D-9133-42BF-BF8F-C05C2A0135E5}" type="slidenum">
              <a:rPr lang="en-US" sz="1350" b="0" u="none" strike="noStrike">
                <a:solidFill>
                  <a:srgbClr val="777777"/>
                </a:solidFill>
                <a:effectLst/>
                <a:uFillTx/>
                <a:latin typeface="Calibri"/>
              </a:rPr>
              <a:t>1</a:t>
            </a:fld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Text 0"/>
          <p:cNvSpPr/>
          <p:nvPr/>
        </p:nvSpPr>
        <p:spPr>
          <a:xfrm>
            <a:off x="380880" y="443520"/>
            <a:ext cx="11658240" cy="37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9000"/>
              </a:lnSpc>
              <a:tabLst>
                <a:tab pos="0" algn="l"/>
              </a:tabLst>
            </a:pPr>
            <a:r>
              <a:rPr lang="en-US" sz="239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SLIDE 120: Why Metrics Matter</a:t>
            </a:r>
            <a:endParaRPr lang="en-US" sz="23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4" name="Text 1"/>
          <p:cNvSpPr/>
          <p:nvPr/>
        </p:nvSpPr>
        <p:spPr>
          <a:xfrm>
            <a:off x="380880" y="1013760"/>
            <a:ext cx="11429640" cy="5362200"/>
          </a:xfrm>
          <a:prstGeom prst="rect">
            <a:avLst/>
          </a:prstGeom>
          <a:solidFill>
            <a:srgbClr val="F4F4F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8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━━━━━━━━━━━━━━━━━━━━━━━━━━━━━━━━━━━━━━━━━━━━━━━━━━━━━━━━━━━━━━━━━━━━━━━━━</a:t>
            </a:r>
            <a:endParaRPr lang="en-US" sz="10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0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8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   WHY METRICS MATTER</a:t>
            </a:r>
            <a:endParaRPr lang="en-US" sz="10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0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8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┌─────────────────────────────────────┐</a:t>
            </a:r>
            <a:endParaRPr lang="en-US" sz="10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8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OPINION-DRIVEN PM                 │</a:t>
            </a:r>
            <a:endParaRPr lang="en-US" sz="10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8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"I think users want this."       │</a:t>
            </a:r>
            <a:endParaRPr lang="en-US" sz="10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8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"I believe retention is           │</a:t>
            </a:r>
            <a:endParaRPr lang="en-US" sz="10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8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 improving."                      │</a:t>
            </a:r>
            <a:endParaRPr lang="en-US" sz="10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8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 Opinions are subjective        │</a:t>
            </a:r>
            <a:endParaRPr lang="en-US" sz="10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8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└─────────────────────────────────────┘</a:t>
            </a:r>
            <a:endParaRPr lang="en-US" sz="10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0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8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┌─────────────────────────────────────┐</a:t>
            </a:r>
            <a:endParaRPr lang="en-US" sz="10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8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DATA-DRIVEN PM                    │</a:t>
            </a:r>
            <a:endParaRPr lang="en-US" sz="10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8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"Data shows users who set goals  │</a:t>
            </a:r>
            <a:endParaRPr lang="en-US" sz="10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8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 retain at 3x."                   │</a:t>
            </a:r>
            <a:endParaRPr lang="en-US" sz="10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8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"Retention increased from 20%    │</a:t>
            </a:r>
            <a:endParaRPr lang="en-US" sz="10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8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 to 40%."                         │</a:t>
            </a:r>
            <a:endParaRPr lang="en-US" sz="10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8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 Data is objective              │</a:t>
            </a:r>
            <a:endParaRPr lang="en-US" sz="10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8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└─────────────────────────────────────┘</a:t>
            </a:r>
            <a:endParaRPr lang="en-US" sz="10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0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8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─────────────────────────────────────</a:t>
            </a:r>
            <a:endParaRPr lang="en-US" sz="10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0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8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METRICS HELP YOU:</a:t>
            </a:r>
            <a:endParaRPr lang="en-US" sz="10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8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• Validate assumptions</a:t>
            </a:r>
            <a:endParaRPr lang="en-US" sz="10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8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• Guide decisions</a:t>
            </a:r>
            <a:endParaRPr lang="en-US" sz="10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8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• Communicate success</a:t>
            </a:r>
            <a:endParaRPr lang="en-US" sz="10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8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• Identify problems</a:t>
            </a:r>
            <a:endParaRPr lang="en-US" sz="10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8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• Drive accountability</a:t>
            </a:r>
            <a:endParaRPr lang="en-US" sz="10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0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8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━━━━━━━━━━━━━━━━━━━━━━━━━━━━━━━━━━━━━━━━━━━━━━━━━━━━━━━━━━━━━━━━━━━━━━━━━</a:t>
            </a:r>
            <a:endParaRPr lang="en-US" sz="10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5" name="PlaceHolder 1"/>
          <p:cNvSpPr>
            <a:spLocks noGrp="1"/>
          </p:cNvSpPr>
          <p:nvPr>
            <p:ph type="sldNum" idx="135"/>
          </p:nvPr>
        </p:nvSpPr>
        <p:spPr>
          <a:xfrm>
            <a:off x="0" y="6343560"/>
            <a:ext cx="11810520" cy="22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350" b="0" u="none" strike="noStrike">
                <a:solidFill>
                  <a:srgbClr val="777777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0D91841-91EE-4051-8F8B-416474D29D66}" type="slidenum">
              <a:rPr lang="en-US" sz="1350" b="0" u="none" strike="noStrike">
                <a:solidFill>
                  <a:srgbClr val="777777"/>
                </a:solidFill>
                <a:effectLst/>
                <a:uFillTx/>
                <a:latin typeface="Calibri"/>
              </a:rPr>
              <a:t>1</a:t>
            </a:fld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Text 0"/>
          <p:cNvSpPr/>
          <p:nvPr/>
        </p:nvSpPr>
        <p:spPr>
          <a:xfrm>
            <a:off x="380880" y="443520"/>
            <a:ext cx="11658240" cy="37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9000"/>
              </a:lnSpc>
              <a:tabLst>
                <a:tab pos="0" algn="l"/>
              </a:tabLst>
            </a:pPr>
            <a:r>
              <a:rPr lang="en-US" sz="239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SLIDE 121: The Metrics Hierarchy</a:t>
            </a:r>
            <a:endParaRPr lang="en-US" sz="23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7" name="Text 1"/>
          <p:cNvSpPr/>
          <p:nvPr/>
        </p:nvSpPr>
        <p:spPr>
          <a:xfrm>
            <a:off x="380880" y="1013760"/>
            <a:ext cx="11429640" cy="5362200"/>
          </a:xfrm>
          <a:prstGeom prst="rect">
            <a:avLst/>
          </a:prstGeom>
          <a:solidFill>
            <a:srgbClr val="F4F4F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2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━━━━━━━━━━━━━━━━━━━━━━━━━━━━━━━━━━━━━━━━━━━━━━━━━━━━━━━━━━━━━━━━━━━━━━━━━</a:t>
            </a: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2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   THE METRICS HIERARCHY</a:t>
            </a: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2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┌─────────────────────────────────────┐</a:t>
            </a: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2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NORTH STAR METRIC                 │</a:t>
            </a: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2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"The ultimate measure of          │</a:t>
            </a: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2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 product value."                  │</a:t>
            </a: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2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Example: "Weekly Active Users    │</a:t>
            </a: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2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with a Goal"                     │</a:t>
            </a: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2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└─────────────────────────────────────┘</a:t>
            </a: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2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             ▼</a:t>
            </a: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2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┌─────────────────────────────────────┐</a:t>
            </a: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2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KPIs (Key Performance Indicators) │</a:t>
            </a: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2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"The critical metrics that drive  │</a:t>
            </a: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2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 the North Star."                │</a:t>
            </a: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2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Example: "Goal Adoption Rate,"   │</a:t>
            </a: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2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"Day 30 Retention"               │</a:t>
            </a: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2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└─────────────────────────────────────┘</a:t>
            </a: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2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             ▼</a:t>
            </a: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2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┌─────────────────────────────────────┐</a:t>
            </a: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2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HEALTH METRICS                    │</a:t>
            </a: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2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"Metrics that tell you if the    │</a:t>
            </a: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2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 product is healthy."            │</a:t>
            </a: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2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Example: "NPS," "Crash Rate,"   │</a:t>
            </a: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2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"Page Load Time"                 │</a:t>
            </a: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2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└─────────────────────────────────────┘</a:t>
            </a: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2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━━━━━━━━━━━━━━━━━━━━━━━━━━━━━━━━━━━━━━━━━━━━━━━━━━━━━━━━━━━━━━━━━━━━━━━━━</a:t>
            </a: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8" name="PlaceHolder 1"/>
          <p:cNvSpPr>
            <a:spLocks noGrp="1"/>
          </p:cNvSpPr>
          <p:nvPr>
            <p:ph type="sldNum" idx="136"/>
          </p:nvPr>
        </p:nvSpPr>
        <p:spPr>
          <a:xfrm>
            <a:off x="0" y="6343560"/>
            <a:ext cx="11810520" cy="22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350" b="0" u="none" strike="noStrike">
                <a:solidFill>
                  <a:srgbClr val="777777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089E3AB-A791-4E84-8472-2144FCB8F643}" type="slidenum">
              <a:rPr lang="en-US" sz="1350" b="0" u="none" strike="noStrike">
                <a:solidFill>
                  <a:srgbClr val="777777"/>
                </a:solidFill>
                <a:effectLst/>
                <a:uFillTx/>
                <a:latin typeface="Calibri"/>
              </a:rPr>
              <a:t>1</a:t>
            </a:fld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Text 0"/>
          <p:cNvSpPr/>
          <p:nvPr/>
        </p:nvSpPr>
        <p:spPr>
          <a:xfrm>
            <a:off x="380880" y="443520"/>
            <a:ext cx="11658240" cy="37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9000"/>
              </a:lnSpc>
              <a:tabLst>
                <a:tab pos="0" algn="l"/>
              </a:tabLst>
            </a:pPr>
            <a:r>
              <a:rPr lang="en-US" sz="239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SLIDE 122: North Star Metric</a:t>
            </a:r>
            <a:endParaRPr lang="en-US" sz="23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0" name="Text 1"/>
          <p:cNvSpPr/>
          <p:nvPr/>
        </p:nvSpPr>
        <p:spPr>
          <a:xfrm>
            <a:off x="380880" y="1013760"/>
            <a:ext cx="11429640" cy="5362200"/>
          </a:xfrm>
          <a:prstGeom prst="rect">
            <a:avLst/>
          </a:prstGeom>
          <a:solidFill>
            <a:srgbClr val="F4F4F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━━━━━━━━━━━━━━━━━━━━━━━━━━━━━━━━━━━━━━━━━━━━━━━━━━━━━━━━━━━━━━━━━━━━━━━━━</a:t>
            </a:r>
            <a:endParaRPr lang="en-US" sz="9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9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   NORTH STAR METRIC</a:t>
            </a:r>
            <a:endParaRPr lang="en-US" sz="9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9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CHARACTERISTICS:</a:t>
            </a:r>
            <a:endParaRPr lang="en-US" sz="9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• Reflects user value</a:t>
            </a:r>
            <a:endParaRPr lang="en-US" sz="9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• Measurable</a:t>
            </a:r>
            <a:endParaRPr lang="en-US" sz="9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• Actionable</a:t>
            </a:r>
            <a:endParaRPr lang="en-US" sz="9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• Leading (predicts future success)</a:t>
            </a:r>
            <a:endParaRPr lang="en-US" sz="9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• Understandable to everyone</a:t>
            </a:r>
            <a:endParaRPr lang="en-US" sz="9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9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─────────────────────────────────────</a:t>
            </a:r>
            <a:endParaRPr lang="en-US" sz="9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9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EXAMPLES:</a:t>
            </a:r>
            <a:endParaRPr lang="en-US" sz="9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9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┌─────────────────────────────────────┐</a:t>
            </a:r>
            <a:endParaRPr lang="en-US" sz="9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PRODUCT          NORTH STAR        │</a:t>
            </a:r>
            <a:endParaRPr lang="en-US" sz="9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│─────────────────────────────────────│</a:t>
            </a:r>
            <a:endParaRPr lang="en-US" sz="9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Ledgerly         WAU with a Goal   │</a:t>
            </a:r>
            <a:endParaRPr lang="en-US" sz="9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Airbnb           Nights Booked     │</a:t>
            </a:r>
            <a:endParaRPr lang="en-US" sz="9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Spotify          Hours Streamed    │</a:t>
            </a:r>
            <a:endParaRPr lang="en-US" sz="9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Slack            Messages Sent     │</a:t>
            </a:r>
            <a:endParaRPr lang="en-US" sz="9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Facebook         Daily Active Users│</a:t>
            </a:r>
            <a:endParaRPr lang="en-US" sz="9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└─────────────────────────────────────┘</a:t>
            </a:r>
            <a:endParaRPr lang="en-US" sz="9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9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─────────────────────────────────────</a:t>
            </a:r>
            <a:endParaRPr lang="en-US" sz="9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9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LEDGERLY'S NORTH STAR:</a:t>
            </a:r>
            <a:endParaRPr lang="en-US" sz="9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"Weekly Active Users with a Goal"</a:t>
            </a:r>
            <a:endParaRPr lang="en-US" sz="9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9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Current: 40% (4,800 of 12,000 WAU)</a:t>
            </a:r>
            <a:endParaRPr lang="en-US" sz="9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Target: 60% by end of quarter</a:t>
            </a:r>
            <a:endParaRPr lang="en-US" sz="9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9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━━━━━━━━━━━━━━━━━━━━━━━━━━━━━━━━━━━━━━━━━━━━━━━━━━━━━━━━━━━━━━━━━━━━━━━━━</a:t>
            </a:r>
            <a:endParaRPr lang="en-US" sz="9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1" name="PlaceHolder 1"/>
          <p:cNvSpPr>
            <a:spLocks noGrp="1"/>
          </p:cNvSpPr>
          <p:nvPr>
            <p:ph type="sldNum" idx="137"/>
          </p:nvPr>
        </p:nvSpPr>
        <p:spPr>
          <a:xfrm>
            <a:off x="0" y="6343560"/>
            <a:ext cx="11810520" cy="22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350" b="0" u="none" strike="noStrike">
                <a:solidFill>
                  <a:srgbClr val="777777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D363C6C-876F-416A-99AF-74C64027D89F}" type="slidenum">
              <a:rPr lang="en-US" sz="1350" b="0" u="none" strike="noStrike">
                <a:solidFill>
                  <a:srgbClr val="777777"/>
                </a:solidFill>
                <a:effectLst/>
                <a:uFillTx/>
                <a:latin typeface="Calibri"/>
              </a:rPr>
              <a:t>1</a:t>
            </a:fld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Text 0"/>
          <p:cNvSpPr/>
          <p:nvPr/>
        </p:nvSpPr>
        <p:spPr>
          <a:xfrm>
            <a:off x="380880" y="443520"/>
            <a:ext cx="11658240" cy="37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9000"/>
              </a:lnSpc>
              <a:tabLst>
                <a:tab pos="0" algn="l"/>
              </a:tabLst>
            </a:pPr>
            <a:r>
              <a:rPr lang="en-US" sz="239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SLIDE 123: AARRR Framework</a:t>
            </a:r>
            <a:endParaRPr lang="en-US" sz="23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3" name="Text 1"/>
          <p:cNvSpPr/>
          <p:nvPr/>
        </p:nvSpPr>
        <p:spPr>
          <a:xfrm>
            <a:off x="380880" y="1013760"/>
            <a:ext cx="11429640" cy="5362200"/>
          </a:xfrm>
          <a:prstGeom prst="rect">
            <a:avLst/>
          </a:prstGeom>
          <a:solidFill>
            <a:srgbClr val="F4F4F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7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━━━━━━━━━━━━━━━━━━━━━━━━━━━━━━━━━━━━━━━━━━━━━━━━━━━━━━━━━━━━━━━━━━━━━━━━━</a:t>
            </a:r>
            <a:endParaRPr lang="en-US" sz="7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7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7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   AARRR FRAMEWORK</a:t>
            </a:r>
            <a:endParaRPr lang="en-US" sz="7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7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7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┌─────────────────────────────────────┐</a:t>
            </a:r>
            <a:endParaRPr lang="en-US" sz="7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7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ACQUISITION                       │</a:t>
            </a:r>
            <a:endParaRPr lang="en-US" sz="7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7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How do users find you?            │</a:t>
            </a:r>
            <a:endParaRPr lang="en-US" sz="7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7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Metrics: Signups, traffic sources │</a:t>
            </a:r>
            <a:endParaRPr lang="en-US" sz="7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7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└─────────────────────────────────────┘</a:t>
            </a:r>
            <a:endParaRPr lang="en-US" sz="7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7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7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             ▼</a:t>
            </a:r>
            <a:endParaRPr lang="en-US" sz="7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7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7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┌─────────────────────────────────────┐</a:t>
            </a:r>
            <a:endParaRPr lang="en-US" sz="7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7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ACTIVATION                         │</a:t>
            </a:r>
            <a:endParaRPr lang="en-US" sz="7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7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Do users have a "wow" moment?     │</a:t>
            </a:r>
            <a:endParaRPr lang="en-US" sz="7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7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Metrics: Activation rate, time    │</a:t>
            </a:r>
            <a:endParaRPr lang="en-US" sz="7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7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└─────────────────────────────────────┘</a:t>
            </a:r>
            <a:endParaRPr lang="en-US" sz="7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7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7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             ▼</a:t>
            </a:r>
            <a:endParaRPr lang="en-US" sz="7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7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7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┌─────────────────────────────────────┐</a:t>
            </a:r>
            <a:endParaRPr lang="en-US" sz="7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7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RETENTION                          │</a:t>
            </a:r>
            <a:endParaRPr lang="en-US" sz="7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7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Do users come back?               │</a:t>
            </a:r>
            <a:endParaRPr lang="en-US" sz="7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7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Metrics: Day 1, 7, 30 retention   │</a:t>
            </a:r>
            <a:endParaRPr lang="en-US" sz="7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7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└─────────────────────────────────────┘</a:t>
            </a:r>
            <a:endParaRPr lang="en-US" sz="7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7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7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             ▼</a:t>
            </a:r>
            <a:endParaRPr lang="en-US" sz="7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7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7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┌─────────────────────────────────────┐</a:t>
            </a:r>
            <a:endParaRPr lang="en-US" sz="7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7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REFERRAL                           │</a:t>
            </a:r>
            <a:endParaRPr lang="en-US" sz="7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7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Do users tell others?             │</a:t>
            </a:r>
            <a:endParaRPr lang="en-US" sz="7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7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Metrics: Viral coefficient,       │</a:t>
            </a:r>
            <a:endParaRPr lang="en-US" sz="7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7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referral rate                     │</a:t>
            </a:r>
            <a:endParaRPr lang="en-US" sz="7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7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└─────────────────────────────────────┘</a:t>
            </a:r>
            <a:endParaRPr lang="en-US" sz="7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7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7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             ▼</a:t>
            </a:r>
            <a:endParaRPr lang="en-US" sz="7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7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7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┌─────────────────────────────────────┐</a:t>
            </a:r>
            <a:endParaRPr lang="en-US" sz="7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7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REVENUE                            │</a:t>
            </a:r>
            <a:endParaRPr lang="en-US" sz="7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7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Are users paying?                 │</a:t>
            </a:r>
            <a:endParaRPr lang="en-US" sz="7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7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Metrics: ARPU, LTV, conversion    │</a:t>
            </a:r>
            <a:endParaRPr lang="en-US" sz="7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7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└─────────────────────────────────────┘</a:t>
            </a:r>
            <a:endParaRPr lang="en-US" sz="7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7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7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━━━━━━━━━━━━━━━━━━━━━━━━━━━━━━━━━━━━━━━━━━━━━━━━━━━━━━━━━━━━━━━━━━━━━━━━━</a:t>
            </a:r>
            <a:endParaRPr lang="en-US" sz="7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4" name="PlaceHolder 1"/>
          <p:cNvSpPr>
            <a:spLocks noGrp="1"/>
          </p:cNvSpPr>
          <p:nvPr>
            <p:ph type="sldNum" idx="138"/>
          </p:nvPr>
        </p:nvSpPr>
        <p:spPr>
          <a:xfrm>
            <a:off x="0" y="6343560"/>
            <a:ext cx="11810520" cy="22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350" b="0" u="none" strike="noStrike">
                <a:solidFill>
                  <a:srgbClr val="777777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F56EF1D-8E9A-4DA8-A9DF-E732D437D7F4}" type="slidenum">
              <a:rPr lang="en-US" sz="1350" b="0" u="none" strike="noStrike">
                <a:solidFill>
                  <a:srgbClr val="777777"/>
                </a:solidFill>
                <a:effectLst/>
                <a:uFillTx/>
                <a:latin typeface="Calibri"/>
              </a:rPr>
              <a:t>1</a:t>
            </a:fld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Text 0"/>
          <p:cNvSpPr/>
          <p:nvPr/>
        </p:nvSpPr>
        <p:spPr>
          <a:xfrm>
            <a:off x="380880" y="443520"/>
            <a:ext cx="11658240" cy="37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9000"/>
              </a:lnSpc>
              <a:tabLst>
                <a:tab pos="0" algn="l"/>
              </a:tabLst>
            </a:pPr>
            <a:r>
              <a:rPr lang="en-US" sz="239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SLIDE 124: Ledgerly AARRR Metrics</a:t>
            </a:r>
            <a:endParaRPr lang="en-US" sz="23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6" name="Text 1"/>
          <p:cNvSpPr/>
          <p:nvPr/>
        </p:nvSpPr>
        <p:spPr>
          <a:xfrm>
            <a:off x="380880" y="1013760"/>
            <a:ext cx="11429640" cy="5362200"/>
          </a:xfrm>
          <a:prstGeom prst="rect">
            <a:avLst/>
          </a:prstGeom>
          <a:solidFill>
            <a:srgbClr val="F4F4F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6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━━━━━━━━━━━━━━━━━━━━━━━━━━━━━━━━━━━━━━━━━━━━━━━━━━━━━━━━━━━━━━━━━━━━━━━━━</a:t>
            </a:r>
            <a:endParaRPr lang="en-US" sz="9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9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6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   LEDGERLY AARRR METRICS</a:t>
            </a:r>
            <a:endParaRPr lang="en-US" sz="9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9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6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┌─────────────────────────────────────┐</a:t>
            </a:r>
            <a:endParaRPr lang="en-US" sz="9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6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ACQUISITION                       │</a:t>
            </a:r>
            <a:endParaRPr lang="en-US" sz="9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6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Signups: 5,000/month              │</a:t>
            </a:r>
            <a:endParaRPr lang="en-US" sz="9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6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Target: 7,000/month              │</a:t>
            </a:r>
            <a:endParaRPr lang="en-US" sz="9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6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└─────────────────────────────────────┘</a:t>
            </a:r>
            <a:endParaRPr lang="en-US" sz="9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9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6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┌─────────────────────────────────────┐</a:t>
            </a:r>
            <a:endParaRPr lang="en-US" sz="9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6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ACTIVATION                         │</a:t>
            </a:r>
            <a:endParaRPr lang="en-US" sz="9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6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Activation rate: 60%              │</a:t>
            </a:r>
            <a:endParaRPr lang="en-US" sz="9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6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Target: 75%                       │</a:t>
            </a:r>
            <a:endParaRPr lang="en-US" sz="9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6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└─────────────────────────────────────┘</a:t>
            </a:r>
            <a:endParaRPr lang="en-US" sz="9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9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6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┌─────────────────────────────────────┐</a:t>
            </a:r>
            <a:endParaRPr lang="en-US" sz="9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6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RETENTION                          │</a:t>
            </a:r>
            <a:endParaRPr lang="en-US" sz="9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6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Day 30 retention: 20%             │</a:t>
            </a:r>
            <a:endParaRPr lang="en-US" sz="9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6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Target: 40%                       │</a:t>
            </a:r>
            <a:endParaRPr lang="en-US" sz="9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6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└─────────────────────────────────────┘</a:t>
            </a:r>
            <a:endParaRPr lang="en-US" sz="9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9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6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┌─────────────────────────────────────┐</a:t>
            </a:r>
            <a:endParaRPr lang="en-US" sz="9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6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REFERRAL                           │</a:t>
            </a:r>
            <a:endParaRPr lang="en-US" sz="9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6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Referral rate: 5%                 │</a:t>
            </a:r>
            <a:endParaRPr lang="en-US" sz="9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6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Target: 15%                       │</a:t>
            </a:r>
            <a:endParaRPr lang="en-US" sz="9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6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└─────────────────────────────────────┘</a:t>
            </a:r>
            <a:endParaRPr lang="en-US" sz="9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9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6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┌─────────────────────────────────────┐</a:t>
            </a:r>
            <a:endParaRPr lang="en-US" sz="9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6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REVENUE                            │</a:t>
            </a:r>
            <a:endParaRPr lang="en-US" sz="9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6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ARPU: $0 (premium planned)       │</a:t>
            </a:r>
            <a:endParaRPr lang="en-US" sz="9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6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Target: $2/month                 │</a:t>
            </a:r>
            <a:endParaRPr lang="en-US" sz="9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6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└─────────────────────────────────────┘</a:t>
            </a:r>
            <a:endParaRPr lang="en-US" sz="9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9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6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━━━━━━━━━━━━━━━━━━━━━━━━━━━━━━━━━━━━━━━━━━━━━━━━━━━━━━━━━━━━━━━━━━━━━━━━━</a:t>
            </a:r>
            <a:endParaRPr lang="en-US" sz="9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7" name="PlaceHolder 1"/>
          <p:cNvSpPr>
            <a:spLocks noGrp="1"/>
          </p:cNvSpPr>
          <p:nvPr>
            <p:ph type="sldNum" idx="139"/>
          </p:nvPr>
        </p:nvSpPr>
        <p:spPr>
          <a:xfrm>
            <a:off x="0" y="6343560"/>
            <a:ext cx="11810520" cy="22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350" b="0" u="none" strike="noStrike">
                <a:solidFill>
                  <a:srgbClr val="777777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1A8C08F-B46D-4F90-BEF4-6C27BF960CDA}" type="slidenum">
              <a:rPr lang="en-US" sz="1350" b="0" u="none" strike="noStrike">
                <a:solidFill>
                  <a:srgbClr val="777777"/>
                </a:solidFill>
                <a:effectLst/>
                <a:uFillTx/>
                <a:latin typeface="Calibri"/>
              </a:rPr>
              <a:t>1</a:t>
            </a:fld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Text 0"/>
          <p:cNvSpPr/>
          <p:nvPr/>
        </p:nvSpPr>
        <p:spPr>
          <a:xfrm>
            <a:off x="380880" y="443520"/>
            <a:ext cx="11658240" cy="37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9000"/>
              </a:lnSpc>
              <a:tabLst>
                <a:tab pos="0" algn="l"/>
              </a:tabLst>
            </a:pPr>
            <a:r>
              <a:rPr lang="en-US" sz="239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SLIDE 125: Acquisition Funnel</a:t>
            </a:r>
            <a:endParaRPr lang="en-US" sz="23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9" name="Text 1"/>
          <p:cNvSpPr/>
          <p:nvPr/>
        </p:nvSpPr>
        <p:spPr>
          <a:xfrm>
            <a:off x="380880" y="1013760"/>
            <a:ext cx="11429640" cy="5362200"/>
          </a:xfrm>
          <a:prstGeom prst="rect">
            <a:avLst/>
          </a:prstGeom>
          <a:solidFill>
            <a:srgbClr val="F4F4F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━━━━━━━━━━━━━━━━━━━━━━━━━━━━━━━━━━━━━━━━━━━━━━━━━━━━━━━━━━━━━━━━━━━━━━━━━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   ACQUISITION FUNNEL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┌─────────────────────────────────────┐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Landing Page    40,000    100%    │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└─────────────────────────────────────┘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             ▼   75%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┌─────────────────────────────────────┐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Sign Up         30,000    75%     │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└─────────────────────────────────────┘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             ▼   70%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┌─────────────────────────────────────┐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Onboarding      28,000    70%     │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└─────────────────────────────────────┘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             ▼   45%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┌─────────────────────────────────────┐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Bank Connect    18,000    45%     │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└─────────────────────────────────────┘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             ▼   30%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┌─────────────────────────────────────┐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Set Goal        12,000    30%     │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└─────────────────────────────────────┘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─────────────────────────────────────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KEY FRICTION POINTS: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• 30% drop-off: Sign Up → Onboarding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• 25% drop-off: Onboarding → Bank Connect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• 15% drop-off: Bank Connect → Set Goal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━━━━━━━━━━━━━━━━━━━━━━━━━━━━━━━━━━━━━━━━━━━━━━━━━━━━━━━━━━━━━━━━━━━━━━━━━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0" name="PlaceHolder 1"/>
          <p:cNvSpPr>
            <a:spLocks noGrp="1"/>
          </p:cNvSpPr>
          <p:nvPr>
            <p:ph type="sldNum" idx="140"/>
          </p:nvPr>
        </p:nvSpPr>
        <p:spPr>
          <a:xfrm>
            <a:off x="0" y="6343560"/>
            <a:ext cx="11810520" cy="22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350" b="0" u="none" strike="noStrike">
                <a:solidFill>
                  <a:srgbClr val="777777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2EC2BFA-ED03-418C-BF30-66F4819B2EF1}" type="slidenum">
              <a:rPr lang="en-US" sz="1350" b="0" u="none" strike="noStrike">
                <a:solidFill>
                  <a:srgbClr val="777777"/>
                </a:solidFill>
                <a:effectLst/>
                <a:uFillTx/>
                <a:latin typeface="Calibri"/>
              </a:rPr>
              <a:t>1</a:t>
            </a:fld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Text 0"/>
          <p:cNvSpPr/>
          <p:nvPr/>
        </p:nvSpPr>
        <p:spPr>
          <a:xfrm>
            <a:off x="380880" y="443520"/>
            <a:ext cx="11658240" cy="37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9000"/>
              </a:lnSpc>
              <a:tabLst>
                <a:tab pos="0" algn="l"/>
              </a:tabLst>
            </a:pPr>
            <a:r>
              <a:rPr lang="en-US" sz="239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SLIDE 126: Retention Metrics</a:t>
            </a:r>
            <a:endParaRPr lang="en-US" sz="23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2" name="Text 1"/>
          <p:cNvSpPr/>
          <p:nvPr/>
        </p:nvSpPr>
        <p:spPr>
          <a:xfrm>
            <a:off x="380880" y="1013760"/>
            <a:ext cx="11429640" cy="5362200"/>
          </a:xfrm>
          <a:prstGeom prst="rect">
            <a:avLst/>
          </a:prstGeom>
          <a:solidFill>
            <a:srgbClr val="F4F4F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8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━━━━━━━━━━━━━━━━━━━━━━━━━━━━━━━━━━━━━━━━━━━━━━━━━━━━━━━━━━━━━━━━━━━━━━━━━</a:t>
            </a:r>
            <a:endParaRPr lang="en-US" sz="10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0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8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   RETENTION METRICS</a:t>
            </a:r>
            <a:endParaRPr lang="en-US" sz="10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0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8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RETENTION CURVE:</a:t>
            </a:r>
            <a:endParaRPr lang="en-US" sz="10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8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──────────────</a:t>
            </a:r>
            <a:endParaRPr lang="en-US" sz="10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0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8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Day 1:  45%  ████████████████████████░░░░░░</a:t>
            </a:r>
            <a:endParaRPr lang="en-US" sz="10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8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Day 7:  25%  ██████████████░░░░░░░░░░░░░░░</a:t>
            </a:r>
            <a:endParaRPr lang="en-US" sz="10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8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Day 30: 20%  ████████████░░░░░░░░░░░░░░░░░</a:t>
            </a:r>
            <a:endParaRPr lang="en-US" sz="10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0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8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─────────────────────────────────────</a:t>
            </a:r>
            <a:endParaRPr lang="en-US" sz="10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0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8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RETENTION BY USER SEGMENT:</a:t>
            </a:r>
            <a:endParaRPr lang="en-US" sz="10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8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────────────────────────</a:t>
            </a:r>
            <a:endParaRPr lang="en-US" sz="10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0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8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With Goal:   40%  ████████████████████████░░</a:t>
            </a:r>
            <a:endParaRPr lang="en-US" sz="10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8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Without Goal: 12%  ██████░░░░░░░░░░░░░░░░░░</a:t>
            </a:r>
            <a:endParaRPr lang="en-US" sz="10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0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8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DIFFERENCE: +28% UPLIFT</a:t>
            </a:r>
            <a:endParaRPr lang="en-US" sz="10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0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8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─────────────────────────────────────</a:t>
            </a:r>
            <a:endParaRPr lang="en-US" sz="10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0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8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WHY USERS CHURN:</a:t>
            </a:r>
            <a:endParaRPr lang="en-US" sz="10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8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───────────────</a:t>
            </a:r>
            <a:endParaRPr lang="en-US" sz="10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8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• "No progress visible" - 35%</a:t>
            </a:r>
            <a:endParaRPr lang="en-US" sz="10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8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• "No reason to come back" - 25%</a:t>
            </a:r>
            <a:endParaRPr lang="en-US" sz="10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8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• "Too complicated" - 20%</a:t>
            </a:r>
            <a:endParaRPr lang="en-US" sz="10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8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• "Other reasons" - 20%</a:t>
            </a:r>
            <a:endParaRPr lang="en-US" sz="10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0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8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━━━━━━━━━━━━━━━━━━━━━━━━━━━━━━━━━━━━━━━━━━━━━━━━━━━━━━━━━━━━━━━━━━━━━━━━━</a:t>
            </a:r>
            <a:endParaRPr lang="en-US" sz="10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3" name="PlaceHolder 1"/>
          <p:cNvSpPr>
            <a:spLocks noGrp="1"/>
          </p:cNvSpPr>
          <p:nvPr>
            <p:ph type="sldNum" idx="141"/>
          </p:nvPr>
        </p:nvSpPr>
        <p:spPr>
          <a:xfrm>
            <a:off x="0" y="6343560"/>
            <a:ext cx="11810520" cy="22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350" b="0" u="none" strike="noStrike">
                <a:solidFill>
                  <a:srgbClr val="777777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B55C4FE-1C1B-4420-BCDF-EEDF4438D9D5}" type="slidenum">
              <a:rPr lang="en-US" sz="1350" b="0" u="none" strike="noStrike">
                <a:solidFill>
                  <a:srgbClr val="777777"/>
                </a:solidFill>
                <a:effectLst/>
                <a:uFillTx/>
                <a:latin typeface="Calibri"/>
              </a:rPr>
              <a:t>1</a:t>
            </a:fld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Text 0"/>
          <p:cNvSpPr/>
          <p:nvPr/>
        </p:nvSpPr>
        <p:spPr>
          <a:xfrm>
            <a:off x="380880" y="443520"/>
            <a:ext cx="11658240" cy="37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9000"/>
              </a:lnSpc>
              <a:tabLst>
                <a:tab pos="0" algn="l"/>
              </a:tabLst>
            </a:pPr>
            <a:r>
              <a:rPr lang="en-US" sz="239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SLIDE 127: Goal Analytics</a:t>
            </a:r>
            <a:endParaRPr lang="en-US" sz="23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5" name="Text 1"/>
          <p:cNvSpPr/>
          <p:nvPr/>
        </p:nvSpPr>
        <p:spPr>
          <a:xfrm>
            <a:off x="380880" y="1013760"/>
            <a:ext cx="11429640" cy="5362200"/>
          </a:xfrm>
          <a:prstGeom prst="rect">
            <a:avLst/>
          </a:prstGeom>
          <a:solidFill>
            <a:srgbClr val="F4F4F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2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━━━━━━━━━━━━━━━━━━━━━━━━━━━━━━━━━━━━━━━━━━━━━━━━━━━━━━━━━━━━━━━━━━━━━━━━━</a:t>
            </a: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2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   GOAL ANALYTICS</a:t>
            </a: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2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┌─────────────────────────────────────┐</a:t>
            </a: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2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GOALS CREATED:      15,000        │</a:t>
            </a: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2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GOALS COMPLETED:    2,100 (14%)   │</a:t>
            </a: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2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GOALS IN PROGRESS:  8,700 (58%)   │</a:t>
            </a: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2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GOALS ABANDONED:    4,200 (28%)   │</a:t>
            </a: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2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└─────────────────────────────────────┘</a:t>
            </a: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2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┌─────────────────────────────────────┐</a:t>
            </a: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2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GOAL TYPE DISTRIBUTION:            │</a:t>
            </a: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2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• Savings Goals:    60%           │</a:t>
            </a: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2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• Spending Goals:   25%           │</a:t>
            </a: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2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• Debt Goals:       15%           │</a:t>
            </a: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2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└─────────────────────────────────────┘</a:t>
            </a: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2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┌─────────────────────────────────────┐</a:t>
            </a: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2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AVERAGE COMPLETION TIME:           │</a:t>
            </a: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2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• Savings Goals:    45 days       │</a:t>
            </a: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2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• Spending Goals:   30 days       │</a:t>
            </a: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2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• Debt Goals:       90 days       │</a:t>
            </a: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2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└─────────────────────────────────────┘</a:t>
            </a: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2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┌─────────────────────────────────────┐</a:t>
            </a: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2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RETENTION IMPACT:                  │</a:t>
            </a: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2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• With goal:      40% Day 30      │</a:t>
            </a: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2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• Without goal:   12% Day 30      │</a:t>
            </a: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2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• Uplift:         +28%           │</a:t>
            </a: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2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└─────────────────────────────────────┘</a:t>
            </a: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2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━━━━━━━━━━━━━━━━━━━━━━━━━━━━━━━━━━━━━━━━━━━━━━━━━━━━━━━━━━━━━━━━━━━━━━━━━</a:t>
            </a: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6" name="PlaceHolder 1"/>
          <p:cNvSpPr>
            <a:spLocks noGrp="1"/>
          </p:cNvSpPr>
          <p:nvPr>
            <p:ph type="sldNum" idx="142"/>
          </p:nvPr>
        </p:nvSpPr>
        <p:spPr>
          <a:xfrm>
            <a:off x="0" y="6343560"/>
            <a:ext cx="11810520" cy="22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350" b="0" u="none" strike="noStrike">
                <a:solidFill>
                  <a:srgbClr val="777777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288B7BB-0CA1-46FF-826E-181CABDD4E43}" type="slidenum">
              <a:rPr lang="en-US" sz="1350" b="0" u="none" strike="noStrike">
                <a:solidFill>
                  <a:srgbClr val="777777"/>
                </a:solidFill>
                <a:effectLst/>
                <a:uFillTx/>
                <a:latin typeface="Calibri"/>
              </a:rPr>
              <a:t>1</a:t>
            </a:fld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Text 0"/>
          <p:cNvSpPr/>
          <p:nvPr/>
        </p:nvSpPr>
        <p:spPr>
          <a:xfrm>
            <a:off x="380880" y="443520"/>
            <a:ext cx="11658240" cy="37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9000"/>
              </a:lnSpc>
              <a:tabLst>
                <a:tab pos="0" algn="l"/>
              </a:tabLst>
            </a:pPr>
            <a:r>
              <a:rPr lang="en-US" sz="239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SLIDE 128: Feature Adoption</a:t>
            </a:r>
            <a:endParaRPr lang="en-US" sz="23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8" name="Text 1"/>
          <p:cNvSpPr/>
          <p:nvPr/>
        </p:nvSpPr>
        <p:spPr>
          <a:xfrm>
            <a:off x="380880" y="1013760"/>
            <a:ext cx="11429640" cy="5362200"/>
          </a:xfrm>
          <a:prstGeom prst="rect">
            <a:avLst/>
          </a:prstGeom>
          <a:solidFill>
            <a:srgbClr val="F4F4F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2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━━━━━━━━━━━━━━━━━━━━━━━━━━━━━━━━━━━━━━━━━━━━━━━━━━━━━━━━━━━━━━━━━━━━━━━━━</a:t>
            </a: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2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   FEATURE ADOPTION</a:t>
            </a: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2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(Monthly Active Users)</a:t>
            </a: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2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┌─────────────────────────────────────┐</a:t>
            </a: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2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1. Dashboard View       95%       │</a:t>
            </a: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2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2. Goal Creation        32%       │</a:t>
            </a: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2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3. Goal Progress        28%       │</a:t>
            </a: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2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4. Goal Editing         15%       │</a:t>
            </a: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2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5. Weekly Summaries     20%       │</a:t>
            </a: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2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└─────────────────────────────────────┘</a:t>
            </a: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2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─────────────────────────────────────</a:t>
            </a: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2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GOAL CREATION FUNNEL:</a:t>
            </a: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2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────────────────────</a:t>
            </a: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2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100% → View Goal Page</a:t>
            </a: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2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 75% → Click "Set a Goal"</a:t>
            </a: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2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 60% → Enter Goal Details</a:t>
            </a: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2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 50% → Save Goal</a:t>
            </a: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2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 25% → Create Multiple Goals</a:t>
            </a: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2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─────────────────────────────────────</a:t>
            </a: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2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KEY INSIGHT:</a:t>
            </a: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2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Only 32% of users create goals.</a:t>
            </a: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2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We need to increase goal adoption</a:t>
            </a: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2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to 50%+.</a:t>
            </a: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2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━━━━━━━━━━━━━━━━━━━━━━━━━━━━━━━━━━━━━━━━━━━━━━━━━━━━━━━━━━━━━━━━━━━━━━━━━</a:t>
            </a: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9" name="PlaceHolder 1"/>
          <p:cNvSpPr>
            <a:spLocks noGrp="1"/>
          </p:cNvSpPr>
          <p:nvPr>
            <p:ph type="sldNum" idx="143"/>
          </p:nvPr>
        </p:nvSpPr>
        <p:spPr>
          <a:xfrm>
            <a:off x="0" y="6343560"/>
            <a:ext cx="11810520" cy="22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350" b="0" u="none" strike="noStrike">
                <a:solidFill>
                  <a:srgbClr val="777777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47E8139-4DC3-4F7D-97C9-CDF4E64BB8A2}" type="slidenum">
              <a:rPr lang="en-US" sz="1350" b="0" u="none" strike="noStrike">
                <a:solidFill>
                  <a:srgbClr val="777777"/>
                </a:solidFill>
                <a:effectLst/>
                <a:uFillTx/>
                <a:latin typeface="Calibri"/>
              </a:rPr>
              <a:t>1</a:t>
            </a:fld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Text 0"/>
          <p:cNvSpPr/>
          <p:nvPr/>
        </p:nvSpPr>
        <p:spPr>
          <a:xfrm>
            <a:off x="380880" y="443520"/>
            <a:ext cx="11658240" cy="37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9000"/>
              </a:lnSpc>
              <a:tabLst>
                <a:tab pos="0" algn="l"/>
              </a:tabLst>
            </a:pPr>
            <a:r>
              <a:rPr lang="en-US" sz="239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SLIDE 129: NPS &amp; Satisfaction</a:t>
            </a:r>
            <a:endParaRPr lang="en-US" sz="23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1" name="Text 1"/>
          <p:cNvSpPr/>
          <p:nvPr/>
        </p:nvSpPr>
        <p:spPr>
          <a:xfrm>
            <a:off x="380880" y="1013760"/>
            <a:ext cx="11429640" cy="5362200"/>
          </a:xfrm>
          <a:prstGeom prst="rect">
            <a:avLst/>
          </a:prstGeom>
          <a:solidFill>
            <a:srgbClr val="F4F4F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3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━━━━━━━━━━━━━━━━━━━━━━━━━━━━━━━━━━━━━━━━━━━━━━━━━━━━━━━━━━━━━━━━━━━━━━━━━</a:t>
            </a:r>
            <a:endParaRPr lang="en-US" sz="9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9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3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   NPS &amp; SATISFACTION</a:t>
            </a:r>
            <a:endParaRPr lang="en-US" sz="9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9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3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NPS = Net Promoter Score</a:t>
            </a:r>
            <a:endParaRPr lang="en-US" sz="9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3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NPS = Promoters% - Detractors%</a:t>
            </a:r>
            <a:endParaRPr lang="en-US" sz="9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9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3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─────────────────────────────────────</a:t>
            </a:r>
            <a:endParaRPr lang="en-US" sz="9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9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3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LEDGERLY NPS: 42</a:t>
            </a:r>
            <a:endParaRPr lang="en-US" sz="9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9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3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┌─────────────────────────────────────┐</a:t>
            </a:r>
            <a:endParaRPr lang="en-US" sz="9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3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Promoters (9-10):  45%            │</a:t>
            </a:r>
            <a:endParaRPr lang="en-US" sz="9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3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Passives (7-8):    35%            │</a:t>
            </a:r>
            <a:endParaRPr lang="en-US" sz="9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3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Detractors (0-6):  20%            │</a:t>
            </a:r>
            <a:endParaRPr lang="en-US" sz="9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3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└─────────────────────────────────────┘</a:t>
            </a:r>
            <a:endParaRPr lang="en-US" sz="9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9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3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─────────────────────────────────────</a:t>
            </a:r>
            <a:endParaRPr lang="en-US" sz="9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9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3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USER FEEDBACK SUMMARY:</a:t>
            </a:r>
            <a:endParaRPr lang="en-US" sz="9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3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──────────────────────</a:t>
            </a:r>
            <a:endParaRPr lang="en-US" sz="9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9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3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 "Goal tracking is great!"</a:t>
            </a:r>
            <a:endParaRPr lang="en-US" sz="9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3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 "Simple to use."</a:t>
            </a:r>
            <a:endParaRPr lang="en-US" sz="9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3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 "Wish there were more goal types."</a:t>
            </a:r>
            <a:endParaRPr lang="en-US" sz="9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3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 "Notifications would be helpful."</a:t>
            </a:r>
            <a:endParaRPr lang="en-US" sz="9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3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 "Connecting my bank account was</a:t>
            </a:r>
            <a:endParaRPr lang="en-US" sz="9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3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    difficult."</a:t>
            </a:r>
            <a:endParaRPr lang="en-US" sz="9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9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3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─────────────────────────────────────</a:t>
            </a:r>
            <a:endParaRPr lang="en-US" sz="9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9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3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KEY INSIGHT:</a:t>
            </a:r>
            <a:endParaRPr lang="en-US" sz="9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3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Users want more guidance and</a:t>
            </a:r>
            <a:endParaRPr lang="en-US" sz="9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3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better onboarding.</a:t>
            </a:r>
            <a:endParaRPr lang="en-US" sz="9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9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3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━━━━━━━━━━━━━━━━━━━━━━━━━━━━━━━━━━━━━━━━━━━━━━━━━━━━━━━━━━━━━━━━━━━━━━━━━</a:t>
            </a:r>
            <a:endParaRPr lang="en-US" sz="9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2" name="PlaceHolder 1"/>
          <p:cNvSpPr>
            <a:spLocks noGrp="1"/>
          </p:cNvSpPr>
          <p:nvPr>
            <p:ph type="sldNum" idx="144"/>
          </p:nvPr>
        </p:nvSpPr>
        <p:spPr>
          <a:xfrm>
            <a:off x="0" y="6343560"/>
            <a:ext cx="11810520" cy="22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350" b="0" u="none" strike="noStrike">
                <a:solidFill>
                  <a:srgbClr val="777777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59B15E4-98DD-4EA2-AC18-7453E1A06BE4}" type="slidenum">
              <a:rPr lang="en-US" sz="1350" b="0" u="none" strike="noStrike">
                <a:solidFill>
                  <a:srgbClr val="777777"/>
                </a:solidFill>
                <a:effectLst/>
                <a:uFillTx/>
                <a:latin typeface="Calibri"/>
              </a:rPr>
              <a:t>1</a:t>
            </a:fld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Text 0"/>
          <p:cNvSpPr/>
          <p:nvPr/>
        </p:nvSpPr>
        <p:spPr>
          <a:xfrm>
            <a:off x="380880" y="443520"/>
            <a:ext cx="11658240" cy="37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9000"/>
              </a:lnSpc>
              <a:tabLst>
                <a:tab pos="0" algn="l"/>
              </a:tabLst>
            </a:pPr>
            <a:r>
              <a:rPr lang="en-US" sz="239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SLIDE 130: Key Insights from Data</a:t>
            </a:r>
            <a:endParaRPr lang="en-US" sz="23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4" name="Text 1"/>
          <p:cNvSpPr/>
          <p:nvPr/>
        </p:nvSpPr>
        <p:spPr>
          <a:xfrm>
            <a:off x="380880" y="1013760"/>
            <a:ext cx="11429640" cy="5362200"/>
          </a:xfrm>
          <a:prstGeom prst="rect">
            <a:avLst/>
          </a:prstGeom>
          <a:solidFill>
            <a:srgbClr val="F4F4F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1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━━━━━━━━━━━━━━━━━━━━━━━━━━━━━━━━━━━━━━━━━━━━━━━━━━━━━━━━━━━━━━━━━━━━━━━━━</a:t>
            </a:r>
            <a:endParaRPr lang="en-US" sz="11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1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1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   KEY INSIGHTS FROM DATA</a:t>
            </a:r>
            <a:endParaRPr lang="en-US" sz="11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1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1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INSIGHT 1:</a:t>
            </a:r>
            <a:endParaRPr lang="en-US" sz="11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1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Goal Setting is the Retention Driver</a:t>
            </a:r>
            <a:endParaRPr lang="en-US" sz="11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1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─────────────────────────────</a:t>
            </a:r>
            <a:endParaRPr lang="en-US" sz="11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1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Finding: Users with goals have 40%</a:t>
            </a:r>
            <a:endParaRPr lang="en-US" sz="11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1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Day 30 retention vs. 12% without.</a:t>
            </a:r>
            <a:endParaRPr lang="en-US" sz="11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1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Action: Make goal setting core.</a:t>
            </a:r>
            <a:endParaRPr lang="en-US" sz="11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1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1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INSIGHT 2:</a:t>
            </a:r>
            <a:endParaRPr lang="en-US" sz="11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1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Onboarding Friction is Costing Us</a:t>
            </a:r>
            <a:endParaRPr lang="en-US" sz="11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1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─────────────────────────────</a:t>
            </a:r>
            <a:endParaRPr lang="en-US" sz="11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1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Finding: 25% drop-off at bank connect.</a:t>
            </a:r>
            <a:endParaRPr lang="en-US" sz="11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1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Action: Improve Plaid integration.</a:t>
            </a:r>
            <a:endParaRPr lang="en-US" sz="11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1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1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INSIGHT 3:</a:t>
            </a:r>
            <a:endParaRPr lang="en-US" sz="11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1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Features Are Underserved</a:t>
            </a:r>
            <a:endParaRPr lang="en-US" sz="11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1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─────────────────────────────</a:t>
            </a:r>
            <a:endParaRPr lang="en-US" sz="11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1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Finding: Only 32% create goals.</a:t>
            </a:r>
            <a:endParaRPr lang="en-US" sz="11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1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Action: Add in-app nudges.</a:t>
            </a:r>
            <a:endParaRPr lang="en-US" sz="11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1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1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INSIGHT 4:</a:t>
            </a:r>
            <a:endParaRPr lang="en-US" sz="11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1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Users Want More Guidance</a:t>
            </a:r>
            <a:endParaRPr lang="en-US" sz="11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1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─────────────────────────────</a:t>
            </a:r>
            <a:endParaRPr lang="en-US" sz="11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1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Finding: NPS feedback asks for tips.</a:t>
            </a:r>
            <a:endParaRPr lang="en-US" sz="11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1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Action: Build Actionable Insights.</a:t>
            </a:r>
            <a:endParaRPr lang="en-US" sz="11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1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1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━━━━━━━━━━━━━━━━━━━━━━━━━━━━━━━━━━━━━━━━━━━━━━━━━━━━━━━━━━━━━━━━━━━━━━━━━</a:t>
            </a:r>
            <a:endParaRPr lang="en-US" sz="11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5" name="PlaceHolder 1"/>
          <p:cNvSpPr>
            <a:spLocks noGrp="1"/>
          </p:cNvSpPr>
          <p:nvPr>
            <p:ph type="sldNum" idx="145"/>
          </p:nvPr>
        </p:nvSpPr>
        <p:spPr>
          <a:xfrm>
            <a:off x="0" y="6343560"/>
            <a:ext cx="11810520" cy="22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350" b="0" u="none" strike="noStrike">
                <a:solidFill>
                  <a:srgbClr val="777777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6781BE9-EBD6-4EC1-900C-BF2C48FE5BC2}" type="slidenum">
              <a:rPr lang="en-US" sz="1350" b="0" u="none" strike="noStrike">
                <a:solidFill>
                  <a:srgbClr val="777777"/>
                </a:solidFill>
                <a:effectLst/>
                <a:uFillTx/>
                <a:latin typeface="Calibri"/>
              </a:rPr>
              <a:t>1</a:t>
            </a:fld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Text 0"/>
          <p:cNvSpPr/>
          <p:nvPr/>
        </p:nvSpPr>
        <p:spPr>
          <a:xfrm>
            <a:off x="380880" y="443520"/>
            <a:ext cx="11658240" cy="37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9000"/>
              </a:lnSpc>
              <a:tabLst>
                <a:tab pos="0" algn="l"/>
              </a:tabLst>
            </a:pPr>
            <a:r>
              <a:rPr lang="en-US" sz="239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SLIDE 131: Hypotheses for Improvement</a:t>
            </a:r>
            <a:endParaRPr lang="en-US" sz="23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7" name="Text 1"/>
          <p:cNvSpPr/>
          <p:nvPr/>
        </p:nvSpPr>
        <p:spPr>
          <a:xfrm>
            <a:off x="380880" y="1013760"/>
            <a:ext cx="11429640" cy="5362200"/>
          </a:xfrm>
          <a:prstGeom prst="rect">
            <a:avLst/>
          </a:prstGeom>
          <a:solidFill>
            <a:srgbClr val="F4F4F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━━━━━━━━━━━━━━━━━━━━━━━━━━━━━━━━━━━━━━━━━━━━━━━━━━━━━━━━━━━━━━━━━━━━━━━━━</a:t>
            </a:r>
            <a:endParaRPr lang="en-US" sz="9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9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   HYPOTHESES FOR IMPROVEMENT</a:t>
            </a:r>
            <a:endParaRPr lang="en-US" sz="9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9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HYPOTHESIS 1: Simplify Onboarding</a:t>
            </a:r>
            <a:endParaRPr lang="en-US" sz="9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──────────────────────────────────</a:t>
            </a:r>
            <a:endParaRPr lang="en-US" sz="9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If we simplify bank connection,</a:t>
            </a:r>
            <a:endParaRPr lang="en-US" sz="9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activation rate will increase by 10%.</a:t>
            </a:r>
            <a:endParaRPr lang="en-US" sz="9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9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HYPOTHESIS 2: In-App Nudges</a:t>
            </a:r>
            <a:endParaRPr lang="en-US" sz="9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──────────────────────────</a:t>
            </a:r>
            <a:endParaRPr lang="en-US" sz="9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If we add in-app nudges,</a:t>
            </a:r>
            <a:endParaRPr lang="en-US" sz="9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goal adoption will increase by 15%.</a:t>
            </a:r>
            <a:endParaRPr lang="en-US" sz="9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9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HYPOTHESIS 3: Goal Completion</a:t>
            </a:r>
            <a:endParaRPr lang="en-US" sz="9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Notifications</a:t>
            </a:r>
            <a:endParaRPr lang="en-US" sz="9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──────────────────────────</a:t>
            </a:r>
            <a:endParaRPr lang="en-US" sz="9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If we send notifications when goals</a:t>
            </a:r>
            <a:endParaRPr lang="en-US" sz="9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are completed, users will set</a:t>
            </a:r>
            <a:endParaRPr lang="en-US" sz="9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new goals.</a:t>
            </a:r>
            <a:endParaRPr lang="en-US" sz="9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9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HYPOTHESIS 4: Improve Goal Creation</a:t>
            </a:r>
            <a:endParaRPr lang="en-US" sz="9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──────────────────────────────────</a:t>
            </a:r>
            <a:endParaRPr lang="en-US" sz="9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If we simplify goal creation to 3</a:t>
            </a:r>
            <a:endParaRPr lang="en-US" sz="9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steps, completion will increase</a:t>
            </a:r>
            <a:endParaRPr lang="en-US" sz="9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by 25%.</a:t>
            </a:r>
            <a:endParaRPr lang="en-US" sz="9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9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HYPOTHESIS 5: Personalized</a:t>
            </a:r>
            <a:endParaRPr lang="en-US" sz="9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Recommendations</a:t>
            </a:r>
            <a:endParaRPr lang="en-US" sz="9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──────────────────────────</a:t>
            </a:r>
            <a:endParaRPr lang="en-US" sz="9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If we recommend personalized goals,</a:t>
            </a:r>
            <a:endParaRPr lang="en-US" sz="9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adoption will increase by 20%.</a:t>
            </a:r>
            <a:endParaRPr lang="en-US" sz="9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9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━━━━━━━━━━━━━━━━━━━━━━━━━━━━━━━━━━━━━━━━━━━━━━━━━━━━━━━━━━━━━━━━━━━━━━━━━</a:t>
            </a:r>
            <a:endParaRPr lang="en-US" sz="9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8" name="PlaceHolder 1"/>
          <p:cNvSpPr>
            <a:spLocks noGrp="1"/>
          </p:cNvSpPr>
          <p:nvPr>
            <p:ph type="sldNum" idx="146"/>
          </p:nvPr>
        </p:nvSpPr>
        <p:spPr>
          <a:xfrm>
            <a:off x="0" y="6343560"/>
            <a:ext cx="11810520" cy="22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350" b="0" u="none" strike="noStrike">
                <a:solidFill>
                  <a:srgbClr val="777777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E106DB0-414E-4A58-A41B-968C7ED5838D}" type="slidenum">
              <a:rPr lang="en-US" sz="1350" b="0" u="none" strike="noStrike">
                <a:solidFill>
                  <a:srgbClr val="777777"/>
                </a:solidFill>
                <a:effectLst/>
                <a:uFillTx/>
                <a:latin typeface="Calibri"/>
              </a:rPr>
              <a:t>1</a:t>
            </a:fld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Text 0"/>
          <p:cNvSpPr/>
          <p:nvPr/>
        </p:nvSpPr>
        <p:spPr>
          <a:xfrm>
            <a:off x="380880" y="443520"/>
            <a:ext cx="11658240" cy="37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9000"/>
              </a:lnSpc>
              <a:tabLst>
                <a:tab pos="0" algn="l"/>
              </a:tabLst>
            </a:pPr>
            <a:r>
              <a:rPr lang="en-US" sz="239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SLIDE 132: Hypotheses Prioritization</a:t>
            </a:r>
            <a:endParaRPr lang="en-US" sz="23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0" name="Text 1"/>
          <p:cNvSpPr/>
          <p:nvPr/>
        </p:nvSpPr>
        <p:spPr>
          <a:xfrm>
            <a:off x="380880" y="1013760"/>
            <a:ext cx="11429640" cy="5362200"/>
          </a:xfrm>
          <a:prstGeom prst="rect">
            <a:avLst/>
          </a:prstGeom>
          <a:solidFill>
            <a:srgbClr val="F4F4F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━━━━━━━━━━━━━━━━━━━━━━━━━━━━━━━━━━━━━━━━━━━━━━━━━━━━━━━━━━━━━━━━━━━━━━━━━</a:t>
            </a:r>
            <a:endParaRPr lang="en-US" sz="9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9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   HYPOTHESES PRIORITIZATION</a:t>
            </a:r>
            <a:endParaRPr lang="en-US" sz="9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9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┌────────────────────────────────────────────────┐</a:t>
            </a:r>
            <a:endParaRPr lang="en-US" sz="9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HYPOTHESIS         IMPACT  CONF  EFF  RANK  │</a:t>
            </a:r>
            <a:endParaRPr lang="en-US" sz="9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│────────────────────────────────────────────────│</a:t>
            </a:r>
            <a:endParaRPr lang="en-US" sz="9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Simplify Onboard  High    High   Med   1    │</a:t>
            </a:r>
            <a:endParaRPr lang="en-US" sz="9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In-App Nudges     High    High   Low    2    │</a:t>
            </a:r>
            <a:endParaRPr lang="en-US" sz="9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Goal Completion   Med     Med    Med    3    │</a:t>
            </a:r>
            <a:endParaRPr lang="en-US" sz="9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Improve Creation  Med     High   Low    4    │</a:t>
            </a:r>
            <a:endParaRPr lang="en-US" sz="9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Personalized Rec  High    Med    High   5    │</a:t>
            </a:r>
            <a:endParaRPr lang="en-US" sz="9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└────────────────────────────────────────────────┘</a:t>
            </a:r>
            <a:endParaRPr lang="en-US" sz="9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9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─────────────────────────────────────</a:t>
            </a:r>
            <a:endParaRPr lang="en-US" sz="9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9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PRIORITY ORDER:</a:t>
            </a:r>
            <a:endParaRPr lang="en-US" sz="9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1. Simplify Onboarding</a:t>
            </a:r>
            <a:endParaRPr lang="en-US" sz="9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2. In-App Nudges</a:t>
            </a:r>
            <a:endParaRPr lang="en-US" sz="9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3. Improve Goal Creation</a:t>
            </a:r>
            <a:endParaRPr lang="en-US" sz="9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4. Goal Completion Notifications</a:t>
            </a:r>
            <a:endParaRPr lang="en-US" sz="9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5. Personalized Recommendations</a:t>
            </a:r>
            <a:endParaRPr lang="en-US" sz="9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9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─────────────────────────────────────</a:t>
            </a:r>
            <a:endParaRPr lang="en-US" sz="9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9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WHY THIS ORDER:</a:t>
            </a:r>
            <a:endParaRPr lang="en-US" sz="9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• Onboarding fixes the biggest</a:t>
            </a:r>
            <a:endParaRPr lang="en-US" sz="9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  friction point</a:t>
            </a:r>
            <a:endParaRPr lang="en-US" sz="9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• In-App Nudges are high impact,</a:t>
            </a:r>
            <a:endParaRPr lang="en-US" sz="9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  low effort</a:t>
            </a:r>
            <a:endParaRPr lang="en-US" sz="9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• Goal Creation fixes the drop-off</a:t>
            </a:r>
            <a:endParaRPr lang="en-US" sz="9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  in the goal funnel</a:t>
            </a:r>
            <a:endParaRPr lang="en-US" sz="9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9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━━━━━━━━━━━━━━━━━━━━━━━━━━━━━━━━━━━━━━━━━━━━━━━━━━━━━━━━━━━━━━━━━━━━━━━━━</a:t>
            </a:r>
            <a:endParaRPr lang="en-US" sz="9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1" name="PlaceHolder 1"/>
          <p:cNvSpPr>
            <a:spLocks noGrp="1"/>
          </p:cNvSpPr>
          <p:nvPr>
            <p:ph type="sldNum" idx="147"/>
          </p:nvPr>
        </p:nvSpPr>
        <p:spPr>
          <a:xfrm>
            <a:off x="0" y="6343560"/>
            <a:ext cx="11810520" cy="22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350" b="0" u="none" strike="noStrike">
                <a:solidFill>
                  <a:srgbClr val="777777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AEF5119-F2E7-4C85-8905-E95E74D27136}" type="slidenum">
              <a:rPr lang="en-US" sz="1350" b="0" u="none" strike="noStrike">
                <a:solidFill>
                  <a:srgbClr val="777777"/>
                </a:solidFill>
                <a:effectLst/>
                <a:uFillTx/>
                <a:latin typeface="Calibri"/>
              </a:rPr>
              <a:t>1</a:t>
            </a:fld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Text 0"/>
          <p:cNvSpPr/>
          <p:nvPr/>
        </p:nvSpPr>
        <p:spPr>
          <a:xfrm>
            <a:off x="380880" y="443520"/>
            <a:ext cx="11658240" cy="37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9000"/>
              </a:lnSpc>
              <a:tabLst>
                <a:tab pos="0" algn="l"/>
              </a:tabLst>
            </a:pPr>
            <a:r>
              <a:rPr lang="en-US" sz="239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SLIDE 133: Part 9 Recap</a:t>
            </a:r>
            <a:endParaRPr lang="en-US" sz="23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3" name="Text 1"/>
          <p:cNvSpPr/>
          <p:nvPr/>
        </p:nvSpPr>
        <p:spPr>
          <a:xfrm>
            <a:off x="380880" y="1013760"/>
            <a:ext cx="11429640" cy="5362200"/>
          </a:xfrm>
          <a:prstGeom prst="rect">
            <a:avLst/>
          </a:prstGeom>
          <a:solidFill>
            <a:srgbClr val="F4F4F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━━━━━━━━━━━━━━━━━━━━━━━━━━━━━━━━━━━━━━━━━━━━━━━━━━━━━━━━━━━━━━━━━━━━━━━━━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   PART 9 RECAP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┌─────────────────────────────────────┐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What you learned:                 │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                                  │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✓ North Star metrics              │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✓ The metrics hierarchy           │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✓ AARRR framework                 │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✓ Metrics dashboards              │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✓ Key insights from data          │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✓ Hypotheses for improvement      │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└─────────────────────────────────────┘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───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Portfolio Tracker: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[ ] Created metrics-dashboard.md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[ ] Created key-insights.md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[ ] Created hypotheses.md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━━━━━━━━━━━━━━━━━━━━━━━━━━━━━━━━━━━━━━━━━━━━━━━━━━━━━━━━━━━━━━━━━━━━━━━━━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4" name="PlaceHolder 1"/>
          <p:cNvSpPr>
            <a:spLocks noGrp="1"/>
          </p:cNvSpPr>
          <p:nvPr>
            <p:ph type="sldNum" idx="148"/>
          </p:nvPr>
        </p:nvSpPr>
        <p:spPr>
          <a:xfrm>
            <a:off x="0" y="6343560"/>
            <a:ext cx="11810520" cy="22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350" b="0" u="none" strike="noStrike">
                <a:solidFill>
                  <a:srgbClr val="777777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EABED09-B035-4E81-89FB-ED0CDB70B02B}" type="slidenum">
              <a:rPr lang="en-US" sz="1350" b="0" u="none" strike="noStrike">
                <a:solidFill>
                  <a:srgbClr val="777777"/>
                </a:solidFill>
                <a:effectLst/>
                <a:uFillTx/>
                <a:latin typeface="Calibri"/>
              </a:rPr>
              <a:t>1</a:t>
            </a:fld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Text 0"/>
          <p:cNvSpPr/>
          <p:nvPr/>
        </p:nvSpPr>
        <p:spPr>
          <a:xfrm>
            <a:off x="380880" y="443520"/>
            <a:ext cx="11658240" cy="37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9000"/>
              </a:lnSpc>
              <a:tabLst>
                <a:tab pos="0" algn="l"/>
              </a:tabLst>
            </a:pPr>
            <a:r>
              <a:rPr lang="en-US" sz="239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SLIDE 134: What's Next</a:t>
            </a:r>
            <a:endParaRPr lang="en-US" sz="23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6" name="Text 1"/>
          <p:cNvSpPr/>
          <p:nvPr/>
        </p:nvSpPr>
        <p:spPr>
          <a:xfrm>
            <a:off x="380880" y="1013760"/>
            <a:ext cx="11429640" cy="5362200"/>
          </a:xfrm>
          <a:prstGeom prst="rect">
            <a:avLst/>
          </a:prstGeom>
          <a:solidFill>
            <a:srgbClr val="F4F4F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━━━━━━━━━━━━━━━━━━━━━━━━━━━━━━━━━━━━━━━━━━━━━━━━━━━━━━━━━━━━━━━━━━━━━━━━━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   WHAT'S NEXT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┌─────────────────────────────────────┐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PART 10                           │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Growth &amp; Iteration                │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                                  │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• The growth equation             │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• The growth pyramid              │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• Experiment design               │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• The iteration cycle             │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└─────────────────────────────────────┘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───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Next session: The never-ending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journey of improvement.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━━━━━━━━━━━━━━━━━━━━━━━━━━━━━━━━━━━━━━━━━━━━━━━━━━━━━━━━━━━━━━━━━━━━━━━━━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7" name="PlaceHolder 1"/>
          <p:cNvSpPr>
            <a:spLocks noGrp="1"/>
          </p:cNvSpPr>
          <p:nvPr>
            <p:ph type="sldNum" idx="149"/>
          </p:nvPr>
        </p:nvSpPr>
        <p:spPr>
          <a:xfrm>
            <a:off x="0" y="6343560"/>
            <a:ext cx="11810520" cy="22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350" b="0" u="none" strike="noStrike">
                <a:solidFill>
                  <a:srgbClr val="777777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C39A998-9F0C-408C-8445-D2407F606538}" type="slidenum">
              <a:rPr lang="en-US" sz="1350" b="0" u="none" strike="noStrike">
                <a:solidFill>
                  <a:srgbClr val="777777"/>
                </a:solidFill>
                <a:effectLst/>
                <a:uFillTx/>
                <a:latin typeface="Calibri"/>
              </a:rPr>
              <a:t>1</a:t>
            </a:fld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Text 0"/>
          <p:cNvSpPr/>
          <p:nvPr/>
        </p:nvSpPr>
        <p:spPr>
          <a:xfrm>
            <a:off x="380880" y="2713320"/>
            <a:ext cx="11658240" cy="55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107640" anchor="t">
            <a:noAutofit/>
          </a:bodyPr>
          <a:p>
            <a:pPr defTabSz="914400">
              <a:lnSpc>
                <a:spcPct val="109000"/>
              </a:lnSpc>
              <a:tabLst>
                <a:tab pos="0" algn="l"/>
              </a:tabLst>
            </a:pPr>
            <a:r>
              <a:rPr lang="en-US" sz="283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PART 10: GROWTH &amp; ITERATION</a:t>
            </a:r>
            <a:endParaRPr lang="en-US" sz="28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9" name="Text 1"/>
          <p:cNvSpPr/>
          <p:nvPr/>
        </p:nvSpPr>
        <p:spPr>
          <a:xfrm>
            <a:off x="380880" y="3498480"/>
            <a:ext cx="11658240" cy="55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107640" anchor="t">
            <a:noAutofit/>
          </a:bodyPr>
          <a:p>
            <a:pPr defTabSz="914400">
              <a:lnSpc>
                <a:spcPct val="109000"/>
              </a:lnSpc>
              <a:tabLst>
                <a:tab pos="0" algn="l"/>
              </a:tabLst>
            </a:pPr>
            <a:r>
              <a:rPr lang="en-US" sz="283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Slides 135-160</a:t>
            </a:r>
            <a:endParaRPr lang="en-US" sz="28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0" name="PlaceHolder 1"/>
          <p:cNvSpPr>
            <a:spLocks noGrp="1"/>
          </p:cNvSpPr>
          <p:nvPr>
            <p:ph type="sldNum" idx="150"/>
          </p:nvPr>
        </p:nvSpPr>
        <p:spPr>
          <a:xfrm>
            <a:off x="0" y="6343560"/>
            <a:ext cx="11810520" cy="22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350" b="0" u="none" strike="noStrike">
                <a:solidFill>
                  <a:srgbClr val="777777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E27213F-87BD-457B-8106-53E294696336}" type="slidenum">
              <a:rPr lang="en-US" sz="1350" b="0" u="none" strike="noStrike">
                <a:solidFill>
                  <a:srgbClr val="777777"/>
                </a:solidFill>
                <a:effectLst/>
                <a:uFillTx/>
                <a:latin typeface="Calibri"/>
              </a:rPr>
              <a:t>1</a:t>
            </a:fld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Text 0"/>
          <p:cNvSpPr/>
          <p:nvPr/>
        </p:nvSpPr>
        <p:spPr>
          <a:xfrm>
            <a:off x="380880" y="934200"/>
            <a:ext cx="11658240" cy="37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9000"/>
              </a:lnSpc>
              <a:tabLst>
                <a:tab pos="0" algn="l"/>
              </a:tabLst>
            </a:pPr>
            <a:r>
              <a:rPr lang="en-US" sz="239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SLIDE 135: Part 10 Title</a:t>
            </a:r>
            <a:endParaRPr lang="en-US" sz="23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2" name="Text 1"/>
          <p:cNvSpPr/>
          <p:nvPr/>
        </p:nvSpPr>
        <p:spPr>
          <a:xfrm>
            <a:off x="380880" y="1504440"/>
            <a:ext cx="11429640" cy="4381200"/>
          </a:xfrm>
          <a:prstGeom prst="rect">
            <a:avLst/>
          </a:prstGeom>
          <a:solidFill>
            <a:srgbClr val="F4F4F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━━━━━━━━━━━━━━━━━━━━━━━━━━━━━━━━━━━━━━━━━━━━━━━━━━━━━━━━━━━━━━━━━━━━━━━━━</a:t>
            </a:r>
            <a:endParaRPr lang="en-US" sz="1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   PART 10</a:t>
            </a:r>
            <a:endParaRPr lang="en-US" sz="1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   GROWTH &amp;</a:t>
            </a:r>
            <a:endParaRPr lang="en-US" sz="1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   ITERATION</a:t>
            </a:r>
            <a:endParaRPr lang="en-US" sz="1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The Never-Ending Journey</a:t>
            </a:r>
            <a:endParaRPr lang="en-US" sz="1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───</a:t>
            </a:r>
            <a:endParaRPr lang="en-US" sz="1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"A product is never finished.</a:t>
            </a:r>
            <a:endParaRPr lang="en-US" sz="1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It's just released."</a:t>
            </a:r>
            <a:endParaRPr lang="en-US" sz="1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━━━━━━━━━━━━━━━━━━━━━━━━━━━━━━━━━━━━━━━━━━━━━━━━━━━━━━━━━━━━━━━━━━━━━━━━━</a:t>
            </a:r>
            <a:endParaRPr lang="en-US" sz="1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3" name="PlaceHolder 1"/>
          <p:cNvSpPr>
            <a:spLocks noGrp="1"/>
          </p:cNvSpPr>
          <p:nvPr>
            <p:ph type="sldNum" idx="151"/>
          </p:nvPr>
        </p:nvSpPr>
        <p:spPr>
          <a:xfrm>
            <a:off x="0" y="6343560"/>
            <a:ext cx="11810520" cy="22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350" b="0" u="none" strike="noStrike">
                <a:solidFill>
                  <a:srgbClr val="777777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6F4B1F3-FF98-424A-A367-57F621ADA2C4}" type="slidenum">
              <a:rPr lang="en-US" sz="1350" b="0" u="none" strike="noStrike">
                <a:solidFill>
                  <a:srgbClr val="777777"/>
                </a:solidFill>
                <a:effectLst/>
                <a:uFillTx/>
                <a:latin typeface="Calibri"/>
              </a:rPr>
              <a:t>1</a:t>
            </a:fld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Text 0"/>
          <p:cNvSpPr/>
          <p:nvPr/>
        </p:nvSpPr>
        <p:spPr>
          <a:xfrm>
            <a:off x="380880" y="443520"/>
            <a:ext cx="11658240" cy="37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9000"/>
              </a:lnSpc>
              <a:tabLst>
                <a:tab pos="0" algn="l"/>
              </a:tabLst>
            </a:pPr>
            <a:r>
              <a:rPr lang="en-US" sz="239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SLIDE 136: The Growth Equation</a:t>
            </a:r>
            <a:endParaRPr lang="en-US" sz="23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5" name="Text 1"/>
          <p:cNvSpPr/>
          <p:nvPr/>
        </p:nvSpPr>
        <p:spPr>
          <a:xfrm>
            <a:off x="380880" y="1013760"/>
            <a:ext cx="11429640" cy="5362200"/>
          </a:xfrm>
          <a:prstGeom prst="rect">
            <a:avLst/>
          </a:prstGeom>
          <a:solidFill>
            <a:srgbClr val="F4F4F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━━━━━━━━━━━━━━━━━━━━━━━━━━━━━━━━━━━━━━━━━━━━━━━━━━━━━━━━━━━━━━━━━━━━━━━━━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   THE GROWTH EQUATION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GROWTH =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ACQUISITION × ACTIVATION ×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RETENTION × REFERRAL × REVENUE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─────────────────────────────────────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KEY INSIGHT: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If any factor is zero, growth is zero.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─────────────────────────────────────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EXAMPLE: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If acquisition is high but retention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is low, you're acquiring users who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churn.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→ Fix retention before scaling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  acquisition.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─────────────────────────────────────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LEDGERLY'S GROWTH PRIORITIES: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1. Retention (20% → 40%)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2. Activation (60% → 75%)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3. Goal Adoption (32% → 50%)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4. Acquisition (Scale after retention)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━━━━━━━━━━━━━━━━━━━━━━━━━━━━━━━━━━━━━━━━━━━━━━━━━━━━━━━━━━━━━━━━━━━━━━━━━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6" name="PlaceHolder 1"/>
          <p:cNvSpPr>
            <a:spLocks noGrp="1"/>
          </p:cNvSpPr>
          <p:nvPr>
            <p:ph type="sldNum" idx="152"/>
          </p:nvPr>
        </p:nvSpPr>
        <p:spPr>
          <a:xfrm>
            <a:off x="0" y="6343560"/>
            <a:ext cx="11810520" cy="22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350" b="0" u="none" strike="noStrike">
                <a:solidFill>
                  <a:srgbClr val="777777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B6A1B0F-F04B-4104-93A6-32E9BDFA7092}" type="slidenum">
              <a:rPr lang="en-US" sz="1350" b="0" u="none" strike="noStrike">
                <a:solidFill>
                  <a:srgbClr val="777777"/>
                </a:solidFill>
                <a:effectLst/>
                <a:uFillTx/>
                <a:latin typeface="Calibri"/>
              </a:rPr>
              <a:t>1</a:t>
            </a:fld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Text 0"/>
          <p:cNvSpPr/>
          <p:nvPr/>
        </p:nvSpPr>
        <p:spPr>
          <a:xfrm>
            <a:off x="380880" y="443520"/>
            <a:ext cx="11658240" cy="37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9000"/>
              </a:lnSpc>
              <a:tabLst>
                <a:tab pos="0" algn="l"/>
              </a:tabLst>
            </a:pPr>
            <a:r>
              <a:rPr lang="en-US" sz="239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SLIDE 137: The Growth Pyramid</a:t>
            </a:r>
            <a:endParaRPr lang="en-US" sz="23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8" name="Text 1"/>
          <p:cNvSpPr/>
          <p:nvPr/>
        </p:nvSpPr>
        <p:spPr>
          <a:xfrm>
            <a:off x="380880" y="1013760"/>
            <a:ext cx="11429640" cy="5362200"/>
          </a:xfrm>
          <a:prstGeom prst="rect">
            <a:avLst/>
          </a:prstGeom>
          <a:solidFill>
            <a:srgbClr val="F4F4F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3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━━━━━━━━━━━━━━━━━━━━━━━━━━━━━━━━━━━━━━━━━━━━━━━━━━━━━━━━━━━━━━━━━━━━━━━━━</a:t>
            </a:r>
            <a:endParaRPr lang="en-US" sz="9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9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3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   THE GROWTH PYRAMID</a:t>
            </a:r>
            <a:endParaRPr lang="en-US" sz="9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9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3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 ┌─────────────────────────────────────┐</a:t>
            </a:r>
            <a:endParaRPr lang="en-US" sz="9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3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 │  REVENUE                           │</a:t>
            </a:r>
            <a:endParaRPr lang="en-US" sz="9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3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 │  (Monetize)                        │</a:t>
            </a:r>
            <a:endParaRPr lang="en-US" sz="9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3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 └─────────────────────────────────────┘</a:t>
            </a:r>
            <a:endParaRPr lang="en-US" sz="9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3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             ▲</a:t>
            </a:r>
            <a:endParaRPr lang="en-US" sz="9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3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 ┌─────────────────────────────────────┐</a:t>
            </a:r>
            <a:endParaRPr lang="en-US" sz="9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3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 │  RETENTION                          │</a:t>
            </a:r>
            <a:endParaRPr lang="en-US" sz="9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3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 │  (Keep)                            │</a:t>
            </a:r>
            <a:endParaRPr lang="en-US" sz="9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3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 └─────────────────────────────────────┘</a:t>
            </a:r>
            <a:endParaRPr lang="en-US" sz="9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3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             ▲</a:t>
            </a:r>
            <a:endParaRPr lang="en-US" sz="9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3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 ┌─────────────────────────────────────┐</a:t>
            </a:r>
            <a:endParaRPr lang="en-US" sz="9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3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 │  ACTIVATION                         │</a:t>
            </a:r>
            <a:endParaRPr lang="en-US" sz="9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3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 │  (WOW)                             │</a:t>
            </a:r>
            <a:endParaRPr lang="en-US" sz="9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3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 └─────────────────────────────────────┘</a:t>
            </a:r>
            <a:endParaRPr lang="en-US" sz="9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3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             ▲</a:t>
            </a:r>
            <a:endParaRPr lang="en-US" sz="9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3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 ┌─────────────────────────────────────┐</a:t>
            </a:r>
            <a:endParaRPr lang="en-US" sz="9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3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 │  ACQUISITION                       │</a:t>
            </a:r>
            <a:endParaRPr lang="en-US" sz="9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3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 │  (Find)                            │</a:t>
            </a:r>
            <a:endParaRPr lang="en-US" sz="9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3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 └─────────────────────────────────────┘</a:t>
            </a:r>
            <a:endParaRPr lang="en-US" sz="9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9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3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─────────────────────────────────────</a:t>
            </a:r>
            <a:endParaRPr lang="en-US" sz="9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9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3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KEY PRINCIPLE:</a:t>
            </a:r>
            <a:endParaRPr lang="en-US" sz="9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3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GROWTH IS BUILT FROM THE BOTTOM UP.</a:t>
            </a:r>
            <a:endParaRPr lang="en-US" sz="9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9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3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1. First, make sure you have</a:t>
            </a:r>
            <a:endParaRPr lang="en-US" sz="9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3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   product-market fit (retention)</a:t>
            </a:r>
            <a:endParaRPr lang="en-US" sz="9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3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2. Then, optimize activation</a:t>
            </a:r>
            <a:endParaRPr lang="en-US" sz="9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3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3. Then, scale acquisition</a:t>
            </a:r>
            <a:endParaRPr lang="en-US" sz="9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3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4. Finally, optimize revenue</a:t>
            </a:r>
            <a:endParaRPr lang="en-US" sz="9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9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3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━━━━━━━━━━━━━━━━━━━━━━━━━━━━━━━━━━━━━━━━━━━━━━━━━━━━━━━━━━━━━━━━━━━━━━━━━</a:t>
            </a:r>
            <a:endParaRPr lang="en-US" sz="9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9" name="PlaceHolder 1"/>
          <p:cNvSpPr>
            <a:spLocks noGrp="1"/>
          </p:cNvSpPr>
          <p:nvPr>
            <p:ph type="sldNum" idx="153"/>
          </p:nvPr>
        </p:nvSpPr>
        <p:spPr>
          <a:xfrm>
            <a:off x="0" y="6343560"/>
            <a:ext cx="11810520" cy="22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350" b="0" u="none" strike="noStrike">
                <a:solidFill>
                  <a:srgbClr val="777777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8D94923-513F-47BD-86A6-DF94F165A1B6}" type="slidenum">
              <a:rPr lang="en-US" sz="1350" b="0" u="none" strike="noStrike">
                <a:solidFill>
                  <a:srgbClr val="777777"/>
                </a:solidFill>
                <a:effectLst/>
                <a:uFillTx/>
                <a:latin typeface="Calibri"/>
              </a:rPr>
              <a:t>1</a:t>
            </a:fld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Text 0"/>
          <p:cNvSpPr/>
          <p:nvPr/>
        </p:nvSpPr>
        <p:spPr>
          <a:xfrm>
            <a:off x="380880" y="443520"/>
            <a:ext cx="11658240" cy="37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9000"/>
              </a:lnSpc>
              <a:tabLst>
                <a:tab pos="0" algn="l"/>
              </a:tabLst>
            </a:pPr>
            <a:r>
              <a:rPr lang="en-US" sz="239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SLIDE 138: The Iteration Cycle</a:t>
            </a:r>
            <a:endParaRPr lang="en-US" sz="23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1" name="Text 1"/>
          <p:cNvSpPr/>
          <p:nvPr/>
        </p:nvSpPr>
        <p:spPr>
          <a:xfrm>
            <a:off x="380880" y="1013760"/>
            <a:ext cx="11429640" cy="5362200"/>
          </a:xfrm>
          <a:prstGeom prst="rect">
            <a:avLst/>
          </a:prstGeom>
          <a:solidFill>
            <a:srgbClr val="F4F4F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6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━━━━━━━━━━━━━━━━━━━━━━━━━━━━━━━━━━━━━━━━━━━━━━━━━━━━━━━━━━━━━━━━━━━━━━━━━</a:t>
            </a:r>
            <a:endParaRPr lang="en-US" sz="9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9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6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   THE ITERATION CYCLE</a:t>
            </a:r>
            <a:endParaRPr lang="en-US" sz="9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9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6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┌─────────────────────────────────────┐</a:t>
            </a:r>
            <a:endParaRPr lang="en-US" sz="9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6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                                  │</a:t>
            </a:r>
            <a:endParaRPr lang="en-US" sz="9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6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   ┌──────────┐                   │</a:t>
            </a:r>
            <a:endParaRPr lang="en-US" sz="9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6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   │  LAUNCH  │                   │</a:t>
            </a:r>
            <a:endParaRPr lang="en-US" sz="9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6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   └────┬─────┘                   │</a:t>
            </a:r>
            <a:endParaRPr lang="en-US" sz="9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6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        │                         │</a:t>
            </a:r>
            <a:endParaRPr lang="en-US" sz="9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6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        ▼                         │</a:t>
            </a:r>
            <a:endParaRPr lang="en-US" sz="9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6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   ┌──────────┐                   │</a:t>
            </a:r>
            <a:endParaRPr lang="en-US" sz="9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6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   │ MEASURE  │                   │</a:t>
            </a:r>
            <a:endParaRPr lang="en-US" sz="9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6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   └────┬─────┘                   │</a:t>
            </a:r>
            <a:endParaRPr lang="en-US" sz="9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6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        │                         │</a:t>
            </a:r>
            <a:endParaRPr lang="en-US" sz="9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6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        ▼                         │</a:t>
            </a:r>
            <a:endParaRPr lang="en-US" sz="9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6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   ┌──────────┐                   │</a:t>
            </a:r>
            <a:endParaRPr lang="en-US" sz="9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6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   │  LEARN   │                   │</a:t>
            </a:r>
            <a:endParaRPr lang="en-US" sz="9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6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   └────┬─────┘                   │</a:t>
            </a:r>
            <a:endParaRPr lang="en-US" sz="9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6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        │                         │</a:t>
            </a:r>
            <a:endParaRPr lang="en-US" sz="9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6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        ▼                         │</a:t>
            </a:r>
            <a:endParaRPr lang="en-US" sz="9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6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   ┌──────────┐                   │</a:t>
            </a:r>
            <a:endParaRPr lang="en-US" sz="9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6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   │ ITERATE  │                   │</a:t>
            </a:r>
            <a:endParaRPr lang="en-US" sz="9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6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   └────┬─────┘                   │</a:t>
            </a:r>
            <a:endParaRPr lang="en-US" sz="9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6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        │                         │</a:t>
            </a:r>
            <a:endParaRPr lang="en-US" sz="9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6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        └─────────────────────────┘</a:t>
            </a:r>
            <a:endParaRPr lang="en-US" sz="9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6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                                  │</a:t>
            </a:r>
            <a:endParaRPr lang="en-US" sz="9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6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└─────────────────────────────────────┘</a:t>
            </a:r>
            <a:endParaRPr lang="en-US" sz="9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9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6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─────────────────────────────────────</a:t>
            </a:r>
            <a:endParaRPr lang="en-US" sz="9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9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6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THE PRODUCT IS NEVER FINISHED.</a:t>
            </a:r>
            <a:endParaRPr lang="en-US" sz="9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6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YOU ARE ALWAYS ITERATING.</a:t>
            </a:r>
            <a:endParaRPr lang="en-US" sz="9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9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6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━━━━━━━━━━━━━━━━━━━━━━━━━━━━━━━━━━━━━━━━━━━━━━━━━━━━━━━━━━━━━━━━━━━━━━━━━</a:t>
            </a:r>
            <a:endParaRPr lang="en-US" sz="9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2" name="PlaceHolder 1"/>
          <p:cNvSpPr>
            <a:spLocks noGrp="1"/>
          </p:cNvSpPr>
          <p:nvPr>
            <p:ph type="sldNum" idx="154"/>
          </p:nvPr>
        </p:nvSpPr>
        <p:spPr>
          <a:xfrm>
            <a:off x="0" y="6343560"/>
            <a:ext cx="11810520" cy="22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350" b="0" u="none" strike="noStrike">
                <a:solidFill>
                  <a:srgbClr val="777777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5CED033-3D67-427A-94FE-FEC33A7B6719}" type="slidenum">
              <a:rPr lang="en-US" sz="1350" b="0" u="none" strike="noStrike">
                <a:solidFill>
                  <a:srgbClr val="777777"/>
                </a:solidFill>
                <a:effectLst/>
                <a:uFillTx/>
                <a:latin typeface="Calibri"/>
              </a:rPr>
              <a:t>1</a:t>
            </a:fld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Text 0"/>
          <p:cNvSpPr/>
          <p:nvPr/>
        </p:nvSpPr>
        <p:spPr>
          <a:xfrm>
            <a:off x="380880" y="443520"/>
            <a:ext cx="11658240" cy="37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9000"/>
              </a:lnSpc>
              <a:tabLst>
                <a:tab pos="0" algn="l"/>
              </a:tabLst>
            </a:pPr>
            <a:r>
              <a:rPr lang="en-US" sz="239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SLIDE 139: Experiment Process</a:t>
            </a:r>
            <a:endParaRPr lang="en-US" sz="23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4" name="Text 1"/>
          <p:cNvSpPr/>
          <p:nvPr/>
        </p:nvSpPr>
        <p:spPr>
          <a:xfrm>
            <a:off x="380880" y="1013760"/>
            <a:ext cx="11429640" cy="5362200"/>
          </a:xfrm>
          <a:prstGeom prst="rect">
            <a:avLst/>
          </a:prstGeom>
          <a:solidFill>
            <a:srgbClr val="F4F4F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1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━━━━━━━━━━━━━━━━━━━━━━━━━━━━━━━━━━━━━━━━━━━━━━━━━━━━━━━━━━━━━━━━━━━━━━━━━</a:t>
            </a:r>
            <a:endParaRPr lang="en-US" sz="7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7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1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   EXPERIMENT PROCESS</a:t>
            </a:r>
            <a:endParaRPr lang="en-US" sz="7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7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1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┌─────────────────────────────────────┐</a:t>
            </a:r>
            <a:endParaRPr lang="en-US" sz="7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1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1. IDEATE                          │</a:t>
            </a:r>
            <a:endParaRPr lang="en-US" sz="7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1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• Identify hypothesis              │</a:t>
            </a:r>
            <a:endParaRPr lang="en-US" sz="7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1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• Define experiment                │</a:t>
            </a:r>
            <a:endParaRPr lang="en-US" sz="7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1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• Set success criteria            │</a:t>
            </a:r>
            <a:endParaRPr lang="en-US" sz="7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1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└─────────────────────────────────────┘</a:t>
            </a:r>
            <a:endParaRPr lang="en-US" sz="7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7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1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             ▼</a:t>
            </a:r>
            <a:endParaRPr lang="en-US" sz="7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7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1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┌─────────────────────────────────────┐</a:t>
            </a:r>
            <a:endParaRPr lang="en-US" sz="7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1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2. DESIGN                          │</a:t>
            </a:r>
            <a:endParaRPr lang="en-US" sz="7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1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• Define control and test groups   │</a:t>
            </a:r>
            <a:endParaRPr lang="en-US" sz="7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1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• Determine sample size           │</a:t>
            </a:r>
            <a:endParaRPr lang="en-US" sz="7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1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• Design the experiment           │</a:t>
            </a:r>
            <a:endParaRPr lang="en-US" sz="7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1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└─────────────────────────────────────┘</a:t>
            </a:r>
            <a:endParaRPr lang="en-US" sz="7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7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1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             ▼</a:t>
            </a:r>
            <a:endParaRPr lang="en-US" sz="7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7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1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┌─────────────────────────────────────┐</a:t>
            </a:r>
            <a:endParaRPr lang="en-US" sz="7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1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3. RUN                             │</a:t>
            </a:r>
            <a:endParaRPr lang="en-US" sz="7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1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• Launch the experiment           │</a:t>
            </a:r>
            <a:endParaRPr lang="en-US" sz="7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1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• Monitor results                 │</a:t>
            </a:r>
            <a:endParaRPr lang="en-US" sz="7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1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• Ensure data quality             │</a:t>
            </a:r>
            <a:endParaRPr lang="en-US" sz="7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1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└─────────────────────────────────────┘</a:t>
            </a:r>
            <a:endParaRPr lang="en-US" sz="7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7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1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             ▼</a:t>
            </a:r>
            <a:endParaRPr lang="en-US" sz="7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7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1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┌─────────────────────────────────────┐</a:t>
            </a:r>
            <a:endParaRPr lang="en-US" sz="7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1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4. ANALYZE                         │</a:t>
            </a:r>
            <a:endParaRPr lang="en-US" sz="7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1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• Analyze results                 │</a:t>
            </a:r>
            <a:endParaRPr lang="en-US" sz="7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1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• Determine significance          │</a:t>
            </a:r>
            <a:endParaRPr lang="en-US" sz="7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1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• Document findings               │</a:t>
            </a:r>
            <a:endParaRPr lang="en-US" sz="7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1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└─────────────────────────────────────┘</a:t>
            </a:r>
            <a:endParaRPr lang="en-US" sz="7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7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1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             ▼</a:t>
            </a:r>
            <a:endParaRPr lang="en-US" sz="7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7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1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┌─────────────────────────────────────┐</a:t>
            </a:r>
            <a:endParaRPr lang="en-US" sz="7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1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5. ACT                             │</a:t>
            </a:r>
            <a:endParaRPr lang="en-US" sz="7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1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• Implement winning experiments   │</a:t>
            </a:r>
            <a:endParaRPr lang="en-US" sz="7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1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• Deploy learnings                │</a:t>
            </a:r>
            <a:endParaRPr lang="en-US" sz="7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1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• Iterate                          │</a:t>
            </a:r>
            <a:endParaRPr lang="en-US" sz="7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1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└─────────────────────────────────────┘</a:t>
            </a:r>
            <a:endParaRPr lang="en-US" sz="7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7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1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━━━━━━━━━━━━━━━━━━━━━━━━━━━━━━━━━━━━━━━━━━━━━━━━━━━━━━━━━━━━━━━━━━━━━━━━━</a:t>
            </a:r>
            <a:endParaRPr lang="en-US" sz="7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5" name="PlaceHolder 1"/>
          <p:cNvSpPr>
            <a:spLocks noGrp="1"/>
          </p:cNvSpPr>
          <p:nvPr>
            <p:ph type="sldNum" idx="155"/>
          </p:nvPr>
        </p:nvSpPr>
        <p:spPr>
          <a:xfrm>
            <a:off x="0" y="6343560"/>
            <a:ext cx="11810520" cy="22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350" b="0" u="none" strike="noStrike">
                <a:solidFill>
                  <a:srgbClr val="777777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889D24C-F46A-4B8F-8C6C-6E136FA270FD}" type="slidenum">
              <a:rPr lang="en-US" sz="1350" b="0" u="none" strike="noStrike">
                <a:solidFill>
                  <a:srgbClr val="777777"/>
                </a:solidFill>
                <a:effectLst/>
                <a:uFillTx/>
                <a:latin typeface="Calibri"/>
              </a:rPr>
              <a:t>1</a:t>
            </a:fld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Text 0"/>
          <p:cNvSpPr/>
          <p:nvPr/>
        </p:nvSpPr>
        <p:spPr>
          <a:xfrm>
            <a:off x="380880" y="443520"/>
            <a:ext cx="11658240" cy="37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9000"/>
              </a:lnSpc>
              <a:tabLst>
                <a:tab pos="0" algn="l"/>
              </a:tabLst>
            </a:pPr>
            <a:r>
              <a:rPr lang="en-US" sz="239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SLIDE 140: Experiment Template</a:t>
            </a:r>
            <a:endParaRPr lang="en-US" sz="23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7" name="Text 1"/>
          <p:cNvSpPr/>
          <p:nvPr/>
        </p:nvSpPr>
        <p:spPr>
          <a:xfrm>
            <a:off x="380880" y="1013760"/>
            <a:ext cx="11429640" cy="5362200"/>
          </a:xfrm>
          <a:prstGeom prst="rect">
            <a:avLst/>
          </a:prstGeom>
          <a:solidFill>
            <a:srgbClr val="F4F4F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8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━━━━━━━━━━━━━━━━━━━━━━━━━━━━━━━━━━━━━━━━━━━━━━━━━━━━━━━━━━━━━━━━━━━━━━━━━</a:t>
            </a:r>
            <a:endParaRPr lang="en-US" sz="8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8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8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   EXPERIMENT TEMPLATE</a:t>
            </a:r>
            <a:endParaRPr lang="en-US" sz="8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8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8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EXPERIMENT: [Name]</a:t>
            </a:r>
            <a:endParaRPr lang="en-US" sz="8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8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────────────────────</a:t>
            </a:r>
            <a:endParaRPr lang="en-US" sz="8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8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8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OBJECTIVE:</a:t>
            </a:r>
            <a:endParaRPr lang="en-US" sz="8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8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[What we want to achieve]</a:t>
            </a:r>
            <a:endParaRPr lang="en-US" sz="8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8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8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HYPOTHESIS:</a:t>
            </a:r>
            <a:endParaRPr lang="en-US" sz="8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8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[If we do X, then Y will happen]</a:t>
            </a:r>
            <a:endParaRPr lang="en-US" sz="8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8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8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CONTROL GROUP:</a:t>
            </a:r>
            <a:endParaRPr lang="en-US" sz="8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8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[Current experience]</a:t>
            </a:r>
            <a:endParaRPr lang="en-US" sz="8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8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8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TEST GROUP:</a:t>
            </a:r>
            <a:endParaRPr lang="en-US" sz="8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8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[New experience]</a:t>
            </a:r>
            <a:endParaRPr lang="en-US" sz="8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8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8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PRIMARY METRIC:</a:t>
            </a:r>
            <a:endParaRPr lang="en-US" sz="8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8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[Metric we're optimizing]</a:t>
            </a:r>
            <a:endParaRPr lang="en-US" sz="8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8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8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SECONDARY METRICS:</a:t>
            </a:r>
            <a:endParaRPr lang="en-US" sz="8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8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[Other metrics to track]</a:t>
            </a:r>
            <a:endParaRPr lang="en-US" sz="8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8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8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TIMELINE:</a:t>
            </a:r>
            <a:endParaRPr lang="en-US" sz="8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8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[X weeks]</a:t>
            </a:r>
            <a:endParaRPr lang="en-US" sz="8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8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8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SAMPLE SIZE:</a:t>
            </a:r>
            <a:endParaRPr lang="en-US" sz="8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8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[X users]</a:t>
            </a:r>
            <a:endParaRPr lang="en-US" sz="8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8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8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SUCCESS CRITERION:</a:t>
            </a:r>
            <a:endParaRPr lang="en-US" sz="8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8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[Target value]</a:t>
            </a:r>
            <a:endParaRPr lang="en-US" sz="8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8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8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DECISION:</a:t>
            </a:r>
            <a:endParaRPr lang="en-US" sz="8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8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[Implement | Iterate | Discard]</a:t>
            </a:r>
            <a:endParaRPr lang="en-US" sz="8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8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8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━━━━━━━━━━━━━━━━━━━━━━━━━━━━━━━━━━━━━━━━━━━━━━━━━━━━━━━━━━━━━━━━━━━━━━━━━</a:t>
            </a:r>
            <a:endParaRPr lang="en-US" sz="8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8" name="PlaceHolder 1"/>
          <p:cNvSpPr>
            <a:spLocks noGrp="1"/>
          </p:cNvSpPr>
          <p:nvPr>
            <p:ph type="sldNum" idx="156"/>
          </p:nvPr>
        </p:nvSpPr>
        <p:spPr>
          <a:xfrm>
            <a:off x="0" y="6343560"/>
            <a:ext cx="11810520" cy="22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350" b="0" u="none" strike="noStrike">
                <a:solidFill>
                  <a:srgbClr val="777777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B99F228-DFF0-40AC-ABF0-073A5A9D4873}" type="slidenum">
              <a:rPr lang="en-US" sz="1350" b="0" u="none" strike="noStrike">
                <a:solidFill>
                  <a:srgbClr val="777777"/>
                </a:solidFill>
                <a:effectLst/>
                <a:uFillTx/>
                <a:latin typeface="Calibri"/>
              </a:rPr>
              <a:t>1</a:t>
            </a:fld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Text 0"/>
          <p:cNvSpPr/>
          <p:nvPr/>
        </p:nvSpPr>
        <p:spPr>
          <a:xfrm>
            <a:off x="380880" y="443520"/>
            <a:ext cx="11658240" cy="37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9000"/>
              </a:lnSpc>
              <a:tabLst>
                <a:tab pos="0" algn="l"/>
              </a:tabLst>
            </a:pPr>
            <a:r>
              <a:rPr lang="en-US" sz="239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SLIDE 141: Sample Experiment</a:t>
            </a:r>
            <a:endParaRPr lang="en-US" sz="23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0" name="Text 1"/>
          <p:cNvSpPr/>
          <p:nvPr/>
        </p:nvSpPr>
        <p:spPr>
          <a:xfrm>
            <a:off x="380880" y="1013760"/>
            <a:ext cx="11429640" cy="5362200"/>
          </a:xfrm>
          <a:prstGeom prst="rect">
            <a:avLst/>
          </a:prstGeom>
          <a:solidFill>
            <a:srgbClr val="F4F4F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3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━━━━━━━━━━━━━━━━━━━━━━━━━━━━━━━━━━━━━━━━━━━━━━━━━━━━━━━━━━━━━━━━━━━━━━━━━</a:t>
            </a:r>
            <a:endParaRPr lang="en-US" sz="8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8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3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   SAMPLE EXPERIMENT</a:t>
            </a:r>
            <a:endParaRPr lang="en-US" sz="8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8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3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EXPERIMENT: In-App Nudges</a:t>
            </a:r>
            <a:endParaRPr lang="en-US" sz="8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3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──────────────────────────</a:t>
            </a:r>
            <a:endParaRPr lang="en-US" sz="8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8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3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OBJECTIVE:</a:t>
            </a:r>
            <a:endParaRPr lang="en-US" sz="8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3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Increase goal adoption by 15%</a:t>
            </a:r>
            <a:endParaRPr lang="en-US" sz="8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8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3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HYPOTHESIS:</a:t>
            </a:r>
            <a:endParaRPr lang="en-US" sz="8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3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If we add in-app nudges prompting</a:t>
            </a:r>
            <a:endParaRPr lang="en-US" sz="8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3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users to set goals, goal adoption</a:t>
            </a:r>
            <a:endParaRPr lang="en-US" sz="8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3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will increase from 32% to 47%.</a:t>
            </a:r>
            <a:endParaRPr lang="en-US" sz="8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8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3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CONTROL GROUP:</a:t>
            </a:r>
            <a:endParaRPr lang="en-US" sz="8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3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Standard experience without nudges</a:t>
            </a:r>
            <a:endParaRPr lang="en-US" sz="8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8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3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TEST GROUP:</a:t>
            </a:r>
            <a:endParaRPr lang="en-US" sz="8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3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In-app nudges at key moments:</a:t>
            </a:r>
            <a:endParaRPr lang="en-US" sz="8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3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• After bank connection</a:t>
            </a:r>
            <a:endParaRPr lang="en-US" sz="8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3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• On dashboard</a:t>
            </a:r>
            <a:endParaRPr lang="en-US" sz="8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3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• After 7 days without a goal</a:t>
            </a:r>
            <a:endParaRPr lang="en-US" sz="8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8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3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PRIMARY METRIC:</a:t>
            </a:r>
            <a:endParaRPr lang="en-US" sz="8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3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Goal adoption rate</a:t>
            </a:r>
            <a:endParaRPr lang="en-US" sz="8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8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3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TIMELINE:</a:t>
            </a:r>
            <a:endParaRPr lang="en-US" sz="8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3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4 weeks</a:t>
            </a:r>
            <a:endParaRPr lang="en-US" sz="8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8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3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SAMPLE SIZE:</a:t>
            </a:r>
            <a:endParaRPr lang="en-US" sz="8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3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5,000 users</a:t>
            </a:r>
            <a:endParaRPr lang="en-US" sz="8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8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3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SUCCESS CRITERION:</a:t>
            </a:r>
            <a:endParaRPr lang="en-US" sz="8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3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Statistically significant increase</a:t>
            </a:r>
            <a:endParaRPr lang="en-US" sz="8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8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3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DECISION:</a:t>
            </a:r>
            <a:endParaRPr lang="en-US" sz="8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3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Implement (if successful)</a:t>
            </a:r>
            <a:endParaRPr lang="en-US" sz="8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8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3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━━━━━━━━━━━━━━━━━━━━━━━━━━━━━━━━━━━━━━━━━━━━━━━━━━━━━━━━━━━━━━━━━━━━━━━━━</a:t>
            </a:r>
            <a:endParaRPr lang="en-US" sz="8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1" name="PlaceHolder 1"/>
          <p:cNvSpPr>
            <a:spLocks noGrp="1"/>
          </p:cNvSpPr>
          <p:nvPr>
            <p:ph type="sldNum" idx="157"/>
          </p:nvPr>
        </p:nvSpPr>
        <p:spPr>
          <a:xfrm>
            <a:off x="0" y="6343560"/>
            <a:ext cx="11810520" cy="22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350" b="0" u="none" strike="noStrike">
                <a:solidFill>
                  <a:srgbClr val="777777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F2B826D-FEA8-42B8-BF15-C6EB76B0F9EA}" type="slidenum">
              <a:rPr lang="en-US" sz="1350" b="0" u="none" strike="noStrike">
                <a:solidFill>
                  <a:srgbClr val="777777"/>
                </a:solidFill>
                <a:effectLst/>
                <a:uFillTx/>
                <a:latin typeface="Calibri"/>
              </a:rPr>
              <a:t>1</a:t>
            </a:fld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Text 0"/>
          <p:cNvSpPr/>
          <p:nvPr/>
        </p:nvSpPr>
        <p:spPr>
          <a:xfrm>
            <a:off x="380880" y="443520"/>
            <a:ext cx="11658240" cy="37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9000"/>
              </a:lnSpc>
              <a:tabLst>
                <a:tab pos="0" algn="l"/>
              </a:tabLst>
            </a:pPr>
            <a:r>
              <a:rPr lang="en-US" sz="239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SLIDE 142: Growth Plan - Quarter 1</a:t>
            </a:r>
            <a:endParaRPr lang="en-US" sz="23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3" name="Text 1"/>
          <p:cNvSpPr/>
          <p:nvPr/>
        </p:nvSpPr>
        <p:spPr>
          <a:xfrm>
            <a:off x="380880" y="1013760"/>
            <a:ext cx="11429640" cy="5362200"/>
          </a:xfrm>
          <a:prstGeom prst="rect">
            <a:avLst/>
          </a:prstGeom>
          <a:solidFill>
            <a:srgbClr val="F4F4F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3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━━━━━━━━━━━━━━━━━━━━━━━━━━━━━━━━━━━━━━━━━━━━━━━━━━━━━━━━━━━━━━━━━━━━━━━━━</a:t>
            </a:r>
            <a:endParaRPr lang="en-US" sz="8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8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3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   GROWTH PLAN - QUARTER 1</a:t>
            </a:r>
            <a:endParaRPr lang="en-US" sz="8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8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3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MONTH 1: IMPROVE ONBOARDING</a:t>
            </a:r>
            <a:endParaRPr lang="en-US" sz="8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3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──────────────────────────</a:t>
            </a:r>
            <a:endParaRPr lang="en-US" sz="8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3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• Simplify bank connection flow</a:t>
            </a:r>
            <a:endParaRPr lang="en-US" sz="8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3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• Add better error handling</a:t>
            </a:r>
            <a:endParaRPr lang="en-US" sz="8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3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• Guide users through first goal</a:t>
            </a:r>
            <a:endParaRPr lang="en-US" sz="8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3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• Add in-app nudges</a:t>
            </a:r>
            <a:endParaRPr lang="en-US" sz="8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8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3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Success Criteria:</a:t>
            </a:r>
            <a:endParaRPr lang="en-US" sz="8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3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• Activation: 60% → 70%</a:t>
            </a:r>
            <a:endParaRPr lang="en-US" sz="8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3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• Goal adoption: 32% → 42%</a:t>
            </a:r>
            <a:endParaRPr lang="en-US" sz="8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8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3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─────────────────────────────────────</a:t>
            </a:r>
            <a:endParaRPr lang="en-US" sz="8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8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3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MONTH 2: BUILD HABIT FORMATION</a:t>
            </a:r>
            <a:endParaRPr lang="en-US" sz="8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3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─────────────────────────────</a:t>
            </a:r>
            <a:endParaRPr lang="en-US" sz="8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3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• Launch weekly summaries</a:t>
            </a:r>
            <a:endParaRPr lang="en-US" sz="8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3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• Add progress notifications</a:t>
            </a:r>
            <a:endParaRPr lang="en-US" sz="8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3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• Build streak tracking</a:t>
            </a:r>
            <a:endParaRPr lang="en-US" sz="8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8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3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Success Criteria:</a:t>
            </a:r>
            <a:endParaRPr lang="en-US" sz="8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3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• WAU: 12,000 → 16,000</a:t>
            </a:r>
            <a:endParaRPr lang="en-US" sz="8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3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• Weekly active with goal: 40% → 50%</a:t>
            </a:r>
            <a:endParaRPr lang="en-US" sz="8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8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3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─────────────────────────────────────</a:t>
            </a:r>
            <a:endParaRPr lang="en-US" sz="8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8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3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MONTH 3: EXPAND FEATURES</a:t>
            </a:r>
            <a:endParaRPr lang="en-US" sz="8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3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─────────────────────────</a:t>
            </a:r>
            <a:endParaRPr lang="en-US" sz="8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3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• Launch Budget Creation</a:t>
            </a:r>
            <a:endParaRPr lang="en-US" sz="8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3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• Launch Goal Detail View</a:t>
            </a:r>
            <a:endParaRPr lang="en-US" sz="8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3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• Begin Actionable Insights</a:t>
            </a:r>
            <a:endParaRPr lang="en-US" sz="8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8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3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Success Criteria:</a:t>
            </a:r>
            <a:endParaRPr lang="en-US" sz="8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3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• Feature adoption: 40%</a:t>
            </a:r>
            <a:endParaRPr lang="en-US" sz="8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3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• NPS: 42 → 48</a:t>
            </a:r>
            <a:endParaRPr lang="en-US" sz="8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8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3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━━━━━━━━━━━━━━━━━━━━━━━━━━━━━━━━━━━━━━━━━━━━━━━━━━━━━━━━━━━━━━━━━━━━━━━━━</a:t>
            </a:r>
            <a:endParaRPr lang="en-US" sz="8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4" name="PlaceHolder 1"/>
          <p:cNvSpPr>
            <a:spLocks noGrp="1"/>
          </p:cNvSpPr>
          <p:nvPr>
            <p:ph type="sldNum" idx="158"/>
          </p:nvPr>
        </p:nvSpPr>
        <p:spPr>
          <a:xfrm>
            <a:off x="0" y="6343560"/>
            <a:ext cx="11810520" cy="22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350" b="0" u="none" strike="noStrike">
                <a:solidFill>
                  <a:srgbClr val="777777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E26CD2C-764F-471C-AFD2-EBD18BCD5FA6}" type="slidenum">
              <a:rPr lang="en-US" sz="1350" b="0" u="none" strike="noStrike">
                <a:solidFill>
                  <a:srgbClr val="777777"/>
                </a:solidFill>
                <a:effectLst/>
                <a:uFillTx/>
                <a:latin typeface="Calibri"/>
              </a:rPr>
              <a:t>1</a:t>
            </a:fld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Text 0"/>
          <p:cNvSpPr/>
          <p:nvPr/>
        </p:nvSpPr>
        <p:spPr>
          <a:xfrm>
            <a:off x="380880" y="443520"/>
            <a:ext cx="11658240" cy="37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9000"/>
              </a:lnSpc>
              <a:tabLst>
                <a:tab pos="0" algn="l"/>
              </a:tabLst>
            </a:pPr>
            <a:r>
              <a:rPr lang="en-US" sz="239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SLIDE 143: Growth Plan - Quarter 2</a:t>
            </a:r>
            <a:endParaRPr lang="en-US" sz="23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6" name="Text 1"/>
          <p:cNvSpPr/>
          <p:nvPr/>
        </p:nvSpPr>
        <p:spPr>
          <a:xfrm>
            <a:off x="380880" y="1013760"/>
            <a:ext cx="11429640" cy="5362200"/>
          </a:xfrm>
          <a:prstGeom prst="rect">
            <a:avLst/>
          </a:prstGeom>
          <a:solidFill>
            <a:srgbClr val="F4F4F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3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━━━━━━━━━━━━━━━━━━━━━━━━━━━━━━━━━━━━━━━━━━━━━━━━━━━━━━━━━━━━━━━━━━━━━━━━━</a:t>
            </a:r>
            <a:endParaRPr lang="en-US" sz="8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8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3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   GROWTH PLAN - QUARTER 2</a:t>
            </a:r>
            <a:endParaRPr lang="en-US" sz="8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8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3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MONTH 4: GROW ACQUISITION</a:t>
            </a:r>
            <a:endParaRPr lang="en-US" sz="8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3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─────────────────────────</a:t>
            </a:r>
            <a:endParaRPr lang="en-US" sz="8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3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• Launch referral program</a:t>
            </a:r>
            <a:endParaRPr lang="en-US" sz="8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3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• Optimize SEO</a:t>
            </a:r>
            <a:endParaRPr lang="en-US" sz="8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3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• Begin influencer partnerships</a:t>
            </a:r>
            <a:endParaRPr lang="en-US" sz="8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8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3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Success Criteria:</a:t>
            </a:r>
            <a:endParaRPr lang="en-US" sz="8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3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• Total users: 50,000 → 75,000</a:t>
            </a:r>
            <a:endParaRPr lang="en-US" sz="8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3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• Monthly new users: 1,200 → 2,000</a:t>
            </a:r>
            <a:endParaRPr lang="en-US" sz="8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8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3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─────────────────────────────────────</a:t>
            </a:r>
            <a:endParaRPr lang="en-US" sz="8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8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3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MONTH 5: LAUNCH ACTIONABLE INSIGHTS</a:t>
            </a:r>
            <a:endParaRPr lang="en-US" sz="8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3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──────────────────────────────────</a:t>
            </a:r>
            <a:endParaRPr lang="en-US" sz="8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3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• Launch Actionable Insights</a:t>
            </a:r>
            <a:endParaRPr lang="en-US" sz="8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3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• Integrate with goal tracking</a:t>
            </a:r>
            <a:endParaRPr lang="en-US" sz="8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3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• Personalize recommendations</a:t>
            </a:r>
            <a:endParaRPr lang="en-US" sz="8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8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3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Success Criteria:</a:t>
            </a:r>
            <a:endParaRPr lang="en-US" sz="8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3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• Feature adoption: 50%</a:t>
            </a:r>
            <a:endParaRPr lang="en-US" sz="8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3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• NPS: 48 → 55</a:t>
            </a:r>
            <a:endParaRPr lang="en-US" sz="8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8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3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─────────────────────────────────────</a:t>
            </a:r>
            <a:endParaRPr lang="en-US" sz="8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8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3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MONTH 6: MONETIZATION &amp; OPTIMIZATION</a:t>
            </a:r>
            <a:endParaRPr lang="en-US" sz="8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3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──────────────────────────────────</a:t>
            </a:r>
            <a:endParaRPr lang="en-US" sz="8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3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• Launch premium tier</a:t>
            </a:r>
            <a:endParaRPr lang="en-US" sz="8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3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• Optimize conversion</a:t>
            </a:r>
            <a:endParaRPr lang="en-US" sz="8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3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• Improve retention</a:t>
            </a:r>
            <a:endParaRPr lang="en-US" sz="8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8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3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Success Criteria:</a:t>
            </a:r>
            <a:endParaRPr lang="en-US" sz="8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3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• 5% convert to premium</a:t>
            </a:r>
            <a:endParaRPr lang="en-US" sz="8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3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• Revenue: $0 → $X/month</a:t>
            </a:r>
            <a:endParaRPr lang="en-US" sz="8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3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• Retention: 20% → 30%</a:t>
            </a:r>
            <a:endParaRPr lang="en-US" sz="8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8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3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━━━━━━━━━━━━━━━━━━━━━━━━━━━━━━━━━━━━━━━━━━━━━━━━━━━━━━━━━━━━━━━━━━━━━━━━━</a:t>
            </a:r>
            <a:endParaRPr lang="en-US" sz="8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7" name="PlaceHolder 1"/>
          <p:cNvSpPr>
            <a:spLocks noGrp="1"/>
          </p:cNvSpPr>
          <p:nvPr>
            <p:ph type="sldNum" idx="159"/>
          </p:nvPr>
        </p:nvSpPr>
        <p:spPr>
          <a:xfrm>
            <a:off x="0" y="6343560"/>
            <a:ext cx="11810520" cy="22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350" b="0" u="none" strike="noStrike">
                <a:solidFill>
                  <a:srgbClr val="777777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62E2292-55DC-4AA1-83EB-4D87335E51EA}" type="slidenum">
              <a:rPr lang="en-US" sz="1350" b="0" u="none" strike="noStrike">
                <a:solidFill>
                  <a:srgbClr val="777777"/>
                </a:solidFill>
                <a:effectLst/>
                <a:uFillTx/>
                <a:latin typeface="Calibri"/>
              </a:rPr>
              <a:t>1</a:t>
            </a:fld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Text 0"/>
          <p:cNvSpPr/>
          <p:nvPr/>
        </p:nvSpPr>
        <p:spPr>
          <a:xfrm>
            <a:off x="380880" y="443520"/>
            <a:ext cx="11658240" cy="37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9000"/>
              </a:lnSpc>
              <a:tabLst>
                <a:tab pos="0" algn="l"/>
              </a:tabLst>
            </a:pPr>
            <a:r>
              <a:rPr lang="en-US" sz="239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SLIDE 144: Action Plan</a:t>
            </a:r>
            <a:endParaRPr lang="en-US" sz="23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9" name="Text 1"/>
          <p:cNvSpPr/>
          <p:nvPr/>
        </p:nvSpPr>
        <p:spPr>
          <a:xfrm>
            <a:off x="380880" y="1013760"/>
            <a:ext cx="11429640" cy="5362200"/>
          </a:xfrm>
          <a:prstGeom prst="rect">
            <a:avLst/>
          </a:prstGeom>
          <a:solidFill>
            <a:srgbClr val="F4F4F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9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━━━━━━━━━━━━━━━━━━━━━━━━━━━━━━━━━━━━━━━━━━━━━━━━━━━━━━━━━━━━━━━━━━━━━━━━━</a:t>
            </a:r>
            <a:endParaRPr lang="en-US" sz="7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7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9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   ACTION PLAN</a:t>
            </a:r>
            <a:endParaRPr lang="en-US" sz="7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7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9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IMMEDIATE ACTIONS (4 WEEKS):</a:t>
            </a:r>
            <a:endParaRPr lang="en-US" sz="7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9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────────────────────────────</a:t>
            </a:r>
            <a:endParaRPr lang="en-US" sz="7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7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9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1. Simplify Onboarding</a:t>
            </a:r>
            <a:endParaRPr lang="en-US" sz="7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9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   • Owner: Engineering</a:t>
            </a:r>
            <a:endParaRPr lang="en-US" sz="7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9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   • Effort: 2 weeks</a:t>
            </a:r>
            <a:endParaRPr lang="en-US" sz="7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9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   • Impact: +10% activation</a:t>
            </a:r>
            <a:endParaRPr lang="en-US" sz="7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7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9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2. Add In-App Nudges</a:t>
            </a:r>
            <a:endParaRPr lang="en-US" sz="7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9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   • Owner: Engineering + Design</a:t>
            </a:r>
            <a:endParaRPr lang="en-US" sz="7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9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   • Effort: 1.5 weeks</a:t>
            </a:r>
            <a:endParaRPr lang="en-US" sz="7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9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   • Impact: +15% goal adoption</a:t>
            </a:r>
            <a:endParaRPr lang="en-US" sz="7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7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9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─────────────────────────────────────</a:t>
            </a:r>
            <a:endParaRPr lang="en-US" sz="7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7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9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MEDIUM-TERM ACTIONS (8 WEEKS):</a:t>
            </a:r>
            <a:endParaRPr lang="en-US" sz="7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9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──────────────────────────────</a:t>
            </a:r>
            <a:endParaRPr lang="en-US" sz="7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7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9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3. Improve Goal Creation Flow</a:t>
            </a:r>
            <a:endParaRPr lang="en-US" sz="7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9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   • Owner: Engineering + Design</a:t>
            </a:r>
            <a:endParaRPr lang="en-US" sz="7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9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   • Effort: 3 weeks</a:t>
            </a:r>
            <a:endParaRPr lang="en-US" sz="7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9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   • Impact: +25% completion</a:t>
            </a:r>
            <a:endParaRPr lang="en-US" sz="7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7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9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4. Add Goal Completion Notifications</a:t>
            </a:r>
            <a:endParaRPr lang="en-US" sz="7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9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   • Owner: Engineering</a:t>
            </a:r>
            <a:endParaRPr lang="en-US" sz="7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9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   • Effort: 2 weeks</a:t>
            </a:r>
            <a:endParaRPr lang="en-US" sz="7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9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   • Impact: +20% goal completion</a:t>
            </a:r>
            <a:endParaRPr lang="en-US" sz="7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7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9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─────────────────────────────────────</a:t>
            </a:r>
            <a:endParaRPr lang="en-US" sz="7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7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9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LONG-TERM ACTIONS (NEXT QUARTER):</a:t>
            </a:r>
            <a:endParaRPr lang="en-US" sz="7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9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──────────────────────────────────</a:t>
            </a:r>
            <a:endParaRPr lang="en-US" sz="7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7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9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5. Personalized Recommendations</a:t>
            </a:r>
            <a:endParaRPr lang="en-US" sz="7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9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   • Owner: Engineering + Data</a:t>
            </a:r>
            <a:endParaRPr lang="en-US" sz="7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9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   • Effort: 4 weeks</a:t>
            </a:r>
            <a:endParaRPr lang="en-US" sz="7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9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   • Impact: +20% goal adoption</a:t>
            </a:r>
            <a:endParaRPr lang="en-US" sz="7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7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9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━━━━━━━━━━━━━━━━━━━━━━━━━━━━━━━━━━━━━━━━━━━━━━━━━━━━━━━━━━━━━━━━━━━━━━━━━</a:t>
            </a:r>
            <a:endParaRPr lang="en-US" sz="7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0" name="PlaceHolder 1"/>
          <p:cNvSpPr>
            <a:spLocks noGrp="1"/>
          </p:cNvSpPr>
          <p:nvPr>
            <p:ph type="sldNum" idx="160"/>
          </p:nvPr>
        </p:nvSpPr>
        <p:spPr>
          <a:xfrm>
            <a:off x="0" y="6343560"/>
            <a:ext cx="11810520" cy="22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350" b="0" u="none" strike="noStrike">
                <a:solidFill>
                  <a:srgbClr val="777777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514C2F3-8A29-4342-BF44-4D835ADBF716}" type="slidenum">
              <a:rPr lang="en-US" sz="1350" b="0" u="none" strike="noStrike">
                <a:solidFill>
                  <a:srgbClr val="777777"/>
                </a:solidFill>
                <a:effectLst/>
                <a:uFillTx/>
                <a:latin typeface="Calibri"/>
              </a:rPr>
              <a:t>1</a:t>
            </a:fld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Text 0"/>
          <p:cNvSpPr/>
          <p:nvPr/>
        </p:nvSpPr>
        <p:spPr>
          <a:xfrm>
            <a:off x="380880" y="443520"/>
            <a:ext cx="11658240" cy="37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9000"/>
              </a:lnSpc>
              <a:tabLst>
                <a:tab pos="0" algn="l"/>
              </a:tabLst>
            </a:pPr>
            <a:r>
              <a:rPr lang="en-US" sz="239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SLIDE 145: Metrics Dashboard - Updated</a:t>
            </a:r>
            <a:endParaRPr lang="en-US" sz="23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2" name="Text 1"/>
          <p:cNvSpPr/>
          <p:nvPr/>
        </p:nvSpPr>
        <p:spPr>
          <a:xfrm>
            <a:off x="380880" y="1013760"/>
            <a:ext cx="11429640" cy="5362200"/>
          </a:xfrm>
          <a:prstGeom prst="rect">
            <a:avLst/>
          </a:prstGeom>
          <a:solidFill>
            <a:srgbClr val="F4F4F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2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━━━━━━━━━━━━━━━━━━━━━━━━━━━━━━━━━━━━━━━━━━━━━━━━━━━━━━━━━━━━━━━━━━━━━━━━━</a:t>
            </a: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2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   METRICS DASHBOARD - UPDATED</a:t>
            </a: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2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┌────────────────────────────────────────────────┐</a:t>
            </a: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2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METRIC              CURRENT   TARGET  STATUS │</a:t>
            </a: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2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│────────────────────────────────────────────────│</a:t>
            </a: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2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WAU                 12,000   18,000       │</a:t>
            </a: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2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North Star          40%      60%          │</a:t>
            </a: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2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Day 30 Retention    20%      40%          │</a:t>
            </a: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2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Activation Rate     60%      75%          │</a:t>
            </a: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2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Goal Adoption       32%      50%          │</a:t>
            </a: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2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NPS                 42       50           │</a:t>
            </a: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2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└────────────────────────────────────────────────┘</a:t>
            </a: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2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─────────────────────────────────────</a:t>
            </a: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2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KEY ACTIONS:</a:t>
            </a: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2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─────────────</a:t>
            </a: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2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1. Retention is behind target.</a:t>
            </a: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2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   → Prioritize goal setting.</a:t>
            </a: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2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2. Activation is on track.</a:t>
            </a: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2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   → Continue onboarding improvements.</a:t>
            </a: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2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3. Goal adoption is exceeding target.</a:t>
            </a: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2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   → Maintain focus on in-app nudges.</a:t>
            </a: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2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4. NPS is on track.</a:t>
            </a: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2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   → Continue addressing user feedback.</a:t>
            </a: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2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━━━━━━━━━━━━━━━━━━━━━━━━━━━━━━━━━━━━━━━━━━━━━━━━━━━━━━━━━━━━━━━━━━━━━━━━━</a:t>
            </a: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3" name="PlaceHolder 1"/>
          <p:cNvSpPr>
            <a:spLocks noGrp="1"/>
          </p:cNvSpPr>
          <p:nvPr>
            <p:ph type="sldNum" idx="161"/>
          </p:nvPr>
        </p:nvSpPr>
        <p:spPr>
          <a:xfrm>
            <a:off x="0" y="6343560"/>
            <a:ext cx="11810520" cy="22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350" b="0" u="none" strike="noStrike">
                <a:solidFill>
                  <a:srgbClr val="777777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E0468A3-DCE0-4319-A86D-464765182A4A}" type="slidenum">
              <a:rPr lang="en-US" sz="1350" b="0" u="none" strike="noStrike">
                <a:solidFill>
                  <a:srgbClr val="777777"/>
                </a:solidFill>
                <a:effectLst/>
                <a:uFillTx/>
                <a:latin typeface="Calibri"/>
              </a:rPr>
              <a:t>1</a:t>
            </a:fld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Text 0"/>
          <p:cNvSpPr/>
          <p:nvPr/>
        </p:nvSpPr>
        <p:spPr>
          <a:xfrm>
            <a:off x="380880" y="443520"/>
            <a:ext cx="11658240" cy="37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9000"/>
              </a:lnSpc>
              <a:tabLst>
                <a:tab pos="0" algn="l"/>
              </a:tabLst>
            </a:pPr>
            <a:r>
              <a:rPr lang="en-US" sz="239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SLIDE 146: Part 10 Recap</a:t>
            </a:r>
            <a:endParaRPr lang="en-US" sz="23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5" name="Text 1"/>
          <p:cNvSpPr/>
          <p:nvPr/>
        </p:nvSpPr>
        <p:spPr>
          <a:xfrm>
            <a:off x="380880" y="1013760"/>
            <a:ext cx="11429640" cy="5362200"/>
          </a:xfrm>
          <a:prstGeom prst="rect">
            <a:avLst/>
          </a:prstGeom>
          <a:solidFill>
            <a:srgbClr val="F4F4F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9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━━━━━━━━━━━━━━━━━━━━━━━━━━━━━━━━━━━━━━━━━━━━━━━━━━━━━━━━━━━━━━━━━━━━━━━━━</a:t>
            </a:r>
            <a:endParaRPr lang="en-US" sz="13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3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9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   PART 10 RECAP</a:t>
            </a:r>
            <a:endParaRPr lang="en-US" sz="13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3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9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┌─────────────────────────────────────┐</a:t>
            </a:r>
            <a:endParaRPr lang="en-US" sz="13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9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What you learned:                 │</a:t>
            </a:r>
            <a:endParaRPr lang="en-US" sz="13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9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                                  │</a:t>
            </a:r>
            <a:endParaRPr lang="en-US" sz="13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9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✓ The growth equation             │</a:t>
            </a:r>
            <a:endParaRPr lang="en-US" sz="13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9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✓ The growth pyramid              │</a:t>
            </a:r>
            <a:endParaRPr lang="en-US" sz="13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9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✓ The iteration cycle             │</a:t>
            </a:r>
            <a:endParaRPr lang="en-US" sz="13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9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✓ Experiment design               │</a:t>
            </a:r>
            <a:endParaRPr lang="en-US" sz="13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9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✓ Growth planning                 │</a:t>
            </a:r>
            <a:endParaRPr lang="en-US" sz="13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9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✓ Action planning                 │</a:t>
            </a:r>
            <a:endParaRPr lang="en-US" sz="13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9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└─────────────────────────────────────┘</a:t>
            </a:r>
            <a:endParaRPr lang="en-US" sz="13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3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9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───</a:t>
            </a:r>
            <a:endParaRPr lang="en-US" sz="13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3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9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Portfolio Tracker:</a:t>
            </a:r>
            <a:endParaRPr lang="en-US" sz="13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9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[ ] Created growth-plan.md</a:t>
            </a:r>
            <a:endParaRPr lang="en-US" sz="13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9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[ ] Created experiment-plan.md</a:t>
            </a:r>
            <a:endParaRPr lang="en-US" sz="13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9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[ ] Created action-plan.md</a:t>
            </a:r>
            <a:endParaRPr lang="en-US" sz="13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9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[ ] Created experiment-runbook.md</a:t>
            </a:r>
            <a:endParaRPr lang="en-US" sz="13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3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9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━━━━━━━━━━━━━━━━━━━━━━━━━━━━━━━━━━━━━━━━━━━━━━━━━━━━━━━━━━━━━━━━━━━━━━━━━</a:t>
            </a:r>
            <a:endParaRPr lang="en-US" sz="13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6" name="PlaceHolder 1"/>
          <p:cNvSpPr>
            <a:spLocks noGrp="1"/>
          </p:cNvSpPr>
          <p:nvPr>
            <p:ph type="sldNum" idx="162"/>
          </p:nvPr>
        </p:nvSpPr>
        <p:spPr>
          <a:xfrm>
            <a:off x="0" y="6343560"/>
            <a:ext cx="11810520" cy="22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350" b="0" u="none" strike="noStrike">
                <a:solidFill>
                  <a:srgbClr val="777777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121C920-83F0-42BA-9EA5-849E9CCE7BC6}" type="slidenum">
              <a:rPr lang="en-US" sz="1350" b="0" u="none" strike="noStrike">
                <a:solidFill>
                  <a:srgbClr val="777777"/>
                </a:solidFill>
                <a:effectLst/>
                <a:uFillTx/>
                <a:latin typeface="Calibri"/>
              </a:rPr>
              <a:t>1</a:t>
            </a:fld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Text 0"/>
          <p:cNvSpPr/>
          <p:nvPr/>
        </p:nvSpPr>
        <p:spPr>
          <a:xfrm>
            <a:off x="380880" y="443520"/>
            <a:ext cx="11658240" cy="37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9000"/>
              </a:lnSpc>
              <a:tabLst>
                <a:tab pos="0" algn="l"/>
              </a:tabLst>
            </a:pPr>
            <a:r>
              <a:rPr lang="en-US" sz="239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SLIDE 147: Series Complete</a:t>
            </a:r>
            <a:endParaRPr lang="en-US" sz="23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8" name="Text 1"/>
          <p:cNvSpPr/>
          <p:nvPr/>
        </p:nvSpPr>
        <p:spPr>
          <a:xfrm>
            <a:off x="380880" y="1013760"/>
            <a:ext cx="11429640" cy="5362200"/>
          </a:xfrm>
          <a:prstGeom prst="rect">
            <a:avLst/>
          </a:prstGeom>
          <a:solidFill>
            <a:srgbClr val="F4F4F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8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━━━━━━━━━━━━━━━━━━━━━━━━━━━━━━━━━━━━━━━━━━━━━━━━━━━━━━━━━━━━━━━━━━━━━━━━━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8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   SERIES COMPLETE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8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YOU HAVE COMPLETED: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8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✓ Part 0: Introduction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8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✓ Part 1: The PM Role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8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✓ Part 2: User Research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8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✓ Part 3: JTBD Framework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8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✓ Part 4: Product Strategy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8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✓ Part 5: Competitive Analysis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8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✓ Part 6: Prioritization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8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✓ Part 7: PRDs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8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✓ Part 8: Working with Engineering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8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✓ Part 9: Metrics &amp; Analytics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8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✓ Part 10: Growth &amp; Iteration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8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─────────────────────────────────────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8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"The best way to become a product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8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manager is to start doing product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8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management. Right now. With what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8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you have. Where you are."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8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━━━━━━━━━━━━━━━━━━━━━━━━━━━━━━━━━━━━━━━━━━━━━━━━━━━━━━━━━━━━━━━━━━━━━━━━━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9" name="PlaceHolder 1"/>
          <p:cNvSpPr>
            <a:spLocks noGrp="1"/>
          </p:cNvSpPr>
          <p:nvPr>
            <p:ph type="sldNum" idx="163"/>
          </p:nvPr>
        </p:nvSpPr>
        <p:spPr>
          <a:xfrm>
            <a:off x="0" y="6343560"/>
            <a:ext cx="11810520" cy="22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350" b="0" u="none" strike="noStrike">
                <a:solidFill>
                  <a:srgbClr val="777777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1F2FC46-BB21-4ACF-A3E4-BB6707635F9D}" type="slidenum">
              <a:rPr lang="en-US" sz="1350" b="0" u="none" strike="noStrike">
                <a:solidFill>
                  <a:srgbClr val="777777"/>
                </a:solidFill>
                <a:effectLst/>
                <a:uFillTx/>
                <a:latin typeface="Calibri"/>
              </a:rPr>
              <a:t>1</a:t>
            </a:fld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Text 0"/>
          <p:cNvSpPr/>
          <p:nvPr/>
        </p:nvSpPr>
        <p:spPr>
          <a:xfrm>
            <a:off x="380880" y="443520"/>
            <a:ext cx="11658240" cy="37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9000"/>
              </a:lnSpc>
              <a:tabLst>
                <a:tab pos="0" algn="l"/>
              </a:tabLst>
            </a:pPr>
            <a:r>
              <a:rPr lang="en-US" sz="239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SLIDE 148: What You've Built</a:t>
            </a:r>
            <a:endParaRPr lang="en-US" sz="23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1" name="Text 1"/>
          <p:cNvSpPr/>
          <p:nvPr/>
        </p:nvSpPr>
        <p:spPr>
          <a:xfrm>
            <a:off x="380880" y="1013760"/>
            <a:ext cx="11429640" cy="5362200"/>
          </a:xfrm>
          <a:prstGeom prst="rect">
            <a:avLst/>
          </a:prstGeom>
          <a:solidFill>
            <a:srgbClr val="F4F4F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7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━━━━━━━━━━━━━━━━━━━━━━━━━━━━━━━━━━━━━━━━━━━━━━━━━━━━━━━━━━━━━━━━━━━━━━━━━</a:t>
            </a:r>
            <a:endParaRPr lang="en-US" sz="6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6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7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   WHAT YOU'VE BUILT</a:t>
            </a:r>
            <a:endParaRPr lang="en-US" sz="6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6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7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┌─────────────────────────────────────┐</a:t>
            </a:r>
            <a:endParaRPr lang="en-US" sz="6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7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01-discovery/                     │</a:t>
            </a:r>
            <a:endParaRPr lang="en-US" sz="6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7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├── pm-philosophy.md              │</a:t>
            </a:r>
            <a:endParaRPr lang="en-US" sz="6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7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├── affinity-map.md               │</a:t>
            </a:r>
            <a:endParaRPr lang="en-US" sz="6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7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├── personas.md                   │</a:t>
            </a:r>
            <a:endParaRPr lang="en-US" sz="6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7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├── problem-statements.md         │</a:t>
            </a:r>
            <a:endParaRPr lang="en-US" sz="6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7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└── jobs-to-be-done.md            │</a:t>
            </a:r>
            <a:endParaRPr lang="en-US" sz="6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7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└─────────────────────────────────────┘</a:t>
            </a:r>
            <a:endParaRPr lang="en-US" sz="6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6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7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┌─────────────────────────────────────┐</a:t>
            </a:r>
            <a:endParaRPr lang="en-US" sz="6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7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02-strategy/                      │</a:t>
            </a:r>
            <a:endParaRPr lang="en-US" sz="6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7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├── product-vision.md             │</a:t>
            </a:r>
            <a:endParaRPr lang="en-US" sz="6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7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├── value-proposition.md          │</a:t>
            </a:r>
            <a:endParaRPr lang="en-US" sz="6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7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├── competitive-positioning.md    │</a:t>
            </a:r>
            <a:endParaRPr lang="en-US" sz="6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7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├── feature-comparison.md         │</a:t>
            </a:r>
            <a:endParaRPr lang="en-US" sz="6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7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├── swot-analysis.md              │</a:t>
            </a:r>
            <a:endParaRPr lang="en-US" sz="6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7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├── positioning-map.md            │</a:t>
            </a:r>
            <a:endParaRPr lang="en-US" sz="6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7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├── strategic-insights.md         │</a:t>
            </a:r>
            <a:endParaRPr lang="en-US" sz="6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7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├── rice-scoring.md               │</a:t>
            </a:r>
            <a:endParaRPr lang="en-US" sz="6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7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├── kano-model.md                 │</a:t>
            </a:r>
            <a:endParaRPr lang="en-US" sz="6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7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├── outcome-prioritization.md     │</a:t>
            </a:r>
            <a:endParaRPr lang="en-US" sz="6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7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└── prioritized-backlog.md        │</a:t>
            </a:r>
            <a:endParaRPr lang="en-US" sz="6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7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└─────────────────────────────────────┘</a:t>
            </a:r>
            <a:endParaRPr lang="en-US" sz="6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6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7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┌─────────────────────────────────────┐</a:t>
            </a:r>
            <a:endParaRPr lang="en-US" sz="6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7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03-execution/                     │</a:t>
            </a:r>
            <a:endParaRPr lang="en-US" sz="6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7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├── prd-goal-setting.md           │</a:t>
            </a:r>
            <a:endParaRPr lang="en-US" sz="6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7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├── user-stories-goal-setting.md  │</a:t>
            </a:r>
            <a:endParaRPr lang="en-US" sz="6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7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├── user-flow-goal-setting.md     │</a:t>
            </a:r>
            <a:endParaRPr lang="en-US" sz="6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7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├── sprint-planning.md            │</a:t>
            </a:r>
            <a:endParaRPr lang="en-US" sz="6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7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└── sprint-review.md              │</a:t>
            </a:r>
            <a:endParaRPr lang="en-US" sz="6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7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└─────────────────────────────────────┘</a:t>
            </a:r>
            <a:endParaRPr lang="en-US" sz="6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6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7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┌─────────────────────────────────────┐</a:t>
            </a:r>
            <a:endParaRPr lang="en-US" sz="6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7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04-growth/                        │</a:t>
            </a:r>
            <a:endParaRPr lang="en-US" sz="6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7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├── metrics-dashboard.md          │</a:t>
            </a:r>
            <a:endParaRPr lang="en-US" sz="6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7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├── key-insights.md               │</a:t>
            </a:r>
            <a:endParaRPr lang="en-US" sz="6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7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├── hypotheses.md                 │</a:t>
            </a:r>
            <a:endParaRPr lang="en-US" sz="6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7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├── experiment-plan.md            │</a:t>
            </a:r>
            <a:endParaRPr lang="en-US" sz="6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7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├── action-plan.md                │</a:t>
            </a:r>
            <a:endParaRPr lang="en-US" sz="6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7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├── growth-plan.md                │</a:t>
            </a:r>
            <a:endParaRPr lang="en-US" sz="6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7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└── experiment-runbook.md         │</a:t>
            </a:r>
            <a:endParaRPr lang="en-US" sz="6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7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└─────────────────────────────────────┘</a:t>
            </a:r>
            <a:endParaRPr lang="en-US" sz="6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6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7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TOTAL: 34 ARTIFACTS</a:t>
            </a:r>
            <a:endParaRPr lang="en-US" sz="6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6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7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━━━━━━━━━━━━━━━━━━━━━━━━━━━━━━━━━━━━━━━━━━━━━━━━━━━━━━━━━━━━━━━━━━━━━━━━━</a:t>
            </a:r>
            <a:endParaRPr lang="en-US" sz="6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2" name="PlaceHolder 1"/>
          <p:cNvSpPr>
            <a:spLocks noGrp="1"/>
          </p:cNvSpPr>
          <p:nvPr>
            <p:ph type="sldNum" idx="164"/>
          </p:nvPr>
        </p:nvSpPr>
        <p:spPr>
          <a:xfrm>
            <a:off x="0" y="6343560"/>
            <a:ext cx="11810520" cy="22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350" b="0" u="none" strike="noStrike">
                <a:solidFill>
                  <a:srgbClr val="777777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F2C2BF0-B7D5-4FB1-9334-8E1D24F170E9}" type="slidenum">
              <a:rPr lang="en-US" sz="1350" b="0" u="none" strike="noStrike">
                <a:solidFill>
                  <a:srgbClr val="777777"/>
                </a:solidFill>
                <a:effectLst/>
                <a:uFillTx/>
                <a:latin typeface="Calibri"/>
              </a:rPr>
              <a:t>1</a:t>
            </a:fld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Text 0"/>
          <p:cNvSpPr/>
          <p:nvPr/>
        </p:nvSpPr>
        <p:spPr>
          <a:xfrm>
            <a:off x="380880" y="443520"/>
            <a:ext cx="11658240" cy="37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9000"/>
              </a:lnSpc>
              <a:tabLst>
                <a:tab pos="0" algn="l"/>
              </a:tabLst>
            </a:pPr>
            <a:r>
              <a:rPr lang="en-US" sz="239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SLIDE 149: Your PM Competencies</a:t>
            </a:r>
            <a:endParaRPr lang="en-US" sz="23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4" name="Text 1"/>
          <p:cNvSpPr/>
          <p:nvPr/>
        </p:nvSpPr>
        <p:spPr>
          <a:xfrm>
            <a:off x="380880" y="1013760"/>
            <a:ext cx="11429640" cy="5362200"/>
          </a:xfrm>
          <a:prstGeom prst="rect">
            <a:avLst/>
          </a:prstGeom>
          <a:solidFill>
            <a:srgbClr val="F4F4F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9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━━━━━━━━━━━━━━━━━━━━━━━━━━━━━━━━━━━━━━━━━━━━━━━━━━━━━━━━━━━━━━━━━━━━━━━━━</a:t>
            </a:r>
            <a:endParaRPr lang="en-US" sz="7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7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9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   YOUR PM COMPETENCIES</a:t>
            </a:r>
            <a:endParaRPr lang="en-US" sz="7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7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9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┌─────────────────────────────────────┐</a:t>
            </a:r>
            <a:endParaRPr lang="en-US" sz="7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9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USER RESEARCH                     │</a:t>
            </a:r>
            <a:endParaRPr lang="en-US" sz="7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9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Affinity maps, personas, JTBD     │</a:t>
            </a:r>
            <a:endParaRPr lang="en-US" sz="7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9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└─────────────────────────────────────┘</a:t>
            </a:r>
            <a:endParaRPr lang="en-US" sz="7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7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9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┌─────────────────────────────────────┐</a:t>
            </a:r>
            <a:endParaRPr lang="en-US" sz="7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9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PRODUCT STRATEGY                   │</a:t>
            </a:r>
            <a:endParaRPr lang="en-US" sz="7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9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Vision, value proposition,        │</a:t>
            </a:r>
            <a:endParaRPr lang="en-US" sz="7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9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competitive analysis              │</a:t>
            </a:r>
            <a:endParaRPr lang="en-US" sz="7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9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└─────────────────────────────────────┘</a:t>
            </a:r>
            <a:endParaRPr lang="en-US" sz="7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7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9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┌─────────────────────────────────────┐</a:t>
            </a:r>
            <a:endParaRPr lang="en-US" sz="7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9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PRIORITIZATION                    │</a:t>
            </a:r>
            <a:endParaRPr lang="en-US" sz="7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9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RICE, Kano, outcome-based         │</a:t>
            </a:r>
            <a:endParaRPr lang="en-US" sz="7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9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└─────────────────────────────────────┘</a:t>
            </a:r>
            <a:endParaRPr lang="en-US" sz="7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7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9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┌─────────────────────────────────────┐</a:t>
            </a:r>
            <a:endParaRPr lang="en-US" sz="7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9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REQUIREMENT WRITING               │</a:t>
            </a:r>
            <a:endParaRPr lang="en-US" sz="7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9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PRD, user stories, acceptance     │</a:t>
            </a:r>
            <a:endParaRPr lang="en-US" sz="7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9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criteria                          │</a:t>
            </a:r>
            <a:endParaRPr lang="en-US" sz="7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9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└─────────────────────────────────────┘</a:t>
            </a:r>
            <a:endParaRPr lang="en-US" sz="7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7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9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┌─────────────────────────────────────┐</a:t>
            </a:r>
            <a:endParaRPr lang="en-US" sz="7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9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AGILE EXECUTION                   │</a:t>
            </a:r>
            <a:endParaRPr lang="en-US" sz="7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9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Sprint planning, scope management │</a:t>
            </a:r>
            <a:endParaRPr lang="en-US" sz="7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9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└─────────────────────────────────────┘</a:t>
            </a:r>
            <a:endParaRPr lang="en-US" sz="7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7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9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┌─────────────────────────────────────┐</a:t>
            </a:r>
            <a:endParaRPr lang="en-US" sz="7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9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METRICS &amp; ANALYTICS               │</a:t>
            </a:r>
            <a:endParaRPr lang="en-US" sz="7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9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Dashboards, insights, hypotheses  │</a:t>
            </a:r>
            <a:endParaRPr lang="en-US" sz="7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9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└─────────────────────────────────────┘</a:t>
            </a:r>
            <a:endParaRPr lang="en-US" sz="7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7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9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┌─────────────────────────────────────┐</a:t>
            </a:r>
            <a:endParaRPr lang="en-US" sz="7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9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GROWTH &amp; ITERATION                │</a:t>
            </a:r>
            <a:endParaRPr lang="en-US" sz="7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9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Growth plans, experiments,        │</a:t>
            </a:r>
            <a:endParaRPr lang="en-US" sz="7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9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action plans                      │</a:t>
            </a:r>
            <a:endParaRPr lang="en-US" sz="7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9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└─────────────────────────────────────┘</a:t>
            </a:r>
            <a:endParaRPr lang="en-US" sz="7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7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9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━━━━━━━━━━━━━━━━━━━━━━━━━━━━━━━━━━━━━━━━━━━━━━━━━━━━━━━━━━━━━━━━━━━━━━━━━</a:t>
            </a:r>
            <a:endParaRPr lang="en-US" sz="7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5" name="PlaceHolder 1"/>
          <p:cNvSpPr>
            <a:spLocks noGrp="1"/>
          </p:cNvSpPr>
          <p:nvPr>
            <p:ph type="sldNum" idx="165"/>
          </p:nvPr>
        </p:nvSpPr>
        <p:spPr>
          <a:xfrm>
            <a:off x="0" y="6343560"/>
            <a:ext cx="11810520" cy="22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350" b="0" u="none" strike="noStrike">
                <a:solidFill>
                  <a:srgbClr val="777777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1FCAC2F-13DC-49AF-BF22-F94568DD127A}" type="slidenum">
              <a:rPr lang="en-US" sz="1350" b="0" u="none" strike="noStrike">
                <a:solidFill>
                  <a:srgbClr val="777777"/>
                </a:solidFill>
                <a:effectLst/>
                <a:uFillTx/>
                <a:latin typeface="Calibri"/>
              </a:rPr>
              <a:t>1</a:t>
            </a:fld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Text 0"/>
          <p:cNvSpPr/>
          <p:nvPr/>
        </p:nvSpPr>
        <p:spPr>
          <a:xfrm>
            <a:off x="380880" y="443520"/>
            <a:ext cx="11658240" cy="37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9000"/>
              </a:lnSpc>
              <a:tabLst>
                <a:tab pos="0" algn="l"/>
              </a:tabLst>
            </a:pPr>
            <a:r>
              <a:rPr lang="en-US" sz="239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SLIDE 150: What's Next - Career</a:t>
            </a:r>
            <a:endParaRPr lang="en-US" sz="23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7" name="Text 1"/>
          <p:cNvSpPr/>
          <p:nvPr/>
        </p:nvSpPr>
        <p:spPr>
          <a:xfrm>
            <a:off x="380880" y="1013760"/>
            <a:ext cx="11429640" cy="5362200"/>
          </a:xfrm>
          <a:prstGeom prst="rect">
            <a:avLst/>
          </a:prstGeom>
          <a:solidFill>
            <a:srgbClr val="F4F4F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1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━━━━━━━━━━━━━━━━━━━━━━━━━━━━━━━━━━━━━━━━━━━━━━━━━━━━━━━━━━━━━━━━━━━━━━━━━</a:t>
            </a:r>
            <a:endParaRPr lang="en-US" sz="9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9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1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   WHAT'S NEXT - CAREER</a:t>
            </a:r>
            <a:endParaRPr lang="en-US" sz="9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9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1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┌─────────────────────────────────────┐</a:t>
            </a:r>
            <a:endParaRPr lang="en-US" sz="9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1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IMMEDIATE NEXT STEPS              │</a:t>
            </a:r>
            <a:endParaRPr lang="en-US" sz="9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1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                                  │</a:t>
            </a:r>
            <a:endParaRPr lang="en-US" sz="9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1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1. Review your portfolio           │</a:t>
            </a:r>
            <a:endParaRPr lang="en-US" sz="9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1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2. Add visual assets              │</a:t>
            </a:r>
            <a:endParaRPr lang="en-US" sz="9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1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3. Share with mentors             │</a:t>
            </a:r>
            <a:endParaRPr lang="en-US" sz="9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1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4. Practice your PM story         │</a:t>
            </a:r>
            <a:endParaRPr lang="en-US" sz="9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1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5. Apply for PM roles             │</a:t>
            </a:r>
            <a:endParaRPr lang="en-US" sz="9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1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└─────────────────────────────────────┘</a:t>
            </a:r>
            <a:endParaRPr lang="en-US" sz="9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9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1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┌─────────────────────────────────────┐</a:t>
            </a:r>
            <a:endParaRPr lang="en-US" sz="9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1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CAREER PATHS                      │</a:t>
            </a:r>
            <a:endParaRPr lang="en-US" sz="9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1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                                  │</a:t>
            </a:r>
            <a:endParaRPr lang="en-US" sz="9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1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1. APM Programs                   │</a:t>
            </a:r>
            <a:endParaRPr lang="en-US" sz="9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1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   (Google, Meta, Microsoft)     │</a:t>
            </a:r>
            <a:endParaRPr lang="en-US" sz="9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1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                                  │</a:t>
            </a:r>
            <a:endParaRPr lang="en-US" sz="9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1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2. Internal Transfer              │</a:t>
            </a:r>
            <a:endParaRPr lang="en-US" sz="9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1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   (From adjacent role)           │</a:t>
            </a:r>
            <a:endParaRPr lang="en-US" sz="9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1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                                  │</a:t>
            </a:r>
            <a:endParaRPr lang="en-US" sz="9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1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3. Startup Route                  │</a:t>
            </a:r>
            <a:endParaRPr lang="en-US" sz="9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1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   (Join early-stage startup)    │</a:t>
            </a:r>
            <a:endParaRPr lang="en-US" sz="9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1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                                  │</a:t>
            </a:r>
            <a:endParaRPr lang="en-US" sz="9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1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4. Side Projects                  │</a:t>
            </a:r>
            <a:endParaRPr lang="en-US" sz="9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1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   (Build your proof)            │</a:t>
            </a:r>
            <a:endParaRPr lang="en-US" sz="9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1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└─────────────────────────────────────┘</a:t>
            </a:r>
            <a:endParaRPr lang="en-US" sz="9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9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1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─────────────────────────────────────</a:t>
            </a:r>
            <a:endParaRPr lang="en-US" sz="9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9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1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"The best way to become a PM is to</a:t>
            </a:r>
            <a:endParaRPr lang="en-US" sz="9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1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start doing PM work. Right now.</a:t>
            </a:r>
            <a:endParaRPr lang="en-US" sz="9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1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With what you have. Where you are."</a:t>
            </a:r>
            <a:endParaRPr lang="en-US" sz="9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9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1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━━━━━━━━━━━━━━━━━━━━━━━━━━━━━━━━━━━━━━━━━━━━━━━━━━━━━━━━━━━━━━━━━━━━━━━━━</a:t>
            </a:r>
            <a:endParaRPr lang="en-US" sz="9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8" name="PlaceHolder 1"/>
          <p:cNvSpPr>
            <a:spLocks noGrp="1"/>
          </p:cNvSpPr>
          <p:nvPr>
            <p:ph type="sldNum" idx="166"/>
          </p:nvPr>
        </p:nvSpPr>
        <p:spPr>
          <a:xfrm>
            <a:off x="0" y="6343560"/>
            <a:ext cx="11810520" cy="22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350" b="0" u="none" strike="noStrike">
                <a:solidFill>
                  <a:srgbClr val="777777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4C131C8-04B2-4F58-B2B1-9FBAFE76AC7C}" type="slidenum">
              <a:rPr lang="en-US" sz="1350" b="0" u="none" strike="noStrike">
                <a:solidFill>
                  <a:srgbClr val="777777"/>
                </a:solidFill>
                <a:effectLst/>
                <a:uFillTx/>
                <a:latin typeface="Calibri"/>
              </a:rPr>
              <a:t>1</a:t>
            </a:fld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Text 0"/>
          <p:cNvSpPr/>
          <p:nvPr/>
        </p:nvSpPr>
        <p:spPr>
          <a:xfrm>
            <a:off x="380880" y="443520"/>
            <a:ext cx="11658240" cy="37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9000"/>
              </a:lnSpc>
              <a:tabLst>
                <a:tab pos="0" algn="l"/>
              </a:tabLst>
            </a:pPr>
            <a:r>
              <a:rPr lang="en-US" sz="239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SLIDE 151: Recommended Reading</a:t>
            </a:r>
            <a:endParaRPr lang="en-US" sz="23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0" name="Text 1"/>
          <p:cNvSpPr/>
          <p:nvPr/>
        </p:nvSpPr>
        <p:spPr>
          <a:xfrm>
            <a:off x="380880" y="1013760"/>
            <a:ext cx="11429640" cy="5362200"/>
          </a:xfrm>
          <a:prstGeom prst="rect">
            <a:avLst/>
          </a:prstGeom>
          <a:solidFill>
            <a:srgbClr val="F4F4F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6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━━━━━━━━━━━━━━━━━━━━━━━━━━━━━━━━━━━━━━━━━━━━━━━━━━━━━━━━━━━━━━━━━━━━━━━━━</a:t>
            </a:r>
            <a:endParaRPr lang="en-US" sz="9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9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6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   RECOMMENDED READING</a:t>
            </a:r>
            <a:endParaRPr lang="en-US" sz="9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9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6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┌─────────────────────────────────────┐</a:t>
            </a:r>
            <a:endParaRPr lang="en-US" sz="9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6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ESSENTIAL BOOKS                   │</a:t>
            </a:r>
            <a:endParaRPr lang="en-US" sz="9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6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                                  │</a:t>
            </a:r>
            <a:endParaRPr lang="en-US" sz="9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6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• "Inspired" by Marty Cagan       │</a:t>
            </a:r>
            <a:endParaRPr lang="en-US" sz="9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6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• "The Lean Startup" by Eric Ries │</a:t>
            </a:r>
            <a:endParaRPr lang="en-US" sz="9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6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• "Good Strategy Bad Strategy"    │</a:t>
            </a:r>
            <a:endParaRPr lang="en-US" sz="9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6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  by Richard Rumelt              │</a:t>
            </a:r>
            <a:endParaRPr lang="en-US" sz="9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6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• "Hooked" by Nir Eyal           │</a:t>
            </a:r>
            <a:endParaRPr lang="en-US" sz="9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6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• "Escaping the Build Trap"      │</a:t>
            </a:r>
            <a:endParaRPr lang="en-US" sz="9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6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  by Melissa Perri               │</a:t>
            </a:r>
            <a:endParaRPr lang="en-US" sz="9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6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└─────────────────────────────────────┘</a:t>
            </a:r>
            <a:endParaRPr lang="en-US" sz="9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9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6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┌─────────────────────────────────────┐</a:t>
            </a:r>
            <a:endParaRPr lang="en-US" sz="9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6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DISCOVERY &amp; RESEARCH              │</a:t>
            </a:r>
            <a:endParaRPr lang="en-US" sz="9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6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                                  │</a:t>
            </a:r>
            <a:endParaRPr lang="en-US" sz="9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6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• "Continuous Discovery Habits"   │</a:t>
            </a:r>
            <a:endParaRPr lang="en-US" sz="9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6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  by Teresa Torres               │</a:t>
            </a:r>
            <a:endParaRPr lang="en-US" sz="9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6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• "The Mom Test"                  │</a:t>
            </a:r>
            <a:endParaRPr lang="en-US" sz="9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6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  by Rob Fitzpatrick             │</a:t>
            </a:r>
            <a:endParaRPr lang="en-US" sz="9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6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└─────────────────────────────────────┘</a:t>
            </a:r>
            <a:endParaRPr lang="en-US" sz="9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9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6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┌─────────────────────────────────────┐</a:t>
            </a:r>
            <a:endParaRPr lang="en-US" sz="9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6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METRICS &amp; GROWTH                  │</a:t>
            </a:r>
            <a:endParaRPr lang="en-US" sz="9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6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                                  │</a:t>
            </a:r>
            <a:endParaRPr lang="en-US" sz="9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6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• "Lean Analytics"                │</a:t>
            </a:r>
            <a:endParaRPr lang="en-US" sz="9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6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  by Alistair Croll              │</a:t>
            </a:r>
            <a:endParaRPr lang="en-US" sz="9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6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• "Hacking Growth"                │</a:t>
            </a:r>
            <a:endParaRPr lang="en-US" sz="9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6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  by Sean Ellis                  │</a:t>
            </a:r>
            <a:endParaRPr lang="en-US" sz="9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6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└─────────────────────────────────────┘</a:t>
            </a:r>
            <a:endParaRPr lang="en-US" sz="9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9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6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━━━━━━━━━━━━━━━━━━━━━━━━━━━━━━━━━━━━━━━━━━━━━━━━━━━━━━━━━━━━━━━━━━━━━━━━━</a:t>
            </a:r>
            <a:endParaRPr lang="en-US" sz="9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1" name="PlaceHolder 1"/>
          <p:cNvSpPr>
            <a:spLocks noGrp="1"/>
          </p:cNvSpPr>
          <p:nvPr>
            <p:ph type="sldNum" idx="167"/>
          </p:nvPr>
        </p:nvSpPr>
        <p:spPr>
          <a:xfrm>
            <a:off x="0" y="6343560"/>
            <a:ext cx="11810520" cy="22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350" b="0" u="none" strike="noStrike">
                <a:solidFill>
                  <a:srgbClr val="777777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44DF815-B5D5-4C57-87C2-414AE2299DD2}" type="slidenum">
              <a:rPr lang="en-US" sz="1350" b="0" u="none" strike="noStrike">
                <a:solidFill>
                  <a:srgbClr val="777777"/>
                </a:solidFill>
                <a:effectLst/>
                <a:uFillTx/>
                <a:latin typeface="Calibri"/>
              </a:rPr>
              <a:t>1</a:t>
            </a:fld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Text 0"/>
          <p:cNvSpPr/>
          <p:nvPr/>
        </p:nvSpPr>
        <p:spPr>
          <a:xfrm>
            <a:off x="380880" y="443520"/>
            <a:ext cx="11658240" cy="37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9000"/>
              </a:lnSpc>
              <a:tabLst>
                <a:tab pos="0" algn="l"/>
              </a:tabLst>
            </a:pPr>
            <a:r>
              <a:rPr lang="en-US" sz="239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SLIDE 152: Final Words</a:t>
            </a:r>
            <a:endParaRPr lang="en-US" sz="23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3" name="Text 1"/>
          <p:cNvSpPr/>
          <p:nvPr/>
        </p:nvSpPr>
        <p:spPr>
          <a:xfrm>
            <a:off x="380880" y="1013760"/>
            <a:ext cx="11429640" cy="5362200"/>
          </a:xfrm>
          <a:prstGeom prst="rect">
            <a:avLst/>
          </a:prstGeom>
          <a:solidFill>
            <a:srgbClr val="F4F4F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2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━━━━━━━━━━━━━━━━━━━━━━━━━━━━━━━━━━━━━━━━━━━━━━━━━━━━━━━━━━━━━━━━━━━━━━━━━</a:t>
            </a: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2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   FINAL WORDS</a:t>
            </a: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2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Congratulations.</a:t>
            </a: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2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You've completed "The Zero-to-One</a:t>
            </a: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2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Product Manager" series.</a:t>
            </a: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2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You started with nothing—just</a:t>
            </a: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2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curiosity about product management.</a:t>
            </a: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2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You now have:</a:t>
            </a: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2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✓ A complete, portfolio-ready</a:t>
            </a: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2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  case study</a:t>
            </a: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2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✓ Working knowledge of PM frameworks</a:t>
            </a: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2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✓ The ability to communicate</a:t>
            </a: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2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  product decisions clearly</a:t>
            </a: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2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✓ A roadmap for landing your</a:t>
            </a: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2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  first PM role</a:t>
            </a: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2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─────────────────────────────────────</a:t>
            </a: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2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Your journey doesn't end here.</a:t>
            </a: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2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It begins.</a:t>
            </a: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2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─────────────────────────────────────</a:t>
            </a: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2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Go build something great.</a:t>
            </a: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2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━━━━━━━━━━━━━━━━━━━━━━━━━━━━━━━━━━━━━━━━━━━━━━━━━━━━━━━━━━━━━━━━━━━━━━━━━</a:t>
            </a: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4" name="PlaceHolder 1"/>
          <p:cNvSpPr>
            <a:spLocks noGrp="1"/>
          </p:cNvSpPr>
          <p:nvPr>
            <p:ph type="sldNum" idx="168"/>
          </p:nvPr>
        </p:nvSpPr>
        <p:spPr>
          <a:xfrm>
            <a:off x="0" y="6343560"/>
            <a:ext cx="11810520" cy="22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350" b="0" u="none" strike="noStrike">
                <a:solidFill>
                  <a:srgbClr val="777777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5E8C08B-80D0-4DC3-92C0-0BF6A6DF092E}" type="slidenum">
              <a:rPr lang="en-US" sz="1350" b="0" u="none" strike="noStrike">
                <a:solidFill>
                  <a:srgbClr val="777777"/>
                </a:solidFill>
                <a:effectLst/>
                <a:uFillTx/>
                <a:latin typeface="Calibri"/>
              </a:rPr>
              <a:t>1</a:t>
            </a:fld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Text 0"/>
          <p:cNvSpPr/>
          <p:nvPr/>
        </p:nvSpPr>
        <p:spPr>
          <a:xfrm>
            <a:off x="380880" y="443520"/>
            <a:ext cx="11658240" cy="37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9000"/>
              </a:lnSpc>
              <a:tabLst>
                <a:tab pos="0" algn="l"/>
              </a:tabLst>
            </a:pPr>
            <a:r>
              <a:rPr lang="en-US" sz="239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SLIDE 153: Q&amp;A</a:t>
            </a:r>
            <a:endParaRPr lang="en-US" sz="23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6" name="Text 1"/>
          <p:cNvSpPr/>
          <p:nvPr/>
        </p:nvSpPr>
        <p:spPr>
          <a:xfrm>
            <a:off x="380880" y="1013760"/>
            <a:ext cx="11429640" cy="5362200"/>
          </a:xfrm>
          <a:prstGeom prst="rect">
            <a:avLst/>
          </a:prstGeom>
          <a:solidFill>
            <a:srgbClr val="F4F4F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8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━━━━━━━━━━━━━━━━━━━━━━━━━━━━━━━━━━━━━━━━━━━━━━━━━━━━━━━━━━━━━━━━━━━━━━━━━</a:t>
            </a:r>
            <a:endParaRPr lang="en-US" sz="10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0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8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   QUESTIONS &amp; ANSWERS</a:t>
            </a:r>
            <a:endParaRPr lang="en-US" sz="10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0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8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─────────────────────────────────────</a:t>
            </a:r>
            <a:endParaRPr lang="en-US" sz="10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0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8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What questions do you have?</a:t>
            </a:r>
            <a:endParaRPr lang="en-US" sz="10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0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8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─────────────────────────────────────</a:t>
            </a:r>
            <a:endParaRPr lang="en-US" sz="10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0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8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Common Questions:</a:t>
            </a:r>
            <a:endParaRPr lang="en-US" sz="10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0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8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1. Do I need a technical background?</a:t>
            </a:r>
            <a:endParaRPr lang="en-US" sz="10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8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   No. But be curious about tech.</a:t>
            </a:r>
            <a:endParaRPr lang="en-US" sz="10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0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8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2. How do I get my first PM role?</a:t>
            </a:r>
            <a:endParaRPr lang="en-US" sz="10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8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   Portfolio + networking + APM programs</a:t>
            </a:r>
            <a:endParaRPr lang="en-US" sz="10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0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8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3. What's the hardest part of being</a:t>
            </a:r>
            <a:endParaRPr lang="en-US" sz="10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8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   a PM?</a:t>
            </a:r>
            <a:endParaRPr lang="en-US" sz="10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8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   Making decisions without perfect</a:t>
            </a:r>
            <a:endParaRPr lang="en-US" sz="10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8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   information.</a:t>
            </a:r>
            <a:endParaRPr lang="en-US" sz="10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0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8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4. What's the most important skill?</a:t>
            </a:r>
            <a:endParaRPr lang="en-US" sz="10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8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   Communication.</a:t>
            </a:r>
            <a:endParaRPr lang="en-US" sz="10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0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8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─────────────────────────────────────</a:t>
            </a:r>
            <a:endParaRPr lang="en-US" sz="10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0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8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Let's discuss.</a:t>
            </a:r>
            <a:endParaRPr lang="en-US" sz="10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0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8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━━━━━━━━━━━━━━━━━━━━━━━━━━━━━━━━━━━━━━━━━━━━━━━━━━━━━━━━━━━━━━━━━━━━━━━━━</a:t>
            </a:r>
            <a:endParaRPr lang="en-US" sz="10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7" name="PlaceHolder 1"/>
          <p:cNvSpPr>
            <a:spLocks noGrp="1"/>
          </p:cNvSpPr>
          <p:nvPr>
            <p:ph type="sldNum" idx="169"/>
          </p:nvPr>
        </p:nvSpPr>
        <p:spPr>
          <a:xfrm>
            <a:off x="0" y="6343560"/>
            <a:ext cx="11810520" cy="22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350" b="0" u="none" strike="noStrike">
                <a:solidFill>
                  <a:srgbClr val="777777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174AF5E-9FFF-4632-8512-DAEB73E35F6F}" type="slidenum">
              <a:rPr lang="en-US" sz="1350" b="0" u="none" strike="noStrike">
                <a:solidFill>
                  <a:srgbClr val="777777"/>
                </a:solidFill>
                <a:effectLst/>
                <a:uFillTx/>
                <a:latin typeface="Calibri"/>
              </a:rPr>
              <a:t>1</a:t>
            </a:fld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Text 0"/>
          <p:cNvSpPr/>
          <p:nvPr/>
        </p:nvSpPr>
        <p:spPr>
          <a:xfrm>
            <a:off x="380880" y="2713320"/>
            <a:ext cx="11658240" cy="55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107640" anchor="t">
            <a:noAutofit/>
          </a:bodyPr>
          <a:p>
            <a:pPr defTabSz="914400">
              <a:lnSpc>
                <a:spcPct val="109000"/>
              </a:lnSpc>
              <a:tabLst>
                <a:tab pos="0" algn="l"/>
              </a:tabLst>
            </a:pPr>
            <a:r>
              <a:rPr lang="en-US" sz="283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APPENDICES</a:t>
            </a:r>
            <a:endParaRPr lang="en-US" sz="28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9" name="Text 1"/>
          <p:cNvSpPr/>
          <p:nvPr/>
        </p:nvSpPr>
        <p:spPr>
          <a:xfrm>
            <a:off x="380880" y="3498480"/>
            <a:ext cx="11658240" cy="55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107640" anchor="t">
            <a:noAutofit/>
          </a:bodyPr>
          <a:p>
            <a:pPr defTabSz="914400">
              <a:lnSpc>
                <a:spcPct val="109000"/>
              </a:lnSpc>
              <a:tabLst>
                <a:tab pos="0" algn="l"/>
              </a:tabLst>
            </a:pPr>
            <a:r>
              <a:rPr lang="en-US" sz="283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Slides 154-175</a:t>
            </a:r>
            <a:endParaRPr lang="en-US" sz="28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0" name="PlaceHolder 1"/>
          <p:cNvSpPr>
            <a:spLocks noGrp="1"/>
          </p:cNvSpPr>
          <p:nvPr>
            <p:ph type="sldNum" idx="170"/>
          </p:nvPr>
        </p:nvSpPr>
        <p:spPr>
          <a:xfrm>
            <a:off x="0" y="6343560"/>
            <a:ext cx="11810520" cy="22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350" b="0" u="none" strike="noStrike">
                <a:solidFill>
                  <a:srgbClr val="777777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3AA650F-BCD0-4DF4-8DC6-307DA505D6DB}" type="slidenum">
              <a:rPr lang="en-US" sz="1350" b="0" u="none" strike="noStrike">
                <a:solidFill>
                  <a:srgbClr val="777777"/>
                </a:solidFill>
                <a:effectLst/>
                <a:uFillTx/>
                <a:latin typeface="Calibri"/>
              </a:rPr>
              <a:t>1</a:t>
            </a:fld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Text 0"/>
          <p:cNvSpPr/>
          <p:nvPr/>
        </p:nvSpPr>
        <p:spPr>
          <a:xfrm>
            <a:off x="380880" y="443520"/>
            <a:ext cx="11658240" cy="37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9000"/>
              </a:lnSpc>
              <a:tabLst>
                <a:tab pos="0" algn="l"/>
              </a:tabLst>
            </a:pPr>
            <a:r>
              <a:rPr lang="en-US" sz="239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SLIDE 154: Appendices Overview</a:t>
            </a:r>
            <a:endParaRPr lang="en-US" sz="23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2" name="Text 1"/>
          <p:cNvSpPr/>
          <p:nvPr/>
        </p:nvSpPr>
        <p:spPr>
          <a:xfrm>
            <a:off x="380880" y="1013760"/>
            <a:ext cx="11429640" cy="5362200"/>
          </a:xfrm>
          <a:prstGeom prst="rect">
            <a:avLst/>
          </a:prstGeom>
          <a:solidFill>
            <a:srgbClr val="F4F4F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3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━━━━━━━━━━━━━━━━━━━━━━━━━━━━━━━━━━━━━━━━━━━━━━━━━━━━━━━━━━━━━━━━━━━━━━━━━</a:t>
            </a:r>
            <a:endParaRPr lang="en-US" sz="9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9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3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   APPENDICES OVERVIEW</a:t>
            </a:r>
            <a:endParaRPr lang="en-US" sz="9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9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3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┌─────────────────────────────────────┐</a:t>
            </a:r>
            <a:endParaRPr lang="en-US" sz="9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3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APPENDIX 1                         │</a:t>
            </a:r>
            <a:endParaRPr lang="en-US" sz="9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3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Complete Ledgerly Case Study      │</a:t>
            </a:r>
            <a:endParaRPr lang="en-US" sz="9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3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Summary                           │</a:t>
            </a:r>
            <a:endParaRPr lang="en-US" sz="9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3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└─────────────────────────────────────┘</a:t>
            </a:r>
            <a:endParaRPr lang="en-US" sz="9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9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3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┌─────────────────────────────────────┐</a:t>
            </a:r>
            <a:endParaRPr lang="en-US" sz="9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3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APPENDIX 2                         │</a:t>
            </a:r>
            <a:endParaRPr lang="en-US" sz="9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3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Framework Quick Reference Cards   │</a:t>
            </a:r>
            <a:endParaRPr lang="en-US" sz="9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3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└─────────────────────────────────────┘</a:t>
            </a:r>
            <a:endParaRPr lang="en-US" sz="9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9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3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┌─────────────────────────────────────┐</a:t>
            </a:r>
            <a:endParaRPr lang="en-US" sz="9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3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APPENDIX 3                         │</a:t>
            </a:r>
            <a:endParaRPr lang="en-US" sz="9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3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Complete PRD Templates &amp; Examples │</a:t>
            </a:r>
            <a:endParaRPr lang="en-US" sz="9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3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└─────────────────────────────────────┘</a:t>
            </a:r>
            <a:endParaRPr lang="en-US" sz="9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9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3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┌─────────────────────────────────────┐</a:t>
            </a:r>
            <a:endParaRPr lang="en-US" sz="9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3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APPENDIX 4                         │</a:t>
            </a:r>
            <a:endParaRPr lang="en-US" sz="9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3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Interview Preparation Toolkit     │</a:t>
            </a:r>
            <a:endParaRPr lang="en-US" sz="9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3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└─────────────────────────────────────┘</a:t>
            </a:r>
            <a:endParaRPr lang="en-US" sz="9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9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3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┌─────────────────────────────────────┐</a:t>
            </a:r>
            <a:endParaRPr lang="en-US" sz="9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3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APPENDIX 5                         │</a:t>
            </a:r>
            <a:endParaRPr lang="en-US" sz="9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3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Complete Glossary of PM Terms     │</a:t>
            </a:r>
            <a:endParaRPr lang="en-US" sz="9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3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└─────────────────────────────────────┘</a:t>
            </a:r>
            <a:endParaRPr lang="en-US" sz="9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9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3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┌─────────────────────────────────────┐</a:t>
            </a:r>
            <a:endParaRPr lang="en-US" sz="9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3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APPENDIX 6                         │</a:t>
            </a:r>
            <a:endParaRPr lang="en-US" sz="9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3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Complete Portfolio Summary        │</a:t>
            </a:r>
            <a:endParaRPr lang="en-US" sz="9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3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└─────────────────────────────────────┘</a:t>
            </a:r>
            <a:endParaRPr lang="en-US" sz="9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9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3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━━━━━━━━━━━━━━━━━━━━━━━━━━━━━━━━━━━━━━━━━━━━━━━━━━━━━━━━━━━━━━━━━━━━━━━━━</a:t>
            </a:r>
            <a:endParaRPr lang="en-US" sz="9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3" name="PlaceHolder 1"/>
          <p:cNvSpPr>
            <a:spLocks noGrp="1"/>
          </p:cNvSpPr>
          <p:nvPr>
            <p:ph type="sldNum" idx="171"/>
          </p:nvPr>
        </p:nvSpPr>
        <p:spPr>
          <a:xfrm>
            <a:off x="0" y="6343560"/>
            <a:ext cx="11810520" cy="22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350" b="0" u="none" strike="noStrike">
                <a:solidFill>
                  <a:srgbClr val="777777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57A973F-CD6A-4348-8EC3-B3E461C3458F}" type="slidenum">
              <a:rPr lang="en-US" sz="1350" b="0" u="none" strike="noStrike">
                <a:solidFill>
                  <a:srgbClr val="777777"/>
                </a:solidFill>
                <a:effectLst/>
                <a:uFillTx/>
                <a:latin typeface="Calibri"/>
              </a:rPr>
              <a:t>1</a:t>
            </a:fld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Text 0"/>
          <p:cNvSpPr/>
          <p:nvPr/>
        </p:nvSpPr>
        <p:spPr>
          <a:xfrm>
            <a:off x="380880" y="443520"/>
            <a:ext cx="11658240" cy="37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9000"/>
              </a:lnSpc>
              <a:tabLst>
                <a:tab pos="0" algn="l"/>
              </a:tabLst>
            </a:pPr>
            <a:r>
              <a:rPr lang="en-US" sz="239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SLIDE 155: Appendix 1 - Case Study Summary</a:t>
            </a:r>
            <a:endParaRPr lang="en-US" sz="23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5" name="Text 1"/>
          <p:cNvSpPr/>
          <p:nvPr/>
        </p:nvSpPr>
        <p:spPr>
          <a:xfrm>
            <a:off x="380880" y="1013760"/>
            <a:ext cx="11429640" cy="5362200"/>
          </a:xfrm>
          <a:prstGeom prst="rect">
            <a:avLst/>
          </a:prstGeom>
          <a:solidFill>
            <a:srgbClr val="F4F4F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8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━━━━━━━━━━━━━━━━━━━━━━━━━━━━━━━━━━━━━━━━━━━━━━━━━━━━━━━━━━━━━━━━━━━━━━━━━</a:t>
            </a:r>
            <a:endParaRPr lang="en-US" sz="8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8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8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   APPENDIX 1</a:t>
            </a:r>
            <a:endParaRPr lang="en-US" sz="8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8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   CASE STUDY SUMMARY</a:t>
            </a:r>
            <a:endParaRPr lang="en-US" sz="8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8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8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PRODUCT CONTEXT:</a:t>
            </a:r>
            <a:endParaRPr lang="en-US" sz="8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8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────────────────</a:t>
            </a:r>
            <a:endParaRPr lang="en-US" sz="8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8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• Ledgerly - Personal finance app</a:t>
            </a:r>
            <a:endParaRPr lang="en-US" sz="8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8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• 50,000 users, 80% connect bank</a:t>
            </a:r>
            <a:endParaRPr lang="en-US" sz="8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8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• Only 20% active after 30 days</a:t>
            </a:r>
            <a:endParaRPr lang="en-US" sz="8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8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8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KEY FINDINGS:</a:t>
            </a:r>
            <a:endParaRPr lang="en-US" sz="8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8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──────────────</a:t>
            </a:r>
            <a:endParaRPr lang="en-US" sz="8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8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• Onboarding is too hard (40% drop-off)</a:t>
            </a:r>
            <a:endParaRPr lang="en-US" sz="8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8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• Missing budgeting features</a:t>
            </a:r>
            <a:endParaRPr lang="en-US" sz="8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8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• No motivation to return</a:t>
            </a:r>
            <a:endParaRPr lang="en-US" sz="8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8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8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PERSONAS:</a:t>
            </a:r>
            <a:endParaRPr lang="en-US" sz="8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8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──────────</a:t>
            </a:r>
            <a:endParaRPr lang="en-US" sz="8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8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• Sarah (Budget Novice)</a:t>
            </a:r>
            <a:endParaRPr lang="en-US" sz="8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8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• Marcus (Financially Savvy)</a:t>
            </a:r>
            <a:endParaRPr lang="en-US" sz="8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8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• Emily (Drop-off User)</a:t>
            </a:r>
            <a:endParaRPr lang="en-US" sz="8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8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8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JTBD STATEMENT:</a:t>
            </a:r>
            <a:endParaRPr lang="en-US" sz="8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8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────────────────</a:t>
            </a:r>
            <a:endParaRPr lang="en-US" sz="8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8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"When I feel overwhelmed by my</a:t>
            </a:r>
            <a:endParaRPr lang="en-US" sz="8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8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finances, I want to easily track my</a:t>
            </a:r>
            <a:endParaRPr lang="en-US" sz="8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8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spending so I can feel in control."</a:t>
            </a:r>
            <a:endParaRPr lang="en-US" sz="8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8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8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STRATEGIC INSIGHTS:</a:t>
            </a:r>
            <a:endParaRPr lang="en-US" sz="8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8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──────────────────</a:t>
            </a:r>
            <a:endParaRPr lang="en-US" sz="8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8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• The guidance gap</a:t>
            </a:r>
            <a:endParaRPr lang="en-US" sz="8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8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• Goal-setting is underserved</a:t>
            </a:r>
            <a:endParaRPr lang="en-US" sz="8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8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• Habit formation is an unmet need</a:t>
            </a:r>
            <a:endParaRPr lang="en-US" sz="8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8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• Privacy is a growing concern</a:t>
            </a:r>
            <a:endParaRPr lang="en-US" sz="8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8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• Simplicity wins</a:t>
            </a:r>
            <a:endParaRPr lang="en-US" sz="8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8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8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━━━━━━━━━━━━━━━━━━━━━━━━━━━━━━━━━━━━━━━━━━━━━━━━━━━━━━━━━━━━━━━━━━━━━━━━━</a:t>
            </a:r>
            <a:endParaRPr lang="en-US" sz="8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6" name="PlaceHolder 1"/>
          <p:cNvSpPr>
            <a:spLocks noGrp="1"/>
          </p:cNvSpPr>
          <p:nvPr>
            <p:ph type="sldNum" idx="172"/>
          </p:nvPr>
        </p:nvSpPr>
        <p:spPr>
          <a:xfrm>
            <a:off x="0" y="6343560"/>
            <a:ext cx="11810520" cy="22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350" b="0" u="none" strike="noStrike">
                <a:solidFill>
                  <a:srgbClr val="777777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F6FF546-E5C5-4CAD-96C2-EAB298577FD2}" type="slidenum">
              <a:rPr lang="en-US" sz="1350" b="0" u="none" strike="noStrike">
                <a:solidFill>
                  <a:srgbClr val="777777"/>
                </a:solidFill>
                <a:effectLst/>
                <a:uFillTx/>
                <a:latin typeface="Calibri"/>
              </a:rPr>
              <a:t>1</a:t>
            </a:fld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Text 0"/>
          <p:cNvSpPr/>
          <p:nvPr/>
        </p:nvSpPr>
        <p:spPr>
          <a:xfrm>
            <a:off x="380880" y="443520"/>
            <a:ext cx="11658240" cy="37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9000"/>
              </a:lnSpc>
              <a:tabLst>
                <a:tab pos="0" algn="l"/>
              </a:tabLst>
            </a:pPr>
            <a:r>
              <a:rPr lang="en-US" sz="239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SLIDE 156: Appendix 2 - Framework Cards</a:t>
            </a:r>
            <a:endParaRPr lang="en-US" sz="23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8" name="Text 1"/>
          <p:cNvSpPr/>
          <p:nvPr/>
        </p:nvSpPr>
        <p:spPr>
          <a:xfrm>
            <a:off x="380880" y="1013760"/>
            <a:ext cx="11429640" cy="5362200"/>
          </a:xfrm>
          <a:prstGeom prst="rect">
            <a:avLst/>
          </a:prstGeom>
          <a:solidFill>
            <a:srgbClr val="F4F4F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━━━━━━━━━━━━━━━━━━━━━━━━━━━━━━━━━━━━━━━━━━━━━━━━━━━━━━━━━━━━━━━━━━━━━━━━━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   APPENDIX 2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   FRAMEWORK REFERENCE CARDS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RICE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────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(Reach × Impact × Confidence) ÷ Effort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KANO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────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Basic + Performance + Excitement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JTBD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────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"What job is the user hiring?"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STAR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────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Situation, Task, Action, Result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AARRR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─────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Acquisition, Activation, Retention,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Referral, Revenue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GROWTH PYRAMID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──────────────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Retention → Activation → Acquisition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→ Revenue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━━━━━━━━━━━━━━━━━━━━━━━━━━━━━━━━━━━━━━━━━━━━━━━━━━━━━━━━━━━━━━━━━━━━━━━━━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9" name="PlaceHolder 1"/>
          <p:cNvSpPr>
            <a:spLocks noGrp="1"/>
          </p:cNvSpPr>
          <p:nvPr>
            <p:ph type="sldNum" idx="173"/>
          </p:nvPr>
        </p:nvSpPr>
        <p:spPr>
          <a:xfrm>
            <a:off x="0" y="6343560"/>
            <a:ext cx="11810520" cy="22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350" b="0" u="none" strike="noStrike">
                <a:solidFill>
                  <a:srgbClr val="777777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2A9355E-E693-41DC-81FB-22CA574F072F}" type="slidenum">
              <a:rPr lang="en-US" sz="1350" b="0" u="none" strike="noStrike">
                <a:solidFill>
                  <a:srgbClr val="777777"/>
                </a:solidFill>
                <a:effectLst/>
                <a:uFillTx/>
                <a:latin typeface="Calibri"/>
              </a:rPr>
              <a:t>1</a:t>
            </a:fld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Text 0"/>
          <p:cNvSpPr/>
          <p:nvPr/>
        </p:nvSpPr>
        <p:spPr>
          <a:xfrm>
            <a:off x="380880" y="443520"/>
            <a:ext cx="11658240" cy="37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9000"/>
              </a:lnSpc>
              <a:tabLst>
                <a:tab pos="0" algn="l"/>
              </a:tabLst>
            </a:pPr>
            <a:r>
              <a:rPr lang="en-US" sz="239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SLIDE 157: Appendix 3 - PRD Templates</a:t>
            </a:r>
            <a:endParaRPr lang="en-US" sz="23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1" name="Text 1"/>
          <p:cNvSpPr/>
          <p:nvPr/>
        </p:nvSpPr>
        <p:spPr>
          <a:xfrm>
            <a:off x="380880" y="1013760"/>
            <a:ext cx="11429640" cy="5362200"/>
          </a:xfrm>
          <a:prstGeom prst="rect">
            <a:avLst/>
          </a:prstGeom>
          <a:solidFill>
            <a:srgbClr val="F4F4F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8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━━━━━━━━━━━━━━━━━━━━━━━━━━━━━━━━━━━━━━━━━━━━━━━━━━━━━━━━━━━━━━━━━━━━━━━━━</a:t>
            </a:r>
            <a:endParaRPr lang="en-US" sz="10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0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8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   APPENDIX 3</a:t>
            </a:r>
            <a:endParaRPr lang="en-US" sz="10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8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   PRD TEMPLATES &amp; EXAMPLES</a:t>
            </a:r>
            <a:endParaRPr lang="en-US" sz="10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0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8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PRD STRUCTURE:</a:t>
            </a:r>
            <a:endParaRPr lang="en-US" sz="10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8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──────────────</a:t>
            </a:r>
            <a:endParaRPr lang="en-US" sz="10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8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1. Executive Summary</a:t>
            </a:r>
            <a:endParaRPr lang="en-US" sz="10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8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2. Problem Statement</a:t>
            </a:r>
            <a:endParaRPr lang="en-US" sz="10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8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3. User Stories</a:t>
            </a:r>
            <a:endParaRPr lang="en-US" sz="10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8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4. Success Metrics</a:t>
            </a:r>
            <a:endParaRPr lang="en-US" sz="10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8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5. Detailed Requirements</a:t>
            </a:r>
            <a:endParaRPr lang="en-US" sz="10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8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6. Out of Scope</a:t>
            </a:r>
            <a:endParaRPr lang="en-US" sz="10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0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8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USER STORY TEMPLATE:</a:t>
            </a:r>
            <a:endParaRPr lang="en-US" sz="10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8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─────────────────────</a:t>
            </a:r>
            <a:endParaRPr lang="en-US" sz="10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8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"As a [user], I want [goal],</a:t>
            </a:r>
            <a:endParaRPr lang="en-US" sz="10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8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So that [reason]."</a:t>
            </a:r>
            <a:endParaRPr lang="en-US" sz="10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0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8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ACCEPTANCE CRITERIA:</a:t>
            </a:r>
            <a:endParaRPr lang="en-US" sz="10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8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────────────────────</a:t>
            </a:r>
            <a:endParaRPr lang="en-US" sz="10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8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GIVEN [context]</a:t>
            </a:r>
            <a:endParaRPr lang="en-US" sz="10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8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WHEN [action]</a:t>
            </a:r>
            <a:endParaRPr lang="en-US" sz="10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8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THEN [outcome]</a:t>
            </a:r>
            <a:endParaRPr lang="en-US" sz="10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0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8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EXAMPLE PRD:</a:t>
            </a:r>
            <a:endParaRPr lang="en-US" sz="10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8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────────────</a:t>
            </a:r>
            <a:endParaRPr lang="en-US" sz="10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8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Goal Setting Feature PRD</a:t>
            </a:r>
            <a:endParaRPr lang="en-US" sz="10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8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(See complete document in Appendix 3)</a:t>
            </a:r>
            <a:endParaRPr lang="en-US" sz="10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0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8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━━━━━━━━━━━━━━━━━━━━━━━━━━━━━━━━━━━━━━━━━━━━━━━━━━━━━━━━━━━━━━━━━━━━━━━━━</a:t>
            </a:r>
            <a:endParaRPr lang="en-US" sz="10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2" name="PlaceHolder 1"/>
          <p:cNvSpPr>
            <a:spLocks noGrp="1"/>
          </p:cNvSpPr>
          <p:nvPr>
            <p:ph type="sldNum" idx="174"/>
          </p:nvPr>
        </p:nvSpPr>
        <p:spPr>
          <a:xfrm>
            <a:off x="0" y="6343560"/>
            <a:ext cx="11810520" cy="22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350" b="0" u="none" strike="noStrike">
                <a:solidFill>
                  <a:srgbClr val="777777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FB5FBD7-F3EE-4079-ACCF-9D0BB522E2DF}" type="slidenum">
              <a:rPr lang="en-US" sz="1350" b="0" u="none" strike="noStrike">
                <a:solidFill>
                  <a:srgbClr val="777777"/>
                </a:solidFill>
                <a:effectLst/>
                <a:uFillTx/>
                <a:latin typeface="Calibri"/>
              </a:rPr>
              <a:t>1</a:t>
            </a:fld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Text 0"/>
          <p:cNvSpPr/>
          <p:nvPr/>
        </p:nvSpPr>
        <p:spPr>
          <a:xfrm>
            <a:off x="380880" y="443520"/>
            <a:ext cx="11658240" cy="37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9000"/>
              </a:lnSpc>
              <a:tabLst>
                <a:tab pos="0" algn="l"/>
              </a:tabLst>
            </a:pPr>
            <a:r>
              <a:rPr lang="en-US" sz="239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SLIDE 158: Appendix 4 - Interview Toolkit</a:t>
            </a:r>
            <a:endParaRPr lang="en-US" sz="23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4" name="Text 1"/>
          <p:cNvSpPr/>
          <p:nvPr/>
        </p:nvSpPr>
        <p:spPr>
          <a:xfrm>
            <a:off x="380880" y="1013760"/>
            <a:ext cx="11429640" cy="5362200"/>
          </a:xfrm>
          <a:prstGeom prst="rect">
            <a:avLst/>
          </a:prstGeom>
          <a:solidFill>
            <a:srgbClr val="F4F4F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6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━━━━━━━━━━━━━━━━━━━━━━━━━━━━━━━━━━━━━━━━━━━━━━━━━━━━━━━━━━━━━━━━━━━━━━━━━</a:t>
            </a:r>
            <a:endParaRPr lang="en-US" sz="9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9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6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   APPENDIX 4</a:t>
            </a:r>
            <a:endParaRPr lang="en-US" sz="9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6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   INTERVIEW PREPARATION TOOLKIT</a:t>
            </a:r>
            <a:endParaRPr lang="en-US" sz="9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9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6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INTERVIEW STRUCTURE:</a:t>
            </a:r>
            <a:endParaRPr lang="en-US" sz="9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6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────────────────────</a:t>
            </a:r>
            <a:endParaRPr lang="en-US" sz="9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6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1. Recruiter Screen (30 min)</a:t>
            </a:r>
            <a:endParaRPr lang="en-US" sz="9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6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2. Hiring Manager (60 min)</a:t>
            </a:r>
            <a:endParaRPr lang="en-US" sz="9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6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3. Onsite (3-5 hours)</a:t>
            </a:r>
            <a:endParaRPr lang="en-US" sz="9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6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4. Final Round (30-45 min)</a:t>
            </a:r>
            <a:endParaRPr lang="en-US" sz="9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9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6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QUESTION TYPES:</a:t>
            </a:r>
            <a:endParaRPr lang="en-US" sz="9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6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────────────────</a:t>
            </a:r>
            <a:endParaRPr lang="en-US" sz="9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6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1. Behavioral (STAR)</a:t>
            </a:r>
            <a:endParaRPr lang="en-US" sz="9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6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2. Product Sense (Design)</a:t>
            </a:r>
            <a:endParaRPr lang="en-US" sz="9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6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3. Product Strategy</a:t>
            </a:r>
            <a:endParaRPr lang="en-US" sz="9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6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4. Execution</a:t>
            </a:r>
            <a:endParaRPr lang="en-US" sz="9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6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5. Analytical (Metrics)</a:t>
            </a:r>
            <a:endParaRPr lang="en-US" sz="9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9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6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KEY FRAMEWORKS TO KNOW:</a:t>
            </a:r>
            <a:endParaRPr lang="en-US" sz="9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6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──────────────────────</a:t>
            </a:r>
            <a:endParaRPr lang="en-US" sz="9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6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RICE, Kano, JTBD, AARRR, STAR</a:t>
            </a:r>
            <a:endParaRPr lang="en-US" sz="9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9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6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KEY METRICS TO KNOW:</a:t>
            </a:r>
            <a:endParaRPr lang="en-US" sz="9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6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────────────────────</a:t>
            </a:r>
            <a:endParaRPr lang="en-US" sz="9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6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NPS, Retention, Churn, ARPU, LTV, CAC</a:t>
            </a:r>
            <a:endParaRPr lang="en-US" sz="9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9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6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QUESTIONS TO ASK:</a:t>
            </a:r>
            <a:endParaRPr lang="en-US" sz="9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6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─────────────────</a:t>
            </a:r>
            <a:endParaRPr lang="en-US" sz="9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6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1. "What's the biggest challenge?"</a:t>
            </a:r>
            <a:endParaRPr lang="en-US" sz="9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6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2. "What's the North Star metric?"</a:t>
            </a:r>
            <a:endParaRPr lang="en-US" sz="9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6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3. "How do you work with engineering?"</a:t>
            </a:r>
            <a:endParaRPr lang="en-US" sz="9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9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6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━━━━━━━━━━━━━━━━━━━━━━━━━━━━━━━━━━━━━━━━━━━━━━━━━━━━━━━━━━━━━━━━━━━━━━━━━</a:t>
            </a:r>
            <a:endParaRPr lang="en-US" sz="9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5" name="PlaceHolder 1"/>
          <p:cNvSpPr>
            <a:spLocks noGrp="1"/>
          </p:cNvSpPr>
          <p:nvPr>
            <p:ph type="sldNum" idx="175"/>
          </p:nvPr>
        </p:nvSpPr>
        <p:spPr>
          <a:xfrm>
            <a:off x="0" y="6343560"/>
            <a:ext cx="11810520" cy="22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350" b="0" u="none" strike="noStrike">
                <a:solidFill>
                  <a:srgbClr val="777777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E35918E-EBCF-4995-971D-BECFA609AF3E}" type="slidenum">
              <a:rPr lang="en-US" sz="1350" b="0" u="none" strike="noStrike">
                <a:solidFill>
                  <a:srgbClr val="777777"/>
                </a:solidFill>
                <a:effectLst/>
                <a:uFillTx/>
                <a:latin typeface="Calibri"/>
              </a:rPr>
              <a:t>1</a:t>
            </a:fld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Text 0"/>
          <p:cNvSpPr/>
          <p:nvPr/>
        </p:nvSpPr>
        <p:spPr>
          <a:xfrm>
            <a:off x="380880" y="443520"/>
            <a:ext cx="11658240" cy="37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9000"/>
              </a:lnSpc>
              <a:tabLst>
                <a:tab pos="0" algn="l"/>
              </a:tabLst>
            </a:pPr>
            <a:r>
              <a:rPr lang="en-US" sz="239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SLIDE 159: Appendix 5 - Glossary</a:t>
            </a:r>
            <a:endParaRPr lang="en-US" sz="23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7" name="Text 1"/>
          <p:cNvSpPr/>
          <p:nvPr/>
        </p:nvSpPr>
        <p:spPr>
          <a:xfrm>
            <a:off x="380880" y="1013760"/>
            <a:ext cx="11429640" cy="5362200"/>
          </a:xfrm>
          <a:prstGeom prst="rect">
            <a:avLst/>
          </a:prstGeom>
          <a:solidFill>
            <a:srgbClr val="F4F4F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1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━━━━━━━━━━━━━━━━━━━━━━━━━━━━━━━━━━━━━━━━━━━━━━━━━━━━━━━━━━━━━━━━━━━━━━━━━</a:t>
            </a:r>
            <a:endParaRPr lang="en-US" sz="9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9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1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   APPENDIX 5</a:t>
            </a:r>
            <a:endParaRPr lang="en-US" sz="9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1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   GLOSSARY OF PM TERMS</a:t>
            </a:r>
            <a:endParaRPr lang="en-US" sz="9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9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1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KEY DEFINITIONS:</a:t>
            </a:r>
            <a:endParaRPr lang="en-US" sz="9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1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─────────────────</a:t>
            </a:r>
            <a:endParaRPr lang="en-US" sz="9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9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1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RICE: Reach × Impact × Confidence ÷</a:t>
            </a:r>
            <a:endParaRPr lang="en-US" sz="9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1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      Effort</a:t>
            </a:r>
            <a:endParaRPr lang="en-US" sz="9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9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1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KANO: Basic + Performance +</a:t>
            </a:r>
            <a:endParaRPr lang="en-US" sz="9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1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      Excitement</a:t>
            </a:r>
            <a:endParaRPr lang="en-US" sz="9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9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1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JTBD: Jobs-to-Be-Done framework</a:t>
            </a:r>
            <a:endParaRPr lang="en-US" sz="9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9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1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STAR: Situation, Task, Action, Result</a:t>
            </a:r>
            <a:endParaRPr lang="en-US" sz="9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9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1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AARRR: Acquisition, Activation,</a:t>
            </a:r>
            <a:endParaRPr lang="en-US" sz="9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1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       Retention, Referral, Revenue</a:t>
            </a:r>
            <a:endParaRPr lang="en-US" sz="9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9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1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NPS: Net Promoter Score</a:t>
            </a:r>
            <a:endParaRPr lang="en-US" sz="9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1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     Promoters% - Detractors%</a:t>
            </a:r>
            <a:endParaRPr lang="en-US" sz="9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9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1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ARPU: Average Revenue Per User</a:t>
            </a:r>
            <a:endParaRPr lang="en-US" sz="9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1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      Revenue ÷ Users</a:t>
            </a:r>
            <a:endParaRPr lang="en-US" sz="9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9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1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LTV: Lifetime Value</a:t>
            </a:r>
            <a:endParaRPr lang="en-US" sz="9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1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     ARPU × Average Lifetime</a:t>
            </a:r>
            <a:endParaRPr lang="en-US" sz="9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9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1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CAC: Customer Acquisition Cost</a:t>
            </a:r>
            <a:endParaRPr lang="en-US" sz="9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1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      Marketing Spend ÷ New Users</a:t>
            </a:r>
            <a:endParaRPr lang="en-US" sz="9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9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1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DAU/MAU: Daily Active ÷ Monthly</a:t>
            </a:r>
            <a:endParaRPr lang="en-US" sz="9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1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         Active</a:t>
            </a:r>
            <a:endParaRPr lang="en-US" sz="9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9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1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━━━━━━━━━━━━━━━━━━━━━━━━━━━━━━━━━━━━━━━━━━━━━━━━━━━━━━━━━━━━━━━━━━━━━━━━━</a:t>
            </a:r>
            <a:endParaRPr lang="en-US" sz="9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8" name="PlaceHolder 1"/>
          <p:cNvSpPr>
            <a:spLocks noGrp="1"/>
          </p:cNvSpPr>
          <p:nvPr>
            <p:ph type="sldNum" idx="176"/>
          </p:nvPr>
        </p:nvSpPr>
        <p:spPr>
          <a:xfrm>
            <a:off x="0" y="6343560"/>
            <a:ext cx="11810520" cy="22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350" b="0" u="none" strike="noStrike">
                <a:solidFill>
                  <a:srgbClr val="777777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2519052-4210-4DEB-93D7-D0E7BED0D5D3}" type="slidenum">
              <a:rPr lang="en-US" sz="1350" b="0" u="none" strike="noStrike">
                <a:solidFill>
                  <a:srgbClr val="777777"/>
                </a:solidFill>
                <a:effectLst/>
                <a:uFillTx/>
                <a:latin typeface="Calibri"/>
              </a:rPr>
              <a:t>1</a:t>
            </a:fld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Text 0"/>
          <p:cNvSpPr/>
          <p:nvPr/>
        </p:nvSpPr>
        <p:spPr>
          <a:xfrm>
            <a:off x="380880" y="443520"/>
            <a:ext cx="11658240" cy="37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9000"/>
              </a:lnSpc>
              <a:tabLst>
                <a:tab pos="0" algn="l"/>
              </a:tabLst>
            </a:pPr>
            <a:r>
              <a:rPr lang="en-US" sz="239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SLIDE 160: Appendix 6 - Portfolio Summary</a:t>
            </a:r>
            <a:endParaRPr lang="en-US" sz="23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0" name="Text 1"/>
          <p:cNvSpPr/>
          <p:nvPr/>
        </p:nvSpPr>
        <p:spPr>
          <a:xfrm>
            <a:off x="380880" y="1013760"/>
            <a:ext cx="11429640" cy="5362200"/>
          </a:xfrm>
          <a:prstGeom prst="rect">
            <a:avLst/>
          </a:prstGeom>
          <a:solidFill>
            <a:srgbClr val="F4F4F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━━━━━━━━━━━━━━━━━━━━━━━━━━━━━━━━━━━━━━━━━━━━━━━━━━━━━━━━━━━━━━━━━━━━━━━━━</a:t>
            </a:r>
            <a:endParaRPr lang="en-US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   APPENDIX 6</a:t>
            </a:r>
            <a:endParaRPr lang="en-US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   PORTFOLIO SUMMARY</a:t>
            </a:r>
            <a:endParaRPr lang="en-US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COMPLETE PORTFOLIO STRUCTURE:</a:t>
            </a:r>
            <a:endParaRPr lang="en-US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ledgerly-pm-portfolio/</a:t>
            </a:r>
            <a:endParaRPr lang="en-US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├── 01-discovery/</a:t>
            </a:r>
            <a:endParaRPr lang="en-US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 ├── pm-philosophy.md</a:t>
            </a:r>
            <a:endParaRPr lang="en-US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 ├── affinity-map.md</a:t>
            </a:r>
            <a:endParaRPr lang="en-US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 ├── personas.md</a:t>
            </a:r>
            <a:endParaRPr lang="en-US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 ├── problem-statements.md</a:t>
            </a:r>
            <a:endParaRPr lang="en-US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 └── jobs-to-be-done.md</a:t>
            </a:r>
            <a:endParaRPr lang="en-US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├── 02-strategy/</a:t>
            </a:r>
            <a:endParaRPr lang="en-US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 ├── product-vision.md</a:t>
            </a:r>
            <a:endParaRPr lang="en-US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 ├── value-proposition.md</a:t>
            </a:r>
            <a:endParaRPr lang="en-US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 ├── competitive-positioning.md</a:t>
            </a:r>
            <a:endParaRPr lang="en-US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 ├── feature-comparison.md</a:t>
            </a:r>
            <a:endParaRPr lang="en-US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 ├── swot-analysis.md</a:t>
            </a:r>
            <a:endParaRPr lang="en-US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 ├── positioning-map.md</a:t>
            </a:r>
            <a:endParaRPr lang="en-US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 ├── strategic-insights.md</a:t>
            </a:r>
            <a:endParaRPr lang="en-US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 ├── rice-scoring.md</a:t>
            </a:r>
            <a:endParaRPr lang="en-US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 ├── kano-model.md</a:t>
            </a:r>
            <a:endParaRPr lang="en-US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 ├── outcome-prioritization.md</a:t>
            </a:r>
            <a:endParaRPr lang="en-US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 └── prioritized-backlog.md</a:t>
            </a:r>
            <a:endParaRPr lang="en-US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├── 03-execution/</a:t>
            </a:r>
            <a:endParaRPr lang="en-US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 ├── prd-goal-setting.md</a:t>
            </a:r>
            <a:endParaRPr lang="en-US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 ├── user-stories-goal-setting.md</a:t>
            </a:r>
            <a:endParaRPr lang="en-US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 ├── user-flow-goal-setting.md</a:t>
            </a:r>
            <a:endParaRPr lang="en-US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 ├── sprint-planning.md</a:t>
            </a:r>
            <a:endParaRPr lang="en-US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 └── sprint-review.md</a:t>
            </a:r>
            <a:endParaRPr lang="en-US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├── 04-growth/</a:t>
            </a:r>
            <a:endParaRPr lang="en-US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 ├── metrics-dashboard.md</a:t>
            </a:r>
            <a:endParaRPr lang="en-US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 ├── key-insights.md</a:t>
            </a:r>
            <a:endParaRPr lang="en-US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 ├── hypotheses.md</a:t>
            </a:r>
            <a:endParaRPr lang="en-US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 ├── experiment-plan.md</a:t>
            </a:r>
            <a:endParaRPr lang="en-US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 ├── action-plan.md</a:t>
            </a:r>
            <a:endParaRPr lang="en-US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 ├── growth-plan.md</a:t>
            </a:r>
            <a:endParaRPr lang="en-US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 └── experiment-runbook.md</a:t>
            </a:r>
            <a:endParaRPr lang="en-US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└── README.md</a:t>
            </a:r>
            <a:endParaRPr lang="en-US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TOTAL: 34 ARTIFACTS</a:t>
            </a:r>
            <a:endParaRPr lang="en-US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━━━━━━━━━━━━━━━━━━━━━━━━━━━━━━━━━━━━━━━━━━━━━━━━━━━━━━━━━━━━━━━━━━━━━━━━━</a:t>
            </a:r>
            <a:endParaRPr lang="en-US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1" name="PlaceHolder 1"/>
          <p:cNvSpPr>
            <a:spLocks noGrp="1"/>
          </p:cNvSpPr>
          <p:nvPr>
            <p:ph type="sldNum" idx="177"/>
          </p:nvPr>
        </p:nvSpPr>
        <p:spPr>
          <a:xfrm>
            <a:off x="0" y="6343560"/>
            <a:ext cx="11810520" cy="22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350" b="0" u="none" strike="noStrike">
                <a:solidFill>
                  <a:srgbClr val="777777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61F5859-AE76-4F43-8C62-8F807EC5F82B}" type="slidenum">
              <a:rPr lang="en-US" sz="1350" b="0" u="none" strike="noStrike">
                <a:solidFill>
                  <a:srgbClr val="777777"/>
                </a:solidFill>
                <a:effectLst/>
                <a:uFillTx/>
                <a:latin typeface="Calibri"/>
              </a:rPr>
              <a:t>1</a:t>
            </a:fld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Text 0"/>
          <p:cNvSpPr/>
          <p:nvPr/>
        </p:nvSpPr>
        <p:spPr>
          <a:xfrm>
            <a:off x="380880" y="2713320"/>
            <a:ext cx="11658240" cy="55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107640" anchor="t">
            <a:noAutofit/>
          </a:bodyPr>
          <a:p>
            <a:pPr defTabSz="914400">
              <a:lnSpc>
                <a:spcPct val="109000"/>
              </a:lnSpc>
              <a:tabLst>
                <a:tab pos="0" algn="l"/>
              </a:tabLst>
            </a:pPr>
            <a:r>
              <a:rPr lang="en-US" sz="283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PRIMERS OVERVIEW</a:t>
            </a:r>
            <a:endParaRPr lang="en-US" sz="28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3" name="Text 1"/>
          <p:cNvSpPr/>
          <p:nvPr/>
        </p:nvSpPr>
        <p:spPr>
          <a:xfrm>
            <a:off x="380880" y="3498480"/>
            <a:ext cx="11658240" cy="55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107640" anchor="t">
            <a:noAutofit/>
          </a:bodyPr>
          <a:p>
            <a:pPr defTabSz="914400">
              <a:lnSpc>
                <a:spcPct val="109000"/>
              </a:lnSpc>
              <a:tabLst>
                <a:tab pos="0" algn="l"/>
              </a:tabLst>
            </a:pPr>
            <a:r>
              <a:rPr lang="en-US" sz="283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Slides 161-180</a:t>
            </a:r>
            <a:endParaRPr lang="en-US" sz="28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4" name="PlaceHolder 1"/>
          <p:cNvSpPr>
            <a:spLocks noGrp="1"/>
          </p:cNvSpPr>
          <p:nvPr>
            <p:ph type="sldNum" idx="178"/>
          </p:nvPr>
        </p:nvSpPr>
        <p:spPr>
          <a:xfrm>
            <a:off x="0" y="6343560"/>
            <a:ext cx="11810520" cy="22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350" b="0" u="none" strike="noStrike">
                <a:solidFill>
                  <a:srgbClr val="777777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E1F358B-A301-4CED-BE1A-F33D05EA2D40}" type="slidenum">
              <a:rPr lang="en-US" sz="1350" b="0" u="none" strike="noStrike">
                <a:solidFill>
                  <a:srgbClr val="777777"/>
                </a:solidFill>
                <a:effectLst/>
                <a:uFillTx/>
                <a:latin typeface="Calibri"/>
              </a:rPr>
              <a:t>1</a:t>
            </a:fld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Text 0"/>
          <p:cNvSpPr/>
          <p:nvPr/>
        </p:nvSpPr>
        <p:spPr>
          <a:xfrm>
            <a:off x="380880" y="443520"/>
            <a:ext cx="11658240" cy="37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9000"/>
              </a:lnSpc>
              <a:tabLst>
                <a:tab pos="0" algn="l"/>
              </a:tabLst>
            </a:pPr>
            <a:r>
              <a:rPr lang="en-US" sz="239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SLIDE 161: Primers Overview</a:t>
            </a:r>
            <a:endParaRPr lang="en-US" sz="23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6" name="Text 1"/>
          <p:cNvSpPr/>
          <p:nvPr/>
        </p:nvSpPr>
        <p:spPr>
          <a:xfrm>
            <a:off x="380880" y="1013760"/>
            <a:ext cx="11429640" cy="5362200"/>
          </a:xfrm>
          <a:prstGeom prst="rect">
            <a:avLst/>
          </a:prstGeom>
          <a:solidFill>
            <a:srgbClr val="F4F4F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1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━━━━━━━━━━━━━━━━━━━━━━━━━━━━━━━━━━━━━━━━━━━━━━━━━━━━━━━━━━━━━━━━━━━━━━━━━</a:t>
            </a:r>
            <a:endParaRPr lang="en-US" sz="11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1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1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   PRIMERS OVERVIEW</a:t>
            </a:r>
            <a:endParaRPr lang="en-US" sz="11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1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1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The "Zero-to-One Product Manager"</a:t>
            </a:r>
            <a:endParaRPr lang="en-US" sz="11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1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series includes 8 primers:</a:t>
            </a:r>
            <a:endParaRPr lang="en-US" sz="11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1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1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┌─────────────────────────────────────┐</a:t>
            </a:r>
            <a:endParaRPr lang="en-US" sz="11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1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1. Ultimate PM Primer             │</a:t>
            </a:r>
            <a:endParaRPr lang="en-US" sz="11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1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2. Interview Primer               │</a:t>
            </a:r>
            <a:endParaRPr lang="en-US" sz="11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1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3. Strategy Primer                │</a:t>
            </a:r>
            <a:endParaRPr lang="en-US" sz="11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1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4. Discovery Primer               │</a:t>
            </a:r>
            <a:endParaRPr lang="en-US" sz="11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1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5. Execution Primer               │</a:t>
            </a:r>
            <a:endParaRPr lang="en-US" sz="11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1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6. Metrics Primer                 │</a:t>
            </a:r>
            <a:endParaRPr lang="en-US" sz="11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1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7. Stakeholder Primer             │</a:t>
            </a:r>
            <a:endParaRPr lang="en-US" sz="11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1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8. Career Primer                  │</a:t>
            </a:r>
            <a:endParaRPr lang="en-US" sz="11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1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└─────────────────────────────────────┘</a:t>
            </a:r>
            <a:endParaRPr lang="en-US" sz="11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1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1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─────────────────────────────────────</a:t>
            </a:r>
            <a:endParaRPr lang="en-US" sz="11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1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1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Each primer is a 15-minute,</a:t>
            </a:r>
            <a:endParaRPr lang="en-US" sz="11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1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high-level overview of a key PM</a:t>
            </a:r>
            <a:endParaRPr lang="en-US" sz="11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1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domain.</a:t>
            </a:r>
            <a:endParaRPr lang="en-US" sz="11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1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1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Use them for:</a:t>
            </a:r>
            <a:endParaRPr lang="en-US" sz="11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1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• Quick reference</a:t>
            </a:r>
            <a:endParaRPr lang="en-US" sz="11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1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• Interview preparation</a:t>
            </a:r>
            <a:endParaRPr lang="en-US" sz="11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1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• Review before deep dives</a:t>
            </a:r>
            <a:endParaRPr lang="en-US" sz="11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1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1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━━━━━━━━━━━━━━━━━━━━━━━━━━━━━━━━━━━━━━━━━━━━━━━━━━━━━━━━━━━━━━━━━━━━━━━━━</a:t>
            </a:r>
            <a:endParaRPr lang="en-US" sz="11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7" name="PlaceHolder 1"/>
          <p:cNvSpPr>
            <a:spLocks noGrp="1"/>
          </p:cNvSpPr>
          <p:nvPr>
            <p:ph type="sldNum" idx="179"/>
          </p:nvPr>
        </p:nvSpPr>
        <p:spPr>
          <a:xfrm>
            <a:off x="0" y="6343560"/>
            <a:ext cx="11810520" cy="22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350" b="0" u="none" strike="noStrike">
                <a:solidFill>
                  <a:srgbClr val="777777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A17C968-B4B3-487D-9FED-AE929625BFA0}" type="slidenum">
              <a:rPr lang="en-US" sz="1350" b="0" u="none" strike="noStrike">
                <a:solidFill>
                  <a:srgbClr val="777777"/>
                </a:solidFill>
                <a:effectLst/>
                <a:uFillTx/>
                <a:latin typeface="Calibri"/>
              </a:rPr>
              <a:t>1</a:t>
            </a:fld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Text 0"/>
          <p:cNvSpPr/>
          <p:nvPr/>
        </p:nvSpPr>
        <p:spPr>
          <a:xfrm>
            <a:off x="380880" y="443520"/>
            <a:ext cx="11658240" cy="37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9000"/>
              </a:lnSpc>
              <a:tabLst>
                <a:tab pos="0" algn="l"/>
              </a:tabLst>
            </a:pPr>
            <a:r>
              <a:rPr lang="en-US" sz="239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SLIDE 162: Primer 1 - Ultimate PM Primer</a:t>
            </a:r>
            <a:endParaRPr lang="en-US" sz="23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9" name="Text 1"/>
          <p:cNvSpPr/>
          <p:nvPr/>
        </p:nvSpPr>
        <p:spPr>
          <a:xfrm>
            <a:off x="380880" y="1013760"/>
            <a:ext cx="11429640" cy="5362200"/>
          </a:xfrm>
          <a:prstGeom prst="rect">
            <a:avLst/>
          </a:prstGeom>
          <a:solidFill>
            <a:srgbClr val="F4F4F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━━━━━━━━━━━━━━━━━━━━━━━━━━━━━━━━━━━━━━━━━━━━━━━━━━━━━━━━━━━━━━━━━━━━━━━━━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   PRIMER 1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   ULTIMATE PM PRIMER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THE 60-SECOND DEFINITION: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─────────────────────────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"Product Management is the practice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of identifying user problems that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are worth solving, defining solutions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that deliver business value, and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working with cross-functional teams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to ship those solutions, then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measuring and iterating to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continuously improve."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THE 5 PM MINDSET SHIFTS: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─────────────────────────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1. Features → Problems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2. "I think" → "Data says"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3. Shipping → Outcomes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4. Right → Curious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5. "I" → "We"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THE PM SUPERPOWER: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──────────────────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CURIOSITY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━━━━━━━━━━━━━━━━━━━━━━━━━━━━━━━━━━━━━━━━━━━━━━━━━━━━━━━━━━━━━━━━━━━━━━━━━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0" name="PlaceHolder 1"/>
          <p:cNvSpPr>
            <a:spLocks noGrp="1"/>
          </p:cNvSpPr>
          <p:nvPr>
            <p:ph type="sldNum" idx="180"/>
          </p:nvPr>
        </p:nvSpPr>
        <p:spPr>
          <a:xfrm>
            <a:off x="0" y="6343560"/>
            <a:ext cx="11810520" cy="22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350" b="0" u="none" strike="noStrike">
                <a:solidFill>
                  <a:srgbClr val="777777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CDC3960-CB77-4DC1-88BF-5E720D0D913D}" type="slidenum">
              <a:rPr lang="en-US" sz="1350" b="0" u="none" strike="noStrike">
                <a:solidFill>
                  <a:srgbClr val="777777"/>
                </a:solidFill>
                <a:effectLst/>
                <a:uFillTx/>
                <a:latin typeface="Calibri"/>
              </a:rPr>
              <a:t>1</a:t>
            </a:fld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Text 0"/>
          <p:cNvSpPr/>
          <p:nvPr/>
        </p:nvSpPr>
        <p:spPr>
          <a:xfrm>
            <a:off x="380880" y="443520"/>
            <a:ext cx="11658240" cy="37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9000"/>
              </a:lnSpc>
              <a:tabLst>
                <a:tab pos="0" algn="l"/>
              </a:tabLst>
            </a:pPr>
            <a:r>
              <a:rPr lang="en-US" sz="239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SLIDE 163: Primer 2 - Interview Primer</a:t>
            </a:r>
            <a:endParaRPr lang="en-US" sz="23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2" name="Text 1"/>
          <p:cNvSpPr/>
          <p:nvPr/>
        </p:nvSpPr>
        <p:spPr>
          <a:xfrm>
            <a:off x="380880" y="1013760"/>
            <a:ext cx="11429640" cy="5362200"/>
          </a:xfrm>
          <a:prstGeom prst="rect">
            <a:avLst/>
          </a:prstGeom>
          <a:solidFill>
            <a:srgbClr val="F4F4F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━━━━━━━━━━━━━━━━━━━━━━━━━━━━━━━━━━━━━━━━━━━━━━━━━━━━━━━━━━━━━━━━━━━━━━━━━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   PRIMER 2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   INTERVIEW PRIMER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THE 5 QUESTION TYPES: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──────────────────────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1. Behavioral (STAR)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2. Product Sense (Design)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3. Product Strategy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4. Execution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5. Analytical (Metrics)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THE STAR FRAMEWORK: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───────────────────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S = Situation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T = Task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A = Action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R = Result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THE PM INTERVIEW MANTRA: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────────────────────────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"What problem are we solving, and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how will we know if we solved it?"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QUESTIONS TO ASK: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─────────────────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1. "What's the biggest challenge?"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2. "What's the North Star metric?"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3. "How do you work with engineering?"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━━━━━━━━━━━━━━━━━━━━━━━━━━━━━━━━━━━━━━━━━━━━━━━━━━━━━━━━━━━━━━━━━━━━━━━━━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3" name="PlaceHolder 1"/>
          <p:cNvSpPr>
            <a:spLocks noGrp="1"/>
          </p:cNvSpPr>
          <p:nvPr>
            <p:ph type="sldNum" idx="181"/>
          </p:nvPr>
        </p:nvSpPr>
        <p:spPr>
          <a:xfrm>
            <a:off x="0" y="6343560"/>
            <a:ext cx="11810520" cy="22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350" b="0" u="none" strike="noStrike">
                <a:solidFill>
                  <a:srgbClr val="777777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50685FF-9991-41C0-8CA0-CF9900D2D0B0}" type="slidenum">
              <a:rPr lang="en-US" sz="1350" b="0" u="none" strike="noStrike">
                <a:solidFill>
                  <a:srgbClr val="777777"/>
                </a:solidFill>
                <a:effectLst/>
                <a:uFillTx/>
                <a:latin typeface="Calibri"/>
              </a:rPr>
              <a:t>1</a:t>
            </a:fld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Text 0"/>
          <p:cNvSpPr/>
          <p:nvPr/>
        </p:nvSpPr>
        <p:spPr>
          <a:xfrm>
            <a:off x="380880" y="443520"/>
            <a:ext cx="11658240" cy="37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9000"/>
              </a:lnSpc>
              <a:tabLst>
                <a:tab pos="0" algn="l"/>
              </a:tabLst>
            </a:pPr>
            <a:r>
              <a:rPr lang="en-US" sz="239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SLIDE 164: Primer 3 - Strategy Primer</a:t>
            </a:r>
            <a:endParaRPr lang="en-US" sz="23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5" name="Text 1"/>
          <p:cNvSpPr/>
          <p:nvPr/>
        </p:nvSpPr>
        <p:spPr>
          <a:xfrm>
            <a:off x="380880" y="1013760"/>
            <a:ext cx="11429640" cy="5362200"/>
          </a:xfrm>
          <a:prstGeom prst="rect">
            <a:avLst/>
          </a:prstGeom>
          <a:solidFill>
            <a:srgbClr val="F4F4F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━━━━━━━━━━━━━━━━━━━━━━━━━━━━━━━━━━━━━━━━━━━━━━━━━━━━━━━━━━━━━━━━━━━━━━━━━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   PRIMER 3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   STRATEGY PRIMER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THE 5 STRATEGIC QUESTIONS: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──────────────────────────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1. Who are we serving?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2. What need are we meeting?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3. Why are we different?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4. How will we win?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5. What are we willing to give up?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THE STRATEGY STACK: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───────────────────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Vision (years) → Strategy (quarters)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→ Roadmap (months) → Backlog (weeks)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THE 4 STRATEGY TYPES: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─────────────────────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1. Disruption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2. Differentiation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3. Cost Leadership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4. Niche Focus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THE STRATEGY MANTRA: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────────────────────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"We serve [who] with [what] so they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can [outcome], and we're willing to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give up [what] to do it."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━━━━━━━━━━━━━━━━━━━━━━━━━━━━━━━━━━━━━━━━━━━━━━━━━━━━━━━━━━━━━━━━━━━━━━━━━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6" name="PlaceHolder 1"/>
          <p:cNvSpPr>
            <a:spLocks noGrp="1"/>
          </p:cNvSpPr>
          <p:nvPr>
            <p:ph type="sldNum" idx="182"/>
          </p:nvPr>
        </p:nvSpPr>
        <p:spPr>
          <a:xfrm>
            <a:off x="0" y="6343560"/>
            <a:ext cx="11810520" cy="22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350" b="0" u="none" strike="noStrike">
                <a:solidFill>
                  <a:srgbClr val="777777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7EACB1F-271B-404B-B41D-1D936629333C}" type="slidenum">
              <a:rPr lang="en-US" sz="1350" b="0" u="none" strike="noStrike">
                <a:solidFill>
                  <a:srgbClr val="777777"/>
                </a:solidFill>
                <a:effectLst/>
                <a:uFillTx/>
                <a:latin typeface="Calibri"/>
              </a:rPr>
              <a:t>1</a:t>
            </a:fld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Text 0"/>
          <p:cNvSpPr/>
          <p:nvPr/>
        </p:nvSpPr>
        <p:spPr>
          <a:xfrm>
            <a:off x="380880" y="443520"/>
            <a:ext cx="11658240" cy="37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9000"/>
              </a:lnSpc>
              <a:tabLst>
                <a:tab pos="0" algn="l"/>
              </a:tabLst>
            </a:pPr>
            <a:r>
              <a:rPr lang="en-US" sz="239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SLIDE 165: Primer 4 - Discovery Primer</a:t>
            </a:r>
            <a:endParaRPr lang="en-US" sz="23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8" name="Text 1"/>
          <p:cNvSpPr/>
          <p:nvPr/>
        </p:nvSpPr>
        <p:spPr>
          <a:xfrm>
            <a:off x="380880" y="1013760"/>
            <a:ext cx="11429640" cy="5362200"/>
          </a:xfrm>
          <a:prstGeom prst="rect">
            <a:avLst/>
          </a:prstGeom>
          <a:solidFill>
            <a:srgbClr val="F4F4F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2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━━━━━━━━━━━━━━━━━━━━━━━━━━━━━━━━━━━━━━━━━━━━━━━━━━━━━━━━━━━━━━━━━━━━━━━━━</a:t>
            </a: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2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   PRIMER 4</a:t>
            </a: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2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   DISCOVERY PRIMER</a:t>
            </a: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2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THE 4-PHASE FRAMEWORK:</a:t>
            </a: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2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──────────────────────</a:t>
            </a: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2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1. Plan (Goals, Questions, Scripts)</a:t>
            </a: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2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2. Conduct (Interviews, Surveys)</a:t>
            </a: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2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3. Synthesize (Affinity, Personas)</a:t>
            </a: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2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4. Validate (Prototypes, Tests)</a:t>
            </a: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2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THE 5 INTERVIEW RULES:</a:t>
            </a: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2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──────────────────────</a:t>
            </a: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2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1. Ask about the past</a:t>
            </a: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2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2. Ask open questions</a:t>
            </a: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2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3. Focus on problems</a:t>
            </a: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2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4. Dig deeper with "why"</a:t>
            </a: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2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5. Listen 80%, talk 20%</a:t>
            </a: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2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THE 3 SYNTHESIS TOOLS:</a:t>
            </a: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2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──────────────────────</a:t>
            </a: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2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1. Affinity Maps</a:t>
            </a: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2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2. Personas</a:t>
            </a: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2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3. JTBD</a:t>
            </a: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2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THE DISCOVERY MANTRA:</a:t>
            </a: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2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─────────────────────</a:t>
            </a: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2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"What is the user trying to</a:t>
            </a: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2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accomplish, and what's preventing</a:t>
            </a: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2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them from doing it?"</a:t>
            </a: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2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━━━━━━━━━━━━━━━━━━━━━━━━━━━━━━━━━━━━━━━━━━━━━━━━━━━━━━━━━━━━━━━━━━━━━━━━━</a:t>
            </a: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9" name="PlaceHolder 1"/>
          <p:cNvSpPr>
            <a:spLocks noGrp="1"/>
          </p:cNvSpPr>
          <p:nvPr>
            <p:ph type="sldNum" idx="183"/>
          </p:nvPr>
        </p:nvSpPr>
        <p:spPr>
          <a:xfrm>
            <a:off x="0" y="6343560"/>
            <a:ext cx="11810520" cy="22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350" b="0" u="none" strike="noStrike">
                <a:solidFill>
                  <a:srgbClr val="777777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207950F-3E15-4734-8BF7-BF2BC0150D8C}" type="slidenum">
              <a:rPr lang="en-US" sz="1350" b="0" u="none" strike="noStrike">
                <a:solidFill>
                  <a:srgbClr val="777777"/>
                </a:solidFill>
                <a:effectLst/>
                <a:uFillTx/>
                <a:latin typeface="Calibri"/>
              </a:rPr>
              <a:t>1</a:t>
            </a:fld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Text 0"/>
          <p:cNvSpPr/>
          <p:nvPr/>
        </p:nvSpPr>
        <p:spPr>
          <a:xfrm>
            <a:off x="380880" y="443520"/>
            <a:ext cx="11658240" cy="37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9000"/>
              </a:lnSpc>
              <a:tabLst>
                <a:tab pos="0" algn="l"/>
              </a:tabLst>
            </a:pPr>
            <a:r>
              <a:rPr lang="en-US" sz="239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SLIDE 166: Primer 5 - Execution Primer</a:t>
            </a:r>
            <a:endParaRPr lang="en-US" sz="23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1" name="Text 1"/>
          <p:cNvSpPr/>
          <p:nvPr/>
        </p:nvSpPr>
        <p:spPr>
          <a:xfrm>
            <a:off x="380880" y="1013760"/>
            <a:ext cx="11429640" cy="5362200"/>
          </a:xfrm>
          <a:prstGeom prst="rect">
            <a:avLst/>
          </a:prstGeom>
          <a:solidFill>
            <a:srgbClr val="F4F4F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2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━━━━━━━━━━━━━━━━━━━━━━━━━━━━━━━━━━━━━━━━━━━━━━━━━━━━━━━━━━━━━━━━━━━━━━━━━</a:t>
            </a: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2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   PRIMER 5</a:t>
            </a: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2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   EXECUTION PRIMER</a:t>
            </a: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2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THE 4 PILLARS OF EXECUTION:</a:t>
            </a: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2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───────────────────────────</a:t>
            </a: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2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1. Plan (PRD, sprint planning)</a:t>
            </a: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2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2. Build (Work with engineering)</a:t>
            </a: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2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3. Review (QA, UAT, demo)</a:t>
            </a: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2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4. Ship (Deploy, monitor, validate)</a:t>
            </a: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2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PRD STRUCTURE:</a:t>
            </a: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2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──────────────</a:t>
            </a: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2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1. Executive Summary</a:t>
            </a: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2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2. Problem Statement</a:t>
            </a: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2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3. User Stories</a:t>
            </a: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2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4. Success Metrics</a:t>
            </a: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2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5. Detailed Requirements</a:t>
            </a: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2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6. Out of Scope</a:t>
            </a: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2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USER STORY TEMPLATE:</a:t>
            </a: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2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─────────────────────</a:t>
            </a: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2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"As a [user], I want [goal],</a:t>
            </a: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2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So that [reason]."</a:t>
            </a: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2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THE EXECUTION MANTRA:</a:t>
            </a: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2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─────────────────────</a:t>
            </a: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2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"Build the simplest thing that</a:t>
            </a: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2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could possibly work, ship it,</a:t>
            </a: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2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and learn from what happens next."</a:t>
            </a: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2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━━━━━━━━━━━━━━━━━━━━━━━━━━━━━━━━━━━━━━━━━━━━━━━━━━━━━━━━━━━━━━━━━━━━━━━━━</a:t>
            </a: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2" name="PlaceHolder 1"/>
          <p:cNvSpPr>
            <a:spLocks noGrp="1"/>
          </p:cNvSpPr>
          <p:nvPr>
            <p:ph type="sldNum" idx="184"/>
          </p:nvPr>
        </p:nvSpPr>
        <p:spPr>
          <a:xfrm>
            <a:off x="0" y="6343560"/>
            <a:ext cx="11810520" cy="22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350" b="0" u="none" strike="noStrike">
                <a:solidFill>
                  <a:srgbClr val="777777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15C35D1-49B6-44F2-921A-334CE1A105C2}" type="slidenum">
              <a:rPr lang="en-US" sz="1350" b="0" u="none" strike="noStrike">
                <a:solidFill>
                  <a:srgbClr val="777777"/>
                </a:solidFill>
                <a:effectLst/>
                <a:uFillTx/>
                <a:latin typeface="Calibri"/>
              </a:rPr>
              <a:t>1</a:t>
            </a:fld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" name="Text 0"/>
          <p:cNvSpPr/>
          <p:nvPr/>
        </p:nvSpPr>
        <p:spPr>
          <a:xfrm>
            <a:off x="380880" y="443520"/>
            <a:ext cx="11658240" cy="37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9000"/>
              </a:lnSpc>
              <a:tabLst>
                <a:tab pos="0" algn="l"/>
              </a:tabLst>
            </a:pPr>
            <a:r>
              <a:rPr lang="en-US" sz="239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SLIDE 167: Primer 6 - Metrics Primer</a:t>
            </a:r>
            <a:endParaRPr lang="en-US" sz="23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4" name="Text 1"/>
          <p:cNvSpPr/>
          <p:nvPr/>
        </p:nvSpPr>
        <p:spPr>
          <a:xfrm>
            <a:off x="380880" y="1013760"/>
            <a:ext cx="11429640" cy="5362200"/>
          </a:xfrm>
          <a:prstGeom prst="rect">
            <a:avLst/>
          </a:prstGeom>
          <a:solidFill>
            <a:srgbClr val="F4F4F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1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━━━━━━━━━━━━━━━━━━━━━━━━━━━━━━━━━━━━━━━━━━━━━━━━━━━━━━━━━━━━━━━━━━━━━━━━━</a:t>
            </a:r>
            <a:endParaRPr lang="en-US" sz="11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1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1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   PRIMER 6</a:t>
            </a:r>
            <a:endParaRPr lang="en-US" sz="11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1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   METRICS PRIMER</a:t>
            </a:r>
            <a:endParaRPr lang="en-US" sz="11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1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1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THE METRICS HIERARCHY:</a:t>
            </a:r>
            <a:endParaRPr lang="en-US" sz="11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1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──────────────────────</a:t>
            </a:r>
            <a:endParaRPr lang="en-US" sz="11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1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North Star → KPIs → Health Metrics</a:t>
            </a:r>
            <a:endParaRPr lang="en-US" sz="11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1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1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AARRR FRAMEWORK:</a:t>
            </a:r>
            <a:endParaRPr lang="en-US" sz="11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1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─────────────────</a:t>
            </a:r>
            <a:endParaRPr lang="en-US" sz="11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1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Acquisition → Activation → Retention</a:t>
            </a:r>
            <a:endParaRPr lang="en-US" sz="11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1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→ Referral → Revenue</a:t>
            </a:r>
            <a:endParaRPr lang="en-US" sz="11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1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1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KEY METRICS:</a:t>
            </a:r>
            <a:endParaRPr lang="en-US" sz="11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1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────────────</a:t>
            </a:r>
            <a:endParaRPr lang="en-US" sz="11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1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NPS = Promoters% - Detractors%</a:t>
            </a:r>
            <a:endParaRPr lang="en-US" sz="11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1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Retention = % active after X days</a:t>
            </a:r>
            <a:endParaRPr lang="en-US" sz="11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1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ARPU = Revenue ÷ Users</a:t>
            </a:r>
            <a:endParaRPr lang="en-US" sz="11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1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LTV = ARPU × Average Lifetime</a:t>
            </a:r>
            <a:endParaRPr lang="en-US" sz="11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1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CAC = Marketing Spend ÷ New Users</a:t>
            </a:r>
            <a:endParaRPr lang="en-US" sz="11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1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DAU/MAU = Daily Active ÷ Monthly Active</a:t>
            </a:r>
            <a:endParaRPr lang="en-US" sz="11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1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1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THE METRICS MANTRA:</a:t>
            </a:r>
            <a:endParaRPr lang="en-US" sz="11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1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───────────────────</a:t>
            </a:r>
            <a:endParaRPr lang="en-US" sz="11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1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"What metric would tell us we're</a:t>
            </a:r>
            <a:endParaRPr lang="en-US" sz="11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1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succeeding, and what would we do</a:t>
            </a:r>
            <a:endParaRPr lang="en-US" sz="11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1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if it moved?"</a:t>
            </a:r>
            <a:endParaRPr lang="en-US" sz="11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1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1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━━━━━━━━━━━━━━━━━━━━━━━━━━━━━━━━━━━━━━━━━━━━━━━━━━━━━━━━━━━━━━━━━━━━━━━━━</a:t>
            </a:r>
            <a:endParaRPr lang="en-US" sz="11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5" name="PlaceHolder 1"/>
          <p:cNvSpPr>
            <a:spLocks noGrp="1"/>
          </p:cNvSpPr>
          <p:nvPr>
            <p:ph type="sldNum" idx="185"/>
          </p:nvPr>
        </p:nvSpPr>
        <p:spPr>
          <a:xfrm>
            <a:off x="0" y="6343560"/>
            <a:ext cx="11810520" cy="22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350" b="0" u="none" strike="noStrike">
                <a:solidFill>
                  <a:srgbClr val="777777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3770838-34EF-424E-9B74-2F0D8C67C969}" type="slidenum">
              <a:rPr lang="en-US" sz="1350" b="0" u="none" strike="noStrike">
                <a:solidFill>
                  <a:srgbClr val="777777"/>
                </a:solidFill>
                <a:effectLst/>
                <a:uFillTx/>
                <a:latin typeface="Calibri"/>
              </a:rPr>
              <a:t>1</a:t>
            </a:fld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Text 0"/>
          <p:cNvSpPr/>
          <p:nvPr/>
        </p:nvSpPr>
        <p:spPr>
          <a:xfrm>
            <a:off x="380880" y="443520"/>
            <a:ext cx="11658240" cy="37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9000"/>
              </a:lnSpc>
              <a:tabLst>
                <a:tab pos="0" algn="l"/>
              </a:tabLst>
            </a:pPr>
            <a:r>
              <a:rPr lang="en-US" sz="239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SLIDE 168: Primer 7 - Stakeholder Primer</a:t>
            </a:r>
            <a:endParaRPr lang="en-US" sz="23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7" name="Text 1"/>
          <p:cNvSpPr/>
          <p:nvPr/>
        </p:nvSpPr>
        <p:spPr>
          <a:xfrm>
            <a:off x="380880" y="1013760"/>
            <a:ext cx="11429640" cy="5362200"/>
          </a:xfrm>
          <a:prstGeom prst="rect">
            <a:avLst/>
          </a:prstGeom>
          <a:solidFill>
            <a:srgbClr val="F4F4F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6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━━━━━━━━━━━━━━━━━━━━━━━━━━━━━━━━━━━━━━━━━━━━━━━━━━━━━━━━━━━━━━━━━━━━━━━━━</a:t>
            </a:r>
            <a:endParaRPr lang="en-US" sz="9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9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6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   PRIMER 7</a:t>
            </a:r>
            <a:endParaRPr lang="en-US" sz="9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6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   STAKEHOLDER PRIMER</a:t>
            </a:r>
            <a:endParaRPr lang="en-US" sz="9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9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6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THE STAKEHOLDER MAP:</a:t>
            </a:r>
            <a:endParaRPr lang="en-US" sz="9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6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────────────────────</a:t>
            </a:r>
            <a:endParaRPr lang="en-US" sz="9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6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INTERNAL:</a:t>
            </a:r>
            <a:endParaRPr lang="en-US" sz="9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6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• Engineering, Design, Marketing</a:t>
            </a:r>
            <a:endParaRPr lang="en-US" sz="9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6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• Sales, Support, Leadership</a:t>
            </a:r>
            <a:endParaRPr lang="en-US" sz="9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9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6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EXTERNAL:</a:t>
            </a:r>
            <a:endParaRPr lang="en-US" sz="9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6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• Users, Partners, Investors</a:t>
            </a:r>
            <a:endParaRPr lang="en-US" sz="9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9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6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INTEREST VS. INFLUENCE MATRIX:</a:t>
            </a:r>
            <a:endParaRPr lang="en-US" sz="9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6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──────────────────────────────</a:t>
            </a:r>
            <a:endParaRPr lang="en-US" sz="9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6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High Interest + High Influence</a:t>
            </a:r>
            <a:endParaRPr lang="en-US" sz="9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6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→ Manage Closely</a:t>
            </a:r>
            <a:endParaRPr lang="en-US" sz="9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9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6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High Interest + Low Influence</a:t>
            </a:r>
            <a:endParaRPr lang="en-US" sz="9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6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→ Keep Informed</a:t>
            </a:r>
            <a:endParaRPr lang="en-US" sz="9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9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6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Low Interest + High Influence</a:t>
            </a:r>
            <a:endParaRPr lang="en-US" sz="9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6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→ Keep Satisfied</a:t>
            </a:r>
            <a:endParaRPr lang="en-US" sz="9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9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6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Low Interest + Low Influence</a:t>
            </a:r>
            <a:endParaRPr lang="en-US" sz="9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6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→ Monitor</a:t>
            </a:r>
            <a:endParaRPr lang="en-US" sz="9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9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6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THE STAKEHOLDER MANTRA:</a:t>
            </a:r>
            <a:endParaRPr lang="en-US" sz="9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6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───────────────────────</a:t>
            </a:r>
            <a:endParaRPr lang="en-US" sz="9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6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"Communicate early, communicate</a:t>
            </a:r>
            <a:endParaRPr lang="en-US" sz="9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6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often, and always tie decisions</a:t>
            </a:r>
            <a:endParaRPr lang="en-US" sz="9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6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back to the user and the business."</a:t>
            </a:r>
            <a:endParaRPr lang="en-US" sz="9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9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6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━━━━━━━━━━━━━━━━━━━━━━━━━━━━━━━━━━━━━━━━━━━━━━━━━━━━━━━━━━━━━━━━━━━━━━━━━</a:t>
            </a:r>
            <a:endParaRPr lang="en-US" sz="9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8" name="PlaceHolder 1"/>
          <p:cNvSpPr>
            <a:spLocks noGrp="1"/>
          </p:cNvSpPr>
          <p:nvPr>
            <p:ph type="sldNum" idx="186"/>
          </p:nvPr>
        </p:nvSpPr>
        <p:spPr>
          <a:xfrm>
            <a:off x="0" y="6343560"/>
            <a:ext cx="11810520" cy="22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350" b="0" u="none" strike="noStrike">
                <a:solidFill>
                  <a:srgbClr val="777777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77637C8-B661-4A35-9A30-644396498E1C}" type="slidenum">
              <a:rPr lang="en-US" sz="1350" b="0" u="none" strike="noStrike">
                <a:solidFill>
                  <a:srgbClr val="777777"/>
                </a:solidFill>
                <a:effectLst/>
                <a:uFillTx/>
                <a:latin typeface="Calibri"/>
              </a:rPr>
              <a:t>1</a:t>
            </a:fld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Text 0"/>
          <p:cNvSpPr/>
          <p:nvPr/>
        </p:nvSpPr>
        <p:spPr>
          <a:xfrm>
            <a:off x="380880" y="443520"/>
            <a:ext cx="11658240" cy="37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9000"/>
              </a:lnSpc>
              <a:tabLst>
                <a:tab pos="0" algn="l"/>
              </a:tabLst>
            </a:pPr>
            <a:r>
              <a:rPr lang="en-US" sz="239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SLIDE 169: Primer 8 - Career Primer</a:t>
            </a:r>
            <a:endParaRPr lang="en-US" sz="23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0" name="Text 1"/>
          <p:cNvSpPr/>
          <p:nvPr/>
        </p:nvSpPr>
        <p:spPr>
          <a:xfrm>
            <a:off x="380880" y="1013760"/>
            <a:ext cx="11429640" cy="5362200"/>
          </a:xfrm>
          <a:prstGeom prst="rect">
            <a:avLst/>
          </a:prstGeom>
          <a:solidFill>
            <a:srgbClr val="F4F4F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━━━━━━━━━━━━━━━━━━━━━━━━━━━━━━━━━━━━━━━━━━━━━━━━━━━━━━━━━━━━━━━━━━━━━━━━━</a:t>
            </a:r>
            <a:endParaRPr lang="en-US" sz="9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9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   PRIMER 8</a:t>
            </a:r>
            <a:endParaRPr lang="en-US" sz="9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   CAREER PRIMER</a:t>
            </a:r>
            <a:endParaRPr lang="en-US" sz="9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9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PATHS TO PM:</a:t>
            </a:r>
            <a:endParaRPr lang="en-US" sz="9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────────────</a:t>
            </a:r>
            <a:endParaRPr lang="en-US" sz="9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1. APM Programs</a:t>
            </a:r>
            <a:endParaRPr lang="en-US" sz="9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2. Internal Transfer</a:t>
            </a:r>
            <a:endParaRPr lang="en-US" sz="9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3. Startup Route</a:t>
            </a:r>
            <a:endParaRPr lang="en-US" sz="9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4. Side Projects + Portfolio</a:t>
            </a:r>
            <a:endParaRPr lang="en-US" sz="9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9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PM SKILLS:</a:t>
            </a:r>
            <a:endParaRPr lang="en-US" sz="9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──────────</a:t>
            </a:r>
            <a:endParaRPr lang="en-US" sz="9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• Product: Research, Strategy, PRDs</a:t>
            </a:r>
            <a:endParaRPr lang="en-US" sz="9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• Technical: Understand APIs, systems</a:t>
            </a:r>
            <a:endParaRPr lang="en-US" sz="9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• Business: Acumen, P&amp;L</a:t>
            </a:r>
            <a:endParaRPr lang="en-US" sz="9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• Soft: Communication, Empathy</a:t>
            </a:r>
            <a:endParaRPr lang="en-US" sz="9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9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PORTFOLIO:</a:t>
            </a:r>
            <a:endParaRPr lang="en-US" sz="9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──────────</a:t>
            </a:r>
            <a:endParaRPr lang="en-US" sz="9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1. Complete case study</a:t>
            </a:r>
            <a:endParaRPr lang="en-US" sz="9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2. Clear README</a:t>
            </a:r>
            <a:endParaRPr lang="en-US" sz="9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3. PM Philosophy</a:t>
            </a:r>
            <a:endParaRPr lang="en-US" sz="9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4. Evidence of impact</a:t>
            </a:r>
            <a:endParaRPr lang="en-US" sz="9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9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THE CAREER MANTRA:</a:t>
            </a:r>
            <a:endParaRPr lang="en-US" sz="9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──────────────────</a:t>
            </a:r>
            <a:endParaRPr lang="en-US" sz="9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"The best way to become a product</a:t>
            </a:r>
            <a:endParaRPr lang="en-US" sz="9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manager is to start doing product</a:t>
            </a:r>
            <a:endParaRPr lang="en-US" sz="9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management. Right now. With what</a:t>
            </a:r>
            <a:endParaRPr lang="en-US" sz="9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you have. Where you are."</a:t>
            </a:r>
            <a:endParaRPr lang="en-US" sz="9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9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━━━━━━━━━━━━━━━━━━━━━━━━━━━━━━━━━━━━━━━━━━━━━━━━━━━━━━━━━━━━━━━━━━━━━━━━━</a:t>
            </a:r>
            <a:endParaRPr lang="en-US" sz="9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1" name="PlaceHolder 1"/>
          <p:cNvSpPr>
            <a:spLocks noGrp="1"/>
          </p:cNvSpPr>
          <p:nvPr>
            <p:ph type="sldNum" idx="187"/>
          </p:nvPr>
        </p:nvSpPr>
        <p:spPr>
          <a:xfrm>
            <a:off x="0" y="6343560"/>
            <a:ext cx="11810520" cy="22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350" b="0" u="none" strike="noStrike">
                <a:solidFill>
                  <a:srgbClr val="777777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3D3C9F5-DB40-4848-B07B-0B13EBE7E71C}" type="slidenum">
              <a:rPr lang="en-US" sz="1350" b="0" u="none" strike="noStrike">
                <a:solidFill>
                  <a:srgbClr val="777777"/>
                </a:solidFill>
                <a:effectLst/>
                <a:uFillTx/>
                <a:latin typeface="Calibri"/>
              </a:rPr>
              <a:t>1</a:t>
            </a:fld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" name="Text 0"/>
          <p:cNvSpPr/>
          <p:nvPr/>
        </p:nvSpPr>
        <p:spPr>
          <a:xfrm>
            <a:off x="380880" y="2713320"/>
            <a:ext cx="11658240" cy="55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107640" anchor="t">
            <a:noAutofit/>
          </a:bodyPr>
          <a:p>
            <a:pPr defTabSz="914400">
              <a:lnSpc>
                <a:spcPct val="109000"/>
              </a:lnSpc>
              <a:tabLst>
                <a:tab pos="0" algn="l"/>
              </a:tabLst>
            </a:pPr>
            <a:r>
              <a:rPr lang="en-US" sz="283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WORKBOOK &amp; NOTES OVERVIEW</a:t>
            </a:r>
            <a:endParaRPr lang="en-US" sz="28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3" name="Text 1"/>
          <p:cNvSpPr/>
          <p:nvPr/>
        </p:nvSpPr>
        <p:spPr>
          <a:xfrm>
            <a:off x="380880" y="3498480"/>
            <a:ext cx="11658240" cy="55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107640" anchor="t">
            <a:noAutofit/>
          </a:bodyPr>
          <a:p>
            <a:pPr defTabSz="914400">
              <a:lnSpc>
                <a:spcPct val="109000"/>
              </a:lnSpc>
              <a:tabLst>
                <a:tab pos="0" algn="l"/>
              </a:tabLst>
            </a:pPr>
            <a:r>
              <a:rPr lang="en-US" sz="283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Slides 170-180</a:t>
            </a:r>
            <a:endParaRPr lang="en-US" sz="28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4" name="PlaceHolder 1"/>
          <p:cNvSpPr>
            <a:spLocks noGrp="1"/>
          </p:cNvSpPr>
          <p:nvPr>
            <p:ph type="sldNum" idx="188"/>
          </p:nvPr>
        </p:nvSpPr>
        <p:spPr>
          <a:xfrm>
            <a:off x="0" y="6343560"/>
            <a:ext cx="11810520" cy="22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350" b="0" u="none" strike="noStrike">
                <a:solidFill>
                  <a:srgbClr val="777777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DBA0D1A-9F15-4EA4-A8EC-3D042813F455}" type="slidenum">
              <a:rPr lang="en-US" sz="1350" b="0" u="none" strike="noStrike">
                <a:solidFill>
                  <a:srgbClr val="777777"/>
                </a:solidFill>
                <a:effectLst/>
                <a:uFillTx/>
                <a:latin typeface="Calibri"/>
              </a:rPr>
              <a:t>1</a:t>
            </a:fld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" name="Text 0"/>
          <p:cNvSpPr/>
          <p:nvPr/>
        </p:nvSpPr>
        <p:spPr>
          <a:xfrm>
            <a:off x="380880" y="443520"/>
            <a:ext cx="11658240" cy="37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9000"/>
              </a:lnSpc>
              <a:tabLst>
                <a:tab pos="0" algn="l"/>
              </a:tabLst>
            </a:pPr>
            <a:r>
              <a:rPr lang="en-US" sz="239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SLIDE 170: Workbook Overview</a:t>
            </a:r>
            <a:endParaRPr lang="en-US" sz="23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6" name="Text 1"/>
          <p:cNvSpPr/>
          <p:nvPr/>
        </p:nvSpPr>
        <p:spPr>
          <a:xfrm>
            <a:off x="380880" y="1013760"/>
            <a:ext cx="11429640" cy="5362200"/>
          </a:xfrm>
          <a:prstGeom prst="rect">
            <a:avLst/>
          </a:prstGeom>
          <a:solidFill>
            <a:srgbClr val="F4F4F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━━━━━━━━━━━━━━━━━━━━━━━━━━━━━━━━━━━━━━━━━━━━━━━━━━━━━━━━━━━━━━━━━━━━━━━━━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   WORKBOOK OVERVIEW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The Student Workbook is your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companion to the series.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FOR EACH PART, YOU'LL FIND: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• Key Concepts (Quick summary)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• Exercises (Hands-on activities)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• Reflection Questions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• Portfolio Tracker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• Self-Assessment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─────────────────────────────────────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HOW TO USE: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1. Complete alongside each part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2. Fill in answers directly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3. Use as a study guide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4. Keep for interview prep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─────────────────────────────────────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INCLUDES: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• 10 part workbooks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• Portfolio checklist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• Interview prep cheat sheet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• Key frameworks summary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━━━━━━━━━━━━━━━━━━━━━━━━━━━━━━━━━━━━━━━━━━━━━━━━━━━━━━━━━━━━━━━━━━━━━━━━━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7" name="PlaceHolder 1"/>
          <p:cNvSpPr>
            <a:spLocks noGrp="1"/>
          </p:cNvSpPr>
          <p:nvPr>
            <p:ph type="sldNum" idx="189"/>
          </p:nvPr>
        </p:nvSpPr>
        <p:spPr>
          <a:xfrm>
            <a:off x="0" y="6343560"/>
            <a:ext cx="11810520" cy="22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350" b="0" u="none" strike="noStrike">
                <a:solidFill>
                  <a:srgbClr val="777777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729839A-2441-4BD0-AD26-F0669F867FA4}" type="slidenum">
              <a:rPr lang="en-US" sz="1350" b="0" u="none" strike="noStrike">
                <a:solidFill>
                  <a:srgbClr val="777777"/>
                </a:solidFill>
                <a:effectLst/>
                <a:uFillTx/>
                <a:latin typeface="Calibri"/>
              </a:rPr>
              <a:t>1</a:t>
            </a:fld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Text 0"/>
          <p:cNvSpPr/>
          <p:nvPr/>
        </p:nvSpPr>
        <p:spPr>
          <a:xfrm>
            <a:off x="380880" y="443520"/>
            <a:ext cx="11658240" cy="37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9000"/>
              </a:lnSpc>
              <a:tabLst>
                <a:tab pos="0" algn="l"/>
              </a:tabLst>
            </a:pPr>
            <a:r>
              <a:rPr lang="en-US" sz="239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SLIDE 171: Student Notes Overview</a:t>
            </a:r>
            <a:endParaRPr lang="en-US" sz="23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9" name="Text 1"/>
          <p:cNvSpPr/>
          <p:nvPr/>
        </p:nvSpPr>
        <p:spPr>
          <a:xfrm>
            <a:off x="380880" y="1013760"/>
            <a:ext cx="11429640" cy="5362200"/>
          </a:xfrm>
          <a:prstGeom prst="rect">
            <a:avLst/>
          </a:prstGeom>
          <a:solidFill>
            <a:srgbClr val="F4F4F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8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━━━━━━━━━━━━━━━━━━━━━━━━━━━━━━━━━━━━━━━━━━━━━━━━━━━━━━━━━━━━━━━━━━━━━━━━━</a:t>
            </a:r>
            <a:endParaRPr lang="en-US" sz="10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0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8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   STUDENT NOTES OVERVIEW</a:t>
            </a:r>
            <a:endParaRPr lang="en-US" sz="10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0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8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The Student Notes are quick</a:t>
            </a:r>
            <a:endParaRPr lang="en-US" sz="10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8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reference companions.</a:t>
            </a:r>
            <a:endParaRPr lang="en-US" sz="10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0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8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FOR EACH PART, YOU'LL FIND:</a:t>
            </a:r>
            <a:endParaRPr lang="en-US" sz="10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0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8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• Condensed concepts (1-2 pages)</a:t>
            </a:r>
            <a:endParaRPr lang="en-US" sz="10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8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• Key frameworks</a:t>
            </a:r>
            <a:endParaRPr lang="en-US" sz="10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8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• Important quotes</a:t>
            </a:r>
            <a:endParaRPr lang="en-US" sz="10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8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• Quick summaries</a:t>
            </a:r>
            <a:endParaRPr lang="en-US" sz="10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0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8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─────────────────────────────────────</a:t>
            </a:r>
            <a:endParaRPr lang="en-US" sz="10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0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8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HOW TO USE:</a:t>
            </a:r>
            <a:endParaRPr lang="en-US" sz="10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8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1. Quick revision before interviews</a:t>
            </a:r>
            <a:endParaRPr lang="en-US" sz="10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8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2. Reference while doing exercises</a:t>
            </a:r>
            <a:endParaRPr lang="en-US" sz="10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8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3. Memory joggers for frameworks</a:t>
            </a:r>
            <a:endParaRPr lang="en-US" sz="10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8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4. Last-minute review</a:t>
            </a:r>
            <a:endParaRPr lang="en-US" sz="10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0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8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─────────────────────────────────────</a:t>
            </a:r>
            <a:endParaRPr lang="en-US" sz="10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0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8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ALSO INCLUDES:</a:t>
            </a:r>
            <a:endParaRPr lang="en-US" sz="10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8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• All mantras in one place</a:t>
            </a:r>
            <a:endParaRPr lang="en-US" sz="10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8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• Framework formula cards</a:t>
            </a:r>
            <a:endParaRPr lang="en-US" sz="10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8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• Key metrics quick reference</a:t>
            </a:r>
            <a:endParaRPr lang="en-US" sz="10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8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• Interview question types</a:t>
            </a:r>
            <a:endParaRPr lang="en-US" sz="10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0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8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━━━━━━━━━━━━━━━━━━━━━━━━━━━━━━━━━━━━━━━━━━━━━━━━━━━━━━━━━━━━━━━━━━━━━━━━━</a:t>
            </a:r>
            <a:endParaRPr lang="en-US" sz="10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0" name="PlaceHolder 1"/>
          <p:cNvSpPr>
            <a:spLocks noGrp="1"/>
          </p:cNvSpPr>
          <p:nvPr>
            <p:ph type="sldNum" idx="190"/>
          </p:nvPr>
        </p:nvSpPr>
        <p:spPr>
          <a:xfrm>
            <a:off x="0" y="6343560"/>
            <a:ext cx="11810520" cy="22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350" b="0" u="none" strike="noStrike">
                <a:solidFill>
                  <a:srgbClr val="777777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7DF6F48-7DE9-4D20-A1FC-70FBB13690C9}" type="slidenum">
              <a:rPr lang="en-US" sz="1350" b="0" u="none" strike="noStrike">
                <a:solidFill>
                  <a:srgbClr val="777777"/>
                </a:solidFill>
                <a:effectLst/>
                <a:uFillTx/>
                <a:latin typeface="Calibri"/>
              </a:rPr>
              <a:t>1</a:t>
            </a:fld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" name="Text 0"/>
          <p:cNvSpPr/>
          <p:nvPr/>
        </p:nvSpPr>
        <p:spPr>
          <a:xfrm>
            <a:off x="380880" y="443520"/>
            <a:ext cx="11658240" cy="37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9000"/>
              </a:lnSpc>
              <a:tabLst>
                <a:tab pos="0" algn="l"/>
              </a:tabLst>
            </a:pPr>
            <a:r>
              <a:rPr lang="en-US" sz="239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SLIDE 172: Quiz &amp; Test Bank Overview</a:t>
            </a:r>
            <a:endParaRPr lang="en-US" sz="23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2" name="Text 1"/>
          <p:cNvSpPr/>
          <p:nvPr/>
        </p:nvSpPr>
        <p:spPr>
          <a:xfrm>
            <a:off x="380880" y="1013760"/>
            <a:ext cx="11429640" cy="5362200"/>
          </a:xfrm>
          <a:prstGeom prst="rect">
            <a:avLst/>
          </a:prstGeom>
          <a:solidFill>
            <a:srgbClr val="F4F4F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1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━━━━━━━━━━━━━━━━━━━━━━━━━━━━━━━━━━━━━━━━━━━━━━━━━━━━━━━━━━━━━━━━━━━━━━━━━</a:t>
            </a:r>
            <a:endParaRPr lang="en-US" sz="11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1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1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   QUIZ &amp; TEST BANK OVERVIEW</a:t>
            </a:r>
            <a:endParaRPr lang="en-US" sz="11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1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1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The Quiz &amp; Test Bank helps you</a:t>
            </a:r>
            <a:endParaRPr lang="en-US" sz="11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1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assess your understanding.</a:t>
            </a:r>
            <a:endParaRPr lang="en-US" sz="11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1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1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INCLUDES:</a:t>
            </a:r>
            <a:endParaRPr lang="en-US" sz="11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1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1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• Part Quizzes (10 questions each)</a:t>
            </a:r>
            <a:endParaRPr lang="en-US" sz="11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1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• Comprehensive Exam (50 questions)</a:t>
            </a:r>
            <a:endParaRPr lang="en-US" sz="11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1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• Scenario-Based Questions</a:t>
            </a:r>
            <a:endParaRPr lang="en-US" sz="11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1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• Detailed Answer Keys</a:t>
            </a:r>
            <a:endParaRPr lang="en-US" sz="11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1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1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─────────────────────────────────────</a:t>
            </a:r>
            <a:endParaRPr lang="en-US" sz="11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1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1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HOW TO USE:</a:t>
            </a:r>
            <a:endParaRPr lang="en-US" sz="11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1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1. Take each quiz after each part</a:t>
            </a:r>
            <a:endParaRPr lang="en-US" sz="11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1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2. Review incorrect answers</a:t>
            </a:r>
            <a:endParaRPr lang="en-US" sz="11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1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3. Take comprehensive exam</a:t>
            </a:r>
            <a:endParaRPr lang="en-US" sz="11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1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4. Practice scenario questions</a:t>
            </a:r>
            <a:endParaRPr lang="en-US" sz="11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1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1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─────────────────────────────────────</a:t>
            </a:r>
            <a:endParaRPr lang="en-US" sz="11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1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1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PASSING SCORES:</a:t>
            </a:r>
            <a:endParaRPr lang="en-US" sz="11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1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• Part Quiz: 8/10 (80%)</a:t>
            </a:r>
            <a:endParaRPr lang="en-US" sz="11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1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• Comprehensive: 40/50 (80%)</a:t>
            </a:r>
            <a:endParaRPr lang="en-US" sz="11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1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• Scenarios: 4/5 (80%)</a:t>
            </a:r>
            <a:endParaRPr lang="en-US" sz="11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1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1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━━━━━━━━━━━━━━━━━━━━━━━━━━━━━━━━━━━━━━━━━━━━━━━━━━━━━━━━━━━━━━━━━━━━━━━━━</a:t>
            </a:r>
            <a:endParaRPr lang="en-US" sz="11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3" name="PlaceHolder 1"/>
          <p:cNvSpPr>
            <a:spLocks noGrp="1"/>
          </p:cNvSpPr>
          <p:nvPr>
            <p:ph type="sldNum" idx="191"/>
          </p:nvPr>
        </p:nvSpPr>
        <p:spPr>
          <a:xfrm>
            <a:off x="0" y="6343560"/>
            <a:ext cx="11810520" cy="22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350" b="0" u="none" strike="noStrike">
                <a:solidFill>
                  <a:srgbClr val="777777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70E5AC5-AF37-41F6-B0E5-4363A00CB901}" type="slidenum">
              <a:rPr lang="en-US" sz="1350" b="0" u="none" strike="noStrike">
                <a:solidFill>
                  <a:srgbClr val="777777"/>
                </a:solidFill>
                <a:effectLst/>
                <a:uFillTx/>
                <a:latin typeface="Calibri"/>
              </a:rPr>
              <a:t>1</a:t>
            </a:fld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" name="Text 0"/>
          <p:cNvSpPr/>
          <p:nvPr/>
        </p:nvSpPr>
        <p:spPr>
          <a:xfrm>
            <a:off x="380880" y="443520"/>
            <a:ext cx="11658240" cy="37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9000"/>
              </a:lnSpc>
              <a:tabLst>
                <a:tab pos="0" algn="l"/>
              </a:tabLst>
            </a:pPr>
            <a:r>
              <a:rPr lang="en-US" sz="239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SLIDE 173: Trainer Guide Overview</a:t>
            </a:r>
            <a:endParaRPr lang="en-US" sz="23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5" name="Text 1"/>
          <p:cNvSpPr/>
          <p:nvPr/>
        </p:nvSpPr>
        <p:spPr>
          <a:xfrm>
            <a:off x="380880" y="1013760"/>
            <a:ext cx="11429640" cy="5362200"/>
          </a:xfrm>
          <a:prstGeom prst="rect">
            <a:avLst/>
          </a:prstGeom>
          <a:solidFill>
            <a:srgbClr val="F4F4F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━━━━━━━━━━━━━━━━━━━━━━━━━━━━━━━━━━━━━━━━━━━━━━━━━━━━━━━━━━━━━━━━━━━━━━━━━</a:t>
            </a:r>
            <a:endParaRPr lang="en-US" sz="9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9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   TRAINER GUIDE OVERVIEW</a:t>
            </a:r>
            <a:endParaRPr lang="en-US" sz="9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9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The Trainer Guide is for instructors</a:t>
            </a:r>
            <a:endParaRPr lang="en-US" sz="9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and facilitators teaching the series.</a:t>
            </a:r>
            <a:endParaRPr lang="en-US" sz="9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9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INCLUDES:</a:t>
            </a:r>
            <a:endParaRPr lang="en-US" sz="9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9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• Facilitation Best Practices</a:t>
            </a:r>
            <a:endParaRPr lang="en-US" sz="9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• Part-by-Part Lesson Plans</a:t>
            </a:r>
            <a:endParaRPr lang="en-US" sz="9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• Activity Guides</a:t>
            </a:r>
            <a:endParaRPr lang="en-US" sz="9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• Discussion Prompts</a:t>
            </a:r>
            <a:endParaRPr lang="en-US" sz="9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• Assessment Tools</a:t>
            </a:r>
            <a:endParaRPr lang="en-US" sz="9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• Customization Options</a:t>
            </a:r>
            <a:endParaRPr lang="en-US" sz="9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9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─────────────────────────────────────</a:t>
            </a:r>
            <a:endParaRPr lang="en-US" sz="9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9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LESSON PLAN STRUCTURE:</a:t>
            </a:r>
            <a:endParaRPr lang="en-US" sz="9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1. Learning Objectives</a:t>
            </a:r>
            <a:endParaRPr lang="en-US" sz="9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2. Agenda with Time</a:t>
            </a:r>
            <a:endParaRPr lang="en-US" sz="9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3. Core Concept Script</a:t>
            </a:r>
            <a:endParaRPr lang="en-US" sz="9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4. Hands-On Activities</a:t>
            </a:r>
            <a:endParaRPr lang="en-US" sz="9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5. Discussion Prompts</a:t>
            </a:r>
            <a:endParaRPr lang="en-US" sz="9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6. Wrap-Up</a:t>
            </a:r>
            <a:endParaRPr lang="en-US" sz="9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9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─────────────────────────────────────</a:t>
            </a:r>
            <a:endParaRPr lang="en-US" sz="9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9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EVALUATION RUBRICS:</a:t>
            </a:r>
            <a:endParaRPr lang="en-US" sz="9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• Portfolio Evaluation (4 levels)</a:t>
            </a:r>
            <a:endParaRPr lang="en-US" sz="9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• Knowledge Check (4 levels)</a:t>
            </a:r>
            <a:endParaRPr lang="en-US" sz="9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• Feedback Form</a:t>
            </a:r>
            <a:endParaRPr lang="en-US" sz="9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9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━━━━━━━━━━━━━━━━━━━━━━━━━━━━━━━━━━━━━━━━━━━━━━━━━━━━━━━━━━━━━━━━━━━━━━━━━</a:t>
            </a:r>
            <a:endParaRPr lang="en-US" sz="9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6" name="PlaceHolder 1"/>
          <p:cNvSpPr>
            <a:spLocks noGrp="1"/>
          </p:cNvSpPr>
          <p:nvPr>
            <p:ph type="sldNum" idx="192"/>
          </p:nvPr>
        </p:nvSpPr>
        <p:spPr>
          <a:xfrm>
            <a:off x="0" y="6343560"/>
            <a:ext cx="11810520" cy="22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350" b="0" u="none" strike="noStrike">
                <a:solidFill>
                  <a:srgbClr val="777777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24530DF-434C-44EA-9A32-2BC66E2478C1}" type="slidenum">
              <a:rPr lang="en-US" sz="1350" b="0" u="none" strike="noStrike">
                <a:solidFill>
                  <a:srgbClr val="777777"/>
                </a:solidFill>
                <a:effectLst/>
                <a:uFillTx/>
                <a:latin typeface="Calibri"/>
              </a:rPr>
              <a:t>1</a:t>
            </a:fld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7" name="Text 0"/>
          <p:cNvSpPr/>
          <p:nvPr/>
        </p:nvSpPr>
        <p:spPr>
          <a:xfrm>
            <a:off x="380880" y="443520"/>
            <a:ext cx="11658240" cy="37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9000"/>
              </a:lnSpc>
              <a:tabLst>
                <a:tab pos="0" algn="l"/>
              </a:tabLst>
            </a:pPr>
            <a:r>
              <a:rPr lang="en-US" sz="239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SLIDE 174: Resources Guide Overview</a:t>
            </a:r>
            <a:endParaRPr lang="en-US" sz="23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8" name="Text 1"/>
          <p:cNvSpPr/>
          <p:nvPr/>
        </p:nvSpPr>
        <p:spPr>
          <a:xfrm>
            <a:off x="380880" y="1013760"/>
            <a:ext cx="11429640" cy="5362200"/>
          </a:xfrm>
          <a:prstGeom prst="rect">
            <a:avLst/>
          </a:prstGeom>
          <a:solidFill>
            <a:srgbClr val="F4F4F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━━━━━━━━━━━━━━━━━━━━━━━━━━━━━━━━━━━━━━━━━━━━━━━━━━━━━━━━━━━━━━━━━━━━━━━━━</a:t>
            </a:r>
            <a:endParaRPr lang="en-US" sz="9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9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   RESOURCES GUIDE OVERVIEW</a:t>
            </a:r>
            <a:endParaRPr lang="en-US" sz="9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9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The Resources Guide is your</a:t>
            </a:r>
            <a:endParaRPr lang="en-US" sz="9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bibliography and learning directory.</a:t>
            </a:r>
            <a:endParaRPr lang="en-US" sz="9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9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INCLUDES:</a:t>
            </a:r>
            <a:endParaRPr lang="en-US" sz="9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9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• Recommended Books (60+)</a:t>
            </a:r>
            <a:endParaRPr lang="en-US" sz="9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• Online Courses (10+)</a:t>
            </a:r>
            <a:endParaRPr lang="en-US" sz="9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• Podcasts (10+)</a:t>
            </a:r>
            <a:endParaRPr lang="en-US" sz="9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• Blogs &amp; Newsletters</a:t>
            </a:r>
            <a:endParaRPr lang="en-US" sz="9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• Tools &amp; Templates</a:t>
            </a:r>
            <a:endParaRPr lang="en-US" sz="9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• Community &amp; Events</a:t>
            </a:r>
            <a:endParaRPr lang="en-US" sz="9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9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─────────────────────────────────────</a:t>
            </a:r>
            <a:endParaRPr lang="en-US" sz="9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9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CATEGORIES:</a:t>
            </a:r>
            <a:endParaRPr lang="en-US" sz="9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• Essential PM Books</a:t>
            </a:r>
            <a:endParaRPr lang="en-US" sz="9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• Discovery &amp; Research</a:t>
            </a:r>
            <a:endParaRPr lang="en-US" sz="9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• Strategy &amp; Prioritization</a:t>
            </a:r>
            <a:endParaRPr lang="en-US" sz="9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• Execution &amp; Agile</a:t>
            </a:r>
            <a:endParaRPr lang="en-US" sz="9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• Growth &amp; Metrics</a:t>
            </a:r>
            <a:endParaRPr lang="en-US" sz="9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9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─────────────────────────────────────</a:t>
            </a:r>
            <a:endParaRPr lang="en-US" sz="9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9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ALSO INCLUDES:</a:t>
            </a:r>
            <a:endParaRPr lang="en-US" sz="9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• Framework Reference Cards</a:t>
            </a:r>
            <a:endParaRPr lang="en-US" sz="9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• Academic References</a:t>
            </a:r>
            <a:endParaRPr lang="en-US" sz="9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• Career Resources</a:t>
            </a:r>
            <a:endParaRPr lang="en-US" sz="9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• Job Boards</a:t>
            </a:r>
            <a:endParaRPr lang="en-US" sz="9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9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━━━━━━━━━━━━━━━━━━━━━━━━━━━━━━━━━━━━━━━━━━━━━━━━━━━━━━━━━━━━━━━━━━━━━━━━━</a:t>
            </a:r>
            <a:endParaRPr lang="en-US" sz="9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9" name="PlaceHolder 1"/>
          <p:cNvSpPr>
            <a:spLocks noGrp="1"/>
          </p:cNvSpPr>
          <p:nvPr>
            <p:ph type="sldNum" idx="193"/>
          </p:nvPr>
        </p:nvSpPr>
        <p:spPr>
          <a:xfrm>
            <a:off x="0" y="6343560"/>
            <a:ext cx="11810520" cy="22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350" b="0" u="none" strike="noStrike">
                <a:solidFill>
                  <a:srgbClr val="777777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9A61E37-A257-4E2C-B138-5A498DFB4572}" type="slidenum">
              <a:rPr lang="en-US" sz="1350" b="0" u="none" strike="noStrike">
                <a:solidFill>
                  <a:srgbClr val="777777"/>
                </a:solidFill>
                <a:effectLst/>
                <a:uFillTx/>
                <a:latin typeface="Calibri"/>
              </a:rPr>
              <a:t>1</a:t>
            </a:fld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" name="Text 0"/>
          <p:cNvSpPr/>
          <p:nvPr/>
        </p:nvSpPr>
        <p:spPr>
          <a:xfrm>
            <a:off x="380880" y="443520"/>
            <a:ext cx="11658240" cy="37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9000"/>
              </a:lnSpc>
              <a:tabLst>
                <a:tab pos="0" algn="l"/>
              </a:tabLst>
            </a:pPr>
            <a:r>
              <a:rPr lang="en-US" sz="239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SLIDE 175: Complete Package Overview</a:t>
            </a:r>
            <a:endParaRPr lang="en-US" sz="23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1" name="Text 1"/>
          <p:cNvSpPr/>
          <p:nvPr/>
        </p:nvSpPr>
        <p:spPr>
          <a:xfrm>
            <a:off x="380880" y="1013760"/>
            <a:ext cx="11429640" cy="5362200"/>
          </a:xfrm>
          <a:prstGeom prst="rect">
            <a:avLst/>
          </a:prstGeom>
          <a:solidFill>
            <a:srgbClr val="F4F4F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6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━━━━━━━━━━━━━━━━━━━━━━━━━━━━━━━━━━━━━━━━━━━━━━━━━━━━━━━━━━━━━━━━━━━━━━━━━</a:t>
            </a:r>
            <a:endParaRPr lang="en-US" sz="9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9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6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   COMPLETE PACKAGE OVERVIEW</a:t>
            </a:r>
            <a:endParaRPr lang="en-US" sz="9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9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6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THE ZERO-TO-ONE PRODUCT MANAGER</a:t>
            </a:r>
            <a:endParaRPr lang="en-US" sz="9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9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6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─────────────────────────────────────</a:t>
            </a:r>
            <a:endParaRPr lang="en-US" sz="9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9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6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CORE CONTENT:</a:t>
            </a:r>
            <a:endParaRPr lang="en-US" sz="9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6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• 10 Parts (Discovery → Growth)</a:t>
            </a:r>
            <a:endParaRPr lang="en-US" sz="9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6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• 6 Appendices</a:t>
            </a:r>
            <a:endParaRPr lang="en-US" sz="9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6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• 8 Primers</a:t>
            </a:r>
            <a:endParaRPr lang="en-US" sz="9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9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6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SUPPORTING MATERIALS:</a:t>
            </a:r>
            <a:endParaRPr lang="en-US" sz="9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6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• Student Workbook</a:t>
            </a:r>
            <a:endParaRPr lang="en-US" sz="9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6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• Student Notes</a:t>
            </a:r>
            <a:endParaRPr lang="en-US" sz="9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6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• Quiz &amp; Test Bank</a:t>
            </a:r>
            <a:endParaRPr lang="en-US" sz="9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6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• Trainer Guide</a:t>
            </a:r>
            <a:endParaRPr lang="en-US" sz="9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6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• Resources Guide</a:t>
            </a:r>
            <a:endParaRPr lang="en-US" sz="9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6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• PowerPoint Deck (this presentation)</a:t>
            </a:r>
            <a:endParaRPr lang="en-US" sz="9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9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6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─────────────────────────────────────</a:t>
            </a:r>
            <a:endParaRPr lang="en-US" sz="9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9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6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TOTAL ASSETS:</a:t>
            </a:r>
            <a:endParaRPr lang="en-US" sz="9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6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• 34 Portfolio Artifacts</a:t>
            </a:r>
            <a:endParaRPr lang="en-US" sz="9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6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• 200+ PowerPoint Slides</a:t>
            </a:r>
            <a:endParaRPr lang="en-US" sz="9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6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• 100+ Quiz Questions</a:t>
            </a:r>
            <a:endParaRPr lang="en-US" sz="9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6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• 60+ Book Recommendations</a:t>
            </a:r>
            <a:endParaRPr lang="en-US" sz="9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6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• 10+ Frameworks</a:t>
            </a:r>
            <a:endParaRPr lang="en-US" sz="9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9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6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─────────────────────────────────────</a:t>
            </a:r>
            <a:endParaRPr lang="en-US" sz="9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9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6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Ready to launch your PM career.</a:t>
            </a:r>
            <a:endParaRPr lang="en-US" sz="9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9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6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━━━━━━━━━━━━━━━━━━━━━━━━━━━━━━━━━━━━━━━━━━━━━━━━━━━━━━━━━━━━━━━━━━━━━━━━━</a:t>
            </a:r>
            <a:endParaRPr lang="en-US" sz="9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2" name="PlaceHolder 1"/>
          <p:cNvSpPr>
            <a:spLocks noGrp="1"/>
          </p:cNvSpPr>
          <p:nvPr>
            <p:ph type="sldNum" idx="194"/>
          </p:nvPr>
        </p:nvSpPr>
        <p:spPr>
          <a:xfrm>
            <a:off x="0" y="6343560"/>
            <a:ext cx="11810520" cy="22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350" b="0" u="none" strike="noStrike">
                <a:solidFill>
                  <a:srgbClr val="777777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6725B2E-AB19-4CA8-85DF-65C65B7D47CC}" type="slidenum">
              <a:rPr lang="en-US" sz="1350" b="0" u="none" strike="noStrike">
                <a:solidFill>
                  <a:srgbClr val="777777"/>
                </a:solidFill>
                <a:effectLst/>
                <a:uFillTx/>
                <a:latin typeface="Calibri"/>
              </a:rPr>
              <a:t>1</a:t>
            </a:fld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" name="Text 0"/>
          <p:cNvSpPr/>
          <p:nvPr/>
        </p:nvSpPr>
        <p:spPr>
          <a:xfrm>
            <a:off x="380880" y="443520"/>
            <a:ext cx="11658240" cy="37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9000"/>
              </a:lnSpc>
              <a:tabLst>
                <a:tab pos="0" algn="l"/>
              </a:tabLst>
            </a:pPr>
            <a:r>
              <a:rPr lang="en-US" sz="239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SLIDE 176: Key Frameworks Reference</a:t>
            </a:r>
            <a:endParaRPr lang="en-US" sz="23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4" name="Text 1"/>
          <p:cNvSpPr/>
          <p:nvPr/>
        </p:nvSpPr>
        <p:spPr>
          <a:xfrm>
            <a:off x="380880" y="1013760"/>
            <a:ext cx="11429640" cy="5362200"/>
          </a:xfrm>
          <a:prstGeom prst="rect">
            <a:avLst/>
          </a:prstGeom>
          <a:solidFill>
            <a:srgbClr val="F4F4F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━━━━━━━━━━━━━━━━━━━━━━━━━━━━━━━━━━━━━━━━━━━━━━━━━━━━━━━━━━━━━━━━━━━━━━━━━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   KEY FRAMEWORKS REFERENCE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┌────────────────────────────────────────────────┐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FRAMEWORK     FORMULA / MNEMONIC           │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│────────────────────────────────────────────────│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RICE          Reach × Impact × Confidence   │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              ÷ Effort                      │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KANO          Basic + Performance +         │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              Excitement                    │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JTBD          "What job is the user        │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              hiring?"                      │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STAR          Situation, Task, Action,     │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              Result                        │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AARRR         Acquisition, Activation,      │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              Retention, Referral, Revenue │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GROWTH        Retention → Activation →      │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PYRAMID       Acquisition → Revenue         │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└────────────────────────────────────────────────┘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─────────────────────────────────────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USE THESE FRAMEWORKS FOR: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• RICE: Prioritization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• KANO: Feature categorization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• JTBD: Understanding users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• STAR: Behavioral answers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• AARRR: User lifecycle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• Growth Pyramid: Growth strategy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━━━━━━━━━━━━━━━━━━━━━━━━━━━━━━━━━━━━━━━━━━━━━━━━━━━━━━━━━━━━━━━━━━━━━━━━━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5" name="PlaceHolder 1"/>
          <p:cNvSpPr>
            <a:spLocks noGrp="1"/>
          </p:cNvSpPr>
          <p:nvPr>
            <p:ph type="sldNum" idx="195"/>
          </p:nvPr>
        </p:nvSpPr>
        <p:spPr>
          <a:xfrm>
            <a:off x="0" y="6343560"/>
            <a:ext cx="11810520" cy="22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350" b="0" u="none" strike="noStrike">
                <a:solidFill>
                  <a:srgbClr val="777777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06EF303-46C0-4572-B5DB-91548DBB4DCD}" type="slidenum">
              <a:rPr lang="en-US" sz="1350" b="0" u="none" strike="noStrike">
                <a:solidFill>
                  <a:srgbClr val="777777"/>
                </a:solidFill>
                <a:effectLst/>
                <a:uFillTx/>
                <a:latin typeface="Calibri"/>
              </a:rPr>
              <a:t>1</a:t>
            </a:fld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6" name="Text 0"/>
          <p:cNvSpPr/>
          <p:nvPr/>
        </p:nvSpPr>
        <p:spPr>
          <a:xfrm>
            <a:off x="380880" y="443520"/>
            <a:ext cx="11658240" cy="37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9000"/>
              </a:lnSpc>
              <a:tabLst>
                <a:tab pos="0" algn="l"/>
              </a:tabLst>
            </a:pPr>
            <a:r>
              <a:rPr lang="en-US" sz="239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SLIDE 177: Key Metrics Reference</a:t>
            </a:r>
            <a:endParaRPr lang="en-US" sz="23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7" name="Text 1"/>
          <p:cNvSpPr/>
          <p:nvPr/>
        </p:nvSpPr>
        <p:spPr>
          <a:xfrm>
            <a:off x="380880" y="1013760"/>
            <a:ext cx="11429640" cy="5362200"/>
          </a:xfrm>
          <a:prstGeom prst="rect">
            <a:avLst/>
          </a:prstGeom>
          <a:solidFill>
            <a:srgbClr val="F4F4F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4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━━━━━━━━━━━━━━━━━━━━━━━━━━━━━━━━━━━━━━━━━━━━━━━━━━━━━━━━━━━━━━━━━━━━━━━━━</a:t>
            </a:r>
            <a:endParaRPr lang="en-US" sz="12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2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4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   KEY METRICS REFERENCE</a:t>
            </a:r>
            <a:endParaRPr lang="en-US" sz="12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2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4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┌────────────────────────────────────────────────┐</a:t>
            </a:r>
            <a:endParaRPr lang="en-US" sz="12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4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METRIC          FORMULA                    │</a:t>
            </a:r>
            <a:endParaRPr lang="en-US" sz="12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4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│────────────────────────────────────────────────│</a:t>
            </a:r>
            <a:endParaRPr lang="en-US" sz="12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4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NPS             Promoters% - Detractors%   │</a:t>
            </a:r>
            <a:endParaRPr lang="en-US" sz="12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4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RETENTION       % active after X days      │</a:t>
            </a:r>
            <a:endParaRPr lang="en-US" sz="12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4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CHURN           % who stop using product   │</a:t>
            </a:r>
            <a:endParaRPr lang="en-US" sz="12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4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ARPU            Revenue ÷ Users            │</a:t>
            </a:r>
            <a:endParaRPr lang="en-US" sz="12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4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LTV             ARPU × Average Lifetime    │</a:t>
            </a:r>
            <a:endParaRPr lang="en-US" sz="12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4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CAC             Marketing ÷ New Users     │</a:t>
            </a:r>
            <a:endParaRPr lang="en-US" sz="12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4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DAU/MAU         Daily Active ÷ Monthly     │</a:t>
            </a:r>
            <a:endParaRPr lang="en-US" sz="12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4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                Active                      │</a:t>
            </a:r>
            <a:endParaRPr lang="en-US" sz="12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4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└────────────────────────────────────────────────┘</a:t>
            </a:r>
            <a:endParaRPr lang="en-US" sz="12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2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4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─────────────────────────────────────</a:t>
            </a:r>
            <a:endParaRPr lang="en-US" sz="12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2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4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KEY INSIGHTS:</a:t>
            </a:r>
            <a:endParaRPr lang="en-US" sz="12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4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• NPS = Loyalty</a:t>
            </a:r>
            <a:endParaRPr lang="en-US" sz="12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4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• Retention = Stickiness</a:t>
            </a:r>
            <a:endParaRPr lang="en-US" sz="12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4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• ARPU = Revenue per user</a:t>
            </a:r>
            <a:endParaRPr lang="en-US" sz="12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4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• LTV &gt; CAC = Sustainable</a:t>
            </a:r>
            <a:endParaRPr lang="en-US" sz="12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4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• DAU/MAU &gt; 20% = Good engagement</a:t>
            </a:r>
            <a:endParaRPr lang="en-US" sz="12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2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4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━━━━━━━━━━━━━━━━━━━━━━━━━━━━━━━━━━━━━━━━━━━━━━━━━━━━━━━━━━━━━━━━━━━━━━━━━</a:t>
            </a:r>
            <a:endParaRPr lang="en-US" sz="12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8" name="PlaceHolder 1"/>
          <p:cNvSpPr>
            <a:spLocks noGrp="1"/>
          </p:cNvSpPr>
          <p:nvPr>
            <p:ph type="sldNum" idx="196"/>
          </p:nvPr>
        </p:nvSpPr>
        <p:spPr>
          <a:xfrm>
            <a:off x="0" y="6343560"/>
            <a:ext cx="11810520" cy="22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350" b="0" u="none" strike="noStrike">
                <a:solidFill>
                  <a:srgbClr val="777777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624EC59-3617-48BD-8C54-4B68EBC5645D}" type="slidenum">
              <a:rPr lang="en-US" sz="1350" b="0" u="none" strike="noStrike">
                <a:solidFill>
                  <a:srgbClr val="777777"/>
                </a:solidFill>
                <a:effectLst/>
                <a:uFillTx/>
                <a:latin typeface="Calibri"/>
              </a:rPr>
              <a:t>1</a:t>
            </a:fld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9" name="Text 0"/>
          <p:cNvSpPr/>
          <p:nvPr/>
        </p:nvSpPr>
        <p:spPr>
          <a:xfrm>
            <a:off x="380880" y="443520"/>
            <a:ext cx="11658240" cy="37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9000"/>
              </a:lnSpc>
              <a:tabLst>
                <a:tab pos="0" algn="l"/>
              </a:tabLst>
            </a:pPr>
            <a:r>
              <a:rPr lang="en-US" sz="239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SLIDE 178: PM Mantras Summary</a:t>
            </a:r>
            <a:endParaRPr lang="en-US" sz="23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0" name="Text 1"/>
          <p:cNvSpPr/>
          <p:nvPr/>
        </p:nvSpPr>
        <p:spPr>
          <a:xfrm>
            <a:off x="380880" y="1013760"/>
            <a:ext cx="11429640" cy="5362200"/>
          </a:xfrm>
          <a:prstGeom prst="rect">
            <a:avLst/>
          </a:prstGeom>
          <a:solidFill>
            <a:srgbClr val="F4F4F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7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━━━━━━━━━━━━━━━━━━━━━━━━━━━━━━━━━━━━━━━━━━━━━━━━━━━━━━━━━━━━━━━━━━━━━━━━━</a:t>
            </a:r>
            <a:endParaRPr lang="en-US" sz="7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7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7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   PM MANTRAS SUMMARY</a:t>
            </a:r>
            <a:endParaRPr lang="en-US" sz="7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7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7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┌────────────────────────────────────────────────┐</a:t>
            </a:r>
            <a:endParaRPr lang="en-US" sz="7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7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CONTEXT         MANTRA                     │</a:t>
            </a:r>
            <a:endParaRPr lang="en-US" sz="7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7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│────────────────────────────────────────────────│</a:t>
            </a:r>
            <a:endParaRPr lang="en-US" sz="7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7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PM Mindset      "What problem are we        │</a:t>
            </a:r>
            <a:endParaRPr lang="en-US" sz="7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7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                solving, and how will we    │</a:t>
            </a:r>
            <a:endParaRPr lang="en-US" sz="7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7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                know if we solved it?"      │</a:t>
            </a:r>
            <a:endParaRPr lang="en-US" sz="7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7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│────────────────────────────────────────────────│</a:t>
            </a:r>
            <a:endParaRPr lang="en-US" sz="7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7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Strategy        "We serve [who] with [what]│</a:t>
            </a:r>
            <a:endParaRPr lang="en-US" sz="7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7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                so they can [outcome], and │</a:t>
            </a:r>
            <a:endParaRPr lang="en-US" sz="7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7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                we're willing to give up   │</a:t>
            </a:r>
            <a:endParaRPr lang="en-US" sz="7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7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                [what] to do it."          │</a:t>
            </a:r>
            <a:endParaRPr lang="en-US" sz="7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7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│────────────────────────────────────────────────│</a:t>
            </a:r>
            <a:endParaRPr lang="en-US" sz="7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7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Discovery       "What is the user trying   │</a:t>
            </a:r>
            <a:endParaRPr lang="en-US" sz="7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7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                to accomplish, and what's  │</a:t>
            </a:r>
            <a:endParaRPr lang="en-US" sz="7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7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                preventing them from        │</a:t>
            </a:r>
            <a:endParaRPr lang="en-US" sz="7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7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                doing it?"                  │</a:t>
            </a:r>
            <a:endParaRPr lang="en-US" sz="7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7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│────────────────────────────────────────────────│</a:t>
            </a:r>
            <a:endParaRPr lang="en-US" sz="7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7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Execution       "Build the simplest thing  │</a:t>
            </a:r>
            <a:endParaRPr lang="en-US" sz="7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7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                that could possibly work,  │</a:t>
            </a:r>
            <a:endParaRPr lang="en-US" sz="7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7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                ship it, and learn from    │</a:t>
            </a:r>
            <a:endParaRPr lang="en-US" sz="7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7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                what happens next."        │</a:t>
            </a:r>
            <a:endParaRPr lang="en-US" sz="7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7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│────────────────────────────────────────────────│</a:t>
            </a:r>
            <a:endParaRPr lang="en-US" sz="7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7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Metrics         "What metric would tell us │</a:t>
            </a:r>
            <a:endParaRPr lang="en-US" sz="7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7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                we're succeeding, and what │</a:t>
            </a:r>
            <a:endParaRPr lang="en-US" sz="7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7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                would we do if it moved?"   │</a:t>
            </a:r>
            <a:endParaRPr lang="en-US" sz="7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7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│────────────────────────────────────────────────│</a:t>
            </a:r>
            <a:endParaRPr lang="en-US" sz="7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7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Stakeholders    "Communicate early,        │</a:t>
            </a:r>
            <a:endParaRPr lang="en-US" sz="7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7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                communicate often, and    │</a:t>
            </a:r>
            <a:endParaRPr lang="en-US" sz="7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7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                always tie decisions back │</a:t>
            </a:r>
            <a:endParaRPr lang="en-US" sz="7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7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                to the user and the        │</a:t>
            </a:r>
            <a:endParaRPr lang="en-US" sz="7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7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                business."                 │</a:t>
            </a:r>
            <a:endParaRPr lang="en-US" sz="7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7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│────────────────────────────────────────────────│</a:t>
            </a:r>
            <a:endParaRPr lang="en-US" sz="7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7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Career          "The best way to become a  │</a:t>
            </a:r>
            <a:endParaRPr lang="en-US" sz="7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7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                PM is to start doing PM   │</a:t>
            </a:r>
            <a:endParaRPr lang="en-US" sz="7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7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                work. Right now. With     │</a:t>
            </a:r>
            <a:endParaRPr lang="en-US" sz="7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7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                what you have. Where you  │</a:t>
            </a:r>
            <a:endParaRPr lang="en-US" sz="7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7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│                  are."                      │</a:t>
            </a:r>
            <a:endParaRPr lang="en-US" sz="7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7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└────────────────────────────────────────────────┘</a:t>
            </a:r>
            <a:endParaRPr lang="en-US" sz="7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7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7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━━━━━━━━━━━━━━━━━━━━━━━━━━━━━━━━━━━━━━━━━━━━━━━━━━━━━━━━━━━━━━━━━━━━━━━━━</a:t>
            </a:r>
            <a:endParaRPr lang="en-US" sz="7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1" name="PlaceHolder 1"/>
          <p:cNvSpPr>
            <a:spLocks noGrp="1"/>
          </p:cNvSpPr>
          <p:nvPr>
            <p:ph type="sldNum" idx="197"/>
          </p:nvPr>
        </p:nvSpPr>
        <p:spPr>
          <a:xfrm>
            <a:off x="0" y="6343560"/>
            <a:ext cx="11810520" cy="22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350" b="0" u="none" strike="noStrike">
                <a:solidFill>
                  <a:srgbClr val="777777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E0726A5-FE55-43B5-89D7-7E6969F240AE}" type="slidenum">
              <a:rPr lang="en-US" sz="1350" b="0" u="none" strike="noStrike">
                <a:solidFill>
                  <a:srgbClr val="777777"/>
                </a:solidFill>
                <a:effectLst/>
                <a:uFillTx/>
                <a:latin typeface="Calibri"/>
              </a:rPr>
              <a:t>1</a:t>
            </a:fld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2" name="Text 0"/>
          <p:cNvSpPr/>
          <p:nvPr/>
        </p:nvSpPr>
        <p:spPr>
          <a:xfrm>
            <a:off x="380880" y="443520"/>
            <a:ext cx="11658240" cy="37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9000"/>
              </a:lnSpc>
              <a:tabLst>
                <a:tab pos="0" algn="l"/>
              </a:tabLst>
            </a:pPr>
            <a:r>
              <a:rPr lang="en-US" sz="239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SLIDE 179: Quick Answer Templates</a:t>
            </a:r>
            <a:endParaRPr lang="en-US" sz="23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3" name="Text 1"/>
          <p:cNvSpPr/>
          <p:nvPr/>
        </p:nvSpPr>
        <p:spPr>
          <a:xfrm>
            <a:off x="380880" y="1013760"/>
            <a:ext cx="11429640" cy="5362200"/>
          </a:xfrm>
          <a:prstGeom prst="rect">
            <a:avLst/>
          </a:prstGeom>
          <a:solidFill>
            <a:srgbClr val="F4F4F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━━━━━━━━━━━━━━━━━━━━━━━━━━━━━━━━━━━━━━━━━━━━━━━━━━━━━━━━━━━━━━━━━━━━━━━━━</a:t>
            </a:r>
            <a:endParaRPr lang="en-US" sz="9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9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   QUICK ANSWER TEMPLATES</a:t>
            </a:r>
            <a:endParaRPr lang="en-US" sz="9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9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PRODUCT DESIGN:</a:t>
            </a:r>
            <a:endParaRPr lang="en-US" sz="9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──────────────────</a:t>
            </a:r>
            <a:endParaRPr lang="en-US" sz="9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1. Clarify: "Can I ask clarifying questions?"</a:t>
            </a:r>
            <a:endParaRPr lang="en-US" sz="9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2. User: "The user is [persona] who needs [need]."</a:t>
            </a:r>
            <a:endParaRPr lang="en-US" sz="9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3. Problem: "They need to [problem] because [reason]."</a:t>
            </a:r>
            <a:endParaRPr lang="en-US" sz="9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4. Solution: "The MVP is [solution] that does [features]."</a:t>
            </a:r>
            <a:endParaRPr lang="en-US" sz="9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5. Flow: "[Step 1] → [Step 2] → [Step 3]"</a:t>
            </a:r>
            <a:endParaRPr lang="en-US" sz="9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6. Metrics: "I'd track [metric 1] and [metric 2]."</a:t>
            </a:r>
            <a:endParaRPr lang="en-US" sz="9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9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─────────────────────────────────────</a:t>
            </a:r>
            <a:endParaRPr lang="en-US" sz="9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9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PRODUCT STRATEGY:</a:t>
            </a:r>
            <a:endParaRPr lang="en-US" sz="9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──────────────────</a:t>
            </a:r>
            <a:endParaRPr lang="en-US" sz="9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1. Current: "Currently, the product has [metrics]."</a:t>
            </a:r>
            <a:endParaRPr lang="en-US" sz="9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2. Opportunities: "I see opportunities in [area 1]."</a:t>
            </a:r>
            <a:endParaRPr lang="en-US" sz="9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3. Strategy: "The strategy is [statement]."</a:t>
            </a:r>
            <a:endParaRPr lang="en-US" sz="9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4. Roadmap: "Q1: [focus], Q2: [focus]."</a:t>
            </a:r>
            <a:endParaRPr lang="en-US" sz="9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5. Metrics: "Success = [metric 1] and [metric 2]."</a:t>
            </a:r>
            <a:endParaRPr lang="en-US" sz="9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9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─────────────────────────────────────</a:t>
            </a:r>
            <a:endParaRPr lang="en-US" sz="9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9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METRICS:</a:t>
            </a:r>
            <a:endParaRPr lang="en-US" sz="9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─────────</a:t>
            </a:r>
            <a:endParaRPr lang="en-US" sz="9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1. North Star: "The North Star would be [metric]."</a:t>
            </a:r>
            <a:endParaRPr lang="en-US" sz="9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2. Acquisition: "I'd track [metric]."</a:t>
            </a:r>
            <a:endParaRPr lang="en-US" sz="9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3. Activation: "I'd track [metric]."</a:t>
            </a:r>
            <a:endParaRPr lang="en-US" sz="9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4. Retention: "I'd track [metric]."</a:t>
            </a:r>
            <a:endParaRPr lang="en-US" sz="9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5. Revenue: "I'd track [metric]."</a:t>
            </a:r>
            <a:endParaRPr lang="en-US" sz="9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9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9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━━━━━━━━━━━━━━━━━━━━━━━━━━━━━━━━━━━━━━━━━━━━━━━━━━━━━━━━━━━━━━━━━━━━━━━━━</a:t>
            </a:r>
            <a:endParaRPr lang="en-US" sz="9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4" name="PlaceHolder 1"/>
          <p:cNvSpPr>
            <a:spLocks noGrp="1"/>
          </p:cNvSpPr>
          <p:nvPr>
            <p:ph type="sldNum" idx="198"/>
          </p:nvPr>
        </p:nvSpPr>
        <p:spPr>
          <a:xfrm>
            <a:off x="0" y="6343560"/>
            <a:ext cx="11810520" cy="22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350" b="0" u="none" strike="noStrike">
                <a:solidFill>
                  <a:srgbClr val="777777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89A8672-A199-4979-BB69-849785C16684}" type="slidenum">
              <a:rPr lang="en-US" sz="1350" b="0" u="none" strike="noStrike">
                <a:solidFill>
                  <a:srgbClr val="777777"/>
                </a:solidFill>
                <a:effectLst/>
                <a:uFillTx/>
                <a:latin typeface="Calibri"/>
              </a:rPr>
              <a:t>1</a:t>
            </a:fld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5" name="Text 0"/>
          <p:cNvSpPr/>
          <p:nvPr/>
        </p:nvSpPr>
        <p:spPr>
          <a:xfrm>
            <a:off x="380880" y="443520"/>
            <a:ext cx="11658240" cy="37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9000"/>
              </a:lnSpc>
              <a:tabLst>
                <a:tab pos="0" algn="l"/>
              </a:tabLst>
            </a:pPr>
            <a:r>
              <a:rPr lang="en-US" sz="239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SLIDE 180: Thank You</a:t>
            </a:r>
            <a:endParaRPr lang="en-US" sz="23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6" name="Text 1"/>
          <p:cNvSpPr/>
          <p:nvPr/>
        </p:nvSpPr>
        <p:spPr>
          <a:xfrm>
            <a:off x="380880" y="1013760"/>
            <a:ext cx="11429640" cy="5362200"/>
          </a:xfrm>
          <a:prstGeom prst="rect">
            <a:avLst/>
          </a:prstGeom>
          <a:solidFill>
            <a:srgbClr val="F4F4F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2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━━━━━━━━━━━━━━━━━━━━━━━━━━━━━━━━━━━━━━━━━━━━━━━━━━━━━━━━━━━━━━━━━━━━━━━━━</a:t>
            </a: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2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   THANK YOU</a:t>
            </a: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2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THE ZERO-TO-ONE PRODUCT MANAGER</a:t>
            </a: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2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─────────────────────────────────────</a:t>
            </a: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2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You now have everything you need to</a:t>
            </a: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2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become a product manager.</a:t>
            </a: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2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• Complete case study (Ledgerly)</a:t>
            </a: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2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• 10-part series</a:t>
            </a: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2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• 6 appendices</a:t>
            </a: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2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• 8 primers</a:t>
            </a: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2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• Workbook &amp; notes</a:t>
            </a: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2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• Quiz bank</a:t>
            </a: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2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• Trainer guide</a:t>
            </a: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2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• Resources guide</a:t>
            </a: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2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• This comprehensive deck</a:t>
            </a: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2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─────────────────────────────────────</a:t>
            </a: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2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"The best way to become a product</a:t>
            </a: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2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manager is to start doing product</a:t>
            </a: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2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management. Right now. With what</a:t>
            </a: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2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you have. Where you are."</a:t>
            </a: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2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─────────────────────────────────────</a:t>
            </a: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2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               Go build something great.</a:t>
            </a: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2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━━━━━━━━━━━━━━━━━━━━━━━━━━━━━━━━━━━━━━━━━━━━━━━━━━━━━━━━━━━━━━━━━━━━━━━━━</a:t>
            </a: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7" name="PlaceHolder 1"/>
          <p:cNvSpPr>
            <a:spLocks noGrp="1"/>
          </p:cNvSpPr>
          <p:nvPr>
            <p:ph type="sldNum" idx="199"/>
          </p:nvPr>
        </p:nvSpPr>
        <p:spPr>
          <a:xfrm>
            <a:off x="0" y="6343560"/>
            <a:ext cx="11810520" cy="22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350" b="0" u="none" strike="noStrike">
                <a:solidFill>
                  <a:srgbClr val="777777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85B0FA5-DDD0-4D43-AD45-DFDF8C88B91D}" type="slidenum">
              <a:rPr lang="en-US" sz="1350" b="0" u="none" strike="noStrike">
                <a:solidFill>
                  <a:srgbClr val="777777"/>
                </a:solidFill>
                <a:effectLst/>
                <a:uFillTx/>
                <a:latin typeface="Calibri"/>
              </a:rPr>
              <a:t>1</a:t>
            </a:fld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8" name="Text 0"/>
          <p:cNvSpPr/>
          <p:nvPr/>
        </p:nvSpPr>
        <p:spPr>
          <a:xfrm>
            <a:off x="380880" y="1941120"/>
            <a:ext cx="11658240" cy="684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132480" anchor="t" anchorCtr="1">
            <a:noAutofit/>
          </a:bodyPr>
          <a:p>
            <a:pPr algn="ctr" defTabSz="914400">
              <a:lnSpc>
                <a:spcPct val="109000"/>
              </a:lnSpc>
              <a:tabLst>
                <a:tab pos="0" algn="l"/>
              </a:tabLst>
            </a:pPr>
            <a:r>
              <a:rPr lang="en-US" sz="348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END OF POWERPOINT DECK</a:t>
            </a:r>
            <a:endParaRPr lang="en-US" sz="34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9" name="Text 1"/>
          <p:cNvSpPr/>
          <p:nvPr/>
        </p:nvSpPr>
        <p:spPr>
          <a:xfrm>
            <a:off x="380880" y="2864880"/>
            <a:ext cx="11658240" cy="55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107640" anchor="t">
            <a:noAutofit/>
          </a:bodyPr>
          <a:p>
            <a:pPr defTabSz="914400">
              <a:lnSpc>
                <a:spcPct val="109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0" name="Text 2"/>
          <p:cNvSpPr/>
          <p:nvPr/>
        </p:nvSpPr>
        <p:spPr>
          <a:xfrm>
            <a:off x="380880" y="3549600"/>
            <a:ext cx="11429640" cy="124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25000"/>
              </a:lnSpc>
              <a:tabLst>
                <a:tab pos="0" algn="l"/>
              </a:tabLst>
            </a:pPr>
            <a:endParaRPr lang="en-US" sz="21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endParaRPr lang="en-US" sz="21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endParaRPr lang="en-US" sz="21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1" name="PlaceHolder 1"/>
          <p:cNvSpPr>
            <a:spLocks noGrp="1"/>
          </p:cNvSpPr>
          <p:nvPr>
            <p:ph type="sldNum" idx="200"/>
          </p:nvPr>
        </p:nvSpPr>
        <p:spPr>
          <a:xfrm>
            <a:off x="0" y="6343560"/>
            <a:ext cx="11810520" cy="22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350" b="0" u="none" strike="noStrike">
                <a:solidFill>
                  <a:srgbClr val="777777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14580B1-07AF-48F7-A2AB-E8AE9A07954C}" type="slidenum">
              <a:rPr lang="en-US" sz="1350" b="0" u="none" strike="noStrike">
                <a:solidFill>
                  <a:srgbClr val="777777"/>
                </a:solidFill>
                <a:effectLst/>
                <a:uFillTx/>
                <a:latin typeface="Calibri"/>
              </a:rPr>
              <a:t>1</a:t>
            </a:fld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Application>LibreOffice/26.2.4.2$Windows_X86_64 LibreOffice_project/0229ac93fcf0d7cbc6376066c6f35021cef002dc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2026-07-27T20:45:47Z</dcterms:created>
  <dc:creator>PptxGenJS</dc:creator>
  <dc:description/>
  <dc:language>en-US</dc:language>
  <cp:lastModifiedBy/>
  <dcterms:modified xsi:type="dcterms:W3CDTF">2026-07-28T04:47:25Z</dcterms:modified>
  <cp:revision>2</cp:revision>
  <dc:subject>PptxGenJS Presentation</dc:subject>
  <dc:title>PptxGenJS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196</vt:i4>
  </property>
  <property fmtid="{D5CDD505-2E9C-101B-9397-08002B2CF9AE}" pid="3" name="PresentationFormat">
    <vt:lpwstr>On-screen Show (16:9)</vt:lpwstr>
  </property>
  <property fmtid="{D5CDD505-2E9C-101B-9397-08002B2CF9AE}" pid="4" name="Slides">
    <vt:i4>196</vt:i4>
  </property>
</Properties>
</file>