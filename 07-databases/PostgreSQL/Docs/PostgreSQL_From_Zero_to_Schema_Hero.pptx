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5400" b="1">
                <a:solidFill>
                  <a:srgbClr val="000000"/>
                </a:solidFill>
                <a:latin typeface="Arial"/>
              </a:rPr>
              <a:t>HANDS-ON 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800" b="0">
                <a:solidFill>
                  <a:srgbClr val="505050"/>
                </a:solidFill>
                <a:latin typeface="Arial"/>
              </a:rPr>
              <a:t>FROM ZERO TO SCHEMA HERO</a:t>
            </a:r>
            <a:br/>
            <a:r>
              <a:t>A Complete Six-Part Tutorial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WHAT YOU WILL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A Production-Ready E-Commerce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Tables You Will Create: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users — customer accounts and profiles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products — catalog with pricing and stock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categories — product classification tree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product_categories — many-to-many junction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orders — purchase transactions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order_items — line items per order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shopping_cart — active session carts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What You Will Learn: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Basic SQL and CRUD Operations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Data Types and Constraints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Relationships and Joins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Aggregations and Subqueries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JSONB and Window Functions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Performance, Indexes, and 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PREREQUISITES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Required Knowledge: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Basic understanding of what a database is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Familiarity with the command line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No prior SQL experience necessary — we start from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Required Software: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PostgreSQL 14 or higher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psql command-line client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Text editor or IDE (VS Code, Vim,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505050"/>
                </a:solidFill>
                <a:latin typeface="Arial"/>
              </a:rPr>
              <a:t>Tip: Install PostgreSQL via your package manager (apt, brew, choco) or download from postgresql.org.</a:t>
            </a:r>
            <a:br/>
            <a:r>
              <a:t>Verify installation with: psql --version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50505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FIRST STEPS &amp; THE SQL FOUNDATION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1: 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Installing PostgreSQL on your local machine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Connecting to the database via psql command-line client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Creating your first database and tables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The Four CRUD Operations: INSERT, SELECT, UPDATE, DELETE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Filtering data with WHERE, LIKE, IN, and BETWEEN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Sorting results with ORDER BY and LIMIT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Hands-on project: Build a products table and run search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505050"/>
                </a:solidFill>
                <a:latin typeface="Arial"/>
              </a:rPr>
              <a:t>Goal: By the end of Part 1, you will be comfortable writing basic SQL to create, read, update, and delete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INSTALLING POSTGRESQL &amp; CONNECTING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PostgreSQL runs as a background service (daemon)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The default superuser is 'postgres'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Use \c to switch databases within psql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Use \dt to list all tables in current database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Use \q to quit the psql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# macOS (Homebrew)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brew install postgresql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brew services start postgresql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# Ubuntu / Debian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sudo apt update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sudo apt install postgresql postgresql-contrib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sudo systemctl start postgresql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# Connect via psql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psql -U postgres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# Create a new database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CREATE DATABASE ecommerce;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\c ecommerce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# Verify connection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\conninfo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CREATING YOUR FIRST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SERIAL creates an auto-incrementing integer column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PRIMARY KEY uniquely identifies each row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NOT NULL prevents empty values in a column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DEFAULT sets a fallback value if none is provided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NOW() returns the current timestamp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\d is a psql meta-command to describe a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CREATE TABLE products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   id SERIAL PRIMARY KEY,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   name VARCHAR(255)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   description TEXT,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   price NUMERIC(10,2)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   stock INTEGER DEFAULT 0,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   created_at TIMESTAMPTZ DEFAULT NOW()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Verify table creation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\d products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Insert sample data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INSERT INTO products (name, price, stock)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VALUES ('Wireless Headphones', 79.99, 50);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INSERT INTO products (name, price, stock)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VALUES ('Mechanical Keyboard', 129.99, 30),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       ('USB-C Cable', 12.99, 200);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THE FOUR CRUD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CRUD = Create, Read, Update, Delete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INSERT adds one or more rows to a table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SELECT is the most common — specify columns when possible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UPDATE modifies existing data; use WHERE to target specific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DELETE permanently removes rows; no undo without a transaction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Best practice: Write your WHERE clause first, then add UPDATE/DELETE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CREATE: INSERT adds new rows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INSERT INTO products (name, price, stock)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VALUES ('Gaming Mouse', 49.99, 75);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READ: SELECT retrieves data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* FROM products WHERE price &gt; 50;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name, price FROM products WHERE stock &gt; 0;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UPDATE: MODIFY existing rows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UPDATE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SET price = 89.99, stock = stock - 1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WHERE id = 1;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DELETE: REMOVE rows permanently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DELETE FROM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WHERE stock = 0;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WARNING: Always use WHERE with UPDATE and DELETE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Omitting WHERE affects ALL rows in the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FILTERING AND SORTING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WHERE supports operators: =, &lt;&gt;, &lt;, &gt;, &lt;=, &gt;=, BETWEEN, LIKE, IN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LIKE is case-sensitive; use ILIKE for case-insensitive matching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Combine conditions with AND and OR; use parentheses for clarity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ORDER BY can sort by multiple columns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LIMIT + OFFSET is the standard pattern for pagination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NULL values sort last in ASC, first in DESC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WHERE: Filter rows by conditions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* FROM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WHERE price BETWEEN 20 AND 50;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LIKE: Pattern matching with wildcards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* FROM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WHERE name LIKE '%wireless%';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% matches any sequence of characters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IN: Match against a list of values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* FROM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WHERE id IN (1, 3, 5);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ORDER BY: Sort results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* FROM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ORDER BY price DESC;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LIMIT: Restrict result count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* FROM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ORDER BY price ASC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LIMIT 5 OFFSET 10;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1: HANDS-ON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Build a complete products catalog table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Populate it with realistic e-commerce data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Practice all four CRUD operations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Write complex filtering queries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Sort and paginate results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Validate data with CHECK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Step 1: Create the products table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CREATE TABLE products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id SERIAL PRIMARY KEY,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name VARCHAR(255)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price NUMERIC(10,2) NOT NULL CHECK (price &gt;= 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stock INTEGER DEFAULT 0 CHECK (stock &gt;= 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category VARCHAR(100),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created_at TIMESTAMPTZ DEFAULT NOW()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Step 2: Insert at least 10 products across 3 categories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Step 3: Find all products under $25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Step 4: Find products with 'Pro' in the name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Step 5: List top 5 most expensive products in stock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Step 6: Update stock after a simulated sale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Step 7: Delete discontinued products (stock = 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50505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DATA TYPES &amp; CONSTRAINTS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2: 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Common PostgreSQL data types and when to use each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Building bulletproof tables with constraints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Understanding SERIAL, UUID, and auto-generated keys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Working with JSONB for flexible schema design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Using CHECK, DEFAULT, and GENERATED columns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Hands-on project: Design the users and products tables with full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505050"/>
                </a:solidFill>
                <a:latin typeface="Arial"/>
              </a:rPr>
              <a:t>Goal: By the end of Part 2, you will design tables that enforce data integrity at the database level.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COMMON POSTGRESQL DATA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TEXT is preferred over VARCHAR unless you have a hard limit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NUMERIC is exact; REAL/DOUBLE are approximate (floating point)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Always use TIMESTAMPTZ over TIMESTAMP to avoid timezone bugs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UUID is ideal for distributed systems and exposed IDs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JSONB is queryable, indexable, and more efficient than JSON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Arrays are first-class citizens in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Text types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TEXT        -- Unlimited length, use for most text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VARCHAR(n)  -- Max n characters, use when length matters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CHAR(n)     -- Fixed length, padded with spaces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Numeric types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INTEGER     -- Whole numbers: -2 billion to +2 billion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BIGINT      -- Large whole numbers: +/- 9 quintillion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NUMERIC(p,s)-- Exact decimal: p total digits, s after decimal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REAL        -- 6-digit precision floating point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DOUBLE      -- 15-digit precision floating point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Date and time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DATE        -- Calendar date only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TIME        -- Time of day only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TIMESTAMP   -- Date and time without timezone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TIMESTAMPTZ -- Date and time WITH timezone (recommended)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INTERVAL    -- Duration: '1 day 3 hours'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Other essential types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BOOLEAN     -- true, false, or NULL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UUID        -- 128-bit unique identifier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JSONB       -- Binary JSON for flexible storage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BYTEA       -- Binary data (images, files)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ARRAY       -- Native array support: INTEGER[], TEXT[]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BUILDING BULLETPROOF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NOT NULL: Column cannot contain empty values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UNIQUE: No two rows can have the same value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PRIMARY KEY: UNIQUE + NOT NULL; identifies each row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CHECK: Validates data against an expression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DEFAULT: Provides a fallback value on INSERT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FOREIGN KEY: Ensures referential integrity between tables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CONSTRAINT: Named rule for complex validation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users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UUID PRIMARY KEY DEFAULT uuid_generate_v4(),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email TEXT UNIQUE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first_name TEXT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last_name TEXT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age INTEGER CHECK (age &gt;= 13 AND age &lt;= 120),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role TEXT DEFAULT 'customer',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created_at TIMESTAMPTZ DEFAULT NOW(),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updated_at TIMESTAMPTZ DEFAULT NOW(),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CONSTRAINT valid_email CHECK (email ~* '^[A-Za-z0-9._%+-]+@[A-Za-z0-9.-]+\.[A-Za-z]{2,}$')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products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SERIAL PRIMARY KEY,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sku TEXT UNIQUE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name TEXT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price NUMERIC(10,2) NOT NULL CHECK (price &gt;= 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stock INTEGER DEFAULT 0 CHECK (stock &gt;= 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is_active BOOLEAN DEFAULT true,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metadata JSONB DEFAULT '{}'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MODERN POSTGRESQL TYPES: UUID &amp; JSONB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UUID: 128-bit globally unique identifier — no collision risk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UUIDs are non-sequential, preventing enumeration attacks on URLs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JSONB stores binary JSON — more efficient than plain JSON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JSONB supports indexing with GIN indexes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Use -&gt; to get JSON object, -&gt;&gt; to get text value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Use @&gt; to check if JSONB contains a specific structure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JSONB is perfect for attributes that vary per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Enable UUID extension (run once per database)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EXTENSION IF NOT EXISTS "uuid-ossp";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UUID as primary key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orders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UUID PRIMARY KEY DEFAULT uuid_generate_v4(),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user_id UUID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total NUMERIC(10,2) DEFAULT 0,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created_at TIMESTAMPTZ DEFAULT NOW()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JSONB for flexible schema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products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SERIAL PRIMARY KEY,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name TEXT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metadata JSONB DEFAULT '{}'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Store structured data in JSONB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INSERT INTO products (name, metadata)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VALUES ('Laptop', '{"brand": "Dell", "warranty": 24, "specs": {"ram": "16GB", "cpu": "i7"}}');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Query JSONB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metadata-&gt;&gt;'brand' AS brand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products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WHERE metadata @&gt; '{"brand": "Dell"}';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Index JSONB for fast queries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INDEX idx_products_metadata ON products USING gin(metadata);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2: HANDS-ON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Design the users table with full constraint coverage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Build a hierarchical categories table (parent-child)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Create products with SKU uniqueness and price validation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Add JSONB metadata to products and query it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Test that constraints reject bad data automatically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Document your schema decisions — why each constraint?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1: Create users table with UUID primary key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2: Add email validation with CHECK constraint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3: Create categories table with self-referencing parent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4: Create products table with SKU, price, stock, metadata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5: Add foreign key from products to categories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6: Insert sample data and test constraint violations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7: Experiment with JSONB queries on product metadata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50505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RELATIONSHIPS &amp; RELATIONAL QUERIES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3: 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The three types of database relationships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How foreign keys enforce referential integrity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INNER JOIN, LEFT JOIN, RIGHT JOIN, and FULL JOIN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Self-joins for hierarchical data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Many-to-many relationships with junction tables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Hands-on project: Build the complete e-commerce schema with all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505050"/>
                </a:solidFill>
                <a:latin typeface="Arial"/>
              </a:rPr>
              <a:t>Goal: By the end of Part 3, you will model complex real-world relationships and query across multiple tables.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THREE TYPES OF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ONE-TO-MANY: The most common relationship type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MANY-TO-MANY: Requires a junction (link) table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ONE-TO-ONE: Use when data is optional or large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ON DELETE CASCADE: Automatically delete child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ON DELETE SET NULL: Set foreign key to NULL on parent delete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ON UPDATE CASCADE: Propagate primary key changes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REFERENCES ensures every foreign key points to a valid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ONE-TO-MANY: One user has many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users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UUID PRIMARY KEY DEFAULT uuid_generate_v4(),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email TEXT UNIQUE NOT NULL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orders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UUID PRIMARY KEY DEFAULT uuid_generate_v4(),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user_id UUID NOT NULL REFERENCES users(id) ON DELETE CASCADE,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total NUMERIC(10,2) DEFAULT 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MANY-TO-MANY: Products belong to many categories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product_categories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product_id INTEGER REFERENCES products(id) ON DELETE CASCADE,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category_id INTEGER REFERENCES categories(id) ON DELETE CASCADE,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PRIMARY KEY (product_id, category_id)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ONE-TO-ONE: One user has one profile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profiles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UUID PRIMARY KEY DEFAULT uuid_generate_v4(),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user_id UUID UNIQUE NOT NULL REFERENCES users(id) ON DELETE CASCADE,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bio TEXT,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avatar_url TEXT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COMBINING DATA WITH JOINS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INNER JOIN: Use when you only want matching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LEFT JOIN: Use when you want all primary table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RIGHT JOIN: Rarely used; prefer LEFT JOIN with reversed tables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FULL JOIN: Use when you need unmatched rows from both sides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CROSS JOIN: Use sparingly; result is M x N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Always qualify column names with table aliases (u.id, o.id)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Use table aliases to keep queries readable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INNER JOIN: Only rows that match in BOTH tables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u.email, o.total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users u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INNER JOIN orders o ON u.id = o.user_id;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LEFT JOIN: ALL rows from left table, matching from right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u.email, COUNT(o.id) AS order_count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users u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LEFT JOIN orders o ON u.id = o.user_id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GROUP BY u.id, u.email;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RIGHT JOIN: ALL rows from right table, matching from left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o.id, u.email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orders 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RIGHT JOIN users u ON u.id = o.user_id;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FULL OUTER JOIN: ALL rows from BOTH tables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u.email, o.id AS order_id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users u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FULL OUTER JOIN orders o ON u.id = o.user_id;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CROSS JOIN: Cartesian product (every combination)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p.name, c.name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products 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CROSS JOIN categories c;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COMPLETE E-COMMERCE DATABASE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505050"/>
                </a:solidFill>
                <a:latin typeface="Arial"/>
              </a:rPr>
              <a:t>Six tables, fully normalized, with referential integrity enforced at the database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users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UUID PRIMARY KEY DEFAULT uuid_generate_v4(),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email TEXT UNIQUE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first_name TEXT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last_name TEXT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created_at TIMESTAMPTZ DEFAULT NOW()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categories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SERIAL PRIMARY KEY,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name TEXT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parent_id INTEGER REFERENCES categories(id)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products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SERIAL PRIMARY KEY,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sku TEXT UNIQUE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name TEXT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price NUMERIC(10,2) NOT NULL CHECK (price &gt;= 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stock INTEGER DEFAULT 0 CHECK (stock &gt;= 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metadata JSONB DEFAULT '{}'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product_categories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product_id INTEGER REFERENCES products(id) ON DELETE CASCADE,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category_id INTEGER REFERENCES categories(id) ON DELETE CASCADE,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PRIMARY KEY (product_id, category_id)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orders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UUID PRIMARY KEY DEFAULT uuid_generate_v4(),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user_id UUID NOT NULL REFERENCES users(id) ON DELETE CASCADE,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status TEXT DEFAULT 'pending',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total NUMERIC(10,2) DEFAULT 0,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created_at TIMESTAMPTZ DEFAULT NOW()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TABLE order_items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 UUID PRIMARY KEY DEFAULT uuid_generate_v4(),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order_id UUID NOT NULL REFERENCES orders(id) ON DELETE CASCADE,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product_id INTEGER NOT NULL REFERENCES products(id),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quantity INTEGER NOT NULL CHECK (quantity &gt; 0),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unit_price NUMERIC(10,2) NOT NULL,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total_price NUMERIC(10,2) GENERATED ALWAYS AS (quantity * unit_price) STORED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3: HANDS-ON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Build the complete six-table schema from scratch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Populate each table with at least 5 realistic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Practice INNER, LEFT, and FULL joins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Write queries that span 3+ tables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Test cascade delete behavior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Verify that foreign keys reject invalid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1: Create all six tables with proper foreign keys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2: Insert sample users, categories, and products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3: Write a query to list all orders with user emails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4: Find all products in the 'Electronics' category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5: List users who have NEVER placed an order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6: Calculate total revenue per user with LEFT JOIN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7: Find orders that contain products from multiple categories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50505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AGGREGATIONS, GROUPING &amp; SUBQUERIES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4: 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Five core aggregate functions: COUNT, SUM, AVG, MIN, MAX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Grouping data with GROUP BY and filtering groups with HAVING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Subqueries in WHERE, FROM, and SELECT clauses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Correlated subqueries for row-by-row logic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CASE WHEN for conditional logic in SQL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Common Table Expressions (CTEs) with WITH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Hands-on project: Build sales reports and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505050"/>
                </a:solidFill>
                <a:latin typeface="Arial"/>
              </a:rPr>
              <a:t>Goal: By the end of Part 4, you will write complex analytical queries that power business dashboards.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CORE AGGREGATE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COUNT(*) counts all rows; COUNT(column) ignores NULLs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COUNT(DISTINCT column) counts unique values only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SUM and AVG ignore NULL values automatically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MIN/MAX work on text too (alphabetical order)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Aggregates collapse multiple rows into a single result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Use WHERE to filter rows BEFORE aggregation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Use HAVING to filter groups AFTER aggregation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COUNT: Number of rows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COUNT(*) AS total_orders FROM orders;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COUNT(DISTINCT user_id) AS unique_customers FROM orders;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SUM: Total of all values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SUM(total) AS total_revenue FROM orders WHERE status = 'completed';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AVG: Average value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AVG(total) AS avg_order_value FROM orders;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MIN / MAX: Range boundaries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MIN(total) AS smallest_order, MAX(total) AS largest_order FROM orders;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Combine aggregates in one query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COUNT(*) AS order_count,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SUM(total) AS revenue,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AVG(total) AS avg_order,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MIN(total) AS min_order,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   MAX(total) AS max_order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WHERE created_at &gt;= DATE_TRUNC('month', NOW());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GROUPING DATA WITH GROUP BY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GROUP BY collapses rows with the same values into summary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Every column in SELECT must be either aggregated or in GROUP BY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HAVING filters groups; WHERE filters individual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You can group by expressions: DATE_TRUNC, EXTRACT, etc.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Multiple columns in GROUP BY create nested groupings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ORDER BY works normally with grouped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Group by status and count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status, COUNT(*) AS order_count, SUM(total) AS revenue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GROUP BY status;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Group by month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DATE_TRUNC('month', created_at) AS month,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COUNT(*) AS orders,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SUM(total) AS revenue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GROUP BY month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ORDER BY month DESC;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HAVING filters groups (like WHERE filters rows)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user_id, COUNT(*) AS order_count, SUM(total) AS spent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GROUP BY user_id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HAVING COUNT(*) &gt; 5 AND SUM(total) &gt; 500;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Multiple grouping levels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DATE_TRUNC('month', created_at) AS month,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status,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COUNT(*) AS orders,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SUM(total) AS revenue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GROUP BY month, status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ORDER BY month DESC, status;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QUERIES WITHIN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Subqueries can appear in WHERE, FROM, SELECT, and HAVING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Non-correlated subqueries run once; correlated run per row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IN subqueries are efficient for small result sets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EXISTS is often faster than IN for large subqueries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Correlated subqueries are powerful but can be slow on large tables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CASE WHEN adds spreadsheet-like conditional logic to SQL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COALESCE returns first non-NULL value (useful for empty sums)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Subquery in WHERE: Products above average price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* FROM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WHERE price &gt; (SELECT AVG(price) FROM products);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Subquery with IN: Recent customer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* FROM orders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WHERE user_id IN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SELECT id FROM users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WHERE created_at &gt; NOW() - INTERVAL '30 days'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Subquery in FROM: Treat result as a table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* FROM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SELECT user_id, COUNT(*) AS cnt FROM orders GROUP BY user_id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) AS order_counts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WHERE cnt &gt; 5;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Correlated subquery: Row-by-row logic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u.email,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(SELECT COUNT(*) FROM orders o WHERE o.user_id = u.id) AS order_count,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(SELECT COALESCE(SUM(total), 0) FROM orders o WHERE o.user_id = u.id) AS total_spent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users u;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CASE WHEN: Conditional logic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name,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CASE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WHEN price &lt; 20 THEN 'Budget'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WHEN price &lt; 50 THEN 'Economy'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WHEN price &lt; 100 THEN 'Standard'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ELSE 'Premium'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END AS price_tier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products;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SALES REPORTS YOU CAN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DATE_TRUNC rounds timestamps to the specified precision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Combine JOINs, GROUP BY, and aggregates for real reports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Use COUNT(DISTINCT) to count unique items across groups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Filter completed orders only for revenue calculations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Limit results for top-N reports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These queries power real business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Monthly Revenue Report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DATE_TRUNC('month', created_at) AS month,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COUNT(*) AS orders,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SUM(total) AS revenue,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AVG(total) AS avg_order_value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WHERE status = 'completed'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GROUP BY month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ORDER BY month DESC;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Top 10 Customers by Lifetime Value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u.email,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COUNT(o.id) AS orders,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SUM(o.total) AS spent,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MAX(o.created_at) AS last_order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users u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JOIN orders o ON o.user_id = u.id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WHERE o.status = 'completed'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GROUP BY u.id, u.email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ORDER BY spent DESC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LIMIT 10;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Category Performance Report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c.name AS category,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SUM(oi.quantity) AS units_sold,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SUM(oi.total_price) AS revenue,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COUNT(DISTINCT o.id) AS orders_with_category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categories 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JOIN product_categories pc ON pc.category_id = c.id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JOIN order_items oi ON oi.product_id = pc.product_id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JOIN orders o ON o.id = oi.order_id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WHERE o.status = 'completed'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GROUP BY c.name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ORDER BY revenue DESC;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4: HANDS-ON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Generate a monthly revenue dashboard query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Identify your highest-value customers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Find dead stock (products with zero sales)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Calculate customer lifetime value (CLV)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Write a subquery to find above-average products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Use HAVING to filter high-volume customers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Create a pricing strategy report with CASE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1: Monthly revenue report for the last 12 months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2: Top 10 customers by total spend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3: Products that have never been ordered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4: Average order value by customer tier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5: Category revenue as percentage of total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6: Customer retention: who ordered in consecutive months?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7: Build a price tier report using CASE WHEN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505050"/>
                </a:solidFill>
                <a:latin typeface="Arial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MODERN POSTGRES POWER TOOLS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5: 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JSONB: Storing and querying flexible, unstructured data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JSONB operators: -&gt;, -&gt;&gt;, ?, @&gt;, #&gt;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GIN indexes for fast JSONB queries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Window functions: ROW_NUMBER, RANK, DENSE_RANK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LAG, LEAD, FIRST_VALUE, LAST_VALUE for time-series analysis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Running totals and moving averages with OVER()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Partitioning windows with PARTITION BY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Hands-on project: Build a customer ranking system with composite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505050"/>
                </a:solidFill>
                <a:latin typeface="Arial"/>
              </a:rPr>
              <a:t>Goal: By the end of Part 5, you will use advanced PostgreSQL features typically found only in data warehouses.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JSONB: FLEXIBLE DATA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JSONB stores binary JSON — more efficient than plain JSON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-&gt; returns JSON object; -&gt;&gt; returns text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? checks if a top-level key exists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@&gt; checks if JSONB contains a specific structure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|| merges two JSONB objects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- removes a key from JSONB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Use GIN indexes for fast JSONB containment queries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JSONB is perfect for product attributes that vary by 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Add JSONB column to existing table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ALTER TABLE products ADD COLUMN metadata JSONB DEFAULT '{}';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Insert structured data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UPDATE products SET metadata = '{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"brand": "AudioTech",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"warranty_months": 24,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"colors": ["black", "silver"],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"specs": {"weight_g": 250, "wireless": true}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}'::jsonb WHERE id = 1;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Query JSONB: extract text values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metadata-&gt;&gt;'brand' AS brand FROM products;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Check if key exists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* FROM products WHERE metadata ? 'brand';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Check if JSONB contains structure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* FROM products WHERE metadata @&gt; '{"wireless": true}';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Navigate nested objects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metadata-&gt;'specs'-&gt;&gt;'weight_g' AS weight FROM products;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Update specific JSONB field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UPDATE products SET metadata = metadata || '{"rating": 4.5}'::jsonb WHERE id = 1;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Remove a key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UPDATE products SET metadata = metadata - 'old_key' WHERE id = 1;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WINDOW FUNCTIONS: ANALYTICS WITHOUT LOSING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Window functions calculate across a set of rows related to the current row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OVER() defines the window; ORDER BY sorts within it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ROW_NUMBER always increments by 1; RANK skips ties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LAG/LEAD access adjacent rows without self-joins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Window functions do NOT collapse rows like GROUP BY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You can use multiple window functions in one query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Frame clauses control which rows are included: ROWS, RANGE,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ROW_NUMBER: Sequential numbering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name, price,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ROW_NUMBER() OVER (ORDER BY price DESC) AS rank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products;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RANK: Ranking with gaps for ties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name, price,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RANK() OVER (ORDER BY price DESC) AS rank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products;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DENSE_RANK: Ranking without gaps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name, price,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DENSE_RANK() OVER (ORDER BY price DESC) AS rank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products;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LAG: Access previous row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id, total,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LAG(total) OVER (ORDER BY created_at) AS prev_order_total,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total - LAG(total) OVER (ORDER BY created_at) AS difference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orders;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LEAD: Access next row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id, total,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   LEAD(total) OVER (ORDER BY created_at) AS next_order_total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FROM orders;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RUNNING TOTALS AND MOVING AVERAGES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SUM() OVER accumulates values in the window order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ROWS BETWEEN defines a sliding frame for moving averages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PARTITION BY calculates windows within groups independently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FIRST_VALUE and LAST_VALUE need explicit frame bounds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Window functions are computed after WHERE but before ORDER BY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Combine window functions with aggregates for powerful reports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These patterns replace complex self-joins and subqueries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Running total of revenue over time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DATE(created_at) AS day,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SUM(total) AS daily_revenue,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SUM(SUM(total)) OVER (ORDER BY DATE(created_at)) AS running_total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GROUP BY DATE(created_at)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ORDER BY day;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Moving average: 7-day rolling window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DATE(created_at) AS day,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AVG(total) OVER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ORDER BY DATE(created_at)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ROWS BETWEEN 6 PRECEDING AND CURRENT ROW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) AS seven_day_avg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orders;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PARTITION BY: Calculate per category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c.name AS category,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p.name AS product,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p.price,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AVG(p.price) OVER (PARTITION BY c.name) AS category_avg,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p.price - AVG(p.price) OVER (PARTITION BY c.name) AS diff_from_avg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products 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JOIN product_categories pc ON pc.product_id = p.id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JOIN categories c ON c.id = pc.category_id;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-- FIRST_VALUE and LAST_VALUE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user_id,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total,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FIRST_VALUE(total) OVER (PARTITION BY user_id ORDER BY created_at) AS first_order,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LAST_VALUE(total) OVER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PARTITION BY user_id ORDER BY created_at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ROWS BETWEEN UNBOUNDED PRECEDING AND UNBOUNDED FOLLOWING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) AS last_order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orders;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CUSTOMER RANKING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CTEs (WITH clause) break complex queries into readable steps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Composite scores weight multiple metrics into one number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NULLIF prevents division-by-zero errors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Window functions calculate across the entire result set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CASE WHEN assigns tiers based on business rules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RANK() creates a leaderboard without collapsing rows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This query could power a real customer loyalty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WITH customer_stats AS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u.id,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u.email,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COUNT(o.id) AS order_count,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COALESCE(SUM(o.total), 0) AS total_spent,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COALESCE(SUM(oi.quantity), 0) AS total_items,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MAX(o.created_at) AS last_order_date,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EXTRACT(DAY FROM NOW() - MAX(o.created_at)) AS days_since_order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FROM users u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LEFT JOIN orders o ON o.user_id = u.id AND o.status = 'completed'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LEFT JOIN order_items oi ON oi.order_id = o.id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GROUP BY u.id, u.email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ranked AS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*,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(total_spent / NULLIF(MAX(total_spent) OVER (), 0)) * 40 +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(order_count / NULLIF(MAX(order_count) OVER (), 0)) * 30 +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(total_items / NULLIF(MAX(total_items) OVER (), 0)) * 20 +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(1 - days_since_order / NULLIF(MAX(days_since_order) OVER (), 0)) * 10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AS composite_score,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CASE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WHEN total_spent &gt;= 1000 THEN 'Platinum'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WHEN total_spent &gt;= 500 THEN 'Gold'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WHEN total_spent &gt;= 100 THEN 'Silver'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ELSE 'Bronze'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END AS customer_tier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FROM customer_stats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SELECT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email,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customer_tier,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ROUND(composite_score::numeric, 2) AS score,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order_count,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total_spent,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RANK() OVER (ORDER BY composite_score DESC) AS overall_rank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FROM ranked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ORDER BY composite_score DESC;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5: HANDS-ON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Practice JSONB operators on real product data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Build window function queries for time-series analysis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Create a customer segmentation report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Compare ROW_NUMBER, RANK, and DENSE_RANK behavior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Use LAG to detect month-over-month changes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Experiment with different PARTITION BY columns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Measure the impact of GIN indexes on JSONB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1: Add JSONB metadata to 5 products and query by brand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2: Find all products with wireless=true in metadata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3: Rank products by price within each category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4: Calculate 30-day rolling average of daily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5: Build the customer ranking query with composite scores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6: Identify customers whose spending dropped vs. last month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7: Create a GIN index and compare query performance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505050"/>
                </a:solidFill>
                <a:latin typeface="Arial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4400" b="1">
                <a:solidFill>
                  <a:srgbClr val="000000"/>
                </a:solidFill>
                <a:latin typeface="Arial"/>
              </a:rPr>
              <a:t>PERFORMANCE, INDEXES &amp; TRANSACTIONS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6: 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Reading query execution plans with EXPLAIN ANALYZE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Identifying slow queries: Seq Scan vs Index Scan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Choosing the right index type: B-Tree, GIN, Composite, Partial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Understanding ACID transactions and isolation levels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Using BEGIN, COMMIT, ROLLBACK, and SAVEPOINT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Writing stored procedures with PL/pgSQL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Production readiness: backups, vacuum, monitoring, configuration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Arial"/>
              </a:rPr>
              <a:t>•  Hands-on project: Optimize the e-commerce schema and build a checkout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505050"/>
                </a:solidFill>
                <a:latin typeface="Arial"/>
              </a:rPr>
              <a:t>Goal: By the end of Part 6, you will deploy a production-ready database with optimized performance and bulletproof data integrity.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UNDERSTANDING QUERY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EXPLAIN ANALYZE runs the query and shows actual execution time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Seq Scan reads every row in the table — slow on large tables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Index Scan uses an index to find rows — much faster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Execution time &gt; 100ms usually needs optimization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Buffer usage shows cache hits vs expensive disk reads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Cost estimates help compare different query plans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Always verify optimizations with EXPLAIN ANALYZE before and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EXPLAIN ANALYZE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SELECT * FROM orders WHERE user_id = 'some-uuid';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Output to look for: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Seq Scan on orders  (cost=0.00..18406.00 rows=1 width=72)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                    (actual time=125.432..125.433 rows=1 loops=1)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Planning Time: 0.234 ms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Execution Time: 125.433 ms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After adding an index: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Index Scan using idx_orders_user_id on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                    (cost=0.42..8.44 rows=1 width=72)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                    (actual time=0.023..0.024 rows=1 loops=1)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Execution Time: 0.024 ms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When to add an index: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- Large tables (&gt; 100,000 rows)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- Columns used in WHERE clauses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- Foreign key columns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- Columns used in ORDER BY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CHOOSING THE RIGHT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B-Tree: Default index — best for equality and range queries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Composite: Multiple columns for multi-column WHERE clauses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Partial: Index a subset of rows to reduce size and improve speed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Unique: Enforce uniqueness at the database level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Expression: Index computed values like LOWER(email)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GIN: Best for JSONB, arrays, and full-text search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Always verify with EXPLAIN ANALYZE after creating indexes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B-Tree: Equality and range queries (default)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INDEX idx_orders_user_id ON orders(user_id);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Composite: Multiple columns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INDEX idx_orders_user_status ON orders(user_id, status);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Partial: Subset of rows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INDEX idx_orders_pending ON orders(user_id) WHERE status = 'pending';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Unique: Enforce uniqueness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UNIQUE INDEX idx_users_email ON users(email);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Expression: Computed values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INDEX idx_users_email_lower ON users(LOWER(email));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GIN: JSONB and arrays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INDEX idx_products_metadata ON products USING gin(metadata);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-- Covering index: Includes extra columns to avoid table lookups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>
                <a:solidFill>
                  <a:srgbClr val="282828"/>
                </a:solidFill>
                <a:latin typeface="Courier New"/>
              </a:rPr>
              <a:t>CREATE INDEX idx_orders_covering ON orders(user_id) INCLUDE (status, total);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TRANSACTIONS: ATOMIC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BEGIN starts a transaction block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All statements inside a transaction succeed or fail together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COMMIT permanently saves all changes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ROLLBACK discards all changes since BEGIN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SAVEPOINT creates a named point for partial rollback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ACID = Atomicity, Consistency, Isolation, Durability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Use transactions for multi-step operations like checkout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BEGIN: Start a transaction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BEGIN;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Commands inside transaction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UPDATE products SET stock = stock - 1 WHERE id = 1;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INSERT INTO order_items (order_id, product_id, quantity)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VALUES (1, 1, 1);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COMMIT: Save changes permanently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COMMIT;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ROLLBACK: Undo all changes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ROLLBACK;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SAVEPOINT: Partial rollback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BEGIN;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UPDATE products SET stock = stock - 1 WHERE id = 1;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SAVEPOINT before_payment;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INSERT INTO payments (order_id, amount) VALUES (1, 99.99);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Oops, payment failed!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ROLLBACK TO SAVEPOINT before_payment;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-- Stock update is preserved, payment is undone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282828"/>
                </a:solidFill>
                <a:latin typeface="Courier New"/>
              </a:rPr>
              <a:t>COMMIT;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COMPLETE CHECKOUT TRANSACTION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505050"/>
                </a:solidFill>
                <a:latin typeface="Arial"/>
              </a:rPr>
              <a:t>A production-grade stored procedure that processes an order with stock locking and rollback on failure.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CREATE OR REPLACE FUNCTION process_order(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p_user_id UUID,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p_items JSONB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RETURNS UUID AS $$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DECLARE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v_order_id UUID;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v_stock INTEGER;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item RECORD;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BEGIN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-- Start transaction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BEGIN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-- 1. Create order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INSERT INTO orders (user_id, status)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VALUES (p_user_id, 'pending')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RETURNING id INTO v_order_id;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-- 2. Process each item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FOR item IN SELECT * FROM jsonb_array_elements(p_items)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LOOP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-- Lock product row to prevent race conditions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SELECT stock INTO v_stock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FROM products WHERE id = (item-&gt;&gt;'product_id')::INTEGER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FOR UPDATE;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-- Check stock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IF v_stock &lt; (item-&gt;&gt;'quantity')::INTEGER THEN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    RAISE EXCEPTION 'Insufficient stock for product %', item-&gt;&gt;'product_id';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END IF;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-- Reduce stock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UPDATE products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SET stock = stock - (item-&gt;&gt;'quantity')::INTEGER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WHERE id = (item-&gt;&gt;'product_id')::INTEGER;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-- Add order item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INSERT INTO order_items (order_id, product_id, quantity, unit_price)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VALUES (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    v_order_id,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    (item-&gt;&gt;'product_id')::INTEGER,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    (item-&gt;&gt;'quantity')::INTEGER,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    (item-&gt;&gt;'unit_price')::NUMERIC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);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END LOOP;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-- 3. Update order total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UPDATE orders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SET total = (SELECT SUM(total_price) FROM order_items WHERE order_id = v_order_id),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status = 'completed'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WHERE id = v_order_id;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RETURN v_order_id;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EXCEPTION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WHEN OTHERS THEN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        RAISE;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    END;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END;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$$ LANGUAGE plpgsql;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PRODUCTION READINESS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Monitor table sizes and plan for growth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Check unused indexes with pg_stat_user_indexes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Identify missing indexes with pg_stat_statements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Monitor dead tuples and schedule regular VACUUM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Set shared_buffers to 25% of available RAM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Set work_mem to 16-64MB per connection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Limit max_connections to 200-500 depending on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Run regular pg_dump backups: pg_dump -d ecommerce &gt; backup.sql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Set up WAL archiving for point-in-time recovery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Test your restore process before you need it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Use pgAdmin for visual management and monitoring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Enable pg_stat_statements for query-level metrics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Consider Prometheus + Grafana for production dashboards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Set up connection pooling with PgBouncer for high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505050"/>
                </a:solidFill>
                <a:latin typeface="Arial"/>
              </a:rPr>
              <a:t>Critical rule: A backup you haven't tested is a backup you don't have.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PART 6: HANDS-ON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Run EXPLAIN ANALYZE on all major queries and document findings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Add indexes to foreign key columns and measure improvement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Create a composite index and compare query plans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Build the checkout stored procedure with stock locking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Simulate a stock shortage and verify rollback works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Set up a pg_dump backup schedule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Tune shared_buffers and work_mem for your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5486400" cy="47548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1: Run EXPLAIN ANALYZE on all report queries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2: Add B-Tree indexes to all foreign key columns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3: Create a partial index for pending orders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4: Build the process_order() function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5: Test the function with insufficient stock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6: Create a backup with pg_dump and verify it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ourier New"/>
              </a:rPr>
              <a:t>-- Task 7: Document your database's production readiness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FINAL DATABASE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505050"/>
                </a:solidFill>
                <a:latin typeface="Arial"/>
              </a:rPr>
              <a:t>Eight tables, fully normalized, with indexes, constraints, JSONB metadata, and transactional stored procedures.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              E-COMMERCE DATABASE                  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                                                   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┌──────────┐         ┌──────────┐         ┌──────────┐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 USERS   │1───────N│  ORDERS  │1───────N│ORDER_ITEMS│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│──────────│         │──────────│         │──────────│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UUID PK  │         │ UUID PK  │         │ UUID PK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Email    │         │ User_id  │         │ Order_id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Name     │         │ Status   │         │Product_id│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Password │         │ Total    │         │Quantity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Prefs(J) │         └──────────┘         │Price   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└──────────┘              │                └─────┬────┘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                     │                      │     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┌──────────┐              │                ┌─────▼────┐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 CARTS   │              │                │ PRODUCTS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│──────────│              │                │──────────│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UUID PK  │              │                │ INT PK 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User_id  │              │                │ Name   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Session  │              │                │ Price  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Expires  │              │                │ Stock  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└────┬─────┘              │                │ Metadata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│                    │                └─────┬────┘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│                    │                      │     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┌────▼─────┐         ┌────▼──────┐         ┌─────▼────┐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│CART_ITEMS│         │  PAYMENTS │         │CATEGORIES│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│──────────│         │───────────│         │──────────│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UUID PK  │         │ UUID PK   │         │ INT PK 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 Cart_id  │         │ Order_id  │         │ Name   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│Product_id│         │ Amount    │         │ Parent  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│Quantity  │         │ Status    │         └──────────┘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│Price     │         └───────────┘              │      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└──────────┘                              ┌─────▼──────┐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                                     │PROD_CATEGORY│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                                     │────────────│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                                     │ Product_id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                                     │Category_id │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│                                            └────────────┘   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282828"/>
                </a:solidFill>
                <a:latin typeface="Courier New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WHAT YOU HAVE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Installation and Setup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PostgreSQL installation on any platform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psql connection and configuration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SQL Fundamentals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CRUD Operations: INSERT, SELECT, UPDATE, DELETE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Filtering: WHERE, LIKE, IN, BETWEEN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Sorting: ORDER BY, LIMIT, OFFSET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Database Design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Data types and constraints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Primary and foreign keys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Normalization (1NF, 2NF, 3NF)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Relationships and Joins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One-to-Many, Many-to-Many, One-to-One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INNER JOIN, LEFT JOIN, RIGHT JOIN, FULL JOIN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Advanced Features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JSONB for flexible data storage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Window functions for analytics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Subqueries and CTEs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Performance and Production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EXPLAIN ANALYZE for query tuning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Indexing strategies (B-Tree, GIN, Composite)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Transactions and ACID compliance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Monitoring, backups, and maintenance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BEYOND THE SERIES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1. Backup Your Database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pg_dump -d ecommerce &gt; backup.sql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2. Set Up Monitoring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pgAdmin for visual management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pg_stat_statements for query monitoring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Prometheus + Grafana for production metrics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3. Build an API Layer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Node.js with node-postgres (pg)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Python with psycopg2 or asyncpg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Go with pgx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Ruby with the pg gem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4. Create a Frontend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React, Vue, or Angular connected to your API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5. Learn Advanced Topics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Replication and high availability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Sharding for horizontal scaling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Full-text search with tsvector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TimescaleDB for time-series data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   - PostGIS for geospatial data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CONTINUED LEARNING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Official Documentation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PostgreSQL Official Docs: postgresql.org/docs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psql Documentation: postgresql.org/docs/current/app-psql.html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Community Resources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PostgreSQL Weekly Newsletter: postgresweekly.com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Stack Overflow: stackoverflow.com/questions/tagged/postgresql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PostgreSQL Reddit: reddit.com/r/PostgreSQL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Performance Resources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Use The Index, Luke: use-the-index-luke.com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PostgreSQL Performance: pgconfig.org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EXPLAIN Visualizer: explain.depesz.com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Recommended Books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PostgreSQL: Up and Running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SQL Performance Explained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Designing Data-Intensive Applications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The Art of PostgreSQL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Tools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pgAdmin: GUI administration tool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DBeaver: Universal database client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psql: The command-line power tool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•    - pgcli: Enhanced psql with auto-completion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5400" b="1">
                <a:solidFill>
                  <a:srgbClr val="000000"/>
                </a:solidFill>
                <a:latin typeface="Arial"/>
              </a:rPr>
              <a:t>FROM ZERO TO SCHEMA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800" b="0">
                <a:solidFill>
                  <a:srgbClr val="505050"/>
                </a:solidFill>
                <a:latin typeface="Arial"/>
              </a:rPr>
              <a:t>You Have Built:</a:t>
            </a:r>
            <a:br/>
            <a:r>
              <a:t>A complete, production-ready e-commerce database</a:t>
            </a:r>
            <a:br/>
            <a:br/>
            <a:r>
              <a:t>You Can Now:</a:t>
            </a:r>
            <a:br/>
            <a:r>
              <a:t>Design schemas, write complex SQL, optimize performance,</a:t>
            </a:r>
            <a:br/>
            <a:r>
              <a:t>and deploy production-ready databases with confidence.</a:t>
            </a:r>
            <a:br/>
            <a:br/>
            <a:r>
              <a:t>Go Build Something Amazing!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