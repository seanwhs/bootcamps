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400" b="1">
                <a:solidFill>
                  <a:srgbClr val="1A1A1A"/>
                </a:solidFill>
                <a:latin typeface="Calibri"/>
              </a:defRPr>
            </a:pPr>
            <a:r>
              <a:t>Master SQLite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01752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666666"/>
                </a:solidFill>
                <a:latin typeface="Calibri"/>
              </a:defRPr>
            </a:pPr>
            <a:r>
              <a:t>From Fundamentals to Production Systems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30352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Calibri"/>
              </a:defRPr>
            </a:pPr>
            <a:r>
              <a:t>9–12 Days  ·  Lecture + Labs + Capstone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A1A1A"/>
                </a:solidFill>
                <a:latin typeface="Calibri"/>
              </a:defRPr>
            </a:pPr>
            <a:r>
              <a:t>Course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66666"/>
                </a:solidFill>
                <a:latin typeface="Calibri"/>
              </a:defRPr>
            </a:pPr>
            <a:r>
              <a:t>A complete journey from first query to production deployment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19456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19"/>
              </a:spcAft>
              <a:defRPr sz="1800">
                <a:solidFill>
                  <a:srgbClr val="666666"/>
                </a:solidFill>
                <a:latin typeface="Calibri"/>
              </a:defRPr>
            </a:pPr>
            <a:r>
              <a:t>•  Target Audience: Beginner to intermediate developers, data engineers, architects</a:t>
            </a:r>
          </a:p>
          <a:p>
            <a:pPr>
              <a:spcAft>
                <a:spcPts val="719"/>
              </a:spcAft>
              <a:defRPr sz="1800">
                <a:solidFill>
                  <a:srgbClr val="666666"/>
                </a:solidFill>
                <a:latin typeface="Calibri"/>
              </a:defRPr>
            </a:pPr>
            <a:r>
              <a:t>•  Format: Lecture + Live Demos + Hands-on Labs + Capstone Project</a:t>
            </a:r>
          </a:p>
          <a:p>
            <a:pPr>
              <a:spcAft>
                <a:spcPts val="719"/>
              </a:spcAft>
              <a:defRPr sz="1800">
                <a:solidFill>
                  <a:srgbClr val="666666"/>
                </a:solidFill>
                <a:latin typeface="Calibri"/>
              </a:defRPr>
            </a:pPr>
            <a:r>
              <a:t>•  Prerequisites: Basic programming, command line familiarity</a:t>
            </a:r>
          </a:p>
          <a:p>
            <a:pPr>
              <a:spcAft>
                <a:spcPts val="719"/>
              </a:spcAft>
              <a:defRPr sz="1800">
                <a:solidFill>
                  <a:srgbClr val="666666"/>
                </a:solidFill>
                <a:latin typeface="Calibri"/>
              </a:defRPr>
            </a:pPr>
            <a:r>
              <a:t>•  Outcome: Production-ready application + portfolio of real-world projects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A1A1A"/>
                </a:solidFill>
                <a:latin typeface="Calibri"/>
              </a:defRPr>
            </a:pPr>
            <a:r>
              <a:t>Why SQLite?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19"/>
              </a:spcAft>
              <a:defRPr sz="1800">
                <a:solidFill>
                  <a:srgbClr val="666666"/>
                </a:solidFill>
                <a:latin typeface="Calibri"/>
              </a:defRPr>
            </a:pPr>
            <a:r>
              <a:t>•  Serverless, self-contained, zero-configuration embedded RDBMS</a:t>
            </a:r>
          </a:p>
          <a:p>
            <a:pPr>
              <a:spcAft>
                <a:spcPts val="719"/>
              </a:spcAft>
              <a:defRPr sz="1800">
                <a:solidFill>
                  <a:srgbClr val="666666"/>
                </a:solidFill>
                <a:latin typeface="Calibri"/>
              </a:defRPr>
            </a:pPr>
            <a:r>
              <a:t>•  Most deployed database in the world — billions of devices</a:t>
            </a:r>
          </a:p>
          <a:p>
            <a:pPr>
              <a:spcAft>
                <a:spcPts val="719"/>
              </a:spcAft>
              <a:defRPr sz="1800">
                <a:solidFill>
                  <a:srgbClr val="666666"/>
                </a:solidFill>
                <a:latin typeface="Calibri"/>
              </a:defRPr>
            </a:pPr>
            <a:r>
              <a:t>•  ~600KB library, public domain, single ordinary file</a:t>
            </a:r>
          </a:p>
          <a:p>
            <a:pPr>
              <a:spcAft>
                <a:spcPts val="719"/>
              </a:spcAft>
              <a:defRPr sz="1800">
                <a:solidFill>
                  <a:srgbClr val="666666"/>
                </a:solidFill>
                <a:latin typeface="Calibri"/>
              </a:defRPr>
            </a:pPr>
            <a:r>
              <a:t>•  No network, no admin, no authentication overhead</a:t>
            </a:r>
          </a:p>
          <a:p>
            <a:pPr>
              <a:spcAft>
                <a:spcPts val="719"/>
              </a:spcAft>
              <a:defRPr sz="1800">
                <a:solidFill>
                  <a:srgbClr val="666666"/>
                </a:solidFill>
                <a:latin typeface="Calibri"/>
              </a:defRPr>
            </a:pPr>
            <a:r>
              <a:t>•  Ideal for mobile, desktop, IoT, edge computing, browsers</a:t>
            </a:r>
          </a:p>
          <a:p>
            <a:pPr>
              <a:spcAft>
                <a:spcPts val="719"/>
              </a:spcAft>
              <a:defRPr sz="1800">
                <a:solidFill>
                  <a:srgbClr val="666666"/>
                </a:solidFill>
                <a:latin typeface="Calibri"/>
              </a:defRPr>
            </a:pPr>
            <a:r>
              <a:t>•  Philosophy: Small. Fast. Reliable. Choose any three.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A1A1A"/>
                </a:solidFill>
                <a:latin typeface="Calibri"/>
              </a:defRPr>
            </a:pPr>
            <a:r>
              <a:t>SQLite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66666"/>
                </a:solidFill>
                <a:latin typeface="Calibri"/>
              </a:defRPr>
            </a:pPr>
            <a:r>
              <a:t>Parser → Code Generator → VDBE → B-Tree → Pager → OS Interface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10312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19"/>
              </a:spcAft>
              <a:defRPr sz="1800">
                <a:solidFill>
                  <a:srgbClr val="666666"/>
                </a:solidFill>
                <a:latin typeface="Calibri"/>
              </a:defRPr>
            </a:pPr>
            <a:r>
              <a:t>•  SQL Parser: Tokenizes and parses SQL into an Abstract Syntax Tree</a:t>
            </a:r>
          </a:p>
          <a:p>
            <a:pPr>
              <a:spcAft>
                <a:spcPts val="719"/>
              </a:spcAft>
              <a:defRPr sz="1800">
                <a:solidFill>
                  <a:srgbClr val="666666"/>
                </a:solidFill>
                <a:latin typeface="Calibri"/>
              </a:defRPr>
            </a:pPr>
            <a:r>
              <a:t>•  Code Generator: Transforms AST into VDBE bytecode instructions</a:t>
            </a:r>
          </a:p>
          <a:p>
            <a:pPr>
              <a:spcAft>
                <a:spcPts val="719"/>
              </a:spcAft>
              <a:defRPr sz="1800">
                <a:solidFill>
                  <a:srgbClr val="666666"/>
                </a:solidFill>
                <a:latin typeface="Calibri"/>
              </a:defRPr>
            </a:pPr>
            <a:r>
              <a:t>•  VDBE: Virtual Database Engine executes bytecode — the heart of SQLite</a:t>
            </a:r>
          </a:p>
          <a:p>
            <a:pPr>
              <a:spcAft>
                <a:spcPts val="719"/>
              </a:spcAft>
              <a:defRPr sz="1800">
                <a:solidFill>
                  <a:srgbClr val="666666"/>
                </a:solidFill>
                <a:latin typeface="Calibri"/>
              </a:defRPr>
            </a:pPr>
            <a:r>
              <a:t>•  B-Tree Engine: Balanced tree storage for O(log N) lookups</a:t>
            </a:r>
          </a:p>
          <a:p>
            <a:pPr>
              <a:spcAft>
                <a:spcPts val="719"/>
              </a:spcAft>
              <a:defRPr sz="1800">
                <a:solidFill>
                  <a:srgbClr val="666666"/>
                </a:solidFill>
                <a:latin typeface="Calibri"/>
              </a:defRPr>
            </a:pPr>
            <a:r>
              <a:t>•  Pager: Manages page caching, journaling, and crash recovery</a:t>
            </a:r>
          </a:p>
          <a:p>
            <a:pPr>
              <a:spcAft>
                <a:spcPts val="719"/>
              </a:spcAft>
              <a:defRPr sz="1800">
                <a:solidFill>
                  <a:srgbClr val="666666"/>
                </a:solidFill>
                <a:latin typeface="Calibri"/>
              </a:defRPr>
            </a:pPr>
            <a:r>
              <a:t>•  OS Interface: Platform-specific file I/O and locking primitives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A1A1A"/>
                </a:solidFill>
                <a:latin typeface="Calibri"/>
              </a:defRPr>
            </a:pPr>
            <a:r>
              <a:t>Data Types &amp; Storage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19"/>
              </a:spcAft>
              <a:defRPr sz="1800">
                <a:solidFill>
                  <a:srgbClr val="666666"/>
                </a:solidFill>
                <a:latin typeface="Calibri"/>
              </a:defRPr>
            </a:pPr>
            <a:r>
              <a:t>•  Dynamic typing: values have types, not columns</a:t>
            </a:r>
          </a:p>
          <a:p>
            <a:pPr>
              <a:spcAft>
                <a:spcPts val="719"/>
              </a:spcAft>
              <a:defRPr sz="1800">
                <a:solidFill>
                  <a:srgbClr val="666666"/>
                </a:solidFill>
                <a:latin typeface="Calibri"/>
              </a:defRPr>
            </a:pPr>
            <a:r>
              <a:t>•  Five storage classes: NULL, INTEGER, REAL, TEXT, BLOB</a:t>
            </a:r>
          </a:p>
          <a:p>
            <a:pPr>
              <a:spcAft>
                <a:spcPts val="719"/>
              </a:spcAft>
              <a:defRPr sz="1800">
                <a:solidFill>
                  <a:srgbClr val="666666"/>
                </a:solidFill>
                <a:latin typeface="Calibri"/>
              </a:defRPr>
            </a:pPr>
            <a:r>
              <a:t>•  Type affinity guides conversion: INT → INTEGER, CHAR → TEXT, BLOB → BLOB</a:t>
            </a:r>
          </a:p>
          <a:p>
            <a:pPr>
              <a:spcAft>
                <a:spcPts val="719"/>
              </a:spcAft>
              <a:defRPr sz="1800">
                <a:solidFill>
                  <a:srgbClr val="666666"/>
                </a:solidFill>
                <a:latin typeface="Calibri"/>
              </a:defRPr>
            </a:pPr>
            <a:r>
              <a:t>•  ROWID tables: implicit 64-bit integer primary key</a:t>
            </a:r>
          </a:p>
          <a:p>
            <a:pPr>
              <a:spcAft>
                <a:spcPts val="719"/>
              </a:spcAft>
              <a:defRPr sz="1800">
                <a:solidFill>
                  <a:srgbClr val="666666"/>
                </a:solidFill>
                <a:latin typeface="Calibri"/>
              </a:defRPr>
            </a:pPr>
            <a:r>
              <a:t>•  WITHOUT ROWID: primary key becomes B-Tree key, no extra index</a:t>
            </a:r>
          </a:p>
          <a:p>
            <a:pPr>
              <a:spcAft>
                <a:spcPts val="719"/>
              </a:spcAft>
              <a:defRPr sz="1800">
                <a:solidFill>
                  <a:srgbClr val="666666"/>
                </a:solidFill>
                <a:latin typeface="Calibri"/>
              </a:defRPr>
            </a:pPr>
            <a:r>
              <a:t>•  Date/Time: TEXT (ISO8601), INTEGER (Unix epoch), REAL (Julian day)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A1A1A"/>
                </a:solidFill>
                <a:latin typeface="Calibri"/>
              </a:defRPr>
            </a:pPr>
            <a:r>
              <a:t>SQL Essentials: CRUD Operations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19"/>
              </a:spcAft>
              <a:defRPr sz="1800">
                <a:solidFill>
                  <a:srgbClr val="666666"/>
                </a:solidFill>
                <a:latin typeface="Calibri"/>
              </a:defRPr>
            </a:pPr>
            <a:r>
              <a:t>•  INSERT: single row, multiple rows, INSERT ... SELECT</a:t>
            </a:r>
          </a:p>
          <a:p>
            <a:pPr>
              <a:spcAft>
                <a:spcPts val="719"/>
              </a:spcAft>
              <a:defRPr sz="1800">
                <a:solidFill>
                  <a:srgbClr val="666666"/>
                </a:solidFill>
                <a:latin typeface="Calibri"/>
              </a:defRPr>
            </a:pPr>
            <a:r>
              <a:t>•  SELECT: columns, aliases, DISTINCT, ORDER BY, LIMIT &amp; OFFSET</a:t>
            </a:r>
          </a:p>
          <a:p>
            <a:pPr>
              <a:spcAft>
                <a:spcPts val="719"/>
              </a:spcAft>
              <a:defRPr sz="1800">
                <a:solidFill>
                  <a:srgbClr val="666666"/>
                </a:solidFill>
                <a:latin typeface="Calibri"/>
              </a:defRPr>
            </a:pPr>
            <a:r>
              <a:t>•  UPDATE: set columns; always use WHERE</a:t>
            </a:r>
          </a:p>
          <a:p>
            <a:pPr>
              <a:spcAft>
                <a:spcPts val="719"/>
              </a:spcAft>
              <a:defRPr sz="1800">
                <a:solidFill>
                  <a:srgbClr val="666666"/>
                </a:solidFill>
                <a:latin typeface="Calibri"/>
              </a:defRPr>
            </a:pPr>
            <a:r>
              <a:t>•  DELETE: remove rows; always use WHERE</a:t>
            </a:r>
          </a:p>
          <a:p>
            <a:pPr>
              <a:spcAft>
                <a:spcPts val="719"/>
              </a:spcAft>
              <a:defRPr sz="1800">
                <a:solidFill>
                  <a:srgbClr val="666666"/>
                </a:solidFill>
                <a:latin typeface="Calibri"/>
              </a:defRPr>
            </a:pPr>
            <a:r>
              <a:t>•  Filtering: WHERE with =, &lt;&gt;, BETWEEN, IN, LIKE, GLOB, CASE</a:t>
            </a:r>
          </a:p>
          <a:p>
            <a:pPr>
              <a:spcAft>
                <a:spcPts val="719"/>
              </a:spcAft>
              <a:defRPr sz="1800">
                <a:solidFill>
                  <a:srgbClr val="666666"/>
                </a:solidFill>
                <a:latin typeface="Calibri"/>
              </a:defRPr>
            </a:pPr>
            <a:r>
              <a:t>•  NULL handling: IS NULL, IS NOT NULL, COALESCE()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A1A1A"/>
                </a:solidFill>
                <a:latin typeface="Calibri"/>
              </a:defRPr>
            </a:pPr>
            <a:r>
              <a:t>Joins &amp; Relationships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19"/>
              </a:spcAft>
              <a:defRPr sz="1800">
                <a:solidFill>
                  <a:srgbClr val="666666"/>
                </a:solidFill>
                <a:latin typeface="Calibri"/>
              </a:defRPr>
            </a:pPr>
            <a:r>
              <a:t>•  INNER JOIN: only matching rows from both tables</a:t>
            </a:r>
          </a:p>
          <a:p>
            <a:pPr>
              <a:spcAft>
                <a:spcPts val="719"/>
              </a:spcAft>
              <a:defRPr sz="1800">
                <a:solidFill>
                  <a:srgbClr val="666666"/>
                </a:solidFill>
                <a:latin typeface="Calibri"/>
              </a:defRPr>
            </a:pPr>
            <a:r>
              <a:t>•  LEFT JOIN: all left rows, NULL for non-matching right</a:t>
            </a:r>
          </a:p>
          <a:p>
            <a:pPr>
              <a:spcAft>
                <a:spcPts val="719"/>
              </a:spcAft>
              <a:defRPr sz="1800">
                <a:solidFill>
                  <a:srgbClr val="666666"/>
                </a:solidFill>
                <a:latin typeface="Calibri"/>
              </a:defRPr>
            </a:pPr>
            <a:r>
              <a:t>•  CROSS JOIN: Cartesian product of all combinations</a:t>
            </a:r>
          </a:p>
          <a:p>
            <a:pPr>
              <a:spcAft>
                <a:spcPts val="719"/>
              </a:spcAft>
              <a:defRPr sz="1800">
                <a:solidFill>
                  <a:srgbClr val="666666"/>
                </a:solidFill>
                <a:latin typeface="Calibri"/>
              </a:defRPr>
            </a:pPr>
            <a:r>
              <a:t>•  SELF JOIN: table joined to itself for hierarchical data</a:t>
            </a:r>
          </a:p>
          <a:p>
            <a:pPr>
              <a:spcAft>
                <a:spcPts val="719"/>
              </a:spcAft>
              <a:defRPr sz="1800">
                <a:solidFill>
                  <a:srgbClr val="666666"/>
                </a:solidFill>
                <a:latin typeface="Calibri"/>
              </a:defRPr>
            </a:pPr>
            <a:r>
              <a:t>•  Many-to-Many: junction table with composite primary key</a:t>
            </a:r>
          </a:p>
          <a:p>
            <a:pPr>
              <a:spcAft>
                <a:spcPts val="719"/>
              </a:spcAft>
              <a:defRPr sz="1800">
                <a:solidFill>
                  <a:srgbClr val="666666"/>
                </a:solidFill>
                <a:latin typeface="Calibri"/>
              </a:defRPr>
            </a:pPr>
            <a:r>
              <a:t>•  Always index foreign keys for join performance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A1A1A"/>
                </a:solidFill>
                <a:latin typeface="Calibri"/>
              </a:defRPr>
            </a:pPr>
            <a:r>
              <a:t>Aggregation &amp; Reporting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19"/>
              </a:spcAft>
              <a:defRPr sz="1800">
                <a:solidFill>
                  <a:srgbClr val="666666"/>
                </a:solidFill>
                <a:latin typeface="Calibri"/>
              </a:defRPr>
            </a:pPr>
            <a:r>
              <a:t>•  Aggregate functions: COUNT, SUM, AVG, MIN, MAX</a:t>
            </a:r>
          </a:p>
          <a:p>
            <a:pPr>
              <a:spcAft>
                <a:spcPts val="719"/>
              </a:spcAft>
              <a:defRPr sz="1800">
                <a:solidFill>
                  <a:srgbClr val="666666"/>
                </a:solidFill>
                <a:latin typeface="Calibri"/>
              </a:defRPr>
            </a:pPr>
            <a:r>
              <a:t>•  GROUP BY: group rows for aggregation; HAVING filters groups</a:t>
            </a:r>
          </a:p>
          <a:p>
            <a:pPr>
              <a:spcAft>
                <a:spcPts val="719"/>
              </a:spcAft>
              <a:defRPr sz="1800">
                <a:solidFill>
                  <a:srgbClr val="666666"/>
                </a:solidFill>
                <a:latin typeface="Calibri"/>
              </a:defRPr>
            </a:pPr>
            <a:r>
              <a:t>•  Common Table Expressions (CTEs): temporary result sets with WITH</a:t>
            </a:r>
          </a:p>
          <a:p>
            <a:pPr>
              <a:spcAft>
                <a:spcPts val="719"/>
              </a:spcAft>
              <a:defRPr sz="1800">
                <a:solidFill>
                  <a:srgbClr val="666666"/>
                </a:solidFill>
                <a:latin typeface="Calibri"/>
              </a:defRPr>
            </a:pPr>
            <a:r>
              <a:t>•  Recursive CTEs: traverse hierarchical data and graphs</a:t>
            </a:r>
          </a:p>
          <a:p>
            <a:pPr>
              <a:spcAft>
                <a:spcPts val="719"/>
              </a:spcAft>
              <a:defRPr sz="1800">
                <a:solidFill>
                  <a:srgbClr val="666666"/>
                </a:solidFill>
                <a:latin typeface="Calibri"/>
              </a:defRPr>
            </a:pPr>
            <a:r>
              <a:t>•  Window functions: ROW_NUMBER, RANK, DENSE_RANK, LAG, LEAD, SUM OVER</a:t>
            </a:r>
          </a:p>
          <a:p>
            <a:pPr>
              <a:spcAft>
                <a:spcPts val="719"/>
              </a:spcAft>
              <a:defRPr sz="1800">
                <a:solidFill>
                  <a:srgbClr val="666666"/>
                </a:solidFill>
                <a:latin typeface="Calibri"/>
              </a:defRPr>
            </a:pPr>
            <a:r>
              <a:t>•  PARTITION BY and ORDER BY define window frames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A1A1A"/>
                </a:solidFill>
                <a:latin typeface="Calibri"/>
              </a:defRPr>
            </a:pPr>
            <a:r>
              <a:t>Database Design &amp; Normalization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19"/>
              </a:spcAft>
              <a:defRPr sz="1800">
                <a:solidFill>
                  <a:srgbClr val="666666"/>
                </a:solidFill>
                <a:latin typeface="Calibri"/>
              </a:defRPr>
            </a:pPr>
            <a:r>
              <a:t>•  ER Modeling: entities, attributes, relationships, cardinalities</a:t>
            </a:r>
          </a:p>
          <a:p>
            <a:pPr>
              <a:spcAft>
                <a:spcPts val="719"/>
              </a:spcAft>
              <a:defRPr sz="1800">
                <a:solidFill>
                  <a:srgbClr val="666666"/>
                </a:solidFill>
                <a:latin typeface="Calibri"/>
              </a:defRPr>
            </a:pPr>
            <a:r>
              <a:t>•  1NF: atomic values, no repeating groups</a:t>
            </a:r>
          </a:p>
          <a:p>
            <a:pPr>
              <a:spcAft>
                <a:spcPts val="719"/>
              </a:spcAft>
              <a:defRPr sz="1800">
                <a:solidFill>
                  <a:srgbClr val="666666"/>
                </a:solidFill>
                <a:latin typeface="Calibri"/>
              </a:defRPr>
            </a:pPr>
            <a:r>
              <a:t>•  2NF: no partial dependencies on composite keys</a:t>
            </a:r>
          </a:p>
          <a:p>
            <a:pPr>
              <a:spcAft>
                <a:spcPts val="719"/>
              </a:spcAft>
              <a:defRPr sz="1800">
                <a:solidFill>
                  <a:srgbClr val="666666"/>
                </a:solidFill>
                <a:latin typeface="Calibri"/>
              </a:defRPr>
            </a:pPr>
            <a:r>
              <a:t>•  3NF: no transitive dependencies</a:t>
            </a:r>
          </a:p>
          <a:p>
            <a:pPr>
              <a:spcAft>
                <a:spcPts val="719"/>
              </a:spcAft>
              <a:defRPr sz="1800">
                <a:solidFill>
                  <a:srgbClr val="666666"/>
                </a:solidFill>
                <a:latin typeface="Calibri"/>
              </a:defRPr>
            </a:pPr>
            <a:r>
              <a:t>•  Denormalization: intentional redundancy for read performance</a:t>
            </a:r>
          </a:p>
          <a:p>
            <a:pPr>
              <a:spcAft>
                <a:spcPts val="719"/>
              </a:spcAft>
              <a:defRPr sz="1800">
                <a:solidFill>
                  <a:srgbClr val="666666"/>
                </a:solidFill>
                <a:latin typeface="Calibri"/>
              </a:defRPr>
            </a:pPr>
            <a:r>
              <a:t>•  Naming: plural tables, lowercase_underscore columns, consistent keys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A1A1A"/>
                </a:solidFill>
                <a:latin typeface="Calibri"/>
              </a:defRPr>
            </a:pPr>
            <a:r>
              <a:t>Indexing Strategy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19"/>
              </a:spcAft>
              <a:defRPr sz="1800">
                <a:solidFill>
                  <a:srgbClr val="666666"/>
                </a:solidFill>
                <a:latin typeface="Calibri"/>
              </a:defRPr>
            </a:pPr>
            <a:r>
              <a:t>•  B-Tree indexes: default type, O(log N) lookups vs O(N) scans</a:t>
            </a:r>
          </a:p>
          <a:p>
            <a:pPr>
              <a:spcAft>
                <a:spcPts val="719"/>
              </a:spcAft>
              <a:defRPr sz="1800">
                <a:solidFill>
                  <a:srgbClr val="666666"/>
                </a:solidFill>
                <a:latin typeface="Calibri"/>
              </a:defRPr>
            </a:pPr>
            <a:r>
              <a:t>•  Composite indexes: left-most prefix rule determines usage</a:t>
            </a:r>
          </a:p>
          <a:p>
            <a:pPr>
              <a:spcAft>
                <a:spcPts val="719"/>
              </a:spcAft>
              <a:defRPr sz="1800">
                <a:solidFill>
                  <a:srgbClr val="666666"/>
                </a:solidFill>
                <a:latin typeface="Calibri"/>
              </a:defRPr>
            </a:pPr>
            <a:r>
              <a:t>•  Unique indexes: enforce uniqueness and speed lookups</a:t>
            </a:r>
          </a:p>
          <a:p>
            <a:pPr>
              <a:spcAft>
                <a:spcPts val="719"/>
              </a:spcAft>
              <a:defRPr sz="1800">
                <a:solidFill>
                  <a:srgbClr val="666666"/>
                </a:solidFill>
                <a:latin typeface="Calibri"/>
              </a:defRPr>
            </a:pPr>
            <a:r>
              <a:t>•  Partial indexes: index subset of rows with WHERE clause</a:t>
            </a:r>
          </a:p>
          <a:p>
            <a:pPr>
              <a:spcAft>
                <a:spcPts val="719"/>
              </a:spcAft>
              <a:defRPr sz="1800">
                <a:solidFill>
                  <a:srgbClr val="666666"/>
                </a:solidFill>
                <a:latin typeface="Calibri"/>
              </a:defRPr>
            </a:pPr>
            <a:r>
              <a:t>•  Covering indexes: contain all columns needed by query (index-only scan)</a:t>
            </a:r>
          </a:p>
          <a:p>
            <a:pPr>
              <a:spcAft>
                <a:spcPts val="719"/>
              </a:spcAft>
              <a:defRPr sz="1800">
                <a:solidFill>
                  <a:srgbClr val="666666"/>
                </a:solidFill>
                <a:latin typeface="Calibri"/>
              </a:defRPr>
            </a:pPr>
            <a:r>
              <a:t>•  Expression indexes: index on function results like UPPER(name)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A1A1A"/>
                </a:solidFill>
                <a:latin typeface="Calibri"/>
              </a:defRPr>
            </a:pPr>
            <a:r>
              <a:t>Query Optimization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19"/>
              </a:spcAft>
              <a:defRPr sz="1800">
                <a:solidFill>
                  <a:srgbClr val="666666"/>
                </a:solidFill>
                <a:latin typeface="Calibri"/>
              </a:defRPr>
            </a:pPr>
            <a:r>
              <a:t>•  EXPLAIN QUERY PLAN: inspect execution strategy</a:t>
            </a:r>
          </a:p>
          <a:p>
            <a:pPr>
              <a:spcAft>
                <a:spcPts val="719"/>
              </a:spcAft>
              <a:defRPr sz="1800">
                <a:solidFill>
                  <a:srgbClr val="666666"/>
                </a:solidFill>
                <a:latin typeface="Calibri"/>
              </a:defRPr>
            </a:pPr>
            <a:r>
              <a:t>•  Scan types: SCAN (full table), SEARCH (index), COVERING INDEX</a:t>
            </a:r>
          </a:p>
          <a:p>
            <a:pPr>
              <a:spcAft>
                <a:spcPts val="719"/>
              </a:spcAft>
              <a:defRPr sz="1800">
                <a:solidFill>
                  <a:srgbClr val="666666"/>
                </a:solidFill>
                <a:latin typeface="Calibri"/>
              </a:defRPr>
            </a:pPr>
            <a:r>
              <a:t>•  ANALYZE: update statistics for cost-based planner decisions</a:t>
            </a:r>
          </a:p>
          <a:p>
            <a:pPr>
              <a:spcAft>
                <a:spcPts val="719"/>
              </a:spcAft>
              <a:defRPr sz="1800">
                <a:solidFill>
                  <a:srgbClr val="666666"/>
                </a:solidFill>
                <a:latin typeface="Calibri"/>
              </a:defRPr>
            </a:pPr>
            <a:r>
              <a:t>•  PRAGMA tuning: cache_size, mmap_size, temp_store = MEMORY</a:t>
            </a:r>
          </a:p>
          <a:p>
            <a:pPr>
              <a:spcAft>
                <a:spcPts val="719"/>
              </a:spcAft>
              <a:defRPr sz="1800">
                <a:solidFill>
                  <a:srgbClr val="666666"/>
                </a:solidFill>
                <a:latin typeface="Calibri"/>
              </a:defRPr>
            </a:pPr>
            <a:r>
              <a:t>•  Bulk loading: wrap in transactions; consider synchronous=OFF</a:t>
            </a:r>
          </a:p>
          <a:p>
            <a:pPr>
              <a:spcAft>
                <a:spcPts val="719"/>
              </a:spcAft>
              <a:defRPr sz="1800">
                <a:solidFill>
                  <a:srgbClr val="666666"/>
                </a:solidFill>
                <a:latin typeface="Calibri"/>
              </a:defRPr>
            </a:pPr>
            <a:r>
              <a:t>•  VACUUM: defragment and reclaim space; auto_vacuum for automation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A1A1A"/>
                </a:solidFill>
                <a:latin typeface="Calibri"/>
              </a:defRPr>
            </a:pPr>
            <a:r>
              <a:t>Transactions &amp; Concurrency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19"/>
              </a:spcAft>
              <a:defRPr sz="1800">
                <a:solidFill>
                  <a:srgbClr val="666666"/>
                </a:solidFill>
                <a:latin typeface="Calibri"/>
              </a:defRPr>
            </a:pPr>
            <a:r>
              <a:t>•  ACID properties: Atomicity, Consistency, Isolation, Durability</a:t>
            </a:r>
          </a:p>
          <a:p>
            <a:pPr>
              <a:spcAft>
                <a:spcPts val="719"/>
              </a:spcAft>
              <a:defRPr sz="1800">
                <a:solidFill>
                  <a:srgbClr val="666666"/>
                </a:solidFill>
                <a:latin typeface="Calibri"/>
              </a:defRPr>
            </a:pPr>
            <a:r>
              <a:t>•  BEGIN / COMMIT / ROLLBACK / SAVEPOINT for fine-grained control</a:t>
            </a:r>
          </a:p>
          <a:p>
            <a:pPr>
              <a:spcAft>
                <a:spcPts val="719"/>
              </a:spcAft>
              <a:defRPr sz="1800">
                <a:solidFill>
                  <a:srgbClr val="666666"/>
                </a:solidFill>
                <a:latin typeface="Calibri"/>
              </a:defRPr>
            </a:pPr>
            <a:r>
              <a:t>•  Rollback Journal: default mode, writes original pages before change</a:t>
            </a:r>
          </a:p>
          <a:p>
            <a:pPr>
              <a:spcAft>
                <a:spcPts val="719"/>
              </a:spcAft>
              <a:defRPr sz="1800">
                <a:solidFill>
                  <a:srgbClr val="666666"/>
                </a:solidFill>
                <a:latin typeface="Calibri"/>
              </a:defRPr>
            </a:pPr>
            <a:r>
              <a:t>•  WAL Mode: append-only log; readers don't block writers</a:t>
            </a:r>
          </a:p>
          <a:p>
            <a:pPr>
              <a:spcAft>
                <a:spcPts val="719"/>
              </a:spcAft>
              <a:defRPr sz="1800">
                <a:solidFill>
                  <a:srgbClr val="666666"/>
                </a:solidFill>
                <a:latin typeface="Calibri"/>
              </a:defRPr>
            </a:pPr>
            <a:r>
              <a:t>•  Checkpoints: transfer WAL frames to main database (auto or manual)</a:t>
            </a:r>
          </a:p>
          <a:p>
            <a:pPr>
              <a:spcAft>
                <a:spcPts val="719"/>
              </a:spcAft>
              <a:defRPr sz="1800">
                <a:solidFill>
                  <a:srgbClr val="666666"/>
                </a:solidFill>
                <a:latin typeface="Calibri"/>
              </a:defRPr>
            </a:pPr>
            <a:r>
              <a:t>•  busy_timeout: handle SQLITE_BUSY gracefully with retry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A1A1A"/>
                </a:solidFill>
                <a:latin typeface="Calibri"/>
              </a:defRPr>
            </a:pPr>
            <a:r>
              <a:t>Advanced Features: JSON &amp; FTS5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19"/>
              </a:spcAft>
              <a:defRPr sz="1800">
                <a:solidFill>
                  <a:srgbClr val="666666"/>
                </a:solidFill>
                <a:latin typeface="Calibri"/>
              </a:defRPr>
            </a:pPr>
            <a:r>
              <a:t>•  JSON1 Extension: store, query, and index JSON documents</a:t>
            </a:r>
          </a:p>
          <a:p>
            <a:pPr>
              <a:spcAft>
                <a:spcPts val="719"/>
              </a:spcAft>
              <a:defRPr sz="1800">
                <a:solidFill>
                  <a:srgbClr val="666666"/>
                </a:solidFill>
                <a:latin typeface="Calibri"/>
              </a:defRPr>
            </a:pPr>
            <a:r>
              <a:t>•  Extraction: json_extract(), -&gt;, -&gt;&gt; operators</a:t>
            </a:r>
          </a:p>
          <a:p>
            <a:pPr>
              <a:spcAft>
                <a:spcPts val="719"/>
              </a:spcAft>
              <a:defRPr sz="1800">
                <a:solidFill>
                  <a:srgbClr val="666666"/>
                </a:solidFill>
                <a:latin typeface="Calibri"/>
              </a:defRPr>
            </a:pPr>
            <a:r>
              <a:t>•  Modification: json_set(), json_insert(), json_replace(), json_remove()</a:t>
            </a:r>
          </a:p>
          <a:p>
            <a:pPr>
              <a:spcAft>
                <a:spcPts val="719"/>
              </a:spcAft>
              <a:defRPr sz="1800">
                <a:solidFill>
                  <a:srgbClr val="666666"/>
                </a:solidFill>
                <a:latin typeface="Calibri"/>
              </a:defRPr>
            </a:pPr>
            <a:r>
              <a:t>•  FTS5: virtual table for full-text search with inverted index</a:t>
            </a:r>
          </a:p>
          <a:p>
            <a:pPr>
              <a:spcAft>
                <a:spcPts val="719"/>
              </a:spcAft>
              <a:defRPr sz="1800">
                <a:solidFill>
                  <a:srgbClr val="666666"/>
                </a:solidFill>
                <a:latin typeface="Calibri"/>
              </a:defRPr>
            </a:pPr>
            <a:r>
              <a:t>•  MATCH queries, bm25() ranking, snippet() highlighting</a:t>
            </a:r>
          </a:p>
          <a:p>
            <a:pPr>
              <a:spcAft>
                <a:spcPts val="719"/>
              </a:spcAft>
              <a:defRPr sz="1800">
                <a:solidFill>
                  <a:srgbClr val="666666"/>
                </a:solidFill>
                <a:latin typeface="Calibri"/>
              </a:defRPr>
            </a:pPr>
            <a:r>
              <a:t>•  Hybrid models: combine relational structure with JSON flexibility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A1A1A"/>
                </a:solidFill>
                <a:latin typeface="Calibri"/>
              </a:defRPr>
            </a:pPr>
            <a:r>
              <a:t>Triggers &amp; Views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19"/>
              </a:spcAft>
              <a:defRPr sz="1800">
                <a:solidFill>
                  <a:srgbClr val="666666"/>
                </a:solidFill>
                <a:latin typeface="Calibri"/>
              </a:defRPr>
            </a:pPr>
            <a:r>
              <a:t>•  Triggers: automated actions on INSERT, UPDATE, DELETE</a:t>
            </a:r>
          </a:p>
          <a:p>
            <a:pPr>
              <a:spcAft>
                <a:spcPts val="719"/>
              </a:spcAft>
              <a:defRPr sz="1800">
                <a:solidFill>
                  <a:srgbClr val="666666"/>
                </a:solidFill>
                <a:latin typeface="Calibri"/>
              </a:defRPr>
            </a:pPr>
            <a:r>
              <a:t>•  BEFORE / AFTER / INSTEAD OF timing; access OLD and NEW rows</a:t>
            </a:r>
          </a:p>
          <a:p>
            <a:pPr>
              <a:spcAft>
                <a:spcPts val="719"/>
              </a:spcAft>
              <a:defRPr sz="1800">
                <a:solidFill>
                  <a:srgbClr val="666666"/>
                </a:solidFill>
                <a:latin typeface="Calibri"/>
              </a:defRPr>
            </a:pPr>
            <a:r>
              <a:t>•  Audit logging: track every change automatically</a:t>
            </a:r>
          </a:p>
          <a:p>
            <a:pPr>
              <a:spcAft>
                <a:spcPts val="719"/>
              </a:spcAft>
              <a:defRPr sz="1800">
                <a:solidFill>
                  <a:srgbClr val="666666"/>
                </a:solidFill>
                <a:latin typeface="Calibri"/>
              </a:defRPr>
            </a:pPr>
            <a:r>
              <a:t>•  Soft deletes: mark as deleted instead of removing data</a:t>
            </a:r>
          </a:p>
          <a:p>
            <a:pPr>
              <a:spcAft>
                <a:spcPts val="719"/>
              </a:spcAft>
              <a:defRPr sz="1800">
                <a:solidFill>
                  <a:srgbClr val="666666"/>
                </a:solidFill>
                <a:latin typeface="Calibri"/>
              </a:defRPr>
            </a:pPr>
            <a:r>
              <a:t>•  Views: saved queries acting like tables; simplify complex logic</a:t>
            </a:r>
          </a:p>
          <a:p>
            <a:pPr>
              <a:spcAft>
                <a:spcPts val="719"/>
              </a:spcAft>
              <a:defRPr sz="1800">
                <a:solidFill>
                  <a:srgbClr val="666666"/>
                </a:solidFill>
                <a:latin typeface="Calibri"/>
              </a:defRPr>
            </a:pPr>
            <a:r>
              <a:t>•  Materialized views: emulate with tables + triggers for caching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A1A1A"/>
                </a:solidFill>
                <a:latin typeface="Calibri"/>
              </a:defRPr>
            </a:pPr>
            <a:r>
              <a:t>Programming: Python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19"/>
              </a:spcAft>
              <a:defRPr sz="1800">
                <a:solidFill>
                  <a:srgbClr val="666666"/>
                </a:solidFill>
                <a:latin typeface="Calibri"/>
              </a:defRPr>
            </a:pPr>
            <a:r>
              <a:t>•  sqlite3 module: standard library, DB-API 2.0 compliant</a:t>
            </a:r>
          </a:p>
          <a:p>
            <a:pPr>
              <a:spcAft>
                <a:spcPts val="719"/>
              </a:spcAft>
              <a:defRPr sz="1800">
                <a:solidFill>
                  <a:srgbClr val="666666"/>
                </a:solidFill>
                <a:latin typeface="Calibri"/>
              </a:defRPr>
            </a:pPr>
            <a:r>
              <a:t>•  Parameterized queries with ? placeholders — prevent SQL injection</a:t>
            </a:r>
          </a:p>
          <a:p>
            <a:pPr>
              <a:spcAft>
                <a:spcPts val="719"/>
              </a:spcAft>
              <a:defRPr sz="1800">
                <a:solidFill>
                  <a:srgbClr val="666666"/>
                </a:solidFill>
                <a:latin typeface="Calibri"/>
              </a:defRPr>
            </a:pPr>
            <a:r>
              <a:t>•  Row factories: sqlite3.Row and custom dict factories</a:t>
            </a:r>
          </a:p>
          <a:p>
            <a:pPr>
              <a:spcAft>
                <a:spcPts val="719"/>
              </a:spcAft>
              <a:defRPr sz="1800">
                <a:solidFill>
                  <a:srgbClr val="666666"/>
                </a:solidFill>
                <a:latin typeface="Calibri"/>
              </a:defRPr>
            </a:pPr>
            <a:r>
              <a:t>•  User-defined functions and aggregates via create_function()</a:t>
            </a:r>
          </a:p>
          <a:p>
            <a:pPr>
              <a:spcAft>
                <a:spcPts val="719"/>
              </a:spcAft>
              <a:defRPr sz="1800">
                <a:solidFill>
                  <a:srgbClr val="666666"/>
                </a:solidFill>
                <a:latin typeface="Calibri"/>
              </a:defRPr>
            </a:pPr>
            <a:r>
              <a:t>•  Context managers for automatic transaction handling</a:t>
            </a:r>
          </a:p>
          <a:p>
            <a:pPr>
              <a:spcAft>
                <a:spcPts val="719"/>
              </a:spcAft>
              <a:defRPr sz="1800">
                <a:solidFill>
                  <a:srgbClr val="666666"/>
                </a:solidFill>
                <a:latin typeface="Calibri"/>
              </a:defRPr>
            </a:pPr>
            <a:r>
              <a:t>•  aiosqlite: async/await support for non-blocking I/O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A1A1A"/>
                </a:solidFill>
                <a:latin typeface="Calibri"/>
              </a:defRPr>
            </a:pPr>
            <a:r>
              <a:t>Web &amp; Mobile Development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19"/>
              </a:spcAft>
              <a:defRPr sz="1800">
                <a:solidFill>
                  <a:srgbClr val="666666"/>
                </a:solidFill>
                <a:latin typeface="Calibri"/>
              </a:defRPr>
            </a:pPr>
            <a:r>
              <a:t>•  Flask: connection per request with teardown_appcontext</a:t>
            </a:r>
          </a:p>
          <a:p>
            <a:pPr>
              <a:spcAft>
                <a:spcPts val="719"/>
              </a:spcAft>
              <a:defRPr sz="1800">
                <a:solidFill>
                  <a:srgbClr val="666666"/>
                </a:solidFill>
                <a:latin typeface="Calibri"/>
              </a:defRPr>
            </a:pPr>
            <a:r>
              <a:t>•  FastAPI: aiosqlite for fully async endpoints</a:t>
            </a:r>
          </a:p>
          <a:p>
            <a:pPr>
              <a:spcAft>
                <a:spcPts val="719"/>
              </a:spcAft>
              <a:defRPr sz="1800">
                <a:solidFill>
                  <a:srgbClr val="666666"/>
                </a:solidFill>
                <a:latin typeface="Calibri"/>
              </a:defRPr>
            </a:pPr>
            <a:r>
              <a:t>•  Django: default ORM with migrations and model abstraction</a:t>
            </a:r>
          </a:p>
          <a:p>
            <a:pPr>
              <a:spcAft>
                <a:spcPts val="719"/>
              </a:spcAft>
              <a:defRPr sz="1800">
                <a:solidFill>
                  <a:srgbClr val="666666"/>
                </a:solidFill>
                <a:latin typeface="Calibri"/>
              </a:defRPr>
            </a:pPr>
            <a:r>
              <a:t>•  Repository Pattern: decouple business logic from database layer</a:t>
            </a:r>
          </a:p>
          <a:p>
            <a:pPr>
              <a:spcAft>
                <a:spcPts val="719"/>
              </a:spcAft>
              <a:defRPr sz="1800">
                <a:solidFill>
                  <a:srgbClr val="666666"/>
                </a:solidFill>
                <a:latin typeface="Calibri"/>
              </a:defRPr>
            </a:pPr>
            <a:r>
              <a:t>•  Testing: :memory: databases for fast, isolated unit tests</a:t>
            </a:r>
          </a:p>
          <a:p>
            <a:pPr>
              <a:spcAft>
                <a:spcPts val="719"/>
              </a:spcAft>
              <a:defRPr sz="1800">
                <a:solidFill>
                  <a:srgbClr val="666666"/>
                </a:solidFill>
                <a:latin typeface="Calibri"/>
              </a:defRPr>
            </a:pPr>
            <a:r>
              <a:t>•  Mobile: Android Room, React Native expo-sqlite, Flutter sqflite/Drift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A1A1A"/>
                </a:solidFill>
                <a:latin typeface="Calibri"/>
              </a:defRPr>
            </a:pPr>
            <a:r>
              <a:t>Security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19"/>
              </a:spcAft>
              <a:defRPr sz="1800">
                <a:solidFill>
                  <a:srgbClr val="666666"/>
                </a:solidFill>
                <a:latin typeface="Calibri"/>
              </a:defRPr>
            </a:pPr>
            <a:r>
              <a:t>•  SQL Injection: #1 threat; always use parameterized queries</a:t>
            </a:r>
          </a:p>
          <a:p>
            <a:pPr>
              <a:spcAft>
                <a:spcPts val="719"/>
              </a:spcAft>
              <a:defRPr sz="1800">
                <a:solidFill>
                  <a:srgbClr val="666666"/>
                </a:solidFill>
                <a:latin typeface="Calibri"/>
              </a:defRPr>
            </a:pPr>
            <a:r>
              <a:t>•  File Permissions: chmod 600 to restrict database file access</a:t>
            </a:r>
          </a:p>
          <a:p>
            <a:pPr>
              <a:spcAft>
                <a:spcPts val="719"/>
              </a:spcAft>
              <a:defRPr sz="1800">
                <a:solidFill>
                  <a:srgbClr val="666666"/>
                </a:solidFill>
                <a:latin typeface="Calibri"/>
              </a:defRPr>
            </a:pPr>
            <a:r>
              <a:t>•  SQLCipher: transparent AES-256 encryption for data at rest</a:t>
            </a:r>
          </a:p>
          <a:p>
            <a:pPr>
              <a:spcAft>
                <a:spcPts val="719"/>
              </a:spcAft>
              <a:defRPr sz="1800">
                <a:solidFill>
                  <a:srgbClr val="666666"/>
                </a:solidFill>
                <a:latin typeface="Calibri"/>
              </a:defRPr>
            </a:pPr>
            <a:r>
              <a:t>•  Key Management: environment variables, secrets managers</a:t>
            </a:r>
          </a:p>
          <a:p>
            <a:pPr>
              <a:spcAft>
                <a:spcPts val="719"/>
              </a:spcAft>
              <a:defRPr sz="1800">
                <a:solidFill>
                  <a:srgbClr val="666666"/>
                </a:solidFill>
                <a:latin typeface="Calibri"/>
              </a:defRPr>
            </a:pPr>
            <a:r>
              <a:t>•  PRAGMA secure_delete: overwrite deleted data on disk</a:t>
            </a:r>
          </a:p>
          <a:p>
            <a:pPr>
              <a:spcAft>
                <a:spcPts val="719"/>
              </a:spcAft>
              <a:defRPr sz="1800">
                <a:solidFill>
                  <a:srgbClr val="666666"/>
                </a:solidFill>
                <a:latin typeface="Calibri"/>
              </a:defRPr>
            </a:pPr>
            <a:r>
              <a:t>•  Column-level encryption: encrypt sensitive fields in application layer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A1A1A"/>
                </a:solidFill>
                <a:latin typeface="Calibri"/>
              </a:defRPr>
            </a:pPr>
            <a:r>
              <a:t>Backup &amp; Maintenance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19"/>
              </a:spcAft>
              <a:defRPr sz="1800">
                <a:solidFill>
                  <a:srgbClr val="666666"/>
                </a:solidFill>
                <a:latin typeface="Calibri"/>
              </a:defRPr>
            </a:pPr>
            <a:r>
              <a:t>•  Online Backup API: hot backup while database is in use</a:t>
            </a:r>
          </a:p>
          <a:p>
            <a:pPr>
              <a:spcAft>
                <a:spcPts val="719"/>
              </a:spcAft>
              <a:defRPr sz="1800">
                <a:solidFill>
                  <a:srgbClr val="666666"/>
                </a:solidFill>
                <a:latin typeface="Calibri"/>
              </a:defRPr>
            </a:pPr>
            <a:r>
              <a:t>•  Python backup: src.backup(dst) for programmatic copies</a:t>
            </a:r>
          </a:p>
          <a:p>
            <a:pPr>
              <a:spcAft>
                <a:spcPts val="719"/>
              </a:spcAft>
              <a:defRPr sz="1800">
                <a:solidFill>
                  <a:srgbClr val="666666"/>
                </a:solidFill>
                <a:latin typeface="Calibri"/>
              </a:defRPr>
            </a:pPr>
            <a:r>
              <a:t>•  WAL snapshots: copy file after checkpoint for consistency</a:t>
            </a:r>
          </a:p>
          <a:p>
            <a:pPr>
              <a:spcAft>
                <a:spcPts val="719"/>
              </a:spcAft>
              <a:defRPr sz="1800">
                <a:solidFill>
                  <a:srgbClr val="666666"/>
                </a:solidFill>
                <a:latin typeface="Calibri"/>
              </a:defRPr>
            </a:pPr>
            <a:r>
              <a:t>•  Incremental: WAL archiving enables point-in-time recovery</a:t>
            </a:r>
          </a:p>
          <a:p>
            <a:pPr>
              <a:spcAft>
                <a:spcPts val="719"/>
              </a:spcAft>
              <a:defRPr sz="1800">
                <a:solidFill>
                  <a:srgbClr val="666666"/>
                </a:solidFill>
                <a:latin typeface="Calibri"/>
              </a:defRPr>
            </a:pPr>
            <a:r>
              <a:t>•  Scheduled maintenance: daily backup, weekly ANALYZE, monthly VACUUM</a:t>
            </a:r>
          </a:p>
          <a:p>
            <a:pPr>
              <a:spcAft>
                <a:spcPts val="719"/>
              </a:spcAft>
              <a:defRPr sz="1800">
                <a:solidFill>
                  <a:srgbClr val="666666"/>
                </a:solidFill>
                <a:latin typeface="Calibri"/>
              </a:defRPr>
            </a:pPr>
            <a:r>
              <a:t>•  Integrity checks: PRAGMA integrity_check and foreign_key_check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A1A1A"/>
                </a:solidFill>
                <a:latin typeface="Calibri"/>
              </a:defRPr>
            </a:pPr>
            <a:r>
              <a:t>Production Best Practices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19"/>
              </a:spcAft>
              <a:defRPr sz="1800">
                <a:solidFill>
                  <a:srgbClr val="666666"/>
                </a:solidFill>
                <a:latin typeface="Calibri"/>
              </a:defRPr>
            </a:pPr>
            <a:r>
              <a:t>•  Schema migrations: version control with Alembic or Django migrations</a:t>
            </a:r>
          </a:p>
          <a:p>
            <a:pPr>
              <a:spcAft>
                <a:spcPts val="719"/>
              </a:spcAft>
              <a:defRPr sz="1800">
                <a:solidFill>
                  <a:srgbClr val="666666"/>
                </a:solidFill>
                <a:latin typeface="Calibri"/>
              </a:defRPr>
            </a:pPr>
            <a:r>
              <a:t>•  Logging: slow query logging and structured error logging</a:t>
            </a:r>
          </a:p>
          <a:p>
            <a:pPr>
              <a:spcAft>
                <a:spcPts val="719"/>
              </a:spcAft>
              <a:defRPr sz="1800">
                <a:solidFill>
                  <a:srgbClr val="666666"/>
                </a:solidFill>
                <a:latin typeface="Calibri"/>
              </a:defRPr>
            </a:pPr>
            <a:r>
              <a:t>•  Monitoring: database size, WAL growth, lock contention</a:t>
            </a:r>
          </a:p>
          <a:p>
            <a:pPr>
              <a:spcAft>
                <a:spcPts val="719"/>
              </a:spcAft>
              <a:defRPr sz="1800">
                <a:solidFill>
                  <a:srgbClr val="666666"/>
                </a:solidFill>
                <a:latin typeface="Calibri"/>
              </a:defRPr>
            </a:pPr>
            <a:r>
              <a:t>•  Error handling: retry logic with exponential backoff for SQLITE_BUSY</a:t>
            </a:r>
          </a:p>
          <a:p>
            <a:pPr>
              <a:spcAft>
                <a:spcPts val="719"/>
              </a:spcAft>
              <a:defRPr sz="1800">
                <a:solidFill>
                  <a:srgbClr val="666666"/>
                </a:solidFill>
                <a:latin typeface="Calibri"/>
              </a:defRPr>
            </a:pPr>
            <a:r>
              <a:t>•  Observability: metrics, tracing, and profiling in production</a:t>
            </a:r>
          </a:p>
          <a:p>
            <a:pPr>
              <a:spcAft>
                <a:spcPts val="719"/>
              </a:spcAft>
              <a:defRPr sz="1800">
                <a:solidFill>
                  <a:srgbClr val="666666"/>
                </a:solidFill>
                <a:latin typeface="Calibri"/>
              </a:defRPr>
            </a:pPr>
            <a:r>
              <a:t>•  Deployment: Docker with persistent volumes; PyInstaller for desktop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A1A1A"/>
                </a:solidFill>
                <a:latin typeface="Calibri"/>
              </a:defRPr>
            </a:pPr>
            <a:r>
              <a:t>Capstone: Task Management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19"/>
              </a:spcAft>
              <a:defRPr sz="1800">
                <a:solidFill>
                  <a:srgbClr val="666666"/>
                </a:solidFill>
                <a:latin typeface="Calibri"/>
              </a:defRPr>
            </a:pPr>
            <a:r>
              <a:t>•  Full-stack application with FastAPI backend and SQLite</a:t>
            </a:r>
          </a:p>
          <a:p>
            <a:pPr>
              <a:spcAft>
                <a:spcPts val="719"/>
              </a:spcAft>
              <a:defRPr sz="1800">
                <a:solidFill>
                  <a:srgbClr val="666666"/>
                </a:solidFill>
                <a:latin typeface="Calibri"/>
              </a:defRPr>
            </a:pPr>
            <a:r>
              <a:t>•  Complete schema: users, projects, tasks, subtasks, tags, comments</a:t>
            </a:r>
          </a:p>
          <a:p>
            <a:pPr>
              <a:spcAft>
                <a:spcPts val="719"/>
              </a:spcAft>
              <a:defRPr sz="1800">
                <a:solidFill>
                  <a:srgbClr val="666666"/>
                </a:solidFill>
                <a:latin typeface="Calibri"/>
              </a:defRPr>
            </a:pPr>
            <a:r>
              <a:t>•  Advanced SQL: CTEs, window functions, FTS5 search, JSON metadata</a:t>
            </a:r>
          </a:p>
          <a:p>
            <a:pPr>
              <a:spcAft>
                <a:spcPts val="719"/>
              </a:spcAft>
              <a:defRPr sz="1800">
                <a:solidFill>
                  <a:srgbClr val="666666"/>
                </a:solidFill>
                <a:latin typeface="Calibri"/>
              </a:defRPr>
            </a:pPr>
            <a:r>
              <a:t>•  Security: SQLCipher encryption, JWT authentication</a:t>
            </a:r>
          </a:p>
          <a:p>
            <a:pPr>
              <a:spcAft>
                <a:spcPts val="719"/>
              </a:spcAft>
              <a:defRPr sz="1800">
                <a:solidFill>
                  <a:srgbClr val="666666"/>
                </a:solidFill>
                <a:latin typeface="Calibri"/>
              </a:defRPr>
            </a:pPr>
            <a:r>
              <a:t>•  Operations: automated backups, integrity checks, VACUUM</a:t>
            </a:r>
          </a:p>
          <a:p>
            <a:pPr>
              <a:spcAft>
                <a:spcPts val="719"/>
              </a:spcAft>
              <a:defRPr sz="1800">
                <a:solidFill>
                  <a:srgbClr val="666666"/>
                </a:solidFill>
                <a:latin typeface="Calibri"/>
              </a:defRPr>
            </a:pPr>
            <a:r>
              <a:t>•  Deployment: containerized with Docker and persistent storage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A1A1A"/>
                </a:solidFill>
                <a:latin typeface="Calibri"/>
              </a:defRPr>
            </a:pPr>
            <a:r>
              <a:t>Essential PRAGMAs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19"/>
              </a:spcAft>
              <a:defRPr sz="1800">
                <a:solidFill>
                  <a:srgbClr val="666666"/>
                </a:solidFill>
                <a:latin typeface="Calibri"/>
              </a:defRPr>
            </a:pPr>
            <a:r>
              <a:t>•  journal_mode = WAL</a:t>
            </a:r>
          </a:p>
          <a:p>
            <a:pPr>
              <a:spcAft>
                <a:spcPts val="719"/>
              </a:spcAft>
              <a:defRPr sz="1800">
                <a:solidFill>
                  <a:srgbClr val="666666"/>
                </a:solidFill>
                <a:latin typeface="Calibri"/>
              </a:defRPr>
            </a:pPr>
            <a:r>
              <a:t>•  synchronous = NORMAL</a:t>
            </a:r>
          </a:p>
          <a:p>
            <a:pPr>
              <a:spcAft>
                <a:spcPts val="719"/>
              </a:spcAft>
              <a:defRPr sz="1800">
                <a:solidFill>
                  <a:srgbClr val="666666"/>
                </a:solidFill>
                <a:latin typeface="Calibri"/>
              </a:defRPr>
            </a:pPr>
            <a:r>
              <a:t>•  cache_size = 10000–100000</a:t>
            </a:r>
          </a:p>
          <a:p>
            <a:pPr>
              <a:spcAft>
                <a:spcPts val="719"/>
              </a:spcAft>
              <a:defRPr sz="1800">
                <a:solidFill>
                  <a:srgbClr val="666666"/>
                </a:solidFill>
                <a:latin typeface="Calibri"/>
              </a:defRPr>
            </a:pPr>
            <a:r>
              <a:t>•  busy_timeout = 5000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16459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19"/>
              </a:spcAft>
              <a:defRPr sz="1800">
                <a:solidFill>
                  <a:srgbClr val="666666"/>
                </a:solidFill>
                <a:latin typeface="Calibri"/>
              </a:defRPr>
            </a:pPr>
            <a:r>
              <a:t>•  foreign_keys = ON</a:t>
            </a:r>
          </a:p>
          <a:p>
            <a:pPr>
              <a:spcAft>
                <a:spcPts val="719"/>
              </a:spcAft>
              <a:defRPr sz="1800">
                <a:solidFill>
                  <a:srgbClr val="666666"/>
                </a:solidFill>
                <a:latin typeface="Calibri"/>
              </a:defRPr>
            </a:pPr>
            <a:r>
              <a:t>•  mmap_size = 268435456</a:t>
            </a:r>
          </a:p>
          <a:p>
            <a:pPr>
              <a:spcAft>
                <a:spcPts val="719"/>
              </a:spcAft>
              <a:defRPr sz="1800">
                <a:solidFill>
                  <a:srgbClr val="666666"/>
                </a:solidFill>
                <a:latin typeface="Calibri"/>
              </a:defRPr>
            </a:pPr>
            <a:r>
              <a:t>•  auto_vacuum = INCREMENTAL</a:t>
            </a:r>
          </a:p>
          <a:p>
            <a:pPr>
              <a:spcAft>
                <a:spcPts val="719"/>
              </a:spcAft>
              <a:defRPr sz="1800">
                <a:solidFill>
                  <a:srgbClr val="666666"/>
                </a:solidFill>
                <a:latin typeface="Calibri"/>
              </a:defRPr>
            </a:pPr>
            <a:r>
              <a:t>•  secure_delete = ON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A1A1A"/>
                </a:solidFill>
                <a:latin typeface="Calibri"/>
              </a:defRPr>
            </a:pPr>
            <a:r>
              <a:t>CLI Quick Reference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19"/>
              </a:spcAft>
              <a:defRPr sz="1800">
                <a:solidFill>
                  <a:srgbClr val="666666"/>
                </a:solidFill>
                <a:latin typeface="Calibri"/>
              </a:defRPr>
            </a:pPr>
            <a:r>
              <a:t>•  .tables          — List all tables</a:t>
            </a:r>
          </a:p>
          <a:p>
            <a:pPr>
              <a:spcAft>
                <a:spcPts val="719"/>
              </a:spcAft>
              <a:defRPr sz="1800">
                <a:solidFill>
                  <a:srgbClr val="666666"/>
                </a:solidFill>
                <a:latin typeface="Calibri"/>
              </a:defRPr>
            </a:pPr>
            <a:r>
              <a:t>•  .schema [table]  — Show CREATE statement</a:t>
            </a:r>
          </a:p>
          <a:p>
            <a:pPr>
              <a:spcAft>
                <a:spcPts val="719"/>
              </a:spcAft>
              <a:defRPr sz="1800">
                <a:solidFill>
                  <a:srgbClr val="666666"/>
                </a:solidFill>
                <a:latin typeface="Calibri"/>
              </a:defRPr>
            </a:pPr>
            <a:r>
              <a:t>•  .dump [table]    — Export data as SQL</a:t>
            </a:r>
          </a:p>
          <a:p>
            <a:pPr>
              <a:spcAft>
                <a:spcPts val="719"/>
              </a:spcAft>
              <a:defRPr sz="1800">
                <a:solidFill>
                  <a:srgbClr val="666666"/>
                </a:solidFill>
                <a:latin typeface="Calibri"/>
              </a:defRPr>
            </a:pPr>
            <a:r>
              <a:t>•  .backup file     — Create hot backup</a:t>
            </a:r>
          </a:p>
          <a:p>
            <a:pPr>
              <a:spcAft>
                <a:spcPts val="719"/>
              </a:spcAft>
              <a:defRPr sz="1800">
                <a:solidFill>
                  <a:srgbClr val="666666"/>
                </a:solidFill>
                <a:latin typeface="Calibri"/>
              </a:defRPr>
            </a:pPr>
            <a:r>
              <a:t>•  .import file tbl — Import CSV into table</a:t>
            </a:r>
          </a:p>
          <a:p>
            <a:pPr>
              <a:spcAft>
                <a:spcPts val="719"/>
              </a:spcAft>
              <a:defRPr sz="1800">
                <a:solidFill>
                  <a:srgbClr val="666666"/>
                </a:solidFill>
                <a:latin typeface="Calibri"/>
              </a:defRPr>
            </a:pPr>
            <a:r>
              <a:t>•  .mode [mode]     — Set output format</a:t>
            </a:r>
          </a:p>
          <a:p>
            <a:pPr>
              <a:spcAft>
                <a:spcPts val="719"/>
              </a:spcAft>
              <a:defRPr sz="1800">
                <a:solidFill>
                  <a:srgbClr val="666666"/>
                </a:solidFill>
                <a:latin typeface="Calibri"/>
              </a:defRPr>
            </a:pPr>
            <a:r>
              <a:t>•  .headers on|off   — Toggle column headers</a:t>
            </a:r>
          </a:p>
          <a:p>
            <a:pPr>
              <a:spcAft>
                <a:spcPts val="719"/>
              </a:spcAft>
              <a:defRPr sz="1800">
                <a:solidFill>
                  <a:srgbClr val="666666"/>
                </a:solidFill>
                <a:latin typeface="Calibri"/>
              </a:defRPr>
            </a:pPr>
            <a:r>
              <a:t>•  .dbinfo          — Inspect database metadata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1A1A1A"/>
                </a:solidFill>
                <a:latin typeface="Calibri"/>
              </a:defRPr>
            </a:pPr>
            <a:r>
              <a:t>Small. Fast. Reliable.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666666"/>
                </a:solidFill>
                <a:latin typeface="Calibri"/>
              </a:defRPr>
            </a:pPr>
            <a:r>
              <a:t>Choose any three.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30352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Calibri"/>
              </a:defRPr>
            </a:pPr>
            <a:r>
              <a:t>sqlite.org  ·  sqlcipher.org  ·  datasette.io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